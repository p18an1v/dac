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1" r:id="rId4"/>
    <p:sldId id="257" r:id="rId5"/>
    <p:sldId id="273" r:id="rId6"/>
    <p:sldId id="258" r:id="rId7"/>
    <p:sldId id="259" r:id="rId8"/>
    <p:sldId id="260" r:id="rId9"/>
    <p:sldId id="261" r:id="rId10"/>
    <p:sldId id="262" r:id="rId11"/>
    <p:sldId id="263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40EDC-3A58-8F52-F2D0-1F26276DB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A8004-11E6-4078-DA15-2457486FC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33D76-EB14-DFE7-7D36-B0072FB77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10311-528B-A68C-6904-13DCFC179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20F30-B177-83B4-AF1E-E4BDB856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52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9555-2817-8795-0542-09EFAD200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F5B11-A7F4-6D43-685F-FFD8A8DD8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826C0-C756-78DB-F01D-E1EB356C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D6553-3C5C-A3D6-EAC5-45D39A6D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488CF-99D2-E3EB-75F4-BE073DB3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84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8C64D-63EE-B2DF-BC1C-21FFB67F6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994A1-6E0C-786F-DCF8-9547C7F1A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3C59A-9B97-37C6-DBA3-80B6ECCC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C8D9C-2BEE-1B63-8961-BBEAB5EBF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D55D3-F6E7-869A-F404-BDB21B39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50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A410-21AE-D678-C716-5AB38439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6A31C-82D9-2F16-882B-C38A7B35B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0F924-CA9F-C2F5-D147-CA2D110BC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0A9EF-744E-BAD9-50CC-A958A200D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670F-555B-8912-2AD5-FB778496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E941E-30E1-30F5-C468-4660EFE0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658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67E1-2E64-BD65-66B0-126F9A9DC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E444C-3EB6-E4DF-7EDA-C5CE05A1C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4D26E-93A7-DBC2-78CF-3D2CA7B10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482B7-7020-6EAC-53E0-9CA719371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834EB-04C4-B3EC-05C7-3E45B166C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AA0703-E366-C3E8-D860-2245C377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3AD74D-C54A-292C-268C-275F91E9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D0D56-0B08-9A74-354B-3F5B8B75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1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AAB2B-8098-BAFD-2C42-E14CB7E0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DA021-370B-D5E4-E4CC-10F376C38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D034D-ECA0-0442-14DC-AA66C950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0D7DF-C520-0913-D2A6-B4D9B8B5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6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49DD2-E768-F9BF-D036-3BF75BE17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2AE0D-AE17-D058-770C-D9A19C16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0500F-AFCE-5501-DEE8-5154E3F7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32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88CB-F30B-62C8-904F-E865D688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942C-4428-F1B2-05D5-075E19AB9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D9078-6DFC-8D6A-7C57-9FDEC9E68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9EF7E-A0DB-840C-CD0C-2F1DDA62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DD445-57C7-1ADD-82AF-F68F16816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4BB40-F692-9801-E96E-24E1AFC1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01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F16B-C399-9CB1-F30C-5F88B87D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873E7-8AC8-3B84-CF0A-694E9E8E3E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3C563-2925-9665-6C37-B28D87902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175B3-8178-BF87-124E-9D983119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89B13-2AA3-26F4-4375-D7A56C173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4D785-A8EF-CB2D-CC51-27FA96ACD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33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1D1D-29C1-C811-794B-E6A753FE7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60EC6-0404-D26E-1C09-2CD23D5BA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D5A1F-3608-9B1C-39BA-8D7C1914E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E1BDE-D2AE-1A70-E6CC-CE5B3F0B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219DC-DFE2-AD30-51AB-07E6CA30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34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8F03A7-D865-D1D9-A9F4-DFBA3FF9E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399E6-2174-85C9-5469-140131A0C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2621F-118B-A5A6-61DD-4E80A16D6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25520-B9AE-3772-B0CE-494FF0CF2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E94FF-FC2B-42DF-F104-411462F35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68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082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009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115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155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70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980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3190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77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608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8553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724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09D168-E0AE-E47F-AC47-F777FB7FA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FCC0C-7353-A825-16DE-9DB86D1BB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B6D2E-96A5-AFE5-7890-76EAB3DF2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B3C56-53CC-4133-A4A9-D37776219C9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F173C-63DF-9A8C-BA8B-6543DD99E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79676-27C4-96CC-A19F-D0B3E65CF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2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96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reference/reac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2A99B0-DBAB-60A9-44F5-C5D0518FF11A}"/>
              </a:ext>
            </a:extLst>
          </p:cNvPr>
          <p:cNvSpPr txBox="1"/>
          <p:nvPr/>
        </p:nvSpPr>
        <p:spPr>
          <a:xfrm>
            <a:off x="295689" y="204257"/>
            <a:ext cx="1038887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rgbClr val="23272F"/>
                </a:solidFill>
                <a:effectLst/>
                <a:latin typeface="Optimistic Display"/>
              </a:rPr>
              <a:t>Responding to events</a:t>
            </a:r>
            <a:r>
              <a:rPr lang="en-US" b="1" i="0" dirty="0">
                <a:solidFill>
                  <a:srgbClr val="23272F"/>
                </a:solidFill>
                <a:effectLst/>
                <a:latin typeface="Optimistic Display"/>
              </a:rPr>
              <a:t> </a:t>
            </a:r>
          </a:p>
          <a:p>
            <a:pPr algn="l"/>
            <a:r>
              <a:rPr lang="en-US" b="0" i="0" dirty="0">
                <a:solidFill>
                  <a:srgbClr val="23272F"/>
                </a:solidFill>
                <a:effectLst/>
                <a:latin typeface="Optimistic Text"/>
              </a:rPr>
              <a:t>You can respond to events by declaring </a:t>
            </a:r>
            <a:r>
              <a:rPr lang="en-US" b="0" i="1" dirty="0">
                <a:solidFill>
                  <a:srgbClr val="23272F"/>
                </a:solidFill>
                <a:effectLst/>
                <a:latin typeface="Optimistic Text"/>
              </a:rPr>
              <a:t>event handler</a:t>
            </a:r>
            <a:r>
              <a:rPr lang="en-US" b="0" i="0" dirty="0">
                <a:solidFill>
                  <a:srgbClr val="23272F"/>
                </a:solidFill>
                <a:effectLst/>
                <a:latin typeface="Optimistic Text"/>
              </a:rPr>
              <a:t> functions inside your components: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2E256-D4FB-F47C-215D-E213486A89F3}"/>
              </a:ext>
            </a:extLst>
          </p:cNvPr>
          <p:cNvSpPr txBox="1"/>
          <p:nvPr/>
        </p:nvSpPr>
        <p:spPr>
          <a:xfrm>
            <a:off x="405019" y="1560443"/>
            <a:ext cx="5240407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'You clicked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Click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F4BEF35-1CE4-1D73-44E8-800F6C1E5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477" y="1130232"/>
            <a:ext cx="4999384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Notice how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</a:rPr>
              <a:t>onClick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</a:rPr>
              <a:t>={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</a:rPr>
              <a:t>handleClick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has no parentheses at the end! Do not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call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the event handler function: you only need to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pass it down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. React will call your event handler when the user clicks the button.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BC735-2B43-845B-C17E-DE4CD3B2B4F6}"/>
              </a:ext>
            </a:extLst>
          </p:cNvPr>
          <p:cNvSpPr txBox="1"/>
          <p:nvPr/>
        </p:nvSpPr>
        <p:spPr>
          <a:xfrm>
            <a:off x="6388376" y="2887682"/>
            <a:ext cx="60976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'You clicked button!'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Click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69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95926" y="77595"/>
            <a:ext cx="6262255" cy="23083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Toolbar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onPlayMovie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alert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'Playing!'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onUploadImage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alert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'Uploading!'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8800" y="1437697"/>
            <a:ext cx="5532581" cy="25853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({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children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})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children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163" y="2810822"/>
            <a:ext cx="6262255" cy="397031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Toolbar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({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onPlayMovie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onUploadImage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})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onPlayMovie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Play Movie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onUploadImage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Upload Image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8800" y="4272677"/>
            <a:ext cx="5445539" cy="286232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Try printing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 console to understand children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children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</a:t>
            </a:r>
          </a:p>
        </p:txBody>
      </p:sp>
      <p:sp>
        <p:nvSpPr>
          <p:cNvPr id="2" name="Rectangle 1"/>
          <p:cNvSpPr/>
          <p:nvPr/>
        </p:nvSpPr>
        <p:spPr>
          <a:xfrm>
            <a:off x="6583569" y="343372"/>
            <a:ext cx="6096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Button(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children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Play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Movie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onData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onPlayMovie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685925" y="902080"/>
            <a:ext cx="6134100" cy="3279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752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8D88E4-5A47-6537-E10D-3BE08A885217}"/>
              </a:ext>
            </a:extLst>
          </p:cNvPr>
          <p:cNvSpPr txBox="1"/>
          <p:nvPr/>
        </p:nvSpPr>
        <p:spPr>
          <a:xfrm>
            <a:off x="176419" y="145919"/>
            <a:ext cx="117505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23272F"/>
                </a:solidFill>
                <a:effectLst/>
                <a:latin typeface="Optimistic Display"/>
              </a:rPr>
              <a:t>Updating the screen </a:t>
            </a:r>
          </a:p>
          <a:p>
            <a:pPr algn="l"/>
            <a:r>
              <a:rPr lang="en-US" b="0" i="0" dirty="0">
                <a:solidFill>
                  <a:srgbClr val="23272F"/>
                </a:solidFill>
                <a:effectLst/>
                <a:latin typeface="Optimistic Text"/>
              </a:rPr>
              <a:t>Often, you’ll want your component to “remember” some information and display it. For example, maybe you want to count the number of times a button is clicked. To do this, add </a:t>
            </a:r>
            <a:r>
              <a:rPr lang="en-US" b="0" i="1" dirty="0">
                <a:solidFill>
                  <a:srgbClr val="23272F"/>
                </a:solidFill>
                <a:effectLst/>
                <a:latin typeface="Optimistic Text"/>
              </a:rPr>
              <a:t>state</a:t>
            </a:r>
            <a:r>
              <a:rPr lang="en-US" b="0" i="0" dirty="0">
                <a:solidFill>
                  <a:srgbClr val="23272F"/>
                </a:solidFill>
                <a:effectLst/>
                <a:latin typeface="Optimistic Text"/>
              </a:rPr>
              <a:t> to your component.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CAB8D-CA4B-389F-9DB6-C66BF4F17723}"/>
              </a:ext>
            </a:extLst>
          </p:cNvPr>
          <p:cNvSpPr txBox="1"/>
          <p:nvPr/>
        </p:nvSpPr>
        <p:spPr>
          <a:xfrm>
            <a:off x="0" y="1679139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You’ll get two things from </a:t>
            </a:r>
            <a:r>
              <a:rPr lang="en-US" dirty="0" err="1"/>
              <a:t>useState</a:t>
            </a:r>
            <a:r>
              <a:rPr lang="en-US" dirty="0"/>
              <a:t>: the current state (count), and the function that lets you update it (</a:t>
            </a:r>
            <a:r>
              <a:rPr lang="en-US" dirty="0" err="1"/>
              <a:t>setCount</a:t>
            </a:r>
            <a:r>
              <a:rPr lang="en-US" dirty="0"/>
              <a:t>). You can give them any names, but the convention is to write [something, </a:t>
            </a:r>
            <a:r>
              <a:rPr lang="en-US" dirty="0" err="1"/>
              <a:t>setSomething</a:t>
            </a:r>
            <a:r>
              <a:rPr lang="en-US" dirty="0"/>
              <a:t>].</a:t>
            </a:r>
          </a:p>
          <a:p>
            <a:endParaRPr lang="en-US" dirty="0"/>
          </a:p>
          <a:p>
            <a:r>
              <a:rPr lang="en-US" dirty="0"/>
              <a:t>The first time the button is displayed, count will be 0 because you passed 0 to </a:t>
            </a:r>
            <a:r>
              <a:rPr lang="en-US" dirty="0" err="1"/>
              <a:t>useState</a:t>
            </a:r>
            <a:r>
              <a:rPr lang="en-US" dirty="0"/>
              <a:t>(). When you want to change state, call </a:t>
            </a:r>
            <a:r>
              <a:rPr lang="en-US" dirty="0" err="1"/>
              <a:t>setCount</a:t>
            </a:r>
            <a:r>
              <a:rPr lang="en-US" dirty="0"/>
              <a:t>() and pass the new value to it. Clicking this button will increment the counter: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2C4CA-93AA-52D9-8A61-34EC5325F11F}"/>
              </a:ext>
            </a:extLst>
          </p:cNvPr>
          <p:cNvSpPr txBox="1"/>
          <p:nvPr/>
        </p:nvSpPr>
        <p:spPr>
          <a:xfrm>
            <a:off x="288233" y="3766357"/>
            <a:ext cx="116387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React will call your component function again. This time, count will be 1. Then it will be 2. And so on.</a:t>
            </a:r>
          </a:p>
          <a:p>
            <a:endParaRPr lang="en-US" dirty="0"/>
          </a:p>
          <a:p>
            <a:r>
              <a:rPr lang="en-US" dirty="0"/>
              <a:t>If you render the same component multiple times, each will get its own state. Click each button separately: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8020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3825" y="0"/>
            <a:ext cx="5772150" cy="71096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React = </a:t>
            </a:r>
            <a:r>
              <a:rPr lang="en-IN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function () 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let hooks = [];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let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function </a:t>
            </a:r>
            <a:r>
              <a:rPr lang="en-IN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useState</a:t>
            </a:r>
            <a:r>
              <a:rPr lang="en-I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initVal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IN" sz="1200" b="1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console.log(_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) // 0, 1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state = hooks[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] ||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initVal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setState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newVal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=&gt; 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hooks[_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newVal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};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return [state,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setState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IN" sz="1200" b="1" dirty="0">
                <a:solidFill>
                  <a:srgbClr val="00B0F0"/>
                </a:solidFill>
                <a:latin typeface="Consolas" panose="020B0609020204030204" pitchFamily="49" charset="0"/>
              </a:rPr>
              <a:t> }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function </a:t>
            </a:r>
            <a:r>
              <a:rPr lang="en-IN" sz="1400" b="1" dirty="0">
                <a:solidFill>
                  <a:schemeClr val="accent6"/>
                </a:solidFill>
                <a:latin typeface="Consolas" panose="020B0609020204030204" pitchFamily="49" charset="0"/>
              </a:rPr>
              <a:t>render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(Component) 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C = Component();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C.render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return C;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}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return { </a:t>
            </a:r>
            <a:r>
              <a:rPr lang="en-IN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useState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1400" b="1" dirty="0">
                <a:solidFill>
                  <a:schemeClr val="accent6"/>
                </a:solidFill>
                <a:latin typeface="Consolas" panose="020B0609020204030204" pitchFamily="49" charset="0"/>
              </a:rPr>
              <a:t>render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IN" sz="12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function Component() 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[count,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setCount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React.useState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[text,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setText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React.useState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('apple');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return 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render: () =&gt; console.log({ count, text }),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click: () =&gt;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setCount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(count + 1),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type: (word) =&gt;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setText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(word),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}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95974" y="692497"/>
            <a:ext cx="62960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App =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React.render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(Component);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// {count: 1, text: "apple"}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App.click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App =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React.render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(Component); </a:t>
            </a: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// {count: 2, text: "apple"}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App.type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('pear');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App =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React.render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(Component);</a:t>
            </a: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// {count: 2, text: "pear"}</a:t>
            </a:r>
          </a:p>
        </p:txBody>
      </p:sp>
    </p:spTree>
    <p:extLst>
      <p:ext uri="{BB962C8B-B14F-4D97-AF65-F5344CB8AC3E}">
        <p14:creationId xmlns:p14="http://schemas.microsoft.com/office/powerpoint/2010/main" val="354013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895431-A4C8-80B8-5575-4274E06FBF28}"/>
              </a:ext>
            </a:extLst>
          </p:cNvPr>
          <p:cNvSpPr txBox="1"/>
          <p:nvPr/>
        </p:nvSpPr>
        <p:spPr>
          <a:xfrm>
            <a:off x="673376" y="-79653"/>
            <a:ext cx="609765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Counters that update separately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[count,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(count +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Clicked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times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2F029DE-3372-1CC2-A28F-019021AC799A}"/>
              </a:ext>
            </a:extLst>
          </p:cNvPr>
          <p:cNvCxnSpPr/>
          <p:nvPr/>
        </p:nvCxnSpPr>
        <p:spPr>
          <a:xfrm flipV="1">
            <a:off x="3448878" y="1888435"/>
            <a:ext cx="4403035" cy="1620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AD89401-2958-19B3-267E-DC198D9988E1}"/>
              </a:ext>
            </a:extLst>
          </p:cNvPr>
          <p:cNvSpPr txBox="1"/>
          <p:nvPr/>
        </p:nvSpPr>
        <p:spPr>
          <a:xfrm>
            <a:off x="7991061" y="834887"/>
            <a:ext cx="3448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count=count+1;</a:t>
            </a:r>
          </a:p>
          <a:p>
            <a:endParaRPr lang="en-US" dirty="0"/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38D7D-4D63-172D-99D7-97496CA23146}"/>
              </a:ext>
            </a:extLst>
          </p:cNvPr>
          <p:cNvSpPr txBox="1"/>
          <p:nvPr/>
        </p:nvSpPr>
        <p:spPr>
          <a:xfrm>
            <a:off x="6595533" y="3508513"/>
            <a:ext cx="5317067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React cannot maintain state across re-renders without </a:t>
            </a:r>
            <a:r>
              <a:rPr lang="en-US" dirty="0" err="1"/>
              <a:t>useState</a:t>
            </a:r>
            <a:r>
              <a:rPr lang="en-US" dirty="0"/>
              <a:t> or similar hooks (like </a:t>
            </a:r>
            <a:r>
              <a:rPr lang="en-US" dirty="0" err="1"/>
              <a:t>useReducer</a:t>
            </a:r>
            <a:r>
              <a:rPr lang="en-US" dirty="0"/>
              <a:t>) because React components are just functions. </a:t>
            </a:r>
          </a:p>
          <a:p>
            <a:endParaRPr lang="en-US"/>
          </a:p>
          <a:p>
            <a:r>
              <a:rPr lang="en-US"/>
              <a:t>Each </a:t>
            </a:r>
            <a:r>
              <a:rPr lang="en-US" dirty="0"/>
              <a:t>time a component renders, it re-executes from the top, and any variables declared inside the function are reinitialized.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010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30F143F-F109-3F06-2730-49CA2B1D3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769"/>
            <a:ext cx="11757991" cy="1877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Display"/>
              </a:rPr>
              <a:t>Using Hooks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Functions starting with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Source Code Pro" panose="020B0509030403020204" pitchFamily="49" charset="0"/>
              </a:rPr>
              <a:t>use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are called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Hooks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3272F"/>
                </a:solidFill>
                <a:effectLst/>
                <a:latin typeface="Source Code Pro" panose="020B0509030403020204" pitchFamily="49" charset="0"/>
              </a:rPr>
              <a:t>useState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is a built-in Hook provided by React. You can find other built-in Hooks in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  <a:hlinkClick r:id="rId2"/>
              </a:rPr>
              <a:t>API reference.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You can also write your own Hooks by combining the existing ones.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Hooks are more restrictive than other functions. You can only call Hooks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at the top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of your components (or other Hooks). If you want to use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3272F"/>
                </a:solidFill>
                <a:effectLst/>
                <a:latin typeface="Source Code Pro" panose="020B0509030403020204" pitchFamily="49" charset="0"/>
              </a:rPr>
              <a:t>useState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in a condition or a loop, extract a new component and put it there.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1D976D-02DE-F33F-CA04-953C9BD41697}"/>
              </a:ext>
            </a:extLst>
          </p:cNvPr>
          <p:cNvSpPr txBox="1"/>
          <p:nvPr/>
        </p:nvSpPr>
        <p:spPr>
          <a:xfrm>
            <a:off x="2206487" y="5406887"/>
            <a:ext cx="73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1</a:t>
            </a:r>
            <a:r>
              <a:rPr lang="en-US" baseline="30000" dirty="0"/>
              <a:t>st</a:t>
            </a:r>
            <a:r>
              <a:rPr lang="en-US" dirty="0"/>
              <a:t>               07 </a:t>
            </a:r>
            <a:r>
              <a:rPr lang="en-US" dirty="0" err="1"/>
              <a:t>Routparameter</a:t>
            </a:r>
            <a:r>
              <a:rPr lang="en-US" dirty="0"/>
              <a:t> hooks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155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B46C43-6CC8-1F55-3F87-2CC0D0285866}"/>
              </a:ext>
            </a:extLst>
          </p:cNvPr>
          <p:cNvSpPr txBox="1"/>
          <p:nvPr/>
        </p:nvSpPr>
        <p:spPr>
          <a:xfrm>
            <a:off x="742950" y="532248"/>
            <a:ext cx="10826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MyButton</a:t>
            </a:r>
            <a:r>
              <a:rPr lang="en-US" dirty="0"/>
              <a:t> had its own independent count, and when each button was clicked, only the count for the button clicked changed: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453E71-9989-61EF-F169-0DA5F75B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793" y="1062785"/>
            <a:ext cx="9152413" cy="47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7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B11D06-7D3B-B3B4-D01D-E8F44454CEB8}"/>
              </a:ext>
            </a:extLst>
          </p:cNvPr>
          <p:cNvSpPr txBox="1"/>
          <p:nvPr/>
        </p:nvSpPr>
        <p:spPr>
          <a:xfrm>
            <a:off x="156541" y="237965"/>
            <a:ext cx="114225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However, often you’ll need components to share data and always update together.</a:t>
            </a:r>
          </a:p>
          <a:p>
            <a:endParaRPr lang="en-US" dirty="0"/>
          </a:p>
          <a:p>
            <a:r>
              <a:rPr lang="en-US" dirty="0"/>
              <a:t>To make both </a:t>
            </a:r>
            <a:r>
              <a:rPr lang="en-US" dirty="0" err="1"/>
              <a:t>MyButton</a:t>
            </a:r>
            <a:r>
              <a:rPr lang="en-US" dirty="0"/>
              <a:t> components display the same count and update together, you need to </a:t>
            </a:r>
            <a:r>
              <a:rPr lang="en-US" b="1" dirty="0"/>
              <a:t>move the state from the individual buttons “upwards” t</a:t>
            </a:r>
            <a:r>
              <a:rPr lang="en-US" dirty="0"/>
              <a:t>o the closest component containing all of them.</a:t>
            </a:r>
          </a:p>
          <a:p>
            <a:endParaRPr lang="en-US" dirty="0"/>
          </a:p>
          <a:p>
            <a:r>
              <a:rPr lang="en-US" dirty="0"/>
              <a:t>In this example, it is </a:t>
            </a:r>
            <a:r>
              <a:rPr lang="en-US" dirty="0" err="1"/>
              <a:t>MyApp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9EA93A-8D8C-D47F-71BE-78EFB41E5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79" y="2093363"/>
            <a:ext cx="8710415" cy="45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92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D3230E-B0C1-09EB-F387-E8A143712BBF}"/>
              </a:ext>
            </a:extLst>
          </p:cNvPr>
          <p:cNvSpPr txBox="1"/>
          <p:nvPr/>
        </p:nvSpPr>
        <p:spPr>
          <a:xfrm>
            <a:off x="0" y="0"/>
            <a:ext cx="119070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when you click either button, the count in </a:t>
            </a:r>
            <a:r>
              <a:rPr lang="en-US" dirty="0" err="1"/>
              <a:t>MyApp</a:t>
            </a:r>
            <a:r>
              <a:rPr lang="en-US" dirty="0"/>
              <a:t> will change, which will change both of the counts in </a:t>
            </a:r>
            <a:r>
              <a:rPr lang="en-US" dirty="0" err="1"/>
              <a:t>MyButton</a:t>
            </a:r>
            <a:r>
              <a:rPr lang="en-US" dirty="0"/>
              <a:t>. Here’s how you can express this in code.</a:t>
            </a:r>
          </a:p>
          <a:p>
            <a:endParaRPr lang="en-US" dirty="0"/>
          </a:p>
          <a:p>
            <a:r>
              <a:rPr lang="en-US" dirty="0"/>
              <a:t>First, move the state up from </a:t>
            </a:r>
            <a:r>
              <a:rPr lang="en-US" dirty="0" err="1"/>
              <a:t>MyButton</a:t>
            </a:r>
            <a:r>
              <a:rPr lang="en-US" dirty="0"/>
              <a:t> into </a:t>
            </a:r>
            <a:r>
              <a:rPr lang="en-US" dirty="0" err="1"/>
              <a:t>MyApp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4BAA3-A79B-293E-D527-EBFA0632E964}"/>
              </a:ext>
            </a:extLst>
          </p:cNvPr>
          <p:cNvSpPr txBox="1"/>
          <p:nvPr/>
        </p:nvSpPr>
        <p:spPr>
          <a:xfrm>
            <a:off x="139149" y="1200329"/>
            <a:ext cx="61225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[count,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(count +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Counters that update together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5F7EAD-E8F3-D398-8706-E812B67B2A42}"/>
              </a:ext>
            </a:extLst>
          </p:cNvPr>
          <p:cNvSpPr txBox="1"/>
          <p:nvPr/>
        </p:nvSpPr>
        <p:spPr>
          <a:xfrm>
            <a:off x="6261653" y="1431161"/>
            <a:ext cx="5930347" cy="25853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({ count,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})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Clicked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count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times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0856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E130AF-EFAB-E509-F4FA-8E521A1FEF35}"/>
              </a:ext>
            </a:extLst>
          </p:cNvPr>
          <p:cNvSpPr txBox="1"/>
          <p:nvPr/>
        </p:nvSpPr>
        <p:spPr>
          <a:xfrm>
            <a:off x="245992" y="96223"/>
            <a:ext cx="116610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when you click either button, the count in </a:t>
            </a:r>
            <a:r>
              <a:rPr lang="en-US" dirty="0" err="1"/>
              <a:t>MyApp</a:t>
            </a:r>
            <a:r>
              <a:rPr lang="en-US" dirty="0"/>
              <a:t> will change, which will change both of the counts in </a:t>
            </a:r>
            <a:r>
              <a:rPr lang="en-US" dirty="0" err="1"/>
              <a:t>MyButton</a:t>
            </a:r>
            <a:r>
              <a:rPr lang="en-US" dirty="0"/>
              <a:t>. Here’s how you can express this in code.</a:t>
            </a:r>
          </a:p>
          <a:p>
            <a:endParaRPr lang="en-US" dirty="0"/>
          </a:p>
          <a:p>
            <a:r>
              <a:rPr lang="en-US" dirty="0"/>
              <a:t>First, move the state up from </a:t>
            </a:r>
            <a:r>
              <a:rPr lang="en-US" dirty="0" err="1"/>
              <a:t>MyButton</a:t>
            </a:r>
            <a:r>
              <a:rPr lang="en-US" dirty="0"/>
              <a:t> into </a:t>
            </a:r>
            <a:r>
              <a:rPr lang="en-US" dirty="0" err="1"/>
              <a:t>MyApp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BE5D8-9D9B-869D-1B7F-245B23A9E2AA}"/>
              </a:ext>
            </a:extLst>
          </p:cNvPr>
          <p:cNvSpPr txBox="1"/>
          <p:nvPr/>
        </p:nvSpPr>
        <p:spPr>
          <a:xfrm>
            <a:off x="245992" y="1416831"/>
            <a:ext cx="11392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Then, pass the state down from </a:t>
            </a:r>
            <a:r>
              <a:rPr lang="en-US" dirty="0" err="1"/>
              <a:t>MyApp</a:t>
            </a:r>
            <a:r>
              <a:rPr lang="en-US" dirty="0"/>
              <a:t> to each </a:t>
            </a:r>
            <a:r>
              <a:rPr lang="en-US" dirty="0" err="1"/>
              <a:t>MyButton</a:t>
            </a:r>
            <a:r>
              <a:rPr lang="en-US" dirty="0"/>
              <a:t>, together with the shared click handler. You can pass information to </a:t>
            </a:r>
            <a:r>
              <a:rPr lang="en-US" dirty="0" err="1"/>
              <a:t>MyButton</a:t>
            </a:r>
            <a:r>
              <a:rPr lang="en-US" dirty="0"/>
              <a:t> using the JSX curly braces,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D469E4-2538-DF54-737D-9C580D9D0394}"/>
              </a:ext>
            </a:extLst>
          </p:cNvPr>
          <p:cNvSpPr txBox="1"/>
          <p:nvPr/>
        </p:nvSpPr>
        <p:spPr>
          <a:xfrm>
            <a:off x="245992" y="2323886"/>
            <a:ext cx="108261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information you pass down like this is called props. Now the </a:t>
            </a:r>
            <a:r>
              <a:rPr lang="en-US" dirty="0" err="1"/>
              <a:t>MyApp</a:t>
            </a:r>
            <a:r>
              <a:rPr lang="en-US" dirty="0"/>
              <a:t> component contains the count state and the </a:t>
            </a:r>
            <a:r>
              <a:rPr lang="en-US" dirty="0" err="1"/>
              <a:t>handleClick</a:t>
            </a:r>
            <a:r>
              <a:rPr lang="en-US" dirty="0"/>
              <a:t> event handler, and passes both of them down as props to each of the buttons.</a:t>
            </a:r>
          </a:p>
          <a:p>
            <a:endParaRPr lang="en-US" dirty="0"/>
          </a:p>
          <a:p>
            <a:r>
              <a:rPr lang="en-US" dirty="0"/>
              <a:t>Finally, change </a:t>
            </a:r>
            <a:r>
              <a:rPr lang="en-US" dirty="0" err="1"/>
              <a:t>MyButton</a:t>
            </a:r>
            <a:r>
              <a:rPr lang="en-US" dirty="0"/>
              <a:t> to read the props you have passed from its parent component: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7921B5-E147-5D0A-1F78-8DE4D9CFD218}"/>
              </a:ext>
            </a:extLst>
          </p:cNvPr>
          <p:cNvSpPr txBox="1"/>
          <p:nvPr/>
        </p:nvSpPr>
        <p:spPr>
          <a:xfrm>
            <a:off x="245992" y="3802947"/>
            <a:ext cx="116610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you click the button, the </a:t>
            </a:r>
            <a:r>
              <a:rPr lang="en-US" dirty="0" err="1"/>
              <a:t>onClick</a:t>
            </a:r>
            <a:r>
              <a:rPr lang="en-US" dirty="0"/>
              <a:t> handler fires. Each button’s </a:t>
            </a:r>
            <a:r>
              <a:rPr lang="en-US" dirty="0" err="1"/>
              <a:t>onClick</a:t>
            </a:r>
            <a:r>
              <a:rPr lang="en-US" dirty="0"/>
              <a:t> prop was set to the </a:t>
            </a:r>
            <a:r>
              <a:rPr lang="en-US" dirty="0" err="1"/>
              <a:t>handleClick</a:t>
            </a:r>
            <a:r>
              <a:rPr lang="en-US" dirty="0"/>
              <a:t> function inside </a:t>
            </a:r>
            <a:r>
              <a:rPr lang="en-US" dirty="0" err="1"/>
              <a:t>MyApp</a:t>
            </a:r>
            <a:r>
              <a:rPr lang="en-US" dirty="0"/>
              <a:t>, so the code inside of it runs. That code calls </a:t>
            </a:r>
            <a:r>
              <a:rPr lang="en-US" dirty="0" err="1"/>
              <a:t>setCount</a:t>
            </a:r>
            <a:r>
              <a:rPr lang="en-US" dirty="0"/>
              <a:t>(count + 1), incrementing the count state variable. The new count value is passed as a prop to each button, so they all show the new value. This is called “lifting state up”. By moving state up, you’ve shared it between components.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265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99BD-AB37-3CC7-FA53-BEB89B09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14409-BB0A-7103-AF03-649F3C8BB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09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1493</Words>
  <Application>Microsoft Office PowerPoint</Application>
  <PresentationFormat>Widescreen</PresentationFormat>
  <Paragraphs>186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Consolas</vt:lpstr>
      <vt:lpstr>Garamond</vt:lpstr>
      <vt:lpstr>Optimistic Display</vt:lpstr>
      <vt:lpstr>Optimistic Text</vt:lpstr>
      <vt:lpstr>Source Code Pro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34</cp:revision>
  <dcterms:created xsi:type="dcterms:W3CDTF">2024-01-04T16:02:31Z</dcterms:created>
  <dcterms:modified xsi:type="dcterms:W3CDTF">2025-05-07T11:24:25Z</dcterms:modified>
</cp:coreProperties>
</file>