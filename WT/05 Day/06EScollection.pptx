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4" r:id="rId15"/>
    <p:sldId id="273" r:id="rId16"/>
    <p:sldId id="275" r:id="rId17"/>
    <p:sldId id="276" r:id="rId18"/>
    <p:sldId id="277"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3" autoAdjust="0"/>
    <p:restoredTop sz="94660"/>
  </p:normalViewPr>
  <p:slideViewPr>
    <p:cSldViewPr snapToGrid="0">
      <p:cViewPr varScale="1">
        <p:scale>
          <a:sx n="82" d="100"/>
          <a:sy n="82" d="100"/>
        </p:scale>
        <p:origin x="643" y="3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08-01-2024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EB6A38-92D1-48EF-BF3B-AEEE6CB462B3}" type="slidenum">
              <a:rPr lang="en-IN" smtClean="0"/>
              <a:t>9</a:t>
            </a:fld>
            <a:endParaRPr lang="en-IN"/>
          </a:p>
        </p:txBody>
      </p:sp>
    </p:spTree>
    <p:extLst>
      <p:ext uri="{BB962C8B-B14F-4D97-AF65-F5344CB8AC3E}">
        <p14:creationId xmlns:p14="http://schemas.microsoft.com/office/powerpoint/2010/main" val="1460665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08-01-2024</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08-01-2024</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developer.mozilla.org/en-US/docs/Glossary/Primitiv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01555-6718-428B-8783-363AE0CAB912}"/>
              </a:ext>
            </a:extLst>
          </p:cNvPr>
          <p:cNvSpPr>
            <a:spLocks noGrp="1"/>
          </p:cNvSpPr>
          <p:nvPr>
            <p:ph type="title"/>
          </p:nvPr>
        </p:nvSpPr>
        <p:spPr>
          <a:xfrm>
            <a:off x="1592826" y="365126"/>
            <a:ext cx="9760974" cy="804914"/>
          </a:xfrm>
        </p:spPr>
        <p:txBody>
          <a:bodyPr/>
          <a:lstStyle/>
          <a:p>
            <a:r>
              <a:rPr lang="en-IN" dirty="0"/>
              <a:t>MAP</a:t>
            </a:r>
          </a:p>
        </p:txBody>
      </p:sp>
      <p:sp>
        <p:nvSpPr>
          <p:cNvPr id="4" name="Rectangle 1">
            <a:extLst>
              <a:ext uri="{FF2B5EF4-FFF2-40B4-BE49-F238E27FC236}">
                <a16:creationId xmlns:a16="http://schemas.microsoft.com/office/drawing/2014/main" id="{805F638B-D91D-4476-A7D5-B759134B7BEE}"/>
              </a:ext>
            </a:extLst>
          </p:cNvPr>
          <p:cNvSpPr>
            <a:spLocks noGrp="1" noChangeArrowheads="1"/>
          </p:cNvSpPr>
          <p:nvPr>
            <p:ph idx="1"/>
          </p:nvPr>
        </p:nvSpPr>
        <p:spPr bwMode="auto">
          <a:xfrm>
            <a:off x="258097" y="1475882"/>
            <a:ext cx="1140296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a:t>
            </a:r>
            <a:r>
              <a:rPr kumimoji="0" lang="en-US" altLang="en-US" sz="2000" b="1" i="0" u="none" strike="noStrike" cap="none" normalizeH="0" baseline="0" dirty="0">
                <a:ln>
                  <a:noFill/>
                </a:ln>
                <a:solidFill>
                  <a:schemeClr val="tx1"/>
                </a:solidFill>
                <a:effectLst/>
                <a:latin typeface="Arial Unicode MS"/>
                <a:ea typeface="Calibri" panose="020F0502020204030204" pitchFamily="34" charset="0"/>
                <a:cs typeface="Courier New" panose="02070309020205020404" pitchFamily="49" charset="0"/>
              </a:rPr>
              <a:t>Map</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object is a simple key/value map. Any value (both objects and </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hlinkClick r:id="rId2" tooltip="primitive values: A primitive (primitive value, primitive data type) is data that is not an object and has no methods. In JavaScript, there are 6 primitive data types: string, number, boolean, null, undefined, symbol (new in ECMAScript 2015)."/>
              </a:rPr>
              <a:t>primitive values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may be used as either a key or a value.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When to use map</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Are keys usually unknown until run time, do you need to look them up dynamically?</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Do all values have the same type, and can be used interchangeably?</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Do you need keys that aren't strings?</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Are key-value pairs often added or removed?</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Do you have an arbitrary (easily changing) amount of key-value pairs?</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Is the collection iterated?</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19750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F7BEB-BB1B-49D6-80FF-D4E6436CBC18}"/>
              </a:ext>
            </a:extLst>
          </p:cNvPr>
          <p:cNvSpPr>
            <a:spLocks noGrp="1"/>
          </p:cNvSpPr>
          <p:nvPr>
            <p:ph type="title"/>
          </p:nvPr>
        </p:nvSpPr>
        <p:spPr>
          <a:xfrm>
            <a:off x="6233650" y="139392"/>
            <a:ext cx="4667865" cy="539443"/>
          </a:xfrm>
        </p:spPr>
        <p:txBody>
          <a:bodyPr>
            <a:normAutofit fontScale="90000"/>
          </a:bodyPr>
          <a:lstStyle/>
          <a:p>
            <a:r>
              <a:rPr lang="en-IN" dirty="0"/>
              <a:t>demo</a:t>
            </a:r>
          </a:p>
        </p:txBody>
      </p:sp>
      <p:sp>
        <p:nvSpPr>
          <p:cNvPr id="3" name="Content Placeholder 2">
            <a:extLst>
              <a:ext uri="{FF2B5EF4-FFF2-40B4-BE49-F238E27FC236}">
                <a16:creationId xmlns:a16="http://schemas.microsoft.com/office/drawing/2014/main" id="{4EE0D4C8-8A6C-43ED-B9CD-B2A8AD1AC467}"/>
              </a:ext>
            </a:extLst>
          </p:cNvPr>
          <p:cNvSpPr>
            <a:spLocks noGrp="1"/>
          </p:cNvSpPr>
          <p:nvPr>
            <p:ph idx="1"/>
          </p:nvPr>
        </p:nvSpPr>
        <p:spPr>
          <a:xfrm>
            <a:off x="130277" y="634846"/>
            <a:ext cx="6791633" cy="5814040"/>
          </a:xfrm>
        </p:spPr>
        <p:txBody>
          <a:bodyPr>
            <a:noAutofit/>
          </a:bodyPr>
          <a:lstStyle/>
          <a:p>
            <a:pPr marL="0" indent="0">
              <a:buNone/>
            </a:pPr>
            <a:r>
              <a:rPr lang="en-IN" sz="1200" b="0" dirty="0">
                <a:solidFill>
                  <a:srgbClr val="800000"/>
                </a:solidFill>
                <a:effectLst/>
                <a:latin typeface="Consolas" panose="020B0609020204030204" pitchFamily="49" charset="0"/>
              </a:rPr>
              <a:t>&lt;script&gt;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"use script"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new</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Map</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"zero"</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1</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"one"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for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of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 = "</a:t>
            </a:r>
            <a:r>
              <a:rPr lang="en-IN" sz="1200" b="0" dirty="0">
                <a:solidFill>
                  <a:srgbClr val="000000"/>
                </a:solidFill>
                <a:effectLst/>
                <a:latin typeface="Consolas" panose="020B0609020204030204" pitchFamily="49" charset="0"/>
              </a:rPr>
              <a:t> +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Will show 2 logs; first with "0 = zero" and second with "1 = one"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for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of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keys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Will show 2 logs; first with "0" and second with "1"</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for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of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values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Will show 2 logs; first with "zero" and second with "one"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for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of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myMap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entries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key</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 = "</a:t>
            </a:r>
            <a:r>
              <a:rPr lang="en-IN" sz="1200" b="0" dirty="0">
                <a:solidFill>
                  <a:srgbClr val="000000"/>
                </a:solidFill>
                <a:effectLst/>
                <a:latin typeface="Consolas" panose="020B0609020204030204" pitchFamily="49" charset="0"/>
              </a:rPr>
              <a:t> + </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endParaRPr lang="en-IN" sz="1200" dirty="0"/>
          </a:p>
        </p:txBody>
      </p:sp>
      <p:sp>
        <p:nvSpPr>
          <p:cNvPr id="5" name="TextBox 4">
            <a:extLst>
              <a:ext uri="{FF2B5EF4-FFF2-40B4-BE49-F238E27FC236}">
                <a16:creationId xmlns:a16="http://schemas.microsoft.com/office/drawing/2014/main" id="{6E280FDA-D8E6-4742-A258-2C922B7C2B8E}"/>
              </a:ext>
            </a:extLst>
          </p:cNvPr>
          <p:cNvSpPr txBox="1"/>
          <p:nvPr/>
        </p:nvSpPr>
        <p:spPr>
          <a:xfrm>
            <a:off x="5515897" y="845574"/>
            <a:ext cx="6282813" cy="1730730"/>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Will show 2 logs; first with "0 = zero" and second with "1 = one"</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myMap</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forEach</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key</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key</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=44 "</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myMap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lang="en-IN" dirty="0"/>
          </a:p>
        </p:txBody>
      </p:sp>
      <p:sp>
        <p:nvSpPr>
          <p:cNvPr id="4" name="Rectangle 3">
            <a:extLst>
              <a:ext uri="{FF2B5EF4-FFF2-40B4-BE49-F238E27FC236}">
                <a16:creationId xmlns:a16="http://schemas.microsoft.com/office/drawing/2014/main" id="{371A30D3-514C-42CB-B820-40FDC3A91827}"/>
              </a:ext>
            </a:extLst>
          </p:cNvPr>
          <p:cNvSpPr/>
          <p:nvPr/>
        </p:nvSpPr>
        <p:spPr>
          <a:xfrm>
            <a:off x="6761018" y="3565236"/>
            <a:ext cx="498764" cy="3140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700" dirty="0" err="1"/>
              <a:t>myMap</a:t>
            </a:r>
            <a:endParaRPr lang="en-IN" sz="700" dirty="0"/>
          </a:p>
        </p:txBody>
      </p:sp>
      <p:cxnSp>
        <p:nvCxnSpPr>
          <p:cNvPr id="7" name="Straight Arrow Connector 6">
            <a:extLst>
              <a:ext uri="{FF2B5EF4-FFF2-40B4-BE49-F238E27FC236}">
                <a16:creationId xmlns:a16="http://schemas.microsoft.com/office/drawing/2014/main" id="{64C75BA8-56B8-4996-8C9D-C2B80C593068}"/>
              </a:ext>
            </a:extLst>
          </p:cNvPr>
          <p:cNvCxnSpPr>
            <a:stCxn id="4" idx="3"/>
          </p:cNvCxnSpPr>
          <p:nvPr/>
        </p:nvCxnSpPr>
        <p:spPr>
          <a:xfrm flipV="1">
            <a:off x="7259782" y="3565236"/>
            <a:ext cx="655782" cy="157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2D869E1-868B-465A-8D39-57D536AE761B}"/>
              </a:ext>
            </a:extLst>
          </p:cNvPr>
          <p:cNvSpPr/>
          <p:nvPr/>
        </p:nvSpPr>
        <p:spPr>
          <a:xfrm>
            <a:off x="7915564" y="2890982"/>
            <a:ext cx="1625600" cy="13023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0" dirty="0">
                <a:solidFill>
                  <a:schemeClr val="bg1"/>
                </a:solidFill>
                <a:effectLst/>
                <a:latin typeface="Consolas" panose="020B0609020204030204" pitchFamily="49" charset="0"/>
              </a:rPr>
              <a:t>0, "zero“</a:t>
            </a:r>
          </a:p>
          <a:p>
            <a:pPr algn="ctr"/>
            <a:r>
              <a:rPr lang="en-IN" sz="1800" b="0" dirty="0">
                <a:solidFill>
                  <a:schemeClr val="bg1"/>
                </a:solidFill>
                <a:effectLst/>
                <a:latin typeface="Consolas" panose="020B0609020204030204" pitchFamily="49" charset="0"/>
              </a:rPr>
              <a:t>1, "one"</a:t>
            </a:r>
          </a:p>
          <a:p>
            <a:pPr algn="ctr"/>
            <a:r>
              <a:rPr lang="en-IN" dirty="0">
                <a:solidFill>
                  <a:schemeClr val="bg1"/>
                </a:solidFill>
              </a:rPr>
              <a:t> </a:t>
            </a:r>
          </a:p>
        </p:txBody>
      </p:sp>
      <p:sp>
        <p:nvSpPr>
          <p:cNvPr id="10" name="TextBox 9">
            <a:extLst>
              <a:ext uri="{FF2B5EF4-FFF2-40B4-BE49-F238E27FC236}">
                <a16:creationId xmlns:a16="http://schemas.microsoft.com/office/drawing/2014/main" id="{1CC11585-E730-4302-B143-7F82F941F44A}"/>
              </a:ext>
            </a:extLst>
          </p:cNvPr>
          <p:cNvSpPr txBox="1"/>
          <p:nvPr/>
        </p:nvSpPr>
        <p:spPr>
          <a:xfrm>
            <a:off x="7878619" y="2500259"/>
            <a:ext cx="1547091" cy="369332"/>
          </a:xfrm>
          <a:prstGeom prst="rect">
            <a:avLst/>
          </a:prstGeom>
          <a:noFill/>
        </p:spPr>
        <p:txBody>
          <a:bodyPr wrap="square">
            <a:spAutoFit/>
          </a:bodyPr>
          <a:lstStyle/>
          <a:p>
            <a:r>
              <a:rPr lang="en-IN" sz="1800" b="0" dirty="0">
                <a:solidFill>
                  <a:srgbClr val="0000FF"/>
                </a:solidFill>
                <a:effectLst/>
                <a:latin typeface="Consolas" panose="020B0609020204030204" pitchFamily="49" charset="0"/>
              </a:rPr>
              <a:t>new</a:t>
            </a:r>
            <a:r>
              <a:rPr lang="en-IN" sz="1800" b="0" dirty="0">
                <a:solidFill>
                  <a:srgbClr val="000000"/>
                </a:solidFill>
                <a:effectLst/>
                <a:latin typeface="Consolas" panose="020B0609020204030204" pitchFamily="49" charset="0"/>
              </a:rPr>
              <a:t> </a:t>
            </a:r>
            <a:r>
              <a:rPr lang="en-IN" sz="1800" b="0" dirty="0">
                <a:solidFill>
                  <a:srgbClr val="267F99"/>
                </a:solidFill>
                <a:effectLst/>
                <a:latin typeface="Consolas" panose="020B0609020204030204" pitchFamily="49" charset="0"/>
              </a:rPr>
              <a:t>Map</a:t>
            </a:r>
            <a:r>
              <a:rPr lang="en-IN" sz="1800" b="0" dirty="0">
                <a:solidFill>
                  <a:srgbClr val="000000"/>
                </a:solidFill>
                <a:effectLst/>
                <a:latin typeface="Consolas" panose="020B0609020204030204" pitchFamily="49" charset="0"/>
              </a:rPr>
              <a:t>();</a:t>
            </a:r>
            <a:endParaRPr lang="en-IN" dirty="0"/>
          </a:p>
        </p:txBody>
      </p:sp>
      <p:sp>
        <p:nvSpPr>
          <p:cNvPr id="12" name="TextBox 11">
            <a:extLst>
              <a:ext uri="{FF2B5EF4-FFF2-40B4-BE49-F238E27FC236}">
                <a16:creationId xmlns:a16="http://schemas.microsoft.com/office/drawing/2014/main" id="{EB2FC2B7-2CF6-4E00-9379-4E27F6196742}"/>
              </a:ext>
            </a:extLst>
          </p:cNvPr>
          <p:cNvSpPr txBox="1"/>
          <p:nvPr/>
        </p:nvSpPr>
        <p:spPr>
          <a:xfrm>
            <a:off x="9661237" y="2852880"/>
            <a:ext cx="2257546" cy="369332"/>
          </a:xfrm>
          <a:prstGeom prst="rect">
            <a:avLst/>
          </a:prstGeom>
          <a:noFill/>
        </p:spPr>
        <p:txBody>
          <a:bodyPr wrap="square">
            <a:spAutoFit/>
          </a:bodyPr>
          <a:lstStyle/>
          <a:p>
            <a:r>
              <a:rPr lang="en-IN" sz="1800" b="0" dirty="0">
                <a:solidFill>
                  <a:srgbClr val="795E26"/>
                </a:solidFill>
                <a:effectLst/>
                <a:latin typeface="Consolas" panose="020B0609020204030204" pitchFamily="49" charset="0"/>
              </a:rPr>
              <a:t>set</a:t>
            </a:r>
            <a:r>
              <a:rPr lang="en-IN" sz="1800" b="0" dirty="0">
                <a:solidFill>
                  <a:srgbClr val="000000"/>
                </a:solidFill>
                <a:effectLst/>
                <a:latin typeface="Consolas" panose="020B0609020204030204" pitchFamily="49" charset="0"/>
              </a:rPr>
              <a:t>(</a:t>
            </a:r>
            <a:r>
              <a:rPr lang="en-IN" sz="1800" b="0" dirty="0">
                <a:solidFill>
                  <a:srgbClr val="098658"/>
                </a:solidFill>
                <a:effectLst/>
                <a:latin typeface="Consolas" panose="020B0609020204030204" pitchFamily="49" charset="0"/>
              </a:rPr>
              <a:t>0</a:t>
            </a:r>
            <a:r>
              <a:rPr lang="en-IN" sz="1800" b="0" dirty="0">
                <a:solidFill>
                  <a:srgbClr val="000000"/>
                </a:solidFill>
                <a:effectLst/>
                <a:latin typeface="Consolas" panose="020B0609020204030204" pitchFamily="49" charset="0"/>
              </a:rPr>
              <a:t>, </a:t>
            </a:r>
            <a:r>
              <a:rPr lang="en-IN" sz="1800" b="0" dirty="0">
                <a:solidFill>
                  <a:srgbClr val="A31515"/>
                </a:solidFill>
                <a:effectLst/>
                <a:latin typeface="Consolas" panose="020B0609020204030204" pitchFamily="49" charset="0"/>
              </a:rPr>
              <a:t>"zero"</a:t>
            </a:r>
            <a:r>
              <a:rPr lang="en-IN" sz="1800" b="0" dirty="0">
                <a:solidFill>
                  <a:srgbClr val="000000"/>
                </a:solidFill>
                <a:effectLst/>
                <a:latin typeface="Consolas" panose="020B0609020204030204" pitchFamily="49" charset="0"/>
              </a:rPr>
              <a:t>);</a:t>
            </a:r>
            <a:endParaRPr lang="en-IN" dirty="0"/>
          </a:p>
        </p:txBody>
      </p:sp>
      <p:sp>
        <p:nvSpPr>
          <p:cNvPr id="13" name="Rectangle 12">
            <a:extLst>
              <a:ext uri="{FF2B5EF4-FFF2-40B4-BE49-F238E27FC236}">
                <a16:creationId xmlns:a16="http://schemas.microsoft.com/office/drawing/2014/main" id="{E9E27457-5DE6-4A69-AF75-8B0AF213334E}"/>
              </a:ext>
            </a:extLst>
          </p:cNvPr>
          <p:cNvSpPr/>
          <p:nvPr/>
        </p:nvSpPr>
        <p:spPr>
          <a:xfrm>
            <a:off x="9929091" y="3288145"/>
            <a:ext cx="1551709" cy="277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4" name="Table 14">
            <a:extLst>
              <a:ext uri="{FF2B5EF4-FFF2-40B4-BE49-F238E27FC236}">
                <a16:creationId xmlns:a16="http://schemas.microsoft.com/office/drawing/2014/main" id="{9194B37A-AEE2-42F1-9EE1-20C3DB4C756F}"/>
              </a:ext>
            </a:extLst>
          </p:cNvPr>
          <p:cNvGraphicFramePr>
            <a:graphicFrameLocks noGrp="1"/>
          </p:cNvGraphicFramePr>
          <p:nvPr>
            <p:extLst>
              <p:ext uri="{D42A27DB-BD31-4B8C-83A1-F6EECF244321}">
                <p14:modId xmlns:p14="http://schemas.microsoft.com/office/powerpoint/2010/main" val="329277970"/>
              </p:ext>
            </p:extLst>
          </p:nvPr>
        </p:nvGraphicFramePr>
        <p:xfrm>
          <a:off x="7306112" y="4345427"/>
          <a:ext cx="3483898" cy="731520"/>
        </p:xfrm>
        <a:graphic>
          <a:graphicData uri="http://schemas.openxmlformats.org/drawingml/2006/table">
            <a:tbl>
              <a:tblPr firstRow="1" bandRow="1">
                <a:tableStyleId>{5C22544A-7EE6-4342-B048-85BDC9FD1C3A}</a:tableStyleId>
              </a:tblPr>
              <a:tblGrid>
                <a:gridCol w="1741949">
                  <a:extLst>
                    <a:ext uri="{9D8B030D-6E8A-4147-A177-3AD203B41FA5}">
                      <a16:colId xmlns:a16="http://schemas.microsoft.com/office/drawing/2014/main" val="228026404"/>
                    </a:ext>
                  </a:extLst>
                </a:gridCol>
                <a:gridCol w="1741949">
                  <a:extLst>
                    <a:ext uri="{9D8B030D-6E8A-4147-A177-3AD203B41FA5}">
                      <a16:colId xmlns:a16="http://schemas.microsoft.com/office/drawing/2014/main" val="1564173092"/>
                    </a:ext>
                  </a:extLst>
                </a:gridCol>
              </a:tblGrid>
              <a:tr h="2682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2754091954"/>
                  </a:ext>
                </a:extLst>
              </a:tr>
              <a:tr h="268240">
                <a:tc>
                  <a:txBody>
                    <a:bodyPr/>
                    <a:lstStyle/>
                    <a:p>
                      <a:r>
                        <a:rPr lang="en-IN" dirty="0"/>
                        <a:t>Zero</a:t>
                      </a:r>
                    </a:p>
                  </a:txBody>
                  <a:tcPr/>
                </a:tc>
                <a:tc>
                  <a:txBody>
                    <a:bodyPr/>
                    <a:lstStyle/>
                    <a:p>
                      <a:r>
                        <a:rPr lang="en-IN" dirty="0"/>
                        <a:t>one</a:t>
                      </a:r>
                    </a:p>
                  </a:txBody>
                  <a:tcPr/>
                </a:tc>
                <a:extLst>
                  <a:ext uri="{0D108BD9-81ED-4DB2-BD59-A6C34878D82A}">
                    <a16:rowId xmlns:a16="http://schemas.microsoft.com/office/drawing/2014/main" val="2920423821"/>
                  </a:ext>
                </a:extLst>
              </a:tr>
            </a:tbl>
          </a:graphicData>
        </a:graphic>
      </p:graphicFrame>
      <p:cxnSp>
        <p:nvCxnSpPr>
          <p:cNvPr id="16" name="Straight Arrow Connector 15">
            <a:extLst>
              <a:ext uri="{FF2B5EF4-FFF2-40B4-BE49-F238E27FC236}">
                <a16:creationId xmlns:a16="http://schemas.microsoft.com/office/drawing/2014/main" id="{6236737A-A927-4D00-B594-6009EEE1958D}"/>
              </a:ext>
            </a:extLst>
          </p:cNvPr>
          <p:cNvCxnSpPr/>
          <p:nvPr/>
        </p:nvCxnSpPr>
        <p:spPr>
          <a:xfrm>
            <a:off x="2392218" y="1366982"/>
            <a:ext cx="5357091" cy="1502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F4CD2A-EBD9-4758-BE1E-82AB8EC70869}"/>
              </a:ext>
            </a:extLst>
          </p:cNvPr>
          <p:cNvCxnSpPr>
            <a:cxnSpLocks/>
          </p:cNvCxnSpPr>
          <p:nvPr/>
        </p:nvCxnSpPr>
        <p:spPr>
          <a:xfrm>
            <a:off x="2392218" y="1667767"/>
            <a:ext cx="7934037" cy="1185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AE6EEA0-A2DA-4E96-B422-63B0817A7319}"/>
              </a:ext>
            </a:extLst>
          </p:cNvPr>
          <p:cNvCxnSpPr>
            <a:cxnSpLocks/>
          </p:cNvCxnSpPr>
          <p:nvPr/>
        </p:nvCxnSpPr>
        <p:spPr>
          <a:xfrm>
            <a:off x="2156691" y="2329396"/>
            <a:ext cx="5103091" cy="1952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14">
            <a:extLst>
              <a:ext uri="{FF2B5EF4-FFF2-40B4-BE49-F238E27FC236}">
                <a16:creationId xmlns:a16="http://schemas.microsoft.com/office/drawing/2014/main" id="{9DCACEF1-B1F5-4222-B90E-0F02A0B286D2}"/>
              </a:ext>
            </a:extLst>
          </p:cNvPr>
          <p:cNvGraphicFramePr>
            <a:graphicFrameLocks noGrp="1"/>
          </p:cNvGraphicFramePr>
          <p:nvPr>
            <p:extLst>
              <p:ext uri="{D42A27DB-BD31-4B8C-83A1-F6EECF244321}">
                <p14:modId xmlns:p14="http://schemas.microsoft.com/office/powerpoint/2010/main" val="119045964"/>
              </p:ext>
            </p:extLst>
          </p:nvPr>
        </p:nvGraphicFramePr>
        <p:xfrm>
          <a:off x="7114345" y="5408484"/>
          <a:ext cx="3483898" cy="365760"/>
        </p:xfrm>
        <a:graphic>
          <a:graphicData uri="http://schemas.openxmlformats.org/drawingml/2006/table">
            <a:tbl>
              <a:tblPr firstRow="1" bandRow="1">
                <a:tableStyleId>{5C22544A-7EE6-4342-B048-85BDC9FD1C3A}</a:tableStyleId>
              </a:tblPr>
              <a:tblGrid>
                <a:gridCol w="1741949">
                  <a:extLst>
                    <a:ext uri="{9D8B030D-6E8A-4147-A177-3AD203B41FA5}">
                      <a16:colId xmlns:a16="http://schemas.microsoft.com/office/drawing/2014/main" val="228026404"/>
                    </a:ext>
                  </a:extLst>
                </a:gridCol>
                <a:gridCol w="1741949">
                  <a:extLst>
                    <a:ext uri="{9D8B030D-6E8A-4147-A177-3AD203B41FA5}">
                      <a16:colId xmlns:a16="http://schemas.microsoft.com/office/drawing/2014/main" val="1564173092"/>
                    </a:ext>
                  </a:extLst>
                </a:gridCol>
              </a:tblGrid>
              <a:tr h="268240">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2754091954"/>
                  </a:ext>
                </a:extLst>
              </a:tr>
            </a:tbl>
          </a:graphicData>
        </a:graphic>
      </p:graphicFrame>
      <p:cxnSp>
        <p:nvCxnSpPr>
          <p:cNvPr id="25" name="Straight Arrow Connector 24">
            <a:extLst>
              <a:ext uri="{FF2B5EF4-FFF2-40B4-BE49-F238E27FC236}">
                <a16:creationId xmlns:a16="http://schemas.microsoft.com/office/drawing/2014/main" id="{B838BB71-D319-492E-BB56-FC07333BC9A1}"/>
              </a:ext>
            </a:extLst>
          </p:cNvPr>
          <p:cNvCxnSpPr/>
          <p:nvPr/>
        </p:nvCxnSpPr>
        <p:spPr>
          <a:xfrm>
            <a:off x="2623127" y="3514509"/>
            <a:ext cx="4202546" cy="1890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6" name="Table 14">
            <a:extLst>
              <a:ext uri="{FF2B5EF4-FFF2-40B4-BE49-F238E27FC236}">
                <a16:creationId xmlns:a16="http://schemas.microsoft.com/office/drawing/2014/main" id="{1059BAC9-583C-43A0-BF87-A8CB70B5A83B}"/>
              </a:ext>
            </a:extLst>
          </p:cNvPr>
          <p:cNvGraphicFramePr>
            <a:graphicFrameLocks noGrp="1"/>
          </p:cNvGraphicFramePr>
          <p:nvPr>
            <p:extLst>
              <p:ext uri="{D42A27DB-BD31-4B8C-83A1-F6EECF244321}">
                <p14:modId xmlns:p14="http://schemas.microsoft.com/office/powerpoint/2010/main" val="2869528484"/>
              </p:ext>
            </p:extLst>
          </p:nvPr>
        </p:nvGraphicFramePr>
        <p:xfrm>
          <a:off x="7417617" y="5852239"/>
          <a:ext cx="3483898" cy="365760"/>
        </p:xfrm>
        <a:graphic>
          <a:graphicData uri="http://schemas.openxmlformats.org/drawingml/2006/table">
            <a:tbl>
              <a:tblPr firstRow="1" bandRow="1">
                <a:tableStyleId>{5C22544A-7EE6-4342-B048-85BDC9FD1C3A}</a:tableStyleId>
              </a:tblPr>
              <a:tblGrid>
                <a:gridCol w="1741949">
                  <a:extLst>
                    <a:ext uri="{9D8B030D-6E8A-4147-A177-3AD203B41FA5}">
                      <a16:colId xmlns:a16="http://schemas.microsoft.com/office/drawing/2014/main" val="228026404"/>
                    </a:ext>
                  </a:extLst>
                </a:gridCol>
                <a:gridCol w="1741949">
                  <a:extLst>
                    <a:ext uri="{9D8B030D-6E8A-4147-A177-3AD203B41FA5}">
                      <a16:colId xmlns:a16="http://schemas.microsoft.com/office/drawing/2014/main" val="1564173092"/>
                    </a:ext>
                  </a:extLst>
                </a:gridCol>
              </a:tblGrid>
              <a:tr h="268240">
                <a:tc>
                  <a:txBody>
                    <a:bodyPr/>
                    <a:lstStyle/>
                    <a:p>
                      <a:r>
                        <a:rPr lang="en-IN" dirty="0"/>
                        <a:t>Zero</a:t>
                      </a:r>
                    </a:p>
                  </a:txBody>
                  <a:tcPr/>
                </a:tc>
                <a:tc>
                  <a:txBody>
                    <a:bodyPr/>
                    <a:lstStyle/>
                    <a:p>
                      <a:r>
                        <a:rPr lang="en-IN" dirty="0"/>
                        <a:t>one</a:t>
                      </a:r>
                    </a:p>
                  </a:txBody>
                  <a:tcPr/>
                </a:tc>
                <a:extLst>
                  <a:ext uri="{0D108BD9-81ED-4DB2-BD59-A6C34878D82A}">
                    <a16:rowId xmlns:a16="http://schemas.microsoft.com/office/drawing/2014/main" val="2920423821"/>
                  </a:ext>
                </a:extLst>
              </a:tr>
            </a:tbl>
          </a:graphicData>
        </a:graphic>
      </p:graphicFrame>
      <p:cxnSp>
        <p:nvCxnSpPr>
          <p:cNvPr id="27" name="Straight Arrow Connector 26">
            <a:extLst>
              <a:ext uri="{FF2B5EF4-FFF2-40B4-BE49-F238E27FC236}">
                <a16:creationId xmlns:a16="http://schemas.microsoft.com/office/drawing/2014/main" id="{74FD88B3-2C22-416D-B702-7A82D2FD308A}"/>
              </a:ext>
            </a:extLst>
          </p:cNvPr>
          <p:cNvCxnSpPr>
            <a:cxnSpLocks/>
          </p:cNvCxnSpPr>
          <p:nvPr/>
        </p:nvCxnSpPr>
        <p:spPr>
          <a:xfrm>
            <a:off x="2724727" y="4711187"/>
            <a:ext cx="4485148" cy="1333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24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3E64-6101-4ECA-BF20-5BB96656130D}"/>
              </a:ext>
            </a:extLst>
          </p:cNvPr>
          <p:cNvSpPr>
            <a:spLocks noGrp="1"/>
          </p:cNvSpPr>
          <p:nvPr>
            <p:ph type="title"/>
          </p:nvPr>
        </p:nvSpPr>
        <p:spPr>
          <a:xfrm>
            <a:off x="2428568" y="365125"/>
            <a:ext cx="8925232" cy="480449"/>
          </a:xfrm>
        </p:spPr>
        <p:txBody>
          <a:bodyPr>
            <a:normAutofit fontScale="90000"/>
          </a:bodyPr>
          <a:lstStyle/>
          <a:p>
            <a:r>
              <a:rPr lang="en-IN" dirty="0"/>
              <a:t>set</a:t>
            </a:r>
          </a:p>
        </p:txBody>
      </p:sp>
      <p:sp>
        <p:nvSpPr>
          <p:cNvPr id="3" name="Content Placeholder 2">
            <a:extLst>
              <a:ext uri="{FF2B5EF4-FFF2-40B4-BE49-F238E27FC236}">
                <a16:creationId xmlns:a16="http://schemas.microsoft.com/office/drawing/2014/main" id="{7B75E51C-B4F9-4166-9BBD-F5F69AD14430}"/>
              </a:ext>
            </a:extLst>
          </p:cNvPr>
          <p:cNvSpPr>
            <a:spLocks noGrp="1"/>
          </p:cNvSpPr>
          <p:nvPr>
            <p:ph idx="1"/>
          </p:nvPr>
        </p:nvSpPr>
        <p:spPr>
          <a:xfrm>
            <a:off x="208935" y="950555"/>
            <a:ext cx="10515600" cy="4351338"/>
          </a:xfrm>
        </p:spPr>
        <p:txBody>
          <a:bodyPr/>
          <a:lstStyle/>
          <a:p>
            <a:r>
              <a:rPr lang="en-US" dirty="0"/>
              <a:t>new Set([</a:t>
            </a:r>
            <a:r>
              <a:rPr lang="en-US" dirty="0" err="1"/>
              <a:t>iterable</a:t>
            </a:r>
            <a:r>
              <a:rPr lang="en-US" dirty="0"/>
              <a:t>]);</a:t>
            </a:r>
          </a:p>
          <a:p>
            <a:endParaRPr lang="en-US" dirty="0"/>
          </a:p>
          <a:p>
            <a:r>
              <a:rPr lang="en-US" dirty="0"/>
              <a:t>Set objects are collections of values, you can iterate its elements in insertion order. </a:t>
            </a:r>
          </a:p>
          <a:p>
            <a:r>
              <a:rPr lang="en-US" dirty="0"/>
              <a:t>A value in the Set may only occur once; </a:t>
            </a:r>
          </a:p>
          <a:p>
            <a:r>
              <a:rPr lang="en-US" dirty="0"/>
              <a:t>it is unique in the Set's collection.</a:t>
            </a:r>
            <a:endParaRPr lang="en-IN" dirty="0"/>
          </a:p>
        </p:txBody>
      </p:sp>
    </p:spTree>
    <p:extLst>
      <p:ext uri="{BB962C8B-B14F-4D97-AF65-F5344CB8AC3E}">
        <p14:creationId xmlns:p14="http://schemas.microsoft.com/office/powerpoint/2010/main" val="3659175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746B07-BB21-44C0-9A13-304CEFEB91C2}"/>
              </a:ext>
            </a:extLst>
          </p:cNvPr>
          <p:cNvSpPr>
            <a:spLocks noGrp="1"/>
          </p:cNvSpPr>
          <p:nvPr>
            <p:ph idx="1"/>
          </p:nvPr>
        </p:nvSpPr>
        <p:spPr>
          <a:xfrm>
            <a:off x="117987" y="527766"/>
            <a:ext cx="6223819" cy="6698943"/>
          </a:xfrm>
        </p:spPr>
        <p:txBody>
          <a:bodyPr>
            <a:noAutofit/>
          </a:bodyPr>
          <a:lstStyle/>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"use strict"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Set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5</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"some text"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o</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o</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3</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false, 3 has not been added to the set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5</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err="1">
                <a:solidFill>
                  <a:srgbClr val="267F99"/>
                </a:solidFill>
                <a:effectLst/>
                <a:latin typeface="Consolas" panose="020B0609020204030204" pitchFamily="49" charset="0"/>
              </a:rPr>
              <a:t>Math</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sqrt</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25</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"Some Text"</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toLowerCase</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has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o</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true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mySet</a:t>
            </a:r>
            <a:r>
              <a:rPr lang="en-IN" sz="1400" b="0" dirty="0" err="1">
                <a:solidFill>
                  <a:srgbClr val="000000"/>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size</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5</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endParaRPr lang="en-IN" sz="1400" dirty="0"/>
          </a:p>
        </p:txBody>
      </p:sp>
      <p:sp>
        <p:nvSpPr>
          <p:cNvPr id="5" name="TextBox 4">
            <a:extLst>
              <a:ext uri="{FF2B5EF4-FFF2-40B4-BE49-F238E27FC236}">
                <a16:creationId xmlns:a16="http://schemas.microsoft.com/office/drawing/2014/main" id="{0CBF9E2D-DF21-4B1C-8DDA-3E48180DAD41}"/>
              </a:ext>
            </a:extLst>
          </p:cNvPr>
          <p:cNvSpPr txBox="1"/>
          <p:nvPr/>
        </p:nvSpPr>
        <p:spPr>
          <a:xfrm>
            <a:off x="6096000" y="301759"/>
            <a:ext cx="6135328" cy="6084743"/>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mySet.delete</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(5);   // removes 5 from the set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mySet.has</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(5);    // false, 5 has been removed</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size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4, we just removed one value</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for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let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of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logs the items in the order: 1, "some text" </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for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let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of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keys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logs the items in the order: 1, "some text" </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for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let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of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values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Alternative (with </a:t>
            </a:r>
            <a:r>
              <a:rPr kumimoji="0" lang="en-IN" sz="14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Array.from</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myarray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Array</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mySet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[1, "some 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myarray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135364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2067F-C75D-41A7-9D23-873D01573121}"/>
              </a:ext>
            </a:extLst>
          </p:cNvPr>
          <p:cNvSpPr>
            <a:spLocks noGrp="1"/>
          </p:cNvSpPr>
          <p:nvPr>
            <p:ph type="title"/>
          </p:nvPr>
        </p:nvSpPr>
        <p:spPr>
          <a:xfrm>
            <a:off x="1651818" y="210420"/>
            <a:ext cx="9554497" cy="470617"/>
          </a:xfrm>
        </p:spPr>
        <p:txBody>
          <a:bodyPr>
            <a:normAutofit fontScale="90000"/>
          </a:bodyPr>
          <a:lstStyle/>
          <a:p>
            <a:pPr>
              <a:lnSpc>
                <a:spcPts val="3000"/>
              </a:lnSpc>
              <a:spcAft>
                <a:spcPts val="900"/>
              </a:spcAft>
            </a:pPr>
            <a:r>
              <a:rPr lang="en-IN" sz="4400" b="1" kern="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Why </a:t>
            </a:r>
            <a:r>
              <a:rPr lang="en-IN" sz="4400" b="1" kern="1800" dirty="0" err="1">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WeakMap</a:t>
            </a:r>
            <a:r>
              <a:rPr lang="en-IN" sz="4400" b="1" kern="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4400" b="1" kern="1800" dirty="0" err="1">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WeakSet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AA1A308-68F7-4F45-ACEA-96AAE9094D83}"/>
              </a:ext>
            </a:extLst>
          </p:cNvPr>
          <p:cNvSpPr>
            <a:spLocks noGrp="1"/>
          </p:cNvSpPr>
          <p:nvPr>
            <p:ph idx="1"/>
          </p:nvPr>
        </p:nvSpPr>
        <p:spPr>
          <a:xfrm>
            <a:off x="78658" y="934065"/>
            <a:ext cx="11275142" cy="470617"/>
          </a:xfrm>
        </p:spPr>
        <p:txBody>
          <a:bodyPr/>
          <a:lstStyle/>
          <a:p>
            <a:pPr>
              <a:lnSpc>
                <a:spcPct val="107000"/>
              </a:lnSpc>
              <a:spcAft>
                <a:spcPts val="900"/>
              </a:spcAft>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As we know from the  JavaScript engine stores a value in memory while it is reachable (and can potentially be used).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112F0415-EAD9-41F2-B51D-3B896D5DBB1E}"/>
              </a:ext>
            </a:extLst>
          </p:cNvPr>
          <p:cNvSpPr txBox="1"/>
          <p:nvPr/>
        </p:nvSpPr>
        <p:spPr>
          <a:xfrm>
            <a:off x="293738" y="1404682"/>
            <a:ext cx="6135328" cy="2088264"/>
          </a:xfrm>
          <a:prstGeom prst="rect">
            <a:avLst/>
          </a:prstGeom>
          <a:noFill/>
        </p:spPr>
        <p:txBody>
          <a:bodyPr wrap="square">
            <a:spAutoFit/>
          </a:bodyPr>
          <a:lstStyle/>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let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john </a:t>
            </a:r>
            <a:r>
              <a:rPr kumimoji="0" lang="en-IN" sz="11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name</a:t>
            </a:r>
            <a:r>
              <a:rPr kumimoji="0" lang="en-IN" sz="11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669900"/>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p>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the object can be accessed, john is the reference to it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overwrite the reference</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 </a:t>
            </a:r>
            <a:r>
              <a:rPr kumimoji="0" lang="en-IN" sz="11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null</a:t>
            </a:r>
            <a:r>
              <a:rPr kumimoji="0" lang="en-IN" sz="11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650"/>
              </a:lnSpc>
              <a:spcBef>
                <a:spcPts val="1000"/>
              </a:spcBef>
              <a:spcAft>
                <a:spcPts val="800"/>
              </a:spcAft>
              <a:buClrTx/>
              <a:buSzTx/>
              <a:buFont typeface="Arial" panose="020B0604020202020204" pitchFamily="34" charset="0"/>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1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1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the object will be removed from memory</a:t>
            </a:r>
            <a:endPar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02742F1-9DFB-4DD6-99D9-3387B1551DA6}"/>
              </a:ext>
            </a:extLst>
          </p:cNvPr>
          <p:cNvSpPr txBox="1"/>
          <p:nvPr/>
        </p:nvSpPr>
        <p:spPr>
          <a:xfrm>
            <a:off x="176982" y="3748920"/>
            <a:ext cx="6135328" cy="429285"/>
          </a:xfrm>
          <a:prstGeom prst="rect">
            <a:avLst/>
          </a:prstGeom>
          <a:noFill/>
        </p:spPr>
        <p:txBody>
          <a:bodyPr wrap="square">
            <a:spAutoFit/>
          </a:bodyPr>
          <a:lstStyle/>
          <a:p>
            <a:pPr>
              <a:lnSpc>
                <a:spcPct val="107000"/>
              </a:lnSpc>
              <a:spcAft>
                <a:spcPts val="900"/>
              </a:spcAft>
            </a:pPr>
            <a:r>
              <a:rPr lang="en-IN" sz="105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Usually, properties of an object or elements of an array or another data structure are considered reachable and kept in memory while that data structure is in memory.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1C665AFE-9246-48AA-825F-1DE34B9DB286}"/>
              </a:ext>
            </a:extLst>
          </p:cNvPr>
          <p:cNvSpPr txBox="1"/>
          <p:nvPr/>
        </p:nvSpPr>
        <p:spPr>
          <a:xfrm>
            <a:off x="6096000" y="3615022"/>
            <a:ext cx="5820697" cy="429285"/>
          </a:xfrm>
          <a:prstGeom prst="rect">
            <a:avLst/>
          </a:prstGeom>
          <a:noFill/>
        </p:spPr>
        <p:txBody>
          <a:bodyPr wrap="square">
            <a:spAutoFit/>
          </a:bodyPr>
          <a:lstStyle/>
          <a:p>
            <a:pPr>
              <a:lnSpc>
                <a:spcPct val="107000"/>
              </a:lnSpc>
              <a:spcAft>
                <a:spcPts val="900"/>
              </a:spcAft>
            </a:pPr>
            <a:r>
              <a:rPr lang="en-IN" sz="105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instance, if we put an object into an array, then while the array is alive, the object will be alive as well, even if there are no other references to it.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7C2F9CE1-C519-47F1-AED4-E31E7BD85197}"/>
              </a:ext>
            </a:extLst>
          </p:cNvPr>
          <p:cNvSpPr txBox="1"/>
          <p:nvPr/>
        </p:nvSpPr>
        <p:spPr>
          <a:xfrm>
            <a:off x="196645" y="4312103"/>
            <a:ext cx="5673212" cy="2117246"/>
          </a:xfrm>
          <a:prstGeom prst="rect">
            <a:avLst/>
          </a:prstGeom>
          <a:noFill/>
        </p:spPr>
        <p:txBody>
          <a:bodyPr wrap="square">
            <a:spAutoFit/>
          </a:bodyPr>
          <a:lstStyle/>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array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overwrite the reference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the object previously referenced by john is stored inside the array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therefore it won't be garbage-collected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we can get it as array[0]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1270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F7401-2CE5-4D3D-AFBF-8ED81CB7F206}"/>
              </a:ext>
            </a:extLst>
          </p:cNvPr>
          <p:cNvSpPr>
            <a:spLocks noGrp="1"/>
          </p:cNvSpPr>
          <p:nvPr>
            <p:ph type="title"/>
          </p:nvPr>
        </p:nvSpPr>
        <p:spPr>
          <a:xfrm>
            <a:off x="1101212" y="129152"/>
            <a:ext cx="9780639" cy="804914"/>
          </a:xfrm>
        </p:spPr>
        <p:txBody>
          <a:bodyPr/>
          <a:lstStyle/>
          <a:p>
            <a:r>
              <a:rPr lang="en-IN" dirty="0"/>
              <a:t>Why not to use MAP</a:t>
            </a:r>
          </a:p>
        </p:txBody>
      </p:sp>
      <p:sp>
        <p:nvSpPr>
          <p:cNvPr id="3" name="Content Placeholder 2">
            <a:extLst>
              <a:ext uri="{FF2B5EF4-FFF2-40B4-BE49-F238E27FC236}">
                <a16:creationId xmlns:a16="http://schemas.microsoft.com/office/drawing/2014/main" id="{E94FA8B1-A1A8-41E1-A640-14D28A7F4472}"/>
              </a:ext>
            </a:extLst>
          </p:cNvPr>
          <p:cNvSpPr>
            <a:spLocks noGrp="1"/>
          </p:cNvSpPr>
          <p:nvPr>
            <p:ph idx="1"/>
          </p:nvPr>
        </p:nvSpPr>
        <p:spPr>
          <a:xfrm>
            <a:off x="366251" y="822734"/>
            <a:ext cx="10515600" cy="4351338"/>
          </a:xfrm>
        </p:spPr>
        <p:txBody>
          <a:bodyPr>
            <a:normAutofit fontScale="62500" lnSpcReduction="20000"/>
          </a:bodyPr>
          <a:lstStyle/>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Similar to that, if we use an object as the key in a regular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then while the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exists, that object exists as well. It occupies memory and may not be garbage collected.</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instance:</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3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map </a:t>
            </a:r>
            <a:r>
              <a:rPr lang="en-IN" sz="3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Map</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36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3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3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overwrite the reference</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3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john is stored inside the map,</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3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we can get it by using </a:t>
            </a:r>
            <a:r>
              <a:rPr lang="en-IN" sz="36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map.keys</a:t>
            </a:r>
            <a:r>
              <a:rPr lang="en-IN" sz="3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fundamentally different in this aspect. It doesn’t prevent garbage-collection of key objects.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1927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524C2-4821-4757-9E69-9472F7E28D4F}"/>
              </a:ext>
            </a:extLst>
          </p:cNvPr>
          <p:cNvSpPr>
            <a:spLocks noGrp="1"/>
          </p:cNvSpPr>
          <p:nvPr>
            <p:ph type="title"/>
          </p:nvPr>
        </p:nvSpPr>
        <p:spPr>
          <a:xfrm>
            <a:off x="1270819" y="296299"/>
            <a:ext cx="10921181" cy="323133"/>
          </a:xfrm>
        </p:spPr>
        <p:txBody>
          <a:bodyPr>
            <a:normAutofit fontScale="90000"/>
          </a:bodyPr>
          <a:lstStyle/>
          <a:p>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 first difference between </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dirty="0"/>
          </a:p>
        </p:txBody>
      </p:sp>
      <p:sp>
        <p:nvSpPr>
          <p:cNvPr id="3" name="Content Placeholder 2">
            <a:extLst>
              <a:ext uri="{FF2B5EF4-FFF2-40B4-BE49-F238E27FC236}">
                <a16:creationId xmlns:a16="http://schemas.microsoft.com/office/drawing/2014/main" id="{D076665D-8A2C-44E6-8B69-DD3D477A3005}"/>
              </a:ext>
            </a:extLst>
          </p:cNvPr>
          <p:cNvSpPr>
            <a:spLocks noGrp="1"/>
          </p:cNvSpPr>
          <p:nvPr>
            <p:ph idx="1"/>
          </p:nvPr>
        </p:nvSpPr>
        <p:spPr>
          <a:xfrm>
            <a:off x="324464" y="1253331"/>
            <a:ext cx="10515600" cy="4351338"/>
          </a:xfrm>
        </p:spPr>
        <p:txBody>
          <a:bodyPr>
            <a:normAutofit/>
          </a:bodyPr>
          <a:lstStyle/>
          <a:p>
            <a:pPr marL="0" indent="0">
              <a:lnSpc>
                <a:spcPct val="107000"/>
              </a:lnSpc>
              <a:spcAft>
                <a:spcPts val="900"/>
              </a:spcAft>
              <a:buNone/>
            </a:pPr>
            <a:r>
              <a:rPr lang="en-IN" sz="16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is that keys must be objects, not primitive values: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"ok"</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works fine (object key)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can't use a string as the key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"test"</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"Whoops"</a:t>
            </a:r>
            <a:r>
              <a:rPr lang="en-IN" sz="16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6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Error, because "test" is not an object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600" dirty="0"/>
          </a:p>
        </p:txBody>
      </p:sp>
    </p:spTree>
    <p:extLst>
      <p:ext uri="{BB962C8B-B14F-4D97-AF65-F5344CB8AC3E}">
        <p14:creationId xmlns:p14="http://schemas.microsoft.com/office/powerpoint/2010/main" val="168723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D1A14-5DBC-426D-8DAA-EB5894D4996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160CFD5-252D-484D-8085-CAB92DBBAFAB}"/>
              </a:ext>
            </a:extLst>
          </p:cNvPr>
          <p:cNvSpPr>
            <a:spLocks noGrp="1"/>
          </p:cNvSpPr>
          <p:nvPr>
            <p:ph idx="1"/>
          </p:nvPr>
        </p:nvSpPr>
        <p:spPr/>
        <p:txBody>
          <a:bodyPr>
            <a:normAutofit/>
          </a:bodyPr>
          <a:lstStyle/>
          <a:p>
            <a:pPr>
              <a:lnSpc>
                <a:spcPct val="107000"/>
              </a:lnSpc>
              <a:spcAft>
                <a:spcPts val="900"/>
              </a:spcAft>
            </a:pP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Now, if we use an object as the key in it, and there are no other references to that object – it will be removed from memory (and from the map) automatically.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20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0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20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20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overwrite the reference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john is removed from memory!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Compare it with the regular </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example above. Now if </a:t>
            </a:r>
            <a:r>
              <a:rPr lang="en-IN" sz="20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only exists as the key of </a:t>
            </a:r>
            <a:r>
              <a:rPr lang="en-IN" sz="20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0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 it will be automatically deleted from the map (and memory).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3761482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022BD2-B14A-4997-9724-A56ACA38442B}"/>
              </a:ext>
            </a:extLst>
          </p:cNvPr>
          <p:cNvSpPr>
            <a:spLocks noGrp="1"/>
          </p:cNvSpPr>
          <p:nvPr>
            <p:ph idx="1"/>
          </p:nvPr>
        </p:nvSpPr>
        <p:spPr>
          <a:xfrm>
            <a:off x="432619" y="835742"/>
            <a:ext cx="10921181" cy="5341221"/>
          </a:xfrm>
        </p:spPr>
        <p:txBody>
          <a:bodyPr>
            <a:normAutofit fontScale="70000" lnSpcReduction="20000"/>
          </a:bodyPr>
          <a:lstStyle/>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does not support iteration and methods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values()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entries()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so there’s no way to get all keys or values from it.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has only the following methods: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weakMap.get</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weakMap.set</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 value)</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weakMap.delete</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weakMap.has</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900"/>
              </a:spcBef>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Why such a limitation? That’s for technical reasons. If an object has lost all other references (like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in the code above), then it is to be garbage-collected automatically. But technically it’s not exactly specified </a:t>
            </a:r>
            <a:r>
              <a:rPr lang="en-IN" sz="2800" i="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when the </a:t>
            </a:r>
            <a:r>
              <a:rPr lang="en-IN" sz="2800" i="1" dirty="0" err="1">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cleanup</a:t>
            </a:r>
            <a:r>
              <a:rPr lang="en-IN" sz="2800" i="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happens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 JavaScript engine decides that. It may choose to perform the memory </a:t>
            </a:r>
            <a:r>
              <a:rPr lang="en-IN" sz="2800" dirty="0" err="1">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cleanup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immediately or to wait and do the cleaning later when more deletions happen. So, technically, the current element count of a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not known. The engine may have cleaned it up or not, or did it partially. For that reason, methods that access all keys/values are not supported.</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85810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A41E89-5FEF-458E-BA6B-5575D310E0AD}"/>
              </a:ext>
            </a:extLst>
          </p:cNvPr>
          <p:cNvSpPr>
            <a:spLocks noGrp="1"/>
          </p:cNvSpPr>
          <p:nvPr>
            <p:ph idx="1"/>
          </p:nvPr>
        </p:nvSpPr>
        <p:spPr>
          <a:xfrm>
            <a:off x="481781" y="786580"/>
            <a:ext cx="10933470" cy="6071420"/>
          </a:xfrm>
        </p:spPr>
        <p:txBody>
          <a:bodyPr>
            <a:noAutofit/>
          </a:bodyPr>
          <a:lstStyle/>
          <a:p>
            <a:pPr>
              <a:lnSpc>
                <a:spcPct val="107000"/>
              </a:lnSpc>
              <a:spcAft>
                <a:spcPts val="900"/>
              </a:spcAft>
            </a:pPr>
            <a:r>
              <a:rPr lang="en-IN" sz="12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 main area of application for </a:t>
            </a:r>
            <a:r>
              <a:rPr lang="en-IN" sz="1200" b="1"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2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an </a:t>
            </a:r>
            <a:r>
              <a:rPr lang="en-IN" sz="1200" b="1" i="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additional data storage</a:t>
            </a:r>
            <a:r>
              <a:rPr lang="en-IN" sz="12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2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If we’re working with an object that “belongs” to another code, maybe even a third-party library, and would like to store some data associated with it, that should only exist while the object is alive – then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exactly what’s needed.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We put the data to a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using the object as the key, and when the object is garbage collected, that data will automatically disappear as well.</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2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"secret documents"</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if john dies, secret documents will be destroyed automatically</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Let’s look at an example.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instance, we have code that keeps a visit count for users. The information is stored in a map: a user object is the key and the visit count is the value. When a user leaves (its object gets garbage collected), we don’t want to store their visit count anymore.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pP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Here’s an example of a counting function with </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12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visitsCount.js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visitsCountMap</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Map</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map: user =&gt; visits count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increase the visits count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function</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countUser</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count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visitsCountMap</a:t>
            </a:r>
            <a:r>
              <a:rPr lang="en-IN" sz="12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get</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Consolas" panose="020B0609020204030204" pitchFamily="49" charset="0"/>
                <a:ea typeface="Times New Roman" panose="02020603050405020304" pitchFamily="18" charset="0"/>
                <a:cs typeface="Courier New" panose="02070309020205020404" pitchFamily="49" charset="0"/>
              </a:rPr>
              <a:t>0</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visitsCountMap</a:t>
            </a:r>
            <a:r>
              <a:rPr lang="en-IN" sz="12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count </a:t>
            </a:r>
            <a:r>
              <a:rPr lang="en-IN" sz="12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Consolas" panose="020B0609020204030204" pitchFamily="49" charset="0"/>
                <a:ea typeface="Times New Roman" panose="02020603050405020304" pitchFamily="18" charset="0"/>
                <a:cs typeface="Courier New" panose="02070309020205020404" pitchFamily="49" charset="0"/>
              </a:rPr>
              <a:t>1</a:t>
            </a: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65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3FB369A7-A378-4401-A70E-82B9579BC1A5}"/>
              </a:ext>
            </a:extLst>
          </p:cNvPr>
          <p:cNvSpPr txBox="1"/>
          <p:nvPr/>
        </p:nvSpPr>
        <p:spPr>
          <a:xfrm>
            <a:off x="2045111" y="0"/>
            <a:ext cx="6135328" cy="382221"/>
          </a:xfrm>
          <a:prstGeom prst="rect">
            <a:avLst/>
          </a:prstGeom>
          <a:noFill/>
        </p:spPr>
        <p:txBody>
          <a:bodyPr wrap="square">
            <a:spAutoFit/>
          </a:bodyPr>
          <a:lstStyle/>
          <a:p>
            <a:pPr>
              <a:lnSpc>
                <a:spcPts val="2400"/>
              </a:lnSpc>
              <a:spcBef>
                <a:spcPts val="1800"/>
              </a:spcBef>
              <a:spcAft>
                <a:spcPts val="900"/>
              </a:spcAft>
            </a:pPr>
            <a:r>
              <a:rPr lang="en-IN" sz="1800" b="1" dirty="0">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rPr>
              <a:t>Use case: additional data</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32018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2E549A-1EC4-422A-89A2-42343F274BB5}"/>
              </a:ext>
            </a:extLst>
          </p:cNvPr>
          <p:cNvSpPr>
            <a:spLocks noGrp="1"/>
          </p:cNvSpPr>
          <p:nvPr>
            <p:ph idx="1"/>
          </p:nvPr>
        </p:nvSpPr>
        <p:spPr>
          <a:xfrm>
            <a:off x="707924" y="134477"/>
            <a:ext cx="10921180" cy="6413808"/>
          </a:xfrm>
        </p:spPr>
        <p:txBody>
          <a:bodyPr>
            <a:noAutofit/>
          </a:bodyPr>
          <a:lstStyle/>
          <a:p>
            <a:pPr marL="228600" marR="0" lvl="0" indent="-228600" algn="l" defTabSz="914400" rtl="0" eaLnBrk="1" fontAlgn="auto" latinLnBrk="0" hangingPunct="1">
              <a:lnSpc>
                <a:spcPct val="100000"/>
              </a:lnSpc>
              <a:spcBef>
                <a:spcPts val="0"/>
              </a:spcBef>
              <a:spcAft>
                <a:spcPts val="90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And here’s another part of the code, maybe another file using it: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100000"/>
              </a:lnSpc>
              <a:spcBef>
                <a:spcPts val="0"/>
              </a:spcBef>
              <a:spcAft>
                <a:spcPts val="800"/>
              </a:spcAft>
              <a:buClrTx/>
              <a:buSzTx/>
              <a:buFont typeface="Arial" panose="020B0604020202020204" pitchFamily="34" charset="0"/>
              <a:buChar cha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Segoe UI Emoji" panose="020B0502040204020203" pitchFamily="34" charset="0"/>
                <a:ea typeface="Times New Roman" panose="02020603050405020304" pitchFamily="18" charset="0"/>
                <a:cs typeface="Segoe UI Emoji" panose="020B0502040204020203" pitchFamily="34" charset="0"/>
              </a:rPr>
              <a:t>📁</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main.js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let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john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name</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669900"/>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countUser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count his visits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later john leaves us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650"/>
              </a:lnSpc>
              <a:spcBef>
                <a:spcPts val="100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null</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100000"/>
              </a:lnSpc>
              <a:spcBef>
                <a:spcPts val="0"/>
              </a:spcBef>
              <a:spcAft>
                <a:spcPts val="90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Now, </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 object should be garbage collected, but remains in memory, as it’s a key in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100000"/>
              </a:lnSpc>
              <a:spcBef>
                <a:spcPts val="0"/>
              </a:spcBef>
              <a:spcAft>
                <a:spcPts val="90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We need to clean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 when we remove users, otherwise it will grow in memory indefinitely. Such cleaning can become a tedious task in complex architectures.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100000"/>
              </a:lnSpc>
              <a:spcBef>
                <a:spcPts val="0"/>
              </a:spcBef>
              <a:spcAft>
                <a:spcPts val="90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We can avoid it by switching to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Times New Roman" panose="02020603050405020304" pitchFamily="18" charset="0"/>
              </a:rPr>
              <a:t> instead:</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Segoe UI Emoji" panose="020B0502040204020203" pitchFamily="34" charset="0"/>
                <a:ea typeface="Times New Roman" panose="02020603050405020304" pitchFamily="18" charset="0"/>
                <a:cs typeface="Segoe UI Emoji" panose="020B0502040204020203" pitchFamily="34" charset="0"/>
              </a:rPr>
              <a:t>📁</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visitsCount.js</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let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new</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user =&gt; visits count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708090"/>
                </a:solidFill>
                <a:effectLst/>
                <a:uLnTx/>
                <a:uFillTx/>
                <a:latin typeface="Consolas" panose="020B0609020204030204" pitchFamily="49" charset="0"/>
                <a:ea typeface="Times New Roman" panose="02020603050405020304" pitchFamily="18" charset="0"/>
                <a:cs typeface="Courier New" panose="02070309020205020404" pitchFamily="49" charset="0"/>
              </a:rPr>
              <a:t>// increase the visits count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function</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countUser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0077AA"/>
                </a:solidFill>
                <a:effectLst/>
                <a:uLnTx/>
                <a:uFillTx/>
                <a:latin typeface="Consolas" panose="020B0609020204030204" pitchFamily="49" charset="0"/>
                <a:ea typeface="Times New Roman" panose="02020603050405020304" pitchFamily="18" charset="0"/>
                <a:cs typeface="Courier New" panose="02070309020205020404" pitchFamily="49" charset="0"/>
              </a:rPr>
              <a:t>let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count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err="1">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get</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0055"/>
                </a:solidFill>
                <a:effectLst/>
                <a:uLnTx/>
                <a:uFillTx/>
                <a:latin typeface="Consolas" panose="020B0609020204030204" pitchFamily="49" charset="0"/>
                <a:ea typeface="Times New Roman" panose="02020603050405020304" pitchFamily="18" charset="0"/>
                <a:cs typeface="Courier New" panose="02070309020205020404" pitchFamily="49" charset="0"/>
              </a:rPr>
              <a:t>0</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err="1">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set</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user</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count </a:t>
            </a:r>
            <a:r>
              <a:rPr kumimoji="0" lang="en-IN" sz="1400" b="0" i="0" u="none" strike="noStrike" kern="1200" cap="none" spc="0" normalizeH="0" baseline="0" noProof="0" dirty="0">
                <a:ln>
                  <a:noFill/>
                </a:ln>
                <a:solidFill>
                  <a:srgbClr val="A67F5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 </a:t>
            </a:r>
            <a:r>
              <a:rPr kumimoji="0" lang="en-IN" sz="1400" b="0" i="0" u="none" strike="noStrike" kern="1200" cap="none" spc="0" normalizeH="0" baseline="0" noProof="0" dirty="0">
                <a:ln>
                  <a:noFill/>
                </a:ln>
                <a:solidFill>
                  <a:srgbClr val="990055"/>
                </a:solidFill>
                <a:effectLst/>
                <a:uLnTx/>
                <a:uFillTx/>
                <a:latin typeface="Consolas" panose="020B0609020204030204" pitchFamily="49" charset="0"/>
                <a:ea typeface="Times New Roman" panose="02020603050405020304" pitchFamily="18" charset="0"/>
                <a:cs typeface="Courier New" panose="02070309020205020404" pitchFamily="49" charset="0"/>
              </a:rPr>
              <a:t>1</a:t>
            </a: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Tx/>
              <a:buSz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IN" sz="1400" b="0" i="0" u="none" strike="noStrike" kern="1200" cap="none" spc="0" normalizeH="0" baseline="0" noProof="0" dirty="0">
                <a:ln>
                  <a:noFill/>
                </a:ln>
                <a:solidFill>
                  <a:srgbClr val="999999"/>
                </a:solidFill>
                <a:effectLst/>
                <a:uLnTx/>
                <a:uFillTx/>
                <a:latin typeface="Consolas" panose="020B0609020204030204" pitchFamily="49" charset="0"/>
                <a:ea typeface="Times New Roman" panose="02020603050405020304" pitchFamily="18" charset="0"/>
                <a:cs typeface="Courier New" panose="02070309020205020404" pitchFamily="49" charset="0"/>
              </a:rPr>
              <a:t>}</a:t>
            </a:r>
            <a:endParaRPr kumimoji="0" lang="en-IN"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Now we don’t have to clean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visitsCountMap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 After </a:t>
            </a:r>
            <a:r>
              <a:rPr kumimoji="0" lang="en-IN" sz="1400" b="0" i="0" u="none" strike="noStrike" kern="1200" cap="none" spc="0" normalizeH="0" baseline="0" noProof="0" dirty="0">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john</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 object becomes unreachable, by all means except as a key of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 it gets removed from memory, along with the information by that key from </a:t>
            </a:r>
            <a:r>
              <a:rPr kumimoji="0" lang="en-IN" sz="1400" b="0" i="0" u="none" strike="noStrike" kern="1200" cap="none" spc="0" normalizeH="0" baseline="0" noProof="0" dirty="0" err="1">
                <a:ln>
                  <a:noFill/>
                </a:ln>
                <a:solidFill>
                  <a:srgbClr val="333333"/>
                </a:solidFill>
                <a:effectLst/>
                <a:uLnTx/>
                <a:uFillTx/>
                <a:latin typeface="Consolas" panose="020B0609020204030204" pitchFamily="49" charset="0"/>
                <a:ea typeface="Times New Roman" panose="02020603050405020304" pitchFamily="18" charset="0"/>
                <a:cs typeface="Courier New" panose="02070309020205020404" pitchFamily="49" charset="0"/>
              </a:rPr>
              <a:t>WeakMap</a:t>
            </a:r>
            <a:r>
              <a:rPr kumimoji="0" lang="en-IN" sz="1400" b="0" i="0" u="none" strike="noStrike" kern="1200" cap="none" spc="0" normalizeH="0" baseline="0" noProof="0" dirty="0">
                <a:ln>
                  <a:noFill/>
                </a:ln>
                <a:solidFill>
                  <a:srgbClr val="333333"/>
                </a:solidFill>
                <a:effectLst/>
                <a:uLnTx/>
                <a:uFillTx/>
                <a:latin typeface="Segoe UI" panose="020B0502040204020203" pitchFamily="34" charset="0"/>
                <a:ea typeface="Times New Roman" panose="02020603050405020304" pitchFamily="18" charset="0"/>
                <a:cs typeface="+mn-cs"/>
              </a:rPr>
              <a:t>.</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sz="1400" dirty="0"/>
          </a:p>
        </p:txBody>
      </p:sp>
    </p:spTree>
    <p:extLst>
      <p:ext uri="{BB962C8B-B14F-4D97-AF65-F5344CB8AC3E}">
        <p14:creationId xmlns:p14="http://schemas.microsoft.com/office/powerpoint/2010/main" val="2928515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D7E1-A2C9-4855-AFE9-1D0749E9AF14}"/>
              </a:ext>
            </a:extLst>
          </p:cNvPr>
          <p:cNvSpPr>
            <a:spLocks noGrp="1"/>
          </p:cNvSpPr>
          <p:nvPr>
            <p:ph type="title"/>
          </p:nvPr>
        </p:nvSpPr>
        <p:spPr>
          <a:xfrm>
            <a:off x="1676400" y="-96990"/>
            <a:ext cx="8421329" cy="972062"/>
          </a:xfrm>
        </p:spPr>
        <p:txBody>
          <a:bodyPr/>
          <a:lstStyle/>
          <a:p>
            <a:r>
              <a:rPr lang="en-IN" sz="4400" b="1" u="sng" dirty="0">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rPr>
              <a:t>Use case: caching</a:t>
            </a:r>
            <a:endParaRPr lang="en-IN" dirty="0"/>
          </a:p>
        </p:txBody>
      </p:sp>
      <p:sp>
        <p:nvSpPr>
          <p:cNvPr id="3" name="Content Placeholder 2">
            <a:extLst>
              <a:ext uri="{FF2B5EF4-FFF2-40B4-BE49-F238E27FC236}">
                <a16:creationId xmlns:a16="http://schemas.microsoft.com/office/drawing/2014/main" id="{039B0604-3089-464A-A4EE-9759F5DD5B14}"/>
              </a:ext>
            </a:extLst>
          </p:cNvPr>
          <p:cNvSpPr>
            <a:spLocks noGrp="1"/>
          </p:cNvSpPr>
          <p:nvPr>
            <p:ph idx="1"/>
          </p:nvPr>
        </p:nvSpPr>
        <p:spPr>
          <a:xfrm>
            <a:off x="481779" y="765648"/>
            <a:ext cx="11208776" cy="719023"/>
          </a:xfrm>
        </p:spPr>
        <p:txBody>
          <a:bodyPr>
            <a:normAutofit/>
          </a:bodyPr>
          <a:lstStyle/>
          <a:p>
            <a:pPr>
              <a:lnSpc>
                <a:spcPct val="107000"/>
              </a:lnSpc>
              <a:spcAft>
                <a:spcPts val="900"/>
              </a:spcAft>
            </a:pPr>
            <a:r>
              <a:rPr lang="en-IN" sz="16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Another common example is caching. We can store (“cache”) results from a function, so that future calls on the same object can reuse it.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0174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21CFD1D-3876-41F8-B913-F417F386C9B6}"/>
              </a:ext>
            </a:extLst>
          </p:cNvPr>
          <p:cNvSpPr txBox="1"/>
          <p:nvPr/>
        </p:nvSpPr>
        <p:spPr>
          <a:xfrm>
            <a:off x="1120878" y="0"/>
            <a:ext cx="11189110" cy="6894195"/>
          </a:xfrm>
          <a:prstGeom prst="rect">
            <a:avLst/>
          </a:prstGeom>
          <a:noFill/>
        </p:spPr>
        <p:txBody>
          <a:bodyPr wrap="square">
            <a:spAutoFit/>
          </a:bodyPr>
          <a:lstStyle/>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cache.js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cache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Map</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calculate and remember the result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function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if</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calculations of the result for */</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return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get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Now we use process() in another file: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main.js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let's say we have an object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result1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calculated</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...later, from another place of the code...</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result2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remembered result taken from cache</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...later, when the object is not needed any more:</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alert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size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1 (Ouch! The object is still in cache, taking memory!)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32525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E1B0B9F-5A0C-4878-AC99-C0B67B62CEB8}"/>
              </a:ext>
            </a:extLst>
          </p:cNvPr>
          <p:cNvSpPr txBox="1"/>
          <p:nvPr/>
        </p:nvSpPr>
        <p:spPr>
          <a:xfrm>
            <a:off x="1071717" y="0"/>
            <a:ext cx="11120283" cy="1674561"/>
          </a:xfrm>
          <a:prstGeom prst="rect">
            <a:avLst/>
          </a:prstGeom>
          <a:noFill/>
        </p:spPr>
        <p:txBody>
          <a:bodyPr wrap="square">
            <a:spAutoFit/>
          </a:bodyPr>
          <a:lstStyle/>
          <a:p>
            <a:pPr>
              <a:lnSpc>
                <a:spcPct val="107000"/>
              </a:lnSpc>
              <a:spcAft>
                <a:spcPts val="900"/>
              </a:spcAft>
            </a:pP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multiple calls of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process(</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with the same object, it only calculates the result the first time, and then just takes it from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The downside is that we need to clean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when the object is not needed any more.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If we replace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with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then this problem disappears. The cached result will be removed from memory automatically after the object gets garbage collected.</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07C73AB6-50F0-44A8-A119-40B53858F7D5}"/>
              </a:ext>
            </a:extLst>
          </p:cNvPr>
          <p:cNvSpPr txBox="1"/>
          <p:nvPr/>
        </p:nvSpPr>
        <p:spPr>
          <a:xfrm>
            <a:off x="314633" y="1770413"/>
            <a:ext cx="7315199" cy="3522439"/>
          </a:xfrm>
          <a:prstGeom prst="rect">
            <a:avLst/>
          </a:prstGeom>
          <a:noFill/>
        </p:spPr>
        <p:txBody>
          <a:bodyPr wrap="square">
            <a:spAutoFit/>
          </a:bodyPr>
          <a:lstStyle/>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cache.js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cache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calculate and remember the result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function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if</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calculate the result for */</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return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cache</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get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E250D5D5-C16F-4626-B023-C2857CF362AA}"/>
              </a:ext>
            </a:extLst>
          </p:cNvPr>
          <p:cNvSpPr txBox="1"/>
          <p:nvPr/>
        </p:nvSpPr>
        <p:spPr>
          <a:xfrm>
            <a:off x="7177549" y="1501108"/>
            <a:ext cx="4817806" cy="4497065"/>
          </a:xfrm>
          <a:prstGeom prst="rect">
            <a:avLst/>
          </a:prstGeom>
          <a:noFill/>
        </p:spPr>
        <p:txBody>
          <a:bodyPr wrap="square">
            <a:spAutoFit/>
          </a:bodyPr>
          <a:lstStyle/>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main.js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some object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result1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result2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process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...later, when the object is not needed any more: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Can't get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cache.size</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as it's a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but it's 0 or soon be 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When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obj</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gets garbage collected, cached data will be removed as well</a:t>
            </a:r>
            <a:endParaRPr lang="en-IN" dirty="0"/>
          </a:p>
        </p:txBody>
      </p:sp>
    </p:spTree>
    <p:extLst>
      <p:ext uri="{BB962C8B-B14F-4D97-AF65-F5344CB8AC3E}">
        <p14:creationId xmlns:p14="http://schemas.microsoft.com/office/powerpoint/2010/main" val="3884737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599C3-8177-47E1-AC38-09E601AA1169}"/>
              </a:ext>
            </a:extLst>
          </p:cNvPr>
          <p:cNvSpPr>
            <a:spLocks noGrp="1"/>
          </p:cNvSpPr>
          <p:nvPr>
            <p:ph type="title"/>
          </p:nvPr>
        </p:nvSpPr>
        <p:spPr>
          <a:xfrm>
            <a:off x="1229032" y="119319"/>
            <a:ext cx="9888794" cy="490281"/>
          </a:xfrm>
        </p:spPr>
        <p:txBody>
          <a:bodyPr>
            <a:normAutofit/>
          </a:bodyPr>
          <a:lstStyle/>
          <a:p>
            <a:pPr>
              <a:lnSpc>
                <a:spcPts val="2400"/>
              </a:lnSpc>
              <a:spcBef>
                <a:spcPts val="1800"/>
              </a:spcBef>
              <a:spcAft>
                <a:spcPts val="900"/>
              </a:spcAft>
            </a:pPr>
            <a:r>
              <a:rPr lang="en-IN" sz="4400" b="1" u="sng" dirty="0" err="1">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rPr>
              <a:t>WeakSet</a:t>
            </a:r>
            <a:endParaRPr lang="en-IN" dirty="0"/>
          </a:p>
        </p:txBody>
      </p:sp>
      <p:sp>
        <p:nvSpPr>
          <p:cNvPr id="3" name="Content Placeholder 2">
            <a:extLst>
              <a:ext uri="{FF2B5EF4-FFF2-40B4-BE49-F238E27FC236}">
                <a16:creationId xmlns:a16="http://schemas.microsoft.com/office/drawing/2014/main" id="{69975548-4BC7-4243-B1C3-9DA337013A83}"/>
              </a:ext>
            </a:extLst>
          </p:cNvPr>
          <p:cNvSpPr>
            <a:spLocks noGrp="1"/>
          </p:cNvSpPr>
          <p:nvPr>
            <p:ph idx="1"/>
          </p:nvPr>
        </p:nvSpPr>
        <p:spPr>
          <a:xfrm>
            <a:off x="464574" y="871896"/>
            <a:ext cx="10515600" cy="3916414"/>
          </a:xfrm>
        </p:spPr>
        <p:txBody>
          <a:bodyPr>
            <a:normAutofit fontScale="77500" lnSpcReduction="20000"/>
          </a:bodyPr>
          <a:lstStyle/>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behaves similarly:</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It is analogous to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but we may only add objects to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(not primitives).</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An object exists in the set while it is reachable from somewhere else.</a:t>
            </a:r>
            <a:endParaRPr lang="en-IN" sz="32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60"/>
              </a:spcBef>
              <a:spcAft>
                <a:spcPts val="360"/>
              </a:spcAft>
              <a:buSzPts val="1000"/>
              <a:buFont typeface="Symbol" panose="05050102010706020507" pitchFamily="18" charset="2"/>
              <a:buChar char=""/>
              <a:tabLst>
                <a:tab pos="457200" algn="l"/>
              </a:tabLs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Like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it supports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add</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delete</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but not </a:t>
            </a:r>
            <a:r>
              <a:rPr lang="en-IN" sz="2400" b="1"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size</a:t>
            </a:r>
            <a:r>
              <a:rPr lang="en-IN" sz="2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b="1"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keys()</a:t>
            </a:r>
            <a:r>
              <a:rPr lang="en-IN" sz="2800" b="1"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no iterations.</a:t>
            </a:r>
            <a:endParaRPr lang="en-IN" sz="3200" b="1"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900"/>
              </a:spcBef>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Being “weak”, it also serves as additional storage. But not for arbitrary data, rather for “yes/no” facts. A membership in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may mean something about the object.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For instance, we can add users to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to keep track of those who visited our site:</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9318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C209C0-9CFB-4DBF-8012-2DF7068FE075}"/>
              </a:ext>
            </a:extLst>
          </p:cNvPr>
          <p:cNvSpPr txBox="1"/>
          <p:nvPr/>
        </p:nvSpPr>
        <p:spPr>
          <a:xfrm>
            <a:off x="167149" y="639097"/>
            <a:ext cx="6145162" cy="6087244"/>
          </a:xfrm>
          <a:prstGeom prst="rect">
            <a:avLst/>
          </a:prstGeom>
          <a:noFill/>
        </p:spPr>
        <p:txBody>
          <a:bodyPr wrap="square">
            <a:spAutoFit/>
          </a:bodyPr>
          <a:lstStyle/>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john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pete</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"Pete"</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let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mary</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name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669900"/>
                </a:solidFill>
                <a:effectLst/>
                <a:latin typeface="Consolas" panose="020B0609020204030204" pitchFamily="49" charset="0"/>
                <a:ea typeface="Times New Roman" panose="02020603050405020304" pitchFamily="18" charset="0"/>
                <a:cs typeface="Courier New" panose="02070309020205020404" pitchFamily="49" charset="0"/>
              </a:rPr>
              <a:t>"Mary"</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add</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John visited us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add</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pete</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Then Pete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add</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John again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has 2 users now</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check if John visited?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alert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true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check if Mary visited?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alert</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err="1">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has</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mary</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false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john </a:t>
            </a:r>
            <a:r>
              <a:rPr lang="en-IN" sz="1800" dirty="0">
                <a:solidFill>
                  <a:srgbClr val="A67F5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a:solidFill>
                  <a:srgbClr val="0077AA"/>
                </a:solidFill>
                <a:effectLst/>
                <a:latin typeface="Consolas" panose="020B0609020204030204" pitchFamily="49" charset="0"/>
                <a:ea typeface="Times New Roman" panose="02020603050405020304" pitchFamily="18" charset="0"/>
                <a:cs typeface="Courier New" panose="02070309020205020404" pitchFamily="49" charset="0"/>
              </a:rPr>
              <a:t>null</a:t>
            </a:r>
            <a:r>
              <a:rPr lang="en-IN" sz="1800" dirty="0">
                <a:solidFill>
                  <a:srgbClr val="999999"/>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65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800" dirty="0" err="1">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visitedSet</a:t>
            </a:r>
            <a:r>
              <a:rPr lang="en-IN" sz="1800" dirty="0">
                <a:solidFill>
                  <a:srgbClr val="708090"/>
                </a:solidFill>
                <a:effectLst/>
                <a:latin typeface="Consolas" panose="020B0609020204030204" pitchFamily="49" charset="0"/>
                <a:ea typeface="Times New Roman" panose="02020603050405020304" pitchFamily="18" charset="0"/>
                <a:cs typeface="Courier New" panose="02070309020205020404" pitchFamily="49" charset="0"/>
              </a:rPr>
              <a:t> will be cleaned automatically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DCDBEA54-8CDC-4F6B-9BAA-D725257EE91F}"/>
              </a:ext>
            </a:extLst>
          </p:cNvPr>
          <p:cNvSpPr txBox="1"/>
          <p:nvPr/>
        </p:nvSpPr>
        <p:spPr>
          <a:xfrm>
            <a:off x="5653549" y="639097"/>
            <a:ext cx="6135328" cy="1855508"/>
          </a:xfrm>
          <a:prstGeom prst="rect">
            <a:avLst/>
          </a:prstGeom>
          <a:noFill/>
        </p:spPr>
        <p:txBody>
          <a:bodyPr wrap="square">
            <a:spAutoFit/>
          </a:bodyPr>
          <a:lstStyle/>
          <a:p>
            <a:pPr>
              <a:lnSpc>
                <a:spcPct val="107000"/>
              </a:lnSpc>
              <a:spcAft>
                <a:spcPts val="900"/>
              </a:spcAft>
            </a:pP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 most notable limitation of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the absence of iterations, and the inability to get all current content. That may appear inconvenient, but does not prevent </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1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from doing their main job – be an “additional” storage of data for objects which are stored/managed at another place.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81677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80CB62-A1F1-4346-997B-18E92E0ECBE4}"/>
              </a:ext>
            </a:extLst>
          </p:cNvPr>
          <p:cNvSpPr>
            <a:spLocks noGrp="1"/>
          </p:cNvSpPr>
          <p:nvPr>
            <p:ph idx="1"/>
          </p:nvPr>
        </p:nvSpPr>
        <p:spPr>
          <a:xfrm>
            <a:off x="326923" y="842399"/>
            <a:ext cx="10515600" cy="4351338"/>
          </a:xfrm>
        </p:spPr>
        <p:txBody>
          <a:bodyPr>
            <a:normAutofit fontScale="70000" lnSpcReduction="20000"/>
          </a:bodyPr>
          <a:lstStyle/>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-like collection that allows only objects as keys and removes them together with associated value once they become inaccessible by other means.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is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-like collection that stores only objects and removes them once they become inaccessible by other means.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Their main advantages are that they have weak reference to objects, so they can easily be removed by garbage collector.</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That comes at the cost of not having support for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clear</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size</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keys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2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values</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900"/>
              </a:spcAft>
            </a:pP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and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are used as “secondary” data structures in addition to the “primary” object storage. Once the object is removed from the primary storage, if it is only found as the key of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WeakMap</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or in a </a:t>
            </a:r>
            <a:r>
              <a:rPr lang="en-IN" sz="2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WeakSet</a:t>
            </a:r>
            <a:r>
              <a:rPr lang="en-IN" sz="280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 it will be cleaned up automatically.</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10305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4E59F8-1F4B-49F5-8FEA-D6FA0E189C91}"/>
              </a:ext>
            </a:extLst>
          </p:cNvPr>
          <p:cNvPicPr>
            <a:picLocks noGrp="1" noChangeAspect="1"/>
          </p:cNvPicPr>
          <p:nvPr>
            <p:ph idx="1"/>
          </p:nvPr>
        </p:nvPicPr>
        <p:blipFill rotWithShape="1">
          <a:blip r:embed="rId2"/>
          <a:srcRect l="-1" t="32108" r="51414"/>
          <a:stretch/>
        </p:blipFill>
        <p:spPr>
          <a:xfrm>
            <a:off x="97137" y="698091"/>
            <a:ext cx="6129466" cy="4817806"/>
          </a:xfrm>
        </p:spPr>
      </p:pic>
      <p:pic>
        <p:nvPicPr>
          <p:cNvPr id="7" name="Picture 6">
            <a:extLst>
              <a:ext uri="{FF2B5EF4-FFF2-40B4-BE49-F238E27FC236}">
                <a16:creationId xmlns:a16="http://schemas.microsoft.com/office/drawing/2014/main" id="{BFD94B37-56C6-41F2-A297-E6000D245AB4}"/>
              </a:ext>
            </a:extLst>
          </p:cNvPr>
          <p:cNvPicPr>
            <a:picLocks noChangeAspect="1"/>
          </p:cNvPicPr>
          <p:nvPr/>
        </p:nvPicPr>
        <p:blipFill rotWithShape="1">
          <a:blip r:embed="rId3"/>
          <a:srcRect l="1" t="32401" r="63951"/>
          <a:stretch/>
        </p:blipFill>
        <p:spPr>
          <a:xfrm>
            <a:off x="7020232" y="1111045"/>
            <a:ext cx="4395019" cy="4635910"/>
          </a:xfrm>
          <a:prstGeom prst="rect">
            <a:avLst/>
          </a:prstGeom>
        </p:spPr>
      </p:pic>
      <p:sp>
        <p:nvSpPr>
          <p:cNvPr id="8" name="TextBox 7">
            <a:extLst>
              <a:ext uri="{FF2B5EF4-FFF2-40B4-BE49-F238E27FC236}">
                <a16:creationId xmlns:a16="http://schemas.microsoft.com/office/drawing/2014/main" id="{220144D8-FB74-4E02-AA22-43DC6FE1AD15}"/>
              </a:ext>
            </a:extLst>
          </p:cNvPr>
          <p:cNvSpPr txBox="1"/>
          <p:nvPr/>
        </p:nvSpPr>
        <p:spPr>
          <a:xfrm>
            <a:off x="1691148" y="294968"/>
            <a:ext cx="2104104" cy="369332"/>
          </a:xfrm>
          <a:prstGeom prst="rect">
            <a:avLst/>
          </a:prstGeom>
          <a:noFill/>
        </p:spPr>
        <p:txBody>
          <a:bodyPr wrap="square" rtlCol="0">
            <a:spAutoFit/>
          </a:bodyPr>
          <a:lstStyle/>
          <a:p>
            <a:r>
              <a:rPr lang="en-IN" dirty="0"/>
              <a:t>Set</a:t>
            </a:r>
          </a:p>
        </p:txBody>
      </p:sp>
      <p:sp>
        <p:nvSpPr>
          <p:cNvPr id="9" name="TextBox 8">
            <a:extLst>
              <a:ext uri="{FF2B5EF4-FFF2-40B4-BE49-F238E27FC236}">
                <a16:creationId xmlns:a16="http://schemas.microsoft.com/office/drawing/2014/main" id="{69264BF2-B00D-4187-BD16-B0CCFD54AE15}"/>
              </a:ext>
            </a:extLst>
          </p:cNvPr>
          <p:cNvSpPr txBox="1"/>
          <p:nvPr/>
        </p:nvSpPr>
        <p:spPr>
          <a:xfrm>
            <a:off x="8396748" y="432620"/>
            <a:ext cx="2104104" cy="369332"/>
          </a:xfrm>
          <a:prstGeom prst="rect">
            <a:avLst/>
          </a:prstGeom>
          <a:noFill/>
        </p:spPr>
        <p:txBody>
          <a:bodyPr wrap="square" rtlCol="0">
            <a:spAutoFit/>
          </a:bodyPr>
          <a:lstStyle/>
          <a:p>
            <a:r>
              <a:rPr lang="en-IN" dirty="0" err="1"/>
              <a:t>WeakSet</a:t>
            </a:r>
            <a:endParaRPr lang="en-IN" dirty="0"/>
          </a:p>
        </p:txBody>
      </p:sp>
    </p:spTree>
    <p:extLst>
      <p:ext uri="{BB962C8B-B14F-4D97-AF65-F5344CB8AC3E}">
        <p14:creationId xmlns:p14="http://schemas.microsoft.com/office/powerpoint/2010/main" val="1748716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1323</TotalTime>
  <Words>2736</Words>
  <Application>Microsoft Office PowerPoint</Application>
  <PresentationFormat>Widescreen</PresentationFormat>
  <Paragraphs>272</Paragraphs>
  <Slides>19</Slides>
  <Notes>1</Notes>
  <HiddenSlides>13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Arial Unicode MS</vt:lpstr>
      <vt:lpstr>Calibri</vt:lpstr>
      <vt:lpstr>Calibri Light</vt:lpstr>
      <vt:lpstr>Cambria</vt:lpstr>
      <vt:lpstr>Consolas</vt:lpstr>
      <vt:lpstr>Segoe UI</vt:lpstr>
      <vt:lpstr>Segoe UI Emoji</vt:lpstr>
      <vt:lpstr>Symbol</vt:lpstr>
      <vt:lpstr>Office Theme</vt:lpstr>
      <vt:lpstr>PowerPoint Presentation</vt:lpstr>
      <vt:lpstr>MAP</vt:lpstr>
      <vt:lpstr>demo</vt:lpstr>
      <vt:lpstr>set</vt:lpstr>
      <vt:lpstr>PowerPoint Presentation</vt:lpstr>
      <vt:lpstr>Why WeakMap and WeakSet</vt:lpstr>
      <vt:lpstr>Why not to use MAP</vt:lpstr>
      <vt:lpstr>The first difference between Map and WeakMap </vt:lpstr>
      <vt:lpstr>PowerPoint Presentation</vt:lpstr>
      <vt:lpstr>PowerPoint Presentation</vt:lpstr>
      <vt:lpstr>PowerPoint Presentation</vt:lpstr>
      <vt:lpstr>PowerPoint Presentation</vt:lpstr>
      <vt:lpstr>Use case: caching</vt:lpstr>
      <vt:lpstr>PowerPoint Presentation</vt:lpstr>
      <vt:lpstr>PowerPoint Presentation</vt:lpstr>
      <vt:lpstr>WeakSet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62</cp:revision>
  <dcterms:created xsi:type="dcterms:W3CDTF">2020-12-02T06:26:25Z</dcterms:created>
  <dcterms:modified xsi:type="dcterms:W3CDTF">2024-01-08T16:32:54Z</dcterms:modified>
</cp:coreProperties>
</file>