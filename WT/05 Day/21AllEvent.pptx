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68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8F274-4539-49A0-87A3-8A92926FC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13C69C-C15D-488F-8E9B-26F0B1525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146E9-5B29-4689-B98F-C7A175B11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D42DB-8643-44D3-B820-E97454798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1B433-8249-456C-AB7B-51A5A281D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843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4E34C-EBDD-49B8-AE4A-F0DF046D3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D6A62-373F-446D-BFBD-A2306CF23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599FF-4428-40EF-AA95-511B46F70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65240-55B7-47C4-A3A8-5BB8E54DF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A2475-74E2-4E41-8886-F3660D2A9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991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6E01C-29F8-490B-8FCF-5A1BA6833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2801F-0138-406C-AAEC-1F17FAEE3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9E173-E83D-48DF-9FEC-A692B1FDE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9C63D-2389-42AA-9B07-EB7E73B18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BFC83-08F9-4A8D-AD10-8340F22DC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050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D2DE2-51FD-4F10-9681-13C934051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61EAF-F639-4B21-897F-73E828D69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25640D-430D-41E6-B518-D24AE86B1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09ED6F-D3D2-4301-8236-17897DB66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62381-5FAE-4B7D-8D9C-CB218975A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CB351-5329-49A8-B8D2-E48C31001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971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90C04-E375-40C5-B7BA-A9919778C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7561B-10E8-4E49-8165-C7B1F2B47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D2C891-3169-4C58-B8C1-F5731E89B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D0839A-777F-4B21-87B0-4C4D42E3B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4C1FAA-AE14-43CB-869B-A8AF2C6646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25958C-7EC9-44EF-BB36-03DEE3EF9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C8A2B2-25CB-4912-80F5-71B3F4A4B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B76D43-02E0-4EC5-AA63-8C56325BF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372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17326-CF1B-499C-8B9F-5F1927E69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E45BAB-CAA8-4AC3-BDDF-7C436DC53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2CF544-61DD-4F09-B6D7-67A699300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58294-3C1C-4F63-9C5E-DD1D6E703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02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136457-3425-4CFA-92CF-2A286F2D4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97BCE3-C3D5-41D4-AEBA-25E6B29B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58923-2415-409F-8349-E9FEC2B05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376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90AE-383D-495A-B54E-66E7D7267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4A5F1-07C2-42DD-8DE3-D03AC50EB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F7D3AA-403A-49AE-8E4E-15D16E277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B0DD28-F5CB-46D6-BE31-32DE3E340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CB876-6E1E-4D5C-BBA6-66671E252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1C78CA-ABFB-40DE-8344-B588BDDB8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277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846F7-2CFF-4127-A0E4-9CA20E67E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74EB2A-A292-4128-97D8-BFA093C8CD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EF6526-000C-4C84-B2FA-764613298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93E7C-181E-45B4-8CCF-DFE2E5F6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FF50B-C3A8-4E4A-9384-79959A130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9BFE2-92B0-48A4-98B5-55F485BB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479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5E366-8D52-42B6-8DC8-74EB1D390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5F1B5B-E156-45F3-B38C-3ACEEB578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F018B-EF2B-43AD-AF6E-37ED5B542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E5020-33BC-438D-AE2B-A8FAFACD4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DBF86-A9FC-4622-9940-C27B23462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000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9AC017-584B-41B4-ABC6-FC854AA885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EE36F7-2936-4623-A08C-EE2C114AB4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2B394-CC83-49C3-A330-2997DE017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0327C-31C9-42F2-9AAB-D6410B88E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2D46E-8457-4CA5-B3A4-4A02D8756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591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622E19-BB47-4253-8B0A-2302E95EC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880FA-FD6E-43D3-B07B-D84D7AFB8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2360E-FCC2-4F98-9AA1-CF50B2B059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E7E06-79CA-4948-8009-C5BAAA988AD0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5772D-BFA1-42C1-928A-919877852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8C82B-5DF4-4847-9FF4-5F8A632B92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75C86D-6AD8-4D5A-97D6-4F8037C90BD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99" y="-76200"/>
            <a:ext cx="1249218" cy="83515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0B7BB87-21E0-4FE6-8CF1-87F129F0BC20}"/>
              </a:ext>
            </a:extLst>
          </p:cNvPr>
          <p:cNvSpPr/>
          <p:nvPr userDrawn="1"/>
        </p:nvSpPr>
        <p:spPr>
          <a:xfrm>
            <a:off x="1173019" y="6550223"/>
            <a:ext cx="82930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56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8450" y="971550"/>
            <a:ext cx="6343650" cy="50292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3067050" y="3886201"/>
            <a:ext cx="2457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 err="1"/>
              <a:t>Ketki</a:t>
            </a:r>
            <a:r>
              <a:rPr lang="en-IN" sz="1350" dirty="0"/>
              <a:t> Acharya</a:t>
            </a:r>
          </a:p>
          <a:p>
            <a:r>
              <a:rPr lang="en-IN" sz="1350" dirty="0"/>
              <a:t>From: SM VITA ATC of CDAC</a:t>
            </a:r>
          </a:p>
          <a:p>
            <a:r>
              <a:rPr lang="en-IN" sz="1350" dirty="0"/>
              <a:t>9769201036</a:t>
            </a:r>
          </a:p>
          <a:p>
            <a:r>
              <a:rPr lang="en-IN" sz="1350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629767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44945-66E2-4457-97FA-E27A734EA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8766" y="72495"/>
            <a:ext cx="9914467" cy="608542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onBlur-onFocus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CC1A3-E347-40AA-BBD4-BF9FD040A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778933"/>
            <a:ext cx="6138332" cy="539803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&lt;head&gt;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setStyle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lname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"yellow"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change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"blue"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&lt;/script&gt;&lt;/head&gt;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First name: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onblur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change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Last name: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onfocus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setStyle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()”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lname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The 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onfocus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event occurs when an object gets focus.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35782A-A967-465C-A4CE-DFEB97CFE82C}"/>
              </a:ext>
            </a:extLst>
          </p:cNvPr>
          <p:cNvSpPr txBox="1"/>
          <p:nvPr/>
        </p:nvSpPr>
        <p:spPr>
          <a:xfrm>
            <a:off x="6485467" y="482600"/>
            <a:ext cx="522393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Onblur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effectLst/>
                <a:latin typeface="Consolas" panose="020B0609020204030204" pitchFamily="49" charset="0"/>
              </a:rPr>
              <a:t> When a component loose focus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onblur</a:t>
            </a:r>
            <a:r>
              <a:rPr lang="en-IN" b="0" dirty="0">
                <a:effectLst/>
                <a:latin typeface="Consolas" panose="020B0609020204030204" pitchFamily="49" charset="0"/>
              </a:rPr>
              <a:t> event get fired.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Eg</a:t>
            </a:r>
            <a:r>
              <a:rPr lang="en-IN" b="0" dirty="0">
                <a:effectLst/>
                <a:latin typeface="Consolas" panose="020B0609020204030204" pitchFamily="49" charset="0"/>
              </a:rPr>
              <a:t> when you have two text box t1,t2. when you click on t1 and then move cursor to t2 then t1 will get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onblur</a:t>
            </a:r>
            <a:r>
              <a:rPr lang="en-IN" b="0" dirty="0">
                <a:effectLst/>
                <a:latin typeface="Consolas" panose="020B0609020204030204" pitchFamily="49" charset="0"/>
              </a:rPr>
              <a:t> event. We can do validation of a field on blur.</a:t>
            </a:r>
          </a:p>
          <a:p>
            <a:endParaRPr lang="en-IN" dirty="0">
              <a:latin typeface="Consolas" panose="020B0609020204030204" pitchFamily="49" charset="0"/>
            </a:endParaRPr>
          </a:p>
          <a:p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Onfocus: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when</a:t>
            </a:r>
            <a:r>
              <a:rPr lang="en-IN" b="0" dirty="0">
                <a:effectLst/>
                <a:latin typeface="Consolas" panose="020B0609020204030204" pitchFamily="49" charset="0"/>
              </a:rPr>
              <a:t> you click on a component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onfocus</a:t>
            </a:r>
            <a:r>
              <a:rPr lang="en-IN" b="0" dirty="0">
                <a:effectLst/>
                <a:latin typeface="Consolas" panose="020B0609020204030204" pitchFamily="49" charset="0"/>
              </a:rPr>
              <a:t> event get fired.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Onfocus</a:t>
            </a:r>
            <a:r>
              <a:rPr lang="en-IN" b="0" dirty="0">
                <a:effectLst/>
                <a:latin typeface="Consolas" panose="020B0609020204030204" pitchFamily="49" charset="0"/>
              </a:rPr>
              <a:t> you can give border to textbox.</a:t>
            </a:r>
            <a:endParaRPr lang="en-IN" dirty="0">
              <a:latin typeface="Consolas" panose="020B0609020204030204" pitchFamily="49" charset="0"/>
            </a:endParaRPr>
          </a:p>
          <a:p>
            <a:endParaRPr lang="en-IN" dirty="0">
              <a:latin typeface="Consolas" panose="020B0609020204030204" pitchFamily="49" charset="0"/>
            </a:endParaRPr>
          </a:p>
          <a:p>
            <a:endParaRPr lang="en-IN" dirty="0">
              <a:latin typeface="Consolas" panose="020B0609020204030204" pitchFamily="49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7763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8A07E-ADD1-4E01-B419-8796C06A2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867" y="60326"/>
            <a:ext cx="9838266" cy="388407"/>
          </a:xfrm>
        </p:spPr>
        <p:txBody>
          <a:bodyPr>
            <a:normAutofit/>
          </a:bodyPr>
          <a:lstStyle/>
          <a:p>
            <a:r>
              <a:rPr lang="en-IN" sz="1200" b="0" dirty="0" err="1">
                <a:effectLst/>
                <a:latin typeface="Consolas" panose="020B0609020204030204" pitchFamily="49" charset="0"/>
              </a:rPr>
              <a:t>onmousemove</a:t>
            </a:r>
            <a:endParaRPr lang="en-IN" sz="1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FC362-AAF5-4ED1-998F-809ED1ECA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666" y="1122891"/>
            <a:ext cx="10515600" cy="19759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"image.gif"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alt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"vita"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onmousemove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'Visit Mumbai!'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C2862D-159B-4F64-BDD0-5303DE9C5C5E}"/>
              </a:ext>
            </a:extLst>
          </p:cNvPr>
          <p:cNvSpPr txBox="1"/>
          <p:nvPr/>
        </p:nvSpPr>
        <p:spPr>
          <a:xfrm>
            <a:off x="431800" y="3598333"/>
            <a:ext cx="8932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When you move the mouse this event get </a:t>
            </a:r>
            <a:r>
              <a:rPr lang="en-IN" dirty="0" err="1"/>
              <a:t>fierd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9143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52674-45CF-4954-AA33-B9BDC7D08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866" y="131762"/>
            <a:ext cx="10092267" cy="549275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onError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6DD1F-5EB4-43C4-B813-BC6CC6041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533" y="1016000"/>
            <a:ext cx="11108267" cy="13800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The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onerror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event is triggered when an error occurs loading a document or an image</a:t>
            </a:r>
          </a:p>
          <a:p>
            <a:pPr marL="0" indent="0"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"imae.gif"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onerror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'The image could not be loaded.'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pPr marL="0" indent="0">
              <a:buNone/>
            </a:pPr>
            <a:endParaRPr lang="en-IN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AE4FCE-104D-4550-992C-260317A60E67}"/>
              </a:ext>
            </a:extLst>
          </p:cNvPr>
          <p:cNvSpPr txBox="1"/>
          <p:nvPr/>
        </p:nvSpPr>
        <p:spPr>
          <a:xfrm>
            <a:off x="465667" y="2387601"/>
            <a:ext cx="9541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 the above example ensure that [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imae.gif</a:t>
            </a:r>
            <a:r>
              <a:rPr lang="en-IN" dirty="0"/>
              <a:t>] image is not there in the folder. Internally it will try to load image which is not there so it will get </a:t>
            </a:r>
            <a:r>
              <a:rPr lang="en-IN" dirty="0" err="1"/>
              <a:t>onerror</a:t>
            </a:r>
            <a:r>
              <a:rPr lang="en-IN" dirty="0"/>
              <a:t> event</a:t>
            </a:r>
          </a:p>
        </p:txBody>
      </p:sp>
    </p:spTree>
    <p:extLst>
      <p:ext uri="{BB962C8B-B14F-4D97-AF65-F5344CB8AC3E}">
        <p14:creationId xmlns:p14="http://schemas.microsoft.com/office/powerpoint/2010/main" val="3656453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91CD3-1FA7-4C19-B2B7-528A27A66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598" y="17993"/>
            <a:ext cx="10066867" cy="464608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onChange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97363-B773-4E4E-A7B4-86DFEFE11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1" y="745067"/>
            <a:ext cx="8255000" cy="550227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&lt;html&gt;&lt;head&gt;&lt;script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favBrowser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	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mylist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myList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mylist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selectedIndex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favorite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mylist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options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mylist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selectedIndex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text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&lt;/script&gt;&lt;/head&gt;&lt;body&gt;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Select your 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favorite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browser: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&lt;select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myList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favBrowser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&lt;option&gt;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&lt;/option&gt;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&lt;option&gt;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Internet Explorer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&lt;/option&gt;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&lt;option&gt;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Netscape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&lt;/option&gt;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&lt;option&gt;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Opera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&lt;/option&gt;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&lt;/select&gt;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Your 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favorite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browser is: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favorite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"20"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&gt;&lt;/p&gt;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&lt;/form&gt;&lt;/body&gt;&lt;/html&gt;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FA670C-3A9A-49C8-978B-A4634153C83B}"/>
              </a:ext>
            </a:extLst>
          </p:cNvPr>
          <p:cNvSpPr txBox="1"/>
          <p:nvPr/>
        </p:nvSpPr>
        <p:spPr>
          <a:xfrm>
            <a:off x="7391400" y="812800"/>
            <a:ext cx="44873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 our example when user select option from dropdown internally it is firing </a:t>
            </a:r>
            <a:r>
              <a:rPr lang="en-IN" dirty="0" err="1"/>
              <a:t>onchange</a:t>
            </a:r>
            <a:r>
              <a:rPr lang="en-IN" dirty="0"/>
              <a:t> event.</a:t>
            </a:r>
          </a:p>
        </p:txBody>
      </p:sp>
    </p:spTree>
    <p:extLst>
      <p:ext uri="{BB962C8B-B14F-4D97-AF65-F5344CB8AC3E}">
        <p14:creationId xmlns:p14="http://schemas.microsoft.com/office/powerpoint/2010/main" val="3838375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D1542-486A-494F-A3B8-CAD7C0AC4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2528" y="-96990"/>
            <a:ext cx="9409471" cy="736088"/>
          </a:xfrm>
        </p:spPr>
        <p:txBody>
          <a:bodyPr/>
          <a:lstStyle/>
          <a:p>
            <a:r>
              <a:rPr lang="en-US" dirty="0"/>
              <a:t>Event: input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BF296-43F7-491F-9399-8E4307EAF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7" y="1091381"/>
            <a:ext cx="11316929" cy="5643716"/>
          </a:xfrm>
        </p:spPr>
        <p:txBody>
          <a:bodyPr>
            <a:noAutofit/>
          </a:bodyPr>
          <a:lstStyle/>
          <a:p>
            <a:r>
              <a:rPr lang="en-US" sz="1600" dirty="0"/>
              <a:t>The input event triggers every time after a value is modified by the user.</a:t>
            </a:r>
          </a:p>
          <a:p>
            <a:r>
              <a:rPr lang="en-US" sz="1600" dirty="0"/>
              <a:t>Unlike keyboard events, it triggers on any value change, even those that does not involve keyboard actions: pasting with a mouse or using speech recognition to dictate the text.</a:t>
            </a:r>
          </a:p>
          <a:p>
            <a:r>
              <a:rPr lang="en-US" sz="1600" dirty="0"/>
              <a:t>For instance:</a:t>
            </a:r>
          </a:p>
          <a:p>
            <a:b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"input"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oninput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&lt;span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"result"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&gt;&lt;/span&gt;</a:t>
            </a:r>
            <a:endParaRPr lang="en-IN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"input"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oninput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"result"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"input"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};</a:t>
            </a:r>
          </a:p>
          <a:p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dirty="0"/>
              <a:t>If we want to handle every modification of an &lt;input&gt; then this event is the best choice.</a:t>
            </a:r>
          </a:p>
          <a:p>
            <a:r>
              <a:rPr lang="en-US" sz="1600" dirty="0"/>
              <a:t>On the other hand, input event doesn’t trigger on keyboard input and other actions that do not involve value change, e.g. pressing arrow keys ⇦ ⇨ while in the input.</a:t>
            </a:r>
          </a:p>
          <a:p>
            <a:r>
              <a:rPr lang="en-US" sz="1600" dirty="0"/>
              <a:t>Can’t prevent anything in </a:t>
            </a:r>
            <a:r>
              <a:rPr lang="en-US" sz="1600" dirty="0" err="1"/>
              <a:t>oninput</a:t>
            </a:r>
            <a:endParaRPr lang="en-US" sz="1600" dirty="0"/>
          </a:p>
          <a:p>
            <a:r>
              <a:rPr lang="en-US" sz="1600" dirty="0"/>
              <a:t>The input event occurs after the value is modified.</a:t>
            </a:r>
          </a:p>
          <a:p>
            <a:r>
              <a:rPr lang="en-US" sz="1600" dirty="0"/>
              <a:t>So we can’t use </a:t>
            </a:r>
            <a:r>
              <a:rPr lang="en-US" sz="1600" dirty="0" err="1"/>
              <a:t>event.preventDefault</a:t>
            </a:r>
            <a:r>
              <a:rPr lang="en-US" sz="1600" dirty="0"/>
              <a:t>() there – it’s just too late, there would be no effect.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878179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937C9-1F21-4F26-BEAC-8AB403858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266" y="0"/>
            <a:ext cx="9855200" cy="490008"/>
          </a:xfrm>
        </p:spPr>
        <p:txBody>
          <a:bodyPr>
            <a:normAutofit fontScale="90000"/>
          </a:bodyPr>
          <a:lstStyle/>
          <a:p>
            <a:r>
              <a:rPr lang="en-IN" dirty="0"/>
              <a:t>Key event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0527-13E3-4BBA-8282-589DE8581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067" y="592667"/>
            <a:ext cx="10718800" cy="5025496"/>
          </a:xfrm>
        </p:spPr>
        <p:txBody>
          <a:bodyPr>
            <a:normAutofit fontScale="47500" lnSpcReduction="20000"/>
          </a:bodyPr>
          <a:lstStyle/>
          <a:p>
            <a:endParaRPr lang="en-US" dirty="0"/>
          </a:p>
          <a:p>
            <a:r>
              <a:rPr lang="en-US" dirty="0"/>
              <a:t>The MSDN documentation states the order in which the three events occur fairly clearly:</a:t>
            </a:r>
          </a:p>
          <a:p>
            <a:r>
              <a:rPr lang="en-US" dirty="0"/>
              <a:t>Key events occur in the following order:</a:t>
            </a:r>
          </a:p>
          <a:p>
            <a:r>
              <a:rPr lang="en-US" dirty="0" err="1"/>
              <a:t>KeyDown</a:t>
            </a:r>
            <a:endParaRPr lang="en-US" dirty="0"/>
          </a:p>
          <a:p>
            <a:r>
              <a:rPr lang="en-US" dirty="0" err="1"/>
              <a:t>KeyPress</a:t>
            </a:r>
            <a:endParaRPr lang="en-US" dirty="0"/>
          </a:p>
          <a:p>
            <a:r>
              <a:rPr lang="en-US" dirty="0" err="1"/>
              <a:t>KeyUp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KeyDown</a:t>
            </a:r>
            <a:r>
              <a:rPr lang="en-US" dirty="0"/>
              <a:t> is raised as soon as the user presses a key on the keyboard, while they're still holding it down. it also raised for </a:t>
            </a:r>
            <a:r>
              <a:rPr lang="en-US" b="1" dirty="0">
                <a:highlight>
                  <a:srgbClr val="FFFF00"/>
                </a:highlight>
              </a:rPr>
              <a:t>noncharacter keys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KeyPress</a:t>
            </a:r>
            <a:r>
              <a:rPr lang="en-US" dirty="0"/>
              <a:t> is raised </a:t>
            </a:r>
            <a:r>
              <a:rPr lang="en-US" dirty="0">
                <a:highlight>
                  <a:srgbClr val="FFFF00"/>
                </a:highlight>
              </a:rPr>
              <a:t>for character keys </a:t>
            </a:r>
            <a:r>
              <a:rPr lang="en-US" dirty="0"/>
              <a:t>(unlike </a:t>
            </a:r>
            <a:r>
              <a:rPr lang="en-US" dirty="0" err="1"/>
              <a:t>KeyDown</a:t>
            </a:r>
            <a:r>
              <a:rPr lang="en-US" dirty="0"/>
              <a:t> and </a:t>
            </a:r>
            <a:r>
              <a:rPr lang="en-US" dirty="0" err="1"/>
              <a:t>KeyUp</a:t>
            </a:r>
            <a:r>
              <a:rPr lang="en-US" dirty="0"/>
              <a:t>, which are also raised for noncharacter keys) while the key is pressed. This is a "higher-level" event than either </a:t>
            </a:r>
            <a:r>
              <a:rPr lang="en-US" dirty="0" err="1"/>
              <a:t>KeyDown</a:t>
            </a:r>
            <a:r>
              <a:rPr lang="en-US" dirty="0"/>
              <a:t> or </a:t>
            </a:r>
            <a:r>
              <a:rPr lang="en-US" dirty="0" err="1"/>
              <a:t>KeyUp</a:t>
            </a:r>
            <a:r>
              <a:rPr lang="en-US" dirty="0"/>
              <a:t>, and as such, different data is available in the </a:t>
            </a:r>
            <a:r>
              <a:rPr lang="en-US" dirty="0" err="1"/>
              <a:t>EventArgs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KeyUp</a:t>
            </a:r>
            <a:r>
              <a:rPr lang="en-US" dirty="0"/>
              <a:t> is raised after the user releases a key on the keyboard. it also raised for </a:t>
            </a:r>
            <a:r>
              <a:rPr lang="en-US" dirty="0">
                <a:highlight>
                  <a:srgbClr val="FFFF00"/>
                </a:highlight>
              </a:rPr>
              <a:t>noncharacter keys</a:t>
            </a:r>
          </a:p>
          <a:p>
            <a:endParaRPr lang="en-US" dirty="0"/>
          </a:p>
          <a:p>
            <a:r>
              <a:rPr lang="en-US" dirty="0"/>
              <a:t>Generally, you should handle the </a:t>
            </a:r>
            <a:r>
              <a:rPr lang="en-US" dirty="0" err="1"/>
              <a:t>KeyUp</a:t>
            </a:r>
            <a:r>
              <a:rPr lang="en-US" dirty="0"/>
              <a:t> event in your application. Actions should not be initiated in the UI until after the user releases the key. And since </a:t>
            </a:r>
            <a:r>
              <a:rPr lang="en-US" dirty="0" err="1"/>
              <a:t>KeyUp</a:t>
            </a:r>
            <a:r>
              <a:rPr lang="en-US" dirty="0"/>
              <a:t> is a lower-level event than </a:t>
            </a:r>
            <a:r>
              <a:rPr lang="en-US" dirty="0" err="1"/>
              <a:t>KeyPress</a:t>
            </a:r>
            <a:r>
              <a:rPr lang="en-US" dirty="0"/>
              <a:t>, you'll always have plenty of information at your fingertips about the key that was pressed, and it will even work for handling non-character keys.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1174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14DD0-BAF6-4052-B76C-4FB116483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7666" y="97895"/>
            <a:ext cx="9736667" cy="583142"/>
          </a:xfrm>
        </p:spPr>
        <p:txBody>
          <a:bodyPr>
            <a:normAutofit fontScale="90000"/>
          </a:bodyPr>
          <a:lstStyle/>
          <a:p>
            <a:r>
              <a:rPr lang="en-IN" dirty="0"/>
              <a:t>Keypress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BA7A5-FC5C-480C-85BD-CE7411074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734" y="826558"/>
            <a:ext cx="6350000" cy="61330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The 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onkeydown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event occurs when a keyboard key is pressed.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noNumbers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keynum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keychar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numcheck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keynum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keyCode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keychar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fromCharCode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keynum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keychar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numcheck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</a:t>
            </a:r>
            <a:r>
              <a:rPr lang="en-IN" sz="1200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 /\d/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!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numcheck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keychar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onkeypress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noNumbers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onkeydown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false"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</a:t>
            </a: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B93FEE-8FC0-416F-8087-C04F8334C9D9}"/>
              </a:ext>
            </a:extLst>
          </p:cNvPr>
          <p:cNvSpPr txBox="1"/>
          <p:nvPr/>
        </p:nvSpPr>
        <p:spPr>
          <a:xfrm>
            <a:off x="6908800" y="254000"/>
            <a:ext cx="48768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By default all event return true.</a:t>
            </a:r>
          </a:p>
          <a:p>
            <a:r>
              <a:rPr lang="en-IN" sz="18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onkeydown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false"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when you add this in input tag it will not allowed to type at all.</a:t>
            </a:r>
          </a:p>
          <a:p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onkeypress</a:t>
            </a:r>
            <a:r>
              <a:rPr lang="en-IN" sz="1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dirty="0"/>
              <a:t> is raised for character keys (unlike </a:t>
            </a:r>
            <a:r>
              <a:rPr lang="en-US" dirty="0" err="1"/>
              <a:t>KeyDown</a:t>
            </a:r>
            <a:r>
              <a:rPr lang="en-US" dirty="0"/>
              <a:t> and </a:t>
            </a:r>
            <a:r>
              <a:rPr lang="en-US" dirty="0" err="1"/>
              <a:t>KeyUp</a:t>
            </a:r>
            <a:r>
              <a:rPr lang="en-US" dirty="0"/>
              <a:t>, which are also raised for noncharacter keys) while the key is pressed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AAC17FA-B2FA-461D-B1DD-D25CA38B5580}"/>
              </a:ext>
            </a:extLst>
          </p:cNvPr>
          <p:cNvSpPr/>
          <p:nvPr/>
        </p:nvSpPr>
        <p:spPr>
          <a:xfrm>
            <a:off x="1514168" y="4119716"/>
            <a:ext cx="973393" cy="432619"/>
          </a:xfrm>
          <a:custGeom>
            <a:avLst/>
            <a:gdLst>
              <a:gd name="connsiteX0" fmla="*/ 0 w 973393"/>
              <a:gd name="connsiteY0" fmla="*/ 432619 h 432619"/>
              <a:gd name="connsiteX1" fmla="*/ 19664 w 973393"/>
              <a:gd name="connsiteY1" fmla="*/ 334297 h 432619"/>
              <a:gd name="connsiteX2" fmla="*/ 29497 w 973393"/>
              <a:gd name="connsiteY2" fmla="*/ 304800 h 432619"/>
              <a:gd name="connsiteX3" fmla="*/ 88490 w 973393"/>
              <a:gd name="connsiteY3" fmla="*/ 235974 h 432619"/>
              <a:gd name="connsiteX4" fmla="*/ 157316 w 973393"/>
              <a:gd name="connsiteY4" fmla="*/ 147484 h 432619"/>
              <a:gd name="connsiteX5" fmla="*/ 216309 w 973393"/>
              <a:gd name="connsiteY5" fmla="*/ 58994 h 432619"/>
              <a:gd name="connsiteX6" fmla="*/ 265471 w 973393"/>
              <a:gd name="connsiteY6" fmla="*/ 29497 h 432619"/>
              <a:gd name="connsiteX7" fmla="*/ 304800 w 973393"/>
              <a:gd name="connsiteY7" fmla="*/ 0 h 432619"/>
              <a:gd name="connsiteX8" fmla="*/ 511277 w 973393"/>
              <a:gd name="connsiteY8" fmla="*/ 29497 h 432619"/>
              <a:gd name="connsiteX9" fmla="*/ 589935 w 973393"/>
              <a:gd name="connsiteY9" fmla="*/ 49161 h 432619"/>
              <a:gd name="connsiteX10" fmla="*/ 639097 w 973393"/>
              <a:gd name="connsiteY10" fmla="*/ 78658 h 432619"/>
              <a:gd name="connsiteX11" fmla="*/ 766916 w 973393"/>
              <a:gd name="connsiteY11" fmla="*/ 147484 h 432619"/>
              <a:gd name="connsiteX12" fmla="*/ 796413 w 973393"/>
              <a:gd name="connsiteY12" fmla="*/ 176981 h 432619"/>
              <a:gd name="connsiteX13" fmla="*/ 825909 w 973393"/>
              <a:gd name="connsiteY13" fmla="*/ 196645 h 432619"/>
              <a:gd name="connsiteX14" fmla="*/ 894735 w 973393"/>
              <a:gd name="connsiteY14" fmla="*/ 265471 h 432619"/>
              <a:gd name="connsiteX15" fmla="*/ 943897 w 973393"/>
              <a:gd name="connsiteY15" fmla="*/ 324465 h 432619"/>
              <a:gd name="connsiteX16" fmla="*/ 973393 w 973393"/>
              <a:gd name="connsiteY16" fmla="*/ 383458 h 432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73393" h="432619">
                <a:moveTo>
                  <a:pt x="0" y="432619"/>
                </a:moveTo>
                <a:cubicBezTo>
                  <a:pt x="6555" y="399845"/>
                  <a:pt x="12148" y="366864"/>
                  <a:pt x="19664" y="334297"/>
                </a:cubicBezTo>
                <a:cubicBezTo>
                  <a:pt x="21995" y="324198"/>
                  <a:pt x="24862" y="314070"/>
                  <a:pt x="29497" y="304800"/>
                </a:cubicBezTo>
                <a:cubicBezTo>
                  <a:pt x="47899" y="267996"/>
                  <a:pt x="58920" y="270921"/>
                  <a:pt x="88490" y="235974"/>
                </a:cubicBezTo>
                <a:cubicBezTo>
                  <a:pt x="112628" y="207448"/>
                  <a:pt x="140605" y="180907"/>
                  <a:pt x="157316" y="147484"/>
                </a:cubicBezTo>
                <a:cubicBezTo>
                  <a:pt x="175360" y="111395"/>
                  <a:pt x="183581" y="88086"/>
                  <a:pt x="216309" y="58994"/>
                </a:cubicBezTo>
                <a:cubicBezTo>
                  <a:pt x="230593" y="46298"/>
                  <a:pt x="249570" y="40098"/>
                  <a:pt x="265471" y="29497"/>
                </a:cubicBezTo>
                <a:cubicBezTo>
                  <a:pt x="279106" y="20407"/>
                  <a:pt x="291690" y="9832"/>
                  <a:pt x="304800" y="0"/>
                </a:cubicBezTo>
                <a:cubicBezTo>
                  <a:pt x="527614" y="14854"/>
                  <a:pt x="382552" y="-7282"/>
                  <a:pt x="511277" y="29497"/>
                </a:cubicBezTo>
                <a:cubicBezTo>
                  <a:pt x="537263" y="36922"/>
                  <a:pt x="589935" y="49161"/>
                  <a:pt x="589935" y="49161"/>
                </a:cubicBezTo>
                <a:cubicBezTo>
                  <a:pt x="606322" y="58993"/>
                  <a:pt x="621633" y="70896"/>
                  <a:pt x="639097" y="78658"/>
                </a:cubicBezTo>
                <a:cubicBezTo>
                  <a:pt x="715812" y="112753"/>
                  <a:pt x="659329" y="39897"/>
                  <a:pt x="766916" y="147484"/>
                </a:cubicBezTo>
                <a:cubicBezTo>
                  <a:pt x="776748" y="157316"/>
                  <a:pt x="785731" y="168079"/>
                  <a:pt x="796413" y="176981"/>
                </a:cubicBezTo>
                <a:cubicBezTo>
                  <a:pt x="805491" y="184546"/>
                  <a:pt x="817126" y="188740"/>
                  <a:pt x="825909" y="196645"/>
                </a:cubicBezTo>
                <a:cubicBezTo>
                  <a:pt x="850025" y="218350"/>
                  <a:pt x="876738" y="238475"/>
                  <a:pt x="894735" y="265471"/>
                </a:cubicBezTo>
                <a:cubicBezTo>
                  <a:pt x="922113" y="306538"/>
                  <a:pt x="906044" y="286612"/>
                  <a:pt x="943897" y="324465"/>
                </a:cubicBezTo>
                <a:cubicBezTo>
                  <a:pt x="955977" y="372787"/>
                  <a:pt x="944174" y="354239"/>
                  <a:pt x="973393" y="38345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9B01B956-DD9B-4D6B-98AB-4B9D695A1F85}"/>
              </a:ext>
            </a:extLst>
          </p:cNvPr>
          <p:cNvSpPr/>
          <p:nvPr/>
        </p:nvSpPr>
        <p:spPr>
          <a:xfrm rot="8965154">
            <a:off x="2279756" y="4288869"/>
            <a:ext cx="275303" cy="216309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14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28997-D73B-4594-BA22-99BF68E43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0"/>
            <a:ext cx="10227733" cy="583142"/>
          </a:xfrm>
        </p:spPr>
        <p:txBody>
          <a:bodyPr>
            <a:normAutofit fontScale="90000"/>
          </a:bodyPr>
          <a:lstStyle/>
          <a:p>
            <a:r>
              <a:rPr lang="en-IN" dirty="0"/>
              <a:t>Mouse leave -out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081DE-8A19-461C-8B7F-239808A8F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06185"/>
            <a:ext cx="4580465" cy="524563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&lt;style&gt;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100px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100px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1px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30px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text-align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background-</a:t>
            </a:r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lightgray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background-</a:t>
            </a:r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white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&lt;/style&gt;&lt;/head&gt;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3024B4-0F9A-46D6-B75B-437AEFBCE800}"/>
              </a:ext>
            </a:extLst>
          </p:cNvPr>
          <p:cNvSpPr txBox="1"/>
          <p:nvPr/>
        </p:nvSpPr>
        <p:spPr>
          <a:xfrm>
            <a:off x="7611537" y="5012942"/>
            <a:ext cx="458046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mouseleave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event only occurs when the mouse pointer is moved out of the div element.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onmouseout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event occurs when the mouse pointer is moved out of the div element, 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and when it leaves its child elements (p and span).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6CCA68-6A50-429C-8D22-09794B657F99}"/>
              </a:ext>
            </a:extLst>
          </p:cNvPr>
          <p:cNvSpPr txBox="1"/>
          <p:nvPr/>
        </p:nvSpPr>
        <p:spPr>
          <a:xfrm>
            <a:off x="3294590" y="142505"/>
            <a:ext cx="579755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IN" sz="1400" b="0" dirty="0">
              <a:solidFill>
                <a:srgbClr val="8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onmouseleave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myLeaveFunction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onmouseleave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&lt;span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"demo2"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Mouse over and leave me!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&lt;/span&gt;&lt;/p&gt;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onmouseout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myOutFunction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onmouseout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&lt;span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"demo3"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Mouse over and leave me!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&lt;/span&gt;&lt;/p&gt;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myLeaveFunction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"demo2"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myOutFunction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"demo3"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&lt;/body&gt;&lt;/html&gt;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431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1317</Words>
  <Application>Microsoft Office PowerPoint</Application>
  <PresentationFormat>Widescreen</PresentationFormat>
  <Paragraphs>161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Cambria</vt:lpstr>
      <vt:lpstr>Consolas</vt:lpstr>
      <vt:lpstr>Times New Roman</vt:lpstr>
      <vt:lpstr>Office Theme</vt:lpstr>
      <vt:lpstr>PowerPoint Presentation</vt:lpstr>
      <vt:lpstr>onBlur-onFocus</vt:lpstr>
      <vt:lpstr>onmousemove</vt:lpstr>
      <vt:lpstr>onError</vt:lpstr>
      <vt:lpstr>onChange</vt:lpstr>
      <vt:lpstr>Event: input</vt:lpstr>
      <vt:lpstr>Key event</vt:lpstr>
      <vt:lpstr>Keypress</vt:lpstr>
      <vt:lpstr>Mouse leave -out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Mantri vidyanidhi infotech academy</dc:creator>
  <cp:lastModifiedBy>sriram mantri vidyanidhi infotech academy</cp:lastModifiedBy>
  <cp:revision>18</cp:revision>
  <dcterms:created xsi:type="dcterms:W3CDTF">2020-12-02T06:26:25Z</dcterms:created>
  <dcterms:modified xsi:type="dcterms:W3CDTF">2025-11-29T05:12:31Z</dcterms:modified>
</cp:coreProperties>
</file>