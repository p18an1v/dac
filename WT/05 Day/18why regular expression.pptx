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0" r:id="rId2"/>
    <p:sldId id="264" r:id="rId3"/>
    <p:sldId id="261" r:id="rId4"/>
    <p:sldId id="262" r:id="rId5"/>
    <p:sldId id="263" r:id="rId6"/>
    <p:sldId id="285" r:id="rId7"/>
    <p:sldId id="257" r:id="rId8"/>
    <p:sldId id="289" r:id="rId9"/>
    <p:sldId id="259" r:id="rId10"/>
    <p:sldId id="266" r:id="rId11"/>
    <p:sldId id="26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73" r:id="rId20"/>
    <p:sldId id="269" r:id="rId21"/>
    <p:sldId id="272" r:id="rId22"/>
    <p:sldId id="277" r:id="rId23"/>
    <p:sldId id="274" r:id="rId24"/>
    <p:sldId id="286" r:id="rId25"/>
    <p:sldId id="287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66B45D60-DB59-4A42-BEEE-7FEA71904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4D449D-9EF7-4B9C-AF0F-FD6CFD5C1C74}" type="slidenum">
              <a:rPr lang="en-US" altLang="en-US" i="0"/>
              <a:pPr/>
              <a:t>10</a:t>
            </a:fld>
            <a:endParaRPr lang="en-US" altLang="en-US" i="0"/>
          </a:p>
        </p:txBody>
      </p:sp>
      <p:sp>
        <p:nvSpPr>
          <p:cNvPr id="8195" name="Slide Image Placeholder 1">
            <a:extLst>
              <a:ext uri="{FF2B5EF4-FFF2-40B4-BE49-F238E27FC236}">
                <a16:creationId xmlns:a16="http://schemas.microsoft.com/office/drawing/2014/main" id="{B965A5D5-88CF-421A-947D-F3923636E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8196" name="Notes Placeholder 2">
            <a:extLst>
              <a:ext uri="{FF2B5EF4-FFF2-40B4-BE49-F238E27FC236}">
                <a16:creationId xmlns:a16="http://schemas.microsoft.com/office/drawing/2014/main" id="{818B41F6-A9C4-4B2A-8ABF-A72069EB1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endParaRPr lang="en-US" altLang="en-US"/>
          </a:p>
        </p:txBody>
      </p:sp>
      <p:sp>
        <p:nvSpPr>
          <p:cNvPr id="8197" name="Slide Number Placeholder 3">
            <a:extLst>
              <a:ext uri="{FF2B5EF4-FFF2-40B4-BE49-F238E27FC236}">
                <a16:creationId xmlns:a16="http://schemas.microsoft.com/office/drawing/2014/main" id="{68069C70-E745-479D-BDE1-CC493EBB0C4F}"/>
              </a:ext>
            </a:extLst>
          </p:cNvPr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6450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9838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67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320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92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64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036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608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B035BC-798E-4817-ADA9-1FB499E38862}" type="slidenum">
              <a:rPr lang="en-US" altLang="en-US" i="0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i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57983F6-F6A8-4D58-AAFF-C284E0559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5D62C-F13B-4946-B387-A862E11735D6}" type="slidenum">
              <a:rPr lang="en-US" altLang="en-US" i="0"/>
              <a:pPr/>
              <a:t>11</a:t>
            </a:fld>
            <a:endParaRPr lang="en-US" altLang="en-US" i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2D9F247-3384-4156-9608-09268A00C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4385AF5-B86C-46A6-AEFA-F444D04B0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 dirty="0"/>
              <a:t>Answer: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 err="1"/>
              <a:t>egrep</a:t>
            </a:r>
            <a:r>
              <a:rPr lang="en-US" altLang="en-US" dirty="0"/>
              <a:t> "\&lt;C\&gt;" ideas.txt</a:t>
            </a:r>
          </a:p>
          <a:p>
            <a:pPr eaLnBrk="1" hangingPunct="1"/>
            <a:r>
              <a:rPr lang="en-US" altLang="en-US" dirty="0" err="1"/>
              <a:t>egrep</a:t>
            </a:r>
            <a:r>
              <a:rPr lang="en-US" altLang="en-US" dirty="0"/>
              <a:t> "^ACT|^Scene" hamlet.txt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FB35597D-7111-4296-B606-C6F5001A1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9A9C87-FABB-4911-9CC1-0A4D58FE322A}" type="slidenum">
              <a:rPr lang="en-US" altLang="en-US" i="0"/>
              <a:pPr/>
              <a:t>14</a:t>
            </a:fld>
            <a:endParaRPr lang="en-US" altLang="en-US" i="0"/>
          </a:p>
        </p:txBody>
      </p:sp>
      <p:sp>
        <p:nvSpPr>
          <p:cNvPr id="14339" name="Slide Image Placeholder 1">
            <a:extLst>
              <a:ext uri="{FF2B5EF4-FFF2-40B4-BE49-F238E27FC236}">
                <a16:creationId xmlns:a16="http://schemas.microsoft.com/office/drawing/2014/main" id="{0181A236-028A-487D-9224-B2079ED01A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4340" name="Notes Placeholder 2">
            <a:extLst>
              <a:ext uri="{FF2B5EF4-FFF2-40B4-BE49-F238E27FC236}">
                <a16:creationId xmlns:a16="http://schemas.microsoft.com/office/drawing/2014/main" id="{79AE5B68-AC47-414D-A3FF-9BF1A83C5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endParaRPr lang="en-US" altLang="en-US"/>
          </a:p>
        </p:txBody>
      </p:sp>
      <p:sp>
        <p:nvSpPr>
          <p:cNvPr id="14341" name="Slide Number Placeholder 3">
            <a:extLst>
              <a:ext uri="{FF2B5EF4-FFF2-40B4-BE49-F238E27FC236}">
                <a16:creationId xmlns:a16="http://schemas.microsoft.com/office/drawing/2014/main" id="{A3A820AA-B1E1-46A1-9325-85726956CB69}"/>
              </a:ext>
            </a:extLst>
          </p:cNvPr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6450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9838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67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320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92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64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036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608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450AFB-539D-448F-87CC-65A0BF7C3747}" type="slidenum">
              <a:rPr lang="en-US" altLang="en-US" i="0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 i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22E23EE-DE0F-4811-BAD6-9A14A00DF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3E19EF-6A02-4F67-9803-3E1F009ED556}" type="slidenum">
              <a:rPr lang="en-US" altLang="en-US" i="0"/>
              <a:pPr/>
              <a:t>15</a:t>
            </a:fld>
            <a:endParaRPr lang="en-US" altLang="en-US" i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835321A-5E6C-4B93-85DA-3B6EA1B791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AB52411-2F30-4830-BC29-2821968FA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/>
              <a:t>Answer: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egrep "\^_*\^" chat.txt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D6E51B6-A1F8-4E32-B3AC-B7E3676D1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1EB919-3C51-4E5C-BD06-BF3EF0FEB058}" type="slidenum">
              <a:rPr lang="en-US" altLang="en-US" i="0"/>
              <a:pPr/>
              <a:t>16</a:t>
            </a:fld>
            <a:endParaRPr lang="en-US" altLang="en-US" i="0"/>
          </a:p>
        </p:txBody>
      </p:sp>
      <p:sp>
        <p:nvSpPr>
          <p:cNvPr id="18435" name="Slide Image Placeholder 1">
            <a:extLst>
              <a:ext uri="{FF2B5EF4-FFF2-40B4-BE49-F238E27FC236}">
                <a16:creationId xmlns:a16="http://schemas.microsoft.com/office/drawing/2014/main" id="{2A4651FE-B796-4709-AB2B-7F470269EA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8436" name="Notes Placeholder 2">
            <a:extLst>
              <a:ext uri="{FF2B5EF4-FFF2-40B4-BE49-F238E27FC236}">
                <a16:creationId xmlns:a16="http://schemas.microsoft.com/office/drawing/2014/main" id="{E09BD0E3-150E-4E49-ABEF-C93696EED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endParaRPr lang="en-US" altLang="en-US"/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C179911C-83F8-4C5E-B6F0-020D61FB6A6E}"/>
              </a:ext>
            </a:extLst>
          </p:cNvPr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6450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9838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67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320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92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64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036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608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531949B-7A09-45E1-9C5B-80E68743A8A2}" type="slidenum">
              <a:rPr lang="en-US" altLang="en-US" i="0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 i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B881660-E394-49D7-8C6D-AE75AAFC5C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9AD60A-F4DC-41E0-9B08-04C71AB4941D}" type="slidenum">
              <a:rPr lang="en-US" altLang="en-US" i="0"/>
              <a:pPr/>
              <a:t>17</a:t>
            </a:fld>
            <a:endParaRPr lang="en-US" altLang="en-US" i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A0ACAB9-1732-4522-B91B-1386C17A50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1C14F7F-6458-4254-A4C4-95C395D89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Answer:</a:t>
            </a: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egrep "</a:t>
            </a:r>
            <a:r>
              <a:rPr lang="en-US" altLang="en-US"/>
              <a:t>[ABCDF][+\-]?" 143.txt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047AD23-1D12-4F9D-A6E0-AD1BF0093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44075E-BE92-4EA8-8904-4194E3317C58}" type="slidenum">
              <a:rPr lang="en-US" altLang="en-US" i="0"/>
              <a:pPr/>
              <a:t>18</a:t>
            </a:fld>
            <a:endParaRPr lang="en-US" altLang="en-US" i="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7F005B9-DCB3-4FCC-B2C5-E49DED2C21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15F0A76-BA56-4B5B-BFC4-EC0770542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Answer:</a:t>
            </a: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egrep "[0-9]{3}-[0-9]{3}-[0-9]{4}" faculty.html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regexp_nfollow_not.as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regexp_nfollow.as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3972-10FE-430A-A7B6-98208B5A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a Regular Expression?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D5D45-23E7-4583-8CF0-67CF4840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regular expression is a sequence of characters that forms a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search pattern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you search for data in a text, you can use this search pattern to describe what you are searching for.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regular expression can be a single character, or a more complicated pattern.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Regular expressions can be used to perform all types of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 search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 replace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operations.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668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4827-8225-4780-A05D-924EBA3D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1231643"/>
            <a:ext cx="6115664" cy="5626357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"Neo| Trinity   |Morpheus    |  Smith|  Tank"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"|"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iterate over result array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{   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0AC9B-A081-4B82-AD6A-456EC9664986}"/>
              </a:ext>
            </a:extLst>
          </p:cNvPr>
          <p:cNvSpPr txBox="1"/>
          <p:nvPr/>
        </p:nvSpPr>
        <p:spPr>
          <a:xfrm>
            <a:off x="1730477" y="363794"/>
            <a:ext cx="800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regular expression   ====Remove space from given string</a:t>
            </a:r>
          </a:p>
        </p:txBody>
      </p:sp>
    </p:spTree>
    <p:extLst>
      <p:ext uri="{BB962C8B-B14F-4D97-AF65-F5344CB8AC3E}">
        <p14:creationId xmlns:p14="http://schemas.microsoft.com/office/powerpoint/2010/main" val="254448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C992-CEB3-42C9-BB58-D8AE3E25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35" y="276634"/>
            <a:ext cx="9564329" cy="618101"/>
          </a:xfrm>
        </p:spPr>
        <p:txBody>
          <a:bodyPr>
            <a:normAutofit fontScale="90000"/>
          </a:bodyPr>
          <a:lstStyle/>
          <a:p>
            <a:r>
              <a:rPr lang="en-IN" dirty="0"/>
              <a:t>Regular expression is better and less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748C-1944-4FE0-AC8B-7E118D83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268361"/>
            <a:ext cx="10763865" cy="490860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"Neo| Trinity   |Morpheus    |  Smith|  Tank"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 /\s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\s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split the string using the regular expression as the separator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//\s means space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//* means 0 or more occurrence of previous character ( m* m can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occure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in string 0 or more time[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mita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nita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“|” it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has meaning OR to escape and to indicate that read it as “|” character use \|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iterate over result array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43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AA65-9E04-4C2C-B5E6-53C61B47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020" y="0"/>
            <a:ext cx="9220200" cy="522389"/>
          </a:xfrm>
        </p:spPr>
        <p:txBody>
          <a:bodyPr>
            <a:normAutofit/>
          </a:bodyPr>
          <a:lstStyle/>
          <a:p>
            <a:r>
              <a:rPr lang="en-IN" sz="1600" dirty="0"/>
              <a:t>There are situation where you want to check that particular character is there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D52B-F385-4000-8966-B78FD5DC0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698091"/>
            <a:ext cx="10950677" cy="4947931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Eg.</a:t>
            </a:r>
            <a:r>
              <a:rPr lang="en-IN" dirty="0"/>
              <a:t> password should have one capital. One small letter, one digit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34687-15AE-4481-99E1-0CC05D114ABD}"/>
              </a:ext>
            </a:extLst>
          </p:cNvPr>
          <p:cNvSpPr txBox="1"/>
          <p:nvPr/>
        </p:nvSpPr>
        <p:spPr>
          <a:xfrm>
            <a:off x="265471" y="1211978"/>
            <a:ext cx="527992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check_pass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{let a;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{1,13}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{1,13}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{1,13}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   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"letter is missing"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 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"small letter  is missing"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50A8E-8E54-46DB-B382-71B3207C1C1E}"/>
              </a:ext>
            </a:extLst>
          </p:cNvPr>
          <p:cNvSpPr txBox="1"/>
          <p:nvPr/>
        </p:nvSpPr>
        <p:spPr>
          <a:xfrm>
            <a:off x="5740809" y="1121707"/>
            <a:ext cx="565477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{a=0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"number  is missing"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check_pass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&lt;/script&gt;&lt;/head&gt;&lt;body&gt;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"go.html"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onsubmit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check_pass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"submit"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&lt;/html&gt;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4CBFE-A081-46E9-B063-BA3F93BC1ED7}"/>
              </a:ext>
            </a:extLst>
          </p:cNvPr>
          <p:cNvSpPr txBox="1"/>
          <p:nvPr/>
        </p:nvSpPr>
        <p:spPr>
          <a:xfrm>
            <a:off x="9134169" y="1767348"/>
            <a:ext cx="16694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VITA</a:t>
            </a:r>
          </a:p>
        </p:txBody>
      </p:sp>
    </p:spTree>
    <p:extLst>
      <p:ext uri="{BB962C8B-B14F-4D97-AF65-F5344CB8AC3E}">
        <p14:creationId xmlns:p14="http://schemas.microsoft.com/office/powerpoint/2010/main" val="159657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42C9-F54A-4326-A469-356E0192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365125"/>
            <a:ext cx="9888794" cy="785249"/>
          </a:xfrm>
        </p:spPr>
        <p:txBody>
          <a:bodyPr/>
          <a:lstStyle/>
          <a:p>
            <a:r>
              <a:rPr lang="en-IN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41182-7429-4623-86B8-5CF075127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1150374"/>
            <a:ext cx="10596716" cy="502658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^ begins with</a:t>
            </a:r>
          </a:p>
          <a:p>
            <a:r>
              <a:rPr lang="en-IN" dirty="0"/>
              <a:t>$ ends with</a:t>
            </a:r>
          </a:p>
          <a:p>
            <a:r>
              <a:rPr lang="en-IN" dirty="0"/>
              <a:t>{10} exact 10 </a:t>
            </a:r>
            <a:r>
              <a:rPr lang="en-IN" dirty="0" err="1"/>
              <a:t>countoccurance</a:t>
            </a:r>
            <a:endParaRPr lang="en-IN" dirty="0"/>
          </a:p>
          <a:p>
            <a:r>
              <a:rPr lang="en-IN" dirty="0"/>
              <a:t>Let </a:t>
            </a:r>
            <a:r>
              <a:rPr lang="en-IN" dirty="0" err="1"/>
              <a:t>pcom</a:t>
            </a:r>
            <a:r>
              <a:rPr lang="en-IN" dirty="0"/>
              <a:t>=/^[A-Za-z0-9_]{8,15}$/</a:t>
            </a:r>
          </a:p>
          <a:p>
            <a:r>
              <a:rPr lang="en-IN" dirty="0"/>
              <a:t>Let </a:t>
            </a:r>
            <a:r>
              <a:rPr lang="en-IN" dirty="0" err="1"/>
              <a:t>num</a:t>
            </a:r>
            <a:r>
              <a:rPr lang="en-IN" dirty="0"/>
              <a:t>=/^[0-9]{10}$/  =</a:t>
            </a:r>
            <a:r>
              <a:rPr lang="en-IN" dirty="0">
                <a:sym typeface="Wingdings" panose="05000000000000000000" pitchFamily="2" charset="2"/>
              </a:rPr>
              <a:t>10 digit mobile</a:t>
            </a:r>
          </a:p>
          <a:p>
            <a:r>
              <a:rPr lang="en-IN" dirty="0">
                <a:sym typeface="Wingdings" panose="05000000000000000000" pitchFamily="2" charset="2"/>
              </a:rPr>
              <a:t>Let pass=/^[A-Za-z]{8,15}$/  password only character min 8 max 15</a:t>
            </a:r>
          </a:p>
          <a:p>
            <a:r>
              <a:rPr lang="en-IN" dirty="0">
                <a:sym typeface="Wingdings" panose="05000000000000000000" pitchFamily="2" charset="2"/>
              </a:rPr>
              <a:t>Let age=/^[0-9]{1,2}$/  =age in 2 digit</a:t>
            </a:r>
          </a:p>
          <a:p>
            <a:r>
              <a:rPr lang="en-IN" dirty="0">
                <a:sym typeface="Wingdings" panose="05000000000000000000" pitchFamily="2" charset="2"/>
              </a:rPr>
              <a:t>Let dt=/^[0-9]{2}\/[0-9]{2}\/[0-9]{2,4}$/   basic date format</a:t>
            </a:r>
          </a:p>
          <a:p>
            <a:r>
              <a:rPr lang="en-IN" dirty="0"/>
              <a:t>Match this format of </a:t>
            </a:r>
            <a:r>
              <a:rPr lang="en-IN" dirty="0" err="1"/>
              <a:t>dtae</a:t>
            </a:r>
            <a:r>
              <a:rPr lang="en-IN" dirty="0"/>
              <a:t>: 03/12/2020         </a:t>
            </a:r>
          </a:p>
          <a:p>
            <a:r>
              <a:rPr lang="en-IN" dirty="0"/>
              <a:t>Prob: 31/33/1920 </a:t>
            </a:r>
          </a:p>
        </p:txBody>
      </p:sp>
    </p:spTree>
    <p:extLst>
      <p:ext uri="{BB962C8B-B14F-4D97-AF65-F5344CB8AC3E}">
        <p14:creationId xmlns:p14="http://schemas.microsoft.com/office/powerpoint/2010/main" val="409527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C2F32BF-3760-4C57-96A1-8E925FA04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String regexp methods</a:t>
            </a:r>
          </a:p>
        </p:txBody>
      </p:sp>
      <p:graphicFrame>
        <p:nvGraphicFramePr>
          <p:cNvPr id="973903" name="Group 79">
            <a:extLst>
              <a:ext uri="{FF2B5EF4-FFF2-40B4-BE49-F238E27FC236}">
                <a16:creationId xmlns:a16="http://schemas.microsoft.com/office/drawing/2014/main" id="{A14AD19B-F0C3-4DDC-908F-9EB305CD32E7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143000"/>
          <a:ext cx="8839200" cy="4974288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0797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.match(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returns first match for this string against the given regular expression; if global /g flag is used, returns array of all matches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97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.replace(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text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replaces first occurrence of the regular expression with the given text; if global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flag is used, replaces all occurrences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7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.search(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returns first index where the given regular expression occurs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797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.split(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delimiter[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limit]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breaks apart a string into an array of strings using the given regular as the delimiter; returns the array of tokens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4309683-658D-40F2-8239-5A507D19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230981"/>
            <a:ext cx="10515600" cy="1325563"/>
          </a:xfrm>
        </p:spPr>
        <p:txBody>
          <a:bodyPr/>
          <a:lstStyle/>
          <a:p>
            <a:r>
              <a:rPr lang="en-US" altLang="en-US" sz="3600" b="1" dirty="0">
                <a:latin typeface="Trebuchet MS" panose="020B0603020202020204" pitchFamily="34" charset="0"/>
              </a:rPr>
              <a:t>The search(..) method</a:t>
            </a:r>
          </a:p>
        </p:txBody>
      </p:sp>
      <p:sp>
        <p:nvSpPr>
          <p:cNvPr id="3075" name="TextBox 3">
            <a:extLst>
              <a:ext uri="{FF2B5EF4-FFF2-40B4-BE49-F238E27FC236}">
                <a16:creationId xmlns:a16="http://schemas.microsoft.com/office/drawing/2014/main" id="{CC1770CE-3183-4453-B569-A7836EC25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9" y="1186656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>
                <a:latin typeface="Trebuchet MS" panose="020B0603020202020204" pitchFamily="34" charset="0"/>
              </a:rPr>
              <a:t>Searches a string for a match to the supplied regular expression.</a:t>
            </a:r>
          </a:p>
        </p:txBody>
      </p:sp>
      <p:sp>
        <p:nvSpPr>
          <p:cNvPr id="3076" name="TextBox 4">
            <a:extLst>
              <a:ext uri="{FF2B5EF4-FFF2-40B4-BE49-F238E27FC236}">
                <a16:creationId xmlns:a16="http://schemas.microsoft.com/office/drawing/2014/main" id="{763CB8CA-9E6E-432E-9B94-8CE7C7D82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55" y="1823884"/>
            <a:ext cx="784860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dirty="0">
                <a:latin typeface="Trebuchet MS" panose="020B0603020202020204" pitchFamily="34" charset="0"/>
              </a:rPr>
              <a:t>//</a:t>
            </a:r>
            <a:r>
              <a:rPr lang="en-US" altLang="en-US" sz="1400" b="1" dirty="0">
                <a:latin typeface="Trebuchet MS" panose="020B0603020202020204" pitchFamily="34" charset="0"/>
              </a:rPr>
              <a:t>Example 1 :</a:t>
            </a:r>
          </a:p>
          <a:p>
            <a:r>
              <a:rPr lang="en-US" altLang="en-US" sz="1400" dirty="0">
                <a:latin typeface="Trebuchet MS" panose="020B0603020202020204" pitchFamily="34" charset="0"/>
              </a:rPr>
              <a:t>&lt;script language="JavaScript"&gt;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// define string to be searched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var str = "The Matrix";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// define search pattern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var pattern = /trinity/;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// search and return result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if(</a:t>
            </a:r>
            <a:r>
              <a:rPr lang="en-US" altLang="en-US" sz="1400" dirty="0" err="1">
                <a:latin typeface="Trebuchet MS" panose="020B0603020202020204" pitchFamily="34" charset="0"/>
              </a:rPr>
              <a:t>str.search</a:t>
            </a:r>
            <a:r>
              <a:rPr lang="en-US" altLang="en-US" sz="1400" dirty="0">
                <a:latin typeface="Trebuchet MS" panose="020B0603020202020204" pitchFamily="34" charset="0"/>
              </a:rPr>
              <a:t>(pattern) == -1)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{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alert("Sorry, Trinity is not in The Matrix.");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} </a:t>
            </a:r>
          </a:p>
          <a:p>
            <a:r>
              <a:rPr lang="en-US" altLang="en-US" sz="1400" dirty="0">
                <a:latin typeface="Trebuchet MS" panose="020B0603020202020204" pitchFamily="34" charset="0"/>
              </a:rPr>
              <a:t>else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{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alert("Trinity located in The Matrix at character " + </a:t>
            </a:r>
            <a:r>
              <a:rPr lang="en-US" altLang="en-US" sz="1400" dirty="0" err="1">
                <a:latin typeface="Trebuchet MS" panose="020B0603020202020204" pitchFamily="34" charset="0"/>
              </a:rPr>
              <a:t>str.search</a:t>
            </a:r>
            <a:r>
              <a:rPr lang="en-US" altLang="en-US" sz="1400" dirty="0">
                <a:latin typeface="Trebuchet MS" panose="020B0603020202020204" pitchFamily="34" charset="0"/>
              </a:rPr>
              <a:t>(pattern));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}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&lt;/script&gt;</a:t>
            </a:r>
          </a:p>
          <a:p>
            <a:endParaRPr lang="en-US" altLang="en-US" sz="1400" dirty="0">
              <a:latin typeface="Trebuchet MS" panose="020B060302020202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AC15D65-8777-4CDB-A155-A4E8422AF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0298" y="2167116"/>
            <a:ext cx="6127820" cy="252376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dirty="0"/>
              <a:t>When you run this script, you should see the following:</a:t>
            </a:r>
          </a:p>
          <a:p>
            <a:endParaRPr lang="en-US" altLang="en-US" sz="1400" b="1" dirty="0"/>
          </a:p>
          <a:p>
            <a:r>
              <a:rPr lang="en-US" altLang="en-US" sz="1400" b="1" dirty="0"/>
              <a:t>Sorry, Trinity is not in The Matrix.</a:t>
            </a:r>
            <a:r>
              <a:rPr lang="en-US" altLang="en-US" sz="1400" dirty="0"/>
              <a:t> </a:t>
            </a:r>
          </a:p>
          <a:p>
            <a:endParaRPr lang="en-US" altLang="en-US" sz="1400" dirty="0"/>
          </a:p>
          <a:p>
            <a:endParaRPr lang="en-US" altLang="en-US" sz="1400" dirty="0"/>
          </a:p>
          <a:p>
            <a:r>
              <a:rPr lang="en-US" altLang="en-US" b="1" dirty="0"/>
              <a:t>Explanation</a:t>
            </a:r>
          </a:p>
          <a:p>
            <a:endParaRPr lang="en-US" altLang="en-US" sz="1400" dirty="0"/>
          </a:p>
          <a:p>
            <a:r>
              <a:rPr lang="en-US" altLang="en-US" sz="1400" dirty="0"/>
              <a:t>The search() method returns the position of the substring matching the regular expression, or -1 if no match exists. In the example above, it is clear that the pattern "trinity" does not exist in the string "The Matrix," hence the error message.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5B13C60-C7C4-403A-AB3A-67B776CD8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829702"/>
            <a:ext cx="375138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Output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7B3FB0E-F9FD-4E91-B78D-98003C81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/>
              <a:t>The search(..) method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BA7D36A-0ED7-4439-9F0B-4FCC404CB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07" y="1664289"/>
            <a:ext cx="5333999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b="1" dirty="0"/>
              <a:t>//Example 2 :</a:t>
            </a:r>
          </a:p>
          <a:p>
            <a:r>
              <a:rPr lang="en-US" altLang="en-US" sz="1400" dirty="0"/>
              <a:t>&lt;script language="JavaScript"&gt;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// define string to be searched</a:t>
            </a:r>
            <a:br>
              <a:rPr lang="en-US" altLang="en-US" sz="1400" dirty="0"/>
            </a:br>
            <a:r>
              <a:rPr lang="en-US" altLang="en-US" sz="1400" dirty="0"/>
              <a:t>var str = " The Matrix";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// define search pattern</a:t>
            </a:r>
            <a:br>
              <a:rPr lang="en-US" altLang="en-US" sz="1400" dirty="0"/>
            </a:br>
            <a:r>
              <a:rPr lang="en-US" altLang="en-US" sz="1400" dirty="0"/>
              <a:t>var pattern = /tri/;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// search and return result</a:t>
            </a:r>
            <a:br>
              <a:rPr lang="en-US" altLang="en-US" sz="1400" dirty="0"/>
            </a:br>
            <a:r>
              <a:rPr lang="en-US" altLang="en-US" sz="1400" dirty="0"/>
              <a:t>if(</a:t>
            </a:r>
            <a:r>
              <a:rPr lang="en-US" altLang="en-US" sz="1400" dirty="0" err="1"/>
              <a:t>str.search</a:t>
            </a:r>
            <a:r>
              <a:rPr lang="en-US" altLang="en-US" sz="1400" dirty="0"/>
              <a:t>(pattern) == -1) </a:t>
            </a:r>
            <a:br>
              <a:rPr lang="en-US" altLang="en-US" sz="1400" dirty="0"/>
            </a:br>
            <a:r>
              <a:rPr lang="en-US" altLang="en-US" sz="1400" dirty="0"/>
              <a:t>{</a:t>
            </a:r>
            <a:br>
              <a:rPr lang="en-US" altLang="en-US" sz="1400" dirty="0"/>
            </a:br>
            <a:r>
              <a:rPr lang="en-US" altLang="en-US" sz="1400" dirty="0"/>
              <a:t> alert("Sorry, Trinity is not in The Matrix.");</a:t>
            </a:r>
            <a:br>
              <a:rPr lang="en-US" altLang="en-US" sz="1400" dirty="0"/>
            </a:br>
            <a:r>
              <a:rPr lang="en-US" altLang="en-US" sz="1400" dirty="0"/>
              <a:t>} else </a:t>
            </a:r>
            <a:br>
              <a:rPr lang="en-US" altLang="en-US" sz="1400" dirty="0"/>
            </a:br>
            <a:r>
              <a:rPr lang="en-US" altLang="en-US" sz="1400" dirty="0"/>
              <a:t>{</a:t>
            </a:r>
            <a:br>
              <a:rPr lang="en-US" altLang="en-US" sz="1400" dirty="0"/>
            </a:br>
            <a:r>
              <a:rPr lang="en-US" altLang="en-US" sz="1400" dirty="0"/>
              <a:t> alert(“tri </a:t>
            </a:r>
            <a:r>
              <a:rPr lang="en-US" altLang="en-US" sz="1400" dirty="0" err="1"/>
              <a:t>ocated</a:t>
            </a:r>
            <a:r>
              <a:rPr lang="en-US" altLang="en-US" sz="1400" dirty="0"/>
              <a:t> in The Matrix at character " +  </a:t>
            </a:r>
            <a:r>
              <a:rPr lang="en-US" altLang="en-US" sz="1400" dirty="0" err="1"/>
              <a:t>str.search</a:t>
            </a:r>
            <a:r>
              <a:rPr lang="en-US" altLang="en-US" sz="1400" dirty="0"/>
              <a:t>(pattern));</a:t>
            </a:r>
            <a:br>
              <a:rPr lang="en-US" altLang="en-US" sz="1400" dirty="0"/>
            </a:br>
            <a:r>
              <a:rPr lang="en-US" altLang="en-US" sz="1400" dirty="0"/>
              <a:t>}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&lt;/script&gt;</a:t>
            </a:r>
          </a:p>
          <a:p>
            <a:endParaRPr lang="en-US" altLang="en-US" sz="1400" dirty="0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925D303-6402-4E0B-9262-662AB4C12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471" y="1479345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Output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endParaRPr lang="en-US" altLang="en-US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F402AC3C-ACD2-4F53-9AD8-BA0735D24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471" y="2088945"/>
            <a:ext cx="6297561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dirty="0"/>
              <a:t>This time round, the JavaScript interpreter will return a match (and the location where it found the match). Here's the output:</a:t>
            </a:r>
          </a:p>
          <a:p>
            <a:endParaRPr lang="en-US" altLang="en-US" sz="1400" b="1" dirty="0"/>
          </a:p>
          <a:p>
            <a:r>
              <a:rPr lang="en-US" altLang="en-US" sz="1400" b="1" dirty="0"/>
              <a:t>Tri located in The Matrix at character 7</a:t>
            </a:r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5685997-ACF0-41DE-AE06-20B79BFD74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Basic regexes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188C37D-1BDD-4726-9834-0059D2F80C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 algn="ctr">
              <a:buNone/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</a:p>
          <a:p>
            <a:pPr marL="854075" lvl="1"/>
            <a:endParaRPr lang="en-US" altLang="en-US" dirty="0">
              <a:latin typeface="Consolas" panose="020B0609020204030204" pitchFamily="49" charset="0"/>
            </a:endParaRPr>
          </a:p>
          <a:p>
            <a:pPr marL="460375" indent="-231775"/>
            <a:r>
              <a:rPr lang="en-US" altLang="en-US" dirty="0"/>
              <a:t>a regular expression literal in JS is written   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</a:p>
          <a:p>
            <a:pPr marL="460375" indent="-231775"/>
            <a:r>
              <a:rPr lang="en-US" altLang="en-US" dirty="0"/>
              <a:t>the simplest regexes simply match a given substring</a:t>
            </a:r>
          </a:p>
          <a:p>
            <a:pPr marL="854075" lvl="1">
              <a:buNone/>
            </a:pPr>
            <a:endParaRPr lang="en-US" altLang="en-US" dirty="0"/>
          </a:p>
          <a:p>
            <a:pPr marL="460375" indent="-231775"/>
            <a:r>
              <a:rPr lang="en-US" altLang="en-US" dirty="0"/>
              <a:t>the above regex matches any line containing "</a:t>
            </a:r>
            <a:r>
              <a:rPr lang="en-US" altLang="en-US" dirty="0" err="1"/>
              <a:t>abc</a:t>
            </a:r>
            <a:r>
              <a:rPr lang="en-US" altLang="en-US" dirty="0"/>
              <a:t>"</a:t>
            </a:r>
          </a:p>
          <a:p>
            <a:pPr marL="854075" lvl="1"/>
            <a:r>
              <a:rPr lang="en-US" altLang="en-US" i="1" dirty="0"/>
              <a:t>YES </a:t>
            </a:r>
            <a:r>
              <a:rPr lang="en-US" altLang="en-US" dirty="0"/>
              <a:t>: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abcdef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defabc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".=.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.=."</a:t>
            </a:r>
            <a:endParaRPr lang="en-US" altLang="en-US" dirty="0"/>
          </a:p>
          <a:p>
            <a:pPr marL="854075" lvl="1"/>
            <a:r>
              <a:rPr lang="en-US" altLang="en-US" i="1" dirty="0"/>
              <a:t>NO </a:t>
            </a:r>
            <a:r>
              <a:rPr lang="en-US" altLang="en-US" dirty="0"/>
              <a:t>: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fedcba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"ab c"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"Bash"</a:t>
            </a:r>
            <a:r>
              <a:rPr lang="en-US" altLang="en-US" dirty="0"/>
              <a:t>, ...</a:t>
            </a:r>
          </a:p>
          <a:p>
            <a:pPr marL="460375" indent="-231775"/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/.test(“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”)</a:t>
            </a:r>
          </a:p>
          <a:p>
            <a:pPr marL="460375" indent="-231775"/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7B49816-05FB-42F4-BF98-4F13D716E2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Wildcards and anchors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08175061-F925-4626-A32D-936CB189BC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/>
              <a:t>  (a dot) matches any character except </a:t>
            </a:r>
            <a:r>
              <a:rPr lang="en-US" altLang="en-US" dirty="0">
                <a:latin typeface="Consolas" panose="020B0609020204030204" pitchFamily="49" charset="0"/>
              </a:rPr>
              <a:t>\n</a:t>
            </a:r>
            <a:endParaRPr lang="en-US" altLang="en-US" dirty="0"/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/.</a:t>
            </a:r>
            <a:r>
              <a:rPr lang="en-US" altLang="en-US" dirty="0" err="1">
                <a:latin typeface="Consolas" panose="020B0609020204030204" pitchFamily="49" charset="0"/>
              </a:rPr>
              <a:t>oo.y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Doocy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</a:t>
            </a:r>
            <a:r>
              <a:rPr lang="en-US" altLang="en-US" dirty="0">
                <a:latin typeface="Consolas" panose="020B0609020204030204" pitchFamily="49" charset="0"/>
              </a:rPr>
              <a:t>"goofy"</a:t>
            </a:r>
            <a:r>
              <a:rPr lang="en-US" altLang="en-US" dirty="0"/>
              <a:t>,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LooPy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...</a:t>
            </a:r>
          </a:p>
          <a:p>
            <a:pPr marL="854075" lvl="1"/>
            <a:r>
              <a:rPr lang="en-US" altLang="en-US" dirty="0"/>
              <a:t>use </a:t>
            </a:r>
            <a:r>
              <a:rPr lang="en-US" altLang="en-US" dirty="0">
                <a:latin typeface="Consolas" panose="020B0609020204030204" pitchFamily="49" charset="0"/>
              </a:rPr>
              <a:t>\.</a:t>
            </a:r>
            <a:r>
              <a:rPr lang="en-US" altLang="en-US" dirty="0"/>
              <a:t> to literally match a dot </a:t>
            </a:r>
            <a:r>
              <a:rPr lang="en-US" altLang="en-US" dirty="0">
                <a:latin typeface="Consolas" panose="020B0609020204030204" pitchFamily="49" charset="0"/>
              </a:rPr>
              <a:t>.</a:t>
            </a:r>
            <a:r>
              <a:rPr lang="en-US" altLang="en-US" dirty="0"/>
              <a:t> character</a:t>
            </a:r>
          </a:p>
          <a:p>
            <a:pPr marL="854075" lvl="1">
              <a:buNone/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^</a:t>
            </a:r>
            <a:r>
              <a:rPr lang="en-US" altLang="en-US" dirty="0"/>
              <a:t> matches the beginning of a line;  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$</a:t>
            </a:r>
            <a:r>
              <a:rPr lang="en-US" altLang="en-US" dirty="0"/>
              <a:t> the end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/^if$/</a:t>
            </a:r>
            <a:r>
              <a:rPr lang="en-US" altLang="en-US" dirty="0"/>
              <a:t> matches lines that consist entirely of </a:t>
            </a:r>
            <a:r>
              <a:rPr lang="en-US" altLang="en-US" dirty="0">
                <a:latin typeface="Consolas" panose="020B0609020204030204" pitchFamily="49" charset="0"/>
              </a:rPr>
              <a:t>if</a:t>
            </a:r>
          </a:p>
          <a:p>
            <a:pPr marL="854075" lvl="1">
              <a:buNone/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endParaRPr lang="en-US" altLang="en-US" sz="1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95B20D-F0E7-4B90-AA3C-F2554C7D1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String match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257EF48-1F87-4FC5-B0A3-CA6428D9C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ctr" eaLnBrk="1" hangingPunct="1">
              <a:buFontTx/>
              <a:buNone/>
            </a:pPr>
            <a:r>
              <a:rPr lang="en-US" altLang="en-US" b="1" i="1" dirty="0" err="1">
                <a:latin typeface="Consolas" panose="020B0609020204030204" pitchFamily="49" charset="0"/>
              </a:rPr>
              <a:t>string</a:t>
            </a:r>
            <a:r>
              <a:rPr lang="en-US" altLang="en-US" dirty="0" err="1">
                <a:latin typeface="Consolas" panose="020B0609020204030204" pitchFamily="49" charset="0"/>
              </a:rPr>
              <a:t>.match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b="1" i="1" dirty="0">
                <a:latin typeface="Consolas" panose="020B0609020204030204" pitchFamily="49" charset="0"/>
              </a:rPr>
              <a:t>regex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</a:p>
          <a:p>
            <a:pPr algn="ctr" eaLnBrk="1" hangingPunct="1">
              <a:buFontTx/>
              <a:buNone/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dirty="0"/>
              <a:t>if string fits pattern, returns matching text; else </a:t>
            </a:r>
            <a:r>
              <a:rPr lang="en-US" altLang="en-US" dirty="0">
                <a:latin typeface="Consolas" panose="020B0609020204030204" pitchFamily="49" charset="0"/>
              </a:rPr>
              <a:t>null</a:t>
            </a:r>
          </a:p>
          <a:p>
            <a:pPr lvl="1" eaLnBrk="1" hangingPunct="1"/>
            <a:r>
              <a:rPr lang="en-US" altLang="en-US" dirty="0"/>
              <a:t>can be used as a Boolean truthy/</a:t>
            </a:r>
            <a:r>
              <a:rPr lang="en-US" altLang="en-US" dirty="0" err="1"/>
              <a:t>falsey</a:t>
            </a:r>
            <a:r>
              <a:rPr lang="en-US" altLang="en-US" dirty="0"/>
              <a:t> test:</a:t>
            </a:r>
            <a:br>
              <a:rPr lang="en-US" altLang="en-US" dirty="0"/>
            </a:br>
            <a:br>
              <a:rPr lang="en-US" altLang="en-US" sz="800" dirty="0"/>
            </a:br>
            <a:r>
              <a:rPr lang="en-US" altLang="en-US" dirty="0">
                <a:latin typeface="Consolas" panose="020B0609020204030204" pitchFamily="49" charset="0"/>
              </a:rPr>
              <a:t>if (</a:t>
            </a:r>
            <a:r>
              <a:rPr lang="en-US" altLang="en-US" dirty="0" err="1">
                <a:latin typeface="Consolas" panose="020B0609020204030204" pitchFamily="49" charset="0"/>
              </a:rPr>
              <a:t>name.match</a:t>
            </a:r>
            <a:r>
              <a:rPr lang="en-US" altLang="en-US" dirty="0">
                <a:latin typeface="Consolas" panose="020B0609020204030204" pitchFamily="49" charset="0"/>
              </a:rPr>
              <a:t>(/[a-z]+/)) { ... }</a:t>
            </a:r>
          </a:p>
          <a:p>
            <a:pPr lvl="1" eaLnBrk="1" hangingPunct="1"/>
            <a:endParaRPr lang="en-US" altLang="en-US" sz="180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 dirty="0"/>
              <a:t> after regex for array of </a:t>
            </a:r>
            <a:r>
              <a:rPr lang="en-US" altLang="en-US" i="1" dirty="0"/>
              <a:t>global </a:t>
            </a:r>
            <a:r>
              <a:rPr lang="en-US" altLang="en-US" dirty="0"/>
              <a:t>matches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obama</a:t>
            </a:r>
            <a:r>
              <a:rPr lang="en-US" altLang="en-US" dirty="0">
                <a:latin typeface="Consolas" panose="020B0609020204030204" pitchFamily="49" charset="0"/>
              </a:rPr>
              <a:t>".match(/.a/g)</a:t>
            </a:r>
            <a:r>
              <a:rPr lang="en-US" altLang="en-US" dirty="0"/>
              <a:t> returns </a:t>
            </a:r>
            <a:r>
              <a:rPr lang="en-US" altLang="en-US" dirty="0">
                <a:latin typeface="Consolas" panose="020B0609020204030204" pitchFamily="49" charset="0"/>
              </a:rPr>
              <a:t>["</a:t>
            </a:r>
            <a:r>
              <a:rPr lang="en-US" altLang="en-US" dirty="0" err="1">
                <a:latin typeface="Consolas" panose="020B0609020204030204" pitchFamily="49" charset="0"/>
              </a:rPr>
              <a:t>ba</a:t>
            </a:r>
            <a:r>
              <a:rPr lang="en-US" altLang="en-US" dirty="0">
                <a:latin typeface="Consolas" panose="020B0609020204030204" pitchFamily="49" charset="0"/>
              </a:rPr>
              <a:t>", "ma"]</a:t>
            </a:r>
            <a:endParaRPr lang="en-US" altLang="en-US" dirty="0"/>
          </a:p>
          <a:p>
            <a:pPr lvl="1" eaLnBrk="1" hangingPunct="1"/>
            <a:endParaRPr lang="en-US" altLang="en-US" sz="1800" dirty="0"/>
          </a:p>
          <a:p>
            <a:pPr eaLnBrk="1" hangingPunct="1"/>
            <a:r>
              <a:rPr lang="en-US" altLang="en-US" b="1" dirty="0" err="1">
                <a:solidFill>
                  <a:srgbClr val="6600CC"/>
                </a:solidFill>
                <a:latin typeface="Consolas" panose="020B0609020204030204" pitchFamily="49" charset="0"/>
              </a:rPr>
              <a:t>i</a:t>
            </a:r>
            <a:r>
              <a:rPr lang="en-US" altLang="en-US" dirty="0"/>
              <a:t> after regex for case-</a:t>
            </a:r>
            <a:r>
              <a:rPr lang="en-US" altLang="en-US" i="1" dirty="0"/>
              <a:t>insensitive</a:t>
            </a:r>
            <a:r>
              <a:rPr lang="en-US" altLang="en-US" dirty="0"/>
              <a:t> match</a:t>
            </a:r>
          </a:p>
          <a:p>
            <a:pPr lvl="1" eaLnBrk="1" hangingPunct="1"/>
            <a:r>
              <a:rPr lang="en-US" altLang="en-US" dirty="0" err="1">
                <a:latin typeface="Consolas" panose="020B0609020204030204" pitchFamily="49" charset="0"/>
              </a:rPr>
              <a:t>name.match</a:t>
            </a:r>
            <a:r>
              <a:rPr lang="en-US" altLang="en-US" dirty="0">
                <a:latin typeface="Consolas" panose="020B0609020204030204" pitchFamily="49" charset="0"/>
              </a:rPr>
              <a:t>(/Marty/</a:t>
            </a:r>
            <a:r>
              <a:rPr lang="en-US" altLang="en-US" dirty="0" err="1">
                <a:latin typeface="Consolas" panose="020B06090202040302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  <a:r>
              <a:rPr lang="en-US" altLang="en-US" dirty="0"/>
              <a:t> matches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marty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MaRtY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D80008-57C5-4FFD-ABE0-FB0A26259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String replace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079F077-15FA-4D59-95F8-4D1E3039B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b="1" i="1">
                <a:latin typeface="Consolas" panose="020B0609020204030204" pitchFamily="49" charset="0"/>
              </a:rPr>
              <a:t>string</a:t>
            </a:r>
            <a:r>
              <a:rPr lang="en-US" altLang="en-US">
                <a:latin typeface="Consolas" panose="020B0609020204030204" pitchFamily="49" charset="0"/>
              </a:rPr>
              <a:t>.replace(</a:t>
            </a:r>
            <a:r>
              <a:rPr lang="en-US" altLang="en-US" b="1" i="1">
                <a:latin typeface="Consolas" panose="020B0609020204030204" pitchFamily="49" charset="0"/>
              </a:rPr>
              <a:t>regex</a:t>
            </a:r>
            <a:r>
              <a:rPr lang="en-US" altLang="en-US">
                <a:latin typeface="Consolas" panose="020B0609020204030204" pitchFamily="49" charset="0"/>
              </a:rPr>
              <a:t>, "</a:t>
            </a:r>
            <a:r>
              <a:rPr lang="en-US" altLang="en-US" b="1" i="1">
                <a:latin typeface="Consolas" panose="020B0609020204030204" pitchFamily="49" charset="0"/>
              </a:rPr>
              <a:t>text</a:t>
            </a:r>
            <a:r>
              <a:rPr lang="en-US" altLang="en-US">
                <a:latin typeface="Consolas" panose="020B0609020204030204" pitchFamily="49" charset="0"/>
              </a:rPr>
              <a:t>") </a:t>
            </a:r>
          </a:p>
          <a:p>
            <a:pPr eaLnBrk="1" hangingPunct="1">
              <a:buFontTx/>
              <a:buNone/>
            </a:pPr>
            <a:endParaRPr lang="en-US" altLang="en-US" sz="1200"/>
          </a:p>
          <a:p>
            <a:pPr eaLnBrk="1" hangingPunct="1"/>
            <a:r>
              <a:rPr lang="en-US" altLang="en-US"/>
              <a:t>replaces </a:t>
            </a:r>
            <a:r>
              <a:rPr lang="en-US" altLang="en-US" i="1"/>
              <a:t>first occurrence</a:t>
            </a:r>
            <a:r>
              <a:rPr lang="en-US" altLang="en-US"/>
              <a:t> of pattern with the given text</a:t>
            </a:r>
          </a:p>
          <a:p>
            <a:pPr lvl="1" eaLnBrk="1" hangingPunct="1"/>
            <a:r>
              <a:rPr lang="en-US" altLang="en-US">
                <a:latin typeface="Consolas" panose="020B0609020204030204" pitchFamily="49" charset="0"/>
              </a:rPr>
              <a:t>var state = "Mississippi";</a:t>
            </a:r>
            <a:br>
              <a:rPr lang="en-US" altLang="en-US">
                <a:latin typeface="Consolas" panose="020B0609020204030204" pitchFamily="49" charset="0"/>
              </a:rPr>
            </a:br>
            <a:r>
              <a:rPr lang="en-US" altLang="en-US">
                <a:latin typeface="Consolas" panose="020B0609020204030204" pitchFamily="49" charset="0"/>
              </a:rPr>
              <a:t>state.replace(/s/, "x") </a:t>
            </a:r>
            <a:r>
              <a:rPr lang="en-US" altLang="en-US"/>
              <a:t> returns </a:t>
            </a:r>
            <a:r>
              <a:rPr lang="en-US" altLang="en-US">
                <a:latin typeface="Consolas" panose="020B0609020204030204" pitchFamily="49" charset="0"/>
              </a:rPr>
              <a:t>"Mi</a:t>
            </a:r>
            <a:r>
              <a:rPr lang="en-US" altLang="en-US" b="1">
                <a:latin typeface="Consolas" panose="020B0609020204030204" pitchFamily="49" charset="0"/>
              </a:rPr>
              <a:t>x</a:t>
            </a:r>
            <a:r>
              <a:rPr lang="en-US" altLang="en-US">
                <a:latin typeface="Consolas" panose="020B0609020204030204" pitchFamily="49" charset="0"/>
              </a:rPr>
              <a:t>sissippi"</a:t>
            </a:r>
            <a:endParaRPr lang="en-US" altLang="en-US"/>
          </a:p>
          <a:p>
            <a:pPr lvl="1" eaLnBrk="1" hangingPunct="1"/>
            <a:endParaRPr lang="en-US" altLang="en-US" sz="1100"/>
          </a:p>
          <a:p>
            <a:pPr eaLnBrk="1" hangingPunct="1"/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/>
              <a:t> after regex to replace </a:t>
            </a:r>
            <a:r>
              <a:rPr lang="en-US" altLang="en-US" i="1"/>
              <a:t>all occurrences</a:t>
            </a:r>
          </a:p>
          <a:p>
            <a:pPr lvl="1" eaLnBrk="1" hangingPunct="1"/>
            <a:r>
              <a:rPr lang="en-US" altLang="en-US">
                <a:latin typeface="Consolas" panose="020B0609020204030204" pitchFamily="49" charset="0"/>
              </a:rPr>
              <a:t>state.replace(/s/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>
                <a:latin typeface="Consolas" panose="020B0609020204030204" pitchFamily="49" charset="0"/>
              </a:rPr>
              <a:t>, "x")</a:t>
            </a:r>
            <a:r>
              <a:rPr lang="en-US" altLang="en-US"/>
              <a:t> returns </a:t>
            </a:r>
            <a:r>
              <a:rPr lang="en-US" altLang="en-US">
                <a:latin typeface="Consolas" panose="020B0609020204030204" pitchFamily="49" charset="0"/>
              </a:rPr>
              <a:t>"Mi</a:t>
            </a:r>
            <a:r>
              <a:rPr lang="en-US" altLang="en-US" b="1">
                <a:latin typeface="Consolas" panose="020B0609020204030204" pitchFamily="49" charset="0"/>
              </a:rPr>
              <a:t>xx</a:t>
            </a:r>
            <a:r>
              <a:rPr lang="en-US" altLang="en-US">
                <a:latin typeface="Consolas" panose="020B0609020204030204" pitchFamily="49" charset="0"/>
              </a:rPr>
              <a:t>i</a:t>
            </a:r>
            <a:r>
              <a:rPr lang="en-US" altLang="en-US" b="1">
                <a:latin typeface="Consolas" panose="020B0609020204030204" pitchFamily="49" charset="0"/>
              </a:rPr>
              <a:t>xx</a:t>
            </a:r>
            <a:r>
              <a:rPr lang="en-US" altLang="en-US">
                <a:latin typeface="Consolas" panose="020B0609020204030204" pitchFamily="49" charset="0"/>
              </a:rPr>
              <a:t>ippi"</a:t>
            </a:r>
            <a:endParaRPr lang="en-US" altLang="en-US"/>
          </a:p>
          <a:p>
            <a:pPr lvl="1" eaLnBrk="1" hangingPunct="1"/>
            <a:endParaRPr lang="en-US" altLang="en-US" sz="1200"/>
          </a:p>
          <a:p>
            <a:pPr eaLnBrk="1" hangingPunct="1"/>
            <a:r>
              <a:rPr lang="en-US" altLang="en-US" i="1"/>
              <a:t>returns</a:t>
            </a:r>
            <a:r>
              <a:rPr lang="en-US" altLang="en-US"/>
              <a:t> the modified string as its result; must be stored</a:t>
            </a:r>
          </a:p>
          <a:p>
            <a:pPr lvl="1" eaLnBrk="1" hangingPunct="1"/>
            <a:r>
              <a:rPr lang="en-US" altLang="en-US" b="1">
                <a:latin typeface="Consolas" panose="020B0609020204030204" pitchFamily="49" charset="0"/>
              </a:rPr>
              <a:t>state = state</a:t>
            </a:r>
            <a:r>
              <a:rPr lang="en-US" altLang="en-US">
                <a:latin typeface="Consolas" panose="020B0609020204030204" pitchFamily="49" charset="0"/>
              </a:rPr>
              <a:t>.replace(/s/g, "x");</a:t>
            </a: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171DC44-EDC5-47FB-B25A-B88C5F4F81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Special characters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C2CEF810-E848-476F-BEFA-CAC4CD7355F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|</a:t>
            </a:r>
            <a:r>
              <a:rPr lang="en-US" altLang="en-US" dirty="0"/>
              <a:t> means OR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abc|def|g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lines with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</a:t>
            </a:r>
            <a:r>
              <a:rPr lang="en-US" altLang="en-US" dirty="0">
                <a:latin typeface="Consolas" panose="020B0609020204030204" pitchFamily="49" charset="0"/>
              </a:rPr>
              <a:t>"def"</a:t>
            </a:r>
            <a:r>
              <a:rPr lang="en-US" altLang="en-US" dirty="0"/>
              <a:t>, or </a:t>
            </a:r>
            <a:r>
              <a:rPr lang="en-US" altLang="en-US" dirty="0">
                <a:latin typeface="Consolas" panose="020B0609020204030204" pitchFamily="49" charset="0"/>
              </a:rPr>
              <a:t>"g“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abc|def|g</a:t>
            </a:r>
            <a:r>
              <a:rPr lang="en-US" altLang="en-US" dirty="0">
                <a:latin typeface="Consolas" panose="020B0609020204030204" pitchFamily="49" charset="0"/>
              </a:rPr>
              <a:t>/.test(“hello go to school”)</a:t>
            </a:r>
          </a:p>
          <a:p>
            <a:pPr marL="854075" lvl="1"/>
            <a:endParaRPr lang="en-US" altLang="en-US" sz="1400" dirty="0">
              <a:latin typeface="Consolas" panose="020B0609020204030204" pitchFamily="49" charset="0"/>
            </a:endParaRPr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()</a:t>
            </a:r>
            <a:r>
              <a:rPr lang="en-US" altLang="en-US" dirty="0"/>
              <a:t> are for grouping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/(</a:t>
            </a:r>
            <a:r>
              <a:rPr lang="en-US" altLang="en-US" dirty="0" err="1">
                <a:latin typeface="Consolas" panose="020B0609020204030204" pitchFamily="49" charset="0"/>
              </a:rPr>
              <a:t>Homer|Marge</a:t>
            </a:r>
            <a:r>
              <a:rPr lang="en-US" altLang="en-US" dirty="0">
                <a:latin typeface="Consolas" panose="020B0609020204030204" pitchFamily="49" charset="0"/>
              </a:rPr>
              <a:t>) Simpson/</a:t>
            </a:r>
            <a:r>
              <a:rPr lang="en-US" altLang="en-US" dirty="0"/>
              <a:t> matches lines containing </a:t>
            </a:r>
            <a:br>
              <a:rPr lang="en-US" altLang="en-US" dirty="0"/>
            </a:br>
            <a:r>
              <a:rPr lang="en-US" altLang="en-US" dirty="0">
                <a:latin typeface="Consolas" panose="020B0609020204030204" pitchFamily="49" charset="0"/>
              </a:rPr>
              <a:t>"Homer Simpson"</a:t>
            </a:r>
            <a:r>
              <a:rPr lang="en-US" altLang="en-US" dirty="0"/>
              <a:t> or </a:t>
            </a:r>
            <a:r>
              <a:rPr lang="en-US" altLang="en-US" dirty="0">
                <a:latin typeface="Consolas" panose="020B0609020204030204" pitchFamily="49" charset="0"/>
              </a:rPr>
              <a:t>"Marge Simpson"</a:t>
            </a:r>
          </a:p>
          <a:p>
            <a:pPr marL="854075" lvl="1"/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\</a:t>
            </a:r>
            <a:r>
              <a:rPr lang="en-US" altLang="en-US" dirty="0"/>
              <a:t> starts an escape sequence</a:t>
            </a:r>
          </a:p>
          <a:p>
            <a:pPr marL="854075" lvl="1"/>
            <a:r>
              <a:rPr lang="en-US" altLang="en-US" dirty="0"/>
              <a:t>many characters must be escaped:  / \ $ . [ ] ( ) ^ * +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622D5A-39DB-41D3-ACE5-6BC9843BA0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Quantifiers:  * + ?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8109F13-0EA2-4C57-9213-E4ABB7446B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/>
              <a:t>  means 0 or more occurrences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</a:t>
            </a:r>
            <a:r>
              <a:rPr lang="en-US" altLang="en-US" u="sng" dirty="0" err="1">
                <a:latin typeface="Consolas" panose="020B0609020204030204" pitchFamily="49" charset="0"/>
              </a:rPr>
              <a:t>c</a:t>
            </a:r>
            <a:r>
              <a:rPr lang="en-US" altLang="en-US" u="sng" dirty="0">
                <a:latin typeface="Consolas" panose="020B0609020204030204" pitchFamily="49" charset="0"/>
              </a:rPr>
              <a:t>*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"ab", "</a:t>
            </a:r>
            <a:r>
              <a:rPr lang="en-US" altLang="en-US" dirty="0" err="1"/>
              <a:t>abc</a:t>
            </a:r>
            <a:r>
              <a:rPr lang="en-US" altLang="en-US" dirty="0"/>
              <a:t>", "</a:t>
            </a:r>
            <a:r>
              <a:rPr lang="en-US" altLang="en-US" dirty="0" err="1"/>
              <a:t>abcc</a:t>
            </a:r>
            <a:r>
              <a:rPr lang="en-US" altLang="en-US" dirty="0"/>
              <a:t>", "</a:t>
            </a:r>
            <a:r>
              <a:rPr lang="en-US" altLang="en-US" dirty="0" err="1"/>
              <a:t>abccc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/a</a:t>
            </a:r>
            <a:r>
              <a:rPr lang="en-US" altLang="en-US" u="sng" dirty="0">
                <a:latin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</a:rPr>
              <a:t>bc</a:t>
            </a:r>
            <a:r>
              <a:rPr lang="en-US" altLang="en-US" u="sng">
                <a:latin typeface="Consolas" panose="020B0609020204030204" pitchFamily="49" charset="0"/>
              </a:rPr>
              <a:t>)*/</a:t>
            </a:r>
            <a:r>
              <a:rPr lang="en-US" altLang="en-US">
                <a:latin typeface="Consolas" panose="020B0609020204030204" pitchFamily="49" charset="0"/>
              </a:rPr>
              <a:t>"</a:t>
            </a:r>
            <a:r>
              <a:rPr lang="en-US" altLang="en-US"/>
              <a:t> matches "a", "</a:t>
            </a:r>
            <a:r>
              <a:rPr lang="en-US" altLang="en-US" dirty="0" err="1"/>
              <a:t>abc</a:t>
            </a:r>
            <a:r>
              <a:rPr lang="en-US" altLang="en-US" dirty="0"/>
              <a:t>", "</a:t>
            </a:r>
            <a:r>
              <a:rPr lang="en-US" altLang="en-US" dirty="0" err="1"/>
              <a:t>abcbc</a:t>
            </a:r>
            <a:r>
              <a:rPr lang="en-US" altLang="en-US" dirty="0"/>
              <a:t>", "</a:t>
            </a:r>
            <a:r>
              <a:rPr lang="en-US" altLang="en-US" dirty="0" err="1"/>
              <a:t>abcbcbc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/a</a:t>
            </a:r>
            <a:r>
              <a:rPr lang="en-US" altLang="en-US" u="sng" dirty="0">
                <a:latin typeface="Consolas" panose="020B0609020204030204" pitchFamily="49" charset="0"/>
              </a:rPr>
              <a:t>.*</a:t>
            </a:r>
            <a:r>
              <a:rPr lang="en-US" altLang="en-US" dirty="0">
                <a:latin typeface="Consolas" panose="020B0609020204030204" pitchFamily="49" charset="0"/>
              </a:rPr>
              <a:t>a/</a:t>
            </a:r>
            <a:r>
              <a:rPr lang="en-US" altLang="en-US" dirty="0"/>
              <a:t> matches "aa", "aba", "a8qa", "a!?_a", ... </a:t>
            </a:r>
          </a:p>
          <a:p>
            <a:pPr marL="854075" lvl="1">
              <a:lnSpc>
                <a:spcPct val="80000"/>
              </a:lnSpc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/>
              <a:t>  means 1 or more occurrences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/a</a:t>
            </a:r>
            <a:r>
              <a:rPr lang="en-US" altLang="en-US" u="sng" dirty="0">
                <a:latin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</a:rPr>
              <a:t>bc</a:t>
            </a:r>
            <a:r>
              <a:rPr lang="en-US" altLang="en-US" u="sng" dirty="0">
                <a:latin typeface="Consolas" panose="020B0609020204030204" pitchFamily="49" charset="0"/>
              </a:rPr>
              <a:t>)+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"</a:t>
            </a:r>
            <a:r>
              <a:rPr lang="en-US" altLang="en-US" dirty="0" err="1"/>
              <a:t>abc</a:t>
            </a:r>
            <a:r>
              <a:rPr lang="en-US" altLang="en-US" dirty="0"/>
              <a:t>", "</a:t>
            </a:r>
            <a:r>
              <a:rPr lang="en-US" altLang="en-US" dirty="0" err="1"/>
              <a:t>abcbc</a:t>
            </a:r>
            <a:r>
              <a:rPr lang="en-US" altLang="en-US" dirty="0"/>
              <a:t>", "</a:t>
            </a:r>
            <a:r>
              <a:rPr lang="en-US" altLang="en-US" dirty="0" err="1"/>
              <a:t>abcbcbc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Go</a:t>
            </a:r>
            <a:r>
              <a:rPr lang="en-US" altLang="en-US" u="sng" dirty="0" err="1">
                <a:latin typeface="Consolas" panose="020B0609020204030204" pitchFamily="49" charset="0"/>
              </a:rPr>
              <a:t>o+</a:t>
            </a:r>
            <a:r>
              <a:rPr lang="en-US" altLang="en-US" dirty="0" err="1">
                <a:latin typeface="Consolas" panose="020B0609020204030204" pitchFamily="49" charset="0"/>
              </a:rPr>
              <a:t>gle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"Google", "</a:t>
            </a:r>
            <a:r>
              <a:rPr lang="en-US" altLang="en-US" dirty="0" err="1"/>
              <a:t>Gooogle</a:t>
            </a:r>
            <a:r>
              <a:rPr lang="en-US" altLang="en-US" dirty="0"/>
              <a:t>", "</a:t>
            </a:r>
            <a:r>
              <a:rPr lang="en-US" altLang="en-US" dirty="0" err="1"/>
              <a:t>Goooogle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?</a:t>
            </a:r>
            <a:r>
              <a:rPr lang="en-US" altLang="en-US" dirty="0"/>
              <a:t>  means 0 or 1 occurrences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/Martin</a:t>
            </a:r>
            <a:r>
              <a:rPr lang="en-US" altLang="en-US" u="sng" dirty="0">
                <a:latin typeface="Consolas" panose="020B0609020204030204" pitchFamily="49" charset="0"/>
              </a:rPr>
              <a:t>a?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lines with "Martin" or "Martina"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/Dan</a:t>
            </a:r>
            <a:r>
              <a:rPr lang="en-US" altLang="en-US" u="sng" dirty="0">
                <a:latin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</a:rPr>
              <a:t>iel</a:t>
            </a:r>
            <a:r>
              <a:rPr lang="en-US" altLang="en-US" u="sng" dirty="0">
                <a:latin typeface="Consolas" panose="020B0609020204030204" pitchFamily="49" charset="0"/>
              </a:rPr>
              <a:t>)?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lines with "Dan" or "Daniel"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F6A29D1-2F40-4A2E-A60E-391BFC8A9C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More quantifiers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C11621-A89F-4A44-ADC2-8744063579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>
              <a:buNone/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	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{</a:t>
            </a:r>
            <a:r>
              <a:rPr lang="en-US" altLang="en-US" b="1" i="1">
                <a:latin typeface="Consolas" panose="020B0609020204030204" pitchFamily="49" charset="0"/>
              </a:rPr>
              <a:t>min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,</a:t>
            </a:r>
            <a:r>
              <a:rPr lang="en-US" altLang="en-US" b="1" i="1">
                <a:latin typeface="Consolas" panose="020B0609020204030204" pitchFamily="49" charset="0"/>
              </a:rPr>
              <a:t>max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}</a:t>
            </a:r>
            <a:r>
              <a:rPr lang="en-US" altLang="en-US"/>
              <a:t> means between </a:t>
            </a:r>
            <a:r>
              <a:rPr lang="en-US" altLang="en-US" b="1" i="1"/>
              <a:t>min </a:t>
            </a:r>
            <a:r>
              <a:rPr lang="en-US" altLang="en-US"/>
              <a:t>and </a:t>
            </a:r>
            <a:r>
              <a:rPr lang="en-US" altLang="en-US" b="1" i="1"/>
              <a:t>max </a:t>
            </a:r>
            <a:r>
              <a:rPr lang="en-US" altLang="en-US"/>
              <a:t>occurrences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/a(bc){2,4}/</a:t>
            </a:r>
            <a:r>
              <a:rPr lang="en-US" altLang="en-US"/>
              <a:t> matches lines that contain</a:t>
            </a:r>
            <a:br>
              <a:rPr lang="en-US" altLang="en-US"/>
            </a:br>
            <a:r>
              <a:rPr lang="en-US" altLang="en-US"/>
              <a:t>"abcbc", "abcbcbc", or "abcbcbcbc" </a:t>
            </a:r>
          </a:p>
          <a:p>
            <a:pPr marL="854075" lvl="1">
              <a:tabLst>
                <a:tab pos="2286000" algn="l"/>
              </a:tabLst>
            </a:pPr>
            <a:endParaRPr lang="en-US" altLang="en-US"/>
          </a:p>
          <a:p>
            <a:pPr marL="460375" indent="-231775">
              <a:tabLst>
                <a:tab pos="2286000" algn="l"/>
              </a:tabLst>
            </a:pPr>
            <a:r>
              <a:rPr lang="en-US" altLang="en-US" b="1" i="1"/>
              <a:t>min</a:t>
            </a:r>
            <a:r>
              <a:rPr lang="en-US" altLang="en-US"/>
              <a:t> or </a:t>
            </a:r>
            <a:r>
              <a:rPr lang="en-US" altLang="en-US" b="1" i="1"/>
              <a:t>max</a:t>
            </a:r>
            <a:r>
              <a:rPr lang="en-US" altLang="en-US"/>
              <a:t> may be omitted to specify any number 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{2,}	</a:t>
            </a:r>
            <a:r>
              <a:rPr lang="en-US" altLang="en-US"/>
              <a:t>2 or more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{,6}	</a:t>
            </a:r>
            <a:r>
              <a:rPr lang="en-US" altLang="en-US"/>
              <a:t>up to 6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{3}	</a:t>
            </a:r>
            <a:r>
              <a:rPr lang="en-US" altLang="en-US"/>
              <a:t>exactly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8D5D569-6097-41FF-9031-AD08B81134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Character sets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D851A22-6D1D-481E-818E-B2B7E261B0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[ ]</a:t>
            </a:r>
            <a:r>
              <a:rPr lang="en-US" altLang="en-US" dirty="0"/>
              <a:t> group characters into a </a:t>
            </a:r>
            <a:r>
              <a:rPr lang="en-US" altLang="en-US" i="1" dirty="0"/>
              <a:t>character set</a:t>
            </a:r>
            <a:r>
              <a:rPr lang="en-US" altLang="en-US" dirty="0"/>
              <a:t>; </a:t>
            </a:r>
            <a:br>
              <a:rPr lang="en-US" altLang="en-US" dirty="0"/>
            </a:br>
            <a:r>
              <a:rPr lang="en-US" altLang="en-US" dirty="0"/>
              <a:t>will match any single character from the set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</a:t>
            </a:r>
            <a:r>
              <a:rPr lang="en-US" altLang="en-US" dirty="0" err="1">
                <a:latin typeface="Consolas" panose="020B0609020204030204" pitchFamily="49" charset="0"/>
              </a:rPr>
              <a:t>bcd</a:t>
            </a:r>
            <a:r>
              <a:rPr lang="en-US" altLang="en-US" dirty="0">
                <a:latin typeface="Consolas" panose="020B0609020204030204" pitchFamily="49" charset="0"/>
              </a:rPr>
              <a:t>]art/</a:t>
            </a:r>
            <a:r>
              <a:rPr lang="en-US" altLang="en-US" dirty="0"/>
              <a:t> matches lines with "</a:t>
            </a:r>
            <a:r>
              <a:rPr lang="en-US" altLang="en-US" dirty="0" err="1"/>
              <a:t>bart</a:t>
            </a:r>
            <a:r>
              <a:rPr lang="en-US" altLang="en-US" dirty="0"/>
              <a:t>", "cart", and "dart" </a:t>
            </a:r>
          </a:p>
          <a:p>
            <a:pPr marL="854075" lvl="1"/>
            <a:r>
              <a:rPr lang="en-US" altLang="en-US" dirty="0"/>
              <a:t>equivalent to </a:t>
            </a:r>
            <a:r>
              <a:rPr lang="en-US" altLang="en-US" dirty="0">
                <a:latin typeface="Consolas" panose="020B0609020204030204" pitchFamily="49" charset="0"/>
              </a:rPr>
              <a:t>/(</a:t>
            </a:r>
            <a:r>
              <a:rPr lang="en-US" altLang="en-US" dirty="0" err="1">
                <a:latin typeface="Consolas" panose="020B0609020204030204" pitchFamily="49" charset="0"/>
              </a:rPr>
              <a:t>b|c|d</a:t>
            </a:r>
            <a:r>
              <a:rPr lang="en-US" altLang="en-US" dirty="0">
                <a:latin typeface="Consolas" panose="020B0609020204030204" pitchFamily="49" charset="0"/>
              </a:rPr>
              <a:t>)art/</a:t>
            </a:r>
            <a:r>
              <a:rPr lang="en-US" altLang="en-US" dirty="0"/>
              <a:t> but shorter </a:t>
            </a:r>
          </a:p>
          <a:p>
            <a:pPr marL="854075" lvl="1"/>
            <a:endParaRPr lang="en-US" altLang="en-US" dirty="0"/>
          </a:p>
          <a:p>
            <a:pPr marL="460375" indent="-231775"/>
            <a:r>
              <a:rPr lang="en-US" altLang="en-US" dirty="0"/>
              <a:t>inside </a:t>
            </a:r>
            <a:r>
              <a:rPr lang="en-US" altLang="en-US" dirty="0">
                <a:latin typeface="Consolas" panose="020B0609020204030204" pitchFamily="49" charset="0"/>
              </a:rPr>
              <a:t>[]</a:t>
            </a:r>
            <a:r>
              <a:rPr lang="en-US" altLang="en-US" dirty="0"/>
              <a:t>, most modifier keys act as normal characters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/what[.!*?]*/</a:t>
            </a:r>
            <a:r>
              <a:rPr lang="en-US" altLang="en-US" dirty="0"/>
              <a:t>  matches "what", "what.", "what!", "what?**!", ... </a:t>
            </a:r>
          </a:p>
          <a:p>
            <a:pPr marL="854075" lvl="1"/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C3F76F7-6839-4B19-AF73-752FD5AE38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4655574" cy="68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Character ranges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30896B7D-3C97-46AB-8AF6-352B0D49F1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825625"/>
            <a:ext cx="11216148" cy="4351338"/>
          </a:xfrm>
        </p:spPr>
        <p:txBody>
          <a:bodyPr>
            <a:normAutofit fontScale="92500"/>
          </a:bodyPr>
          <a:lstStyle/>
          <a:p>
            <a:pPr marL="460375" indent="-231775"/>
            <a:r>
              <a:rPr lang="en-US" altLang="en-US" dirty="0"/>
              <a:t>inside a character set, specify a range of chars with 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–(/[a-z][A-Z][0-9]/)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/[a-z]/</a:t>
            </a:r>
            <a:r>
              <a:rPr lang="en-US" altLang="en-US" dirty="0"/>
              <a:t> matches any lowercase letter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/[a-zA-Z0-9]/</a:t>
            </a:r>
            <a:r>
              <a:rPr lang="en-US" altLang="en-US" dirty="0"/>
              <a:t> matches any letter or digit </a:t>
            </a:r>
          </a:p>
          <a:p>
            <a:pPr marL="854075" lvl="1"/>
            <a:endParaRPr lang="en-US" altLang="en-US" dirty="0"/>
          </a:p>
          <a:p>
            <a:pPr marL="460375" indent="-231775"/>
            <a:r>
              <a:rPr lang="en-US" altLang="en-US" dirty="0"/>
              <a:t>an initial 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^</a:t>
            </a:r>
            <a:r>
              <a:rPr lang="en-US" altLang="en-US" dirty="0"/>
              <a:t> inside a character set negates it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/[^</a:t>
            </a:r>
            <a:r>
              <a:rPr lang="en-US" altLang="en-US" dirty="0" err="1">
                <a:latin typeface="Consolas" panose="020B0609020204030204" pitchFamily="49" charset="0"/>
              </a:rPr>
              <a:t>abcd</a:t>
            </a:r>
            <a:r>
              <a:rPr lang="en-US" altLang="en-US" dirty="0">
                <a:latin typeface="Consolas" panose="020B0609020204030204" pitchFamily="49" charset="0"/>
              </a:rPr>
              <a:t>]/</a:t>
            </a:r>
            <a:r>
              <a:rPr lang="en-US" altLang="en-US" dirty="0"/>
              <a:t> matches any character but a, b, c, or d </a:t>
            </a:r>
          </a:p>
          <a:p>
            <a:pPr marL="854075" lvl="1"/>
            <a:r>
              <a:rPr lang="en-US" altLang="en-US" dirty="0"/>
              <a:t>//%[^\n]</a:t>
            </a:r>
          </a:p>
          <a:p>
            <a:pPr marL="854075" lvl="1"/>
            <a:endParaRPr lang="en-US" altLang="en-US" dirty="0"/>
          </a:p>
          <a:p>
            <a:pPr marL="460375" indent="-231775"/>
            <a:r>
              <a:rPr lang="en-US" altLang="en-US" dirty="0"/>
              <a:t>inside a character set, </a:t>
            </a:r>
            <a:r>
              <a:rPr lang="en-US" altLang="en-US" dirty="0">
                <a:latin typeface="Consolas" panose="020B0609020204030204" pitchFamily="49" charset="0"/>
              </a:rPr>
              <a:t>-</a:t>
            </a:r>
            <a:r>
              <a:rPr lang="en-US" altLang="en-US" dirty="0"/>
              <a:t> must be escaped to be matched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/[\-+]?[0-9]+/</a:t>
            </a:r>
            <a:r>
              <a:rPr lang="en-US" altLang="en-US" dirty="0"/>
              <a:t> matches optional - or +, followed by at least one digit </a:t>
            </a:r>
          </a:p>
          <a:p>
            <a:pPr marL="914400" lvl="2" indent="0">
              <a:buNone/>
            </a:pPr>
            <a:r>
              <a:rPr lang="en-US" alt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43E0E-AF1E-47C2-B6DA-72EE7B1600F5}"/>
              </a:ext>
            </a:extLst>
          </p:cNvPr>
          <p:cNvSpPr txBox="1"/>
          <p:nvPr/>
        </p:nvSpPr>
        <p:spPr>
          <a:xfrm>
            <a:off x="7698659" y="235974"/>
            <a:ext cx="2816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vidyaN8</a:t>
            </a:r>
          </a:p>
          <a:p>
            <a:r>
              <a:rPr lang="en-IN" dirty="0"/>
              <a:t>vifyaNidhi9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1220094-CFCD-48B0-ACF2-85FD42E91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Built-in character ranges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90598A2-15DB-4AA4-BA45-D70937897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974" y="835742"/>
            <a:ext cx="11117826" cy="5341221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\b</a:t>
            </a:r>
            <a:r>
              <a:rPr lang="en-US" altLang="en-US" dirty="0"/>
              <a:t>	word boundary (e.g. spaces between words) “vita </a:t>
            </a:r>
            <a:r>
              <a:rPr lang="en-US" altLang="en-US" dirty="0" err="1"/>
              <a:t>nidhi</a:t>
            </a:r>
            <a:r>
              <a:rPr lang="en-US" altLang="en-US" dirty="0"/>
              <a:t>”.match(/\b/)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\B</a:t>
            </a:r>
            <a:r>
              <a:rPr lang="en-US" altLang="en-US" dirty="0"/>
              <a:t>	non-word boundary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\d</a:t>
            </a:r>
            <a:r>
              <a:rPr lang="en-US" altLang="en-US" dirty="0"/>
              <a:t>	any digit;  equivalent to </a:t>
            </a:r>
            <a:r>
              <a:rPr lang="en-US" altLang="en-US" dirty="0">
                <a:latin typeface="Consolas" panose="020B0609020204030204" pitchFamily="49" charset="0"/>
              </a:rPr>
              <a:t>[0-9]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          /^\d{1,2}\/\d{1,2}\/\d{2,4}$/</a:t>
            </a:r>
          </a:p>
          <a:p>
            <a:pPr lvl="5">
              <a:tabLst>
                <a:tab pos="1149350" algn="l"/>
              </a:tabLst>
            </a:pPr>
            <a:r>
              <a:rPr lang="en-US" altLang="en-US" dirty="0"/>
              <a:t>33/1/2020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\D</a:t>
            </a:r>
            <a:r>
              <a:rPr lang="en-US" altLang="en-US" dirty="0"/>
              <a:t>	any non-digit;  equivalent to </a:t>
            </a:r>
            <a:r>
              <a:rPr lang="en-US" altLang="en-US" dirty="0">
                <a:latin typeface="Consolas" panose="020B0609020204030204" pitchFamily="49" charset="0"/>
              </a:rPr>
              <a:t>[^0-9]</a:t>
            </a:r>
            <a:endParaRPr lang="en-US" altLang="en-US" dirty="0"/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\s</a:t>
            </a:r>
            <a:r>
              <a:rPr lang="en-US" altLang="en-US" dirty="0"/>
              <a:t>	any whitespace character;  </a:t>
            </a:r>
            <a:r>
              <a:rPr lang="en-US" altLang="en-US" dirty="0">
                <a:latin typeface="Consolas" panose="020B0609020204030204" pitchFamily="49" charset="0"/>
              </a:rPr>
              <a:t>[ \f\n\r\t\v...]</a:t>
            </a:r>
            <a:endParaRPr lang="en-US" altLang="en-US" dirty="0"/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\s</a:t>
            </a:r>
            <a:r>
              <a:rPr lang="en-US" altLang="en-US" dirty="0"/>
              <a:t>	any non-whitespace character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\w</a:t>
            </a:r>
            <a:r>
              <a:rPr lang="en-US" altLang="en-US" dirty="0"/>
              <a:t>	any word character;  </a:t>
            </a:r>
            <a:r>
              <a:rPr lang="en-US" altLang="en-US" dirty="0">
                <a:latin typeface="Consolas" panose="020B0609020204030204" pitchFamily="49" charset="0"/>
              </a:rPr>
              <a:t>[A-Za-z0-9_]</a:t>
            </a:r>
            <a:endParaRPr lang="en-US" altLang="en-US" dirty="0"/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\W</a:t>
            </a:r>
            <a:r>
              <a:rPr lang="en-US" altLang="en-US" dirty="0"/>
              <a:t>	any non-word character</a:t>
            </a:r>
          </a:p>
          <a:p>
            <a:pPr marL="0" indent="0">
              <a:buNone/>
              <a:tabLst>
                <a:tab pos="1149350" algn="l"/>
              </a:tabLst>
            </a:pPr>
            <a:endParaRPr lang="en-US" altLang="en-US" dirty="0"/>
          </a:p>
          <a:p>
            <a:pPr lvl="1"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/\w+\s+\w+/</a:t>
            </a:r>
            <a:r>
              <a:rPr lang="en-US" altLang="en-US" dirty="0"/>
              <a:t>   matches two space-separated words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EE6EE2D-13AA-42BC-AA31-565064E0B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Regex flags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8881D5B-4A71-421F-AE20-817F7AA33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 dirty="0"/>
              <a:t>	</a:t>
            </a:r>
            <a:r>
              <a:rPr lang="en-US" altLang="en-US" u="sng" dirty="0"/>
              <a:t>g</a:t>
            </a:r>
            <a:r>
              <a:rPr lang="en-US" altLang="en-US" dirty="0"/>
              <a:t>lobal; match/replace all occurrences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dirty="0" err="1">
                <a:solidFill>
                  <a:srgbClr val="6600CC"/>
                </a:solidFill>
                <a:latin typeface="Consolas" panose="020B0609020204030204" pitchFamily="49" charset="0"/>
              </a:rPr>
              <a:t>i</a:t>
            </a:r>
            <a:r>
              <a:rPr lang="en-US" altLang="en-US" dirty="0"/>
              <a:t>	case-</a:t>
            </a:r>
            <a:r>
              <a:rPr lang="en-US" altLang="en-US" u="sng" dirty="0"/>
              <a:t>i</a:t>
            </a:r>
            <a:r>
              <a:rPr lang="en-US" altLang="en-US" dirty="0"/>
              <a:t>nsensitive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m</a:t>
            </a:r>
            <a:r>
              <a:rPr lang="en-US" altLang="en-US" dirty="0"/>
              <a:t>	</a:t>
            </a:r>
            <a:r>
              <a:rPr lang="en-US" altLang="en-US" u="sng" dirty="0"/>
              <a:t>m</a:t>
            </a:r>
            <a:r>
              <a:rPr lang="en-US" altLang="en-US" dirty="0"/>
              <a:t>ulti-line mode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endParaRPr lang="en-US" altLang="en-US" dirty="0"/>
          </a:p>
          <a:p>
            <a:pPr eaLnBrk="1" hangingPunct="1"/>
            <a:r>
              <a:rPr lang="en-US" altLang="en-US" dirty="0"/>
              <a:t>flags can be combined: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gi</a:t>
            </a:r>
            <a:r>
              <a:rPr lang="en-US" altLang="en-US" dirty="0"/>
              <a:t> matches </a:t>
            </a:r>
            <a:r>
              <a:rPr lang="en-US" altLang="en-US" i="1" dirty="0"/>
              <a:t>all </a:t>
            </a:r>
            <a:r>
              <a:rPr lang="en-US" altLang="en-US" dirty="0"/>
              <a:t>occurrences of </a:t>
            </a:r>
            <a:r>
              <a:rPr lang="en-US" altLang="en-US" dirty="0" err="1"/>
              <a:t>abc</a:t>
            </a:r>
            <a:r>
              <a:rPr lang="en-US" altLang="en-US" dirty="0"/>
              <a:t>, </a:t>
            </a:r>
            <a:r>
              <a:rPr lang="en-US" altLang="en-US" dirty="0" err="1"/>
              <a:t>AbC</a:t>
            </a:r>
            <a:r>
              <a:rPr lang="en-US" altLang="en-US" dirty="0"/>
              <a:t>, </a:t>
            </a:r>
            <a:r>
              <a:rPr lang="en-US" altLang="en-US" dirty="0" err="1"/>
              <a:t>aBc</a:t>
            </a:r>
            <a:r>
              <a:rPr lang="en-US" altLang="en-US" dirty="0"/>
              <a:t>, ABC,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9F90478-5586-4567-9164-B9150820F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The RegExp object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BF68E11-9146-484E-A963-928B13110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  <a:tabLst>
                <a:tab pos="182880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		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b="1" i="1" dirty="0">
                <a:latin typeface="Consolas" panose="020B0609020204030204" pitchFamily="49" charset="0"/>
              </a:rPr>
              <a:t>string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  <a:br>
              <a:rPr lang="en-US" altLang="en-US" dirty="0">
                <a:latin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</a:rPr>
              <a:t>	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b="1" i="1" dirty="0">
                <a:latin typeface="Consolas" panose="020B0609020204030204" pitchFamily="49" charset="0"/>
              </a:rPr>
              <a:t>string</a:t>
            </a:r>
            <a:r>
              <a:rPr lang="en-US" altLang="en-US" dirty="0">
                <a:latin typeface="Consolas" panose="020B0609020204030204" pitchFamily="49" charset="0"/>
              </a:rPr>
              <a:t>, </a:t>
            </a:r>
            <a:r>
              <a:rPr lang="en-US" altLang="en-US" b="1" i="1" dirty="0">
                <a:latin typeface="Consolas" panose="020B0609020204030204" pitchFamily="49" charset="0"/>
              </a:rPr>
              <a:t>flags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</a:p>
          <a:p>
            <a:pPr>
              <a:buNone/>
              <a:tabLst>
                <a:tab pos="1828800" algn="l"/>
              </a:tabLst>
            </a:pPr>
            <a:endParaRPr lang="en-US" altLang="en-US" dirty="0">
              <a:latin typeface="Consolas" panose="020B0609020204030204" pitchFamily="49" charset="0"/>
            </a:endParaRPr>
          </a:p>
          <a:p>
            <a:pPr>
              <a:tabLst>
                <a:tab pos="1828800" algn="l"/>
              </a:tabLst>
            </a:pPr>
            <a:r>
              <a:rPr lang="en-US" altLang="en-US" dirty="0"/>
              <a:t>constructs a regex dynamically based on a given string</a:t>
            </a:r>
          </a:p>
          <a:p>
            <a:pPr lvl="1">
              <a:buNone/>
              <a:tabLst>
                <a:tab pos="182880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var r = /</a:t>
            </a:r>
            <a:r>
              <a:rPr lang="en-US" altLang="en-US" dirty="0" err="1">
                <a:latin typeface="Consolas" panose="020B0609020204030204" pitchFamily="49" charset="0"/>
              </a:rPr>
              <a:t>ab+c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gi</a:t>
            </a:r>
            <a:r>
              <a:rPr lang="en-US" altLang="en-US" dirty="0">
                <a:latin typeface="Consolas" panose="020B0609020204030204" pitchFamily="49" charset="0"/>
              </a:rPr>
              <a:t>;			</a:t>
            </a:r>
            <a:r>
              <a:rPr lang="en-US" altLang="en-US" dirty="0"/>
              <a:t>is equivalent to</a:t>
            </a:r>
          </a:p>
          <a:p>
            <a:pPr lvl="1">
              <a:buNone/>
              <a:tabLst>
                <a:tab pos="182880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var r = </a:t>
            </a:r>
            <a:r>
              <a:rPr lang="en-US" altLang="en-US" b="1" dirty="0">
                <a:latin typeface="Consolas" panose="020B0609020204030204" pitchFamily="49" charset="0"/>
              </a:rPr>
              <a:t>new </a:t>
            </a:r>
            <a:r>
              <a:rPr lang="en-US" altLang="en-US" b="1" dirty="0" err="1">
                <a:latin typeface="Consolas" panose="020B0609020204030204" pitchFamily="49" charset="0"/>
              </a:rPr>
              <a:t>RegExp</a:t>
            </a:r>
            <a:r>
              <a:rPr lang="en-US" altLang="en-US" b="1" dirty="0">
                <a:latin typeface="Consolas" panose="020B0609020204030204" pitchFamily="49" charset="0"/>
              </a:rPr>
              <a:t>("</a:t>
            </a:r>
            <a:r>
              <a:rPr lang="en-US" altLang="en-US" b="1" dirty="0" err="1">
                <a:latin typeface="Consolas" panose="020B0609020204030204" pitchFamily="49" charset="0"/>
              </a:rPr>
              <a:t>ab+c</a:t>
            </a:r>
            <a:r>
              <a:rPr lang="en-US" altLang="en-US" b="1" dirty="0">
                <a:latin typeface="Consolas" panose="020B0609020204030204" pitchFamily="49" charset="0"/>
              </a:rPr>
              <a:t>", "</a:t>
            </a:r>
            <a:r>
              <a:rPr lang="en-US" altLang="en-US" b="1" dirty="0" err="1">
                <a:latin typeface="Consolas" panose="020B0609020204030204" pitchFamily="49" charset="0"/>
              </a:rPr>
              <a:t>gi</a:t>
            </a:r>
            <a:r>
              <a:rPr lang="en-US" altLang="en-US" b="1" dirty="0">
                <a:latin typeface="Consolas" panose="020B0609020204030204" pitchFamily="49" charset="0"/>
              </a:rPr>
              <a:t>")</a:t>
            </a:r>
            <a:r>
              <a:rPr lang="en-US" altLang="en-US" dirty="0">
                <a:latin typeface="Consolas" panose="020B0609020204030204" pitchFamily="49" charset="0"/>
              </a:rPr>
              <a:t>;</a:t>
            </a:r>
            <a:r>
              <a:rPr lang="en-US" altLang="en-US" dirty="0"/>
              <a:t> </a:t>
            </a:r>
          </a:p>
          <a:p>
            <a:pPr lvl="1">
              <a:buNone/>
              <a:tabLst>
                <a:tab pos="182880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6777B9C-8E29-480F-B2E4-E3CB12EF8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Working with RegExp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EE28BFB-E464-41CE-82B2-19539FD41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 a regex literal, forward slashes must be \ escaped: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/http[s]?:</a:t>
            </a:r>
            <a:r>
              <a:rPr lang="en-US" alt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\/\/</a:t>
            </a:r>
            <a:r>
              <a:rPr lang="en-US" altLang="en-US" dirty="0">
                <a:latin typeface="Consolas" panose="020B0609020204030204" pitchFamily="49" charset="0"/>
              </a:rPr>
              <a:t>w+\.com/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https://v.com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 a </a:t>
            </a:r>
            <a:r>
              <a:rPr lang="en-US" altLang="en-US" dirty="0">
                <a:latin typeface="Consolas" panose="020B0609020204030204" pitchFamily="49" charset="0"/>
              </a:rPr>
              <a:t>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/>
              <a:t> object, the pattern is a string, so the usual escapes are necessary (quotes, backslashes, etc.):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>
                <a:latin typeface="Consolas" panose="020B0609020204030204" pitchFamily="49" charset="0"/>
              </a:rPr>
              <a:t>("")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Consolas" panose="020B06090202040302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DF393A0-2492-4FB3-8794-AD9EC9261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Regexes in editors and tools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007B596-9015-4686-821D-A4BBDFD41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Many editors allow regexes in their Find/Replace feature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many command-line Linux/Mac tools support regexes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900">
              <a:latin typeface="Consolas" panose="020B06090202040302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nsolas" panose="020B0609020204030204" pitchFamily="49" charset="0"/>
              </a:rPr>
              <a:t>grep -e "[pP]hone.*206[0-9]{7}" contacts.txt</a:t>
            </a:r>
            <a:endParaRPr lang="en-US" altLang="en-US"/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4183C046-99A2-4651-9ED3-447696643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222" y="2247900"/>
            <a:ext cx="70866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0F87-9A12-4A8E-B3AA-E496FD0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136268"/>
            <a:ext cx="10515600" cy="660146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RegExp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?= Quantifier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5C90E-79FA-4A5D-B29B-CE908E69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61830"/>
            <a:ext cx="5877232" cy="155667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Definition and Usage</a:t>
            </a:r>
          </a:p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?=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matches any string that is followed by a specific string 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Tip: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Use the 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?!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to match any string that is NOT followed by a specific string 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endParaRPr lang="en-US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endParaRPr lang="en-US" sz="1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O/P is</a:t>
            </a:r>
            <a:endParaRPr lang="en-US" sz="1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295DE-BD22-4548-AA68-FB983677CDB0}"/>
              </a:ext>
            </a:extLst>
          </p:cNvPr>
          <p:cNvSpPr txBox="1"/>
          <p:nvPr/>
        </p:nvSpPr>
        <p:spPr>
          <a:xfrm>
            <a:off x="6420465" y="796414"/>
            <a:ext cx="613532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&lt;p&gt;Click the button to global search for "is" followed by " all".&lt;/p&gt;</a:t>
            </a:r>
          </a:p>
          <a:p>
            <a:endParaRPr lang="en-IN" dirty="0"/>
          </a:p>
          <a:p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r>
              <a:rPr lang="en-IN" dirty="0"/>
              <a:t>  var str = "Is this all there is";</a:t>
            </a:r>
          </a:p>
          <a:p>
            <a:r>
              <a:rPr lang="en-IN" dirty="0"/>
              <a:t>  var patt1 = /is(?= all)/;</a:t>
            </a:r>
          </a:p>
          <a:p>
            <a:r>
              <a:rPr lang="en-IN" dirty="0"/>
              <a:t>  var result = </a:t>
            </a:r>
            <a:r>
              <a:rPr lang="en-IN" dirty="0" err="1"/>
              <a:t>str.match</a:t>
            </a:r>
            <a:r>
              <a:rPr lang="en-IN" dirty="0"/>
              <a:t>(patt1);</a:t>
            </a:r>
          </a:p>
          <a:p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result;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819864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C3E3-E8FE-41ED-8183-E278327F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054" y="109486"/>
            <a:ext cx="10036277" cy="637765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RegExp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?! Quantifier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6B63-C212-4A3B-95EE-D15A1CA5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1304515"/>
            <a:ext cx="4913671" cy="242191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Definition and Usage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?!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matches any string that is not followed by a specific string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Tip: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?=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to match any string that IS followed by a specific string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E1B99-FCC8-4742-B57C-28C01EDF7C71}"/>
              </a:ext>
            </a:extLst>
          </p:cNvPr>
          <p:cNvSpPr txBox="1"/>
          <p:nvPr/>
        </p:nvSpPr>
        <p:spPr>
          <a:xfrm>
            <a:off x="5515897" y="747251"/>
            <a:ext cx="61353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&lt;p&gt;Click the button to do a global, case insensitive search for "is" not followed by " all".&lt;/p&gt;</a:t>
            </a:r>
          </a:p>
          <a:p>
            <a:endParaRPr lang="en-IN" dirty="0"/>
          </a:p>
          <a:p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r>
              <a:rPr lang="en-IN" dirty="0"/>
              <a:t>  var str = "Is this all there is";</a:t>
            </a:r>
          </a:p>
          <a:p>
            <a:r>
              <a:rPr lang="en-IN" dirty="0"/>
              <a:t>  var patt1 = /is(?! all)/</a:t>
            </a:r>
            <a:r>
              <a:rPr lang="en-IN" dirty="0" err="1"/>
              <a:t>gi</a:t>
            </a:r>
            <a:r>
              <a:rPr lang="en-IN" dirty="0"/>
              <a:t>;</a:t>
            </a:r>
          </a:p>
          <a:p>
            <a:r>
              <a:rPr lang="en-IN" dirty="0"/>
              <a:t>  var result = </a:t>
            </a:r>
            <a:r>
              <a:rPr lang="en-IN" dirty="0" err="1"/>
              <a:t>str.match</a:t>
            </a:r>
            <a:r>
              <a:rPr lang="en-IN" dirty="0"/>
              <a:t>(patt1);</a:t>
            </a:r>
          </a:p>
          <a:p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result;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&lt;/body&gt;&lt;/html&gt;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90388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4694-3C79-4337-8787-113224108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179871"/>
            <a:ext cx="10872019" cy="4997092"/>
          </a:xfrm>
        </p:spPr>
        <p:txBody>
          <a:bodyPr/>
          <a:lstStyle/>
          <a:p>
            <a:r>
              <a:rPr lang="en-IN" dirty="0"/>
              <a:t>Mobile number</a:t>
            </a:r>
          </a:p>
          <a:p>
            <a:r>
              <a:rPr lang="en-IN" dirty="0"/>
              <a:t>User id  /^[A-Za-z]{3,15}$/</a:t>
            </a:r>
          </a:p>
          <a:p>
            <a:r>
              <a:rPr lang="en-IN" dirty="0"/>
              <a:t>Password </a:t>
            </a:r>
          </a:p>
          <a:p>
            <a:r>
              <a:rPr lang="en-IN" dirty="0"/>
              <a:t>Date    /^\d{2}\/\d{2}\/\d{2,4}$/</a:t>
            </a:r>
          </a:p>
          <a:p>
            <a:r>
              <a:rPr lang="en-IN" dirty="0" err="1"/>
              <a:t>Pincode</a:t>
            </a:r>
            <a:r>
              <a:rPr lang="en-IN" dirty="0"/>
              <a:t>  /^\d{6}$/</a:t>
            </a:r>
          </a:p>
        </p:txBody>
      </p:sp>
    </p:spTree>
    <p:extLst>
      <p:ext uri="{BB962C8B-B14F-4D97-AF65-F5344CB8AC3E}">
        <p14:creationId xmlns:p14="http://schemas.microsoft.com/office/powerpoint/2010/main" val="467186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E9E195-3C62-4FF9-8BBF-720CEA1EC07C}"/>
              </a:ext>
            </a:extLst>
          </p:cNvPr>
          <p:cNvSpPr txBox="1"/>
          <p:nvPr/>
        </p:nvSpPr>
        <p:spPr>
          <a:xfrm>
            <a:off x="452284" y="845574"/>
            <a:ext cx="84557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Firstname</a:t>
            </a:r>
            <a:r>
              <a:rPr lang="en-IN" dirty="0"/>
              <a:t>:  only letters (accept data after converting into small letters)(when user TYPE DISPLAY IN CAPITAL)</a:t>
            </a:r>
          </a:p>
          <a:p>
            <a:r>
              <a:rPr lang="en-IN" dirty="0" err="1"/>
              <a:t>Lastname</a:t>
            </a:r>
            <a:r>
              <a:rPr lang="en-IN" dirty="0"/>
              <a:t> : only letters (accept data after converting into small letters)(when user TYPE DISPLAY IN CAPITAL)</a:t>
            </a:r>
          </a:p>
          <a:p>
            <a:r>
              <a:rPr lang="en-IN" dirty="0" err="1"/>
              <a:t>UserId</a:t>
            </a:r>
            <a:r>
              <a:rPr lang="en-IN" dirty="0"/>
              <a:t> : </a:t>
            </a:r>
            <a:r>
              <a:rPr lang="en-IN" dirty="0" err="1"/>
              <a:t>minlength</a:t>
            </a:r>
            <a:r>
              <a:rPr lang="en-IN" dirty="0"/>
              <a:t> 3 max 15 combination of anything</a:t>
            </a:r>
          </a:p>
          <a:p>
            <a:r>
              <a:rPr lang="en-IN" dirty="0"/>
              <a:t>Password: min length=8 </a:t>
            </a:r>
            <a:r>
              <a:rPr lang="en-IN" dirty="0" err="1"/>
              <a:t>maxlength</a:t>
            </a:r>
            <a:r>
              <a:rPr lang="en-IN" dirty="0"/>
              <a:t>=16 [1 capital 1 lower 1 digit 1 symbol]</a:t>
            </a:r>
          </a:p>
          <a:p>
            <a:r>
              <a:rPr lang="en-IN" dirty="0" err="1"/>
              <a:t>ReenterPassword</a:t>
            </a:r>
            <a:r>
              <a:rPr lang="en-IN" dirty="0"/>
              <a:t> </a:t>
            </a:r>
            <a:r>
              <a:rPr lang="en-IN" dirty="0" err="1"/>
              <a:t>ReenterPassword</a:t>
            </a:r>
            <a:r>
              <a:rPr lang="en-IN" dirty="0"/>
              <a:t>==password[ ]</a:t>
            </a:r>
          </a:p>
          <a:p>
            <a:r>
              <a:rPr lang="en-IN" dirty="0"/>
              <a:t>Mobile: 10digit</a:t>
            </a:r>
          </a:p>
          <a:p>
            <a:r>
              <a:rPr lang="en-IN" dirty="0"/>
              <a:t>Address: minimum 10 max 15</a:t>
            </a:r>
          </a:p>
          <a:p>
            <a:r>
              <a:rPr lang="en-IN" dirty="0" err="1"/>
              <a:t>Pincode</a:t>
            </a:r>
            <a:r>
              <a:rPr lang="en-IN" dirty="0"/>
              <a:t>: 6 digit</a:t>
            </a:r>
          </a:p>
          <a:p>
            <a:r>
              <a:rPr lang="en-IN" dirty="0"/>
              <a:t>Email: </a:t>
            </a:r>
            <a:r>
              <a:rPr lang="en-IN"/>
              <a:t>email validation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816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2571-7CB2-DDB7-9697-2E355D20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93097"/>
            <a:ext cx="8873066" cy="795831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Email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6D6C1-3276-9D3D-E994-DDDDFC58E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4" y="1453092"/>
            <a:ext cx="10363199" cy="53234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b="1" i="0" dirty="0">
                <a:effectLst/>
                <a:latin typeface="ui-monospace"/>
              </a:rPr>
              <a:t>/^[a-zA-Z0-9._-]+@[a-zA-Z0-9.-]+\.[a-</a:t>
            </a:r>
            <a:r>
              <a:rPr lang="en-IN" b="1" i="0" dirty="0" err="1">
                <a:effectLst/>
                <a:latin typeface="ui-monospace"/>
              </a:rPr>
              <a:t>zA</a:t>
            </a:r>
            <a:r>
              <a:rPr lang="en-IN" b="1" i="0" dirty="0">
                <a:effectLst/>
                <a:latin typeface="ui-monospace"/>
              </a:rPr>
              <a:t>-Z]{2,3}$/;</a:t>
            </a: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DC5C85-4F56-7268-D891-FB178987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32" y="2574962"/>
            <a:ext cx="118956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^[a-zA-Z0-9._-]+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Ensures the username contains letters, numbers, dots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underscores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hyphens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Mandatory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[a-zA-Z0-9.-]+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Checks that the domain name has letters, numbers, dots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hyphens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\.[a-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-Z]{2,3}$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Restricts the top-level domain (TLD) to 2 or 3 letters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.net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.org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etc.).</a:t>
            </a:r>
          </a:p>
        </p:txBody>
      </p:sp>
    </p:spTree>
    <p:extLst>
      <p:ext uri="{BB962C8B-B14F-4D97-AF65-F5344CB8AC3E}">
        <p14:creationId xmlns:p14="http://schemas.microsoft.com/office/powerpoint/2010/main" val="2177505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28D8825-C8FC-0D05-69C4-3ABCB2F9E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33" y="997528"/>
            <a:ext cx="1142999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2.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urlPattern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/^(https?:\/\/)?([\da-z.-]+)\.([a-z.]{2,6})([/\w.-]*)*\/?$/;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 Unicode MS"/>
              </a:rPr>
              <a:t>https?:\/\/ → Optional http or https at the start.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 Unicode MS"/>
              </a:rPr>
              <a:t>([\da-z.-]+) → Matches domain name, including numbers and dots.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 Unicode MS"/>
              </a:rPr>
              <a:t>\.([a-z.]{2,6}) → Matches top-level domain (like .com, </a:t>
            </a:r>
            <a:r>
              <a:rPr lang="en-US" altLang="en-US" sz="2800" dirty="0" err="1">
                <a:latin typeface="Arial Unicode MS"/>
              </a:rPr>
              <a:t>.net</a:t>
            </a:r>
            <a:r>
              <a:rPr lang="en-US" altLang="en-US" sz="2800" dirty="0">
                <a:latin typeface="Arial Unicode MS"/>
              </a:rPr>
              <a:t>, .org).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 Unicode MS"/>
              </a:rPr>
              <a:t>([/\w.-]*)*\/? → Handles optional paths, query parameters, and fragments</a:t>
            </a:r>
            <a:r>
              <a:rPr lang="en-US" altLang="en-US" sz="1600" dirty="0">
                <a:latin typeface="Arial Unicode M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// Example usage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console.log(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validateURL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("https://www.example.com")); // true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console.log(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validateURL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("ftp://invalid-url.com")); // false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console.log(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validateURL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("http://sub.domain.org/path/to/page")); // true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console.log(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validateURL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("www.missing-protocol.com")); // false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208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B7A245-7EBA-58C3-9161-B322E1749FD8}"/>
              </a:ext>
            </a:extLst>
          </p:cNvPr>
          <p:cNvSpPr txBox="1"/>
          <p:nvPr/>
        </p:nvSpPr>
        <p:spPr>
          <a:xfrm>
            <a:off x="550333" y="939801"/>
            <a:ext cx="11184467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1-9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\/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1-9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0-2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\/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\d\d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3F99BE-74EE-8678-34A4-F7FC11005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33" y="1639724"/>
            <a:ext cx="1136226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part of your regular expression ensures valid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 values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0[1-9]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Matches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09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[12][0-9]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Matches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29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3[01]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Matches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31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2F828-C848-1EFB-E30B-A7CDFE8F395F}"/>
              </a:ext>
            </a:extLst>
          </p:cNvPr>
          <p:cNvSpPr txBox="1"/>
          <p:nvPr/>
        </p:nvSpPr>
        <p:spPr>
          <a:xfrm>
            <a:off x="457200" y="3270940"/>
            <a:ext cx="103801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0[1-9] → Matches months 01 to 09 (January to September)</a:t>
            </a:r>
          </a:p>
          <a:p>
            <a:r>
              <a:rPr lang="en-US" dirty="0"/>
              <a:t>1[0-2] → Matches months 10 to 12 (October to December)</a:t>
            </a:r>
          </a:p>
          <a:p>
            <a:endParaRPr lang="en-US" dirty="0"/>
          </a:p>
          <a:p>
            <a:r>
              <a:rPr lang="en-US" dirty="0"/>
              <a:t>This works well for general date validation, </a:t>
            </a:r>
          </a:p>
          <a:p>
            <a:endParaRPr lang="en-US" dirty="0"/>
          </a:p>
          <a:p>
            <a:r>
              <a:rPr lang="en-US" dirty="0"/>
              <a:t>but keep in </a:t>
            </a:r>
            <a:r>
              <a:rPr lang="en-US" dirty="0" err="1"/>
              <a:t>mind:It</a:t>
            </a:r>
            <a:r>
              <a:rPr lang="en-US" dirty="0"/>
              <a:t> does not check if the month corresponds correctly to the number of days (e.g., 31-04-2025 would still be valid).</a:t>
            </a:r>
          </a:p>
          <a:p>
            <a:r>
              <a:rPr lang="en-US" dirty="0"/>
              <a:t>Leap years aren’t accounted for (29-02-2023 would match even though 2023 isn't a leap year).</a:t>
            </a:r>
          </a:p>
          <a:p>
            <a:endParaRPr lang="en-US" dirty="0"/>
          </a:p>
          <a:p>
            <a:r>
              <a:rPr lang="en-US" dirty="0"/>
              <a:t>19|20 → Matches 19 or 20, which is intended for centuries (1900-1999 and 2000-2099).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631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210CAB-7A7F-3899-C41F-218C0E1B6BE7}"/>
              </a:ext>
            </a:extLst>
          </p:cNvPr>
          <p:cNvSpPr txBox="1"/>
          <p:nvPr/>
        </p:nvSpPr>
        <p:spPr>
          <a:xfrm>
            <a:off x="662516" y="1197919"/>
            <a:ext cx="10234083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0-2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0-5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\s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AM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E0CFB-F72E-3578-75ED-BA68C92702FF}"/>
              </a:ext>
            </a:extLst>
          </p:cNvPr>
          <p:cNvSpPr txBox="1"/>
          <p:nvPr/>
        </p:nvSpPr>
        <p:spPr>
          <a:xfrm>
            <a:off x="1094315" y="2242235"/>
            <a:ext cx="7270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0[0-9] → Matches hours 01 to 09.</a:t>
            </a:r>
          </a:p>
          <a:p>
            <a:r>
              <a:rPr lang="en-US" dirty="0"/>
              <a:t>1[0-2] → Matches hours 10 to 12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549D9-7929-D011-673B-43CE124DB33C}"/>
              </a:ext>
            </a:extLst>
          </p:cNvPr>
          <p:cNvSpPr txBox="1"/>
          <p:nvPr/>
        </p:nvSpPr>
        <p:spPr>
          <a:xfrm>
            <a:off x="1094315" y="3244334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([0-5][0-9]) → Correctly matches valid minute values (00 to 59).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C7F6C-3E07-F5CC-6498-2C050D7CAA86}"/>
              </a:ext>
            </a:extLst>
          </p:cNvPr>
          <p:cNvSpPr txBox="1"/>
          <p:nvPr/>
        </p:nvSpPr>
        <p:spPr>
          <a:xfrm>
            <a:off x="1094315" y="3969434"/>
            <a:ext cx="9209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s? → Optionally allows a space before AM or PM.</a:t>
            </a:r>
          </a:p>
          <a:p>
            <a:r>
              <a:rPr lang="en-US" dirty="0"/>
              <a:t>(AM|PM) → Matches either "AM" or "PM“</a:t>
            </a:r>
          </a:p>
          <a:p>
            <a:r>
              <a:rPr lang="en-US" dirty="0"/>
              <a:t>.$/ → Ensures the match is at the end of the string.</a:t>
            </a:r>
          </a:p>
          <a:p>
            <a:r>
              <a:rPr lang="en-US" dirty="0" err="1"/>
              <a:t>i</a:t>
            </a:r>
            <a:r>
              <a:rPr lang="en-US" dirty="0"/>
              <a:t> → Makes the match case-insensitive, allowing variations like am, </a:t>
            </a:r>
            <a:r>
              <a:rPr lang="en-US" dirty="0" err="1"/>
              <a:t>pM</a:t>
            </a:r>
            <a:r>
              <a:rPr lang="en-US" dirty="0"/>
              <a:t>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174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FB1A03-F744-41FD-401E-5A06B5F56CD9}"/>
              </a:ext>
            </a:extLst>
          </p:cNvPr>
          <p:cNvSpPr txBox="1"/>
          <p:nvPr/>
        </p:nvSpPr>
        <p:spPr>
          <a:xfrm>
            <a:off x="704850" y="2036001"/>
            <a:ext cx="9759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[a-zA-Z0-9._-] → Allows letters (A-Z, a-z), numbers (0-9), dots (.), underscores (_), and hyphens (-).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{3,16} → Enforces a minimum of 3 characters and a maximum of 16 characters.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D4372-FE1F-D434-BA93-367CB9BFBE46}"/>
              </a:ext>
            </a:extLst>
          </p:cNvPr>
          <p:cNvSpPr txBox="1"/>
          <p:nvPr/>
        </p:nvSpPr>
        <p:spPr>
          <a:xfrm>
            <a:off x="2000250" y="872820"/>
            <a:ext cx="6134100" cy="2863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usernamepattern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a-zA-Z0-9._-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{3,16}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183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EC8AC2-3074-06EF-9421-28C88F0D83B5}"/>
              </a:ext>
            </a:extLst>
          </p:cNvPr>
          <p:cNvSpPr txBox="1"/>
          <p:nvPr/>
        </p:nvSpPr>
        <p:spPr>
          <a:xfrm>
            <a:off x="1043515" y="1214852"/>
            <a:ext cx="10140951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l-P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passwordpattern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pl-PL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(?=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])(?=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])(?=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\d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a-zA-Z\d</a:t>
            </a:r>
            <a:r>
              <a:rPr lang="pl-PL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{8,}</a:t>
            </a:r>
            <a:r>
              <a:rPr lang="pl-PL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l-PL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l-P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pl-PL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AFA1F-1398-744B-919C-7D102972FE98}"/>
              </a:ext>
            </a:extLst>
          </p:cNvPr>
          <p:cNvSpPr txBox="1"/>
          <p:nvPr/>
        </p:nvSpPr>
        <p:spPr>
          <a:xfrm>
            <a:off x="908049" y="2228671"/>
            <a:ext cx="9251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(?=.*[a-z]) → Ensures at least one lowercase letter (a-z).</a:t>
            </a:r>
          </a:p>
          <a:p>
            <a:r>
              <a:rPr lang="en-US" dirty="0"/>
              <a:t>(?=.*[A-Z]) → Ensures at least one uppercase letter (A-Z).</a:t>
            </a:r>
          </a:p>
          <a:p>
            <a:r>
              <a:rPr lang="en-US" dirty="0"/>
              <a:t>(?=.*\d) → Ensures at least one digit (0-9).</a:t>
            </a:r>
          </a:p>
          <a:p>
            <a:r>
              <a:rPr lang="en-US" dirty="0"/>
              <a:t>[a-</a:t>
            </a:r>
            <a:r>
              <a:rPr lang="en-US" dirty="0" err="1"/>
              <a:t>zA</a:t>
            </a:r>
            <a:r>
              <a:rPr lang="en-US" dirty="0"/>
              <a:t>-Z\d]{8,} → Matches letters and digits, requiring a minimum length of 8 characters.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1B1B6-05A7-A05B-CB30-81AF3AFCE2C9}"/>
              </a:ext>
            </a:extLst>
          </p:cNvPr>
          <p:cNvSpPr txBox="1"/>
          <p:nvPr/>
        </p:nvSpPr>
        <p:spPr>
          <a:xfrm>
            <a:off x="908049" y="3954903"/>
            <a:ext cx="100562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Include Special Characters: If you want to allow symbols (@, $, !, *), </a:t>
            </a:r>
          </a:p>
          <a:p>
            <a:endParaRPr lang="en-US" dirty="0"/>
          </a:p>
          <a:p>
            <a:r>
              <a:rPr lang="en-US" dirty="0"/>
              <a:t>modify [a-</a:t>
            </a:r>
            <a:r>
              <a:rPr lang="en-US" dirty="0" err="1"/>
              <a:t>zA</a:t>
            </a:r>
            <a:r>
              <a:rPr lang="en-US" dirty="0"/>
              <a:t>-Z\d] to [a-</a:t>
            </a:r>
            <a:r>
              <a:rPr lang="en-US" dirty="0" err="1"/>
              <a:t>zA</a:t>
            </a:r>
            <a:r>
              <a:rPr lang="en-US" dirty="0"/>
              <a:t>-Z\d@$!%*?&amp;].</a:t>
            </a:r>
          </a:p>
          <a:p>
            <a:endParaRPr lang="en-US" dirty="0"/>
          </a:p>
          <a:p>
            <a:r>
              <a:rPr lang="en-US" dirty="0"/>
              <a:t>Require a Stronger Mix: You can enforce at least one special character and longer lengths.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279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751DF3-59DB-1D29-0B0F-C2AD0DBFB4A4}"/>
              </a:ext>
            </a:extLst>
          </p:cNvPr>
          <p:cNvSpPr txBox="1"/>
          <p:nvPr/>
        </p:nvSpPr>
        <p:spPr>
          <a:xfrm>
            <a:off x="1255183" y="799985"/>
            <a:ext cx="8684683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postalcodepattern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{5}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(?: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{4}</a:t>
            </a:r>
            <a:r>
              <a:rPr lang="en-IN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E2F21-B79E-ABEE-0B53-7B8176359417}"/>
              </a:ext>
            </a:extLst>
          </p:cNvPr>
          <p:cNvSpPr txBox="1"/>
          <p:nvPr/>
        </p:nvSpPr>
        <p:spPr>
          <a:xfrm>
            <a:off x="806450" y="1812835"/>
            <a:ext cx="10064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That regular expression is designed to validate U.S. postal codes (ZIP codes).Breakdown:</a:t>
            </a:r>
          </a:p>
          <a:p>
            <a:endParaRPr lang="en-IN" dirty="0"/>
          </a:p>
          <a:p>
            <a:r>
              <a:rPr lang="en-IN" dirty="0"/>
              <a:t>^[0-9]{5} → Ensures the first five digits (standard U.S. ZIP code format).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(?:-[0-9]{4})? → Allows an optional hyphen (-) followed by four extra digits (ZIP+4 format).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8318B-DDC9-71D7-8880-58B7A4988CEE}"/>
              </a:ext>
            </a:extLst>
          </p:cNvPr>
          <p:cNvSpPr txBox="1"/>
          <p:nvPr/>
        </p:nvSpPr>
        <p:spPr>
          <a:xfrm>
            <a:off x="950382" y="4118170"/>
            <a:ext cx="101494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</a:t>
            </a:r>
            <a:r>
              <a:rPr lang="en-IN" dirty="0" err="1"/>
              <a:t>validatePostalCode</a:t>
            </a:r>
            <a:r>
              <a:rPr lang="en-IN" dirty="0"/>
              <a:t>("12345")); // true ✅ (Standard ZIP)</a:t>
            </a:r>
          </a:p>
          <a:p>
            <a:r>
              <a:rPr lang="en-IN" dirty="0"/>
              <a:t>console.log(</a:t>
            </a:r>
            <a:r>
              <a:rPr lang="en-IN" dirty="0" err="1"/>
              <a:t>validatePostalCode</a:t>
            </a:r>
            <a:r>
              <a:rPr lang="en-IN" dirty="0"/>
              <a:t>("67890-1234")); // true ✅ (ZIP+4 format)</a:t>
            </a:r>
          </a:p>
          <a:p>
            <a:r>
              <a:rPr lang="en-IN" dirty="0"/>
              <a:t>console.log(</a:t>
            </a:r>
            <a:r>
              <a:rPr lang="en-IN" dirty="0" err="1"/>
              <a:t>validatePostalCode</a:t>
            </a:r>
            <a:r>
              <a:rPr lang="en-IN" dirty="0"/>
              <a:t>("1234")); // false ❌ (Too short)</a:t>
            </a:r>
          </a:p>
          <a:p>
            <a:r>
              <a:rPr lang="en-IN" dirty="0"/>
              <a:t>console.log(</a:t>
            </a:r>
            <a:r>
              <a:rPr lang="en-IN" dirty="0" err="1"/>
              <a:t>validatePostalCode</a:t>
            </a:r>
            <a:r>
              <a:rPr lang="en-IN" dirty="0"/>
              <a:t>("123456")); // false ❌ (Too long)</a:t>
            </a:r>
          </a:p>
          <a:p>
            <a:r>
              <a:rPr lang="en-IN" dirty="0"/>
              <a:t>console.log(</a:t>
            </a:r>
            <a:r>
              <a:rPr lang="en-IN" dirty="0" err="1"/>
              <a:t>validatePostalCode</a:t>
            </a:r>
            <a:r>
              <a:rPr lang="en-IN" dirty="0"/>
              <a:t>("12-345")); // false ❌ (Incorrect hyphen placement)</a:t>
            </a:r>
          </a:p>
        </p:txBody>
      </p:sp>
    </p:spTree>
    <p:extLst>
      <p:ext uri="{BB962C8B-B14F-4D97-AF65-F5344CB8AC3E}">
        <p14:creationId xmlns:p14="http://schemas.microsoft.com/office/powerpoint/2010/main" val="163057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3551</Words>
  <Application>Microsoft Office PowerPoint</Application>
  <PresentationFormat>Widescreen</PresentationFormat>
  <Paragraphs>452</Paragraphs>
  <Slides>34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Arial Unicode MS</vt:lpstr>
      <vt:lpstr>Calibri</vt:lpstr>
      <vt:lpstr>Calibri Light</vt:lpstr>
      <vt:lpstr>Cambria</vt:lpstr>
      <vt:lpstr>Consolas</vt:lpstr>
      <vt:lpstr>Segoe UI</vt:lpstr>
      <vt:lpstr>Trebuchet MS</vt:lpstr>
      <vt:lpstr>ui-monospace</vt:lpstr>
      <vt:lpstr>Verdana</vt:lpstr>
      <vt:lpstr>Wingdings</vt:lpstr>
      <vt:lpstr>Office Theme</vt:lpstr>
      <vt:lpstr>PowerPoint Presentation</vt:lpstr>
      <vt:lpstr>What is a Regular Expression?</vt:lpstr>
      <vt:lpstr>PowerPoint Presentation</vt:lpstr>
      <vt:lpstr>Regular expression is better and less coding</vt:lpstr>
      <vt:lpstr>There are situation where you want to check that particular character is there or not</vt:lpstr>
      <vt:lpstr>Validation</vt:lpstr>
      <vt:lpstr>String regexp methods</vt:lpstr>
      <vt:lpstr>The search(..) method</vt:lpstr>
      <vt:lpstr>The search(..) method</vt:lpstr>
      <vt:lpstr>Basic regexes</vt:lpstr>
      <vt:lpstr>Wildcards and anchors</vt:lpstr>
      <vt:lpstr>String match</vt:lpstr>
      <vt:lpstr>String replace</vt:lpstr>
      <vt:lpstr>Special characters</vt:lpstr>
      <vt:lpstr>Quantifiers:  * + ?</vt:lpstr>
      <vt:lpstr>More quantifiers</vt:lpstr>
      <vt:lpstr>Character sets</vt:lpstr>
      <vt:lpstr>Character ranges</vt:lpstr>
      <vt:lpstr>Built-in character ranges</vt:lpstr>
      <vt:lpstr>Regex flags</vt:lpstr>
      <vt:lpstr>The RegExp object</vt:lpstr>
      <vt:lpstr>Working with RegExp</vt:lpstr>
      <vt:lpstr>Regexes in editors and tools</vt:lpstr>
      <vt:lpstr>JavaScript RegExp ?= Quantifier</vt:lpstr>
      <vt:lpstr>JavaScript RegExp ?! Quantifier</vt:lpstr>
      <vt:lpstr>PowerPoint Presentation</vt:lpstr>
      <vt:lpstr>PowerPoint Presentation</vt:lpstr>
      <vt:lpstr>Email Validation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63</cp:revision>
  <dcterms:created xsi:type="dcterms:W3CDTF">2020-12-02T06:26:25Z</dcterms:created>
  <dcterms:modified xsi:type="dcterms:W3CDTF">2025-05-05T11:06:40Z</dcterms:modified>
</cp:coreProperties>
</file>