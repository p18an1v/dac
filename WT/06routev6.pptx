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sldIdLst>
    <p:sldId id="275" r:id="rId4"/>
    <p:sldId id="272" r:id="rId5"/>
    <p:sldId id="274" r:id="rId6"/>
    <p:sldId id="299" r:id="rId7"/>
    <p:sldId id="300" r:id="rId8"/>
    <p:sldId id="256" r:id="rId9"/>
    <p:sldId id="281" r:id="rId10"/>
    <p:sldId id="280" r:id="rId11"/>
    <p:sldId id="276" r:id="rId12"/>
    <p:sldId id="277" r:id="rId13"/>
    <p:sldId id="278" r:id="rId14"/>
    <p:sldId id="291" r:id="rId15"/>
    <p:sldId id="283" r:id="rId16"/>
    <p:sldId id="258" r:id="rId17"/>
    <p:sldId id="265" r:id="rId18"/>
    <p:sldId id="282" r:id="rId19"/>
    <p:sldId id="301" r:id="rId20"/>
    <p:sldId id="302" r:id="rId21"/>
    <p:sldId id="285" r:id="rId22"/>
    <p:sldId id="284" r:id="rId23"/>
    <p:sldId id="286" r:id="rId24"/>
    <p:sldId id="287" r:id="rId25"/>
    <p:sldId id="288" r:id="rId26"/>
    <p:sldId id="303" r:id="rId27"/>
    <p:sldId id="304" r:id="rId28"/>
    <p:sldId id="293" r:id="rId29"/>
    <p:sldId id="294" r:id="rId30"/>
    <p:sldId id="259" r:id="rId31"/>
    <p:sldId id="289" r:id="rId32"/>
    <p:sldId id="307" r:id="rId33"/>
    <p:sldId id="308" r:id="rId34"/>
    <p:sldId id="290" r:id="rId35"/>
    <p:sldId id="295" r:id="rId36"/>
    <p:sldId id="261" r:id="rId37"/>
    <p:sldId id="296" r:id="rId38"/>
    <p:sldId id="297" r:id="rId39"/>
    <p:sldId id="263" r:id="rId40"/>
    <p:sldId id="305" r:id="rId41"/>
    <p:sldId id="306" r:id="rId42"/>
    <p:sldId id="268" r:id="rId43"/>
    <p:sldId id="26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EAE82-D979-4BD0-A314-E018C28110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4C4E75-347E-4F4C-8C93-06B98D0D23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48664-FE9F-4EFF-9D44-70E96D3D8484}"/>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5" name="Footer Placeholder 4">
            <a:extLst>
              <a:ext uri="{FF2B5EF4-FFF2-40B4-BE49-F238E27FC236}">
                <a16:creationId xmlns:a16="http://schemas.microsoft.com/office/drawing/2014/main" id="{6D1411A8-8B14-4731-913E-5CFA258A91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20A5CB-275B-441A-990E-B27FD06BAA84}"/>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6066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D15D3-376E-491B-A6C4-8A8AF3AAA2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C64EDE-06FA-41DF-ACF1-ADE0855C7D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2D0A5B-6160-4B6B-97AD-58DD6273395F}"/>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5" name="Footer Placeholder 4">
            <a:extLst>
              <a:ext uri="{FF2B5EF4-FFF2-40B4-BE49-F238E27FC236}">
                <a16:creationId xmlns:a16="http://schemas.microsoft.com/office/drawing/2014/main" id="{A4FB379D-854B-49E7-BD3B-256DE7C74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4FBE1D-2E97-4B0E-85AE-D93313B6DE32}"/>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4116228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F4292-760B-48E7-897B-1CCABCD9E6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7C2CB8-A3CB-4FAD-AE9E-AEE4332262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EC8E-330B-451A-9008-21A47754A7C4}"/>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5" name="Footer Placeholder 4">
            <a:extLst>
              <a:ext uri="{FF2B5EF4-FFF2-40B4-BE49-F238E27FC236}">
                <a16:creationId xmlns:a16="http://schemas.microsoft.com/office/drawing/2014/main" id="{202EFDD9-E709-4407-B6A8-C0F8D97A7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263A8D-EE51-40B3-95DB-BEA7920CBA6C}"/>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4281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D5F95-6E8A-45D0-A486-27F544324B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103957-37AF-4ADB-8726-4242631C1E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EC93BA-CC79-40E0-BE32-26BCD29374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FDC0F2-96B7-4CA1-A2D1-0DBCE0BEBD19}"/>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6" name="Footer Placeholder 5">
            <a:extLst>
              <a:ext uri="{FF2B5EF4-FFF2-40B4-BE49-F238E27FC236}">
                <a16:creationId xmlns:a16="http://schemas.microsoft.com/office/drawing/2014/main" id="{A21694EE-D7A3-4819-83C1-7C2E366C5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A21CA4-2D0D-46D1-A05E-3E7A5948FA68}"/>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855239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73923-164E-4110-B7E5-ECC47CF30A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452155-F66E-477E-8D2F-E25792DFB7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B8E2CB-32B3-4142-97FE-6608C7F3B7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38481A-76E7-4459-8E4A-34B7B25FAC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92EDC1-9D52-4872-BCAA-4109CCFE54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E86575-75DB-4486-AC91-DE98A0ACA514}"/>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8" name="Footer Placeholder 7">
            <a:extLst>
              <a:ext uri="{FF2B5EF4-FFF2-40B4-BE49-F238E27FC236}">
                <a16:creationId xmlns:a16="http://schemas.microsoft.com/office/drawing/2014/main" id="{A58BEFCA-F770-4ACF-9E26-9F72CB53F3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690BDA-86AC-485D-93D9-6CE1B5993422}"/>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1895810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8DE9-20E5-4FFD-A99A-D03CA499C7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84D767-04B2-4A68-A83F-00907FB9641E}"/>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4" name="Footer Placeholder 3">
            <a:extLst>
              <a:ext uri="{FF2B5EF4-FFF2-40B4-BE49-F238E27FC236}">
                <a16:creationId xmlns:a16="http://schemas.microsoft.com/office/drawing/2014/main" id="{AD9D93BA-FFC0-433F-8B24-BAED751C4D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1BB4D3-D8A3-4F53-9995-E838D946204E}"/>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33062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6735F0-FF50-43C9-917A-5BF106525364}"/>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3" name="Footer Placeholder 2">
            <a:extLst>
              <a:ext uri="{FF2B5EF4-FFF2-40B4-BE49-F238E27FC236}">
                <a16:creationId xmlns:a16="http://schemas.microsoft.com/office/drawing/2014/main" id="{22F57978-5E59-499E-BC16-FEF11AA83B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95D959-9FB4-4BED-A49D-0B2365DF11CE}"/>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3115273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C1DA8-A4B0-45D1-AEE8-49046F4E3C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40A822-FD75-4A15-8C27-0AF9FA1C8E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DD8626-F86E-42EB-8912-B800CCE5D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2AB562-96E1-4C97-B91A-7F7448F106E4}"/>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6" name="Footer Placeholder 5">
            <a:extLst>
              <a:ext uri="{FF2B5EF4-FFF2-40B4-BE49-F238E27FC236}">
                <a16:creationId xmlns:a16="http://schemas.microsoft.com/office/drawing/2014/main" id="{21210BBF-3418-49E7-9523-E91E0801C7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70D39F-5E34-45EB-AFC7-A18A9E933C15}"/>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1198683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8276-509D-4A15-9E78-8885B5DF74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F079FE-9E96-418F-A5AE-FFA039BC0F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9B77DA3-124E-4BFA-92BB-3821872B0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AE8774-4ECE-41FD-A430-96E869D652AA}"/>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6" name="Footer Placeholder 5">
            <a:extLst>
              <a:ext uri="{FF2B5EF4-FFF2-40B4-BE49-F238E27FC236}">
                <a16:creationId xmlns:a16="http://schemas.microsoft.com/office/drawing/2014/main" id="{7AB9214A-7FE4-4557-BC0A-8A4051897A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CD65E8-2F24-4EB4-B53E-F7736591717F}"/>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1802535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6AC7A-CEC0-4411-81E1-76E133C06D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891708-5DD3-4A14-AFCD-92E7F34C9F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82E94E-4D70-4D6D-8566-F39BDD05C4E8}"/>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5" name="Footer Placeholder 4">
            <a:extLst>
              <a:ext uri="{FF2B5EF4-FFF2-40B4-BE49-F238E27FC236}">
                <a16:creationId xmlns:a16="http://schemas.microsoft.com/office/drawing/2014/main" id="{B85123DB-4E62-4AA7-B415-C341336BA4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C03301-F1A2-4236-9DB2-2C9674B0348B}"/>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24807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8FE5B-1E19-4DD6-B75F-9D0926D62F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3552F-1187-4C4E-97FB-65319C465A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E0481E-26E0-41F1-80F6-8BFB20D2AC9D}"/>
              </a:ext>
            </a:extLst>
          </p:cNvPr>
          <p:cNvSpPr>
            <a:spLocks noGrp="1"/>
          </p:cNvSpPr>
          <p:nvPr>
            <p:ph type="dt" sz="half" idx="10"/>
          </p:nvPr>
        </p:nvSpPr>
        <p:spPr/>
        <p:txBody>
          <a:bodyPr/>
          <a:lstStyle/>
          <a:p>
            <a:fld id="{269CB2EC-6EFE-420D-85A8-C10FA5405DF1}" type="datetimeFigureOut">
              <a:rPr lang="en-IN" smtClean="0"/>
              <a:t>09-12-2025</a:t>
            </a:fld>
            <a:endParaRPr lang="en-IN"/>
          </a:p>
        </p:txBody>
      </p:sp>
      <p:sp>
        <p:nvSpPr>
          <p:cNvPr id="5" name="Footer Placeholder 4">
            <a:extLst>
              <a:ext uri="{FF2B5EF4-FFF2-40B4-BE49-F238E27FC236}">
                <a16:creationId xmlns:a16="http://schemas.microsoft.com/office/drawing/2014/main" id="{FC8B2057-6097-4302-AB59-E931FC0396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8C3ECA-F01B-4505-87BE-72E924A4CF17}"/>
              </a:ext>
            </a:extLst>
          </p:cNvPr>
          <p:cNvSpPr>
            <a:spLocks noGrp="1"/>
          </p:cNvSpPr>
          <p:nvPr>
            <p:ph type="sldNum" sz="quarter" idx="12"/>
          </p:nvPr>
        </p:nvSpPr>
        <p:spPr/>
        <p:txBody>
          <a:bodyPr/>
          <a:lstStyle/>
          <a:p>
            <a:fld id="{59C22377-1360-4EC3-B619-94E70C70DC32}" type="slidenum">
              <a:rPr lang="en-IN" smtClean="0"/>
              <a:t>‹#›</a:t>
            </a:fld>
            <a:endParaRPr lang="en-IN"/>
          </a:p>
        </p:txBody>
      </p:sp>
    </p:spTree>
    <p:extLst>
      <p:ext uri="{BB962C8B-B14F-4D97-AF65-F5344CB8AC3E}">
        <p14:creationId xmlns:p14="http://schemas.microsoft.com/office/powerpoint/2010/main" val="3877478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1316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126107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924861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428411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66962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060137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980820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943768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7277406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229437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09-12-2025</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617138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F8A236D-810F-4D9F-82F0-F21AE8ABE5ED}"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29473867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A236D-810F-4D9F-82F0-F21AE8ABE5ED}"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209873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8A236D-810F-4D9F-82F0-F21AE8ABE5ED}"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7696041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8A236D-810F-4D9F-82F0-F21AE8ABE5ED}"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25844404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8A236D-810F-4D9F-82F0-F21AE8ABE5ED}"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97826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8A236D-810F-4D9F-82F0-F21AE8ABE5ED}"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5213756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236D-810F-4D9F-82F0-F21AE8ABE5ED}" type="datetimeFigureOut">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7323806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A236D-810F-4D9F-82F0-F21AE8ABE5ED}"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0818680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A236D-810F-4D9F-82F0-F21AE8ABE5ED}"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41439350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A236D-810F-4D9F-82F0-F21AE8ABE5ED}"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30449208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8A236D-810F-4D9F-82F0-F21AE8ABE5ED}"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12C9-CA2B-40F8-AC86-55785D0BDAAE}" type="slidenum">
              <a:rPr lang="en-US" smtClean="0"/>
              <a:t>‹#›</a:t>
            </a:fld>
            <a:endParaRPr lang="en-US"/>
          </a:p>
        </p:txBody>
      </p:sp>
    </p:spTree>
    <p:extLst>
      <p:ext uri="{BB962C8B-B14F-4D97-AF65-F5344CB8AC3E}">
        <p14:creationId xmlns:p14="http://schemas.microsoft.com/office/powerpoint/2010/main" val="1592880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45796-DF79-41D3-B0B2-F6D1603BD5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E5663-C250-43C5-B540-BE4AB96C6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8FDAE3-A31E-4284-A637-AC4DF69224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9CB2EC-6EFE-420D-85A8-C10FA5405DF1}" type="datetimeFigureOut">
              <a:rPr lang="en-IN" smtClean="0"/>
              <a:t>09-12-2025</a:t>
            </a:fld>
            <a:endParaRPr lang="en-IN"/>
          </a:p>
        </p:txBody>
      </p:sp>
      <p:sp>
        <p:nvSpPr>
          <p:cNvPr id="5" name="Footer Placeholder 4">
            <a:extLst>
              <a:ext uri="{FF2B5EF4-FFF2-40B4-BE49-F238E27FC236}">
                <a16:creationId xmlns:a16="http://schemas.microsoft.com/office/drawing/2014/main" id="{783CA8EA-B53E-4E47-A0B7-7D0DDBD43A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D73DA31-B913-4779-BE54-4EF86F2E95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22377-1360-4EC3-B619-94E70C70DC32}" type="slidenum">
              <a:rPr lang="en-IN" smtClean="0"/>
              <a:t>‹#›</a:t>
            </a:fld>
            <a:endParaRPr lang="en-IN"/>
          </a:p>
        </p:txBody>
      </p:sp>
    </p:spTree>
    <p:extLst>
      <p:ext uri="{BB962C8B-B14F-4D97-AF65-F5344CB8AC3E}">
        <p14:creationId xmlns:p14="http://schemas.microsoft.com/office/powerpoint/2010/main" val="539515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09-12-2025</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6844577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236D-810F-4D9F-82F0-F21AE8ABE5ED}" type="datetimeFigureOut">
              <a:rPr lang="en-US" smtClean="0"/>
              <a:t>12/9/2025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3812C9-CA2B-40F8-AC86-55785D0BDAAE}" type="slidenum">
              <a:rPr lang="en-US" smtClean="0"/>
              <a:t>‹#›</a:t>
            </a:fld>
            <a:endParaRPr lang="en-US"/>
          </a:p>
        </p:txBody>
      </p:sp>
    </p:spTree>
    <p:extLst>
      <p:ext uri="{BB962C8B-B14F-4D97-AF65-F5344CB8AC3E}">
        <p14:creationId xmlns:p14="http://schemas.microsoft.com/office/powerpoint/2010/main" val="2569456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localhost:3000/Contactus" TargetMode="External"/><Relationship Id="rId2" Type="http://schemas.openxmlformats.org/officeDocument/2006/relationships/hyperlink" Target="http://localhost:3000/Home" TargetMode="External"/><Relationship Id="rId1" Type="http://schemas.openxmlformats.org/officeDocument/2006/relationships/slideLayout" Target="../slideLayouts/slideLayout2.xml"/><Relationship Id="rId4" Type="http://schemas.openxmlformats.org/officeDocument/2006/relationships/hyperlink" Target="http://localhost:3000/Listproduc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reactrouter.com/en/main/components/rout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924175" y="35090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err="1">
                <a:ln>
                  <a:noFill/>
                </a:ln>
                <a:solidFill>
                  <a:prstClr val="black"/>
                </a:solidFill>
                <a:effectLst/>
                <a:uLnTx/>
                <a:uFillTx/>
                <a:latin typeface="Garamond" panose="02020404030301010803"/>
                <a:ea typeface="+mn-ea"/>
                <a:cs typeface="+mn-cs"/>
              </a:rPr>
              <a:t>Ketki</a:t>
            </a: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 Acharya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From: SM VITA ATC of CDAC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9769201036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prstClr val="black"/>
                </a:solidFill>
                <a:effectLst/>
                <a:uLnTx/>
                <a:uFillTx/>
                <a:latin typeface="Garamond" panose="02020404030301010803"/>
                <a:ea typeface="+mn-ea"/>
                <a:cs typeface="+mn-cs"/>
              </a:rPr>
              <a:t>ketkiacharya.net@gmail.com</a:t>
            </a:r>
          </a:p>
        </p:txBody>
      </p:sp>
      <p:sp>
        <p:nvSpPr>
          <p:cNvPr id="2" name="TextBox 1">
            <a:extLst>
              <a:ext uri="{FF2B5EF4-FFF2-40B4-BE49-F238E27FC236}">
                <a16:creationId xmlns:a16="http://schemas.microsoft.com/office/drawing/2014/main" id="{71F23579-AC9B-BDE0-432D-267776B3E94D}"/>
              </a:ext>
            </a:extLst>
          </p:cNvPr>
          <p:cNvSpPr txBox="1"/>
          <p:nvPr/>
        </p:nvSpPr>
        <p:spPr>
          <a:xfrm>
            <a:off x="4741682" y="2403835"/>
            <a:ext cx="233784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aramond" panose="02020404030301010803"/>
                <a:ea typeface="+mn-ea"/>
                <a:cs typeface="+mn-cs"/>
              </a:rPr>
              <a:t>REACT JS</a:t>
            </a:r>
            <a:endParaRPr kumimoji="0" lang="en-IN" sz="2400" b="1"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81E52-2EEA-443B-93BF-35B79047ADF8}"/>
              </a:ext>
            </a:extLst>
          </p:cNvPr>
          <p:cNvSpPr>
            <a:spLocks noGrp="1"/>
          </p:cNvSpPr>
          <p:nvPr>
            <p:ph type="title"/>
          </p:nvPr>
        </p:nvSpPr>
        <p:spPr>
          <a:xfrm>
            <a:off x="1248696" y="82601"/>
            <a:ext cx="9348019" cy="598436"/>
          </a:xfrm>
        </p:spPr>
        <p:txBody>
          <a:bodyPr>
            <a:normAutofit fontScale="90000"/>
          </a:bodyPr>
          <a:lstStyle/>
          <a:p>
            <a:r>
              <a:rPr lang="en-IN" dirty="0"/>
              <a:t>Routing</a:t>
            </a:r>
          </a:p>
        </p:txBody>
      </p:sp>
      <p:sp>
        <p:nvSpPr>
          <p:cNvPr id="3" name="Content Placeholder 2">
            <a:extLst>
              <a:ext uri="{FF2B5EF4-FFF2-40B4-BE49-F238E27FC236}">
                <a16:creationId xmlns:a16="http://schemas.microsoft.com/office/drawing/2014/main" id="{30484DF9-534C-4CF5-9E6A-A345AB4463C6}"/>
              </a:ext>
            </a:extLst>
          </p:cNvPr>
          <p:cNvSpPr>
            <a:spLocks noGrp="1"/>
          </p:cNvSpPr>
          <p:nvPr>
            <p:ph idx="1"/>
          </p:nvPr>
        </p:nvSpPr>
        <p:spPr>
          <a:xfrm>
            <a:off x="186813" y="786581"/>
            <a:ext cx="11562735" cy="2438400"/>
          </a:xfrm>
        </p:spPr>
        <p:txBody>
          <a:bodyPr>
            <a:normAutofit lnSpcReduction="10000"/>
          </a:bodyPr>
          <a:lstStyle/>
          <a:p>
            <a:r>
              <a:rPr lang="en-US" sz="1700" dirty="0"/>
              <a:t>we know that Components are the basic building blocks of our react applications. We will be developing multiple components as Part of working on any Project, like how we have created Employee Component, Department Component and Project Components. </a:t>
            </a:r>
          </a:p>
          <a:p>
            <a:r>
              <a:rPr lang="en-US" sz="1700" dirty="0"/>
              <a:t>When we create multiple components, we don’t show all these components together to the User. </a:t>
            </a:r>
          </a:p>
          <a:p>
            <a:r>
              <a:rPr lang="en-US" sz="1700" dirty="0"/>
              <a:t> we change what the user sees by showing or hiding portions of the display that correspond to particular components based on User Activities. </a:t>
            </a:r>
          </a:p>
          <a:p>
            <a:r>
              <a:rPr lang="en-US" sz="1700" dirty="0"/>
              <a:t>As like in this Example, we will show Employee Component when we are in Employee Tab, When we Click on Department Tab, we show the Contents of Department Component and When we Click on Project Tab, we will display the contents of Project Component. </a:t>
            </a:r>
          </a:p>
          <a:p>
            <a:endParaRPr lang="en-IN" dirty="0"/>
          </a:p>
        </p:txBody>
      </p:sp>
      <p:pic>
        <p:nvPicPr>
          <p:cNvPr id="5" name="Picture 4">
            <a:extLst>
              <a:ext uri="{FF2B5EF4-FFF2-40B4-BE49-F238E27FC236}">
                <a16:creationId xmlns:a16="http://schemas.microsoft.com/office/drawing/2014/main" id="{5F3D5974-8D66-4C20-8D4C-DA87D554C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813" y="2996257"/>
            <a:ext cx="6106377" cy="3972479"/>
          </a:xfrm>
          <a:prstGeom prst="rect">
            <a:avLst/>
          </a:prstGeom>
        </p:spPr>
      </p:pic>
      <p:sp>
        <p:nvSpPr>
          <p:cNvPr id="7" name="TextBox 6">
            <a:extLst>
              <a:ext uri="{FF2B5EF4-FFF2-40B4-BE49-F238E27FC236}">
                <a16:creationId xmlns:a16="http://schemas.microsoft.com/office/drawing/2014/main" id="{CF7EE39B-4618-497F-9647-32120118C93D}"/>
              </a:ext>
            </a:extLst>
          </p:cNvPr>
          <p:cNvSpPr txBox="1"/>
          <p:nvPr/>
        </p:nvSpPr>
        <p:spPr>
          <a:xfrm>
            <a:off x="6410633" y="3330525"/>
            <a:ext cx="567321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To implement this kind of navigation within the single page of our application, we use the concept of Routing.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Routing enables navigation from one view to the next view (within the same page) as users perform different tasks.</a:t>
            </a:r>
          </a:p>
        </p:txBody>
      </p:sp>
    </p:spTree>
    <p:extLst>
      <p:ext uri="{BB962C8B-B14F-4D97-AF65-F5344CB8AC3E}">
        <p14:creationId xmlns:p14="http://schemas.microsoft.com/office/powerpoint/2010/main" val="748422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F69AC7-D096-C52E-7A29-532B07CD5937}"/>
              </a:ext>
            </a:extLst>
          </p:cNvPr>
          <p:cNvSpPr txBox="1"/>
          <p:nvPr/>
        </p:nvSpPr>
        <p:spPr>
          <a:xfrm>
            <a:off x="1269721" y="136378"/>
            <a:ext cx="1114425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 &lt;</a:t>
            </a:r>
            <a:r>
              <a:rPr kumimoji="0" lang="en-US" sz="1800" b="0" i="0" u="none" strike="noStrike" kern="1200" cap="none" spc="0" normalizeH="0" baseline="0" noProof="0" dirty="0" err="1">
                <a:ln>
                  <a:noFill/>
                </a:ln>
                <a:solidFill>
                  <a:prstClr val="black"/>
                </a:solidFill>
                <a:effectLst/>
                <a:highlight>
                  <a:srgbClr val="FFFF00"/>
                </a:highlight>
                <a:uLnTx/>
                <a:uFillTx/>
                <a:latin typeface="Garamond" panose="02020404030301010803"/>
                <a:ea typeface="+mn-ea"/>
                <a:cs typeface="+mn-cs"/>
              </a:rPr>
              <a:t>BrowserRouter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stores the current location in the browser's address bar using clean URLs and navigates using the browser's </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built-in history stack</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7" name="TextBox 6">
            <a:extLst>
              <a:ext uri="{FF2B5EF4-FFF2-40B4-BE49-F238E27FC236}">
                <a16:creationId xmlns:a16="http://schemas.microsoft.com/office/drawing/2014/main" id="{F6BB87BF-0E33-8EAE-3326-3ACA94CDFB03}"/>
              </a:ext>
            </a:extLst>
          </p:cNvPr>
          <p:cNvSpPr txBox="1"/>
          <p:nvPr/>
        </p:nvSpPr>
        <p:spPr>
          <a:xfrm>
            <a:off x="226109" y="890526"/>
            <a:ext cx="11144249"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&lt;</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is the low-level interface that is shared by all router components (like &lt;</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BrowserRouter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and &lt;</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StaticRouter</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In terms of React, &lt;Router&gt; is a context provider that supplies routing information to the rest of the app.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You probably never need to render a &lt;Router&gt; manually. Instead, you should use one of the higher-level routers depending on your environment. You only ever need one router in a given app.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The &lt;Router </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basename</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prop may be used to make all routes and links in your app relative to a "base" portion of the URL pathname that they all share. This is useful when rendering only a portion of a larger app with React Router or when your app has multiple entry points. </a:t>
            </a:r>
            <a:r>
              <a:rPr kumimoji="0" lang="en-US" sz="1800" b="0" i="0" u="none" strike="noStrike" kern="1200" cap="none" spc="0" normalizeH="0" baseline="0" noProof="0" dirty="0" err="1">
                <a:ln>
                  <a:noFill/>
                </a:ln>
                <a:solidFill>
                  <a:prstClr val="black"/>
                </a:solidFill>
                <a:effectLst/>
                <a:uLnTx/>
                <a:uFillTx/>
                <a:latin typeface="Garamond" panose="02020404030301010803"/>
                <a:ea typeface="+mn-ea"/>
                <a:cs typeface="+mn-cs"/>
              </a:rPr>
              <a:t>Basenames</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 are not case-sensitive.</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9" name="TextBox 8">
            <a:extLst>
              <a:ext uri="{FF2B5EF4-FFF2-40B4-BE49-F238E27FC236}">
                <a16:creationId xmlns:a16="http://schemas.microsoft.com/office/drawing/2014/main" id="{A7432A0F-B333-2552-4316-88B2427E33DD}"/>
              </a:ext>
            </a:extLst>
          </p:cNvPr>
          <p:cNvSpPr txBox="1"/>
          <p:nvPr/>
        </p:nvSpPr>
        <p:spPr>
          <a:xfrm>
            <a:off x="166475" y="4158817"/>
            <a:ext cx="1099516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34343"/>
                </a:solidFill>
                <a:effectLst/>
                <a:highlight>
                  <a:srgbClr val="FFFF00"/>
                </a:highlight>
                <a:uLnTx/>
                <a:uFillTx/>
                <a:latin typeface="ui-sans-serif"/>
                <a:ea typeface="+mn-ea"/>
                <a:cs typeface="+mn-cs"/>
              </a:rPr>
              <a:t>Route</a:t>
            </a:r>
            <a:r>
              <a:rPr kumimoji="0" lang="en-US" sz="1800" b="0" i="0" u="none" strike="noStrike" kern="1200" cap="none" spc="0" normalizeH="0" baseline="0" noProof="0" dirty="0">
                <a:ln>
                  <a:noFill/>
                </a:ln>
                <a:solidFill>
                  <a:srgbClr val="434343"/>
                </a:solidFill>
                <a:effectLst/>
                <a:uLnTx/>
                <a:uFillTx/>
                <a:latin typeface="ui-sans-serif"/>
                <a:ea typeface="+mn-ea"/>
                <a:cs typeface="+mn-cs"/>
              </a:rPr>
              <a:t> are perhaps the most important part of a React Router app. They couple URL segments to components, data loading and data mutations.</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12" name="TextBox 11">
            <a:extLst>
              <a:ext uri="{FF2B5EF4-FFF2-40B4-BE49-F238E27FC236}">
                <a16:creationId xmlns:a16="http://schemas.microsoft.com/office/drawing/2014/main" id="{31911A4B-2482-1DA0-33DD-F4EC0FE8517A}"/>
              </a:ext>
            </a:extLst>
          </p:cNvPr>
          <p:cNvSpPr txBox="1"/>
          <p:nvPr/>
        </p:nvSpPr>
        <p:spPr>
          <a:xfrm>
            <a:off x="166475" y="3491367"/>
            <a:ext cx="1126351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&lt;Routes</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Rendered anywhere in the app, &lt;Routes&gt; will </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match a set of child routes from the current location</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15" name="TextBox 14">
            <a:extLst>
              <a:ext uri="{FF2B5EF4-FFF2-40B4-BE49-F238E27FC236}">
                <a16:creationId xmlns:a16="http://schemas.microsoft.com/office/drawing/2014/main" id="{F8C05E04-6AFD-B747-E806-5F5E118BE0CD}"/>
              </a:ext>
            </a:extLst>
          </p:cNvPr>
          <p:cNvSpPr txBox="1"/>
          <p:nvPr/>
        </p:nvSpPr>
        <p:spPr>
          <a:xfrm>
            <a:off x="166475" y="4891596"/>
            <a:ext cx="10731772"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An &lt;</a:t>
            </a:r>
            <a:r>
              <a:rPr kumimoji="0" lang="en-US" sz="1800" b="0" i="0" u="none" strike="noStrike" kern="1200" cap="none" spc="0" normalizeH="0" baseline="0" noProof="0" dirty="0">
                <a:ln>
                  <a:noFill/>
                </a:ln>
                <a:solidFill>
                  <a:prstClr val="black"/>
                </a:solidFill>
                <a:effectLst/>
                <a:highlight>
                  <a:srgbClr val="FFFF00"/>
                </a:highlight>
                <a:uLnTx/>
                <a:uFillTx/>
                <a:latin typeface="Garamond" panose="02020404030301010803"/>
                <a:ea typeface="+mn-ea"/>
                <a:cs typeface="+mn-cs"/>
              </a:rPr>
              <a:t>Outlet</a:t>
            </a:r>
            <a:r>
              <a:rPr kumimoji="0" lang="en-US" sz="1800" b="0" i="0" u="none" strike="noStrike" kern="1200" cap="none" spc="0" normalizeH="0" baseline="0" noProof="0" dirty="0">
                <a:ln>
                  <a:noFill/>
                </a:ln>
                <a:solidFill>
                  <a:prstClr val="black"/>
                </a:solidFill>
                <a:effectLst/>
                <a:uLnTx/>
                <a:uFillTx/>
                <a:latin typeface="Garamond" panose="02020404030301010803"/>
                <a:ea typeface="+mn-ea"/>
                <a:cs typeface="+mn-cs"/>
              </a:rPr>
              <a:t>&gt; should be used in parent route elements to render their child route elements. This allows nested UI to show up when child routes are rendered. If the parent route matched exactly, it will render a child index route or nothing if there is no index route.</a:t>
            </a:r>
            <a:endParaRPr kumimoji="0" lang="en-IN" sz="1800" b="0"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sp>
        <p:nvSpPr>
          <p:cNvPr id="5" name="TextBox 4">
            <a:extLst>
              <a:ext uri="{FF2B5EF4-FFF2-40B4-BE49-F238E27FC236}">
                <a16:creationId xmlns:a16="http://schemas.microsoft.com/office/drawing/2014/main" id="{0A0F9FE2-88AE-F06C-7DE8-864351FBEE49}"/>
              </a:ext>
            </a:extLst>
          </p:cNvPr>
          <p:cNvSpPr txBox="1"/>
          <p:nvPr/>
        </p:nvSpPr>
        <p:spPr>
          <a:xfrm>
            <a:off x="0" y="5814926"/>
            <a:ext cx="11382795" cy="923330"/>
          </a:xfrm>
          <a:prstGeom prst="rect">
            <a:avLst/>
          </a:prstGeom>
          <a:noFill/>
        </p:spPr>
        <p:txBody>
          <a:bodyPr wrap="square">
            <a:spAutoFit/>
          </a:bodyPr>
          <a:lstStyle/>
          <a:p>
            <a:r>
              <a:rPr lang="en-US" dirty="0"/>
              <a:t>A &lt;</a:t>
            </a:r>
            <a:r>
              <a:rPr lang="en-US" dirty="0">
                <a:highlight>
                  <a:srgbClr val="FFFF00"/>
                </a:highlight>
              </a:rPr>
              <a:t>Link</a:t>
            </a:r>
            <a:r>
              <a:rPr lang="en-US" dirty="0"/>
              <a:t>&gt; is an element that lets the user navigate to another page by clicking or tapping on it. In react-router-</a:t>
            </a:r>
            <a:r>
              <a:rPr lang="en-US" dirty="0" err="1"/>
              <a:t>dom</a:t>
            </a:r>
            <a:r>
              <a:rPr lang="en-US" dirty="0"/>
              <a:t>, a &lt;Link&gt; renders an accessible &lt;a&gt; element with a real </a:t>
            </a:r>
            <a:r>
              <a:rPr lang="en-US" dirty="0" err="1"/>
              <a:t>href</a:t>
            </a:r>
            <a:r>
              <a:rPr lang="en-US" dirty="0"/>
              <a:t> that points to the resource it's linking to. This means that things like right-clicking a &lt;Link&gt; work as you'd expect.</a:t>
            </a:r>
            <a:endParaRPr lang="en-IN" dirty="0"/>
          </a:p>
        </p:txBody>
      </p:sp>
    </p:spTree>
    <p:extLst>
      <p:ext uri="{BB962C8B-B14F-4D97-AF65-F5344CB8AC3E}">
        <p14:creationId xmlns:p14="http://schemas.microsoft.com/office/powerpoint/2010/main" val="2285215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3602DA-6708-B818-DE18-941828765B6E}"/>
              </a:ext>
            </a:extLst>
          </p:cNvPr>
          <p:cNvSpPr txBox="1"/>
          <p:nvPr/>
        </p:nvSpPr>
        <p:spPr>
          <a:xfrm>
            <a:off x="105189" y="675860"/>
            <a:ext cx="11791950" cy="3416320"/>
          </a:xfrm>
          <a:prstGeom prst="rect">
            <a:avLst/>
          </a:prstGeom>
          <a:noFill/>
        </p:spPr>
        <p:txBody>
          <a:bodyPr wrap="square">
            <a:spAutoFit/>
          </a:bodyPr>
          <a:lstStyle/>
          <a:p>
            <a:r>
              <a:rPr lang="en-US" dirty="0"/>
              <a:t>Natively, web pages are required to be linked (hyperlink) together for navigation. This navigation involves moving from one web page to another web page in the same domain (website) or a different domain on the web.</a:t>
            </a:r>
          </a:p>
          <a:p>
            <a:endParaRPr lang="en-US" dirty="0"/>
          </a:p>
          <a:p>
            <a:r>
              <a:rPr lang="en-US" dirty="0"/>
              <a:t>However, navigation on the web does not only involve moving from one web page to another but also moving from one section (hash) to another on the same web page.</a:t>
            </a:r>
          </a:p>
          <a:p>
            <a:endParaRPr lang="en-US" dirty="0"/>
          </a:p>
          <a:p>
            <a:r>
              <a:rPr lang="en-US" dirty="0"/>
              <a:t>Natively, navigating using the &lt;a&gt; tag requires the entire web page to reload. This might lead to slow navigation depending on the amount of content on the web page and other asynchronous request the browser has to do in other to fetch third-party resources like APIs.</a:t>
            </a:r>
          </a:p>
          <a:p>
            <a:endParaRPr lang="en-US" dirty="0"/>
          </a:p>
          <a:p>
            <a:r>
              <a:rPr lang="en-US" dirty="0"/>
              <a:t>The &lt;Link&gt; Component in React Router is built to handle routing (navigation) on the client side and prevent the web page from reloading for easy navigation.</a:t>
            </a:r>
          </a:p>
        </p:txBody>
      </p:sp>
      <p:sp>
        <p:nvSpPr>
          <p:cNvPr id="7" name="TextBox 6">
            <a:extLst>
              <a:ext uri="{FF2B5EF4-FFF2-40B4-BE49-F238E27FC236}">
                <a16:creationId xmlns:a16="http://schemas.microsoft.com/office/drawing/2014/main" id="{E9AD6D6D-76BF-69A2-CD3C-16CB12C6D8BE}"/>
              </a:ext>
            </a:extLst>
          </p:cNvPr>
          <p:cNvSpPr txBox="1"/>
          <p:nvPr/>
        </p:nvSpPr>
        <p:spPr>
          <a:xfrm>
            <a:off x="4678847" y="0"/>
            <a:ext cx="2447510"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800" b="1" dirty="0"/>
              <a:t>&lt;Link&gt; </a:t>
            </a:r>
            <a:endParaRPr lang="en-IN" sz="2800" b="1" dirty="0"/>
          </a:p>
        </p:txBody>
      </p:sp>
    </p:spTree>
    <p:extLst>
      <p:ext uri="{BB962C8B-B14F-4D97-AF65-F5344CB8AC3E}">
        <p14:creationId xmlns:p14="http://schemas.microsoft.com/office/powerpoint/2010/main" val="1199628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83C483-1D94-F82B-D8A3-0CFC401ABE06}"/>
              </a:ext>
            </a:extLst>
          </p:cNvPr>
          <p:cNvSpPr txBox="1"/>
          <p:nvPr/>
        </p:nvSpPr>
        <p:spPr>
          <a:xfrm>
            <a:off x="156542" y="708995"/>
            <a:ext cx="5687667" cy="4247317"/>
          </a:xfrm>
          <a:prstGeom prst="rect">
            <a:avLst/>
          </a:prstGeom>
          <a:noFill/>
        </p:spPr>
        <p:txBody>
          <a:bodyPr wrap="square">
            <a:spAutoFit/>
          </a:bodyPr>
          <a:lstStyle/>
          <a:p>
            <a:r>
              <a:rPr lang="en-US" b="1" dirty="0"/>
              <a:t>Props</a:t>
            </a:r>
          </a:p>
          <a:p>
            <a:r>
              <a:rPr lang="en-US" dirty="0"/>
              <a:t>Props in react are referred to as properties, the &lt;Link&gt; Component comes with some defined props that can be applied to the &lt;Link&gt; Component the same way HTML attribute is applied to HTML tags.</a:t>
            </a:r>
          </a:p>
          <a:p>
            <a:endParaRPr lang="en-US" dirty="0"/>
          </a:p>
          <a:p>
            <a:r>
              <a:rPr lang="en-US" dirty="0"/>
              <a:t>This is very useful when you want to apply a specific function on how the &lt;Link&gt; Component should behave when a user clicks on it.</a:t>
            </a:r>
          </a:p>
          <a:p>
            <a:endParaRPr lang="en-US" dirty="0"/>
          </a:p>
          <a:p>
            <a:r>
              <a:rPr lang="en-US" dirty="0"/>
              <a:t>The &lt;Link&gt; Component props include.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reloadDocument</a:t>
            </a:r>
            <a:endParaRPr lang="en-IN" dirty="0"/>
          </a:p>
        </p:txBody>
      </p:sp>
      <p:sp>
        <p:nvSpPr>
          <p:cNvPr id="7" name="TextBox 6">
            <a:extLst>
              <a:ext uri="{FF2B5EF4-FFF2-40B4-BE49-F238E27FC236}">
                <a16:creationId xmlns:a16="http://schemas.microsoft.com/office/drawing/2014/main" id="{DA99A601-955F-09F0-215B-7E21A9C3D356}"/>
              </a:ext>
            </a:extLst>
          </p:cNvPr>
          <p:cNvSpPr txBox="1"/>
          <p:nvPr/>
        </p:nvSpPr>
        <p:spPr>
          <a:xfrm>
            <a:off x="6096000" y="461716"/>
            <a:ext cx="5766766" cy="2893100"/>
          </a:xfrm>
          <a:prstGeom prst="rect">
            <a:avLst/>
          </a:prstGeom>
          <a:noFill/>
        </p:spPr>
        <p:txBody>
          <a:bodyPr wrap="square">
            <a:spAutoFit/>
          </a:bodyPr>
          <a:lstStyle/>
          <a:p>
            <a:r>
              <a:rPr lang="en-US" sz="2000" b="1" dirty="0"/>
              <a:t>to</a:t>
            </a:r>
          </a:p>
          <a:p>
            <a:r>
              <a:rPr lang="en-US" dirty="0"/>
              <a:t>The to props (property) is equivalent to the </a:t>
            </a:r>
            <a:r>
              <a:rPr lang="en-US" dirty="0" err="1"/>
              <a:t>href</a:t>
            </a:r>
            <a:r>
              <a:rPr lang="en-US" dirty="0"/>
              <a:t> attribute of the &lt;a&gt; tag. The to props is used to handle routing, by specifying the relative or absolute path the &lt;Link&gt; should navigate to when a user clicks on it.</a:t>
            </a:r>
          </a:p>
          <a:p>
            <a:r>
              <a:rPr lang="en-US" dirty="0"/>
              <a:t>// Link Component</a:t>
            </a:r>
          </a:p>
          <a:p>
            <a:r>
              <a:rPr lang="en-US" dirty="0"/>
              <a:t>&lt;Link to="/"&gt;Home&lt;/Link&gt;</a:t>
            </a:r>
          </a:p>
          <a:p>
            <a:endParaRPr lang="en-US" dirty="0"/>
          </a:p>
          <a:p>
            <a:r>
              <a:rPr lang="en-US" dirty="0"/>
              <a:t>// HTML equivalent</a:t>
            </a:r>
          </a:p>
          <a:p>
            <a:r>
              <a:rPr lang="en-US" dirty="0"/>
              <a:t>&lt;a </a:t>
            </a:r>
            <a:r>
              <a:rPr lang="en-US" dirty="0" err="1"/>
              <a:t>href</a:t>
            </a:r>
            <a:r>
              <a:rPr lang="en-US" dirty="0"/>
              <a:t>="home"&gt;&lt;/a&gt;</a:t>
            </a:r>
            <a:endParaRPr lang="en-IN" dirty="0"/>
          </a:p>
        </p:txBody>
      </p:sp>
      <p:sp>
        <p:nvSpPr>
          <p:cNvPr id="9" name="TextBox 8">
            <a:extLst>
              <a:ext uri="{FF2B5EF4-FFF2-40B4-BE49-F238E27FC236}">
                <a16:creationId xmlns:a16="http://schemas.microsoft.com/office/drawing/2014/main" id="{9861D3A4-5DC2-3D32-8F38-3D9EA2150080}"/>
              </a:ext>
            </a:extLst>
          </p:cNvPr>
          <p:cNvSpPr txBox="1"/>
          <p:nvPr/>
        </p:nvSpPr>
        <p:spPr>
          <a:xfrm>
            <a:off x="5725354" y="3840681"/>
            <a:ext cx="6137412" cy="2308324"/>
          </a:xfrm>
          <a:prstGeom prst="rect">
            <a:avLst/>
          </a:prstGeom>
          <a:noFill/>
        </p:spPr>
        <p:txBody>
          <a:bodyPr wrap="square">
            <a:spAutoFit/>
          </a:bodyPr>
          <a:lstStyle/>
          <a:p>
            <a:r>
              <a:rPr lang="en-US" b="1" dirty="0" err="1"/>
              <a:t>reloadDocument</a:t>
            </a:r>
            <a:endParaRPr lang="en-US" b="1" dirty="0"/>
          </a:p>
          <a:p>
            <a:r>
              <a:rPr lang="en-US" dirty="0"/>
              <a:t>Just as the name implied, the </a:t>
            </a:r>
            <a:r>
              <a:rPr lang="en-US" dirty="0" err="1"/>
              <a:t>reloadDocument</a:t>
            </a:r>
            <a:r>
              <a:rPr lang="en-US" dirty="0"/>
              <a:t> props reload the entire web page when a user clicks on the &lt;Link&gt; Component. This is the native behavior of the &lt;a&gt; tag.</a:t>
            </a:r>
          </a:p>
          <a:p>
            <a:endParaRPr lang="en-US" dirty="0"/>
          </a:p>
          <a:p>
            <a:r>
              <a:rPr lang="en-US" dirty="0"/>
              <a:t>To specify the </a:t>
            </a:r>
            <a:r>
              <a:rPr lang="en-US" dirty="0" err="1"/>
              <a:t>reloadDocument</a:t>
            </a:r>
            <a:r>
              <a:rPr lang="en-US" dirty="0"/>
              <a:t> props apply it on the &lt;Link&gt; Component like so 👇</a:t>
            </a:r>
          </a:p>
          <a:p>
            <a:r>
              <a:rPr lang="en-US" dirty="0"/>
              <a:t>&lt;Link to="/" </a:t>
            </a:r>
            <a:r>
              <a:rPr lang="en-US" dirty="0" err="1"/>
              <a:t>reloadDocument</a:t>
            </a:r>
            <a:r>
              <a:rPr lang="en-US" dirty="0"/>
              <a:t>&gt; Home &lt;/Link&gt;</a:t>
            </a:r>
            <a:endParaRPr lang="en-IN" dirty="0"/>
          </a:p>
        </p:txBody>
      </p:sp>
    </p:spTree>
    <p:extLst>
      <p:ext uri="{BB962C8B-B14F-4D97-AF65-F5344CB8AC3E}">
        <p14:creationId xmlns:p14="http://schemas.microsoft.com/office/powerpoint/2010/main" val="1810787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7234C86-9C95-2C05-DF95-F70675479E61}"/>
              </a:ext>
            </a:extLst>
          </p:cNvPr>
          <p:cNvSpPr/>
          <p:nvPr/>
        </p:nvSpPr>
        <p:spPr>
          <a:xfrm>
            <a:off x="123334" y="1896272"/>
            <a:ext cx="4267985" cy="27158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390C70B-A0EB-C728-4632-2B7177EF39C7}"/>
              </a:ext>
            </a:extLst>
          </p:cNvPr>
          <p:cNvSpPr txBox="1"/>
          <p:nvPr/>
        </p:nvSpPr>
        <p:spPr>
          <a:xfrm>
            <a:off x="3876774" y="132948"/>
            <a:ext cx="32789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err="1"/>
              <a:t>npm</a:t>
            </a:r>
            <a:r>
              <a:rPr lang="en-IN" dirty="0"/>
              <a:t> install react-router-dom@6</a:t>
            </a:r>
          </a:p>
        </p:txBody>
      </p:sp>
      <p:sp>
        <p:nvSpPr>
          <p:cNvPr id="4" name="TextBox 3">
            <a:extLst>
              <a:ext uri="{FF2B5EF4-FFF2-40B4-BE49-F238E27FC236}">
                <a16:creationId xmlns:a16="http://schemas.microsoft.com/office/drawing/2014/main" id="{535D0FF0-5AFE-605A-E35A-721AA865534F}"/>
              </a:ext>
            </a:extLst>
          </p:cNvPr>
          <p:cNvSpPr txBox="1"/>
          <p:nvPr/>
        </p:nvSpPr>
        <p:spPr>
          <a:xfrm>
            <a:off x="123334" y="1343660"/>
            <a:ext cx="4786459" cy="369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buFont typeface="Arial" panose="020B0604020202020204" pitchFamily="34" charset="0"/>
              <a:buChar char="•"/>
            </a:pPr>
            <a:r>
              <a:rPr lang="en-IN" dirty="0">
                <a:hlinkClick r:id="rId2"/>
              </a:rPr>
              <a:t>Home</a:t>
            </a:r>
            <a:r>
              <a:rPr lang="en-IN" dirty="0"/>
              <a:t>        </a:t>
            </a:r>
            <a:r>
              <a:rPr lang="en-IN" dirty="0" err="1">
                <a:hlinkClick r:id="rId3"/>
              </a:rPr>
              <a:t>Contactus</a:t>
            </a:r>
            <a:r>
              <a:rPr lang="en-IN" dirty="0"/>
              <a:t>       </a:t>
            </a:r>
            <a:r>
              <a:rPr lang="en-IN" dirty="0" err="1">
                <a:hlinkClick r:id="rId4"/>
              </a:rPr>
              <a:t>Listproduct</a:t>
            </a:r>
            <a:r>
              <a:rPr lang="en-IN" dirty="0"/>
              <a:t> </a:t>
            </a:r>
          </a:p>
        </p:txBody>
      </p:sp>
      <p:cxnSp>
        <p:nvCxnSpPr>
          <p:cNvPr id="6" name="Straight Arrow Connector 5">
            <a:extLst>
              <a:ext uri="{FF2B5EF4-FFF2-40B4-BE49-F238E27FC236}">
                <a16:creationId xmlns:a16="http://schemas.microsoft.com/office/drawing/2014/main" id="{788BB252-6852-166A-BDD2-54883997D559}"/>
              </a:ext>
            </a:extLst>
          </p:cNvPr>
          <p:cNvCxnSpPr>
            <a:cxnSpLocks/>
            <a:stCxn id="4" idx="3"/>
            <a:endCxn id="8" idx="2"/>
          </p:cNvCxnSpPr>
          <p:nvPr/>
        </p:nvCxnSpPr>
        <p:spPr>
          <a:xfrm flipV="1">
            <a:off x="4909793" y="1305905"/>
            <a:ext cx="1186207" cy="22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0E286EB-E8AA-A7FE-8820-DC492069BACF}"/>
              </a:ext>
            </a:extLst>
          </p:cNvPr>
          <p:cNvSpPr txBox="1"/>
          <p:nvPr/>
        </p:nvSpPr>
        <p:spPr>
          <a:xfrm>
            <a:off x="5516252" y="936573"/>
            <a:ext cx="115949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App</a:t>
            </a:r>
            <a:endParaRPr lang="en-IN" dirty="0"/>
          </a:p>
        </p:txBody>
      </p:sp>
      <p:sp>
        <p:nvSpPr>
          <p:cNvPr id="9" name="TextBox 8">
            <a:extLst>
              <a:ext uri="{FF2B5EF4-FFF2-40B4-BE49-F238E27FC236}">
                <a16:creationId xmlns:a16="http://schemas.microsoft.com/office/drawing/2014/main" id="{E069D5D2-7A76-AAAE-39CE-C7A936CAA915}"/>
              </a:ext>
            </a:extLst>
          </p:cNvPr>
          <p:cNvSpPr txBox="1"/>
          <p:nvPr/>
        </p:nvSpPr>
        <p:spPr>
          <a:xfrm>
            <a:off x="204958" y="2050284"/>
            <a:ext cx="1432874" cy="369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Outlet</a:t>
            </a:r>
            <a:endParaRPr lang="en-IN" dirty="0"/>
          </a:p>
        </p:txBody>
      </p:sp>
      <p:sp>
        <p:nvSpPr>
          <p:cNvPr id="11" name="TextBox 10">
            <a:extLst>
              <a:ext uri="{FF2B5EF4-FFF2-40B4-BE49-F238E27FC236}">
                <a16:creationId xmlns:a16="http://schemas.microsoft.com/office/drawing/2014/main" id="{192EAE3E-4C86-4C35-D69A-1BDC839AEAD9}"/>
              </a:ext>
            </a:extLst>
          </p:cNvPr>
          <p:cNvSpPr txBox="1"/>
          <p:nvPr/>
        </p:nvSpPr>
        <p:spPr>
          <a:xfrm>
            <a:off x="3467886" y="1605448"/>
            <a:ext cx="4267985" cy="276999"/>
          </a:xfrm>
          <a:prstGeom prst="rect">
            <a:avLst/>
          </a:prstGeom>
          <a:solidFill>
            <a:schemeClr val="tx1"/>
          </a:solidFill>
        </p:spPr>
        <p:txBody>
          <a:bodyPr wrap="square">
            <a:spAutoFit/>
          </a:bodyPr>
          <a:lstStyle/>
          <a:p>
            <a:r>
              <a:rPr lang="en-US" sz="1200" b="0" dirty="0">
                <a:solidFill>
                  <a:srgbClr val="C586C0"/>
                </a:solidFill>
                <a:effectLst/>
                <a:latin typeface="Consolas" panose="020B0609020204030204" pitchFamily="49" charset="0"/>
              </a:rPr>
              <a:t>import</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Outlet</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Link</a:t>
            </a:r>
            <a:r>
              <a:rPr lang="en-US" sz="1200" b="0" dirty="0">
                <a:solidFill>
                  <a:srgbClr val="D4D4D4"/>
                </a:solidFill>
                <a:effectLst/>
                <a:latin typeface="Consolas" panose="020B0609020204030204" pitchFamily="49" charset="0"/>
              </a:rPr>
              <a:t> } </a:t>
            </a:r>
            <a:r>
              <a:rPr lang="en-US" sz="1200" b="0" dirty="0">
                <a:solidFill>
                  <a:srgbClr val="C586C0"/>
                </a:solidFill>
                <a:effectLst/>
                <a:latin typeface="Consolas" panose="020B0609020204030204" pitchFamily="49" charset="0"/>
              </a:rPr>
              <a:t>from</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"react-router-</a:t>
            </a:r>
            <a:r>
              <a:rPr lang="en-US" sz="1200" b="0" dirty="0" err="1">
                <a:solidFill>
                  <a:srgbClr val="CE9178"/>
                </a:solidFill>
                <a:effectLst/>
                <a:latin typeface="Consolas" panose="020B0609020204030204" pitchFamily="49" charset="0"/>
              </a:rPr>
              <a:t>dom</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6F39B929-976B-7E1D-D58A-CA5FB4E4A44D}"/>
              </a:ext>
            </a:extLst>
          </p:cNvPr>
          <p:cNvSpPr txBox="1"/>
          <p:nvPr/>
        </p:nvSpPr>
        <p:spPr>
          <a:xfrm>
            <a:off x="4909793" y="2136737"/>
            <a:ext cx="7227217" cy="3785652"/>
          </a:xfrm>
          <a:prstGeom prst="rect">
            <a:avLst/>
          </a:prstGeom>
          <a:solidFill>
            <a:schemeClr val="tx1"/>
          </a:solidFill>
        </p:spPr>
        <p:txBody>
          <a:bodyPr wrap="square">
            <a:spAutoFit/>
          </a:bodyPr>
          <a:lstStyle/>
          <a:p>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4FC1FF"/>
                </a:solidFill>
                <a:effectLst/>
                <a:latin typeface="Consolas" panose="020B0609020204030204" pitchFamily="49" charset="0"/>
              </a:rPr>
              <a:t>root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ReactDOM</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createRoot</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document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getElementById</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'root'</a:t>
            </a:r>
            <a:r>
              <a:rPr lang="en-IN" sz="1600" b="0" dirty="0">
                <a:solidFill>
                  <a:srgbClr val="D4D4D4"/>
                </a:solidFill>
                <a:effectLst/>
                <a:latin typeface="Consolas" panose="020B0609020204030204" pitchFamily="49" charset="0"/>
              </a:rPr>
              <a:t>));</a:t>
            </a:r>
          </a:p>
          <a:p>
            <a:r>
              <a:rPr lang="en-IN" sz="1600" b="0" dirty="0" err="1">
                <a:solidFill>
                  <a:srgbClr val="4FC1FF"/>
                </a:solidFill>
                <a:effectLst/>
                <a:latin typeface="Consolas" panose="020B0609020204030204" pitchFamily="49" charset="0"/>
              </a:rPr>
              <a:t>root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render</a:t>
            </a:r>
            <a:r>
              <a:rPr lang="en-IN" sz="1600" b="0" dirty="0">
                <a:solidFill>
                  <a:srgbClr val="D4D4D4"/>
                </a:solidFill>
                <a:effectLst/>
                <a:latin typeface="Consolas" panose="020B0609020204030204" pitchFamily="49" charset="0"/>
              </a:rPr>
              <a:t>(</a:t>
            </a:r>
          </a:p>
          <a:p>
            <a:endParaRPr lang="en-IN" sz="1600" b="0" dirty="0">
              <a:solidFill>
                <a:srgbClr val="808080"/>
              </a:solidFill>
              <a:effectLst/>
              <a:latin typeface="Consolas" panose="020B0609020204030204" pitchFamily="49" charset="0"/>
            </a:endParaRPr>
          </a:p>
          <a:p>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BrowserRouter</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Routes</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D4D4D4"/>
                </a:solidFill>
                <a:effectLst/>
                <a:highlight>
                  <a:srgbClr val="FF0000"/>
                </a:highlight>
                <a:latin typeface="Consolas" panose="020B0609020204030204" pitchFamily="49" charset="0"/>
              </a:rPr>
              <a:t>  </a:t>
            </a:r>
            <a:r>
              <a:rPr lang="en-IN" sz="1600" b="0" dirty="0">
                <a:solidFill>
                  <a:srgbClr val="808080"/>
                </a:solidFill>
                <a:effectLst/>
                <a:highlight>
                  <a:srgbClr val="FF0000"/>
                </a:highlight>
                <a:latin typeface="Consolas" panose="020B0609020204030204" pitchFamily="49" charset="0"/>
              </a:rPr>
              <a:t>&lt;</a:t>
            </a:r>
            <a:r>
              <a:rPr lang="en-IN" sz="1600" b="0" dirty="0">
                <a:solidFill>
                  <a:srgbClr val="4EC9B0"/>
                </a:solidFill>
                <a:effectLst/>
                <a:highlight>
                  <a:srgbClr val="FF0000"/>
                </a:highlight>
                <a:latin typeface="Consolas" panose="020B0609020204030204" pitchFamily="49" charset="0"/>
              </a:rPr>
              <a:t>Route</a:t>
            </a:r>
            <a:r>
              <a:rPr lang="en-IN" sz="1600" b="0" dirty="0">
                <a:solidFill>
                  <a:srgbClr val="D4D4D4"/>
                </a:solidFill>
                <a:effectLst/>
                <a:highlight>
                  <a:srgbClr val="FF0000"/>
                </a:highlight>
                <a:latin typeface="Consolas" panose="020B0609020204030204" pitchFamily="49" charset="0"/>
              </a:rPr>
              <a:t> </a:t>
            </a:r>
            <a:r>
              <a:rPr lang="en-IN" sz="1600" b="0" dirty="0">
                <a:solidFill>
                  <a:srgbClr val="9CDCFE"/>
                </a:solidFill>
                <a:effectLst/>
                <a:highlight>
                  <a:srgbClr val="FF0000"/>
                </a:highlight>
                <a:latin typeface="Consolas" panose="020B0609020204030204" pitchFamily="49" charset="0"/>
              </a:rPr>
              <a:t>path</a:t>
            </a:r>
            <a:r>
              <a:rPr lang="en-IN" sz="1600" b="0" dirty="0">
                <a:solidFill>
                  <a:srgbClr val="D4D4D4"/>
                </a:solidFill>
                <a:effectLst/>
                <a:highlight>
                  <a:srgbClr val="FF0000"/>
                </a:highlight>
                <a:latin typeface="Consolas" panose="020B0609020204030204" pitchFamily="49" charset="0"/>
              </a:rPr>
              <a:t>=</a:t>
            </a:r>
            <a:r>
              <a:rPr lang="en-IN" sz="1600" b="0" dirty="0">
                <a:solidFill>
                  <a:srgbClr val="CE9178"/>
                </a:solidFill>
                <a:effectLst/>
                <a:highlight>
                  <a:srgbClr val="FF0000"/>
                </a:highlight>
                <a:latin typeface="Consolas" panose="020B0609020204030204" pitchFamily="49" charset="0"/>
              </a:rPr>
              <a:t>"/"</a:t>
            </a:r>
            <a:r>
              <a:rPr lang="en-IN" sz="1600" b="0" dirty="0">
                <a:solidFill>
                  <a:srgbClr val="D4D4D4"/>
                </a:solidFill>
                <a:effectLst/>
                <a:highlight>
                  <a:srgbClr val="FF0000"/>
                </a:highlight>
                <a:latin typeface="Consolas" panose="020B0609020204030204" pitchFamily="49" charset="0"/>
              </a:rPr>
              <a:t> </a:t>
            </a:r>
            <a:r>
              <a:rPr lang="en-IN" sz="1600" b="0" dirty="0">
                <a:solidFill>
                  <a:srgbClr val="9CDCFE"/>
                </a:solidFill>
                <a:effectLst/>
                <a:highlight>
                  <a:srgbClr val="FF0000"/>
                </a:highlight>
                <a:latin typeface="Consolas" panose="020B0609020204030204" pitchFamily="49" charset="0"/>
              </a:rPr>
              <a:t>element</a:t>
            </a:r>
            <a:r>
              <a:rPr lang="en-IN" sz="1600" b="0" dirty="0">
                <a:solidFill>
                  <a:srgbClr val="D4D4D4"/>
                </a:solidFill>
                <a:effectLst/>
                <a:highlight>
                  <a:srgbClr val="FF0000"/>
                </a:highlight>
                <a:latin typeface="Consolas" panose="020B0609020204030204" pitchFamily="49" charset="0"/>
              </a:rPr>
              <a:t>=</a:t>
            </a:r>
            <a:r>
              <a:rPr lang="en-IN" sz="1600" b="0" dirty="0">
                <a:solidFill>
                  <a:srgbClr val="569CD6"/>
                </a:solidFill>
                <a:effectLst/>
                <a:highlight>
                  <a:srgbClr val="FF0000"/>
                </a:highlight>
                <a:latin typeface="Consolas" panose="020B0609020204030204" pitchFamily="49" charset="0"/>
              </a:rPr>
              <a:t>{</a:t>
            </a:r>
            <a:r>
              <a:rPr lang="en-IN" sz="1600" b="0" dirty="0">
                <a:solidFill>
                  <a:srgbClr val="808080"/>
                </a:solidFill>
                <a:effectLst/>
                <a:highlight>
                  <a:srgbClr val="FF0000"/>
                </a:highlight>
                <a:latin typeface="Consolas" panose="020B0609020204030204" pitchFamily="49" charset="0"/>
              </a:rPr>
              <a:t>&lt;</a:t>
            </a:r>
            <a:r>
              <a:rPr lang="en-IN" sz="1600" b="0" dirty="0">
                <a:solidFill>
                  <a:srgbClr val="4EC9B0"/>
                </a:solidFill>
                <a:effectLst/>
                <a:highlight>
                  <a:srgbClr val="FF0000"/>
                </a:highlight>
                <a:latin typeface="Consolas" panose="020B0609020204030204" pitchFamily="49" charset="0"/>
              </a:rPr>
              <a:t>App</a:t>
            </a:r>
            <a:r>
              <a:rPr lang="en-IN" sz="1600" b="0" dirty="0">
                <a:solidFill>
                  <a:srgbClr val="D4D4D4"/>
                </a:solidFill>
                <a:effectLst/>
                <a:highlight>
                  <a:srgbClr val="FF0000"/>
                </a:highlight>
                <a:latin typeface="Consolas" panose="020B0609020204030204" pitchFamily="49" charset="0"/>
              </a:rPr>
              <a:t> </a:t>
            </a:r>
            <a:r>
              <a:rPr lang="en-IN" sz="1600" b="0" dirty="0">
                <a:solidFill>
                  <a:srgbClr val="808080"/>
                </a:solidFill>
                <a:effectLst/>
                <a:highlight>
                  <a:srgbClr val="FF0000"/>
                </a:highlight>
                <a:latin typeface="Consolas" panose="020B0609020204030204" pitchFamily="49" charset="0"/>
              </a:rPr>
              <a:t>/&gt;</a:t>
            </a:r>
            <a:r>
              <a:rPr lang="en-IN" sz="1600" b="0" dirty="0">
                <a:solidFill>
                  <a:srgbClr val="569CD6"/>
                </a:solidFill>
                <a:effectLst/>
                <a:highlight>
                  <a:srgbClr val="FF0000"/>
                </a:highlight>
                <a:latin typeface="Consolas" panose="020B0609020204030204" pitchFamily="49" charset="0"/>
              </a:rPr>
              <a:t>}</a:t>
            </a:r>
            <a:r>
              <a:rPr lang="en-IN" sz="1600" b="0" dirty="0">
                <a:solidFill>
                  <a:srgbClr val="808080"/>
                </a:solidFill>
                <a:effectLst/>
                <a:highlight>
                  <a:srgbClr val="FF0000"/>
                </a:highlight>
                <a:latin typeface="Consolas" panose="020B0609020204030204" pitchFamily="49" charset="0"/>
              </a:rPr>
              <a:t>&gt;</a:t>
            </a:r>
            <a:endParaRPr lang="en-IN" sz="1600" b="0" dirty="0">
              <a:solidFill>
                <a:srgbClr val="D4D4D4"/>
              </a:solidFill>
              <a:effectLst/>
              <a:highlight>
                <a:srgbClr val="FF0000"/>
              </a:highligh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"Home"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Home</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Contactus</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Contactus</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Listproduct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Listproduct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"Example"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Example</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path</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element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Nopage</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r>
              <a:rPr lang="en-IN" sz="1600" b="0" dirty="0">
                <a:solidFill>
                  <a:srgbClr val="569CD6"/>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highlight>
                  <a:srgbClr val="FF0000"/>
                </a:highlight>
                <a:latin typeface="Consolas" panose="020B0609020204030204" pitchFamily="49" charset="0"/>
              </a:rPr>
              <a:t>&lt;/</a:t>
            </a:r>
            <a:r>
              <a:rPr lang="en-IN" sz="1600" b="0" dirty="0">
                <a:solidFill>
                  <a:srgbClr val="4EC9B0"/>
                </a:solidFill>
                <a:effectLst/>
                <a:highlight>
                  <a:srgbClr val="FF0000"/>
                </a:highlight>
                <a:latin typeface="Consolas" panose="020B0609020204030204" pitchFamily="49" charset="0"/>
              </a:rPr>
              <a:t>Route</a:t>
            </a:r>
            <a:r>
              <a:rPr lang="en-IN" sz="1600" b="0" dirty="0">
                <a:solidFill>
                  <a:srgbClr val="808080"/>
                </a:solidFill>
                <a:effectLst/>
                <a:highlight>
                  <a:srgbClr val="FF0000"/>
                </a:highlight>
                <a:latin typeface="Consolas" panose="020B0609020204030204" pitchFamily="49" charset="0"/>
              </a:rPr>
              <a:t>&gt;</a:t>
            </a:r>
            <a:endParaRPr lang="en-IN" sz="1600" b="0" dirty="0">
              <a:solidFill>
                <a:srgbClr val="D4D4D4"/>
              </a:solidFill>
              <a:effectLst/>
              <a:highlight>
                <a:srgbClr val="FF0000"/>
              </a:highligh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a:solidFill>
                  <a:srgbClr val="4EC9B0"/>
                </a:solidFill>
                <a:effectLst/>
                <a:latin typeface="Consolas" panose="020B0609020204030204" pitchFamily="49" charset="0"/>
              </a:rPr>
              <a:t>Routes</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a:p>
            <a:r>
              <a:rPr lang="en-IN" sz="1600" b="0" dirty="0">
                <a:solidFill>
                  <a:srgbClr val="D4D4D4"/>
                </a:solidFill>
                <a:effectLst/>
                <a:latin typeface="Consolas" panose="020B0609020204030204" pitchFamily="49" charset="0"/>
              </a:rPr>
              <a:t>    </a:t>
            </a:r>
            <a:r>
              <a:rPr lang="en-IN" sz="1600" b="0" dirty="0">
                <a:solidFill>
                  <a:srgbClr val="808080"/>
                </a:solidFill>
                <a:effectLst/>
                <a:latin typeface="Consolas" panose="020B0609020204030204" pitchFamily="49" charset="0"/>
              </a:rPr>
              <a:t>&lt;/</a:t>
            </a:r>
            <a:r>
              <a:rPr lang="en-IN" sz="1600" b="0" dirty="0" err="1">
                <a:solidFill>
                  <a:srgbClr val="4EC9B0"/>
                </a:solidFill>
                <a:effectLst/>
                <a:latin typeface="Consolas" panose="020B0609020204030204" pitchFamily="49" charset="0"/>
              </a:rPr>
              <a:t>BrowserRouter</a:t>
            </a:r>
            <a:r>
              <a:rPr lang="en-IN" sz="1600" b="0" dirty="0">
                <a:solidFill>
                  <a:srgbClr val="808080"/>
                </a:solidFill>
                <a:effectLst/>
                <a:latin typeface="Consolas" panose="020B0609020204030204" pitchFamily="49" charset="0"/>
              </a:rPr>
              <a:t>&gt;</a:t>
            </a:r>
            <a:endParaRPr lang="en-IN" sz="1600" b="0" dirty="0">
              <a:solidFill>
                <a:srgbClr val="D4D4D4"/>
              </a:solidFill>
              <a:effectLst/>
              <a:latin typeface="Consolas" panose="020B0609020204030204" pitchFamily="49" charset="0"/>
            </a:endParaRPr>
          </a:p>
        </p:txBody>
      </p:sp>
      <p:sp>
        <p:nvSpPr>
          <p:cNvPr id="18" name="TextBox 17">
            <a:extLst>
              <a:ext uri="{FF2B5EF4-FFF2-40B4-BE49-F238E27FC236}">
                <a16:creationId xmlns:a16="http://schemas.microsoft.com/office/drawing/2014/main" id="{7F50B988-AE68-9638-7A3C-F651ECB55C7D}"/>
              </a:ext>
            </a:extLst>
          </p:cNvPr>
          <p:cNvSpPr txBox="1"/>
          <p:nvPr/>
        </p:nvSpPr>
        <p:spPr>
          <a:xfrm>
            <a:off x="5400775" y="6207456"/>
            <a:ext cx="6740164" cy="307777"/>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BrowserRouter</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Routes</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Route</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"react-router-</a:t>
            </a:r>
            <a:r>
              <a:rPr lang="en-IN" sz="1400" b="0" dirty="0" err="1">
                <a:solidFill>
                  <a:srgbClr val="CE9178"/>
                </a:solidFill>
                <a:effectLst/>
                <a:latin typeface="Consolas" panose="020B0609020204030204" pitchFamily="49" charset="0"/>
              </a:rPr>
              <a:t>dom</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p:txBody>
      </p:sp>
      <p:sp>
        <p:nvSpPr>
          <p:cNvPr id="2" name="TextBox 1">
            <a:extLst>
              <a:ext uri="{FF2B5EF4-FFF2-40B4-BE49-F238E27FC236}">
                <a16:creationId xmlns:a16="http://schemas.microsoft.com/office/drawing/2014/main" id="{7D38F337-6F85-9826-1BC1-2249CCD5057B}"/>
              </a:ext>
            </a:extLst>
          </p:cNvPr>
          <p:cNvSpPr txBox="1"/>
          <p:nvPr/>
        </p:nvSpPr>
        <p:spPr>
          <a:xfrm>
            <a:off x="341647" y="988154"/>
            <a:ext cx="115949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t>Root</a:t>
            </a:r>
            <a:endParaRPr lang="en-IN" dirty="0"/>
          </a:p>
        </p:txBody>
      </p:sp>
      <p:cxnSp>
        <p:nvCxnSpPr>
          <p:cNvPr id="5" name="Straight Arrow Connector 4">
            <a:extLst>
              <a:ext uri="{FF2B5EF4-FFF2-40B4-BE49-F238E27FC236}">
                <a16:creationId xmlns:a16="http://schemas.microsoft.com/office/drawing/2014/main" id="{8F27D2AF-250E-5539-0AF3-D4F3CC9E3853}"/>
              </a:ext>
            </a:extLst>
          </p:cNvPr>
          <p:cNvCxnSpPr>
            <a:cxnSpLocks/>
            <a:endCxn id="10" idx="2"/>
          </p:cNvCxnSpPr>
          <p:nvPr/>
        </p:nvCxnSpPr>
        <p:spPr>
          <a:xfrm flipV="1">
            <a:off x="8898191" y="1851670"/>
            <a:ext cx="1186207" cy="22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917AF97-8E97-A96B-77AD-3E3666EFD24C}"/>
              </a:ext>
            </a:extLst>
          </p:cNvPr>
          <p:cNvSpPr txBox="1"/>
          <p:nvPr/>
        </p:nvSpPr>
        <p:spPr>
          <a:xfrm>
            <a:off x="9504650" y="1482338"/>
            <a:ext cx="115949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Index</a:t>
            </a:r>
            <a:endParaRPr lang="en-IN" dirty="0"/>
          </a:p>
        </p:txBody>
      </p:sp>
    </p:spTree>
    <p:extLst>
      <p:ext uri="{BB962C8B-B14F-4D97-AF65-F5344CB8AC3E}">
        <p14:creationId xmlns:p14="http://schemas.microsoft.com/office/powerpoint/2010/main" val="3095730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33507" y="350514"/>
            <a:ext cx="8929718" cy="6355586"/>
          </a:xfrm>
          <a:prstGeom prst="rect">
            <a:avLst/>
          </a:prstGeom>
        </p:spPr>
        <p:txBody>
          <a:bodyPr wrap="square">
            <a:spAutoFit/>
          </a:bodyPr>
          <a:lstStyle/>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React</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ReactDOM</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/client'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'./index.css'</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App</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'./App'</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reportWebVitals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reportWebVitals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Nopage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BrowserRouter</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Routes</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a:t>
            </a:r>
            <a:r>
              <a:rPr lang="en-IN" sz="1100" dirty="0">
                <a:solidFill>
                  <a:srgbClr val="000000"/>
                </a:solidFill>
                <a:latin typeface="Consolas" panose="020B0609020204030204" pitchFamily="49" charset="0"/>
              </a:rPr>
              <a:t> }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"react-router-</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err="1">
                <a:solidFill>
                  <a:srgbClr val="0000FF"/>
                </a:solidFill>
                <a:latin typeface="Consolas" panose="020B0609020204030204" pitchFamily="49" charset="0"/>
              </a:rPr>
              <a:t>const</a:t>
            </a:r>
            <a:r>
              <a:rPr lang="en-IN" sz="1100" dirty="0">
                <a:solidFill>
                  <a:srgbClr val="000000"/>
                </a:solidFill>
                <a:latin typeface="Consolas" panose="020B0609020204030204" pitchFamily="49" charset="0"/>
              </a:rPr>
              <a:t> </a:t>
            </a:r>
            <a:r>
              <a:rPr lang="en-IN" sz="1100" dirty="0">
                <a:solidFill>
                  <a:srgbClr val="0070C1"/>
                </a:solidFill>
                <a:latin typeface="Consolas" panose="020B0609020204030204" pitchFamily="49" charset="0"/>
              </a:rPr>
              <a:t>root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ReactDOM</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createRoot</a:t>
            </a:r>
            <a:r>
              <a:rPr lang="en-IN" sz="1100" dirty="0">
                <a:solidFill>
                  <a:srgbClr val="000000"/>
                </a:solidFill>
                <a:latin typeface="Consolas" panose="020B0609020204030204" pitchFamily="49" charset="0"/>
              </a:rPr>
              <a:t>(</a:t>
            </a:r>
            <a:r>
              <a:rPr lang="en-IN" sz="1100" dirty="0" err="1">
                <a:solidFill>
                  <a:srgbClr val="001080"/>
                </a:solidFill>
                <a:latin typeface="Consolas" panose="020B0609020204030204" pitchFamily="49" charset="0"/>
              </a:rPr>
              <a:t>document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getElementById</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'root'</a:t>
            </a:r>
            <a:r>
              <a:rPr lang="en-IN" sz="1100" dirty="0">
                <a:solidFill>
                  <a:srgbClr val="000000"/>
                </a:solidFill>
                <a:latin typeface="Consolas" panose="020B0609020204030204" pitchFamily="49" charset="0"/>
              </a:rPr>
              <a:t>));</a:t>
            </a:r>
          </a:p>
          <a:p>
            <a:r>
              <a:rPr lang="en-IN" sz="1100" dirty="0" err="1">
                <a:solidFill>
                  <a:srgbClr val="0070C1"/>
                </a:solidFill>
                <a:latin typeface="Consolas" panose="020B0609020204030204" pitchFamily="49" charset="0"/>
              </a:rPr>
              <a:t>root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render</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highlight>
                  <a:srgbClr val="00FFFF"/>
                </a:highlight>
                <a:latin typeface="Consolas" panose="020B0609020204030204" pitchFamily="49" charset="0"/>
              </a:rPr>
              <a:t>&lt;</a:t>
            </a:r>
            <a:r>
              <a:rPr lang="en-IN" sz="1100" dirty="0">
                <a:solidFill>
                  <a:srgbClr val="267F99"/>
                </a:solidFill>
                <a:highlight>
                  <a:srgbClr val="00FFFF"/>
                </a:highlight>
                <a:latin typeface="Consolas" panose="020B0609020204030204" pitchFamily="49" charset="0"/>
              </a:rPr>
              <a:t>Route</a:t>
            </a:r>
            <a:r>
              <a:rPr lang="en-IN" sz="1100" dirty="0">
                <a:solidFill>
                  <a:srgbClr val="000000"/>
                </a:solidFill>
                <a:highlight>
                  <a:srgbClr val="00FFFF"/>
                </a:highlight>
                <a:latin typeface="Consolas" panose="020B0609020204030204" pitchFamily="49" charset="0"/>
              </a:rPr>
              <a:t> </a:t>
            </a:r>
            <a:r>
              <a:rPr lang="en-IN" sz="1100" dirty="0">
                <a:solidFill>
                  <a:srgbClr val="FF0000"/>
                </a:solidFill>
                <a:highlight>
                  <a:srgbClr val="00FFFF"/>
                </a:highlight>
                <a:latin typeface="Consolas" panose="020B0609020204030204" pitchFamily="49" charset="0"/>
              </a:rPr>
              <a:t>path</a:t>
            </a:r>
            <a:r>
              <a:rPr lang="en-IN" sz="1100" dirty="0">
                <a:solidFill>
                  <a:srgbClr val="000000"/>
                </a:solidFill>
                <a:highlight>
                  <a:srgbClr val="00FFFF"/>
                </a:highlight>
                <a:latin typeface="Consolas" panose="020B0609020204030204" pitchFamily="49" charset="0"/>
              </a:rPr>
              <a:t>=</a:t>
            </a:r>
            <a:r>
              <a:rPr lang="en-IN" sz="1100" dirty="0">
                <a:solidFill>
                  <a:srgbClr val="A31515"/>
                </a:solidFill>
                <a:highlight>
                  <a:srgbClr val="00FFFF"/>
                </a:highlight>
                <a:latin typeface="Consolas" panose="020B0609020204030204" pitchFamily="49" charset="0"/>
              </a:rPr>
              <a:t>"/"</a:t>
            </a:r>
            <a:r>
              <a:rPr lang="en-IN" sz="1100" dirty="0">
                <a:solidFill>
                  <a:srgbClr val="000000"/>
                </a:solidFill>
                <a:highlight>
                  <a:srgbClr val="00FFFF"/>
                </a:highlight>
                <a:latin typeface="Consolas" panose="020B0609020204030204" pitchFamily="49" charset="0"/>
              </a:rPr>
              <a:t> </a:t>
            </a:r>
            <a:r>
              <a:rPr lang="en-IN" sz="1100" dirty="0">
                <a:solidFill>
                  <a:srgbClr val="FF0000"/>
                </a:solidFill>
                <a:highlight>
                  <a:srgbClr val="00FFFF"/>
                </a:highlight>
                <a:latin typeface="Consolas" panose="020B0609020204030204" pitchFamily="49" charset="0"/>
              </a:rPr>
              <a:t>element</a:t>
            </a:r>
            <a:r>
              <a:rPr lang="en-IN" sz="1100" dirty="0">
                <a:solidFill>
                  <a:srgbClr val="000000"/>
                </a:solidFill>
                <a:highlight>
                  <a:srgbClr val="00FFFF"/>
                </a:highlight>
                <a:latin typeface="Consolas" panose="020B0609020204030204" pitchFamily="49" charset="0"/>
              </a:rPr>
              <a:t>=</a:t>
            </a:r>
            <a:r>
              <a:rPr lang="en-IN" sz="1100" dirty="0">
                <a:solidFill>
                  <a:srgbClr val="0000FF"/>
                </a:solidFill>
                <a:highlight>
                  <a:srgbClr val="00FFFF"/>
                </a:highlight>
                <a:latin typeface="Consolas" panose="020B0609020204030204" pitchFamily="49" charset="0"/>
              </a:rPr>
              <a:t>{</a:t>
            </a:r>
            <a:r>
              <a:rPr lang="en-IN" sz="1100" dirty="0">
                <a:solidFill>
                  <a:srgbClr val="800000"/>
                </a:solidFill>
                <a:highlight>
                  <a:srgbClr val="00FFFF"/>
                </a:highlight>
                <a:latin typeface="Consolas" panose="020B0609020204030204" pitchFamily="49" charset="0"/>
              </a:rPr>
              <a:t>&lt;</a:t>
            </a:r>
            <a:r>
              <a:rPr lang="en-IN" sz="1100" dirty="0">
                <a:solidFill>
                  <a:srgbClr val="267F99"/>
                </a:solidFill>
                <a:highlight>
                  <a:srgbClr val="00FFFF"/>
                </a:highlight>
                <a:latin typeface="Consolas" panose="020B0609020204030204" pitchFamily="49" charset="0"/>
              </a:rPr>
              <a:t>App</a:t>
            </a:r>
            <a:r>
              <a:rPr lang="en-IN" sz="1100" dirty="0">
                <a:solidFill>
                  <a:srgbClr val="000000"/>
                </a:solidFill>
                <a:highlight>
                  <a:srgbClr val="00FFFF"/>
                </a:highlight>
                <a:latin typeface="Consolas" panose="020B0609020204030204" pitchFamily="49" charset="0"/>
              </a:rPr>
              <a:t> </a:t>
            </a:r>
            <a:r>
              <a:rPr lang="en-IN" sz="1100" dirty="0">
                <a:solidFill>
                  <a:srgbClr val="800000"/>
                </a:solidFill>
                <a:highlight>
                  <a:srgbClr val="00FFFF"/>
                </a:highlight>
                <a:latin typeface="Consolas" panose="020B0609020204030204" pitchFamily="49" charset="0"/>
              </a:rPr>
              <a:t>/&gt;</a:t>
            </a:r>
            <a:r>
              <a:rPr lang="en-IN" sz="1100" dirty="0">
                <a:solidFill>
                  <a:srgbClr val="0000FF"/>
                </a:solidFill>
                <a:highlight>
                  <a:srgbClr val="00FFFF"/>
                </a:highlight>
                <a:latin typeface="Consolas" panose="020B0609020204030204" pitchFamily="49" charset="0"/>
              </a:rPr>
              <a:t>}</a:t>
            </a:r>
            <a:r>
              <a:rPr lang="en-IN" sz="1100" dirty="0">
                <a:solidFill>
                  <a:srgbClr val="000000"/>
                </a:solidFill>
                <a:highlight>
                  <a:srgbClr val="00FFFF"/>
                </a:highlight>
                <a:latin typeface="Consolas" panose="020B0609020204030204" pitchFamily="49" charset="0"/>
              </a:rPr>
              <a:t> /</a:t>
            </a:r>
            <a:r>
              <a:rPr lang="en-IN" sz="1100" dirty="0">
                <a:solidFill>
                  <a:srgbClr val="800000"/>
                </a:solidFill>
                <a:highlight>
                  <a:srgbClr val="00FFFF"/>
                </a:highlight>
                <a:latin typeface="Consolas" panose="020B0609020204030204" pitchFamily="49" charset="0"/>
              </a:rPr>
              <a:t>&gt;</a:t>
            </a:r>
            <a:endParaRPr lang="en-IN" sz="1100" dirty="0">
              <a:solidFill>
                <a:srgbClr val="000000"/>
              </a:solidFill>
              <a:highlight>
                <a:srgbClr val="00FFFF"/>
              </a:highlight>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8000"/>
                </a:solidFill>
                <a:latin typeface="Consolas" panose="020B0609020204030204" pitchFamily="49" charset="0"/>
              </a:rPr>
              <a:t>// If you want to start measuring performance in your app, pass a function</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to log results (for example: </a:t>
            </a:r>
            <a:r>
              <a:rPr lang="en-IN" sz="1100" dirty="0" err="1">
                <a:solidFill>
                  <a:srgbClr val="008000"/>
                </a:solidFill>
                <a:latin typeface="Consolas" panose="020B0609020204030204" pitchFamily="49" charset="0"/>
              </a:rPr>
              <a:t>reportWebVitals</a:t>
            </a:r>
            <a:r>
              <a:rPr lang="en-IN" sz="1100" dirty="0">
                <a:solidFill>
                  <a:srgbClr val="008000"/>
                </a:solidFill>
                <a:latin typeface="Consolas" panose="020B0609020204030204" pitchFamily="49" charset="0"/>
              </a:rPr>
              <a:t>(console.log))</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or send to an analytics endpoint. Learn more: https://bit.ly/CRA-vitals</a:t>
            </a:r>
            <a:endParaRPr lang="en-IN" sz="1100" dirty="0">
              <a:solidFill>
                <a:srgbClr val="000000"/>
              </a:solidFill>
              <a:latin typeface="Consolas" panose="020B0609020204030204" pitchFamily="49" charset="0"/>
            </a:endParaRPr>
          </a:p>
          <a:p>
            <a:r>
              <a:rPr lang="en-IN" sz="1100" dirty="0" err="1">
                <a:solidFill>
                  <a:srgbClr val="795E26"/>
                </a:solidFill>
                <a:latin typeface="Consolas" panose="020B0609020204030204" pitchFamily="49" charset="0"/>
              </a:rPr>
              <a:t>reportWebVitals</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endParaRPr lang="en-IN" sz="1100" dirty="0">
              <a:solidFill>
                <a:srgbClr val="000000"/>
              </a:solidFill>
              <a:latin typeface="Consolas" panose="020B0609020204030204" pitchFamily="49" charset="0"/>
            </a:endParaRPr>
          </a:p>
          <a:p>
            <a:endParaRPr lang="en-US" sz="1100" dirty="0">
              <a:solidFill>
                <a:prstClr val="black"/>
              </a:solidFill>
              <a:latin typeface="Calibri"/>
            </a:endParaRPr>
          </a:p>
        </p:txBody>
      </p:sp>
      <p:sp>
        <p:nvSpPr>
          <p:cNvPr id="6" name="TextBox 5"/>
          <p:cNvSpPr txBox="1"/>
          <p:nvPr/>
        </p:nvSpPr>
        <p:spPr>
          <a:xfrm>
            <a:off x="7104112" y="-99392"/>
            <a:ext cx="4071966" cy="461665"/>
          </a:xfrm>
          <a:prstGeom prst="rect">
            <a:avLst/>
          </a:prstGeom>
          <a:noFill/>
        </p:spPr>
        <p:txBody>
          <a:bodyPr wrap="square" rtlCol="0">
            <a:spAutoFit/>
          </a:bodyPr>
          <a:lstStyle/>
          <a:p>
            <a:r>
              <a:rPr lang="en-US" sz="2400" b="1" dirty="0">
                <a:solidFill>
                  <a:prstClr val="black"/>
                </a:solidFill>
                <a:latin typeface="Calibri"/>
              </a:rPr>
              <a:t>Index.js</a:t>
            </a:r>
          </a:p>
        </p:txBody>
      </p:sp>
      <p:sp>
        <p:nvSpPr>
          <p:cNvPr id="2" name="Rectangle 1">
            <a:extLst>
              <a:ext uri="{FF2B5EF4-FFF2-40B4-BE49-F238E27FC236}">
                <a16:creationId xmlns:a16="http://schemas.microsoft.com/office/drawing/2014/main" id="{CF09F4C9-9065-B159-2795-1AD0B32459DF}"/>
              </a:ext>
            </a:extLst>
          </p:cNvPr>
          <p:cNvSpPr/>
          <p:nvPr/>
        </p:nvSpPr>
        <p:spPr>
          <a:xfrm>
            <a:off x="9815151" y="3995006"/>
            <a:ext cx="843342" cy="603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App</a:t>
            </a:r>
          </a:p>
        </p:txBody>
      </p:sp>
      <p:cxnSp>
        <p:nvCxnSpPr>
          <p:cNvPr id="8" name="Straight Connector 7">
            <a:extLst>
              <a:ext uri="{FF2B5EF4-FFF2-40B4-BE49-F238E27FC236}">
                <a16:creationId xmlns:a16="http://schemas.microsoft.com/office/drawing/2014/main" id="{4FC39EF0-5AE3-52F3-789E-A5488494B556}"/>
              </a:ext>
            </a:extLst>
          </p:cNvPr>
          <p:cNvCxnSpPr/>
          <p:nvPr/>
        </p:nvCxnSpPr>
        <p:spPr>
          <a:xfrm flipV="1">
            <a:off x="8184232" y="3429000"/>
            <a:ext cx="1728192" cy="178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CC348-0065-A489-E759-7C44B2D74FD6}"/>
              </a:ext>
            </a:extLst>
          </p:cNvPr>
          <p:cNvCxnSpPr/>
          <p:nvPr/>
        </p:nvCxnSpPr>
        <p:spPr>
          <a:xfrm>
            <a:off x="8184232" y="3446858"/>
            <a:ext cx="0" cy="558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3EEAC6-EFF8-F9AE-BD7D-7D1BBE50B7FD}"/>
              </a:ext>
            </a:extLst>
          </p:cNvPr>
          <p:cNvCxnSpPr/>
          <p:nvPr/>
        </p:nvCxnSpPr>
        <p:spPr>
          <a:xfrm>
            <a:off x="9912424" y="3429000"/>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25A992A-3CC4-4C89-36C7-75FCAF835BFE}"/>
              </a:ext>
            </a:extLst>
          </p:cNvPr>
          <p:cNvSpPr/>
          <p:nvPr/>
        </p:nvSpPr>
        <p:spPr>
          <a:xfrm>
            <a:off x="7536162" y="3861048"/>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Home</a:t>
            </a:r>
          </a:p>
        </p:txBody>
      </p:sp>
      <p:sp>
        <p:nvSpPr>
          <p:cNvPr id="14" name="Rectangle 13">
            <a:extLst>
              <a:ext uri="{FF2B5EF4-FFF2-40B4-BE49-F238E27FC236}">
                <a16:creationId xmlns:a16="http://schemas.microsoft.com/office/drawing/2014/main" id="{0591A577-F423-F3D6-4F2F-D3BADA548130}"/>
              </a:ext>
            </a:extLst>
          </p:cNvPr>
          <p:cNvSpPr/>
          <p:nvPr/>
        </p:nvSpPr>
        <p:spPr>
          <a:xfrm>
            <a:off x="8769360" y="3896764"/>
            <a:ext cx="927041"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prstClr val="white"/>
                </a:solidFill>
                <a:latin typeface="Calibri"/>
              </a:rPr>
              <a:t>Contactus</a:t>
            </a:r>
            <a:endParaRPr lang="en-IN" dirty="0">
              <a:solidFill>
                <a:prstClr val="white"/>
              </a:solidFill>
              <a:latin typeface="Calibri"/>
            </a:endParaRPr>
          </a:p>
        </p:txBody>
      </p:sp>
      <p:cxnSp>
        <p:nvCxnSpPr>
          <p:cNvPr id="16" name="Straight Connector 15">
            <a:extLst>
              <a:ext uri="{FF2B5EF4-FFF2-40B4-BE49-F238E27FC236}">
                <a16:creationId xmlns:a16="http://schemas.microsoft.com/office/drawing/2014/main" id="{560E93B6-170B-2B70-14A4-109B2C967240}"/>
              </a:ext>
            </a:extLst>
          </p:cNvPr>
          <p:cNvCxnSpPr>
            <a:cxnSpLocks/>
          </p:cNvCxnSpPr>
          <p:nvPr/>
        </p:nvCxnSpPr>
        <p:spPr>
          <a:xfrm>
            <a:off x="6832284" y="3447056"/>
            <a:ext cx="0" cy="558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564127-672C-EA1D-4C2E-5FD071F76429}"/>
              </a:ext>
            </a:extLst>
          </p:cNvPr>
          <p:cNvCxnSpPr/>
          <p:nvPr/>
        </p:nvCxnSpPr>
        <p:spPr>
          <a:xfrm>
            <a:off x="6816080" y="3429001"/>
            <a:ext cx="1368152" cy="8929"/>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2A41DBF-071B-1974-8A10-ACACB2775259}"/>
              </a:ext>
            </a:extLst>
          </p:cNvPr>
          <p:cNvSpPr/>
          <p:nvPr/>
        </p:nvSpPr>
        <p:spPr>
          <a:xfrm>
            <a:off x="6312028" y="3896764"/>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dirty="0" err="1">
                <a:solidFill>
                  <a:prstClr val="white"/>
                </a:solidFill>
                <a:latin typeface="Calibri"/>
              </a:rPr>
              <a:t>ListEmployee</a:t>
            </a:r>
            <a:endParaRPr lang="en-IN" sz="800" dirty="0">
              <a:solidFill>
                <a:prstClr val="white"/>
              </a:solidFill>
              <a:latin typeface="Calibri"/>
            </a:endParaRPr>
          </a:p>
        </p:txBody>
      </p:sp>
      <p:sp>
        <p:nvSpPr>
          <p:cNvPr id="3" name="TextBox 2">
            <a:extLst>
              <a:ext uri="{FF2B5EF4-FFF2-40B4-BE49-F238E27FC236}">
                <a16:creationId xmlns:a16="http://schemas.microsoft.com/office/drawing/2014/main" id="{A58D66CB-BEC9-A4D3-CF3C-8027339A83D7}"/>
              </a:ext>
            </a:extLst>
          </p:cNvPr>
          <p:cNvSpPr txBox="1"/>
          <p:nvPr/>
        </p:nvSpPr>
        <p:spPr>
          <a:xfrm>
            <a:off x="3287688" y="2709428"/>
            <a:ext cx="1800197" cy="369332"/>
          </a:xfrm>
          <a:prstGeom prst="rect">
            <a:avLst/>
          </a:prstGeom>
          <a:noFill/>
        </p:spPr>
        <p:txBody>
          <a:bodyPr wrap="square" rtlCol="0">
            <a:spAutoFit/>
          </a:bodyPr>
          <a:lstStyle/>
          <a:p>
            <a:r>
              <a:rPr lang="en-IN" dirty="0">
                <a:solidFill>
                  <a:prstClr val="black"/>
                </a:solidFill>
                <a:latin typeface="Calibri"/>
              </a:rPr>
              <a:t>Sibling</a:t>
            </a:r>
          </a:p>
        </p:txBody>
      </p:sp>
      <p:cxnSp>
        <p:nvCxnSpPr>
          <p:cNvPr id="9" name="Straight Connector 8">
            <a:extLst>
              <a:ext uri="{FF2B5EF4-FFF2-40B4-BE49-F238E27FC236}">
                <a16:creationId xmlns:a16="http://schemas.microsoft.com/office/drawing/2014/main" id="{7046B4C4-7A7F-9F2C-A154-76231BB4430B}"/>
              </a:ext>
            </a:extLst>
          </p:cNvPr>
          <p:cNvCxnSpPr/>
          <p:nvPr/>
        </p:nvCxnSpPr>
        <p:spPr>
          <a:xfrm flipV="1">
            <a:off x="8184232" y="2979094"/>
            <a:ext cx="0" cy="449906"/>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6D1CDC4-58F3-92AE-C7D6-0955CC929613}"/>
              </a:ext>
            </a:extLst>
          </p:cNvPr>
          <p:cNvSpPr/>
          <p:nvPr/>
        </p:nvSpPr>
        <p:spPr>
          <a:xfrm>
            <a:off x="7536163" y="2060848"/>
            <a:ext cx="1368151" cy="900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root</a:t>
            </a:r>
          </a:p>
        </p:txBody>
      </p:sp>
    </p:spTree>
    <p:extLst>
      <p:ext uri="{BB962C8B-B14F-4D97-AF65-F5344CB8AC3E}">
        <p14:creationId xmlns:p14="http://schemas.microsoft.com/office/powerpoint/2010/main" val="1802838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33507" y="350514"/>
            <a:ext cx="8929718" cy="6355586"/>
          </a:xfrm>
          <a:prstGeom prst="rect">
            <a:avLst/>
          </a:prstGeom>
        </p:spPr>
        <p:txBody>
          <a:bodyPr wrap="square">
            <a:spAutoFit/>
          </a:bodyPr>
          <a:lstStyle/>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React</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ReactDOM</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/client'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'./index.css'</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App</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'./App'</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reportWebVitals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reportWebVitals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Nopage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BrowserRouter</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Routes</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Route</a:t>
            </a:r>
            <a:r>
              <a:rPr lang="en-IN" sz="1100" dirty="0">
                <a:solidFill>
                  <a:srgbClr val="000000"/>
                </a:solidFill>
                <a:latin typeface="Consolas" panose="020B0609020204030204" pitchFamily="49" charset="0"/>
              </a:rPr>
              <a:t> }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"react-router-</a:t>
            </a:r>
            <a:r>
              <a:rPr lang="en-IN" sz="1100" dirty="0" err="1">
                <a:solidFill>
                  <a:srgbClr val="A31515"/>
                </a:solidFill>
                <a:latin typeface="Consolas" panose="020B0609020204030204" pitchFamily="49" charset="0"/>
              </a:rPr>
              <a:t>dom</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a:solidFill>
                  <a:srgbClr val="001080"/>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r>
              <a:rPr lang="en-IN" sz="1100" dirty="0">
                <a:solidFill>
                  <a:srgbClr val="AF00DB"/>
                </a:solidFill>
                <a:latin typeface="Consolas" panose="020B0609020204030204" pitchFamily="49" charset="0"/>
              </a:rPr>
              <a:t>import</a:t>
            </a:r>
            <a:r>
              <a:rPr lang="en-IN" sz="1100" dirty="0">
                <a:solidFill>
                  <a:srgbClr val="000000"/>
                </a:solidFill>
                <a:latin typeface="Consolas" panose="020B0609020204030204" pitchFamily="49" charset="0"/>
              </a:rPr>
              <a:t> </a:t>
            </a:r>
            <a:r>
              <a:rPr lang="en-IN" sz="1100" dirty="0" err="1">
                <a:solidFill>
                  <a:srgbClr val="001080"/>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AF00DB"/>
                </a:solidFill>
                <a:latin typeface="Consolas" panose="020B0609020204030204" pitchFamily="49" charset="0"/>
              </a:rPr>
              <a:t>from</a:t>
            </a:r>
            <a:r>
              <a:rPr lang="en-IN" sz="1100" dirty="0">
                <a:solidFill>
                  <a:srgbClr val="000000"/>
                </a:solidFill>
                <a:latin typeface="Consolas" panose="020B0609020204030204" pitchFamily="49" charset="0"/>
              </a:rPr>
              <a:t> </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err="1">
                <a:solidFill>
                  <a:srgbClr val="0000FF"/>
                </a:solidFill>
                <a:latin typeface="Consolas" panose="020B0609020204030204" pitchFamily="49" charset="0"/>
              </a:rPr>
              <a:t>const</a:t>
            </a:r>
            <a:r>
              <a:rPr lang="en-IN" sz="1100" dirty="0">
                <a:solidFill>
                  <a:srgbClr val="000000"/>
                </a:solidFill>
                <a:latin typeface="Consolas" panose="020B0609020204030204" pitchFamily="49" charset="0"/>
              </a:rPr>
              <a:t> </a:t>
            </a:r>
            <a:r>
              <a:rPr lang="en-IN" sz="1100" dirty="0">
                <a:solidFill>
                  <a:srgbClr val="0070C1"/>
                </a:solidFill>
                <a:latin typeface="Consolas" panose="020B0609020204030204" pitchFamily="49" charset="0"/>
              </a:rPr>
              <a:t>root</a:t>
            </a:r>
            <a:r>
              <a:rPr lang="en-IN" sz="1100" dirty="0">
                <a:solidFill>
                  <a:srgbClr val="000000"/>
                </a:solidFill>
                <a:latin typeface="Consolas" panose="020B0609020204030204" pitchFamily="49" charset="0"/>
              </a:rPr>
              <a:t> = </a:t>
            </a:r>
            <a:r>
              <a:rPr lang="en-IN" sz="1100" dirty="0" err="1">
                <a:solidFill>
                  <a:srgbClr val="001080"/>
                </a:solidFill>
                <a:latin typeface="Consolas" panose="020B0609020204030204" pitchFamily="49" charset="0"/>
              </a:rPr>
              <a:t>ReactDOM</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createRoot</a:t>
            </a:r>
            <a:r>
              <a:rPr lang="en-IN" sz="1100" dirty="0">
                <a:solidFill>
                  <a:srgbClr val="000000"/>
                </a:solidFill>
                <a:latin typeface="Consolas" panose="020B0609020204030204" pitchFamily="49" charset="0"/>
              </a:rPr>
              <a:t>(</a:t>
            </a:r>
            <a:r>
              <a:rPr lang="en-IN" sz="1100" dirty="0" err="1">
                <a:solidFill>
                  <a:srgbClr val="001080"/>
                </a:solidFill>
                <a:latin typeface="Consolas" panose="020B0609020204030204" pitchFamily="49" charset="0"/>
              </a:rPr>
              <a:t>document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getElementById</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'root'</a:t>
            </a:r>
            <a:r>
              <a:rPr lang="en-IN" sz="1100" dirty="0">
                <a:solidFill>
                  <a:srgbClr val="000000"/>
                </a:solidFill>
                <a:latin typeface="Consolas" panose="020B0609020204030204" pitchFamily="49" charset="0"/>
              </a:rPr>
              <a:t>));</a:t>
            </a:r>
          </a:p>
          <a:p>
            <a:r>
              <a:rPr lang="en-IN" sz="1100" dirty="0" err="1">
                <a:solidFill>
                  <a:srgbClr val="0070C1"/>
                </a:solidFill>
                <a:latin typeface="Consolas" panose="020B0609020204030204" pitchFamily="49" charset="0"/>
              </a:rPr>
              <a:t>root</a:t>
            </a:r>
            <a:r>
              <a:rPr lang="en-IN" sz="1100" dirty="0" err="1">
                <a:solidFill>
                  <a:srgbClr val="000000"/>
                </a:solidFill>
                <a:latin typeface="Consolas" panose="020B0609020204030204" pitchFamily="49" charset="0"/>
              </a:rPr>
              <a:t>.</a:t>
            </a:r>
            <a:r>
              <a:rPr lang="en-IN" sz="1100" dirty="0" err="1">
                <a:solidFill>
                  <a:srgbClr val="795E26"/>
                </a:solidFill>
                <a:latin typeface="Consolas" panose="020B0609020204030204" pitchFamily="49" charset="0"/>
              </a:rPr>
              <a:t>render</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&lt;</a:t>
            </a:r>
            <a:r>
              <a:rPr lang="en-IN" sz="1100" dirty="0">
                <a:solidFill>
                  <a:srgbClr val="267F99"/>
                </a:solidFill>
                <a:highlight>
                  <a:srgbClr val="FFFF00"/>
                </a:highlight>
                <a:latin typeface="Consolas" panose="020B0609020204030204" pitchFamily="49" charset="0"/>
              </a:rPr>
              <a:t>Route</a:t>
            </a:r>
            <a:r>
              <a:rPr lang="en-IN" sz="1100" dirty="0">
                <a:solidFill>
                  <a:srgbClr val="000000"/>
                </a:solidFill>
                <a:highlight>
                  <a:srgbClr val="FFFF00"/>
                </a:highlight>
                <a:latin typeface="Consolas" panose="020B0609020204030204" pitchFamily="49" charset="0"/>
              </a:rPr>
              <a:t> </a:t>
            </a:r>
            <a:r>
              <a:rPr lang="en-IN" sz="1100" dirty="0">
                <a:solidFill>
                  <a:srgbClr val="FF0000"/>
                </a:solidFill>
                <a:highlight>
                  <a:srgbClr val="FFFF00"/>
                </a:highlight>
                <a:latin typeface="Consolas" panose="020B0609020204030204" pitchFamily="49" charset="0"/>
              </a:rPr>
              <a:t>path</a:t>
            </a:r>
            <a:r>
              <a:rPr lang="en-IN" sz="1100" dirty="0">
                <a:solidFill>
                  <a:srgbClr val="000000"/>
                </a:solidFill>
                <a:highlight>
                  <a:srgbClr val="FFFF00"/>
                </a:highlight>
                <a:latin typeface="Consolas" panose="020B0609020204030204" pitchFamily="49" charset="0"/>
              </a:rPr>
              <a:t>=</a:t>
            </a:r>
            <a:r>
              <a:rPr lang="en-IN" sz="1100" dirty="0">
                <a:solidFill>
                  <a:srgbClr val="A31515"/>
                </a:solidFill>
                <a:highlight>
                  <a:srgbClr val="FFFF00"/>
                </a:highlight>
                <a:latin typeface="Consolas" panose="020B0609020204030204" pitchFamily="49" charset="0"/>
              </a:rPr>
              <a:t>"/"</a:t>
            </a:r>
            <a:r>
              <a:rPr lang="en-IN" sz="1100" dirty="0">
                <a:solidFill>
                  <a:srgbClr val="000000"/>
                </a:solidFill>
                <a:highlight>
                  <a:srgbClr val="FFFF00"/>
                </a:highlight>
                <a:latin typeface="Consolas" panose="020B0609020204030204" pitchFamily="49" charset="0"/>
              </a:rPr>
              <a:t> </a:t>
            </a:r>
            <a:r>
              <a:rPr lang="en-IN" sz="1100" dirty="0">
                <a:solidFill>
                  <a:srgbClr val="FF0000"/>
                </a:solidFill>
                <a:highlight>
                  <a:srgbClr val="FFFF00"/>
                </a:highlight>
                <a:latin typeface="Consolas" panose="020B0609020204030204" pitchFamily="49" charset="0"/>
              </a:rPr>
              <a:t>element</a:t>
            </a:r>
            <a:r>
              <a:rPr lang="en-IN" sz="1100" dirty="0">
                <a:solidFill>
                  <a:srgbClr val="000000"/>
                </a:solidFill>
                <a:highlight>
                  <a:srgbClr val="FFFF00"/>
                </a:highlight>
                <a:latin typeface="Consolas" panose="020B0609020204030204" pitchFamily="49" charset="0"/>
              </a:rPr>
              <a:t>=</a:t>
            </a:r>
            <a:r>
              <a:rPr lang="en-IN" sz="1100" dirty="0">
                <a:solidFill>
                  <a:srgbClr val="0000FF"/>
                </a:solidFill>
                <a:highlight>
                  <a:srgbClr val="FFFF00"/>
                </a:highlight>
                <a:latin typeface="Consolas" panose="020B0609020204030204" pitchFamily="49" charset="0"/>
              </a:rPr>
              <a:t>{</a:t>
            </a:r>
            <a:r>
              <a:rPr lang="en-IN" sz="1100" dirty="0">
                <a:solidFill>
                  <a:srgbClr val="800000"/>
                </a:solidFill>
                <a:highlight>
                  <a:srgbClr val="FFFF00"/>
                </a:highlight>
                <a:latin typeface="Consolas" panose="020B0609020204030204" pitchFamily="49" charset="0"/>
              </a:rPr>
              <a:t>&lt;</a:t>
            </a:r>
            <a:r>
              <a:rPr lang="en-IN" sz="1100" dirty="0">
                <a:solidFill>
                  <a:srgbClr val="267F99"/>
                </a:solidFill>
                <a:highlight>
                  <a:srgbClr val="FFFF00"/>
                </a:highlight>
                <a:latin typeface="Consolas" panose="020B0609020204030204" pitchFamily="49" charset="0"/>
              </a:rPr>
              <a:t>App</a:t>
            </a:r>
            <a:r>
              <a:rPr lang="en-IN" sz="1100" dirty="0">
                <a:solidFill>
                  <a:srgbClr val="000000"/>
                </a:solidFill>
                <a:highlight>
                  <a:srgbClr val="FFFF00"/>
                </a:highlight>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/&gt;</a:t>
            </a:r>
            <a:r>
              <a:rPr lang="en-IN" sz="1100" dirty="0">
                <a:solidFill>
                  <a:srgbClr val="0000FF"/>
                </a:solidFill>
                <a:highlight>
                  <a:srgbClr val="FFFF00"/>
                </a:highlight>
                <a:latin typeface="Consolas" panose="020B0609020204030204" pitchFamily="49" charset="0"/>
              </a:rPr>
              <a:t>}</a:t>
            </a:r>
            <a:r>
              <a:rPr lang="en-IN" sz="1100" dirty="0">
                <a:solidFill>
                  <a:srgbClr val="000000"/>
                </a:solidFill>
                <a:highlight>
                  <a:srgbClr val="FFFF00"/>
                </a:highlight>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&gt;</a:t>
            </a:r>
            <a:endParaRPr lang="en-IN" sz="1100" dirty="0">
              <a:solidFill>
                <a:srgbClr val="000000"/>
              </a:solidFill>
              <a:highlight>
                <a:srgbClr val="FFFF00"/>
              </a:highlight>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Home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Contactus</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Contactus</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err="1">
                <a:solidFill>
                  <a:srgbClr val="A31515"/>
                </a:solidFill>
                <a:latin typeface="Consolas" panose="020B0609020204030204" pitchFamily="49" charset="0"/>
              </a:rPr>
              <a:t>ListEmployee</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ListEmployee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path</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FF0000"/>
                </a:solidFill>
                <a:latin typeface="Consolas" panose="020B0609020204030204" pitchFamily="49" charset="0"/>
              </a:rPr>
              <a:t>element</a:t>
            </a:r>
            <a:r>
              <a:rPr lang="en-IN" sz="1100" dirty="0">
                <a:solidFill>
                  <a:srgbClr val="000000"/>
                </a:solidFill>
                <a:latin typeface="Consolas" panose="020B0609020204030204" pitchFamily="49" charset="0"/>
              </a:rPr>
              <a:t>=</a:t>
            </a:r>
            <a:r>
              <a:rPr lang="en-IN" sz="1100" dirty="0">
                <a:solidFill>
                  <a:srgbClr val="0000FF"/>
                </a:solidFill>
                <a:latin typeface="Consolas" panose="020B0609020204030204" pitchFamily="49" charset="0"/>
              </a:rPr>
              <a:t>{</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Nopage</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r>
              <a:rPr lang="en-IN" sz="1100" dirty="0">
                <a:solidFill>
                  <a:srgbClr val="0000FF"/>
                </a:solidFill>
                <a:latin typeface="Consolas" panose="020B0609020204030204" pitchFamily="49" charset="0"/>
              </a:rPr>
              <a:t>}</a:t>
            </a:r>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highlight>
                  <a:srgbClr val="FFFF00"/>
                </a:highlight>
                <a:latin typeface="Consolas" panose="020B0609020204030204" pitchFamily="49" charset="0"/>
              </a:rPr>
              <a:t>&lt;/</a:t>
            </a:r>
            <a:r>
              <a:rPr lang="en-IN" sz="1100" dirty="0">
                <a:solidFill>
                  <a:srgbClr val="267F99"/>
                </a:solidFill>
                <a:highlight>
                  <a:srgbClr val="FFFF00"/>
                </a:highlight>
                <a:latin typeface="Consolas" panose="020B0609020204030204" pitchFamily="49" charset="0"/>
              </a:rPr>
              <a:t>Route</a:t>
            </a:r>
            <a:r>
              <a:rPr lang="en-IN" sz="1100" dirty="0">
                <a:solidFill>
                  <a:srgbClr val="800000"/>
                </a:solidFill>
                <a:highlight>
                  <a:srgbClr val="FFFF00"/>
                </a:highlight>
                <a:latin typeface="Consolas" panose="020B0609020204030204" pitchFamily="49" charset="0"/>
              </a:rPr>
              <a:t>&gt;</a:t>
            </a:r>
            <a:endParaRPr lang="en-IN" sz="1100" dirty="0">
              <a:solidFill>
                <a:srgbClr val="000000"/>
              </a:solidFill>
              <a:highlight>
                <a:srgbClr val="FFFF00"/>
              </a:highlight>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a:solidFill>
                  <a:srgbClr val="267F99"/>
                </a:solidFill>
                <a:latin typeface="Consolas" panose="020B0609020204030204" pitchFamily="49" charset="0"/>
              </a:rPr>
              <a:t>Routes</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r>
              <a:rPr lang="en-IN" sz="1100" dirty="0">
                <a:solidFill>
                  <a:srgbClr val="800000"/>
                </a:solidFill>
                <a:latin typeface="Consolas" panose="020B0609020204030204" pitchFamily="49" charset="0"/>
              </a:rPr>
              <a:t>&lt;/</a:t>
            </a:r>
            <a:r>
              <a:rPr lang="en-IN" sz="1100" dirty="0" err="1">
                <a:solidFill>
                  <a:srgbClr val="267F99"/>
                </a:solidFill>
                <a:latin typeface="Consolas" panose="020B0609020204030204" pitchFamily="49" charset="0"/>
              </a:rPr>
              <a:t>BrowserRouter</a:t>
            </a:r>
            <a:r>
              <a:rPr lang="en-IN" sz="1100" dirty="0">
                <a:solidFill>
                  <a:srgbClr val="800000"/>
                </a:solidFill>
                <a:latin typeface="Consolas" panose="020B0609020204030204" pitchFamily="49" charset="0"/>
              </a:rPr>
              <a:t>&gt;</a:t>
            </a:r>
            <a:endParaRPr lang="en-IN" sz="1100" dirty="0">
              <a:solidFill>
                <a:srgbClr val="000000"/>
              </a:solidFill>
              <a:latin typeface="Consolas" panose="020B0609020204030204" pitchFamily="49" charset="0"/>
            </a:endParaRPr>
          </a:p>
          <a:p>
            <a:br>
              <a:rPr lang="en-IN" sz="1100" dirty="0">
                <a:solidFill>
                  <a:srgbClr val="000000"/>
                </a:solidFill>
                <a:latin typeface="Consolas" panose="020B0609020204030204" pitchFamily="49" charset="0"/>
              </a:rPr>
            </a:b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r>
              <a:rPr lang="en-IN" sz="1100" dirty="0">
                <a:solidFill>
                  <a:srgbClr val="008000"/>
                </a:solidFill>
                <a:latin typeface="Consolas" panose="020B0609020204030204" pitchFamily="49" charset="0"/>
              </a:rPr>
              <a:t>// If you want to start measuring performance in your app, pass a function</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to log results (for example: </a:t>
            </a:r>
            <a:r>
              <a:rPr lang="en-IN" sz="1100" dirty="0" err="1">
                <a:solidFill>
                  <a:srgbClr val="008000"/>
                </a:solidFill>
                <a:latin typeface="Consolas" panose="020B0609020204030204" pitchFamily="49" charset="0"/>
              </a:rPr>
              <a:t>reportWebVitals</a:t>
            </a:r>
            <a:r>
              <a:rPr lang="en-IN" sz="1100" dirty="0">
                <a:solidFill>
                  <a:srgbClr val="008000"/>
                </a:solidFill>
                <a:latin typeface="Consolas" panose="020B0609020204030204" pitchFamily="49" charset="0"/>
              </a:rPr>
              <a:t>(console.log))</a:t>
            </a:r>
            <a:endParaRPr lang="en-IN" sz="1100" dirty="0">
              <a:solidFill>
                <a:srgbClr val="000000"/>
              </a:solidFill>
              <a:latin typeface="Consolas" panose="020B0609020204030204" pitchFamily="49" charset="0"/>
            </a:endParaRPr>
          </a:p>
          <a:p>
            <a:r>
              <a:rPr lang="en-IN" sz="1100" dirty="0">
                <a:solidFill>
                  <a:srgbClr val="008000"/>
                </a:solidFill>
                <a:latin typeface="Consolas" panose="020B0609020204030204" pitchFamily="49" charset="0"/>
              </a:rPr>
              <a:t>// or send to an analytics endpoint. Learn more: https://bit.ly/CRA-vitals</a:t>
            </a:r>
            <a:endParaRPr lang="en-IN" sz="1100" dirty="0">
              <a:solidFill>
                <a:srgbClr val="000000"/>
              </a:solidFill>
              <a:latin typeface="Consolas" panose="020B0609020204030204" pitchFamily="49" charset="0"/>
            </a:endParaRPr>
          </a:p>
          <a:p>
            <a:r>
              <a:rPr lang="en-IN" sz="1100" dirty="0" err="1">
                <a:solidFill>
                  <a:srgbClr val="795E26"/>
                </a:solidFill>
                <a:latin typeface="Consolas" panose="020B0609020204030204" pitchFamily="49" charset="0"/>
              </a:rPr>
              <a:t>reportWebVitals</a:t>
            </a:r>
            <a:r>
              <a:rPr lang="en-IN" sz="1100" dirty="0">
                <a:solidFill>
                  <a:srgbClr val="000000"/>
                </a:solidFill>
                <a:latin typeface="Consolas" panose="020B0609020204030204" pitchFamily="49" charset="0"/>
              </a:rPr>
              <a:t>();</a:t>
            </a:r>
          </a:p>
          <a:p>
            <a:br>
              <a:rPr lang="en-IN" sz="1100" dirty="0">
                <a:solidFill>
                  <a:srgbClr val="000000"/>
                </a:solidFill>
                <a:latin typeface="Consolas" panose="020B0609020204030204" pitchFamily="49" charset="0"/>
              </a:rPr>
            </a:br>
            <a:endParaRPr lang="en-IN" sz="1100" dirty="0">
              <a:solidFill>
                <a:srgbClr val="000000"/>
              </a:solidFill>
              <a:latin typeface="Consolas" panose="020B0609020204030204" pitchFamily="49" charset="0"/>
            </a:endParaRPr>
          </a:p>
          <a:p>
            <a:endParaRPr lang="en-US" sz="1100" dirty="0">
              <a:solidFill>
                <a:prstClr val="black"/>
              </a:solidFill>
              <a:latin typeface="Calibri"/>
            </a:endParaRPr>
          </a:p>
        </p:txBody>
      </p:sp>
      <p:sp>
        <p:nvSpPr>
          <p:cNvPr id="6" name="TextBox 5"/>
          <p:cNvSpPr txBox="1"/>
          <p:nvPr/>
        </p:nvSpPr>
        <p:spPr>
          <a:xfrm>
            <a:off x="7104112" y="-99392"/>
            <a:ext cx="4071966" cy="461665"/>
          </a:xfrm>
          <a:prstGeom prst="rect">
            <a:avLst/>
          </a:prstGeom>
          <a:noFill/>
        </p:spPr>
        <p:txBody>
          <a:bodyPr wrap="square" rtlCol="0">
            <a:spAutoFit/>
          </a:bodyPr>
          <a:lstStyle/>
          <a:p>
            <a:r>
              <a:rPr lang="en-US" sz="2400" b="1" dirty="0">
                <a:solidFill>
                  <a:prstClr val="black"/>
                </a:solidFill>
                <a:latin typeface="Calibri"/>
              </a:rPr>
              <a:t>Index.js</a:t>
            </a:r>
          </a:p>
        </p:txBody>
      </p:sp>
      <p:sp>
        <p:nvSpPr>
          <p:cNvPr id="2" name="Rectangle 1">
            <a:extLst>
              <a:ext uri="{FF2B5EF4-FFF2-40B4-BE49-F238E27FC236}">
                <a16:creationId xmlns:a16="http://schemas.microsoft.com/office/drawing/2014/main" id="{CF09F4C9-9065-B159-2795-1AD0B32459DF}"/>
              </a:ext>
            </a:extLst>
          </p:cNvPr>
          <p:cNvSpPr/>
          <p:nvPr/>
        </p:nvSpPr>
        <p:spPr>
          <a:xfrm>
            <a:off x="8400256" y="2204864"/>
            <a:ext cx="129614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App</a:t>
            </a:r>
          </a:p>
        </p:txBody>
      </p:sp>
      <p:cxnSp>
        <p:nvCxnSpPr>
          <p:cNvPr id="4" name="Straight Connector 3">
            <a:extLst>
              <a:ext uri="{FF2B5EF4-FFF2-40B4-BE49-F238E27FC236}">
                <a16:creationId xmlns:a16="http://schemas.microsoft.com/office/drawing/2014/main" id="{EB927149-D89D-BA43-B90A-04CFEA3E6E76}"/>
              </a:ext>
            </a:extLst>
          </p:cNvPr>
          <p:cNvCxnSpPr/>
          <p:nvPr/>
        </p:nvCxnSpPr>
        <p:spPr>
          <a:xfrm>
            <a:off x="8904312" y="2996952"/>
            <a:ext cx="0" cy="449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FC39EF0-5AE3-52F3-789E-A5488494B556}"/>
              </a:ext>
            </a:extLst>
          </p:cNvPr>
          <p:cNvCxnSpPr/>
          <p:nvPr/>
        </p:nvCxnSpPr>
        <p:spPr>
          <a:xfrm flipV="1">
            <a:off x="8184232" y="3429000"/>
            <a:ext cx="1728192" cy="178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CC348-0065-A489-E759-7C44B2D74FD6}"/>
              </a:ext>
            </a:extLst>
          </p:cNvPr>
          <p:cNvCxnSpPr/>
          <p:nvPr/>
        </p:nvCxnSpPr>
        <p:spPr>
          <a:xfrm>
            <a:off x="8184232" y="3446858"/>
            <a:ext cx="0" cy="558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3EEAC6-EFF8-F9AE-BD7D-7D1BBE50B7FD}"/>
              </a:ext>
            </a:extLst>
          </p:cNvPr>
          <p:cNvCxnSpPr/>
          <p:nvPr/>
        </p:nvCxnSpPr>
        <p:spPr>
          <a:xfrm>
            <a:off x="9912424" y="3429000"/>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25A992A-3CC4-4C89-36C7-75FCAF835BFE}"/>
              </a:ext>
            </a:extLst>
          </p:cNvPr>
          <p:cNvSpPr/>
          <p:nvPr/>
        </p:nvSpPr>
        <p:spPr>
          <a:xfrm>
            <a:off x="7536162" y="3861048"/>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Home</a:t>
            </a:r>
          </a:p>
        </p:txBody>
      </p:sp>
      <p:sp>
        <p:nvSpPr>
          <p:cNvPr id="14" name="Rectangle 13">
            <a:extLst>
              <a:ext uri="{FF2B5EF4-FFF2-40B4-BE49-F238E27FC236}">
                <a16:creationId xmlns:a16="http://schemas.microsoft.com/office/drawing/2014/main" id="{0591A577-F423-F3D6-4F2F-D3BADA548130}"/>
              </a:ext>
            </a:extLst>
          </p:cNvPr>
          <p:cNvSpPr/>
          <p:nvPr/>
        </p:nvSpPr>
        <p:spPr>
          <a:xfrm>
            <a:off x="9179651" y="3847683"/>
            <a:ext cx="1283571"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prstClr val="white"/>
                </a:solidFill>
                <a:latin typeface="Calibri"/>
              </a:rPr>
              <a:t>Contactus</a:t>
            </a:r>
            <a:endParaRPr lang="en-IN" dirty="0">
              <a:solidFill>
                <a:prstClr val="white"/>
              </a:solidFill>
              <a:latin typeface="Calibri"/>
            </a:endParaRPr>
          </a:p>
        </p:txBody>
      </p:sp>
      <p:cxnSp>
        <p:nvCxnSpPr>
          <p:cNvPr id="16" name="Straight Connector 15">
            <a:extLst>
              <a:ext uri="{FF2B5EF4-FFF2-40B4-BE49-F238E27FC236}">
                <a16:creationId xmlns:a16="http://schemas.microsoft.com/office/drawing/2014/main" id="{560E93B6-170B-2B70-14A4-109B2C967240}"/>
              </a:ext>
            </a:extLst>
          </p:cNvPr>
          <p:cNvCxnSpPr>
            <a:cxnSpLocks/>
          </p:cNvCxnSpPr>
          <p:nvPr/>
        </p:nvCxnSpPr>
        <p:spPr>
          <a:xfrm>
            <a:off x="6832284" y="3447056"/>
            <a:ext cx="0" cy="558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564127-672C-EA1D-4C2E-5FD071F76429}"/>
              </a:ext>
            </a:extLst>
          </p:cNvPr>
          <p:cNvCxnSpPr/>
          <p:nvPr/>
        </p:nvCxnSpPr>
        <p:spPr>
          <a:xfrm>
            <a:off x="6816080" y="3429001"/>
            <a:ext cx="1368152" cy="8929"/>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2A41DBF-071B-1974-8A10-ACACB2775259}"/>
              </a:ext>
            </a:extLst>
          </p:cNvPr>
          <p:cNvSpPr/>
          <p:nvPr/>
        </p:nvSpPr>
        <p:spPr>
          <a:xfrm>
            <a:off x="6312028" y="3896764"/>
            <a:ext cx="1008108" cy="70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dirty="0" err="1">
                <a:solidFill>
                  <a:prstClr val="white"/>
                </a:solidFill>
                <a:latin typeface="Calibri"/>
              </a:rPr>
              <a:t>ListEmployee</a:t>
            </a:r>
            <a:endParaRPr lang="en-IN" sz="800" dirty="0">
              <a:solidFill>
                <a:prstClr val="white"/>
              </a:solidFill>
              <a:latin typeface="Calibri"/>
            </a:endParaRPr>
          </a:p>
        </p:txBody>
      </p:sp>
      <p:sp>
        <p:nvSpPr>
          <p:cNvPr id="22" name="Rectangle 21">
            <a:extLst>
              <a:ext uri="{FF2B5EF4-FFF2-40B4-BE49-F238E27FC236}">
                <a16:creationId xmlns:a16="http://schemas.microsoft.com/office/drawing/2014/main" id="{DED884FB-956F-9C53-BCBD-AB8BAD636B5F}"/>
              </a:ext>
            </a:extLst>
          </p:cNvPr>
          <p:cNvSpPr/>
          <p:nvPr/>
        </p:nvSpPr>
        <p:spPr>
          <a:xfrm>
            <a:off x="8220237" y="782863"/>
            <a:ext cx="1368151" cy="900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prstClr val="white"/>
                </a:solidFill>
                <a:latin typeface="Calibri"/>
              </a:rPr>
              <a:t>root</a:t>
            </a:r>
          </a:p>
        </p:txBody>
      </p:sp>
      <p:cxnSp>
        <p:nvCxnSpPr>
          <p:cNvPr id="24" name="Straight Connector 23">
            <a:extLst>
              <a:ext uri="{FF2B5EF4-FFF2-40B4-BE49-F238E27FC236}">
                <a16:creationId xmlns:a16="http://schemas.microsoft.com/office/drawing/2014/main" id="{2A86CCDF-C2AD-F13C-20D6-8583A8BCBBC6}"/>
              </a:ext>
            </a:extLst>
          </p:cNvPr>
          <p:cNvCxnSpPr/>
          <p:nvPr/>
        </p:nvCxnSpPr>
        <p:spPr>
          <a:xfrm>
            <a:off x="9140096" y="1718218"/>
            <a:ext cx="39555" cy="432496"/>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D219055-1ADB-C642-C3BA-1A4A5BF70914}"/>
              </a:ext>
            </a:extLst>
          </p:cNvPr>
          <p:cNvSpPr txBox="1"/>
          <p:nvPr/>
        </p:nvSpPr>
        <p:spPr>
          <a:xfrm>
            <a:off x="6312028" y="2648634"/>
            <a:ext cx="137537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solidFill>
                  <a:prstClr val="black"/>
                </a:solidFill>
                <a:latin typeface="Calibri"/>
              </a:rPr>
              <a:t>Outlet</a:t>
            </a:r>
          </a:p>
        </p:txBody>
      </p:sp>
      <p:cxnSp>
        <p:nvCxnSpPr>
          <p:cNvPr id="31" name="Straight Arrow Connector 30">
            <a:extLst>
              <a:ext uri="{FF2B5EF4-FFF2-40B4-BE49-F238E27FC236}">
                <a16:creationId xmlns:a16="http://schemas.microsoft.com/office/drawing/2014/main" id="{F674C8EC-C912-B17B-478B-6DCDC4C63315}"/>
              </a:ext>
            </a:extLst>
          </p:cNvPr>
          <p:cNvCxnSpPr/>
          <p:nvPr/>
        </p:nvCxnSpPr>
        <p:spPr>
          <a:xfrm flipV="1">
            <a:off x="6672064" y="3140968"/>
            <a:ext cx="0"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9F7571-FBB1-225F-F11D-C9C6E00EA55F}"/>
              </a:ext>
            </a:extLst>
          </p:cNvPr>
          <p:cNvSpPr txBox="1"/>
          <p:nvPr/>
        </p:nvSpPr>
        <p:spPr>
          <a:xfrm>
            <a:off x="-1" y="-75328"/>
            <a:ext cx="11420061" cy="9233297"/>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React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'./index.css'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App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reportWebVitals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BrowserRouter,Routes,Route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Home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"./Home"</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Listproduct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Listproduct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Contactus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Example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"./Example"</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Nopage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Nopage</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root = </a:t>
            </a:r>
            <a:r>
              <a:rPr lang="en-IN" b="0" dirty="0" err="1">
                <a:solidFill>
                  <a:srgbClr val="000000"/>
                </a:solidFill>
                <a:effectLst/>
                <a:latin typeface="Consolas" panose="020B0609020204030204" pitchFamily="49" charset="0"/>
              </a:rPr>
              <a:t>ReactDOM.createRoot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document.getElementById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root.render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&lt;Home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&lt;Home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Contactus</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Listproduct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Listproduct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"Example"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&lt;Example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path</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element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Nopage</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&lt;/Routes&gt;</a:t>
            </a:r>
            <a:br>
              <a:rPr lang="en-IN" b="0" dirty="0">
                <a:solidFill>
                  <a:srgbClr val="000000"/>
                </a:solidFill>
                <a:effectLst/>
                <a:latin typeface="Consolas" panose="020B0609020204030204" pitchFamily="49" charset="0"/>
              </a:rPr>
            </a:b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BrowserRouter</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If you want to start measuring performance in your app, pass a function</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to log results (for example: </a:t>
            </a:r>
            <a:r>
              <a:rPr lang="en-IN" b="0" dirty="0" err="1">
                <a:solidFill>
                  <a:srgbClr val="008000"/>
                </a:solidFill>
                <a:effectLst/>
                <a:latin typeface="Consolas" panose="020B0609020204030204" pitchFamily="49" charset="0"/>
              </a:rPr>
              <a:t>reportWebVitals</a:t>
            </a:r>
            <a:r>
              <a:rPr lang="en-IN" b="0" dirty="0">
                <a:solidFill>
                  <a:srgbClr val="008000"/>
                </a:solidFill>
                <a:effectLst/>
                <a:latin typeface="Consolas" panose="020B0609020204030204" pitchFamily="49" charset="0"/>
              </a:rPr>
              <a:t>(console.log))</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or send to an analytics endpoint. Learn more: https://bit.ly/CRA-vitals</a:t>
            </a:r>
            <a:endParaRPr lang="en-IN" b="0" dirty="0">
              <a:solidFill>
                <a:srgbClr val="000000"/>
              </a:solidFill>
              <a:effectLst/>
              <a:latin typeface="Consolas" panose="020B0609020204030204" pitchFamily="49" charset="0"/>
            </a:endParaRPr>
          </a:p>
          <a:p>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719937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8248CC-C2B8-B035-55AF-46FF07410A4B}"/>
              </a:ext>
            </a:extLst>
          </p:cNvPr>
          <p:cNvSpPr txBox="1"/>
          <p:nvPr/>
        </p:nvSpPr>
        <p:spPr>
          <a:xfrm>
            <a:off x="216176" y="0"/>
            <a:ext cx="10408754" cy="5632311"/>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Outlet, Link}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Home</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Contactus</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Listproduct</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Listproduct</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highlight>
                  <a:srgbClr val="FFFF00"/>
                </a:highlight>
                <a:latin typeface="Consolas" panose="020B0609020204030204" pitchFamily="49" charset="0"/>
              </a:rPr>
              <a:t>      </a:t>
            </a:r>
            <a:r>
              <a:rPr lang="en-IN" b="0" dirty="0">
                <a:solidFill>
                  <a:srgbClr val="800000"/>
                </a:solidFill>
                <a:effectLst/>
                <a:highlight>
                  <a:srgbClr val="FFFF00"/>
                </a:highlight>
                <a:latin typeface="Consolas" panose="020B0609020204030204" pitchFamily="49" charset="0"/>
              </a:rPr>
              <a:t>&lt;Outlet&gt;&lt;/Outlet&gt;</a:t>
            </a:r>
            <a:endParaRPr lang="en-IN" b="0" dirty="0">
              <a:solidFill>
                <a:srgbClr val="000000"/>
              </a:solidFill>
              <a:effectLst/>
              <a:highlight>
                <a:srgbClr val="FFFF00"/>
              </a:highligh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282257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ED314B-6D6D-9EC9-F878-100A624A4E8A}"/>
              </a:ext>
            </a:extLst>
          </p:cNvPr>
          <p:cNvSpPr txBox="1"/>
          <p:nvPr/>
        </p:nvSpPr>
        <p:spPr>
          <a:xfrm>
            <a:off x="444775" y="156506"/>
            <a:ext cx="6097656"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Contactus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&lt;address&gt;</a:t>
            </a:r>
            <a:r>
              <a:rPr lang="en-US" b="0" dirty="0">
                <a:solidFill>
                  <a:srgbClr val="000000"/>
                </a:solidFill>
                <a:effectLst/>
                <a:latin typeface="Consolas" panose="020B0609020204030204" pitchFamily="49" charset="0"/>
              </a:rPr>
              <a:t>Vita.net@gmail.com</a:t>
            </a:r>
            <a:r>
              <a:rPr lang="en-US" b="0" dirty="0">
                <a:solidFill>
                  <a:srgbClr val="800000"/>
                </a:solidFill>
                <a:effectLst/>
                <a:latin typeface="Consolas" panose="020B0609020204030204" pitchFamily="49" charset="0"/>
              </a:rPr>
              <a:t>&lt;/address&gt;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239AAE1E-B363-2B58-2979-A40250E2CC27}"/>
              </a:ext>
            </a:extLst>
          </p:cNvPr>
          <p:cNvSpPr txBox="1"/>
          <p:nvPr/>
        </p:nvSpPr>
        <p:spPr>
          <a:xfrm>
            <a:off x="444775" y="2362345"/>
            <a:ext cx="6097656"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Listproduct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&lt;h1&gt;</a:t>
            </a:r>
            <a:r>
              <a:rPr lang="en-US" b="0" dirty="0" err="1">
                <a:solidFill>
                  <a:srgbClr val="000000"/>
                </a:solidFill>
                <a:effectLst/>
                <a:latin typeface="Consolas" panose="020B0609020204030204" pitchFamily="49" charset="0"/>
              </a:rPr>
              <a:t>Listproduct</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DBF6C2EF-82F3-01C3-BE00-D16BC4EA9816}"/>
              </a:ext>
            </a:extLst>
          </p:cNvPr>
          <p:cNvSpPr txBox="1"/>
          <p:nvPr/>
        </p:nvSpPr>
        <p:spPr>
          <a:xfrm>
            <a:off x="623680" y="4291186"/>
            <a:ext cx="6097656"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Home()</a:t>
            </a:r>
          </a:p>
          <a:p>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This is Home Page</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41469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E4CCD-8A7A-A6B7-F09B-C74908EC3C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00727D-0B74-1EF0-4F06-1C0FBFC9AE4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96091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78DD-CA5B-57FE-3FE8-457151148750}"/>
              </a:ext>
            </a:extLst>
          </p:cNvPr>
          <p:cNvSpPr>
            <a:spLocks noGrp="1"/>
          </p:cNvSpPr>
          <p:nvPr>
            <p:ph type="title"/>
          </p:nvPr>
        </p:nvSpPr>
        <p:spPr>
          <a:xfrm>
            <a:off x="769040" y="0"/>
            <a:ext cx="10515600" cy="874643"/>
          </a:xfrm>
        </p:spPr>
        <p:txBody>
          <a:bodyPr/>
          <a:lstStyle/>
          <a:p>
            <a:pPr algn="ctr"/>
            <a:r>
              <a:rPr lang="en-US" dirty="0"/>
              <a:t>Read All Employee</a:t>
            </a:r>
            <a:endParaRPr lang="en-IN" dirty="0"/>
          </a:p>
        </p:txBody>
      </p:sp>
      <p:sp>
        <p:nvSpPr>
          <p:cNvPr id="5" name="TextBox 4">
            <a:extLst>
              <a:ext uri="{FF2B5EF4-FFF2-40B4-BE49-F238E27FC236}">
                <a16:creationId xmlns:a16="http://schemas.microsoft.com/office/drawing/2014/main" id="{25D414E3-25F6-01B8-86E5-15182EAFA0E8}"/>
              </a:ext>
            </a:extLst>
          </p:cNvPr>
          <p:cNvSpPr txBox="1"/>
          <p:nvPr/>
        </p:nvSpPr>
        <p:spPr>
          <a:xfrm>
            <a:off x="424897" y="987150"/>
            <a:ext cx="11005102" cy="5632311"/>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Outlet, Link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"/Home"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Home</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Contactus</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Contactus</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&lt;Link</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Listemployee</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Listemployee</a:t>
            </a:r>
            <a:r>
              <a:rPr lang="en-IN" b="0" dirty="0">
                <a:solidFill>
                  <a:srgbClr val="800000"/>
                </a:solidFill>
                <a:effectLst/>
                <a:latin typeface="Consolas" panose="020B0609020204030204" pitchFamily="49" charset="0"/>
              </a:rPr>
              <a:t>&lt;/Link&gt;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ul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&lt;/nav&gt;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&lt;Outlet&gt;&lt;/Outlet&gt;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036942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FE4503-F1B3-4E79-0B7B-7E34CEA8F3DF}"/>
              </a:ext>
            </a:extLst>
          </p:cNvPr>
          <p:cNvPicPr>
            <a:picLocks noChangeAspect="1"/>
          </p:cNvPicPr>
          <p:nvPr/>
        </p:nvPicPr>
        <p:blipFill>
          <a:blip r:embed="rId2"/>
          <a:stretch>
            <a:fillRect/>
          </a:stretch>
        </p:blipFill>
        <p:spPr>
          <a:xfrm>
            <a:off x="0" y="153632"/>
            <a:ext cx="12192000" cy="6550735"/>
          </a:xfrm>
          <a:prstGeom prst="rect">
            <a:avLst/>
          </a:prstGeom>
        </p:spPr>
      </p:pic>
    </p:spTree>
    <p:extLst>
      <p:ext uri="{BB962C8B-B14F-4D97-AF65-F5344CB8AC3E}">
        <p14:creationId xmlns:p14="http://schemas.microsoft.com/office/powerpoint/2010/main" val="3725029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0836D4-F31C-44AD-BA72-8D95BAAB2D66}"/>
              </a:ext>
            </a:extLst>
          </p:cNvPr>
          <p:cNvSpPr txBox="1"/>
          <p:nvPr/>
        </p:nvSpPr>
        <p:spPr>
          <a:xfrm>
            <a:off x="108048" y="-28233"/>
            <a:ext cx="7385750" cy="6555641"/>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React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/client'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'./index.css'</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App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reportWebVitals</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reportWebVitals</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BrowserRouter,Routes,Route</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'react-router-</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Home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"./Home"</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Listemployee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Listemployee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Contactus</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Contactus</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Example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"./Example"</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Nopage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Nopage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Createemp</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Createemp</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root = </a:t>
            </a:r>
            <a:r>
              <a:rPr lang="en-IN" sz="1400" b="0" dirty="0" err="1">
                <a:solidFill>
                  <a:srgbClr val="000000"/>
                </a:solidFill>
                <a:effectLst/>
                <a:latin typeface="Consolas" panose="020B0609020204030204" pitchFamily="49" charset="0"/>
              </a:rPr>
              <a:t>ReactDOM.createRoot</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document.getElementById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'root'</a:t>
            </a:r>
            <a:r>
              <a:rPr lang="en-IN" sz="1400" b="0" dirty="0">
                <a:solidFill>
                  <a:srgbClr val="000000"/>
                </a:solidFill>
                <a:effectLst/>
                <a:latin typeface="Consolas" panose="020B0609020204030204" pitchFamily="49" charset="0"/>
              </a:rPr>
              <a:t>));</a:t>
            </a:r>
          </a:p>
          <a:p>
            <a:r>
              <a:rPr lang="en-IN" sz="1400" b="0" dirty="0" err="1">
                <a:solidFill>
                  <a:srgbClr val="000000"/>
                </a:solidFill>
                <a:effectLst/>
                <a:latin typeface="Consolas" panose="020B0609020204030204" pitchFamily="49" charset="0"/>
              </a:rPr>
              <a:t>root.render</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BrowserRouter</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&lt;Routes&gt;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&lt;App</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&lt;Home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"Home"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&lt;Home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Contactus</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Contactus</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Listemployee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Listemployee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"Example"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&lt;Example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"Create"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Createemp</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path</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E50000"/>
                </a:solidFill>
                <a:effectLst/>
                <a:latin typeface="Consolas" panose="020B0609020204030204" pitchFamily="49" charset="0"/>
              </a:rPr>
              <a:t>element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Nopage</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&lt;/Routes&gt;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BrowserRouter</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err="1">
                <a:solidFill>
                  <a:srgbClr val="000000"/>
                </a:solidFill>
                <a:effectLst/>
                <a:latin typeface="Consolas" panose="020B0609020204030204" pitchFamily="49" charset="0"/>
              </a:rPr>
              <a:t>reportWebVitals</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3E09FCBF-DB88-43E6-BB3E-00F57E57B40D}"/>
              </a:ext>
            </a:extLst>
          </p:cNvPr>
          <p:cNvSpPr txBox="1"/>
          <p:nvPr/>
        </p:nvSpPr>
        <p:spPr>
          <a:xfrm>
            <a:off x="5840361" y="0"/>
            <a:ext cx="2271252"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Index.js</a:t>
            </a:r>
          </a:p>
        </p:txBody>
      </p:sp>
      <p:sp>
        <p:nvSpPr>
          <p:cNvPr id="3" name="TextBox 2">
            <a:extLst>
              <a:ext uri="{FF2B5EF4-FFF2-40B4-BE49-F238E27FC236}">
                <a16:creationId xmlns:a16="http://schemas.microsoft.com/office/drawing/2014/main" id="{708379D5-BAF3-5693-E158-DCCB89F1769B}"/>
              </a:ext>
            </a:extLst>
          </p:cNvPr>
          <p:cNvSpPr txBox="1"/>
          <p:nvPr/>
        </p:nvSpPr>
        <p:spPr>
          <a:xfrm>
            <a:off x="7822095" y="929880"/>
            <a:ext cx="4054383" cy="2031325"/>
          </a:xfrm>
          <a:prstGeom prst="rect">
            <a:avLst/>
          </a:prstGeom>
          <a:noFill/>
        </p:spPr>
        <p:txBody>
          <a:bodyPr wrap="square">
            <a:spAutoFit/>
          </a:bodyPr>
          <a:lstStyle/>
          <a:p>
            <a:r>
              <a:rPr lang="en-US" b="0" i="0" dirty="0">
                <a:solidFill>
                  <a:srgbClr val="202124"/>
                </a:solidFill>
                <a:effectLst/>
                <a:latin typeface="arial" panose="020B0604020202020204" pitchFamily="34" charset="0"/>
              </a:rPr>
              <a:t>React Router is </a:t>
            </a:r>
            <a:r>
              <a:rPr lang="en-US" b="1" i="0" dirty="0">
                <a:solidFill>
                  <a:srgbClr val="202124"/>
                </a:solidFill>
                <a:effectLst/>
                <a:latin typeface="arial" panose="020B0604020202020204" pitchFamily="34" charset="0"/>
              </a:rPr>
              <a:t>a standard library for routing in React</a:t>
            </a:r>
            <a:r>
              <a:rPr lang="en-US" b="0" i="0" dirty="0">
                <a:solidFill>
                  <a:srgbClr val="202124"/>
                </a:solidFill>
                <a:effectLst/>
                <a:latin typeface="arial" panose="020B0604020202020204" pitchFamily="34" charset="0"/>
              </a:rPr>
              <a:t>. It enables navigation between views from different components in a React application, allows the browser URL to be changed, and keeps the UI in sync with the URL.</a:t>
            </a:r>
            <a:endParaRPr lang="en-IN" dirty="0"/>
          </a:p>
        </p:txBody>
      </p:sp>
      <p:sp>
        <p:nvSpPr>
          <p:cNvPr id="4" name="Rectangle 1">
            <a:extLst>
              <a:ext uri="{FF2B5EF4-FFF2-40B4-BE49-F238E27FC236}">
                <a16:creationId xmlns:a16="http://schemas.microsoft.com/office/drawing/2014/main" id="{68E464EB-E8FE-8433-3088-AA22A819CE82}"/>
              </a:ext>
            </a:extLst>
          </p:cNvPr>
          <p:cNvSpPr>
            <a:spLocks noChangeArrowheads="1"/>
          </p:cNvSpPr>
          <p:nvPr/>
        </p:nvSpPr>
        <p:spPr bwMode="auto">
          <a:xfrm>
            <a:off x="7656857" y="3301418"/>
            <a:ext cx="4693485" cy="10772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1" i="0" u="none" strike="noStrike" cap="none" normalizeH="0" baseline="0" dirty="0">
                <a:ln>
                  <a:noFill/>
                </a:ln>
                <a:solidFill>
                  <a:schemeClr val="tx1"/>
                </a:solidFill>
                <a:effectLst/>
                <a:latin typeface="ui-monospace"/>
              </a:rPr>
            </a:br>
            <a:r>
              <a:rPr kumimoji="0" lang="en-US" altLang="en-US" sz="1600" b="1" i="0" u="none" strike="noStrike" cap="none" normalizeH="0" baseline="0" dirty="0">
                <a:ln>
                  <a:noFill/>
                </a:ln>
                <a:solidFill>
                  <a:schemeClr val="tx1"/>
                </a:solidFill>
                <a:effectLst/>
                <a:latin typeface="ui-monospace"/>
              </a:rPr>
              <a:t>routes</a:t>
            </a:r>
            <a:endParaRPr kumimoji="0" lang="en-US" altLang="en-US" sz="1600" b="1" i="0" u="none" strike="noStrike" cap="none" normalizeH="0" baseline="0" dirty="0">
              <a:ln>
                <a:noFill/>
              </a:ln>
              <a:solidFill>
                <a:schemeClr val="tx1"/>
              </a:solidFill>
              <a:effectLst/>
              <a:latin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434343"/>
                </a:solidFill>
                <a:effectLst/>
                <a:latin typeface="ui-sans-serif"/>
              </a:rPr>
              <a:t>An array of </a:t>
            </a:r>
            <a:r>
              <a:rPr kumimoji="0" lang="en-US" altLang="en-US" sz="1600" b="0" i="0" u="none" strike="noStrike" cap="none" normalizeH="0" baseline="0" dirty="0">
                <a:ln>
                  <a:noFill/>
                </a:ln>
                <a:solidFill>
                  <a:srgbClr val="434343"/>
                </a:solidFill>
                <a:effectLst/>
                <a:latin typeface="ui-monospace"/>
                <a:hlinkClick r:id="rId2"/>
              </a:rPr>
              <a:t>Route</a:t>
            </a:r>
            <a:r>
              <a:rPr kumimoji="0" lang="en-US" altLang="en-US" sz="1600" b="0" i="0" u="none" strike="noStrike" cap="none" normalizeH="0" baseline="0" dirty="0">
                <a:ln>
                  <a:noFill/>
                </a:ln>
                <a:solidFill>
                  <a:srgbClr val="434343"/>
                </a:solidFill>
                <a:effectLst/>
                <a:latin typeface="ui-sans-serif"/>
              </a:rPr>
              <a:t> objects with nested routes on the </a:t>
            </a:r>
            <a:r>
              <a:rPr kumimoji="0" lang="en-US" altLang="en-US" sz="1600" b="0" i="0" u="none" strike="noStrike" cap="none" normalizeH="0" baseline="0" dirty="0">
                <a:ln>
                  <a:noFill/>
                </a:ln>
                <a:solidFill>
                  <a:srgbClr val="434343"/>
                </a:solidFill>
                <a:effectLst/>
                <a:latin typeface="ui-monospace"/>
              </a:rPr>
              <a:t>children</a:t>
            </a:r>
            <a:r>
              <a:rPr kumimoji="0" lang="en-US" altLang="en-US" sz="1600" b="0" i="0" u="none" strike="noStrike" cap="none" normalizeH="0" baseline="0" dirty="0">
                <a:ln>
                  <a:noFill/>
                </a:ln>
                <a:solidFill>
                  <a:srgbClr val="434343"/>
                </a:solidFill>
                <a:effectLst/>
                <a:latin typeface="ui-sans-serif"/>
              </a:rPr>
              <a:t> property.</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18258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3408C4-D6AE-7524-2FC1-8E7783252783}"/>
              </a:ext>
            </a:extLst>
          </p:cNvPr>
          <p:cNvSpPr txBox="1"/>
          <p:nvPr/>
        </p:nvSpPr>
        <p:spPr>
          <a:xfrm>
            <a:off x="-72059" y="80309"/>
            <a:ext cx="6390861" cy="6001643"/>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React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{Link}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"react-router-</a:t>
            </a:r>
            <a:r>
              <a:rPr lang="en-IN" sz="1600" b="0" dirty="0" err="1">
                <a:solidFill>
                  <a:srgbClr val="A31515"/>
                </a:solidFill>
                <a:effectLst/>
                <a:latin typeface="Consolas" panose="020B0609020204030204" pitchFamily="49" charset="0"/>
              </a:rPr>
              <a:t>dom</a:t>
            </a:r>
            <a:r>
              <a:rPr lang="en-IN" sz="1600" b="0" dirty="0">
                <a:solidFill>
                  <a:srgbClr val="A31515"/>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ListEmployee</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[employees,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"https://localhost:7115/</a:t>
            </a:r>
            <a:r>
              <a:rPr lang="en-IN" sz="1600" b="0" dirty="0" err="1">
                <a:solidFill>
                  <a:srgbClr val="A31515"/>
                </a:solidFill>
                <a:effectLst/>
                <a:latin typeface="Consolas" panose="020B0609020204030204" pitchFamily="49" charset="0"/>
              </a:rPr>
              <a:t>api</a:t>
            </a:r>
            <a:r>
              <a:rPr lang="en-IN" sz="1600" b="0" dirty="0">
                <a:solidFill>
                  <a:srgbClr val="A31515"/>
                </a:solidFill>
                <a:effectLst/>
                <a:latin typeface="Consolas" panose="020B0609020204030204" pitchFamily="49" charset="0"/>
              </a:rPr>
              <a:t>/Employee"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res.json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(result);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&lt;h4&gt;&lt;Link</a:t>
            </a:r>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to</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"/create"</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Create</a:t>
            </a:r>
            <a:r>
              <a:rPr lang="en-IN" sz="1600" b="0" dirty="0">
                <a:solidFill>
                  <a:srgbClr val="800000"/>
                </a:solidFill>
                <a:effectLst/>
                <a:latin typeface="Consolas" panose="020B0609020204030204" pitchFamily="49" charset="0"/>
              </a:rPr>
              <a:t>&lt;/Link&gt;&lt;/h4&gt;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&lt;h2&gt;</a:t>
            </a:r>
            <a:r>
              <a:rPr lang="en-IN" sz="1600" b="0" dirty="0">
                <a:solidFill>
                  <a:srgbClr val="000000"/>
                </a:solidFill>
                <a:effectLst/>
                <a:latin typeface="Consolas" panose="020B0609020204030204" pitchFamily="49" charset="0"/>
              </a:rPr>
              <a:t>Employees Data...</a:t>
            </a:r>
            <a:r>
              <a:rPr lang="en-IN" sz="1600" b="0" dirty="0">
                <a:solidFill>
                  <a:srgbClr val="800000"/>
                </a:solidFill>
                <a:effectLst/>
                <a:latin typeface="Consolas" panose="020B0609020204030204" pitchFamily="49" charset="0"/>
              </a:rPr>
              <a:t>&lt;/h2&gt;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&lt;table&gt;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thead</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&lt;tr&gt;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Id</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Name</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Email</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r>
              <a:rPr lang="en-IN" sz="1600" b="0" dirty="0" err="1">
                <a:solidFill>
                  <a:srgbClr val="000000"/>
                </a:solidFill>
                <a:effectLst/>
                <a:latin typeface="Consolas" panose="020B0609020204030204" pitchFamily="49" charset="0"/>
              </a:rPr>
              <a:t>Departmrnt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th</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&lt;/tr&gt;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BD0DE89-BB89-FFE0-3916-56E0EB56FF06}"/>
              </a:ext>
            </a:extLst>
          </p:cNvPr>
          <p:cNvSpPr txBox="1"/>
          <p:nvPr/>
        </p:nvSpPr>
        <p:spPr>
          <a:xfrm>
            <a:off x="6096000" y="356349"/>
            <a:ext cx="6117534" cy="55707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thead</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tbody</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employees.map</a:t>
            </a:r>
            <a:r>
              <a:rPr kumimoji="0" lang="en-IN" sz="2400" b="1" i="0" u="none" strike="noStrike" kern="1200" cap="none" spc="0" normalizeH="0" baseline="0" noProof="0" dirty="0">
                <a:ln>
                  <a:noFill/>
                </a:ln>
                <a:solidFill>
                  <a:srgbClr val="000000"/>
                </a:solidFill>
                <a:effectLst/>
                <a:highlight>
                  <a:srgbClr val="FF0000"/>
                </a:highligh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2000" b="1" i="0" u="none" strike="noStrike" kern="1200" cap="none" spc="0" normalizeH="0" baseline="0" noProof="0" dirty="0">
                <a:ln>
                  <a:noFill/>
                </a:ln>
                <a:solidFill>
                  <a:schemeClr val="accent2"/>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key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emp.name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emp.email</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emp.department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&lt;Link to</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'/emp/'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&lt;/a&gt;&lt;/td&gt;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     &lt;td&gt;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lang="en-IN" sz="1400" dirty="0">
                <a:solidFill>
                  <a:srgbClr val="800000"/>
                </a:solidFill>
                <a:latin typeface="Consolas" panose="020B0609020204030204" pitchFamily="49" charset="0"/>
              </a:rPr>
              <a:t>L</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ink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400" dirty="0">
                <a:solidFill>
                  <a:srgbClr val="E50000"/>
                </a:solidFill>
                <a:latin typeface="Consolas" panose="020B0609020204030204" pitchFamily="49" charset="0"/>
              </a:rPr>
              <a:t>to</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empup</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Edit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&lt;/a&gt;&lt;/td&gt;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dirty="0">
              <a:solidFill>
                <a:srgbClr val="000000"/>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&lt;td&gt;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&lt;Link to</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empdel</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emp.id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delete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&lt;/a&gt;&lt;/td&gt;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&lt;/tr&gt;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2000" b="1" i="0" u="none" strike="noStrike" kern="1200" cap="none" spc="0" normalizeH="0" baseline="0" noProof="0" dirty="0">
                <a:ln>
                  <a:noFill/>
                </a:ln>
                <a:solidFill>
                  <a:schemeClr val="accent2"/>
                </a:solidFill>
                <a:effectLst/>
                <a:uLnTx/>
                <a:uFillTx/>
                <a:latin typeface="Consolas" panose="020B0609020204030204" pitchFamily="49" charset="0"/>
                <a:ea typeface="+mn-ea"/>
                <a:cs typeface="+mn-cs"/>
              </a:rPr>
              <a:t>)</a:t>
            </a:r>
            <a:r>
              <a:rPr kumimoji="0" lang="en-IN" sz="2400" b="1" i="0" u="none" strike="noStrike" kern="1200" cap="none" spc="0" normalizeH="0" baseline="0" noProof="0" dirty="0">
                <a:ln>
                  <a:noFill/>
                </a:ln>
                <a:effectLst/>
                <a:highlight>
                  <a:srgbClr val="FF0000"/>
                </a:highlight>
                <a:uLnTx/>
                <a:uFillTx/>
                <a:latin typeface="Consolas" panose="020B0609020204030204" pitchFamily="49" charset="0"/>
                <a:ea typeface="+mn-ea"/>
                <a:cs typeface="+mn-cs"/>
              </a:rPr>
              <a:t>)</a:t>
            </a:r>
            <a:endParaRPr kumimoji="0" lang="en-IN" sz="1400" b="1" i="0" u="none" strike="noStrike" kern="1200" cap="none" spc="0" normalizeH="0" baseline="0" noProof="0" dirty="0">
              <a:ln>
                <a:noFill/>
              </a:ln>
              <a:effectLst/>
              <a:highlight>
                <a:srgbClr val="FF0000"/>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tbody</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&lt;/table&gt;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export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default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ListEmployee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2" name="TextBox 1">
            <a:extLst>
              <a:ext uri="{FF2B5EF4-FFF2-40B4-BE49-F238E27FC236}">
                <a16:creationId xmlns:a16="http://schemas.microsoft.com/office/drawing/2014/main" id="{295D4339-B6C2-6E11-C603-452E6EAF0314}"/>
              </a:ext>
            </a:extLst>
          </p:cNvPr>
          <p:cNvSpPr txBox="1"/>
          <p:nvPr/>
        </p:nvSpPr>
        <p:spPr>
          <a:xfrm>
            <a:off x="2345634" y="5769267"/>
            <a:ext cx="1202636" cy="369332"/>
          </a:xfrm>
          <a:prstGeom prst="rect">
            <a:avLst/>
          </a:prstGeom>
          <a:noFill/>
        </p:spPr>
        <p:txBody>
          <a:bodyPr wrap="square" rtlCol="0">
            <a:spAutoFit/>
          </a:bodyPr>
          <a:lstStyle/>
          <a:p>
            <a:r>
              <a:rPr lang="en-US" dirty="0"/>
              <a:t>[…….]</a:t>
            </a:r>
            <a:endParaRPr lang="en-IN" dirty="0"/>
          </a:p>
        </p:txBody>
      </p:sp>
      <p:sp>
        <p:nvSpPr>
          <p:cNvPr id="3" name="Isosceles Triangle 2">
            <a:extLst>
              <a:ext uri="{FF2B5EF4-FFF2-40B4-BE49-F238E27FC236}">
                <a16:creationId xmlns:a16="http://schemas.microsoft.com/office/drawing/2014/main" id="{86FDBC0B-E1F0-3244-F5D4-F9430E6EE98E}"/>
              </a:ext>
            </a:extLst>
          </p:cNvPr>
          <p:cNvSpPr/>
          <p:nvPr/>
        </p:nvSpPr>
        <p:spPr>
          <a:xfrm>
            <a:off x="3299792" y="5357191"/>
            <a:ext cx="1729408" cy="899093"/>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Map</a:t>
            </a:r>
            <a:endParaRPr lang="en-IN" dirty="0"/>
          </a:p>
        </p:txBody>
      </p:sp>
      <p:cxnSp>
        <p:nvCxnSpPr>
          <p:cNvPr id="6" name="Straight Arrow Connector 5">
            <a:extLst>
              <a:ext uri="{FF2B5EF4-FFF2-40B4-BE49-F238E27FC236}">
                <a16:creationId xmlns:a16="http://schemas.microsoft.com/office/drawing/2014/main" id="{C64538D8-9B5A-D667-BE98-98C2E1B01299}"/>
              </a:ext>
            </a:extLst>
          </p:cNvPr>
          <p:cNvCxnSpPr/>
          <p:nvPr/>
        </p:nvCxnSpPr>
        <p:spPr>
          <a:xfrm>
            <a:off x="2971800" y="5983357"/>
            <a:ext cx="5764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998279F-7B8C-80EA-F82A-8EF845ABDED6}"/>
              </a:ext>
            </a:extLst>
          </p:cNvPr>
          <p:cNvCxnSpPr/>
          <p:nvPr/>
        </p:nvCxnSpPr>
        <p:spPr>
          <a:xfrm>
            <a:off x="5546035" y="5953539"/>
            <a:ext cx="6957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E24B425-970D-50AF-574A-97C298772E9C}"/>
              </a:ext>
            </a:extLst>
          </p:cNvPr>
          <p:cNvSpPr txBox="1"/>
          <p:nvPr/>
        </p:nvSpPr>
        <p:spPr>
          <a:xfrm>
            <a:off x="5208105" y="5901128"/>
            <a:ext cx="4482548" cy="923330"/>
          </a:xfrm>
          <a:prstGeom prst="rect">
            <a:avLst/>
          </a:prstGeom>
          <a:noFill/>
        </p:spPr>
        <p:txBody>
          <a:bodyPr wrap="square">
            <a:spAutoFit/>
          </a:bodyPr>
          <a:lstStyle/>
          <a:p>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((emp)=&gt;{id:1.name:’raj’,email:’asd@as.com’,department:’hr’}</a:t>
            </a:r>
            <a:endParaRPr lang="en-IN" dirty="0"/>
          </a:p>
        </p:txBody>
      </p:sp>
    </p:spTree>
    <p:extLst>
      <p:ext uri="{BB962C8B-B14F-4D97-AF65-F5344CB8AC3E}">
        <p14:creationId xmlns:p14="http://schemas.microsoft.com/office/powerpoint/2010/main" val="2141167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9F1887-FBAE-7415-87A0-633AB6A99DDB}"/>
              </a:ext>
            </a:extLst>
          </p:cNvPr>
          <p:cNvSpPr txBox="1"/>
          <p:nvPr/>
        </p:nvSpPr>
        <p:spPr>
          <a:xfrm>
            <a:off x="1634067" y="1574217"/>
            <a:ext cx="8983133" cy="646331"/>
          </a:xfrm>
          <a:prstGeom prst="rect">
            <a:avLst/>
          </a:prstGeom>
          <a:noFill/>
        </p:spPr>
        <p:txBody>
          <a:bodyPr wrap="square">
            <a:spAutoFit/>
          </a:bodyPr>
          <a:lstStyle/>
          <a:p>
            <a:r>
              <a:rPr lang="en-IN">
                <a:solidFill>
                  <a:srgbClr val="000000"/>
                </a:solidFill>
                <a:latin typeface="Consolas" panose="020B0609020204030204" pitchFamily="49" charset="0"/>
              </a:rPr>
              <a:t>employees .</a:t>
            </a:r>
            <a:r>
              <a:rPr lang="en-IN" sz="1800" b="0">
                <a:solidFill>
                  <a:srgbClr val="795E26"/>
                </a:solidFill>
                <a:effectLst/>
                <a:latin typeface="Consolas" panose="020B0609020204030204" pitchFamily="49" charset="0"/>
              </a:rPr>
              <a:t>map</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person</a:t>
            </a: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i</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=&gt;</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a:t>
            </a:r>
            <a:r>
              <a:rPr lang="en-IN" sz="1800" b="1" dirty="0" err="1">
                <a:solidFill>
                  <a:srgbClr val="267F99"/>
                </a:solidFill>
                <a:effectLst/>
                <a:latin typeface="Consolas" panose="020B0609020204030204" pitchFamily="49" charset="0"/>
              </a:rPr>
              <a:t>TableRow</a:t>
            </a: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key</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i</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p>
          <a:p>
            <a:pPr marL="0" indent="0">
              <a:lnSpc>
                <a:spcPct val="100000"/>
              </a:lnSpc>
              <a:spcBef>
                <a:spcPts val="0"/>
              </a:spcBef>
              <a:buNone/>
            </a:pP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data</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a:t>
            </a:r>
            <a:r>
              <a:rPr lang="en-IN" sz="1800" b="0" dirty="0">
                <a:solidFill>
                  <a:srgbClr val="001080"/>
                </a:solidFill>
                <a:effectLst/>
                <a:latin typeface="Consolas" panose="020B0609020204030204" pitchFamily="49" charset="0"/>
              </a:rPr>
              <a:t>person</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endParaRPr lang="en-IN" sz="18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524764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F2CFA-D050-16C1-6A9F-3EA791960113}"/>
              </a:ext>
            </a:extLst>
          </p:cNvPr>
          <p:cNvSpPr>
            <a:spLocks noGrp="1"/>
          </p:cNvSpPr>
          <p:nvPr>
            <p:ph type="title"/>
          </p:nvPr>
        </p:nvSpPr>
        <p:spPr>
          <a:xfrm>
            <a:off x="8271933" y="0"/>
            <a:ext cx="3920067" cy="228600"/>
          </a:xfrm>
        </p:spPr>
        <p:txBody>
          <a:bodyPr>
            <a:normAutofit fontScale="90000"/>
          </a:bodyPr>
          <a:lstStyle/>
          <a:p>
            <a:pPr algn="ctr"/>
            <a:r>
              <a:rPr lang="en-IN" dirty="0">
                <a:solidFill>
                  <a:srgbClr val="FF0000"/>
                </a:solidFill>
                <a:highlight>
                  <a:srgbClr val="FFFF00"/>
                </a:highlight>
              </a:rPr>
              <a:t>Best Practices</a:t>
            </a:r>
          </a:p>
        </p:txBody>
      </p:sp>
      <p:sp>
        <p:nvSpPr>
          <p:cNvPr id="5" name="TextBox 4">
            <a:extLst>
              <a:ext uri="{FF2B5EF4-FFF2-40B4-BE49-F238E27FC236}">
                <a16:creationId xmlns:a16="http://schemas.microsoft.com/office/drawing/2014/main" id="{4D940BB0-1E19-9C18-2113-3E62885F1EDD}"/>
              </a:ext>
            </a:extLst>
          </p:cNvPr>
          <p:cNvSpPr txBox="1"/>
          <p:nvPr/>
        </p:nvSpPr>
        <p:spPr>
          <a:xfrm>
            <a:off x="0" y="0"/>
            <a:ext cx="7594600" cy="6740307"/>
          </a:xfrm>
          <a:prstGeom prst="rect">
            <a:avLst/>
          </a:prstGeom>
          <a:noFill/>
        </p:spPr>
        <p:txBody>
          <a:bodyPr wrap="square">
            <a:spAutoFit/>
          </a:bodyPr>
          <a:lstStyle/>
          <a:p>
            <a:pPr>
              <a:buNone/>
            </a:pPr>
            <a:r>
              <a:rPr lang="en-IN" sz="1200" b="0" dirty="0">
                <a:solidFill>
                  <a:srgbClr val="AF00DB"/>
                </a:solidFill>
                <a:effectLst/>
                <a:latin typeface="Consolas" panose="020B0609020204030204" pitchFamily="49" charset="0"/>
              </a:rPr>
              <a:t>import</a:t>
            </a:r>
            <a:r>
              <a:rPr lang="en-IN" sz="1200" b="0" dirty="0">
                <a:solidFill>
                  <a:srgbClr val="3B3B3B"/>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useEffect</a:t>
            </a: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a:t>
            </a:r>
            <a:r>
              <a:rPr lang="en-IN" sz="1200" b="0" dirty="0">
                <a:solidFill>
                  <a:srgbClr val="3B3B3B"/>
                </a:solidFill>
                <a:effectLst/>
                <a:latin typeface="Consolas" panose="020B0609020204030204" pitchFamily="49" charset="0"/>
              </a:rPr>
              <a:t>;</a:t>
            </a:r>
          </a:p>
          <a:p>
            <a:pPr>
              <a:buNone/>
            </a:pPr>
            <a:r>
              <a:rPr lang="en-IN" sz="1200" b="0" dirty="0">
                <a:solidFill>
                  <a:srgbClr val="AF00DB"/>
                </a:solidFill>
                <a:effectLst/>
                <a:latin typeface="Consolas" panose="020B0609020204030204" pitchFamily="49" charset="0"/>
              </a:rPr>
              <a:t>import</a:t>
            </a:r>
            <a:r>
              <a:rPr lang="en-IN" sz="1200" b="0" dirty="0">
                <a:solidFill>
                  <a:srgbClr val="3B3B3B"/>
                </a:solidFill>
                <a:effectLst/>
                <a:latin typeface="Consolas" panose="020B0609020204030204" pitchFamily="49" charset="0"/>
              </a:rPr>
              <a:t> { </a:t>
            </a:r>
            <a:r>
              <a:rPr lang="en-IN" sz="1200" b="0" dirty="0">
                <a:solidFill>
                  <a:srgbClr val="001080"/>
                </a:solidFill>
                <a:effectLst/>
                <a:latin typeface="Consolas" panose="020B0609020204030204" pitchFamily="49" charset="0"/>
              </a:rPr>
              <a:t>Link</a:t>
            </a: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from</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"react-router-</a:t>
            </a:r>
            <a:r>
              <a:rPr lang="en-IN" sz="1200" b="0" dirty="0" err="1">
                <a:solidFill>
                  <a:srgbClr val="A31515"/>
                </a:solidFill>
                <a:effectLst/>
                <a:latin typeface="Consolas" panose="020B0609020204030204" pitchFamily="49" charset="0"/>
              </a:rPr>
              <a:t>dom</a:t>
            </a:r>
            <a:r>
              <a:rPr lang="en-IN" sz="1200" b="0" dirty="0">
                <a:solidFill>
                  <a:srgbClr val="A31515"/>
                </a:solidFill>
                <a:effectLst/>
                <a:latin typeface="Consolas" panose="020B0609020204030204" pitchFamily="49" charset="0"/>
              </a:rPr>
              <a:t>"</a:t>
            </a:r>
            <a:endParaRPr lang="en-IN" sz="1200" b="0" dirty="0">
              <a:solidFill>
                <a:srgbClr val="3B3B3B"/>
              </a:solidFill>
              <a:effectLst/>
              <a:latin typeface="Consolas" panose="020B0609020204030204" pitchFamily="49" charset="0"/>
            </a:endParaRPr>
          </a:p>
          <a:p>
            <a:pPr>
              <a:buNone/>
            </a:pPr>
            <a:r>
              <a:rPr lang="en-IN" sz="1200" b="0" dirty="0">
                <a:solidFill>
                  <a:srgbClr val="0000FF"/>
                </a:solidFill>
                <a:effectLst/>
                <a:latin typeface="Consolas" panose="020B0609020204030204" pitchFamily="49" charset="0"/>
              </a:rPr>
              <a:t>function</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Listemployee</a:t>
            </a:r>
            <a:r>
              <a:rPr lang="en-IN" sz="1200" b="0" dirty="0">
                <a:solidFill>
                  <a:srgbClr val="3B3B3B"/>
                </a:solidFill>
                <a:effectLst/>
                <a:latin typeface="Consolas" panose="020B0609020204030204" pitchFamily="49" charset="0"/>
              </a:rPr>
              <a:t>() {</a:t>
            </a:r>
          </a:p>
          <a:p>
            <a:pPr>
              <a:buNone/>
            </a:pP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employees</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setEmployees</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loading</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setLoading</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a:t>
            </a:r>
            <a:r>
              <a:rPr lang="en-IN" sz="1200" b="0" dirty="0">
                <a:solidFill>
                  <a:srgbClr val="0000FF"/>
                </a:solidFill>
                <a:effectLst/>
                <a:latin typeface="Consolas" panose="020B0609020204030204" pitchFamily="49" charset="0"/>
              </a:rPr>
              <a:t>true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error</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setError</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useState</a:t>
            </a:r>
            <a:r>
              <a:rPr lang="en-IN" sz="1200" b="0" dirty="0">
                <a:solidFill>
                  <a:srgbClr val="3B3B3B"/>
                </a:solidFill>
                <a:effectLst/>
                <a:latin typeface="Consolas" panose="020B0609020204030204" pitchFamily="49" charset="0"/>
              </a:rPr>
              <a:t>(</a:t>
            </a:r>
            <a:r>
              <a:rPr lang="en-IN" sz="1200" b="0" dirty="0">
                <a:solidFill>
                  <a:srgbClr val="0000FF"/>
                </a:solidFill>
                <a:effectLst/>
                <a:latin typeface="Consolas" panose="020B0609020204030204" pitchFamily="49" charset="0"/>
              </a:rPr>
              <a:t>null</a:t>
            </a:r>
            <a:r>
              <a:rPr lang="en-IN" sz="1200" b="0" dirty="0">
                <a:solidFill>
                  <a:srgbClr val="3B3B3B"/>
                </a:solidFill>
                <a:effectLst/>
                <a:latin typeface="Consolas" panose="020B0609020204030204" pitchFamily="49" charset="0"/>
              </a:rPr>
              <a:t>);</a:t>
            </a:r>
          </a:p>
          <a:p>
            <a:pPr>
              <a:buNone/>
            </a:pPr>
            <a:r>
              <a:rPr lang="en-IN" sz="1200" b="0" dirty="0">
                <a:solidFill>
                  <a:srgbClr val="001080"/>
                </a:solidFill>
                <a:effectLst/>
                <a:latin typeface="Consolas" panose="020B0609020204030204" pitchFamily="49" charset="0"/>
              </a:rPr>
              <a:t>console</a:t>
            </a:r>
            <a:r>
              <a:rPr lang="en-IN" sz="1200" b="0" dirty="0">
                <a:solidFill>
                  <a:srgbClr val="3B3B3B"/>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3B3B3B"/>
                </a:solidFill>
                <a:effectLst/>
                <a:latin typeface="Consolas" panose="020B0609020204030204" pitchFamily="49" charset="0"/>
              </a:rPr>
              <a:t>(</a:t>
            </a:r>
            <a:r>
              <a:rPr lang="en-IN" sz="1200" b="0" dirty="0">
                <a:solidFill>
                  <a:srgbClr val="A31515"/>
                </a:solidFill>
                <a:effectLst/>
                <a:latin typeface="Consolas" panose="020B0609020204030204" pitchFamily="49" charset="0"/>
              </a:rPr>
              <a:t>"Rendering </a:t>
            </a:r>
            <a:r>
              <a:rPr lang="en-IN" sz="1200" b="0" dirty="0" err="1">
                <a:solidFill>
                  <a:srgbClr val="A31515"/>
                </a:solidFill>
                <a:effectLst/>
                <a:latin typeface="Consolas" panose="020B0609020204030204" pitchFamily="49" charset="0"/>
              </a:rPr>
              <a:t>Listemployee</a:t>
            </a:r>
            <a:r>
              <a:rPr lang="en-IN" sz="1200" b="0" dirty="0">
                <a:solidFill>
                  <a:srgbClr val="A31515"/>
                </a:solidFill>
                <a:effectLst/>
                <a:latin typeface="Consolas" panose="020B0609020204030204" pitchFamily="49" charset="0"/>
              </a:rPr>
              <a:t> component"</a:t>
            </a:r>
            <a:r>
              <a:rPr lang="en-IN" sz="1200" b="0" dirty="0">
                <a:solidFill>
                  <a:srgbClr val="3B3B3B"/>
                </a:solidFill>
                <a:effectLst/>
                <a:latin typeface="Consolas" panose="020B0609020204030204" pitchFamily="49" charset="0"/>
              </a:rPr>
              <a:t>);</a:t>
            </a:r>
          </a:p>
          <a:p>
            <a:pPr>
              <a:buNone/>
            </a:pP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useEffect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=&gt;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let</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isMounted</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true</a:t>
            </a:r>
            <a:r>
              <a:rPr lang="en-IN" sz="1200" b="0" dirty="0">
                <a:solidFill>
                  <a:srgbClr val="3B3B3B"/>
                </a:solidFill>
                <a:effectLst/>
                <a:latin typeface="Consolas" panose="020B0609020204030204" pitchFamily="49" charset="0"/>
              </a:rPr>
              <a:t>; </a:t>
            </a:r>
            <a:r>
              <a:rPr lang="en-IN" sz="1200" b="0" dirty="0">
                <a:solidFill>
                  <a:srgbClr val="008000"/>
                </a:solidFill>
                <a:effectLst/>
                <a:latin typeface="Consolas" panose="020B0609020204030204" pitchFamily="49" charset="0"/>
              </a:rPr>
              <a:t>// track if component is still mounted</a:t>
            </a: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highlight>
                  <a:srgbClr val="FFFF00"/>
                </a:highlight>
                <a:latin typeface="Consolas" panose="020B0609020204030204" pitchFamily="49" charset="0"/>
              </a:rPr>
              <a:t>const</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70C1"/>
                </a:solidFill>
                <a:effectLst/>
                <a:highlight>
                  <a:srgbClr val="FFFF00"/>
                </a:highlight>
                <a:latin typeface="Consolas" panose="020B0609020204030204" pitchFamily="49" charset="0"/>
              </a:rPr>
              <a:t>controller</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0000"/>
                </a:solidFill>
                <a:effectLst/>
                <a:highlight>
                  <a:srgbClr val="FFFF00"/>
                </a:highlight>
                <a:latin typeface="Consolas" panose="020B0609020204030204" pitchFamily="49" charset="0"/>
              </a:rPr>
              <a:t>=</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00FF"/>
                </a:solidFill>
                <a:effectLst/>
                <a:highlight>
                  <a:srgbClr val="FFFF00"/>
                </a:highlight>
                <a:latin typeface="Consolas" panose="020B0609020204030204" pitchFamily="49" charset="0"/>
              </a:rPr>
              <a:t>new</a:t>
            </a:r>
            <a:r>
              <a:rPr lang="en-IN" sz="1200" b="0" dirty="0">
                <a:solidFill>
                  <a:srgbClr val="3B3B3B"/>
                </a:solidFill>
                <a:effectLst/>
                <a:highlight>
                  <a:srgbClr val="FFFF00"/>
                </a:highlight>
                <a:latin typeface="Consolas" panose="020B0609020204030204" pitchFamily="49" charset="0"/>
              </a:rPr>
              <a:t> </a:t>
            </a:r>
            <a:r>
              <a:rPr lang="en-IN" sz="1200" b="0" dirty="0" err="1">
                <a:solidFill>
                  <a:srgbClr val="267F99"/>
                </a:solidFill>
                <a:effectLst/>
                <a:highlight>
                  <a:srgbClr val="FFFF00"/>
                </a:highlight>
                <a:latin typeface="Consolas" panose="020B0609020204030204" pitchFamily="49" charset="0"/>
              </a:rPr>
              <a:t>AbortController</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8000"/>
                </a:solidFill>
                <a:effectLst/>
                <a:highlight>
                  <a:srgbClr val="FFFF00"/>
                </a:highlight>
                <a:latin typeface="Consolas" panose="020B0609020204030204" pitchFamily="49" charset="0"/>
              </a:rPr>
              <a:t>// for cancellation</a:t>
            </a:r>
            <a:endParaRPr lang="en-IN" sz="1200" b="0" dirty="0">
              <a:solidFill>
                <a:srgbClr val="3B3B3B"/>
              </a:solidFill>
              <a:effectLst/>
              <a:highlight>
                <a:srgbClr val="FFFF00"/>
              </a:highlight>
              <a:latin typeface="Consolas" panose="020B0609020204030204" pitchFamily="49" charset="0"/>
            </a:endParaRPr>
          </a:p>
          <a:p>
            <a:pPr>
              <a:buNone/>
            </a:pPr>
            <a:r>
              <a:rPr lang="en-IN" sz="1200" b="0" dirty="0">
                <a:solidFill>
                  <a:srgbClr val="3B3B3B"/>
                </a:solidFill>
                <a:effectLst/>
                <a:highlight>
                  <a:srgbClr val="FFFF00"/>
                </a:highlight>
                <a:latin typeface="Consolas" panose="020B0609020204030204" pitchFamily="49" charset="0"/>
              </a:rPr>
              <a:t>    </a:t>
            </a:r>
            <a:r>
              <a:rPr lang="en-IN" sz="1200" b="0" dirty="0" err="1">
                <a:solidFill>
                  <a:srgbClr val="0000FF"/>
                </a:solidFill>
                <a:effectLst/>
                <a:highlight>
                  <a:srgbClr val="FFFF00"/>
                </a:highlight>
                <a:latin typeface="Consolas" panose="020B0609020204030204" pitchFamily="49" charset="0"/>
              </a:rPr>
              <a:t>const</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70C1"/>
                </a:solidFill>
                <a:effectLst/>
                <a:highlight>
                  <a:srgbClr val="FFFF00"/>
                </a:highlight>
                <a:latin typeface="Consolas" panose="020B0609020204030204" pitchFamily="49" charset="0"/>
              </a:rPr>
              <a:t>signal</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0000"/>
                </a:solidFill>
                <a:effectLst/>
                <a:highlight>
                  <a:srgbClr val="FFFF00"/>
                </a:highlight>
                <a:latin typeface="Consolas" panose="020B0609020204030204" pitchFamily="49" charset="0"/>
              </a:rPr>
              <a:t>=</a:t>
            </a:r>
            <a:r>
              <a:rPr lang="en-IN" sz="1200" b="0" dirty="0">
                <a:solidFill>
                  <a:srgbClr val="3B3B3B"/>
                </a:solidFill>
                <a:effectLst/>
                <a:highlight>
                  <a:srgbClr val="FFFF00"/>
                </a:highlight>
                <a:latin typeface="Consolas" panose="020B0609020204030204" pitchFamily="49" charset="0"/>
              </a:rPr>
              <a:t> </a:t>
            </a:r>
            <a:r>
              <a:rPr lang="en-IN" sz="1200" b="0" dirty="0" err="1">
                <a:solidFill>
                  <a:srgbClr val="0070C1"/>
                </a:solidFill>
                <a:effectLst/>
                <a:highlight>
                  <a:srgbClr val="FFFF00"/>
                </a:highlight>
                <a:latin typeface="Consolas" panose="020B0609020204030204" pitchFamily="49" charset="0"/>
              </a:rPr>
              <a:t>controller</a:t>
            </a:r>
            <a:r>
              <a:rPr lang="en-IN" sz="1200" b="0" dirty="0" err="1">
                <a:solidFill>
                  <a:srgbClr val="3B3B3B"/>
                </a:solidFill>
                <a:effectLst/>
                <a:highlight>
                  <a:srgbClr val="FFFF00"/>
                </a:highlight>
                <a:latin typeface="Consolas" panose="020B0609020204030204" pitchFamily="49" charset="0"/>
              </a:rPr>
              <a:t>.</a:t>
            </a:r>
            <a:r>
              <a:rPr lang="en-IN" sz="1200" b="0" dirty="0" err="1">
                <a:solidFill>
                  <a:srgbClr val="0070C1"/>
                </a:solidFill>
                <a:effectLst/>
                <a:highlight>
                  <a:srgbClr val="FFFF00"/>
                </a:highlight>
                <a:latin typeface="Consolas" panose="020B0609020204030204" pitchFamily="49" charset="0"/>
              </a:rPr>
              <a:t>signal</a:t>
            </a:r>
            <a:r>
              <a:rPr lang="en-IN" sz="1200" b="0" dirty="0">
                <a:solidFill>
                  <a:srgbClr val="3B3B3B"/>
                </a:solidFill>
                <a:effectLst/>
                <a:highlight>
                  <a:srgbClr val="FFFF00"/>
                </a:highlight>
                <a:latin typeface="Consolas" panose="020B0609020204030204" pitchFamily="49" charset="0"/>
              </a:rPr>
              <a:t>;</a:t>
            </a:r>
          </a:p>
          <a:p>
            <a:pPr>
              <a:buNone/>
            </a:pPr>
            <a:br>
              <a:rPr lang="en-IN" sz="1200" b="0" dirty="0">
                <a:solidFill>
                  <a:srgbClr val="3B3B3B"/>
                </a:solidFill>
                <a:effectLst/>
                <a:latin typeface="Consolas" panose="020B0609020204030204" pitchFamily="49" charset="0"/>
              </a:rPr>
            </a:b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fetchEmployees</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async</a:t>
            </a:r>
            <a:r>
              <a:rPr lang="en-IN" sz="1200" b="0" dirty="0">
                <a:solidFill>
                  <a:srgbClr val="3B3B3B"/>
                </a:solidFill>
                <a:effectLst/>
                <a:latin typeface="Consolas" panose="020B0609020204030204" pitchFamily="49" charset="0"/>
              </a:rPr>
              <a:t> () </a:t>
            </a:r>
            <a:r>
              <a:rPr lang="en-IN" sz="1200" b="0" dirty="0">
                <a:solidFill>
                  <a:srgbClr val="0000FF"/>
                </a:solidFill>
                <a:effectLst/>
                <a:latin typeface="Consolas" panose="020B0609020204030204" pitchFamily="49" charset="0"/>
              </a:rPr>
              <a:t>=&gt;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try</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response</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await</a:t>
            </a:r>
            <a:r>
              <a:rPr lang="en-IN" sz="1200" b="0" dirty="0">
                <a:solidFill>
                  <a:srgbClr val="3B3B3B"/>
                </a:solidFill>
                <a:effectLst/>
                <a:latin typeface="Consolas" panose="020B0609020204030204" pitchFamily="49" charset="0"/>
              </a:rPr>
              <a:t> </a:t>
            </a:r>
            <a:r>
              <a:rPr lang="en-IN" sz="1200" b="0" dirty="0">
                <a:solidFill>
                  <a:srgbClr val="795E26"/>
                </a:solidFill>
                <a:effectLst/>
                <a:latin typeface="Consolas" panose="020B0609020204030204" pitchFamily="49" charset="0"/>
              </a:rPr>
              <a:t>fetch</a:t>
            </a:r>
            <a:r>
              <a:rPr lang="en-IN" sz="1200" b="0" dirty="0">
                <a:solidFill>
                  <a:srgbClr val="3B3B3B"/>
                </a:solidFill>
                <a:effectLst/>
                <a:latin typeface="Consolas" panose="020B0609020204030204" pitchFamily="49" charset="0"/>
              </a:rPr>
              <a:t>(</a:t>
            </a:r>
            <a:r>
              <a:rPr lang="en-IN" sz="1200" b="0" dirty="0">
                <a:solidFill>
                  <a:srgbClr val="A31515"/>
                </a:solidFill>
                <a:effectLst/>
                <a:latin typeface="Consolas" panose="020B0609020204030204" pitchFamily="49" charset="0"/>
              </a:rPr>
              <a:t>"https://localhost:7067/</a:t>
            </a:r>
            <a:r>
              <a:rPr lang="en-IN" sz="1200" b="0" dirty="0" err="1">
                <a:solidFill>
                  <a:srgbClr val="A31515"/>
                </a:solidFill>
                <a:effectLst/>
                <a:latin typeface="Consolas" panose="020B0609020204030204" pitchFamily="49" charset="0"/>
              </a:rPr>
              <a:t>api</a:t>
            </a:r>
            <a:r>
              <a:rPr lang="en-IN" sz="1200" b="0" dirty="0">
                <a:solidFill>
                  <a:srgbClr val="A31515"/>
                </a:solidFill>
                <a:effectLst/>
                <a:latin typeface="Consolas" panose="020B0609020204030204" pitchFamily="49" charset="0"/>
              </a:rPr>
              <a:t>/Employee"</a:t>
            </a:r>
            <a:r>
              <a:rPr lang="en-IN" sz="1200" b="0" dirty="0">
                <a:solidFill>
                  <a:srgbClr val="3B3B3B"/>
                </a:solidFill>
                <a:effectLst/>
                <a:latin typeface="Consolas" panose="020B0609020204030204" pitchFamily="49" charset="0"/>
              </a:rPr>
              <a:t>, {</a:t>
            </a:r>
            <a:r>
              <a:rPr lang="en-IN" sz="1200" b="0" dirty="0">
                <a:solidFill>
                  <a:srgbClr val="3B3B3B"/>
                </a:solidFill>
                <a:effectLst/>
                <a:highlight>
                  <a:srgbClr val="FFFF00"/>
                </a:highlight>
                <a:latin typeface="Consolas" panose="020B0609020204030204" pitchFamily="49" charset="0"/>
              </a:rPr>
              <a:t> </a:t>
            </a:r>
            <a:r>
              <a:rPr lang="en-IN" sz="1200" b="0" dirty="0">
                <a:solidFill>
                  <a:srgbClr val="001080"/>
                </a:solidFill>
                <a:effectLst/>
                <a:highlight>
                  <a:srgbClr val="FFFF00"/>
                </a:highlight>
                <a:latin typeface="Consolas" panose="020B0609020204030204" pitchFamily="49" charset="0"/>
              </a:rPr>
              <a:t>signal</a:t>
            </a:r>
            <a:r>
              <a:rPr lang="en-IN" sz="1200" b="0" dirty="0">
                <a:solidFill>
                  <a:srgbClr val="3B3B3B"/>
                </a:solidFill>
                <a:effectLst/>
                <a:highlight>
                  <a:srgbClr val="FFFF00"/>
                </a:highlight>
                <a:latin typeface="Consolas" panose="020B0609020204030204" pitchFamily="49" charset="0"/>
              </a:rPr>
              <a:t> </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response</a:t>
            </a:r>
            <a:r>
              <a:rPr lang="en-IN" sz="1200" b="0" dirty="0" err="1">
                <a:solidFill>
                  <a:srgbClr val="3B3B3B"/>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ok</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throw</a:t>
            </a:r>
            <a:r>
              <a:rPr lang="en-IN" sz="1200" b="0" dirty="0">
                <a:solidFill>
                  <a:srgbClr val="3B3B3B"/>
                </a:solidFill>
                <a:effectLst/>
                <a:latin typeface="Consolas" panose="020B0609020204030204" pitchFamily="49" charset="0"/>
              </a:rPr>
              <a:t> </a:t>
            </a:r>
            <a:r>
              <a:rPr lang="en-IN" sz="1200" b="0" dirty="0">
                <a:solidFill>
                  <a:srgbClr val="0000FF"/>
                </a:solidFill>
                <a:effectLst/>
                <a:latin typeface="Consolas" panose="020B0609020204030204" pitchFamily="49" charset="0"/>
              </a:rPr>
              <a:t>new</a:t>
            </a:r>
            <a:r>
              <a:rPr lang="en-IN" sz="1200" b="0" dirty="0">
                <a:solidFill>
                  <a:srgbClr val="3B3B3B"/>
                </a:solidFill>
                <a:effectLst/>
                <a:latin typeface="Consolas" panose="020B0609020204030204" pitchFamily="49" charset="0"/>
              </a:rPr>
              <a:t> </a:t>
            </a:r>
            <a:r>
              <a:rPr lang="en-IN" sz="1200" b="0" dirty="0">
                <a:solidFill>
                  <a:srgbClr val="267F99"/>
                </a:solidFill>
                <a:effectLst/>
                <a:latin typeface="Consolas" panose="020B0609020204030204" pitchFamily="49" charset="0"/>
              </a:rPr>
              <a:t>Error</a:t>
            </a:r>
            <a:r>
              <a:rPr lang="en-IN" sz="1200" b="0" dirty="0">
                <a:solidFill>
                  <a:srgbClr val="3B3B3B"/>
                </a:solidFill>
                <a:effectLst/>
                <a:latin typeface="Consolas" panose="020B0609020204030204" pitchFamily="49" charset="0"/>
              </a:rPr>
              <a:t>(</a:t>
            </a:r>
            <a:r>
              <a:rPr lang="en-IN" sz="1200" b="0" dirty="0">
                <a:solidFill>
                  <a:srgbClr val="A31515"/>
                </a:solidFill>
                <a:effectLst/>
                <a:latin typeface="Consolas" panose="020B0609020204030204" pitchFamily="49" charset="0"/>
              </a:rPr>
              <a:t>`HTTP error! status: </a:t>
            </a:r>
            <a:r>
              <a:rPr lang="en-IN" sz="1200" b="0" dirty="0">
                <a:solidFill>
                  <a:srgbClr val="0000FF"/>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response</a:t>
            </a:r>
            <a:r>
              <a:rPr lang="en-IN" sz="1200" b="0" dirty="0" err="1">
                <a:solidFill>
                  <a:srgbClr val="000000"/>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status</a:t>
            </a:r>
            <a:r>
              <a:rPr lang="en-IN" sz="1200" b="0" dirty="0">
                <a:solidFill>
                  <a:srgbClr val="0000FF"/>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const</a:t>
            </a:r>
            <a:r>
              <a:rPr lang="en-IN" sz="1200" b="0" dirty="0">
                <a:solidFill>
                  <a:srgbClr val="3B3B3B"/>
                </a:solidFill>
                <a:effectLst/>
                <a:latin typeface="Consolas" panose="020B0609020204030204" pitchFamily="49" charset="0"/>
              </a:rPr>
              <a:t> </a:t>
            </a:r>
            <a:r>
              <a:rPr lang="en-IN" sz="1200" b="0" dirty="0">
                <a:solidFill>
                  <a:srgbClr val="0070C1"/>
                </a:solidFill>
                <a:effectLst/>
                <a:latin typeface="Consolas" panose="020B0609020204030204" pitchFamily="49" charset="0"/>
              </a:rPr>
              <a:t>data</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await</a:t>
            </a:r>
            <a:r>
              <a:rPr lang="en-IN" sz="1200" b="0" dirty="0">
                <a:solidFill>
                  <a:srgbClr val="3B3B3B"/>
                </a:solidFill>
                <a:effectLst/>
                <a:latin typeface="Consolas" panose="020B0609020204030204" pitchFamily="49" charset="0"/>
              </a:rPr>
              <a:t> </a:t>
            </a:r>
            <a:r>
              <a:rPr lang="en-IN" sz="1200" b="0" dirty="0" err="1">
                <a:solidFill>
                  <a:srgbClr val="0070C1"/>
                </a:solidFill>
                <a:effectLst/>
                <a:latin typeface="Consolas" panose="020B0609020204030204" pitchFamily="49" charset="0"/>
              </a:rPr>
              <a:t>response</a:t>
            </a:r>
            <a:r>
              <a:rPr lang="en-IN" sz="1200" b="0" dirty="0" err="1">
                <a:solidFill>
                  <a:srgbClr val="3B3B3B"/>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json</a:t>
            </a:r>
            <a:r>
              <a:rPr lang="en-IN" sz="1200" b="0" dirty="0">
                <a:solidFill>
                  <a:srgbClr val="3B3B3B"/>
                </a:solidFill>
                <a:effectLst/>
                <a:latin typeface="Consolas" panose="020B0609020204030204" pitchFamily="49" charset="0"/>
              </a:rPr>
              <a:t>();</a:t>
            </a:r>
            <a:br>
              <a:rPr lang="en-IN" sz="1200" b="0" dirty="0">
                <a:solidFill>
                  <a:srgbClr val="3B3B3B"/>
                </a:solidFill>
                <a:effectLst/>
                <a:latin typeface="Consolas" panose="020B0609020204030204" pitchFamily="49" charset="0"/>
              </a:rPr>
            </a:b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isMounted</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setEmployees</a:t>
            </a:r>
            <a:r>
              <a:rPr lang="en-IN" sz="1200" b="0" dirty="0">
                <a:solidFill>
                  <a:srgbClr val="3B3B3B"/>
                </a:solidFill>
                <a:effectLst/>
                <a:latin typeface="Consolas" panose="020B0609020204030204" pitchFamily="49" charset="0"/>
              </a:rPr>
              <a:t>(</a:t>
            </a:r>
            <a:r>
              <a:rPr lang="en-IN" sz="1200" b="0" dirty="0">
                <a:solidFill>
                  <a:srgbClr val="0070C1"/>
                </a:solidFill>
                <a:effectLst/>
                <a:latin typeface="Consolas" panose="020B0609020204030204" pitchFamily="49" charset="0"/>
              </a:rPr>
              <a:t>data</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catch</a:t>
            </a: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err</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isMounted</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&amp;&amp;</a:t>
            </a:r>
            <a:r>
              <a:rPr lang="en-IN" sz="1200" b="0" dirty="0">
                <a:solidFill>
                  <a:srgbClr val="3B3B3B"/>
                </a:solidFill>
                <a:effectLst/>
                <a:latin typeface="Consolas" panose="020B0609020204030204" pitchFamily="49" charset="0"/>
              </a:rPr>
              <a:t> </a:t>
            </a:r>
            <a:r>
              <a:rPr lang="en-IN" sz="1200" b="0" dirty="0">
                <a:solidFill>
                  <a:srgbClr val="001080"/>
                </a:solidFill>
                <a:effectLst/>
                <a:latin typeface="Consolas" panose="020B0609020204030204" pitchFamily="49" charset="0"/>
              </a:rPr>
              <a:t>err</a:t>
            </a:r>
            <a:r>
              <a:rPr lang="en-IN" sz="1200" b="0" dirty="0">
                <a:solidFill>
                  <a:srgbClr val="3B3B3B"/>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3B3B3B"/>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AbortError</a:t>
            </a:r>
            <a:r>
              <a:rPr lang="en-IN" sz="1200" b="0" dirty="0">
                <a:solidFill>
                  <a:srgbClr val="A31515"/>
                </a:solidFill>
                <a:effectLst/>
                <a:latin typeface="Consolas" panose="020B0609020204030204" pitchFamily="49" charset="0"/>
              </a:rPr>
              <a:t>"</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setError</a:t>
            </a:r>
            <a:r>
              <a:rPr lang="en-IN" sz="1200" b="0" dirty="0">
                <a:solidFill>
                  <a:srgbClr val="3B3B3B"/>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err</a:t>
            </a:r>
            <a:r>
              <a:rPr lang="en-IN" sz="1200" b="0" dirty="0" err="1">
                <a:solidFill>
                  <a:srgbClr val="3B3B3B"/>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 </a:t>
            </a:r>
            <a:r>
              <a:rPr lang="en-IN" sz="1200" b="0" dirty="0">
                <a:solidFill>
                  <a:srgbClr val="AF00DB"/>
                </a:solidFill>
                <a:effectLst/>
                <a:latin typeface="Consolas" panose="020B0609020204030204" pitchFamily="49" charset="0"/>
              </a:rPr>
              <a:t>finally</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3B3B3B"/>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isMounted</a:t>
            </a: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setLoading</a:t>
            </a:r>
            <a:r>
              <a:rPr lang="en-IN" sz="1200" b="0" dirty="0">
                <a:solidFill>
                  <a:srgbClr val="3B3B3B"/>
                </a:solidFill>
                <a:effectLst/>
                <a:latin typeface="Consolas" panose="020B0609020204030204" pitchFamily="49" charset="0"/>
              </a:rPr>
              <a:t>(</a:t>
            </a:r>
            <a:r>
              <a:rPr lang="en-IN" sz="1200" b="0" dirty="0">
                <a:solidFill>
                  <a:srgbClr val="0000FF"/>
                </a:solidFill>
                <a:effectLst/>
                <a:latin typeface="Consolas" panose="020B0609020204030204" pitchFamily="49" charset="0"/>
              </a:rPr>
              <a:t>false</a:t>
            </a:r>
            <a:r>
              <a:rPr lang="en-IN" sz="1200" b="0" dirty="0">
                <a:solidFill>
                  <a:srgbClr val="3B3B3B"/>
                </a:solidFill>
                <a:effectLst/>
                <a:latin typeface="Consolas" panose="020B0609020204030204" pitchFamily="49" charset="0"/>
              </a:rPr>
              <a:t>);</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p>
          <a:p>
            <a:pPr>
              <a:buNone/>
            </a:pPr>
            <a:r>
              <a:rPr lang="en-IN" sz="1200" b="0" dirty="0">
                <a:solidFill>
                  <a:srgbClr val="3B3B3B"/>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setTimeout</a:t>
            </a:r>
            <a:r>
              <a:rPr lang="en-IN" sz="1200" b="0" dirty="0">
                <a:solidFill>
                  <a:srgbClr val="3B3B3B"/>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fetchEmployees</a:t>
            </a:r>
            <a:r>
              <a:rPr lang="en-IN" sz="1200" b="0" dirty="0">
                <a:solidFill>
                  <a:srgbClr val="3B3B3B"/>
                </a:solidFill>
                <a:effectLst/>
                <a:latin typeface="Consolas" panose="020B0609020204030204" pitchFamily="49" charset="0"/>
              </a:rPr>
              <a:t>, </a:t>
            </a:r>
            <a:r>
              <a:rPr lang="en-IN" sz="1200" b="0" dirty="0">
                <a:solidFill>
                  <a:srgbClr val="098658"/>
                </a:solidFill>
                <a:effectLst/>
                <a:latin typeface="Consolas" panose="020B0609020204030204" pitchFamily="49" charset="0"/>
              </a:rPr>
              <a:t>1000</a:t>
            </a:r>
            <a:r>
              <a:rPr lang="en-IN" sz="1200" b="0" dirty="0">
                <a:solidFill>
                  <a:srgbClr val="3B3B3B"/>
                </a:solidFill>
                <a:effectLst/>
                <a:latin typeface="Consolas" panose="020B0609020204030204" pitchFamily="49" charset="0"/>
              </a:rPr>
              <a:t>); </a:t>
            </a:r>
            <a:r>
              <a:rPr lang="en-IN" sz="1200" b="0" dirty="0">
                <a:solidFill>
                  <a:srgbClr val="008000"/>
                </a:solidFill>
                <a:effectLst/>
                <a:latin typeface="Consolas" panose="020B0609020204030204" pitchFamily="49" charset="0"/>
              </a:rPr>
              <a:t>// simulate network delay</a:t>
            </a:r>
            <a:endParaRPr lang="en-IN" sz="1200" b="0" dirty="0">
              <a:solidFill>
                <a:srgbClr val="3B3B3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469E1EF-05F4-A881-1C81-9DDE66860706}"/>
              </a:ext>
            </a:extLst>
          </p:cNvPr>
          <p:cNvSpPr txBox="1"/>
          <p:nvPr/>
        </p:nvSpPr>
        <p:spPr>
          <a:xfrm>
            <a:off x="5979583" y="0"/>
            <a:ext cx="6100232" cy="2616101"/>
          </a:xfrm>
          <a:prstGeom prst="rect">
            <a:avLst/>
          </a:prstGeom>
          <a:noFill/>
        </p:spPr>
        <p:txBody>
          <a:bodyPr wrap="square">
            <a:spAutoFit/>
          </a:bodyPr>
          <a:lstStyle/>
          <a:p>
            <a:pPr>
              <a:buNone/>
            </a:pPr>
            <a:br>
              <a:rPr lang="en-IN" sz="1200" b="0" dirty="0">
                <a:solidFill>
                  <a:srgbClr val="3B3B3B"/>
                </a:solidFill>
                <a:effectLst/>
                <a:latin typeface="Consolas" panose="020B0609020204030204" pitchFamily="49" charset="0"/>
              </a:rPr>
            </a:br>
            <a:r>
              <a:rPr lang="en-IN" sz="1200" b="0" dirty="0">
                <a:solidFill>
                  <a:srgbClr val="3B3B3B"/>
                </a:solidFill>
                <a:effectLst/>
                <a:latin typeface="Consolas" panose="020B0609020204030204" pitchFamily="49" charset="0"/>
              </a:rPr>
              <a:t>    </a:t>
            </a:r>
            <a:r>
              <a:rPr lang="en-IN" sz="1200" b="0" dirty="0">
                <a:solidFill>
                  <a:srgbClr val="008000"/>
                </a:solidFill>
                <a:effectLst/>
                <a:latin typeface="Consolas" panose="020B0609020204030204" pitchFamily="49" charset="0"/>
              </a:rPr>
              <a:t>// Cleanup function</a:t>
            </a:r>
            <a:endParaRPr lang="en-IN" sz="1200" b="0" dirty="0">
              <a:solidFill>
                <a:srgbClr val="3B3B3B"/>
              </a:solidFill>
              <a:effectLst/>
              <a:latin typeface="Consolas" panose="020B0609020204030204" pitchFamily="49" charset="0"/>
            </a:endParaRPr>
          </a:p>
          <a:p>
            <a:pPr>
              <a:buNone/>
            </a:pPr>
            <a:r>
              <a:rPr lang="en-IN" sz="12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3B3B3B"/>
                </a:solidFill>
                <a:effectLst/>
                <a:latin typeface="Consolas" panose="020B0609020204030204" pitchFamily="49" charset="0"/>
              </a:rPr>
              <a:t> ()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isMounted</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false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err="1">
                <a:solidFill>
                  <a:srgbClr val="0070C1"/>
                </a:solidFill>
                <a:effectLst/>
                <a:highlight>
                  <a:srgbClr val="FFFF00"/>
                </a:highlight>
                <a:latin typeface="Consolas" panose="020B0609020204030204" pitchFamily="49" charset="0"/>
              </a:rPr>
              <a:t>controller</a:t>
            </a:r>
            <a:r>
              <a:rPr lang="en-IN" sz="1400" b="0" dirty="0" err="1">
                <a:solidFill>
                  <a:srgbClr val="3B3B3B"/>
                </a:solidFill>
                <a:effectLst/>
                <a:highlight>
                  <a:srgbClr val="FFFF00"/>
                </a:highlight>
                <a:latin typeface="Consolas" panose="020B0609020204030204" pitchFamily="49" charset="0"/>
              </a:rPr>
              <a:t>.</a:t>
            </a:r>
            <a:r>
              <a:rPr lang="en-IN" sz="1400" b="0" dirty="0" err="1">
                <a:solidFill>
                  <a:srgbClr val="795E26"/>
                </a:solidFill>
                <a:effectLst/>
                <a:highlight>
                  <a:srgbClr val="FFFF00"/>
                </a:highlight>
                <a:latin typeface="Consolas" panose="020B0609020204030204" pitchFamily="49" charset="0"/>
              </a:rPr>
              <a:t>abort</a:t>
            </a:r>
            <a:r>
              <a:rPr lang="en-IN" sz="1400" b="0" dirty="0">
                <a:solidFill>
                  <a:srgbClr val="3B3B3B"/>
                </a:solidFill>
                <a:effectLst/>
                <a:highlight>
                  <a:srgbClr val="FFFF00"/>
                </a:highlight>
                <a:latin typeface="Consolas" panose="020B0609020204030204" pitchFamily="49" charset="0"/>
              </a:rPr>
              <a:t>(); </a:t>
            </a:r>
            <a:r>
              <a:rPr lang="en-IN" sz="1400" b="0" dirty="0">
                <a:solidFill>
                  <a:srgbClr val="008000"/>
                </a:solidFill>
                <a:effectLst/>
                <a:latin typeface="Consolas" panose="020B0609020204030204" pitchFamily="49" charset="0"/>
              </a:rPr>
              <a:t>// cancel fetch if component unmounts</a:t>
            </a:r>
            <a:endParaRPr lang="en-IN" sz="1400" b="0" dirty="0">
              <a:solidFill>
                <a:srgbClr val="3B3B3B"/>
              </a:solidFill>
              <a:effectLst/>
              <a:latin typeface="Consolas" panose="020B0609020204030204" pitchFamily="49" charset="0"/>
            </a:endParaRP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 []);</a:t>
            </a:r>
          </a:p>
          <a:p>
            <a:r>
              <a:rPr lang="en-IN" sz="1400" dirty="0">
                <a:solidFill>
                  <a:srgbClr val="AF00DB"/>
                </a:solidFill>
                <a:latin typeface="Consolas" panose="020B0609020204030204" pitchFamily="49" charset="0"/>
              </a:rPr>
              <a:t>if</a:t>
            </a:r>
            <a:r>
              <a:rPr lang="en-IN" sz="1400" dirty="0">
                <a:solidFill>
                  <a:srgbClr val="3B3B3B"/>
                </a:solidFill>
                <a:latin typeface="Consolas" panose="020B0609020204030204" pitchFamily="49" charset="0"/>
              </a:rPr>
              <a:t> (</a:t>
            </a:r>
            <a:r>
              <a:rPr lang="en-IN" sz="1400" dirty="0">
                <a:solidFill>
                  <a:srgbClr val="0070C1"/>
                </a:solidFill>
                <a:latin typeface="Consolas" panose="020B0609020204030204" pitchFamily="49" charset="0"/>
              </a:rPr>
              <a:t>error</a:t>
            </a:r>
            <a:r>
              <a:rPr lang="en-IN" sz="1400" dirty="0">
                <a:solidFill>
                  <a:srgbClr val="3B3B3B"/>
                </a:solidFill>
                <a:latin typeface="Consolas" panose="020B0609020204030204" pitchFamily="49" charset="0"/>
              </a:rPr>
              <a:t>) </a:t>
            </a:r>
            <a:r>
              <a:rPr lang="en-IN" sz="1400" dirty="0">
                <a:solidFill>
                  <a:srgbClr val="AF00DB"/>
                </a:solidFill>
                <a:latin typeface="Consolas" panose="020B0609020204030204" pitchFamily="49" charset="0"/>
              </a:rPr>
              <a:t>return</a:t>
            </a:r>
            <a:r>
              <a:rPr lang="en-IN" sz="1400" dirty="0">
                <a:solidFill>
                  <a:srgbClr val="3B3B3B"/>
                </a:solidFill>
                <a:latin typeface="Consolas" panose="020B0609020204030204" pitchFamily="49" charset="0"/>
              </a:rPr>
              <a:t> </a:t>
            </a:r>
            <a:r>
              <a:rPr lang="en-IN" sz="1400" dirty="0">
                <a:solidFill>
                  <a:srgbClr val="800000"/>
                </a:solidFill>
                <a:latin typeface="Consolas" panose="020B0609020204030204" pitchFamily="49" charset="0"/>
              </a:rPr>
              <a:t>&lt;p&gt;</a:t>
            </a:r>
            <a:r>
              <a:rPr lang="en-IN" sz="1400" dirty="0">
                <a:solidFill>
                  <a:srgbClr val="3B3B3B"/>
                </a:solidFill>
                <a:latin typeface="Consolas" panose="020B0609020204030204" pitchFamily="49" charset="0"/>
              </a:rPr>
              <a:t>Error: </a:t>
            </a:r>
            <a:r>
              <a:rPr lang="en-IN" sz="1400" dirty="0">
                <a:solidFill>
                  <a:srgbClr val="0000FF"/>
                </a:solidFill>
                <a:latin typeface="Consolas" panose="020B0609020204030204" pitchFamily="49" charset="0"/>
              </a:rPr>
              <a:t>{</a:t>
            </a:r>
            <a:r>
              <a:rPr lang="en-IN" sz="1400" dirty="0">
                <a:solidFill>
                  <a:srgbClr val="0070C1"/>
                </a:solidFill>
                <a:latin typeface="Consolas" panose="020B0609020204030204" pitchFamily="49" charset="0"/>
              </a:rPr>
              <a:t>error</a:t>
            </a:r>
            <a:r>
              <a:rPr lang="en-IN" sz="1400" dirty="0">
                <a:solidFill>
                  <a:srgbClr val="0000FF"/>
                </a:solidFill>
                <a:latin typeface="Consolas" panose="020B0609020204030204" pitchFamily="49" charset="0"/>
              </a:rPr>
              <a:t>}</a:t>
            </a:r>
            <a:r>
              <a:rPr lang="en-IN" sz="1400" dirty="0">
                <a:solidFill>
                  <a:srgbClr val="800000"/>
                </a:solidFill>
                <a:latin typeface="Consolas" panose="020B0609020204030204" pitchFamily="49" charset="0"/>
              </a:rPr>
              <a:t>&lt;/p&gt;</a:t>
            </a:r>
            <a:r>
              <a:rPr lang="en-IN" sz="1400" dirty="0">
                <a:solidFill>
                  <a:srgbClr val="3B3B3B"/>
                </a:solidFill>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&lt;div&gt;</a:t>
            </a:r>
            <a:endParaRPr lang="en-IN" sz="1400" b="0" dirty="0">
              <a:solidFill>
                <a:srgbClr val="3B3B3B"/>
              </a:solidFill>
              <a:effectLst/>
              <a:latin typeface="Consolas" panose="020B0609020204030204" pitchFamily="49" charset="0"/>
            </a:endParaRPr>
          </a:p>
          <a:p>
            <a:pPr>
              <a:buNone/>
            </a:pP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loading</a:t>
            </a:r>
            <a:r>
              <a:rPr lang="en-IN" sz="1400" b="0" dirty="0">
                <a:solidFill>
                  <a:srgbClr val="000000"/>
                </a:solidFill>
                <a:effectLst/>
                <a:latin typeface="Consolas" panose="020B0609020204030204" pitchFamily="49" charset="0"/>
              </a:rPr>
              <a:t> ? </a:t>
            </a:r>
            <a:r>
              <a:rPr lang="en-IN" sz="1400" b="0" dirty="0">
                <a:solidFill>
                  <a:srgbClr val="800000"/>
                </a:solidFill>
                <a:effectLst/>
                <a:latin typeface="Consolas" panose="020B0609020204030204" pitchFamily="49" charset="0"/>
              </a:rPr>
              <a:t>&lt;p&gt;</a:t>
            </a:r>
            <a:r>
              <a:rPr lang="en-IN" sz="1400" b="0" dirty="0">
                <a:solidFill>
                  <a:srgbClr val="000000"/>
                </a:solidFill>
                <a:effectLst/>
                <a:latin typeface="Consolas" panose="020B0609020204030204" pitchFamily="49" charset="0"/>
              </a:rPr>
              <a:t>Loading...</a:t>
            </a:r>
            <a:r>
              <a:rPr lang="en-IN" sz="1400" b="0" dirty="0">
                <a:solidFill>
                  <a:srgbClr val="800000"/>
                </a:solidFill>
                <a:effectLst/>
                <a:latin typeface="Consolas" panose="020B0609020204030204" pitchFamily="49" charset="0"/>
              </a:rPr>
              <a:t>&lt;/p&gt;</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null</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a:t>
            </a:r>
            <a:endParaRPr lang="en-IN" sz="1400" b="0" dirty="0">
              <a:solidFill>
                <a:srgbClr val="3B3B3B"/>
              </a:solidFill>
              <a:effectLst/>
              <a:latin typeface="Consolas" panose="020B0609020204030204" pitchFamily="49" charset="0"/>
            </a:endParaRPr>
          </a:p>
        </p:txBody>
      </p:sp>
      <p:sp>
        <p:nvSpPr>
          <p:cNvPr id="9" name="TextBox 8">
            <a:extLst>
              <a:ext uri="{FF2B5EF4-FFF2-40B4-BE49-F238E27FC236}">
                <a16:creationId xmlns:a16="http://schemas.microsoft.com/office/drawing/2014/main" id="{A338C4AB-4331-0DCB-D8B9-8C896C466190}"/>
              </a:ext>
            </a:extLst>
          </p:cNvPr>
          <p:cNvSpPr txBox="1"/>
          <p:nvPr/>
        </p:nvSpPr>
        <p:spPr>
          <a:xfrm>
            <a:off x="6091768" y="3705451"/>
            <a:ext cx="6100232" cy="1200329"/>
          </a:xfrm>
          <a:prstGeom prst="rect">
            <a:avLst/>
          </a:prstGeom>
          <a:noFill/>
        </p:spPr>
        <p:txBody>
          <a:bodyPr wrap="square">
            <a:spAutoFit/>
          </a:bodyPr>
          <a:lstStyle/>
          <a:p>
            <a:r>
              <a:rPr lang="en-US" dirty="0"/>
              <a:t> </a:t>
            </a:r>
            <a:r>
              <a:rPr lang="en-IN" dirty="0">
                <a:solidFill>
                  <a:srgbClr val="0000FF"/>
                </a:solidFill>
                <a:highlight>
                  <a:srgbClr val="FFFF00"/>
                </a:highlight>
                <a:latin typeface="Consolas" panose="020B0609020204030204" pitchFamily="49" charset="0"/>
              </a:rPr>
              <a:t>new</a:t>
            </a:r>
            <a:r>
              <a:rPr lang="en-IN" dirty="0">
                <a:solidFill>
                  <a:srgbClr val="3B3B3B"/>
                </a:solidFill>
                <a:highlight>
                  <a:srgbClr val="FFFF00"/>
                </a:highlight>
                <a:latin typeface="Consolas" panose="020B0609020204030204" pitchFamily="49" charset="0"/>
              </a:rPr>
              <a:t> </a:t>
            </a:r>
            <a:r>
              <a:rPr lang="en-IN" dirty="0" err="1">
                <a:solidFill>
                  <a:srgbClr val="267F99"/>
                </a:solidFill>
                <a:highlight>
                  <a:srgbClr val="FFFF00"/>
                </a:highlight>
                <a:latin typeface="Consolas" panose="020B0609020204030204" pitchFamily="49" charset="0"/>
              </a:rPr>
              <a:t>AbortController</a:t>
            </a:r>
            <a:r>
              <a:rPr lang="en-IN" dirty="0">
                <a:solidFill>
                  <a:srgbClr val="3B3B3B"/>
                </a:solidFill>
                <a:highlight>
                  <a:srgbClr val="FFFF00"/>
                </a:highlight>
                <a:latin typeface="Consolas" panose="020B0609020204030204" pitchFamily="49" charset="0"/>
              </a:rPr>
              <a:t>(); </a:t>
            </a:r>
            <a:r>
              <a:rPr lang="en-US" dirty="0"/>
              <a:t> → the object that can trigger cancellation.</a:t>
            </a:r>
          </a:p>
          <a:p>
            <a:r>
              <a:rPr lang="en-US" dirty="0"/>
              <a:t>• </a:t>
            </a:r>
            <a:r>
              <a:rPr lang="en-IN" dirty="0">
                <a:solidFill>
                  <a:srgbClr val="0070C1"/>
                </a:solidFill>
                <a:highlight>
                  <a:srgbClr val="FFFF00"/>
                </a:highlight>
                <a:latin typeface="Consolas" panose="020B0609020204030204" pitchFamily="49" charset="0"/>
              </a:rPr>
              <a:t> signal</a:t>
            </a:r>
            <a:r>
              <a:rPr lang="en-US" dirty="0"/>
              <a:t> → a special object tied to that controller, which you pass into async operations (like ).</a:t>
            </a:r>
            <a:endParaRPr lang="en-IN" dirty="0"/>
          </a:p>
        </p:txBody>
      </p:sp>
      <p:sp>
        <p:nvSpPr>
          <p:cNvPr id="11" name="TextBox 10">
            <a:extLst>
              <a:ext uri="{FF2B5EF4-FFF2-40B4-BE49-F238E27FC236}">
                <a16:creationId xmlns:a16="http://schemas.microsoft.com/office/drawing/2014/main" id="{C110EBBE-8979-4DC9-6F23-D9D8A276E9C7}"/>
              </a:ext>
            </a:extLst>
          </p:cNvPr>
          <p:cNvSpPr txBox="1"/>
          <p:nvPr/>
        </p:nvSpPr>
        <p:spPr>
          <a:xfrm>
            <a:off x="5979583" y="4981980"/>
            <a:ext cx="6100232" cy="13849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Prevents memory leaks: avoids updating state after a component unmounts.</a:t>
            </a:r>
          </a:p>
          <a:p>
            <a:r>
              <a:rPr lang="en-US" sz="1400" dirty="0"/>
              <a:t>• Stops race conditions: if multiple fetches overlap, you can cancel the old one.</a:t>
            </a:r>
          </a:p>
          <a:p>
            <a:r>
              <a:rPr lang="en-US" sz="1400" dirty="0"/>
              <a:t>• Improves performance: no wasted network calls.</a:t>
            </a:r>
          </a:p>
          <a:p>
            <a:r>
              <a:rPr lang="en-US" sz="1400" dirty="0"/>
              <a:t>So in short:</a:t>
            </a:r>
          </a:p>
          <a:p>
            <a:r>
              <a:rPr lang="en-US" sz="1400" dirty="0"/>
              <a:t>  is the remote control, and  is the wire you plug into your async task. Calling  cuts the wire, and the task stops immediately.</a:t>
            </a:r>
            <a:endParaRPr lang="en-IN" sz="1400" dirty="0"/>
          </a:p>
        </p:txBody>
      </p:sp>
    </p:spTree>
    <p:extLst>
      <p:ext uri="{BB962C8B-B14F-4D97-AF65-F5344CB8AC3E}">
        <p14:creationId xmlns:p14="http://schemas.microsoft.com/office/powerpoint/2010/main" val="3690624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42EA1A-C7EC-803E-2D94-54C949B70205}"/>
              </a:ext>
            </a:extLst>
          </p:cNvPr>
          <p:cNvPicPr>
            <a:picLocks noChangeAspect="1"/>
          </p:cNvPicPr>
          <p:nvPr/>
        </p:nvPicPr>
        <p:blipFill rotWithShape="1">
          <a:blip r:embed="rId2"/>
          <a:srcRect r="52310" b="14041"/>
          <a:stretch/>
        </p:blipFill>
        <p:spPr>
          <a:xfrm>
            <a:off x="0" y="153633"/>
            <a:ext cx="5814391" cy="5630942"/>
          </a:xfrm>
          <a:prstGeom prst="rect">
            <a:avLst/>
          </a:prstGeom>
        </p:spPr>
      </p:pic>
      <p:sp>
        <p:nvSpPr>
          <p:cNvPr id="5" name="Freeform: Shape 4">
            <a:extLst>
              <a:ext uri="{FF2B5EF4-FFF2-40B4-BE49-F238E27FC236}">
                <a16:creationId xmlns:a16="http://schemas.microsoft.com/office/drawing/2014/main" id="{98A0950D-9295-24A9-50E5-4464ECAA9AFD}"/>
              </a:ext>
            </a:extLst>
          </p:cNvPr>
          <p:cNvSpPr/>
          <p:nvPr/>
        </p:nvSpPr>
        <p:spPr>
          <a:xfrm>
            <a:off x="-89452" y="1938130"/>
            <a:ext cx="1003852" cy="795131"/>
          </a:xfrm>
          <a:custGeom>
            <a:avLst/>
            <a:gdLst>
              <a:gd name="connsiteX0" fmla="*/ 1003852 w 1003852"/>
              <a:gd name="connsiteY0" fmla="*/ 238540 h 795131"/>
              <a:gd name="connsiteX1" fmla="*/ 636104 w 1003852"/>
              <a:gd name="connsiteY1" fmla="*/ 29818 h 795131"/>
              <a:gd name="connsiteX2" fmla="*/ 576469 w 1003852"/>
              <a:gd name="connsiteY2" fmla="*/ 19879 h 795131"/>
              <a:gd name="connsiteX3" fmla="*/ 477078 w 1003852"/>
              <a:gd name="connsiteY3" fmla="*/ 0 h 795131"/>
              <a:gd name="connsiteX4" fmla="*/ 129209 w 1003852"/>
              <a:gd name="connsiteY4" fmla="*/ 9940 h 795131"/>
              <a:gd name="connsiteX5" fmla="*/ 49695 w 1003852"/>
              <a:gd name="connsiteY5" fmla="*/ 99392 h 795131"/>
              <a:gd name="connsiteX6" fmla="*/ 0 w 1003852"/>
              <a:gd name="connsiteY6" fmla="*/ 218661 h 795131"/>
              <a:gd name="connsiteX7" fmla="*/ 49695 w 1003852"/>
              <a:gd name="connsiteY7" fmla="*/ 616227 h 795131"/>
              <a:gd name="connsiteX8" fmla="*/ 69574 w 1003852"/>
              <a:gd name="connsiteY8" fmla="*/ 646044 h 795131"/>
              <a:gd name="connsiteX9" fmla="*/ 119269 w 1003852"/>
              <a:gd name="connsiteY9" fmla="*/ 745435 h 795131"/>
              <a:gd name="connsiteX10" fmla="*/ 159026 w 1003852"/>
              <a:gd name="connsiteY10" fmla="*/ 765313 h 795131"/>
              <a:gd name="connsiteX11" fmla="*/ 198782 w 1003852"/>
              <a:gd name="connsiteY11" fmla="*/ 795131 h 795131"/>
              <a:gd name="connsiteX12" fmla="*/ 556591 w 1003852"/>
              <a:gd name="connsiteY12" fmla="*/ 765313 h 795131"/>
              <a:gd name="connsiteX13" fmla="*/ 616226 w 1003852"/>
              <a:gd name="connsiteY13" fmla="*/ 735496 h 795131"/>
              <a:gd name="connsiteX14" fmla="*/ 834887 w 1003852"/>
              <a:gd name="connsiteY14" fmla="*/ 646044 h 795131"/>
              <a:gd name="connsiteX15" fmla="*/ 914400 w 1003852"/>
              <a:gd name="connsiteY15" fmla="*/ 566531 h 795131"/>
              <a:gd name="connsiteX16" fmla="*/ 964095 w 1003852"/>
              <a:gd name="connsiteY16" fmla="*/ 516835 h 795131"/>
              <a:gd name="connsiteX17" fmla="*/ 974035 w 1003852"/>
              <a:gd name="connsiteY17" fmla="*/ 477079 h 795131"/>
              <a:gd name="connsiteX18" fmla="*/ 993913 w 1003852"/>
              <a:gd name="connsiteY18" fmla="*/ 427383 h 795131"/>
              <a:gd name="connsiteX19" fmla="*/ 983974 w 1003852"/>
              <a:gd name="connsiteY19" fmla="*/ 248479 h 795131"/>
              <a:gd name="connsiteX20" fmla="*/ 954156 w 1003852"/>
              <a:gd name="connsiteY20" fmla="*/ 218661 h 79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03852" h="795131">
                <a:moveTo>
                  <a:pt x="1003852" y="238540"/>
                </a:moveTo>
                <a:cubicBezTo>
                  <a:pt x="881269" y="168966"/>
                  <a:pt x="761585" y="94018"/>
                  <a:pt x="636104" y="29818"/>
                </a:cubicBezTo>
                <a:cubicBezTo>
                  <a:pt x="618163" y="20639"/>
                  <a:pt x="596276" y="23593"/>
                  <a:pt x="576469" y="19879"/>
                </a:cubicBezTo>
                <a:cubicBezTo>
                  <a:pt x="543261" y="13652"/>
                  <a:pt x="477078" y="0"/>
                  <a:pt x="477078" y="0"/>
                </a:cubicBezTo>
                <a:cubicBezTo>
                  <a:pt x="361122" y="3313"/>
                  <a:pt x="244637" y="-1603"/>
                  <a:pt x="129209" y="9940"/>
                </a:cubicBezTo>
                <a:cubicBezTo>
                  <a:pt x="80332" y="14828"/>
                  <a:pt x="65286" y="64313"/>
                  <a:pt x="49695" y="99392"/>
                </a:cubicBezTo>
                <a:cubicBezTo>
                  <a:pt x="32203" y="138749"/>
                  <a:pt x="0" y="218661"/>
                  <a:pt x="0" y="218661"/>
                </a:cubicBezTo>
                <a:cubicBezTo>
                  <a:pt x="16582" y="417654"/>
                  <a:pt x="-21915" y="490911"/>
                  <a:pt x="49695" y="616227"/>
                </a:cubicBezTo>
                <a:cubicBezTo>
                  <a:pt x="55622" y="626598"/>
                  <a:pt x="64232" y="635360"/>
                  <a:pt x="69574" y="646044"/>
                </a:cubicBezTo>
                <a:cubicBezTo>
                  <a:pt x="86144" y="679183"/>
                  <a:pt x="91623" y="717789"/>
                  <a:pt x="119269" y="745435"/>
                </a:cubicBezTo>
                <a:cubicBezTo>
                  <a:pt x="129746" y="755912"/>
                  <a:pt x="146462" y="757460"/>
                  <a:pt x="159026" y="765313"/>
                </a:cubicBezTo>
                <a:cubicBezTo>
                  <a:pt x="173073" y="774093"/>
                  <a:pt x="185530" y="785192"/>
                  <a:pt x="198782" y="795131"/>
                </a:cubicBezTo>
                <a:cubicBezTo>
                  <a:pt x="318052" y="785192"/>
                  <a:pt x="438111" y="782239"/>
                  <a:pt x="556591" y="765313"/>
                </a:cubicBezTo>
                <a:cubicBezTo>
                  <a:pt x="578592" y="762170"/>
                  <a:pt x="595993" y="744693"/>
                  <a:pt x="616226" y="735496"/>
                </a:cubicBezTo>
                <a:cubicBezTo>
                  <a:pt x="769391" y="665876"/>
                  <a:pt x="729436" y="681194"/>
                  <a:pt x="834887" y="646044"/>
                </a:cubicBezTo>
                <a:lnTo>
                  <a:pt x="914400" y="566531"/>
                </a:lnTo>
                <a:lnTo>
                  <a:pt x="964095" y="516835"/>
                </a:lnTo>
                <a:cubicBezTo>
                  <a:pt x="967408" y="503583"/>
                  <a:pt x="969715" y="490038"/>
                  <a:pt x="974035" y="477079"/>
                </a:cubicBezTo>
                <a:cubicBezTo>
                  <a:pt x="979677" y="460153"/>
                  <a:pt x="993138" y="445208"/>
                  <a:pt x="993913" y="427383"/>
                </a:cubicBezTo>
                <a:cubicBezTo>
                  <a:pt x="996507" y="367713"/>
                  <a:pt x="992834" y="307545"/>
                  <a:pt x="983974" y="248479"/>
                </a:cubicBezTo>
                <a:lnTo>
                  <a:pt x="954156" y="218661"/>
                </a:lnTo>
              </a:path>
            </a:pathLst>
          </a:custGeom>
          <a:ln w="57150">
            <a:solidFill>
              <a:srgbClr val="FF000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IN"/>
          </a:p>
        </p:txBody>
      </p:sp>
      <p:sp>
        <p:nvSpPr>
          <p:cNvPr id="7" name="TextBox 6">
            <a:extLst>
              <a:ext uri="{FF2B5EF4-FFF2-40B4-BE49-F238E27FC236}">
                <a16:creationId xmlns:a16="http://schemas.microsoft.com/office/drawing/2014/main" id="{6DA72EC9-316A-E3F4-D7D1-DA9D376CF86A}"/>
              </a:ext>
            </a:extLst>
          </p:cNvPr>
          <p:cNvSpPr txBox="1"/>
          <p:nvPr/>
        </p:nvSpPr>
        <p:spPr>
          <a:xfrm>
            <a:off x="6034710" y="1842916"/>
            <a:ext cx="615729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&lt;h4&gt;&lt;Link</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to</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"/create"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Create</a:t>
            </a:r>
            <a:r>
              <a:rPr lang="en-US" b="0" dirty="0">
                <a:solidFill>
                  <a:srgbClr val="800000"/>
                </a:solidFill>
                <a:effectLst/>
                <a:latin typeface="Consolas" panose="020B0609020204030204" pitchFamily="49" charset="0"/>
              </a:rPr>
              <a:t>&lt;/Link&gt;&lt;/h4&gt;</a:t>
            </a:r>
            <a:endParaRPr lang="en-US" b="0" dirty="0">
              <a:solidFill>
                <a:srgbClr val="000000"/>
              </a:solidFill>
              <a:effectLst/>
              <a:latin typeface="Consolas" panose="020B0609020204030204" pitchFamily="49" charset="0"/>
            </a:endParaRPr>
          </a:p>
        </p:txBody>
      </p:sp>
      <p:sp>
        <p:nvSpPr>
          <p:cNvPr id="3" name="TextBox 2">
            <a:extLst>
              <a:ext uri="{FF2B5EF4-FFF2-40B4-BE49-F238E27FC236}">
                <a16:creationId xmlns:a16="http://schemas.microsoft.com/office/drawing/2014/main" id="{5D4FFA68-E415-81A4-DCE1-3930B5A33FAF}"/>
              </a:ext>
            </a:extLst>
          </p:cNvPr>
          <p:cNvSpPr txBox="1"/>
          <p:nvPr/>
        </p:nvSpPr>
        <p:spPr>
          <a:xfrm>
            <a:off x="5814391" y="2969104"/>
            <a:ext cx="6162260" cy="646331"/>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"Create"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Createemp</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885443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5346E-B55B-FE13-6C31-3ADB9BEF9A1F}"/>
              </a:ext>
            </a:extLst>
          </p:cNvPr>
          <p:cNvSpPr>
            <a:spLocks noGrp="1"/>
          </p:cNvSpPr>
          <p:nvPr>
            <p:ph type="title"/>
          </p:nvPr>
        </p:nvSpPr>
        <p:spPr>
          <a:xfrm>
            <a:off x="7126355" y="0"/>
            <a:ext cx="4416287" cy="489640"/>
          </a:xfrm>
        </p:spPr>
        <p:txBody>
          <a:bodyPr>
            <a:normAutofit fontScale="90000"/>
          </a:bodyPr>
          <a:lstStyle/>
          <a:p>
            <a:r>
              <a:rPr lang="en-US" dirty="0"/>
              <a:t>POST Employee</a:t>
            </a:r>
            <a:endParaRPr lang="en-IN" dirty="0"/>
          </a:p>
        </p:txBody>
      </p:sp>
      <p:sp>
        <p:nvSpPr>
          <p:cNvPr id="5" name="TextBox 4">
            <a:extLst>
              <a:ext uri="{FF2B5EF4-FFF2-40B4-BE49-F238E27FC236}">
                <a16:creationId xmlns:a16="http://schemas.microsoft.com/office/drawing/2014/main" id="{16F9C3D3-55BF-F92C-C785-A4F76FBAD853}"/>
              </a:ext>
            </a:extLst>
          </p:cNvPr>
          <p:cNvSpPr txBox="1"/>
          <p:nvPr/>
        </p:nvSpPr>
        <p:spPr>
          <a:xfrm>
            <a:off x="69574" y="198782"/>
            <a:ext cx="6748670" cy="5909310"/>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useNavigate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"react-router-</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endParaRPr lang="en-IN" sz="1400" b="0" dirty="0">
              <a:solidFill>
                <a:srgbClr val="000000"/>
              </a:solidFill>
              <a:effectLst/>
              <a:latin typeface="Consolas" panose="020B0609020204030204" pitchFamily="49" charset="0"/>
            </a:endParaRP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export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default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Createemp</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[employee, </a:t>
            </a:r>
            <a:r>
              <a:rPr lang="en-IN" sz="1400" b="0" dirty="0" err="1">
                <a:solidFill>
                  <a:srgbClr val="000000"/>
                </a:solidFill>
                <a:effectLst/>
                <a:latin typeface="Consolas" panose="020B0609020204030204" pitchFamily="49" charset="0"/>
              </a:rPr>
              <a:t>setEmployee</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navigate = </a:t>
            </a:r>
            <a:r>
              <a:rPr lang="en-IN" sz="1400" b="0" dirty="0" err="1">
                <a:solidFill>
                  <a:srgbClr val="000000"/>
                </a:solidFill>
                <a:effectLst/>
                <a:latin typeface="Consolas" panose="020B0609020204030204" pitchFamily="49" charset="0"/>
              </a:rPr>
              <a:t>useNavigate</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handleChange</a:t>
            </a:r>
            <a:r>
              <a:rPr lang="en-IN" sz="1400" b="0" dirty="0">
                <a:solidFill>
                  <a:srgbClr val="000000"/>
                </a:solidFill>
                <a:effectLst/>
                <a:latin typeface="Consolas" panose="020B0609020204030204" pitchFamily="49" charset="0"/>
              </a:rPr>
              <a:t> = (event)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name = event.target.name;</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value = </a:t>
            </a:r>
            <a:r>
              <a:rPr lang="en-IN" sz="1400" b="0" dirty="0" err="1">
                <a:solidFill>
                  <a:srgbClr val="000000"/>
                </a:solidFill>
                <a:effectLst/>
                <a:latin typeface="Consolas" panose="020B0609020204030204" pitchFamily="49" charset="0"/>
              </a:rPr>
              <a:t>event.target.value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setEmployee</a:t>
            </a:r>
            <a:r>
              <a:rPr lang="en-IN" sz="1400" b="0" dirty="0">
                <a:solidFill>
                  <a:srgbClr val="000000"/>
                </a:solidFill>
                <a:effectLst/>
                <a:latin typeface="Consolas" panose="020B0609020204030204" pitchFamily="49" charset="0"/>
              </a:rPr>
              <a:t>(values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 ...values, [name]: value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handleSubmit</a:t>
            </a:r>
            <a:r>
              <a:rPr lang="en-IN" sz="1400" b="0" dirty="0">
                <a:solidFill>
                  <a:srgbClr val="000000"/>
                </a:solidFill>
                <a:effectLst/>
                <a:latin typeface="Consolas" panose="020B0609020204030204" pitchFamily="49" charset="0"/>
              </a:rPr>
              <a:t> = (event)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demo = </a:t>
            </a:r>
            <a:r>
              <a:rPr lang="en-IN" sz="1400" b="0" dirty="0" err="1">
                <a:solidFill>
                  <a:srgbClr val="000000"/>
                </a:solidFill>
                <a:effectLst/>
                <a:latin typeface="Consolas" panose="020B0609020204030204" pitchFamily="49" charset="0"/>
              </a:rPr>
              <a:t>JSON.stringify</a:t>
            </a:r>
            <a:r>
              <a:rPr lang="en-IN" sz="1400" b="0" dirty="0">
                <a:solidFill>
                  <a:srgbClr val="000000"/>
                </a:solidFill>
                <a:effectLst/>
                <a:latin typeface="Consolas" panose="020B0609020204030204" pitchFamily="49" charset="0"/>
              </a:rPr>
              <a:t>(employee);</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fetch</a:t>
            </a:r>
            <a:r>
              <a:rPr lang="en-IN" sz="1400" b="0" dirty="0">
                <a:solidFill>
                  <a:schemeClr val="accent1">
                    <a:lumMod val="50000"/>
                  </a:schemeClr>
                </a:solidFill>
                <a:effectLst/>
                <a:latin typeface="Consolas" panose="020B0609020204030204" pitchFamily="49" charset="0"/>
              </a:rPr>
              <a:t>(</a:t>
            </a:r>
            <a:r>
              <a:rPr lang="en-IN" sz="1400" b="0" dirty="0">
                <a:solidFill>
                  <a:srgbClr val="A31515"/>
                </a:solidFill>
                <a:effectLst/>
                <a:latin typeface="Consolas" panose="020B0609020204030204" pitchFamily="49" charset="0"/>
              </a:rPr>
              <a:t>"https://localhost:7115/</a:t>
            </a:r>
            <a:r>
              <a:rPr lang="en-IN" sz="1400" b="0" dirty="0" err="1">
                <a:solidFill>
                  <a:srgbClr val="A31515"/>
                </a:solidFill>
                <a:effectLst/>
                <a:latin typeface="Consolas" panose="020B0609020204030204" pitchFamily="49" charset="0"/>
              </a:rPr>
              <a:t>api</a:t>
            </a:r>
            <a:r>
              <a:rPr lang="en-IN" sz="1400" b="0" dirty="0">
                <a:solidFill>
                  <a:srgbClr val="A31515"/>
                </a:solidFill>
                <a:effectLst/>
                <a:latin typeface="Consolas" panose="020B0609020204030204" pitchFamily="49" charset="0"/>
              </a:rPr>
              <a:t>/Employee"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method: </a:t>
            </a:r>
            <a:r>
              <a:rPr lang="en-IN" sz="1400" b="0" dirty="0">
                <a:solidFill>
                  <a:srgbClr val="A31515"/>
                </a:solidFill>
                <a:effectLst/>
                <a:latin typeface="Consolas" panose="020B0609020204030204" pitchFamily="49" charset="0"/>
              </a:rPr>
              <a:t>'POST'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headers: { </a:t>
            </a:r>
            <a:r>
              <a:rPr lang="en-IN" sz="1400" b="0" dirty="0">
                <a:solidFill>
                  <a:srgbClr val="A31515"/>
                </a:solidFill>
                <a:effectLst/>
                <a:latin typeface="Consolas" panose="020B0609020204030204" pitchFamily="49" charset="0"/>
              </a:rPr>
              <a:t>'Content-type'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'application/</a:t>
            </a:r>
            <a:r>
              <a:rPr lang="en-IN" sz="1400" b="0" dirty="0" err="1">
                <a:solidFill>
                  <a:srgbClr val="A31515"/>
                </a:solidFill>
                <a:effectLst/>
                <a:latin typeface="Consolas" panose="020B0609020204030204" pitchFamily="49" charset="0"/>
              </a:rPr>
              <a:t>json</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body: demo</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a:t>
            </a:r>
            <a:r>
              <a:rPr lang="en-IN" sz="1400" b="0" dirty="0">
                <a:solidFill>
                  <a:schemeClr val="accent1">
                    <a:lumMod val="50000"/>
                  </a:schemeClr>
                </a:solidFill>
                <a:effectLst/>
                <a:latin typeface="Consolas" panose="020B0609020204030204" pitchFamily="49" charset="0"/>
              </a:rPr>
              <a:t>)</a:t>
            </a:r>
            <a:r>
              <a:rPr lang="en-IN" sz="1400" b="0" dirty="0">
                <a:solidFill>
                  <a:srgbClr val="000000"/>
                </a:solidFill>
                <a:effectLst/>
                <a:latin typeface="Consolas" panose="020B0609020204030204" pitchFamily="49" charset="0"/>
              </a:rPr>
              <a:t>.then(r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 console.log(r) })</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event.preventDefault</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navigate(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735AF5C-F1FB-A14F-2D84-D8DED5ED1218}"/>
              </a:ext>
            </a:extLst>
          </p:cNvPr>
          <p:cNvSpPr txBox="1"/>
          <p:nvPr/>
        </p:nvSpPr>
        <p:spPr>
          <a:xfrm>
            <a:off x="7335079" y="1226501"/>
            <a:ext cx="4669733" cy="54784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onSubmit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handleSubmit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"name"</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handleChange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/&gt;&lt;label&gt;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Email:</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"email"</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handleChange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/&gt;&lt;label&gt;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Department: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&lt;/label&gt;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"department"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5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handleChange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800000"/>
                </a:solidFill>
                <a:effectLst/>
                <a:uLnTx/>
                <a:uFillTx/>
                <a:latin typeface="Consolas" panose="020B0609020204030204" pitchFamily="49" charset="0"/>
                <a:ea typeface="+mn-ea"/>
                <a:cs typeface="+mn-cs"/>
              </a:rPr>
              <a:t>br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5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"submit"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endParaRPr lang="en-IN" dirty="0"/>
          </a:p>
        </p:txBody>
      </p:sp>
      <p:sp>
        <p:nvSpPr>
          <p:cNvPr id="8" name="Rectangle 7">
            <a:extLst>
              <a:ext uri="{FF2B5EF4-FFF2-40B4-BE49-F238E27FC236}">
                <a16:creationId xmlns:a16="http://schemas.microsoft.com/office/drawing/2014/main" id="{DA663ADA-245F-29BE-9F69-EBB7F7984423}"/>
              </a:ext>
            </a:extLst>
          </p:cNvPr>
          <p:cNvSpPr/>
          <p:nvPr/>
        </p:nvSpPr>
        <p:spPr>
          <a:xfrm>
            <a:off x="5178288" y="831467"/>
            <a:ext cx="2613990" cy="139489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b="0" dirty="0" err="1">
                <a:solidFill>
                  <a:srgbClr val="001080"/>
                </a:solidFill>
                <a:effectLst/>
                <a:latin typeface="Consolas" panose="020B0609020204030204" pitchFamily="49" charset="0"/>
              </a:rPr>
              <a:t>name:raj</a:t>
            </a:r>
            <a:endParaRPr lang="en-US" b="0" dirty="0">
              <a:solidFill>
                <a:srgbClr val="001080"/>
              </a:solidFill>
              <a:effectLst/>
              <a:latin typeface="Consolas" panose="020B0609020204030204" pitchFamily="49" charset="0"/>
            </a:endParaRPr>
          </a:p>
          <a:p>
            <a:r>
              <a:rPr lang="en-US" dirty="0" err="1">
                <a:solidFill>
                  <a:srgbClr val="001080"/>
                </a:solidFill>
                <a:latin typeface="Consolas" panose="020B0609020204030204" pitchFamily="49" charset="0"/>
              </a:rPr>
              <a:t>Email:Raj@gmail.com</a:t>
            </a:r>
            <a:endParaRPr lang="en-US" dirty="0">
              <a:solidFill>
                <a:srgbClr val="001080"/>
              </a:solidFill>
              <a:latin typeface="Consolas" panose="020B0609020204030204" pitchFamily="49" charset="0"/>
            </a:endParaRPr>
          </a:p>
          <a:p>
            <a:r>
              <a:rPr lang="en-US" b="0" dirty="0" err="1">
                <a:solidFill>
                  <a:srgbClr val="001080"/>
                </a:solidFill>
                <a:effectLst/>
                <a:latin typeface="Consolas" panose="020B0609020204030204" pitchFamily="49" charset="0"/>
              </a:rPr>
              <a:t>Department:HR</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050921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BD5204-83FE-4E05-A093-A397E0DFB0E1}"/>
              </a:ext>
            </a:extLst>
          </p:cNvPr>
          <p:cNvSpPr txBox="1"/>
          <p:nvPr/>
        </p:nvSpPr>
        <p:spPr>
          <a:xfrm>
            <a:off x="255639" y="0"/>
            <a:ext cx="6096000" cy="4969181"/>
          </a:xfrm>
          <a:prstGeom prst="rect">
            <a:avLst/>
          </a:prstGeom>
          <a:noFill/>
        </p:spPr>
        <p:txBody>
          <a:bodyPr wrap="square">
            <a:spAutoFit/>
          </a:bodyPr>
          <a:lstStyle/>
          <a:p>
            <a:pPr marL="0" marR="0" lvl="0" indent="0" algn="l" defTabSz="914400" rtl="0" eaLnBrk="1" fontAlgn="base" latinLnBrk="0" hangingPunct="1">
              <a:lnSpc>
                <a:spcPct val="107000"/>
              </a:lnSpc>
              <a:spcBef>
                <a:spcPts val="600"/>
              </a:spcBef>
              <a:spcAft>
                <a:spcPts val="24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Times New Roman" panose="02020603050405020304" pitchFamily="18" charset="0"/>
                <a:cs typeface="Times New Roman" panose="02020603050405020304" pitchFamily="18" charset="0"/>
              </a:rPr>
              <a:t>Create a Clone of an Object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We can create a cloned instance of an object using the spread syntax like this:</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clone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Output, {name: "Alex", address: "15th Park Avenue", age: 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clone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Output, false</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You can alternatively use </a:t>
            </a:r>
            <a:r>
              <a:rPr kumimoji="0" lang="en-IN" sz="1300" b="0" i="0" u="none" strike="noStrike" kern="1200" cap="none" spc="0" normalizeH="0" baseline="0" noProof="0" dirty="0" err="1">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object.assign</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to create a clone of an object. However, the spread syntax is much more precise and much shorter.</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The spread syntax performs a shallow copy of the object. This means that none of the </a:t>
            </a:r>
            <a:r>
              <a:rPr kumimoji="0" lang="en-IN" sz="1650" b="0" i="0" u="none" strike="noStrike" kern="1200" cap="none" spc="0" normalizeH="0" baseline="0" noProof="0" dirty="0">
                <a:ln>
                  <a:noFill/>
                </a:ln>
                <a:solidFill>
                  <a:srgbClr val="0A0A23"/>
                </a:solidFill>
                <a:effectLst/>
                <a:highlight>
                  <a:srgbClr val="FFFF00"/>
                </a:highlight>
                <a:uLnTx/>
                <a:uFillTx/>
                <a:latin typeface="Lato" panose="020F0502020204030203" pitchFamily="34" charset="0"/>
                <a:ea typeface="Times New Roman" panose="02020603050405020304" pitchFamily="18" charset="0"/>
                <a:cs typeface="Times New Roman" panose="02020603050405020304" pitchFamily="18" charset="0"/>
              </a:rPr>
              <a:t>nested object instances are cloned</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F0683E7-35F3-48C0-8943-E6A6262B478B}"/>
              </a:ext>
            </a:extLst>
          </p:cNvPr>
          <p:cNvSpPr txBox="1"/>
          <p:nvPr/>
        </p:nvSpPr>
        <p:spPr>
          <a:xfrm>
            <a:off x="6096000" y="0"/>
            <a:ext cx="6096000" cy="5084790"/>
          </a:xfrm>
          <a:prstGeom prst="rect">
            <a:avLst/>
          </a:prstGeom>
          <a:noFill/>
        </p:spPr>
        <p:txBody>
          <a:bodyPr wrap="square">
            <a:spAutoFit/>
          </a:bodyPr>
          <a:lstStyle/>
          <a:p>
            <a:pPr marL="0" marR="0" lvl="0" indent="0" algn="l" defTabSz="914400" rtl="0" eaLnBrk="1" fontAlgn="base" latinLnBrk="0" hangingPunct="1">
              <a:lnSpc>
                <a:spcPct val="107000"/>
              </a:lnSpc>
              <a:spcBef>
                <a:spcPts val="600"/>
              </a:spcBef>
              <a:spcAft>
                <a:spcPts val="24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Times New Roman" panose="02020603050405020304" pitchFamily="18" charset="0"/>
                <a:cs typeface="Times New Roman" panose="02020603050405020304" pitchFamily="18" charset="0"/>
              </a:rPr>
              <a:t>Add Properties to Objects</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We can add a new property (key-value pair) to the object using the </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spread syntax</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Note that the actual object never gets changed. The new property gets added to the cloned object.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In the example below, we are adding a new property (</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salary</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using the spread syntax.</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Add a new property salary</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00" b="0"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updatedUser</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salary</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12345</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43, salary: 12345}</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Original object is unchanged</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console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DD4A68"/>
                </a:solidFill>
                <a:effectLst/>
                <a:uLnTx/>
                <a:uFillTx/>
                <a:latin typeface="inherit"/>
                <a:ea typeface="Times New Roman" panose="02020603050405020304" pitchFamily="18" charset="0"/>
                <a:cs typeface="Courier New" panose="02070309020205020404" pitchFamily="49" charset="0"/>
              </a:rPr>
              <a:t>log</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54FA49F-9F92-4337-9AF8-06BEEC38411D}"/>
              </a:ext>
            </a:extLst>
          </p:cNvPr>
          <p:cNvSpPr txBox="1"/>
          <p:nvPr/>
        </p:nvSpPr>
        <p:spPr>
          <a:xfrm>
            <a:off x="88491" y="5265661"/>
            <a:ext cx="6096000" cy="1215076"/>
          </a:xfrm>
          <a:prstGeom prst="rect">
            <a:avLst/>
          </a:prstGeom>
          <a:noFill/>
        </p:spPr>
        <p:txBody>
          <a:bodyPr wrap="square">
            <a:spAutoFit/>
          </a:bodyPr>
          <a:lstStyle/>
          <a:p>
            <a:pPr marL="0" marR="0" lvl="0" indent="0" algn="l" defTabSz="914400" rtl="0" eaLnBrk="1" fontAlgn="base" latinLnBrk="0" hangingPunct="1">
              <a:lnSpc>
                <a:spcPct val="107000"/>
              </a:lnSpc>
              <a:spcBef>
                <a:spcPts val="600"/>
              </a:spcBef>
              <a:spcAft>
                <a:spcPts val="24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Times New Roman" panose="02020603050405020304" pitchFamily="18" charset="0"/>
                <a:cs typeface="Times New Roman" panose="02020603050405020304" pitchFamily="18" charset="0"/>
              </a:rPr>
              <a:t>Update Properties</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We can also update an existing property value using the spread syntax. Like the add operation, the update takes place on the object's cloned instance, not on the actual object. In the</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95C750FB-D3D2-4E19-A141-438C652B0FEE}"/>
              </a:ext>
            </a:extLst>
          </p:cNvPr>
          <p:cNvSpPr txBox="1"/>
          <p:nvPr/>
        </p:nvSpPr>
        <p:spPr>
          <a:xfrm>
            <a:off x="6096000" y="5138029"/>
            <a:ext cx="6096000" cy="1470339"/>
          </a:xfrm>
          <a:prstGeom prst="rect">
            <a:avLst/>
          </a:prstGeom>
          <a:noFill/>
        </p:spPr>
        <p:txBody>
          <a:bodyPr wrap="square">
            <a:spAutoFit/>
          </a:bodyPr>
          <a:lstStyle/>
          <a:p>
            <a:pPr marL="0" marR="0" lvl="0" indent="0" algn="l" defTabSz="914400" rtl="0" eaLnBrk="1" fontAlgn="base" latinLnBrk="0" hangingPunct="1">
              <a:lnSpc>
                <a:spcPct val="107000"/>
              </a:lnSpc>
              <a:spcBef>
                <a:spcPts val="0"/>
              </a:spcBef>
              <a:spcAft>
                <a:spcPts val="1800"/>
              </a:spcAft>
              <a:buClrTx/>
              <a:buSzTx/>
              <a:buFontTx/>
              <a:buNone/>
              <a:tabLst/>
              <a:defRPr/>
            </a:pP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example below, we are updating the value of the </a:t>
            </a:r>
            <a:r>
              <a:rPr kumimoji="0" lang="en-IN" sz="1300" b="0" i="0" u="none" strike="noStrike" kern="1200" cap="none" spc="0" normalizeH="0" baseline="0" noProof="0" dirty="0">
                <a:ln>
                  <a:noFill/>
                </a:ln>
                <a:solidFill>
                  <a:srgbClr val="0A0A23"/>
                </a:solidFill>
                <a:effectLst/>
                <a:uLnTx/>
                <a:uFillTx/>
                <a:latin typeface="Courier New" panose="02070309020205020404" pitchFamily="49" charset="0"/>
                <a:ea typeface="Times New Roman" panose="02020603050405020304" pitchFamily="18" charset="0"/>
                <a:cs typeface="Times New Roman" panose="02020603050405020304" pitchFamily="18" charset="0"/>
              </a:rPr>
              <a:t>age</a:t>
            </a:r>
            <a:r>
              <a:rPr kumimoji="0" lang="en-IN" sz="1650" b="0" i="0" u="none" strike="noStrike" kern="1200" cap="none" spc="0" normalizeH="0" baseline="0" noProof="0" dirty="0">
                <a:ln>
                  <a:noFill/>
                </a:ln>
                <a:solidFill>
                  <a:srgbClr val="0A0A23"/>
                </a:solidFill>
                <a:effectLst/>
                <a:uLnTx/>
                <a:uFillTx/>
                <a:latin typeface="Lato" panose="020F0502020204030203" pitchFamily="34" charset="0"/>
                <a:ea typeface="Times New Roman" panose="02020603050405020304" pitchFamily="18" charset="0"/>
                <a:cs typeface="Times New Roman" panose="02020603050405020304" pitchFamily="18" charset="0"/>
              </a:rPr>
              <a:t> property:</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user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err="1">
                <a:ln>
                  <a:noFill/>
                </a:ln>
                <a:solidFill>
                  <a:srgbClr val="0077AA"/>
                </a:solidFill>
                <a:effectLst/>
                <a:uLnTx/>
                <a:uFillTx/>
                <a:latin typeface="inherit"/>
                <a:ea typeface="Times New Roman" panose="02020603050405020304" pitchFamily="18" charset="0"/>
                <a:cs typeface="Courier New" panose="02070309020205020404" pitchFamily="49" charset="0"/>
              </a:rPr>
              <a:t>const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00" b="0"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updatedUser</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A6E3A"/>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56</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56}</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lnSpc>
                <a:spcPts val="1800"/>
              </a:lnSpc>
              <a:spcBef>
                <a:spcPts val="0"/>
              </a:spcBef>
              <a:spcAft>
                <a:spcPts val="800"/>
              </a:spcAft>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console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50" b="0" i="0" u="none" strike="noStrike" kern="1200" cap="none" spc="0" normalizeH="0" baseline="0" noProof="0" dirty="0">
                <a:ln>
                  <a:noFill/>
                </a:ln>
                <a:solidFill>
                  <a:srgbClr val="DD4A68"/>
                </a:solidFill>
                <a:effectLst/>
                <a:uLnTx/>
                <a:uFillTx/>
                <a:latin typeface="inherit"/>
                <a:ea typeface="Times New Roman" panose="02020603050405020304" pitchFamily="18" charset="0"/>
                <a:cs typeface="Courier New" panose="02070309020205020404" pitchFamily="49" charset="0"/>
              </a:rPr>
              <a:t>log</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708090"/>
                </a:solidFill>
                <a:effectLst/>
                <a:uLnTx/>
                <a:uFillTx/>
                <a:latin typeface="inherit"/>
                <a:ea typeface="Times New Roman" panose="02020603050405020304" pitchFamily="18" charset="0"/>
                <a:cs typeface="Courier New" panose="02070309020205020404" pitchFamily="49" charset="0"/>
              </a:rPr>
              <a:t>// {name: "Alex", address: "15th Park Avenue", age: 43}</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3B6C4415-6FED-7897-2401-699EE44406FB}"/>
              </a:ext>
            </a:extLst>
          </p:cNvPr>
          <p:cNvSpPr txBox="1"/>
          <p:nvPr/>
        </p:nvSpPr>
        <p:spPr>
          <a:xfrm>
            <a:off x="2472267" y="884270"/>
            <a:ext cx="618066" cy="369332"/>
          </a:xfrm>
          <a:prstGeom prst="rect">
            <a:avLst/>
          </a:prstGeom>
          <a:noFill/>
        </p:spPr>
        <p:txBody>
          <a:bodyPr wrap="square" rtlCol="0">
            <a:spAutoFit/>
          </a:bodyPr>
          <a:lstStyle/>
          <a:p>
            <a:r>
              <a:rPr lang="en-IN" dirty="0"/>
              <a:t>user</a:t>
            </a:r>
          </a:p>
        </p:txBody>
      </p:sp>
      <p:sp>
        <p:nvSpPr>
          <p:cNvPr id="3" name="TextBox 2">
            <a:extLst>
              <a:ext uri="{FF2B5EF4-FFF2-40B4-BE49-F238E27FC236}">
                <a16:creationId xmlns:a16="http://schemas.microsoft.com/office/drawing/2014/main" id="{DDCBE967-D1F1-A162-63F1-7C439519027D}"/>
              </a:ext>
            </a:extLst>
          </p:cNvPr>
          <p:cNvSpPr txBox="1"/>
          <p:nvPr/>
        </p:nvSpPr>
        <p:spPr>
          <a:xfrm>
            <a:off x="2557753" y="1772277"/>
            <a:ext cx="761179" cy="369332"/>
          </a:xfrm>
          <a:prstGeom prst="rect">
            <a:avLst/>
          </a:prstGeom>
          <a:noFill/>
        </p:spPr>
        <p:txBody>
          <a:bodyPr wrap="square" rtlCol="0">
            <a:spAutoFit/>
          </a:bodyPr>
          <a:lstStyle/>
          <a:p>
            <a:r>
              <a:rPr lang="en-IN" dirty="0"/>
              <a:t>clone</a:t>
            </a:r>
          </a:p>
        </p:txBody>
      </p:sp>
      <p:sp>
        <p:nvSpPr>
          <p:cNvPr id="4" name="TextBox 3">
            <a:extLst>
              <a:ext uri="{FF2B5EF4-FFF2-40B4-BE49-F238E27FC236}">
                <a16:creationId xmlns:a16="http://schemas.microsoft.com/office/drawing/2014/main" id="{6C00FA4B-825E-D348-A8E9-61421A0C3224}"/>
              </a:ext>
            </a:extLst>
          </p:cNvPr>
          <p:cNvSpPr txBox="1"/>
          <p:nvPr/>
        </p:nvSpPr>
        <p:spPr>
          <a:xfrm>
            <a:off x="3800711" y="609523"/>
            <a:ext cx="1820335" cy="9002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lang="en-IN" sz="1050" dirty="0"/>
          </a:p>
        </p:txBody>
      </p:sp>
      <p:cxnSp>
        <p:nvCxnSpPr>
          <p:cNvPr id="8" name="Straight Arrow Connector 7">
            <a:extLst>
              <a:ext uri="{FF2B5EF4-FFF2-40B4-BE49-F238E27FC236}">
                <a16:creationId xmlns:a16="http://schemas.microsoft.com/office/drawing/2014/main" id="{122B257E-3560-24B1-8B8F-33F11BA25D60}"/>
              </a:ext>
            </a:extLst>
          </p:cNvPr>
          <p:cNvCxnSpPr>
            <a:stCxn id="2" idx="3"/>
          </p:cNvCxnSpPr>
          <p:nvPr/>
        </p:nvCxnSpPr>
        <p:spPr>
          <a:xfrm>
            <a:off x="3090333" y="1068936"/>
            <a:ext cx="5926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F80286-0857-88F6-7F74-768782F13963}"/>
              </a:ext>
            </a:extLst>
          </p:cNvPr>
          <p:cNvSpPr txBox="1"/>
          <p:nvPr/>
        </p:nvSpPr>
        <p:spPr>
          <a:xfrm>
            <a:off x="3793886" y="1669169"/>
            <a:ext cx="1820335" cy="90024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'name'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'Alex'</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'address'</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'15th Park Avenue'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669900"/>
                </a:solidFill>
                <a:effectLst/>
                <a:uLnTx/>
                <a:uFillTx/>
                <a:latin typeface="inherit"/>
                <a:ea typeface="Times New Roman" panose="02020603050405020304" pitchFamily="18" charset="0"/>
                <a:cs typeface="Courier New" panose="02070309020205020404" pitchFamily="49" charset="0"/>
              </a:rPr>
              <a:t>'age'</a:t>
            </a: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r>
              <a:rPr kumimoji="0" lang="en-IN" sz="1000" b="0"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050" b="0" i="0" u="none" strike="noStrike" kern="1200" cap="none" spc="0" normalizeH="0" baseline="0" noProof="0" dirty="0">
                <a:ln>
                  <a:noFill/>
                </a:ln>
                <a:solidFill>
                  <a:srgbClr val="990055"/>
                </a:solidFill>
                <a:effectLst/>
                <a:uLnTx/>
                <a:uFillTx/>
                <a:latin typeface="inherit"/>
                <a:ea typeface="Times New Roman" panose="02020603050405020304" pitchFamily="18" charset="0"/>
                <a:cs typeface="Courier New" panose="02070309020205020404" pitchFamily="49" charset="0"/>
              </a:rPr>
              <a:t>43</a:t>
            </a:r>
          </a:p>
          <a:p>
            <a:pPr marL="0" marR="0" lvl="0" indent="0" algn="l" defTabSz="914400" rtl="0" eaLnBrk="1" fontAlgn="base" latinLnBrk="0" hangingPunct="1">
              <a:spcBef>
                <a:spcPts val="0"/>
              </a:spcBef>
              <a:buClrTx/>
              <a:buSzTx/>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050" b="0" i="0" u="none" strike="noStrike" kern="1200" cap="none" spc="0" normalizeH="0" baseline="0" noProof="0" dirty="0">
                <a:ln>
                  <a:noFill/>
                </a:ln>
                <a:solidFill>
                  <a:srgbClr val="999999"/>
                </a:solidFill>
                <a:effectLst/>
                <a:uLnTx/>
                <a:uFillTx/>
                <a:latin typeface="inherit"/>
                <a:ea typeface="Times New Roman" panose="02020603050405020304" pitchFamily="18" charset="0"/>
                <a:cs typeface="Courier New" panose="02070309020205020404" pitchFamily="49" charset="0"/>
              </a:rPr>
              <a:t>}</a:t>
            </a:r>
            <a:endParaRPr lang="en-IN" sz="1050" dirty="0"/>
          </a:p>
        </p:txBody>
      </p:sp>
      <p:cxnSp>
        <p:nvCxnSpPr>
          <p:cNvPr id="12" name="Straight Arrow Connector 11">
            <a:extLst>
              <a:ext uri="{FF2B5EF4-FFF2-40B4-BE49-F238E27FC236}">
                <a16:creationId xmlns:a16="http://schemas.microsoft.com/office/drawing/2014/main" id="{4DDD5609-0B86-FBDA-195C-EC542C9132CF}"/>
              </a:ext>
            </a:extLst>
          </p:cNvPr>
          <p:cNvCxnSpPr/>
          <p:nvPr/>
        </p:nvCxnSpPr>
        <p:spPr>
          <a:xfrm>
            <a:off x="3200399" y="2001412"/>
            <a:ext cx="5926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0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AE6BEB-542E-7B43-09A7-ACA81F41811D}"/>
              </a:ext>
            </a:extLst>
          </p:cNvPr>
          <p:cNvSpPr txBox="1"/>
          <p:nvPr/>
        </p:nvSpPr>
        <p:spPr>
          <a:xfrm>
            <a:off x="963893" y="2274838"/>
            <a:ext cx="952814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means that the code below will result in you having an array with duplicate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numbers1 =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numbers2 = [ ...numbers 1, 1, 2, 6,7,8]; // this will be [1, 2, 3, 4, 5, 1, 2, 6, 7, 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Think of it as a replacement for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Array.prototype.concat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51B6949-3D06-E9E0-8FF7-6F3A943B6EC9}"/>
              </a:ext>
            </a:extLst>
          </p:cNvPr>
          <p:cNvSpPr txBox="1"/>
          <p:nvPr/>
        </p:nvSpPr>
        <p:spPr>
          <a:xfrm>
            <a:off x="737647" y="420735"/>
            <a:ext cx="1057451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a similar situation with arrays. Except that instead of spreading over keys and values, the operator spreads indexes and values. Unlike object spread, where you won’t have duplicate properties because that’s just how JavaScript objects work (you can’t have an object with two name properties), with arrays you may end up with duplicate values, if you plan to implement something similar to our object example.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6251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F1BA91-FF1E-4E7D-A075-96D5892AD81F}"/>
              </a:ext>
            </a:extLst>
          </p:cNvPr>
          <p:cNvSpPr txBox="1"/>
          <p:nvPr/>
        </p:nvSpPr>
        <p:spPr>
          <a:xfrm>
            <a:off x="678426" y="0"/>
            <a:ext cx="5692877" cy="70173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go</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code:</a:t>
            </a:r>
            <a:r>
              <a:rPr kumimoji="0" lang="en-IN" sz="18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event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target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employee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"code"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go</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"name"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go</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click</a:t>
            </a: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&lt;/form&gt;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6" name="TextBox 5">
            <a:extLst>
              <a:ext uri="{FF2B5EF4-FFF2-40B4-BE49-F238E27FC236}">
                <a16:creationId xmlns:a16="http://schemas.microsoft.com/office/drawing/2014/main" id="{80A24294-EA15-4530-831E-668E16006F02}"/>
              </a:ext>
            </a:extLst>
          </p:cNvPr>
          <p:cNvSpPr txBox="1"/>
          <p:nvPr/>
        </p:nvSpPr>
        <p:spPr>
          <a:xfrm>
            <a:off x="7551174" y="796413"/>
            <a:ext cx="2713703"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Code:101,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Name:”vita</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{Code:101,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Name:”vita</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445A1698-A70F-4E85-823D-6388CAB39C92}"/>
              </a:ext>
            </a:extLst>
          </p:cNvPr>
          <p:cNvSpPr txBox="1"/>
          <p:nvPr/>
        </p:nvSpPr>
        <p:spPr>
          <a:xfrm>
            <a:off x="6754761" y="3736258"/>
            <a:ext cx="3775587"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For(let pp in </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data.employee</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Console.log(</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data.employee</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997413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0428B6-19C3-859B-AC5E-A5228374AE58}"/>
              </a:ext>
            </a:extLst>
          </p:cNvPr>
          <p:cNvSpPr txBox="1"/>
          <p:nvPr/>
        </p:nvSpPr>
        <p:spPr>
          <a:xfrm>
            <a:off x="9338733" y="160867"/>
            <a:ext cx="2582334" cy="369332"/>
          </a:xfrm>
          <a:prstGeom prst="rect">
            <a:avLst/>
          </a:prstGeom>
          <a:noFill/>
        </p:spPr>
        <p:txBody>
          <a:bodyPr wrap="square" rtlCol="0">
            <a:spAutoFit/>
          </a:bodyPr>
          <a:lstStyle/>
          <a:p>
            <a:r>
              <a:rPr lang="en-IN" dirty="0">
                <a:solidFill>
                  <a:srgbClr val="FF0000"/>
                </a:solidFill>
                <a:highlight>
                  <a:srgbClr val="FFFF00"/>
                </a:highlight>
              </a:rPr>
              <a:t>Best Practice</a:t>
            </a:r>
          </a:p>
        </p:txBody>
      </p:sp>
      <p:sp>
        <p:nvSpPr>
          <p:cNvPr id="6" name="TextBox 5">
            <a:extLst>
              <a:ext uri="{FF2B5EF4-FFF2-40B4-BE49-F238E27FC236}">
                <a16:creationId xmlns:a16="http://schemas.microsoft.com/office/drawing/2014/main" id="{41E78736-4902-64F2-4663-1E8F5A90498C}"/>
              </a:ext>
            </a:extLst>
          </p:cNvPr>
          <p:cNvSpPr txBox="1"/>
          <p:nvPr/>
        </p:nvSpPr>
        <p:spPr>
          <a:xfrm>
            <a:off x="-1" y="0"/>
            <a:ext cx="11624733" cy="6740307"/>
          </a:xfrm>
          <a:prstGeom prst="rect">
            <a:avLst/>
          </a:prstGeom>
          <a:noFill/>
        </p:spPr>
        <p:txBody>
          <a:bodyPr wrap="square">
            <a:spAutoFit/>
          </a:bodyPr>
          <a:lstStyle/>
          <a:p>
            <a:pPr>
              <a:buNone/>
            </a:pPr>
            <a:r>
              <a:rPr lang="en-IN" b="0" dirty="0">
                <a:solidFill>
                  <a:srgbClr val="AF00DB"/>
                </a:solidFill>
                <a:effectLst/>
                <a:latin typeface="Consolas" panose="020B0609020204030204" pitchFamily="49" charset="0"/>
              </a:rPr>
              <a:t>import</a:t>
            </a:r>
            <a:r>
              <a:rPr lang="en-IN" b="0" dirty="0">
                <a:solidFill>
                  <a:srgbClr val="3B3B3B"/>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useState</a:t>
            </a: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3B3B3B"/>
                </a:solidFill>
                <a:effectLst/>
                <a:latin typeface="Consolas" panose="020B0609020204030204" pitchFamily="49" charset="0"/>
              </a:rPr>
              <a:t>;</a:t>
            </a:r>
          </a:p>
          <a:p>
            <a:pPr>
              <a:buNone/>
            </a:pPr>
            <a:r>
              <a:rPr lang="en-IN" b="0" dirty="0">
                <a:solidFill>
                  <a:srgbClr val="AF00DB"/>
                </a:solidFill>
                <a:effectLst/>
                <a:latin typeface="Consolas" panose="020B0609020204030204" pitchFamily="49" charset="0"/>
              </a:rPr>
              <a:t>import</a:t>
            </a:r>
            <a:r>
              <a:rPr lang="en-IN" b="0" dirty="0">
                <a:solidFill>
                  <a:srgbClr val="3B3B3B"/>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useNavigate</a:t>
            </a: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AF00DB"/>
                </a:solidFill>
                <a:effectLst/>
                <a:latin typeface="Consolas" panose="020B0609020204030204" pitchFamily="49" charset="0"/>
              </a:rPr>
              <a:t>export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default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Createemp</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employee</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setEmployee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useState</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email:</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departmentId</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isSubmitting</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setIsSubmitting</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useState</a:t>
            </a:r>
            <a:r>
              <a:rPr lang="en-IN" b="0" dirty="0">
                <a:solidFill>
                  <a:srgbClr val="3B3B3B"/>
                </a:solidFill>
                <a:effectLst/>
                <a:latin typeface="Consolas" panose="020B0609020204030204" pitchFamily="49" charset="0"/>
              </a:rPr>
              <a:t>(</a:t>
            </a:r>
            <a:r>
              <a:rPr lang="en-IN" b="0" dirty="0">
                <a:solidFill>
                  <a:srgbClr val="0000FF"/>
                </a:solidFill>
                <a:effectLst/>
                <a:latin typeface="Consolas" panose="020B0609020204030204" pitchFamily="49" charset="0"/>
              </a:rPr>
              <a:t>false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navigate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useNavigate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handleChange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event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 </a:t>
            </a:r>
            <a:r>
              <a:rPr lang="en-IN" b="0" dirty="0">
                <a:solidFill>
                  <a:srgbClr val="0070C1"/>
                </a:solidFill>
                <a:effectLst/>
                <a:latin typeface="Consolas" panose="020B0609020204030204" pitchFamily="49" charset="0"/>
              </a:rPr>
              <a:t>name</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value</a:t>
            </a:r>
            <a:r>
              <a:rPr lang="en-IN" b="0" dirty="0">
                <a:solidFill>
                  <a:srgbClr val="3B3B3B"/>
                </a:solidFill>
                <a:effectLst/>
                <a:latin typeface="Consolas" panose="020B0609020204030204" pitchFamily="49" charset="0"/>
              </a:rPr>
              <a:t> }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event</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target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setEmployee</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prev</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 </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prev</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value</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handleSubmit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event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event</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preventDefault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employee</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name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employee</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email</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alert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"Name and Email are required"</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br>
              <a:rPr lang="en-IN" b="0" dirty="0">
                <a:solidFill>
                  <a:srgbClr val="3B3B3B"/>
                </a:solidFill>
                <a:effectLst/>
                <a:latin typeface="Consolas" panose="020B0609020204030204" pitchFamily="49" charset="0"/>
              </a:rPr>
            </a:b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setIsSubmitting</a:t>
            </a:r>
            <a:r>
              <a:rPr lang="en-IN" b="0" dirty="0">
                <a:solidFill>
                  <a:srgbClr val="3B3B3B"/>
                </a:solidFill>
                <a:effectLst/>
                <a:latin typeface="Consolas" panose="020B0609020204030204" pitchFamily="49" charset="0"/>
              </a:rPr>
              <a:t>(</a:t>
            </a:r>
            <a:r>
              <a:rPr lang="en-IN" b="0" dirty="0">
                <a:solidFill>
                  <a:srgbClr val="0000FF"/>
                </a:solidFill>
                <a:effectLst/>
                <a:latin typeface="Consolas" panose="020B0609020204030204" pitchFamily="49" charset="0"/>
              </a:rPr>
              <a:t>true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response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fetch</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"https://localhost:7067/</a:t>
            </a:r>
            <a:r>
              <a:rPr lang="en-IN" b="0" dirty="0" err="1">
                <a:solidFill>
                  <a:srgbClr val="A31515"/>
                </a:solidFill>
                <a:effectLst/>
                <a:latin typeface="Consolas" panose="020B0609020204030204" pitchFamily="49" charset="0"/>
              </a:rPr>
              <a:t>api</a:t>
            </a:r>
            <a:r>
              <a:rPr lang="en-IN" b="0" dirty="0">
                <a:solidFill>
                  <a:srgbClr val="A31515"/>
                </a:solidFill>
                <a:effectLst/>
                <a:latin typeface="Consolas" panose="020B0609020204030204" pitchFamily="49" charset="0"/>
              </a:rPr>
              <a:t>/Employee"</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method:</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"POST"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headers:</a:t>
            </a:r>
            <a:r>
              <a:rPr lang="en-IN" b="0" dirty="0">
                <a:solidFill>
                  <a:srgbClr val="3B3B3B"/>
                </a:solidFill>
                <a:effectLst/>
                <a:latin typeface="Consolas" panose="020B0609020204030204" pitchFamily="49" charset="0"/>
              </a:rPr>
              <a:t> {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"application/</a:t>
            </a:r>
            <a:r>
              <a:rPr lang="en-IN" b="0" dirty="0" err="1">
                <a:solidFill>
                  <a:srgbClr val="A31515"/>
                </a:solidFill>
                <a:effectLst/>
                <a:latin typeface="Consolas" panose="020B0609020204030204" pitchFamily="49" charset="0"/>
              </a:rPr>
              <a:t>json</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body:</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JSON</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stringify</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employee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p:txBody>
      </p:sp>
      <p:sp>
        <p:nvSpPr>
          <p:cNvPr id="8" name="TextBox 7">
            <a:extLst>
              <a:ext uri="{FF2B5EF4-FFF2-40B4-BE49-F238E27FC236}">
                <a16:creationId xmlns:a16="http://schemas.microsoft.com/office/drawing/2014/main" id="{8128FB68-29D5-E342-2D67-9CBF0FE0F83D}"/>
              </a:ext>
            </a:extLst>
          </p:cNvPr>
          <p:cNvSpPr txBox="1"/>
          <p:nvPr/>
        </p:nvSpPr>
        <p:spPr>
          <a:xfrm>
            <a:off x="7114117" y="1684867"/>
            <a:ext cx="5077884"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response</a:t>
            </a:r>
            <a:r>
              <a:rPr kumimoji="0" lang="en-IN" sz="18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ok</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throw</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Error </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"Failed to create employee"</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navigate</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error</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"Something went wrong!"</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finally</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setIsSubmitting</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false</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p:txBody>
      </p:sp>
    </p:spTree>
    <p:extLst>
      <p:ext uri="{BB962C8B-B14F-4D97-AF65-F5344CB8AC3E}">
        <p14:creationId xmlns:p14="http://schemas.microsoft.com/office/powerpoint/2010/main" val="377578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CEFD98-145B-6DF2-ED81-52DBD415276A}"/>
              </a:ext>
            </a:extLst>
          </p:cNvPr>
          <p:cNvSpPr txBox="1"/>
          <p:nvPr/>
        </p:nvSpPr>
        <p:spPr>
          <a:xfrm>
            <a:off x="118533" y="973990"/>
            <a:ext cx="11988799" cy="4462760"/>
          </a:xfrm>
          <a:prstGeom prst="rect">
            <a:avLst/>
          </a:prstGeom>
          <a:noFill/>
        </p:spPr>
        <p:txBody>
          <a:bodyPr wrap="square">
            <a:spAutoFit/>
          </a:bodyPr>
          <a:lstStyle/>
          <a:p>
            <a:pPr>
              <a:buNone/>
            </a:pPr>
            <a:r>
              <a:rPr lang="en-IN" b="0" dirty="0">
                <a:solidFill>
                  <a:srgbClr val="3B3B3B"/>
                </a:solidFill>
                <a:effectLst/>
                <a:latin typeface="Consolas" panose="020B0609020204030204" pitchFamily="49" charset="0"/>
              </a:rPr>
              <a:t> </a:t>
            </a: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&lt;form</a:t>
            </a:r>
            <a:r>
              <a:rPr lang="en-IN" b="0" dirty="0">
                <a:solidFill>
                  <a:srgbClr val="3B3B3B"/>
                </a:solidFill>
                <a:effectLst/>
                <a:latin typeface="Consolas" panose="020B0609020204030204" pitchFamily="49" charset="0"/>
              </a:rPr>
              <a:t> </a:t>
            </a:r>
            <a:r>
              <a:rPr lang="en-IN" b="0" dirty="0" err="1">
                <a:solidFill>
                  <a:srgbClr val="E50000"/>
                </a:solidFill>
                <a:effectLst/>
                <a:latin typeface="Consolas" panose="020B0609020204030204" pitchFamily="49" charset="0"/>
              </a:rPr>
              <a:t>onSubmit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795E26"/>
                </a:solidFill>
                <a:effectLst/>
                <a:latin typeface="Consolas" panose="020B0609020204030204" pitchFamily="49" charset="0"/>
              </a:rPr>
              <a:t>handleSubmit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"name"</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employee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name</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E50000"/>
                </a:solidFill>
                <a:effectLst/>
                <a:latin typeface="Consolas" panose="020B0609020204030204" pitchFamily="49" charset="0"/>
              </a:rPr>
              <a:t>onChange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795E26"/>
                </a:solidFill>
                <a:effectLst/>
                <a:latin typeface="Consolas" panose="020B0609020204030204" pitchFamily="49" charset="0"/>
              </a:rPr>
              <a:t>handleChange</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placeholder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"Name"</a:t>
            </a: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"email"</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70C1"/>
                </a:solidFill>
                <a:effectLst/>
                <a:latin typeface="Consolas" panose="020B0609020204030204" pitchFamily="49" charset="0"/>
              </a:rPr>
              <a:t>employee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email</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E50000"/>
                </a:solidFill>
                <a:effectLst/>
                <a:latin typeface="Consolas" panose="020B0609020204030204" pitchFamily="49" charset="0"/>
              </a:rPr>
              <a:t>onChange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795E26"/>
                </a:solidFill>
                <a:effectLst/>
                <a:latin typeface="Consolas" panose="020B0609020204030204" pitchFamily="49" charset="0"/>
              </a:rPr>
              <a:t>handleChange</a:t>
            </a:r>
            <a:r>
              <a:rPr lang="en-IN" b="0" dirty="0">
                <a:solidFill>
                  <a:srgbClr val="0000FF"/>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placeholder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"Email"</a:t>
            </a: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3B3B3B"/>
              </a:solidFill>
              <a:effectLst/>
              <a:latin typeface="Consolas" panose="020B0609020204030204" pitchFamily="49" charset="0"/>
            </a:endParaRPr>
          </a:p>
          <a:p>
            <a:pPr>
              <a:buNone/>
            </a:pPr>
            <a:r>
              <a:rPr lang="en-IN" sz="1600" b="0" dirty="0">
                <a:solidFill>
                  <a:srgbClr val="800000"/>
                </a:solidFill>
                <a:effectLst/>
                <a:latin typeface="Consolas" panose="020B0609020204030204" pitchFamily="49" charset="0"/>
              </a:rPr>
              <a:t>&lt;input</a:t>
            </a:r>
            <a:r>
              <a:rPr lang="en-IN" sz="1600" b="0" dirty="0">
                <a:solidFill>
                  <a:srgbClr val="3B3B3B"/>
                </a:solidFill>
                <a:effectLst/>
                <a:latin typeface="Consolas" panose="020B0609020204030204" pitchFamily="49" charset="0"/>
              </a:rPr>
              <a:t> </a:t>
            </a:r>
            <a:r>
              <a:rPr lang="en-IN" sz="1600" b="0" dirty="0">
                <a:solidFill>
                  <a:srgbClr val="E50000"/>
                </a:solidFill>
                <a:effectLst/>
                <a:latin typeface="Consolas" panose="020B0609020204030204" pitchFamily="49" charset="0"/>
              </a:rPr>
              <a:t>name</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departmentId</a:t>
            </a:r>
            <a:r>
              <a:rPr lang="en-IN" sz="1600" b="0" dirty="0">
                <a:solidFill>
                  <a:srgbClr val="A31515"/>
                </a:solidFill>
                <a:effectLst/>
                <a:latin typeface="Consolas" panose="020B0609020204030204" pitchFamily="49" charset="0"/>
              </a:rPr>
              <a:t>"</a:t>
            </a:r>
            <a:r>
              <a:rPr lang="en-IN" sz="1600" b="0" dirty="0">
                <a:solidFill>
                  <a:srgbClr val="3B3B3B"/>
                </a:solidFill>
                <a:effectLst/>
                <a:latin typeface="Consolas" panose="020B0609020204030204" pitchFamily="49" charset="0"/>
              </a:rPr>
              <a:t> </a:t>
            </a:r>
            <a:r>
              <a:rPr lang="en-IN" sz="1600" b="0" dirty="0">
                <a:solidFill>
                  <a:srgbClr val="E5000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70C1"/>
                </a:solidFill>
                <a:effectLst/>
                <a:latin typeface="Consolas" panose="020B0609020204030204" pitchFamily="49" charset="0"/>
              </a:rPr>
              <a:t>employee</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departmentId</a:t>
            </a:r>
            <a:r>
              <a:rPr lang="en-IN" sz="1600" b="0" dirty="0">
                <a:solidFill>
                  <a:srgbClr val="0000FF"/>
                </a:solidFill>
                <a:effectLst/>
                <a:latin typeface="Consolas" panose="020B0609020204030204" pitchFamily="49" charset="0"/>
              </a:rPr>
              <a:t>}</a:t>
            </a:r>
            <a:r>
              <a:rPr lang="en-IN" sz="1600" b="0" dirty="0">
                <a:solidFill>
                  <a:srgbClr val="3B3B3B"/>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onChange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handleChange</a:t>
            </a:r>
            <a:r>
              <a:rPr lang="en-IN" sz="1600" b="0" dirty="0">
                <a:solidFill>
                  <a:srgbClr val="0000FF"/>
                </a:solidFill>
                <a:effectLst/>
                <a:latin typeface="Consolas" panose="020B0609020204030204" pitchFamily="49" charset="0"/>
              </a:rPr>
              <a:t>}</a:t>
            </a:r>
            <a:r>
              <a:rPr lang="en-IN" sz="1600" b="0" dirty="0">
                <a:solidFill>
                  <a:srgbClr val="3B3B3B"/>
                </a:solidFill>
                <a:effectLst/>
                <a:latin typeface="Consolas" panose="020B0609020204030204" pitchFamily="49" charset="0"/>
              </a:rPr>
              <a:t> </a:t>
            </a:r>
            <a:r>
              <a:rPr lang="en-IN" sz="1600" b="0" dirty="0">
                <a:solidFill>
                  <a:srgbClr val="E50000"/>
                </a:solidFill>
                <a:effectLst/>
                <a:latin typeface="Consolas" panose="020B0609020204030204" pitchFamily="49" charset="0"/>
              </a:rPr>
              <a:t>placeholder </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"Department"</a:t>
            </a:r>
            <a:r>
              <a:rPr lang="en-IN" sz="1600" b="0" dirty="0">
                <a:solidFill>
                  <a:srgbClr val="3B3B3B"/>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"submit"</a:t>
            </a:r>
            <a:r>
              <a:rPr lang="en-IN" b="0" dirty="0">
                <a:solidFill>
                  <a:srgbClr val="3B3B3B"/>
                </a:solidFill>
                <a:effectLst/>
                <a:latin typeface="Consolas" panose="020B0609020204030204" pitchFamily="49" charset="0"/>
              </a:rPr>
              <a:t> </a:t>
            </a:r>
            <a:r>
              <a:rPr lang="en-IN" b="0" dirty="0">
                <a:solidFill>
                  <a:srgbClr val="E50000"/>
                </a:solidFill>
                <a:effectLst/>
                <a:latin typeface="Consolas" panose="020B0609020204030204" pitchFamily="49" charset="0"/>
              </a:rPr>
              <a:t>disabled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70C1"/>
                </a:solidFill>
                <a:effectLst/>
                <a:latin typeface="Consolas" panose="020B0609020204030204" pitchFamily="49" charset="0"/>
              </a:rPr>
              <a:t>isSubmitting</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p>
          <a:p>
            <a:pPr>
              <a:buNone/>
            </a:pP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err="1">
                <a:solidFill>
                  <a:srgbClr val="0070C1"/>
                </a:solidFill>
                <a:effectLst/>
                <a:latin typeface="Consolas" panose="020B0609020204030204" pitchFamily="49" charset="0"/>
              </a:rPr>
              <a:t>isSubmitting</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"Submitting..."</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"Create Employee"</a:t>
            </a:r>
            <a:r>
              <a:rPr lang="en-IN" b="0" dirty="0">
                <a:solidFill>
                  <a:srgbClr val="0000FF"/>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800000"/>
                </a:solidFill>
                <a:effectLst/>
                <a:latin typeface="Consolas" panose="020B0609020204030204" pitchFamily="49" charset="0"/>
              </a:rPr>
              <a:t>&lt;/form&gt;</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1006698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96AC-BE77-A5B5-9F69-FFB3918539A3}"/>
              </a:ext>
            </a:extLst>
          </p:cNvPr>
          <p:cNvSpPr>
            <a:spLocks noGrp="1"/>
          </p:cNvSpPr>
          <p:nvPr>
            <p:ph type="title"/>
          </p:nvPr>
        </p:nvSpPr>
        <p:spPr/>
        <p:txBody>
          <a:bodyPr/>
          <a:lstStyle/>
          <a:p>
            <a:r>
              <a:rPr lang="en-US" dirty="0"/>
              <a:t>Get one employee</a:t>
            </a:r>
            <a:endParaRPr lang="en-IN" dirty="0"/>
          </a:p>
        </p:txBody>
      </p:sp>
      <p:sp>
        <p:nvSpPr>
          <p:cNvPr id="5" name="TextBox 4">
            <a:extLst>
              <a:ext uri="{FF2B5EF4-FFF2-40B4-BE49-F238E27FC236}">
                <a16:creationId xmlns:a16="http://schemas.microsoft.com/office/drawing/2014/main" id="{8DF29603-6609-EA19-FB9F-385BEF6E8B92}"/>
              </a:ext>
            </a:extLst>
          </p:cNvPr>
          <p:cNvSpPr txBox="1"/>
          <p:nvPr/>
        </p:nvSpPr>
        <p:spPr>
          <a:xfrm>
            <a:off x="1359176" y="3135652"/>
            <a:ext cx="7099024" cy="369332"/>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"emp/:id"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&lt;Employee</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B9F03613-7E7A-D214-3FDF-245A7F11F847}"/>
              </a:ext>
            </a:extLst>
          </p:cNvPr>
          <p:cNvSpPr txBox="1"/>
          <p:nvPr/>
        </p:nvSpPr>
        <p:spPr>
          <a:xfrm>
            <a:off x="1423780" y="2298072"/>
            <a:ext cx="7056783" cy="369332"/>
          </a:xfrm>
          <a:prstGeom prst="rect">
            <a:avLst/>
          </a:prstGeom>
          <a:noFill/>
        </p:spPr>
        <p:txBody>
          <a:bodyPr wrap="square" rtlCol="0">
            <a:spAutoFit/>
          </a:bodyPr>
          <a:lstStyle/>
          <a:p>
            <a:r>
              <a:rPr lang="en-US" dirty="0"/>
              <a:t>Add in route table</a:t>
            </a:r>
            <a:endParaRPr lang="en-IN" dirty="0"/>
          </a:p>
        </p:txBody>
      </p:sp>
      <p:sp>
        <p:nvSpPr>
          <p:cNvPr id="7" name="TextBox 6">
            <a:extLst>
              <a:ext uri="{FF2B5EF4-FFF2-40B4-BE49-F238E27FC236}">
                <a16:creationId xmlns:a16="http://schemas.microsoft.com/office/drawing/2014/main" id="{7E0D806D-85DE-36BF-637C-C191A0760C4F}"/>
              </a:ext>
            </a:extLst>
          </p:cNvPr>
          <p:cNvSpPr txBox="1"/>
          <p:nvPr/>
        </p:nvSpPr>
        <p:spPr>
          <a:xfrm>
            <a:off x="5903844" y="1021592"/>
            <a:ext cx="2991678" cy="369332"/>
          </a:xfrm>
          <a:prstGeom prst="rect">
            <a:avLst/>
          </a:prstGeom>
          <a:noFill/>
        </p:spPr>
        <p:txBody>
          <a:bodyPr wrap="square" rtlCol="0">
            <a:spAutoFit/>
          </a:bodyPr>
          <a:lstStyle/>
          <a:p>
            <a:r>
              <a:rPr lang="en-US" dirty="0">
                <a:solidFill>
                  <a:schemeClr val="accent1"/>
                </a:solidFill>
              </a:rPr>
              <a:t>Localhost:3000/emp/2</a:t>
            </a:r>
            <a:endParaRPr lang="en-IN" dirty="0">
              <a:solidFill>
                <a:schemeClr val="accent1"/>
              </a:solidFill>
            </a:endParaRPr>
          </a:p>
        </p:txBody>
      </p:sp>
      <p:cxnSp>
        <p:nvCxnSpPr>
          <p:cNvPr id="9" name="Straight Arrow Connector 8">
            <a:extLst>
              <a:ext uri="{FF2B5EF4-FFF2-40B4-BE49-F238E27FC236}">
                <a16:creationId xmlns:a16="http://schemas.microsoft.com/office/drawing/2014/main" id="{920DE496-90C7-E666-D999-099FC1F0E128}"/>
              </a:ext>
            </a:extLst>
          </p:cNvPr>
          <p:cNvCxnSpPr>
            <a:stCxn id="7" idx="2"/>
          </p:cNvCxnSpPr>
          <p:nvPr/>
        </p:nvCxnSpPr>
        <p:spPr>
          <a:xfrm flipH="1">
            <a:off x="3687417" y="1390924"/>
            <a:ext cx="3712266" cy="1744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265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1A91D6-3ED8-53FE-2890-98415D016C23}"/>
              </a:ext>
            </a:extLst>
          </p:cNvPr>
          <p:cNvPicPr>
            <a:picLocks noChangeAspect="1"/>
          </p:cNvPicPr>
          <p:nvPr/>
        </p:nvPicPr>
        <p:blipFill rotWithShape="1">
          <a:blip r:embed="rId2"/>
          <a:srcRect r="52310" b="14041"/>
          <a:stretch/>
        </p:blipFill>
        <p:spPr>
          <a:xfrm>
            <a:off x="0" y="153633"/>
            <a:ext cx="5814391" cy="5630942"/>
          </a:xfrm>
          <a:prstGeom prst="rect">
            <a:avLst/>
          </a:prstGeom>
        </p:spPr>
      </p:pic>
      <p:sp>
        <p:nvSpPr>
          <p:cNvPr id="5" name="Freeform: Shape 4">
            <a:extLst>
              <a:ext uri="{FF2B5EF4-FFF2-40B4-BE49-F238E27FC236}">
                <a16:creationId xmlns:a16="http://schemas.microsoft.com/office/drawing/2014/main" id="{1F640E8B-89EC-2075-BC3A-E8D1B3D2A81A}"/>
              </a:ext>
            </a:extLst>
          </p:cNvPr>
          <p:cNvSpPr/>
          <p:nvPr/>
        </p:nvSpPr>
        <p:spPr>
          <a:xfrm>
            <a:off x="3511113" y="3578087"/>
            <a:ext cx="765378" cy="357832"/>
          </a:xfrm>
          <a:custGeom>
            <a:avLst/>
            <a:gdLst>
              <a:gd name="connsiteX0" fmla="*/ 534113 w 765378"/>
              <a:gd name="connsiteY0" fmla="*/ 29817 h 357832"/>
              <a:gd name="connsiteX1" fmla="*/ 484417 w 765378"/>
              <a:gd name="connsiteY1" fmla="*/ 59635 h 357832"/>
              <a:gd name="connsiteX2" fmla="*/ 335330 w 765378"/>
              <a:gd name="connsiteY2" fmla="*/ 9939 h 357832"/>
              <a:gd name="connsiteX3" fmla="*/ 285635 w 765378"/>
              <a:gd name="connsiteY3" fmla="*/ 0 h 357832"/>
              <a:gd name="connsiteX4" fmla="*/ 166365 w 765378"/>
              <a:gd name="connsiteY4" fmla="*/ 19878 h 357832"/>
              <a:gd name="connsiteX5" fmla="*/ 66974 w 765378"/>
              <a:gd name="connsiteY5" fmla="*/ 69574 h 357832"/>
              <a:gd name="connsiteX6" fmla="*/ 7339 w 765378"/>
              <a:gd name="connsiteY6" fmla="*/ 149087 h 357832"/>
              <a:gd name="connsiteX7" fmla="*/ 57035 w 765378"/>
              <a:gd name="connsiteY7" fmla="*/ 298174 h 357832"/>
              <a:gd name="connsiteX8" fmla="*/ 96791 w 765378"/>
              <a:gd name="connsiteY8" fmla="*/ 318052 h 357832"/>
              <a:gd name="connsiteX9" fmla="*/ 176304 w 765378"/>
              <a:gd name="connsiteY9" fmla="*/ 337930 h 357832"/>
              <a:gd name="connsiteX10" fmla="*/ 206122 w 765378"/>
              <a:gd name="connsiteY10" fmla="*/ 347870 h 357832"/>
              <a:gd name="connsiteX11" fmla="*/ 623565 w 765378"/>
              <a:gd name="connsiteY11" fmla="*/ 357809 h 357832"/>
              <a:gd name="connsiteX12" fmla="*/ 752774 w 765378"/>
              <a:gd name="connsiteY12" fmla="*/ 318052 h 357832"/>
              <a:gd name="connsiteX13" fmla="*/ 762713 w 765378"/>
              <a:gd name="connsiteY13" fmla="*/ 278296 h 357832"/>
              <a:gd name="connsiteX14" fmla="*/ 713017 w 765378"/>
              <a:gd name="connsiteY14" fmla="*/ 89452 h 357832"/>
              <a:gd name="connsiteX15" fmla="*/ 653383 w 765378"/>
              <a:gd name="connsiteY15" fmla="*/ 59635 h 357832"/>
              <a:gd name="connsiteX16" fmla="*/ 394965 w 765378"/>
              <a:gd name="connsiteY16" fmla="*/ 39756 h 35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5378" h="357832">
                <a:moveTo>
                  <a:pt x="534113" y="29817"/>
                </a:moveTo>
                <a:cubicBezTo>
                  <a:pt x="517548" y="39756"/>
                  <a:pt x="503735" y="59635"/>
                  <a:pt x="484417" y="59635"/>
                </a:cubicBezTo>
                <a:cubicBezTo>
                  <a:pt x="368198" y="59635"/>
                  <a:pt x="405969" y="33485"/>
                  <a:pt x="335330" y="9939"/>
                </a:cubicBezTo>
                <a:cubicBezTo>
                  <a:pt x="319304" y="4597"/>
                  <a:pt x="302200" y="3313"/>
                  <a:pt x="285635" y="0"/>
                </a:cubicBezTo>
                <a:cubicBezTo>
                  <a:pt x="278176" y="932"/>
                  <a:pt x="188254" y="8933"/>
                  <a:pt x="166365" y="19878"/>
                </a:cubicBezTo>
                <a:cubicBezTo>
                  <a:pt x="25068" y="90527"/>
                  <a:pt x="249562" y="8713"/>
                  <a:pt x="66974" y="69574"/>
                </a:cubicBezTo>
                <a:cubicBezTo>
                  <a:pt x="47096" y="96078"/>
                  <a:pt x="15771" y="117047"/>
                  <a:pt x="7339" y="149087"/>
                </a:cubicBezTo>
                <a:cubicBezTo>
                  <a:pt x="-11833" y="221939"/>
                  <a:pt x="7181" y="260783"/>
                  <a:pt x="57035" y="298174"/>
                </a:cubicBezTo>
                <a:cubicBezTo>
                  <a:pt x="68888" y="307064"/>
                  <a:pt x="82735" y="313367"/>
                  <a:pt x="96791" y="318052"/>
                </a:cubicBezTo>
                <a:cubicBezTo>
                  <a:pt x="122709" y="326691"/>
                  <a:pt x="150386" y="329290"/>
                  <a:pt x="176304" y="337930"/>
                </a:cubicBezTo>
                <a:cubicBezTo>
                  <a:pt x="186243" y="341243"/>
                  <a:pt x="195655" y="347405"/>
                  <a:pt x="206122" y="347870"/>
                </a:cubicBezTo>
                <a:cubicBezTo>
                  <a:pt x="345172" y="354050"/>
                  <a:pt x="484417" y="354496"/>
                  <a:pt x="623565" y="357809"/>
                </a:cubicBezTo>
                <a:cubicBezTo>
                  <a:pt x="699056" y="350946"/>
                  <a:pt x="727528" y="376961"/>
                  <a:pt x="752774" y="318052"/>
                </a:cubicBezTo>
                <a:cubicBezTo>
                  <a:pt x="758155" y="305497"/>
                  <a:pt x="759400" y="291548"/>
                  <a:pt x="762713" y="278296"/>
                </a:cubicBezTo>
                <a:cubicBezTo>
                  <a:pt x="754309" y="143833"/>
                  <a:pt x="794462" y="138320"/>
                  <a:pt x="713017" y="89452"/>
                </a:cubicBezTo>
                <a:cubicBezTo>
                  <a:pt x="693960" y="78018"/>
                  <a:pt x="675341" y="63066"/>
                  <a:pt x="653383" y="59635"/>
                </a:cubicBezTo>
                <a:cubicBezTo>
                  <a:pt x="568025" y="46298"/>
                  <a:pt x="394965" y="39756"/>
                  <a:pt x="394965" y="39756"/>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12659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3AB4F65-159D-FCB3-453F-D68B61193D01}"/>
              </a:ext>
            </a:extLst>
          </p:cNvPr>
          <p:cNvPicPr>
            <a:picLocks noChangeAspect="1"/>
          </p:cNvPicPr>
          <p:nvPr/>
        </p:nvPicPr>
        <p:blipFill>
          <a:blip r:embed="rId2"/>
          <a:stretch>
            <a:fillRect/>
          </a:stretch>
        </p:blipFill>
        <p:spPr>
          <a:xfrm>
            <a:off x="0" y="187325"/>
            <a:ext cx="12192000" cy="6483350"/>
          </a:xfrm>
          <a:prstGeom prst="rect">
            <a:avLst/>
          </a:prstGeom>
        </p:spPr>
      </p:pic>
    </p:spTree>
    <p:extLst>
      <p:ext uri="{BB962C8B-B14F-4D97-AF65-F5344CB8AC3E}">
        <p14:creationId xmlns:p14="http://schemas.microsoft.com/office/powerpoint/2010/main" val="3255924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A4DAEB-FFDE-5D94-828F-00CB1DA8D0C0}"/>
              </a:ext>
            </a:extLst>
          </p:cNvPr>
          <p:cNvSpPr txBox="1"/>
          <p:nvPr/>
        </p:nvSpPr>
        <p:spPr>
          <a:xfrm>
            <a:off x="245993" y="122372"/>
            <a:ext cx="7108964" cy="6955750"/>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React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"react-router-</a:t>
            </a:r>
            <a:r>
              <a:rPr lang="en-IN" sz="1600" b="0" dirty="0" err="1">
                <a:solidFill>
                  <a:srgbClr val="A31515"/>
                </a:solidFill>
                <a:effectLst/>
                <a:latin typeface="Consolas" panose="020B0609020204030204" pitchFamily="49" charset="0"/>
              </a:rPr>
              <a:t>dom</a:t>
            </a:r>
            <a:r>
              <a:rPr lang="en-IN" sz="1600" b="0" dirty="0">
                <a:solidFill>
                  <a:srgbClr val="A31515"/>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Employee()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[employee,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 id } = </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a:t>
            </a:r>
          </a:p>
          <a:p>
            <a:r>
              <a:rPr lang="en-IN" sz="1600" dirty="0">
                <a:solidFill>
                  <a:srgbClr val="000000"/>
                </a:solidFill>
                <a:latin typeface="Consolas" panose="020B0609020204030204" pitchFamily="49" charset="0"/>
              </a:rPr>
              <a:t>	console.log(</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a:t>
            </a:r>
            <a:r>
              <a:rPr lang="en-IN" sz="1600" dirty="0">
                <a:solidFill>
                  <a:srgbClr val="000000"/>
                </a:solidFill>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"https://localhost:7115/</a:t>
            </a:r>
            <a:r>
              <a:rPr lang="en-IN" sz="1600" b="0" dirty="0" err="1">
                <a:solidFill>
                  <a:srgbClr val="A31515"/>
                </a:solidFill>
                <a:effectLst/>
                <a:latin typeface="Consolas" panose="020B0609020204030204" pitchFamily="49" charset="0"/>
              </a:rPr>
              <a:t>api</a:t>
            </a:r>
            <a:r>
              <a:rPr lang="en-IN" sz="1600" b="0" dirty="0">
                <a:solidFill>
                  <a:srgbClr val="A31515"/>
                </a:solidFill>
                <a:effectLst/>
                <a:latin typeface="Consolas" panose="020B0609020204030204" pitchFamily="49" charset="0"/>
              </a:rPr>
              <a:t>/Employee/"</a:t>
            </a:r>
            <a:r>
              <a:rPr lang="en-IN" sz="1600" b="0" dirty="0">
                <a:solidFill>
                  <a:srgbClr val="000000"/>
                </a:solidFill>
                <a:effectLst/>
                <a:latin typeface="Consolas" panose="020B0609020204030204" pitchFamily="49" charset="0"/>
              </a:rPr>
              <a:t> + id)</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res.json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(result);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 </a:t>
            </a:r>
            <a:r>
              <a:rPr lang="en-IN" sz="1600" dirty="0">
                <a:solidFill>
                  <a:srgbClr val="000000"/>
                </a:solidFill>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&lt;div&gt;&lt;label&gt;</a:t>
            </a:r>
            <a:r>
              <a:rPr lang="en-IN" sz="1600" b="0" dirty="0">
                <a:solidFill>
                  <a:srgbClr val="000000"/>
                </a:solidFill>
                <a:effectLst/>
                <a:latin typeface="Consolas" panose="020B0609020204030204" pitchFamily="49" charset="0"/>
              </a:rPr>
              <a:t>Id:</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employee.id</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br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r>
              <a:rPr lang="en-IN" sz="1600" b="0" dirty="0">
                <a:solidFill>
                  <a:srgbClr val="000000"/>
                </a:solidFill>
                <a:effectLst/>
                <a:latin typeface="Consolas" panose="020B0609020204030204" pitchFamily="49" charset="0"/>
              </a:rPr>
              <a:t>name:</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employee.name</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br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r>
              <a:rPr lang="en-IN" sz="1600" b="0" dirty="0">
                <a:solidFill>
                  <a:srgbClr val="000000"/>
                </a:solidFill>
                <a:effectLst/>
                <a:latin typeface="Consolas" panose="020B0609020204030204" pitchFamily="49" charset="0"/>
              </a:rPr>
              <a:t>Email:</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employee.email</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br</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&lt;label&gt;</a:t>
            </a:r>
            <a:r>
              <a:rPr lang="en-IN" sz="1600" b="0" dirty="0" err="1">
                <a:solidFill>
                  <a:srgbClr val="000000"/>
                </a:solidFill>
                <a:effectLst/>
                <a:latin typeface="Consolas" panose="020B0609020204030204" pitchFamily="49" charset="0"/>
              </a:rPr>
              <a:t>Dpartment</a:t>
            </a:r>
            <a:r>
              <a:rPr lang="en-IN" sz="1600" b="0" dirty="0">
                <a:solidFill>
                  <a:srgbClr val="000000"/>
                </a:solidFill>
                <a:effectLst/>
                <a:latin typeface="Consolas" panose="020B0609020204030204" pitchFamily="49" charset="0"/>
              </a:rPr>
              <a:t>:</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employee.department</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default</a:t>
            </a:r>
            <a:r>
              <a:rPr lang="en-IN" sz="1600" b="0" dirty="0">
                <a:solidFill>
                  <a:srgbClr val="000000"/>
                </a:solidFill>
                <a:effectLst/>
                <a:latin typeface="Consolas" panose="020B0609020204030204" pitchFamily="49" charset="0"/>
              </a:rPr>
              <a:t> Employee;</a:t>
            </a:r>
          </a:p>
          <a:p>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2DF57C62-D905-F6BA-DE5F-F2078B502BB5}"/>
              </a:ext>
            </a:extLst>
          </p:cNvPr>
          <p:cNvSpPr txBox="1"/>
          <p:nvPr/>
        </p:nvSpPr>
        <p:spPr>
          <a:xfrm>
            <a:off x="7354957" y="556591"/>
            <a:ext cx="2991678" cy="369332"/>
          </a:xfrm>
          <a:prstGeom prst="rect">
            <a:avLst/>
          </a:prstGeom>
          <a:noFill/>
        </p:spPr>
        <p:txBody>
          <a:bodyPr wrap="square" rtlCol="0">
            <a:spAutoFit/>
          </a:bodyPr>
          <a:lstStyle/>
          <a:p>
            <a:r>
              <a:rPr lang="en-US" dirty="0">
                <a:solidFill>
                  <a:schemeClr val="accent1"/>
                </a:solidFill>
              </a:rPr>
              <a:t>Localhost:3000/emp/2</a:t>
            </a:r>
            <a:endParaRPr lang="en-IN" dirty="0">
              <a:solidFill>
                <a:schemeClr val="accent1"/>
              </a:solidFill>
            </a:endParaRPr>
          </a:p>
        </p:txBody>
      </p:sp>
      <p:sp>
        <p:nvSpPr>
          <p:cNvPr id="9" name="Freeform: Shape 8">
            <a:extLst>
              <a:ext uri="{FF2B5EF4-FFF2-40B4-BE49-F238E27FC236}">
                <a16:creationId xmlns:a16="http://schemas.microsoft.com/office/drawing/2014/main" id="{A479FF92-FDFD-062F-E8A3-A4F97F9BC429}"/>
              </a:ext>
            </a:extLst>
          </p:cNvPr>
          <p:cNvSpPr/>
          <p:nvPr/>
        </p:nvSpPr>
        <p:spPr>
          <a:xfrm>
            <a:off x="3737113" y="914400"/>
            <a:ext cx="6092687" cy="586409"/>
          </a:xfrm>
          <a:custGeom>
            <a:avLst/>
            <a:gdLst>
              <a:gd name="connsiteX0" fmla="*/ 0 w 6092687"/>
              <a:gd name="connsiteY0" fmla="*/ 586409 h 586409"/>
              <a:gd name="connsiteX1" fmla="*/ 258417 w 6092687"/>
              <a:gd name="connsiteY1" fmla="*/ 576470 h 586409"/>
              <a:gd name="connsiteX2" fmla="*/ 447261 w 6092687"/>
              <a:gd name="connsiteY2" fmla="*/ 546652 h 586409"/>
              <a:gd name="connsiteX3" fmla="*/ 556591 w 6092687"/>
              <a:gd name="connsiteY3" fmla="*/ 526774 h 586409"/>
              <a:gd name="connsiteX4" fmla="*/ 5675244 w 6092687"/>
              <a:gd name="connsiteY4" fmla="*/ 516835 h 586409"/>
              <a:gd name="connsiteX5" fmla="*/ 5764696 w 6092687"/>
              <a:gd name="connsiteY5" fmla="*/ 487017 h 586409"/>
              <a:gd name="connsiteX6" fmla="*/ 5973417 w 6092687"/>
              <a:gd name="connsiteY6" fmla="*/ 467139 h 586409"/>
              <a:gd name="connsiteX7" fmla="*/ 6052930 w 6092687"/>
              <a:gd name="connsiteY7" fmla="*/ 447261 h 586409"/>
              <a:gd name="connsiteX8" fmla="*/ 6082748 w 6092687"/>
              <a:gd name="connsiteY8" fmla="*/ 437322 h 586409"/>
              <a:gd name="connsiteX9" fmla="*/ 6092687 w 6092687"/>
              <a:gd name="connsiteY9" fmla="*/ 407504 h 586409"/>
              <a:gd name="connsiteX10" fmla="*/ 6052930 w 6092687"/>
              <a:gd name="connsiteY10" fmla="*/ 248478 h 586409"/>
              <a:gd name="connsiteX11" fmla="*/ 6023113 w 6092687"/>
              <a:gd name="connsiteY11" fmla="*/ 198783 h 586409"/>
              <a:gd name="connsiteX12" fmla="*/ 6003235 w 6092687"/>
              <a:gd name="connsiteY12" fmla="*/ 159026 h 586409"/>
              <a:gd name="connsiteX13" fmla="*/ 5993296 w 6092687"/>
              <a:gd name="connsiteY13" fmla="*/ 129209 h 586409"/>
              <a:gd name="connsiteX14" fmla="*/ 5953539 w 6092687"/>
              <a:gd name="connsiteY14" fmla="*/ 79513 h 586409"/>
              <a:gd name="connsiteX15" fmla="*/ 5903844 w 6092687"/>
              <a:gd name="connsiteY15" fmla="*/ 0 h 58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92687" h="586409">
                <a:moveTo>
                  <a:pt x="0" y="586409"/>
                </a:moveTo>
                <a:cubicBezTo>
                  <a:pt x="86139" y="583096"/>
                  <a:pt x="172553" y="584102"/>
                  <a:pt x="258417" y="576470"/>
                </a:cubicBezTo>
                <a:cubicBezTo>
                  <a:pt x="321895" y="570827"/>
                  <a:pt x="384561" y="558052"/>
                  <a:pt x="447261" y="546652"/>
                </a:cubicBezTo>
                <a:cubicBezTo>
                  <a:pt x="483704" y="540026"/>
                  <a:pt x="519551" y="526985"/>
                  <a:pt x="556591" y="526774"/>
                </a:cubicBezTo>
                <a:lnTo>
                  <a:pt x="5675244" y="516835"/>
                </a:lnTo>
                <a:cubicBezTo>
                  <a:pt x="5705061" y="506896"/>
                  <a:pt x="5734014" y="493835"/>
                  <a:pt x="5764696" y="487017"/>
                </a:cubicBezTo>
                <a:cubicBezTo>
                  <a:pt x="5790515" y="481279"/>
                  <a:pt x="5961593" y="468124"/>
                  <a:pt x="5973417" y="467139"/>
                </a:cubicBezTo>
                <a:cubicBezTo>
                  <a:pt x="5999921" y="460513"/>
                  <a:pt x="6026573" y="454449"/>
                  <a:pt x="6052930" y="447261"/>
                </a:cubicBezTo>
                <a:cubicBezTo>
                  <a:pt x="6063038" y="444504"/>
                  <a:pt x="6075340" y="444730"/>
                  <a:pt x="6082748" y="437322"/>
                </a:cubicBezTo>
                <a:cubicBezTo>
                  <a:pt x="6090156" y="429914"/>
                  <a:pt x="6089374" y="417443"/>
                  <a:pt x="6092687" y="407504"/>
                </a:cubicBezTo>
                <a:cubicBezTo>
                  <a:pt x="6079435" y="354495"/>
                  <a:pt x="6070209" y="300314"/>
                  <a:pt x="6052930" y="248478"/>
                </a:cubicBezTo>
                <a:cubicBezTo>
                  <a:pt x="6046821" y="230151"/>
                  <a:pt x="6032495" y="215670"/>
                  <a:pt x="6023113" y="198783"/>
                </a:cubicBezTo>
                <a:cubicBezTo>
                  <a:pt x="6015918" y="185831"/>
                  <a:pt x="6009071" y="172645"/>
                  <a:pt x="6003235" y="159026"/>
                </a:cubicBezTo>
                <a:cubicBezTo>
                  <a:pt x="5999108" y="149396"/>
                  <a:pt x="5998849" y="138093"/>
                  <a:pt x="5993296" y="129209"/>
                </a:cubicBezTo>
                <a:cubicBezTo>
                  <a:pt x="5982053" y="111220"/>
                  <a:pt x="5964928" y="97410"/>
                  <a:pt x="5953539" y="79513"/>
                </a:cubicBezTo>
                <a:cubicBezTo>
                  <a:pt x="5894024" y="-14010"/>
                  <a:pt x="5950192" y="46348"/>
                  <a:pt x="5903844"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Isosceles Triangle 9">
            <a:extLst>
              <a:ext uri="{FF2B5EF4-FFF2-40B4-BE49-F238E27FC236}">
                <a16:creationId xmlns:a16="http://schemas.microsoft.com/office/drawing/2014/main" id="{91679B82-8381-A0C1-EC23-BCF503957298}"/>
              </a:ext>
            </a:extLst>
          </p:cNvPr>
          <p:cNvSpPr/>
          <p:nvPr/>
        </p:nvSpPr>
        <p:spPr>
          <a:xfrm>
            <a:off x="9491870" y="741257"/>
            <a:ext cx="397565" cy="369331"/>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77743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EFBC2A-1859-F130-388F-1DB7571F268C}"/>
              </a:ext>
            </a:extLst>
          </p:cNvPr>
          <p:cNvSpPr txBox="1"/>
          <p:nvPr/>
        </p:nvSpPr>
        <p:spPr>
          <a:xfrm>
            <a:off x="194732" y="0"/>
            <a:ext cx="11032067" cy="7201972"/>
          </a:xfrm>
          <a:prstGeom prst="rect">
            <a:avLst/>
          </a:prstGeom>
          <a:noFill/>
        </p:spPr>
        <p:txBody>
          <a:bodyPr wrap="square">
            <a:spAutoFit/>
          </a:bodyPr>
          <a:lstStyle/>
          <a:p>
            <a:pPr>
              <a:buNone/>
            </a:pPr>
            <a:r>
              <a:rPr lang="en-IN" sz="1400" b="0" dirty="0">
                <a:solidFill>
                  <a:srgbClr val="AF00DB"/>
                </a:solidFill>
                <a:effectLst/>
                <a:latin typeface="Consolas" panose="020B0609020204030204" pitchFamily="49" charset="0"/>
              </a:rPr>
              <a:t>import</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React</a:t>
            </a:r>
            <a:r>
              <a:rPr lang="en-IN" sz="1400" b="0" dirty="0">
                <a:solidFill>
                  <a:srgbClr val="3B3B3B"/>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useState</a:t>
            </a: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useEffect</a:t>
            </a:r>
            <a:r>
              <a:rPr lang="en-IN" sz="1400" b="0" dirty="0">
                <a:solidFill>
                  <a:srgbClr val="3B3B3B"/>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3B3B3B"/>
                </a:solidFill>
                <a:effectLst/>
                <a:latin typeface="Consolas" panose="020B0609020204030204" pitchFamily="49" charset="0"/>
              </a:rPr>
              <a:t>;</a:t>
            </a:r>
          </a:p>
          <a:p>
            <a:pPr>
              <a:buNone/>
            </a:pPr>
            <a:r>
              <a:rPr lang="en-IN" sz="1400" b="0" dirty="0">
                <a:solidFill>
                  <a:srgbClr val="AF00DB"/>
                </a:solidFill>
                <a:effectLst/>
                <a:latin typeface="Consolas" panose="020B0609020204030204" pitchFamily="49" charset="0"/>
              </a:rPr>
              <a:t>import</a:t>
            </a:r>
            <a:r>
              <a:rPr lang="en-IN" sz="1400" b="0" dirty="0">
                <a:solidFill>
                  <a:srgbClr val="3B3B3B"/>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useParams</a:t>
            </a:r>
            <a:r>
              <a:rPr lang="en-IN" sz="1400" b="0" dirty="0">
                <a:solidFill>
                  <a:srgbClr val="3B3B3B"/>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"react-router-</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a:t>
            </a:r>
          </a:p>
          <a:p>
            <a:pPr>
              <a:buNone/>
            </a:pPr>
            <a:br>
              <a:rPr lang="en-IN" sz="1400" b="0" dirty="0">
                <a:solidFill>
                  <a:srgbClr val="3B3B3B"/>
                </a:solidFill>
                <a:effectLst/>
                <a:latin typeface="Consolas" panose="020B0609020204030204" pitchFamily="49" charset="0"/>
              </a:rPr>
            </a:br>
            <a:r>
              <a:rPr lang="en-IN" sz="1400" b="0" dirty="0">
                <a:solidFill>
                  <a:srgbClr val="AF00DB"/>
                </a:solidFill>
                <a:effectLst/>
                <a:latin typeface="Consolas" panose="020B0609020204030204" pitchFamily="49" charset="0"/>
              </a:rPr>
              <a:t>export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3B3B3B"/>
                </a:solidFill>
                <a:effectLst/>
                <a:latin typeface="Consolas" panose="020B0609020204030204" pitchFamily="49" charset="0"/>
              </a:rPr>
              <a:t> </a:t>
            </a:r>
            <a:r>
              <a:rPr lang="en-IN" sz="1400" b="0" dirty="0">
                <a:solidFill>
                  <a:srgbClr val="795E26"/>
                </a:solidFill>
                <a:effectLst/>
                <a:latin typeface="Consolas" panose="020B0609020204030204" pitchFamily="49" charset="0"/>
              </a:rPr>
              <a:t>Employee</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employee</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setEmployee</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useState</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email:</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departmentId</a:t>
            </a:r>
            <a:r>
              <a:rPr lang="en-IN" sz="1400" b="0" dirty="0">
                <a:solidFill>
                  <a:srgbClr val="00108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loading</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setLoading</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useState</a:t>
            </a:r>
            <a:r>
              <a:rPr lang="en-IN" sz="1400" b="0" dirty="0">
                <a:solidFill>
                  <a:srgbClr val="3B3B3B"/>
                </a:solidFill>
                <a:effectLst/>
                <a:latin typeface="Consolas" panose="020B0609020204030204" pitchFamily="49" charset="0"/>
              </a:rPr>
              <a:t>(</a:t>
            </a:r>
            <a:r>
              <a:rPr lang="en-IN" sz="1400" b="0" dirty="0">
                <a:solidFill>
                  <a:srgbClr val="0000FF"/>
                </a:solidFill>
                <a:effectLst/>
                <a:latin typeface="Consolas" panose="020B0609020204030204" pitchFamily="49" charset="0"/>
              </a:rPr>
              <a:t>true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 </a:t>
            </a:r>
            <a:r>
              <a:rPr lang="en-IN" sz="1400" b="0" dirty="0">
                <a:solidFill>
                  <a:srgbClr val="0070C1"/>
                </a:solidFill>
                <a:effectLst/>
                <a:latin typeface="Consolas" panose="020B0609020204030204" pitchFamily="49" charset="0"/>
              </a:rPr>
              <a:t>id</a:t>
            </a:r>
            <a:r>
              <a:rPr lang="en-IN" sz="1400" b="0" dirty="0">
                <a:solidFill>
                  <a:srgbClr val="3B3B3B"/>
                </a:solidFill>
                <a:effectLst/>
                <a:latin typeface="Consolas" panose="020B0609020204030204" pitchFamily="49" charset="0"/>
              </a:rPr>
              <a:t> }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useParams</a:t>
            </a:r>
            <a:r>
              <a:rPr lang="en-IN" sz="1400" b="0" dirty="0">
                <a:solidFill>
                  <a:srgbClr val="3B3B3B"/>
                </a:solidFill>
                <a:effectLst/>
                <a:latin typeface="Consolas" panose="020B0609020204030204" pitchFamily="49" charset="0"/>
              </a:rPr>
              <a:t>();</a:t>
            </a:r>
          </a:p>
          <a:p>
            <a:pPr>
              <a:buNone/>
            </a:pPr>
            <a:br>
              <a:rPr lang="en-IN" sz="1400" b="0" dirty="0">
                <a:solidFill>
                  <a:srgbClr val="3B3B3B"/>
                </a:solidFill>
                <a:effectLst/>
                <a:latin typeface="Consolas" panose="020B0609020204030204" pitchFamily="49" charset="0"/>
              </a:rPr>
            </a:b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useEffect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controller</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new</a:t>
            </a:r>
            <a:r>
              <a:rPr lang="en-IN" sz="1400" b="0" dirty="0">
                <a:solidFill>
                  <a:srgbClr val="3B3B3B"/>
                </a:solidFill>
                <a:effectLst/>
                <a:latin typeface="Consolas" panose="020B0609020204030204" pitchFamily="49" charset="0"/>
              </a:rPr>
              <a:t> </a:t>
            </a:r>
            <a:r>
              <a:rPr lang="en-IN" sz="1400" b="0" dirty="0" err="1">
                <a:solidFill>
                  <a:srgbClr val="267F99"/>
                </a:solidFill>
                <a:effectLst/>
                <a:latin typeface="Consolas" panose="020B0609020204030204" pitchFamily="49" charset="0"/>
              </a:rPr>
              <a:t>AbortController</a:t>
            </a:r>
            <a:r>
              <a:rPr lang="en-IN" sz="1400" b="0" dirty="0">
                <a:solidFill>
                  <a:srgbClr val="3B3B3B"/>
                </a:solidFill>
                <a:effectLst/>
                <a:latin typeface="Consolas" panose="020B0609020204030204" pitchFamily="49" charset="0"/>
              </a:rPr>
              <a:t>();</a:t>
            </a:r>
            <a:br>
              <a:rPr lang="en-IN" sz="1400" b="0" dirty="0">
                <a:solidFill>
                  <a:srgbClr val="3B3B3B"/>
                </a:solidFill>
                <a:effectLst/>
                <a:latin typeface="Consolas" panose="020B0609020204030204" pitchFamily="49" charset="0"/>
              </a:rPr>
            </a:b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fetchEmployee</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async</a:t>
            </a:r>
            <a:r>
              <a:rPr lang="en-IN" sz="1400" b="0" dirty="0">
                <a:solidFill>
                  <a:srgbClr val="3B3B3B"/>
                </a:solidFill>
                <a:effectLst/>
                <a:latin typeface="Consolas" panose="020B0609020204030204" pitchFamily="49" charset="0"/>
              </a:rPr>
              <a:t> ()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try</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res</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await</a:t>
            </a:r>
            <a:r>
              <a:rPr lang="en-IN" sz="1400" b="0" dirty="0">
                <a:solidFill>
                  <a:srgbClr val="3B3B3B"/>
                </a:solidFill>
                <a:effectLst/>
                <a:latin typeface="Consolas" panose="020B0609020204030204" pitchFamily="49" charset="0"/>
              </a:rPr>
              <a:t> </a:t>
            </a:r>
            <a:r>
              <a:rPr lang="en-IN" sz="1400" b="0" dirty="0">
                <a:solidFill>
                  <a:srgbClr val="795E26"/>
                </a:solidFill>
                <a:effectLst/>
                <a:latin typeface="Consolas" panose="020B0609020204030204" pitchFamily="49" charset="0"/>
              </a:rPr>
              <a:t>fetch</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`https://localhost:7115/</a:t>
            </a:r>
            <a:r>
              <a:rPr lang="en-IN" sz="1400" b="0" dirty="0" err="1">
                <a:solidFill>
                  <a:srgbClr val="A31515"/>
                </a:solidFill>
                <a:effectLst/>
                <a:latin typeface="Consolas" panose="020B0609020204030204" pitchFamily="49" charset="0"/>
              </a:rPr>
              <a:t>api</a:t>
            </a:r>
            <a:r>
              <a:rPr lang="en-IN" sz="1400" b="0" dirty="0">
                <a:solidFill>
                  <a:srgbClr val="A31515"/>
                </a:solidFill>
                <a:effectLst/>
                <a:latin typeface="Consolas" panose="020B0609020204030204" pitchFamily="49" charset="0"/>
              </a:rPr>
              <a:t>/Employee/</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id</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signal:</a:t>
            </a:r>
            <a:r>
              <a:rPr lang="en-IN" sz="1400" b="0" dirty="0">
                <a:solidFill>
                  <a:srgbClr val="3B3B3B"/>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controller</a:t>
            </a:r>
            <a:r>
              <a:rPr lang="en-IN" sz="1400" b="0" dirty="0" err="1">
                <a:solidFill>
                  <a:srgbClr val="3B3B3B"/>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signal</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res</a:t>
            </a:r>
            <a:r>
              <a:rPr lang="en-IN" sz="1400" b="0" dirty="0" err="1">
                <a:solidFill>
                  <a:srgbClr val="3B3B3B"/>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ok</a:t>
            </a: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throw</a:t>
            </a:r>
            <a:r>
              <a:rPr lang="en-IN" sz="1400" b="0" dirty="0">
                <a:solidFill>
                  <a:srgbClr val="3B3B3B"/>
                </a:solidFill>
                <a:effectLst/>
                <a:latin typeface="Consolas" panose="020B0609020204030204" pitchFamily="49" charset="0"/>
              </a:rPr>
              <a:t> </a:t>
            </a:r>
            <a:r>
              <a:rPr lang="en-IN" sz="1400" b="0" dirty="0">
                <a:solidFill>
                  <a:srgbClr val="0000FF"/>
                </a:solidFill>
                <a:effectLst/>
                <a:latin typeface="Consolas" panose="020B0609020204030204" pitchFamily="49" charset="0"/>
              </a:rPr>
              <a:t>new</a:t>
            </a:r>
            <a:r>
              <a:rPr lang="en-IN" sz="1400" b="0" dirty="0">
                <a:solidFill>
                  <a:srgbClr val="3B3B3B"/>
                </a:solidFill>
                <a:effectLst/>
                <a:latin typeface="Consolas" panose="020B0609020204030204" pitchFamily="49" charset="0"/>
              </a:rPr>
              <a:t> </a:t>
            </a:r>
            <a:r>
              <a:rPr lang="en-IN" sz="1400" b="0" dirty="0">
                <a:solidFill>
                  <a:srgbClr val="267F99"/>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"Failed to fetch employee"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3B3B3B"/>
                </a:solidFill>
                <a:effectLst/>
                <a:latin typeface="Consolas" panose="020B0609020204030204" pitchFamily="49" charset="0"/>
              </a:rPr>
              <a:t> </a:t>
            </a:r>
            <a:r>
              <a:rPr lang="en-IN" sz="1400" b="0" dirty="0">
                <a:solidFill>
                  <a:srgbClr val="0070C1"/>
                </a:solidFill>
                <a:effectLst/>
                <a:latin typeface="Consolas" panose="020B0609020204030204" pitchFamily="49" charset="0"/>
              </a:rPr>
              <a:t>data</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await</a:t>
            </a:r>
            <a:r>
              <a:rPr lang="en-IN" sz="1400" b="0" dirty="0">
                <a:solidFill>
                  <a:srgbClr val="3B3B3B"/>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res</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json</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setEmployee</a:t>
            </a:r>
            <a:r>
              <a:rPr lang="en-IN" sz="1400" b="0" dirty="0">
                <a:solidFill>
                  <a:srgbClr val="3B3B3B"/>
                </a:solidFill>
                <a:effectLst/>
                <a:latin typeface="Consolas" panose="020B0609020204030204" pitchFamily="49" charset="0"/>
              </a:rPr>
              <a:t>(</a:t>
            </a:r>
            <a:r>
              <a:rPr lang="en-IN" sz="1400" b="0" dirty="0">
                <a:solidFill>
                  <a:srgbClr val="0070C1"/>
                </a:solidFill>
                <a:effectLst/>
                <a:latin typeface="Consolas" panose="020B0609020204030204" pitchFamily="49" charset="0"/>
              </a:rPr>
              <a:t>data</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 </a:t>
            </a:r>
            <a:r>
              <a:rPr lang="en-IN" sz="1400" b="0" dirty="0">
                <a:solidFill>
                  <a:srgbClr val="AF00DB"/>
                </a:solidFill>
                <a:effectLst/>
                <a:latin typeface="Consolas" panose="020B0609020204030204" pitchFamily="49" charset="0"/>
              </a:rPr>
              <a:t>catch</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3B3B3B"/>
                </a:solidFill>
                <a:effectLst/>
                <a:latin typeface="Consolas" panose="020B0609020204030204" pitchFamily="49" charset="0"/>
              </a:rPr>
              <a:t> (</a:t>
            </a:r>
            <a:r>
              <a:rPr lang="en-IN" sz="1400" b="0" dirty="0">
                <a:solidFill>
                  <a:srgbClr val="001080"/>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3B3B3B"/>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AbortError</a:t>
            </a:r>
            <a:r>
              <a:rPr lang="en-IN" sz="1400" b="0" dirty="0">
                <a:solidFill>
                  <a:srgbClr val="A31515"/>
                </a:solidFill>
                <a:effectLst/>
                <a:latin typeface="Consolas" panose="020B0609020204030204" pitchFamily="49" charset="0"/>
              </a:rPr>
              <a:t>"</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console</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a:t>
            </a:r>
            <a:r>
              <a:rPr lang="en-IN" sz="1400" b="0" dirty="0">
                <a:solidFill>
                  <a:srgbClr val="001080"/>
                </a:solidFill>
                <a:effectLst/>
                <a:latin typeface="Consolas" panose="020B0609020204030204" pitchFamily="49" charset="0"/>
              </a:rPr>
              <a:t>error</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3B3B3B"/>
                </a:solidFill>
                <a:effectLst/>
                <a:latin typeface="Consolas" panose="020B0609020204030204" pitchFamily="49" charset="0"/>
              </a:rPr>
              <a:t>(</a:t>
            </a:r>
            <a:r>
              <a:rPr lang="en-IN" sz="1400" b="0" dirty="0">
                <a:solidFill>
                  <a:srgbClr val="A31515"/>
                </a:solidFill>
                <a:effectLst/>
                <a:latin typeface="Consolas" panose="020B0609020204030204" pitchFamily="49" charset="0"/>
              </a:rPr>
              <a:t>"Error fetching employee details"</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finally</a:t>
            </a: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setLoading</a:t>
            </a:r>
            <a:r>
              <a:rPr lang="en-IN" sz="1400" b="0" dirty="0">
                <a:solidFill>
                  <a:srgbClr val="3B3B3B"/>
                </a:solidFill>
                <a:effectLst/>
                <a:latin typeface="Consolas" panose="020B0609020204030204" pitchFamily="49" charset="0"/>
              </a:rPr>
              <a:t>(</a:t>
            </a:r>
            <a:r>
              <a:rPr lang="en-IN" sz="1400" b="0" dirty="0">
                <a:solidFill>
                  <a:srgbClr val="0000FF"/>
                </a:solidFill>
                <a:effectLst/>
                <a:latin typeface="Consolas" panose="020B0609020204030204" pitchFamily="49" charset="0"/>
              </a:rPr>
              <a:t>false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p>
          <a:p>
            <a:pPr>
              <a:buNone/>
            </a:pPr>
            <a:r>
              <a:rPr lang="en-IN" sz="1400" b="0" dirty="0">
                <a:solidFill>
                  <a:srgbClr val="3B3B3B"/>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fetchEmployee</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a:t>
            </a:r>
            <a:r>
              <a:rPr lang="en-IN" sz="1400" b="0" dirty="0">
                <a:solidFill>
                  <a:srgbClr val="008000"/>
                </a:solidFill>
                <a:effectLst/>
                <a:latin typeface="Consolas" panose="020B0609020204030204" pitchFamily="49" charset="0"/>
              </a:rPr>
              <a:t>//  Cleanup: abort fetch if component unmounts</a:t>
            </a:r>
            <a:endParaRPr lang="en-IN" sz="1400" b="0" dirty="0">
              <a:solidFill>
                <a:srgbClr val="3B3B3B"/>
              </a:solidFill>
              <a:effectLst/>
              <a:latin typeface="Consolas" panose="020B0609020204030204" pitchFamily="49" charset="0"/>
            </a:endParaRPr>
          </a:p>
          <a:p>
            <a:pPr>
              <a:buNone/>
            </a:pPr>
            <a:r>
              <a:rPr lang="en-IN" sz="1400" b="0" dirty="0">
                <a:solidFill>
                  <a:srgbClr val="3B3B3B"/>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3B3B3B"/>
                </a:solidFill>
                <a:effectLst/>
                <a:latin typeface="Consolas" panose="020B0609020204030204" pitchFamily="49" charset="0"/>
              </a:rPr>
              <a:t> () </a:t>
            </a:r>
            <a:r>
              <a:rPr lang="en-IN" sz="1400" b="0" dirty="0">
                <a:solidFill>
                  <a:srgbClr val="0000FF"/>
                </a:solidFill>
                <a:effectLst/>
                <a:latin typeface="Consolas" panose="020B0609020204030204" pitchFamily="49" charset="0"/>
              </a:rPr>
              <a:t>=&gt;</a:t>
            </a:r>
            <a:r>
              <a:rPr lang="en-IN" sz="1400" b="0" dirty="0">
                <a:solidFill>
                  <a:srgbClr val="3B3B3B"/>
                </a:solidFill>
                <a:effectLst/>
                <a:latin typeface="Consolas" panose="020B0609020204030204" pitchFamily="49" charset="0"/>
              </a:rPr>
              <a:t> </a:t>
            </a:r>
            <a:r>
              <a:rPr lang="en-IN" sz="1400" b="0" dirty="0" err="1">
                <a:solidFill>
                  <a:srgbClr val="0070C1"/>
                </a:solidFill>
                <a:effectLst/>
                <a:latin typeface="Consolas" panose="020B0609020204030204" pitchFamily="49" charset="0"/>
              </a:rPr>
              <a:t>controller</a:t>
            </a:r>
            <a:r>
              <a:rPr lang="en-IN" sz="1400" b="0" dirty="0" err="1">
                <a:solidFill>
                  <a:srgbClr val="3B3B3B"/>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abort</a:t>
            </a:r>
            <a:r>
              <a:rPr lang="en-IN" sz="1400" b="0" dirty="0">
                <a:solidFill>
                  <a:srgbClr val="3B3B3B"/>
                </a:solidFill>
                <a:effectLst/>
                <a:latin typeface="Consolas" panose="020B0609020204030204" pitchFamily="49" charset="0"/>
              </a:rPr>
              <a:t>();</a:t>
            </a:r>
          </a:p>
          <a:p>
            <a:pPr>
              <a:buNone/>
            </a:pPr>
            <a:r>
              <a:rPr lang="en-IN" sz="1400" b="0" dirty="0">
                <a:solidFill>
                  <a:srgbClr val="3B3B3B"/>
                </a:solidFill>
                <a:effectLst/>
                <a:latin typeface="Consolas" panose="020B0609020204030204" pitchFamily="49" charset="0"/>
              </a:rPr>
              <a:t>  }, [</a:t>
            </a:r>
            <a:r>
              <a:rPr lang="en-IN" sz="1400" b="0" dirty="0">
                <a:solidFill>
                  <a:srgbClr val="0070C1"/>
                </a:solidFill>
                <a:effectLst/>
                <a:latin typeface="Consolas" panose="020B0609020204030204" pitchFamily="49" charset="0"/>
              </a:rPr>
              <a:t>id</a:t>
            </a:r>
            <a:r>
              <a:rPr lang="en-IN" sz="1400" b="0" dirty="0">
                <a:solidFill>
                  <a:srgbClr val="3B3B3B"/>
                </a:solidFill>
                <a:effectLst/>
                <a:latin typeface="Consolas" panose="020B0609020204030204" pitchFamily="49" charset="0"/>
              </a:rPr>
              <a:t>]);</a:t>
            </a:r>
          </a:p>
          <a:p>
            <a:pPr>
              <a:buNone/>
            </a:pPr>
            <a:br>
              <a:rPr lang="en-IN" sz="1400" b="0" dirty="0">
                <a:solidFill>
                  <a:srgbClr val="3B3B3B"/>
                </a:solidFill>
                <a:effectLst/>
                <a:latin typeface="Consolas" panose="020B0609020204030204" pitchFamily="49" charset="0"/>
              </a:rPr>
            </a:br>
            <a:endParaRPr lang="en-IN" sz="1400" b="0" dirty="0">
              <a:solidFill>
                <a:srgbClr val="3B3B3B"/>
              </a:solidFill>
              <a:effectLst/>
              <a:latin typeface="Consolas" panose="020B0609020204030204" pitchFamily="49" charset="0"/>
            </a:endParaRPr>
          </a:p>
        </p:txBody>
      </p:sp>
      <p:sp>
        <p:nvSpPr>
          <p:cNvPr id="6" name="TextBox 5">
            <a:extLst>
              <a:ext uri="{FF2B5EF4-FFF2-40B4-BE49-F238E27FC236}">
                <a16:creationId xmlns:a16="http://schemas.microsoft.com/office/drawing/2014/main" id="{8EF89724-E174-B2C3-999E-E1DEBB7F7BFD}"/>
              </a:ext>
            </a:extLst>
          </p:cNvPr>
          <p:cNvSpPr txBox="1"/>
          <p:nvPr/>
        </p:nvSpPr>
        <p:spPr>
          <a:xfrm>
            <a:off x="8703734" y="270933"/>
            <a:ext cx="2921000" cy="369332"/>
          </a:xfrm>
          <a:prstGeom prst="rect">
            <a:avLst/>
          </a:prstGeom>
          <a:noFill/>
        </p:spPr>
        <p:txBody>
          <a:bodyPr wrap="square" rtlCol="0">
            <a:spAutoFit/>
          </a:bodyPr>
          <a:lstStyle/>
          <a:p>
            <a:r>
              <a:rPr lang="en-IN" dirty="0">
                <a:solidFill>
                  <a:srgbClr val="FF0000"/>
                </a:solidFill>
                <a:highlight>
                  <a:srgbClr val="FFFF00"/>
                </a:highlight>
              </a:rPr>
              <a:t>Best </a:t>
            </a:r>
            <a:r>
              <a:rPr lang="en-IN" dirty="0" err="1">
                <a:solidFill>
                  <a:srgbClr val="FF0000"/>
                </a:solidFill>
                <a:highlight>
                  <a:srgbClr val="FFFF00"/>
                </a:highlight>
              </a:rPr>
              <a:t>Prctice</a:t>
            </a:r>
            <a:endParaRPr lang="en-IN" dirty="0">
              <a:solidFill>
                <a:srgbClr val="FF0000"/>
              </a:solidFill>
              <a:highlight>
                <a:srgbClr val="FFFF00"/>
              </a:highlight>
            </a:endParaRPr>
          </a:p>
        </p:txBody>
      </p:sp>
    </p:spTree>
    <p:extLst>
      <p:ext uri="{BB962C8B-B14F-4D97-AF65-F5344CB8AC3E}">
        <p14:creationId xmlns:p14="http://schemas.microsoft.com/office/powerpoint/2010/main" val="1491730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25ABBF-39FD-9400-1540-BC26A126E8AC}"/>
              </a:ext>
            </a:extLst>
          </p:cNvPr>
          <p:cNvSpPr txBox="1"/>
          <p:nvPr/>
        </p:nvSpPr>
        <p:spPr>
          <a:xfrm>
            <a:off x="897466" y="435396"/>
            <a:ext cx="9008533" cy="28931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loading</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Loading employee...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Employee Details</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employee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Email:</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employee</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email</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Department: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&lt;/strong&gt;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employee</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departmentId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endParaRPr lang="en-IN" dirty="0"/>
          </a:p>
        </p:txBody>
      </p:sp>
    </p:spTree>
    <p:extLst>
      <p:ext uri="{BB962C8B-B14F-4D97-AF65-F5344CB8AC3E}">
        <p14:creationId xmlns:p14="http://schemas.microsoft.com/office/powerpoint/2010/main" val="4060488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1426-E482-1417-D928-2EBF1E235E00}"/>
              </a:ext>
            </a:extLst>
          </p:cNvPr>
          <p:cNvSpPr>
            <a:spLocks noGrp="1"/>
          </p:cNvSpPr>
          <p:nvPr>
            <p:ph type="title"/>
          </p:nvPr>
        </p:nvSpPr>
        <p:spPr>
          <a:xfrm>
            <a:off x="8647042" y="121823"/>
            <a:ext cx="3392557" cy="559214"/>
          </a:xfrm>
        </p:spPr>
        <p:txBody>
          <a:bodyPr>
            <a:normAutofit fontScale="90000"/>
          </a:bodyPr>
          <a:lstStyle/>
          <a:p>
            <a:r>
              <a:rPr lang="en-US" dirty="0"/>
              <a:t>Update</a:t>
            </a:r>
            <a:endParaRPr lang="en-IN" dirty="0"/>
          </a:p>
        </p:txBody>
      </p:sp>
      <p:sp>
        <p:nvSpPr>
          <p:cNvPr id="4" name="TextBox 3">
            <a:extLst>
              <a:ext uri="{FF2B5EF4-FFF2-40B4-BE49-F238E27FC236}">
                <a16:creationId xmlns:a16="http://schemas.microsoft.com/office/drawing/2014/main" id="{A1389165-B9C9-3988-C609-52150D7AE732}"/>
              </a:ext>
            </a:extLst>
          </p:cNvPr>
          <p:cNvSpPr txBox="1"/>
          <p:nvPr/>
        </p:nvSpPr>
        <p:spPr>
          <a:xfrm>
            <a:off x="1023731" y="3059668"/>
            <a:ext cx="7317684" cy="369332"/>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empup</a:t>
            </a:r>
            <a:r>
              <a:rPr lang="en-US" b="0" dirty="0">
                <a:solidFill>
                  <a:srgbClr val="A31515"/>
                </a:solidFill>
                <a:effectLst/>
                <a:latin typeface="Consolas" panose="020B0609020204030204" pitchFamily="49" charset="0"/>
              </a:rPr>
              <a:t>/:id"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Employeeup</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
        <p:nvSpPr>
          <p:cNvPr id="5" name="TextBox 4">
            <a:extLst>
              <a:ext uri="{FF2B5EF4-FFF2-40B4-BE49-F238E27FC236}">
                <a16:creationId xmlns:a16="http://schemas.microsoft.com/office/drawing/2014/main" id="{547392D8-2E7E-8F1E-93E1-A89114852AD1}"/>
              </a:ext>
            </a:extLst>
          </p:cNvPr>
          <p:cNvSpPr txBox="1"/>
          <p:nvPr/>
        </p:nvSpPr>
        <p:spPr>
          <a:xfrm>
            <a:off x="7354957" y="556591"/>
            <a:ext cx="2991678" cy="369332"/>
          </a:xfrm>
          <a:prstGeom prst="rect">
            <a:avLst/>
          </a:prstGeom>
          <a:noFill/>
        </p:spPr>
        <p:txBody>
          <a:bodyPr wrap="square" rtlCol="0">
            <a:spAutoFit/>
          </a:bodyPr>
          <a:lstStyle/>
          <a:p>
            <a:r>
              <a:rPr lang="en-US" dirty="0">
                <a:solidFill>
                  <a:schemeClr val="accent1"/>
                </a:solidFill>
              </a:rPr>
              <a:t>Localhost:3000/</a:t>
            </a:r>
            <a:r>
              <a:rPr lang="en-US" dirty="0" err="1">
                <a:solidFill>
                  <a:schemeClr val="accent1"/>
                </a:solidFill>
              </a:rPr>
              <a:t>empup</a:t>
            </a:r>
            <a:r>
              <a:rPr lang="en-US" dirty="0">
                <a:solidFill>
                  <a:schemeClr val="accent1"/>
                </a:solidFill>
              </a:rPr>
              <a:t>/2</a:t>
            </a:r>
            <a:endParaRPr lang="en-IN" dirty="0">
              <a:solidFill>
                <a:schemeClr val="accent1"/>
              </a:solidFill>
            </a:endParaRPr>
          </a:p>
        </p:txBody>
      </p:sp>
      <p:cxnSp>
        <p:nvCxnSpPr>
          <p:cNvPr id="7" name="Straight Arrow Connector 6">
            <a:extLst>
              <a:ext uri="{FF2B5EF4-FFF2-40B4-BE49-F238E27FC236}">
                <a16:creationId xmlns:a16="http://schemas.microsoft.com/office/drawing/2014/main" id="{E2097580-37BD-B970-55FD-5770C7EAC5FB}"/>
              </a:ext>
            </a:extLst>
          </p:cNvPr>
          <p:cNvCxnSpPr>
            <a:cxnSpLocks/>
          </p:cNvCxnSpPr>
          <p:nvPr/>
        </p:nvCxnSpPr>
        <p:spPr>
          <a:xfrm flipH="1">
            <a:off x="3518452" y="925923"/>
            <a:ext cx="5486400" cy="2244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927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5853EE-32D6-1BA7-3A75-F8839B013BEB}"/>
              </a:ext>
            </a:extLst>
          </p:cNvPr>
          <p:cNvPicPr>
            <a:picLocks noChangeAspect="1"/>
          </p:cNvPicPr>
          <p:nvPr/>
        </p:nvPicPr>
        <p:blipFill>
          <a:blip r:embed="rId2"/>
          <a:stretch>
            <a:fillRect/>
          </a:stretch>
        </p:blipFill>
        <p:spPr>
          <a:xfrm>
            <a:off x="2228515" y="152116"/>
            <a:ext cx="7734970" cy="6553768"/>
          </a:xfrm>
          <a:prstGeom prst="rect">
            <a:avLst/>
          </a:prstGeom>
        </p:spPr>
      </p:pic>
    </p:spTree>
    <p:extLst>
      <p:ext uri="{BB962C8B-B14F-4D97-AF65-F5344CB8AC3E}">
        <p14:creationId xmlns:p14="http://schemas.microsoft.com/office/powerpoint/2010/main" val="3004985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B73FFD-0FD0-408A-942D-5084E9A3230B}"/>
              </a:ext>
            </a:extLst>
          </p:cNvPr>
          <p:cNvSpPr txBox="1"/>
          <p:nvPr/>
        </p:nvSpPr>
        <p:spPr>
          <a:xfrm>
            <a:off x="98323" y="81464"/>
            <a:ext cx="5616677" cy="7032694"/>
          </a:xfrm>
          <a:prstGeom prst="rect">
            <a:avLst/>
          </a:prstGeom>
          <a:noFill/>
        </p:spPr>
        <p:txBody>
          <a:bodyPr wrap="square">
            <a:spAutoFit/>
          </a:bodyPr>
          <a:lstStyle/>
          <a:p>
            <a:r>
              <a:rPr lang="en-IN" sz="1100" b="0" dirty="0">
                <a:solidFill>
                  <a:srgbClr val="0000FF"/>
                </a:solidFill>
                <a:effectLst/>
                <a:latin typeface="Consolas" panose="020B0609020204030204" pitchFamily="49" charset="0"/>
              </a:rPr>
              <a:t>import</a:t>
            </a:r>
            <a:r>
              <a:rPr lang="en-IN" sz="1100" b="0" dirty="0">
                <a:solidFill>
                  <a:srgbClr val="000000"/>
                </a:solidFill>
                <a:effectLst/>
                <a:latin typeface="Consolas" panose="020B0609020204030204" pitchFamily="49" charset="0"/>
              </a:rPr>
              <a:t> { </a:t>
            </a:r>
            <a:r>
              <a:rPr lang="en-IN" sz="1100" b="0" dirty="0" err="1">
                <a:solidFill>
                  <a:srgbClr val="000000"/>
                </a:solidFill>
                <a:effectLst/>
                <a:latin typeface="Consolas" panose="020B0609020204030204" pitchFamily="49" charset="0"/>
              </a:rPr>
              <a:t>useState</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useEffect</a:t>
            </a:r>
            <a:r>
              <a:rPr lang="en-IN" sz="1100" b="0" dirty="0">
                <a:solidFill>
                  <a:srgbClr val="000000"/>
                </a:solidFill>
                <a:effectLst/>
                <a:latin typeface="Consolas" panose="020B0609020204030204" pitchFamily="49" charset="0"/>
              </a:rPr>
              <a:t> } </a:t>
            </a:r>
            <a:r>
              <a:rPr lang="en-IN" sz="1100" b="0" dirty="0">
                <a:solidFill>
                  <a:srgbClr val="0000FF"/>
                </a:solidFill>
                <a:effectLst/>
                <a:latin typeface="Consolas" panose="020B0609020204030204" pitchFamily="49" charset="0"/>
              </a:rPr>
              <a:t>from</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"react"</a:t>
            </a:r>
            <a:r>
              <a:rPr lang="en-IN" sz="1100" b="0" dirty="0">
                <a:solidFill>
                  <a:srgbClr val="000000"/>
                </a:solidFill>
                <a:effectLst/>
                <a:latin typeface="Consolas" panose="020B0609020204030204" pitchFamily="49" charset="0"/>
              </a:rPr>
              <a:t>;</a:t>
            </a:r>
          </a:p>
          <a:p>
            <a:r>
              <a:rPr lang="en-IN" sz="1100" b="0" dirty="0">
                <a:solidFill>
                  <a:srgbClr val="0000FF"/>
                </a:solidFill>
                <a:effectLst/>
                <a:latin typeface="Consolas" panose="020B0609020204030204" pitchFamily="49" charset="0"/>
              </a:rPr>
              <a:t>import</a:t>
            </a:r>
            <a:r>
              <a:rPr lang="en-IN" sz="1100" b="0" dirty="0">
                <a:solidFill>
                  <a:srgbClr val="000000"/>
                </a:solidFill>
                <a:effectLst/>
                <a:latin typeface="Consolas" panose="020B0609020204030204" pitchFamily="49" charset="0"/>
              </a:rPr>
              <a:t> { </a:t>
            </a:r>
            <a:r>
              <a:rPr lang="en-IN" sz="1100" b="0" dirty="0" err="1">
                <a:solidFill>
                  <a:srgbClr val="000000"/>
                </a:solidFill>
                <a:effectLst/>
                <a:latin typeface="Consolas" panose="020B0609020204030204" pitchFamily="49" charset="0"/>
              </a:rPr>
              <a:t>useNavigate</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useParams</a:t>
            </a:r>
            <a:r>
              <a:rPr lang="en-IN" sz="1100" b="0" dirty="0">
                <a:solidFill>
                  <a:srgbClr val="000000"/>
                </a:solidFill>
                <a:effectLst/>
                <a:latin typeface="Consolas" panose="020B0609020204030204" pitchFamily="49" charset="0"/>
              </a:rPr>
              <a:t> } </a:t>
            </a:r>
            <a:r>
              <a:rPr lang="en-IN" sz="1100" b="0" dirty="0">
                <a:solidFill>
                  <a:srgbClr val="0000FF"/>
                </a:solidFill>
                <a:effectLst/>
                <a:latin typeface="Consolas" panose="020B0609020204030204" pitchFamily="49" charset="0"/>
              </a:rPr>
              <a:t>from</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"react-router-</a:t>
            </a:r>
            <a:r>
              <a:rPr lang="en-IN" sz="1100" b="0" dirty="0" err="1">
                <a:solidFill>
                  <a:srgbClr val="A31515"/>
                </a:solidFill>
                <a:effectLst/>
                <a:latin typeface="Consolas" panose="020B0609020204030204" pitchFamily="49" charset="0"/>
              </a:rPr>
              <a:t>dom</a:t>
            </a:r>
            <a:r>
              <a:rPr lang="en-IN" sz="1100" b="0" dirty="0">
                <a:solidFill>
                  <a:srgbClr val="A31515"/>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FF"/>
                </a:solidFill>
                <a:effectLst/>
                <a:latin typeface="Consolas" panose="020B0609020204030204" pitchFamily="49" charset="0"/>
              </a:rPr>
              <a:t>function</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Employeeup</a:t>
            </a:r>
            <a:r>
              <a:rPr lang="en-IN" sz="1100" b="0" dirty="0">
                <a:solidFill>
                  <a:srgbClr val="000000"/>
                </a:solidFill>
                <a:effectLst/>
                <a:latin typeface="Consolas" panose="020B0609020204030204" pitchFamily="49" charset="0"/>
              </a:rPr>
              <a:t>()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[employee, </a:t>
            </a:r>
            <a:r>
              <a:rPr lang="en-IN" sz="1100" b="0" dirty="0" err="1">
                <a:solidFill>
                  <a:srgbClr val="000000"/>
                </a:solidFill>
                <a:effectLst/>
                <a:latin typeface="Consolas" panose="020B0609020204030204" pitchFamily="49" charset="0"/>
              </a:rPr>
              <a:t>setEmployee</a:t>
            </a:r>
            <a:r>
              <a:rPr lang="en-IN" sz="1100" b="0" dirty="0">
                <a:solidFill>
                  <a:srgbClr val="000000"/>
                </a:solidFill>
                <a:effectLst/>
                <a:latin typeface="Consolas" panose="020B0609020204030204" pitchFamily="49" charset="0"/>
              </a:rPr>
              <a:t>] = </a:t>
            </a:r>
            <a:r>
              <a:rPr lang="en-IN" sz="1100" b="0" dirty="0" err="1">
                <a:solidFill>
                  <a:srgbClr val="000000"/>
                </a:solidFill>
                <a:effectLst/>
                <a:latin typeface="Consolas" panose="020B0609020204030204" pitchFamily="49" charset="0"/>
              </a:rPr>
              <a:t>useState</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 id } = </a:t>
            </a:r>
            <a:r>
              <a:rPr lang="en-IN" sz="1100" b="0" dirty="0" err="1">
                <a:solidFill>
                  <a:srgbClr val="000000"/>
                </a:solidFill>
                <a:effectLst/>
                <a:latin typeface="Consolas" panose="020B0609020204030204" pitchFamily="49" charset="0"/>
              </a:rPr>
              <a:t>useParams</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navigate = </a:t>
            </a:r>
            <a:r>
              <a:rPr lang="en-IN" sz="1100" b="0" dirty="0" err="1">
                <a:solidFill>
                  <a:srgbClr val="000000"/>
                </a:solidFill>
                <a:effectLst/>
                <a:latin typeface="Consolas" panose="020B0609020204030204" pitchFamily="49" charset="0"/>
              </a:rPr>
              <a:t>useNavigate</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useEffect</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fetch(</a:t>
            </a:r>
            <a:r>
              <a:rPr lang="en-IN" sz="1100" b="0" dirty="0">
                <a:solidFill>
                  <a:srgbClr val="A31515"/>
                </a:solidFill>
                <a:effectLst/>
                <a:latin typeface="Consolas" panose="020B0609020204030204" pitchFamily="49" charset="0"/>
              </a:rPr>
              <a:t>"https://localhost:7115/</a:t>
            </a:r>
            <a:r>
              <a:rPr lang="en-IN" sz="1100" b="0" dirty="0" err="1">
                <a:solidFill>
                  <a:srgbClr val="A31515"/>
                </a:solidFill>
                <a:effectLst/>
                <a:latin typeface="Consolas" panose="020B0609020204030204" pitchFamily="49" charset="0"/>
              </a:rPr>
              <a:t>api</a:t>
            </a:r>
            <a:r>
              <a:rPr lang="en-IN" sz="1100" b="0" dirty="0">
                <a:solidFill>
                  <a:srgbClr val="A31515"/>
                </a:solidFill>
                <a:effectLst/>
                <a:latin typeface="Consolas" panose="020B0609020204030204" pitchFamily="49" charset="0"/>
              </a:rPr>
              <a:t>/Employee/"</a:t>
            </a:r>
            <a:r>
              <a:rPr lang="en-IN" sz="1100" b="0" dirty="0">
                <a:solidFill>
                  <a:srgbClr val="000000"/>
                </a:solidFill>
                <a:effectLst/>
                <a:latin typeface="Consolas" panose="020B0609020204030204" pitchFamily="49" charset="0"/>
              </a:rPr>
              <a:t> + id)</a:t>
            </a:r>
          </a:p>
          <a:p>
            <a:r>
              <a:rPr lang="en-IN" sz="1100" b="0" dirty="0">
                <a:solidFill>
                  <a:srgbClr val="000000"/>
                </a:solidFill>
                <a:effectLst/>
                <a:latin typeface="Consolas" panose="020B0609020204030204" pitchFamily="49" charset="0"/>
              </a:rPr>
              <a:t>            .then(res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res.json</a:t>
            </a:r>
            <a:r>
              <a:rPr lang="en-IN" sz="1100" b="0" dirty="0">
                <a:solidFill>
                  <a:srgbClr val="000000"/>
                </a:solidFill>
                <a:effectLst/>
                <a:latin typeface="Consolas" panose="020B0609020204030204" pitchFamily="49" charset="0"/>
              </a:rPr>
              <a:t>())</a:t>
            </a:r>
          </a:p>
          <a:p>
            <a:r>
              <a:rPr lang="en-IN" sz="1100" b="0" dirty="0">
                <a:solidFill>
                  <a:srgbClr val="000000"/>
                </a:solidFill>
                <a:effectLst/>
                <a:latin typeface="Consolas" panose="020B0609020204030204" pitchFamily="49" charset="0"/>
              </a:rPr>
              <a:t>            .then((result)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setEmployee</a:t>
            </a:r>
            <a:r>
              <a:rPr lang="en-IN" sz="1100" b="0" dirty="0">
                <a:solidFill>
                  <a:srgbClr val="000000"/>
                </a:solidFill>
                <a:effectLst/>
                <a:latin typeface="Consolas" panose="020B0609020204030204" pitchFamily="49" charset="0"/>
              </a:rPr>
              <a:t>(result);</a:t>
            </a:r>
          </a:p>
          <a:p>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).catch((e)</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console.log(e));</a:t>
            </a:r>
          </a:p>
          <a:p>
            <a:r>
              <a:rPr lang="en-IN" sz="1100" b="0" dirty="0">
                <a:solidFill>
                  <a:srgbClr val="000000"/>
                </a:solidFill>
                <a:effectLst/>
                <a:latin typeface="Consolas" panose="020B0609020204030204" pitchFamily="49" charset="0"/>
              </a:rPr>
              <a:t>    },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handleChange</a:t>
            </a:r>
            <a:r>
              <a:rPr lang="en-IN" sz="1100" b="0" dirty="0">
                <a:solidFill>
                  <a:srgbClr val="000000"/>
                </a:solidFill>
                <a:effectLst/>
                <a:latin typeface="Consolas" panose="020B0609020204030204" pitchFamily="49" charset="0"/>
              </a:rPr>
              <a:t> = (event)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name = event.target.name;</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value = </a:t>
            </a:r>
            <a:r>
              <a:rPr lang="en-IN" sz="1100" b="0" dirty="0" err="1">
                <a:solidFill>
                  <a:srgbClr val="000000"/>
                </a:solidFill>
                <a:effectLst/>
                <a:latin typeface="Consolas" panose="020B0609020204030204" pitchFamily="49" charset="0"/>
              </a:rPr>
              <a:t>event.target.value</a:t>
            </a:r>
            <a:r>
              <a:rPr lang="en-IN" sz="1100" b="0" dirty="0">
                <a:solidFill>
                  <a:srgbClr val="000000"/>
                </a:solidFill>
                <a:effectLst/>
                <a:latin typeface="Consolas" panose="020B0609020204030204" pitchFamily="49" charset="0"/>
              </a:rPr>
              <a:t>;</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setEmployee</a:t>
            </a:r>
            <a:r>
              <a:rPr lang="en-IN" sz="1100" b="0" dirty="0">
                <a:solidFill>
                  <a:srgbClr val="000000"/>
                </a:solidFill>
                <a:effectLst/>
                <a:latin typeface="Consolas" panose="020B0609020204030204" pitchFamily="49" charset="0"/>
              </a:rPr>
              <a:t>(values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 ...values, [name]: value }))</a:t>
            </a:r>
          </a:p>
          <a:p>
            <a:r>
              <a:rPr lang="en-IN" sz="1100" b="0" dirty="0">
                <a:solidFill>
                  <a:srgbClr val="000000"/>
                </a:solidFill>
                <a:effectLst/>
                <a:latin typeface="Consolas" panose="020B0609020204030204" pitchFamily="49" charset="0"/>
              </a:rPr>
              <a:t>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handleSubmit</a:t>
            </a:r>
            <a:r>
              <a:rPr lang="en-IN" sz="1100" b="0" dirty="0">
                <a:solidFill>
                  <a:srgbClr val="000000"/>
                </a:solidFill>
                <a:effectLst/>
                <a:latin typeface="Consolas" panose="020B0609020204030204" pitchFamily="49" charset="0"/>
              </a:rPr>
              <a:t> = (event)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demo = </a:t>
            </a:r>
            <a:r>
              <a:rPr lang="en-IN" sz="1100" b="0" dirty="0" err="1">
                <a:solidFill>
                  <a:srgbClr val="000000"/>
                </a:solidFill>
                <a:effectLst/>
                <a:latin typeface="Consolas" panose="020B0609020204030204" pitchFamily="49" charset="0"/>
              </a:rPr>
              <a:t>JSON.stringify</a:t>
            </a:r>
            <a:r>
              <a:rPr lang="en-IN" sz="1100" b="0" dirty="0">
                <a:solidFill>
                  <a:srgbClr val="000000"/>
                </a:solidFill>
                <a:effectLst/>
                <a:latin typeface="Consolas" panose="020B0609020204030204" pitchFamily="49" charset="0"/>
              </a:rPr>
              <a:t>(employee);</a:t>
            </a:r>
          </a:p>
          <a:p>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fetch(</a:t>
            </a:r>
            <a:r>
              <a:rPr lang="en-IN" sz="1100" b="0" dirty="0">
                <a:solidFill>
                  <a:srgbClr val="A31515"/>
                </a:solidFill>
                <a:effectLst/>
                <a:latin typeface="Consolas" panose="020B0609020204030204" pitchFamily="49" charset="0"/>
              </a:rPr>
              <a:t>"https://localhost:7115/</a:t>
            </a:r>
            <a:r>
              <a:rPr lang="en-IN" sz="1100" b="0" dirty="0" err="1">
                <a:solidFill>
                  <a:srgbClr val="A31515"/>
                </a:solidFill>
                <a:effectLst/>
                <a:latin typeface="Consolas" panose="020B0609020204030204" pitchFamily="49" charset="0"/>
              </a:rPr>
              <a:t>api</a:t>
            </a:r>
            <a:r>
              <a:rPr lang="en-IN" sz="1100" b="0" dirty="0">
                <a:solidFill>
                  <a:srgbClr val="A31515"/>
                </a:solidFill>
                <a:effectLst/>
                <a:latin typeface="Consolas" panose="020B0609020204030204" pitchFamily="49" charset="0"/>
              </a:rPr>
              <a:t>/Employee/"</a:t>
            </a:r>
            <a:r>
              <a:rPr lang="en-IN" sz="1100" b="0" dirty="0">
                <a:solidFill>
                  <a:srgbClr val="000000"/>
                </a:solidFill>
                <a:effectLst/>
                <a:latin typeface="Consolas" panose="020B0609020204030204" pitchFamily="49" charset="0"/>
              </a:rPr>
              <a:t> + id, {</a:t>
            </a:r>
          </a:p>
          <a:p>
            <a:r>
              <a:rPr lang="en-IN" sz="1100" b="0" dirty="0">
                <a:solidFill>
                  <a:srgbClr val="000000"/>
                </a:solidFill>
                <a:effectLst/>
                <a:latin typeface="Consolas" panose="020B0609020204030204" pitchFamily="49" charset="0"/>
              </a:rPr>
              <a:t>            </a:t>
            </a:r>
            <a:r>
              <a:rPr lang="en-IN" sz="1100" b="0" dirty="0">
                <a:solidFill>
                  <a:srgbClr val="000000"/>
                </a:solidFill>
                <a:effectLst/>
                <a:highlight>
                  <a:srgbClr val="FFFF00"/>
                </a:highlight>
                <a:latin typeface="Consolas" panose="020B0609020204030204" pitchFamily="49" charset="0"/>
              </a:rPr>
              <a:t>method: </a:t>
            </a:r>
            <a:r>
              <a:rPr lang="en-IN" sz="1100" b="0" dirty="0">
                <a:solidFill>
                  <a:srgbClr val="A31515"/>
                </a:solidFill>
                <a:effectLst/>
                <a:highlight>
                  <a:srgbClr val="FFFF00"/>
                </a:highlight>
                <a:latin typeface="Consolas" panose="020B0609020204030204" pitchFamily="49" charset="0"/>
              </a:rPr>
              <a:t>'PUT'</a:t>
            </a:r>
            <a:r>
              <a:rPr lang="en-IN" sz="1100" b="0" dirty="0">
                <a:solidFill>
                  <a:srgbClr val="000000"/>
                </a:solidFill>
                <a:effectLst/>
                <a:highlight>
                  <a:srgbClr val="FFFF00"/>
                </a:highlight>
                <a:latin typeface="Consolas" panose="020B0609020204030204" pitchFamily="49" charset="0"/>
              </a:rPr>
              <a:t>,</a:t>
            </a:r>
          </a:p>
          <a:p>
            <a:r>
              <a:rPr lang="en-IN" sz="1100" b="0" dirty="0">
                <a:solidFill>
                  <a:srgbClr val="000000"/>
                </a:solidFill>
                <a:effectLst/>
                <a:latin typeface="Consolas" panose="020B0609020204030204" pitchFamily="49" charset="0"/>
              </a:rPr>
              <a:t>            headers: { </a:t>
            </a:r>
            <a:r>
              <a:rPr lang="en-IN" sz="1100" b="0" dirty="0">
                <a:solidFill>
                  <a:srgbClr val="A31515"/>
                </a:solidFill>
                <a:effectLst/>
                <a:latin typeface="Consolas" panose="020B0609020204030204" pitchFamily="49" charset="0"/>
              </a:rPr>
              <a:t>'Content-type'</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'application/</a:t>
            </a:r>
            <a:r>
              <a:rPr lang="en-IN" sz="1100" b="0" dirty="0" err="1">
                <a:solidFill>
                  <a:srgbClr val="A31515"/>
                </a:solidFill>
                <a:effectLst/>
                <a:latin typeface="Consolas" panose="020B0609020204030204" pitchFamily="49" charset="0"/>
              </a:rPr>
              <a:t>json</a:t>
            </a:r>
            <a:r>
              <a:rPr lang="en-IN" sz="1100" b="0" dirty="0">
                <a:solidFill>
                  <a:srgbClr val="A31515"/>
                </a:solidFill>
                <a:effectLst/>
                <a:latin typeface="Consolas" panose="020B0609020204030204" pitchFamily="49" charset="0"/>
              </a:rPr>
              <a: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body: demo</a:t>
            </a:r>
          </a:p>
          <a:p>
            <a:r>
              <a:rPr lang="en-IN" sz="1100" b="0" dirty="0">
                <a:solidFill>
                  <a:srgbClr val="000000"/>
                </a:solidFill>
                <a:effectLst/>
                <a:latin typeface="Consolas" panose="020B0609020204030204" pitchFamily="49" charset="0"/>
              </a:rPr>
              <a:t>        }).then(r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 console.log(r) })</a:t>
            </a:r>
          </a:p>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event.preventDefault</a:t>
            </a:r>
            <a:r>
              <a:rPr lang="en-IN" sz="1100" b="0" dirty="0">
                <a:solidFill>
                  <a:srgbClr val="000000"/>
                </a:solidFill>
                <a:effectLst/>
                <a:latin typeface="Consolas" panose="020B0609020204030204" pitchFamily="49" charset="0"/>
              </a:rPr>
              <a:t>();</a:t>
            </a:r>
          </a:p>
          <a:p>
            <a:r>
              <a:rPr lang="en-IN" sz="1100" b="0" dirty="0">
                <a:solidFill>
                  <a:srgbClr val="000000"/>
                </a:solidFill>
                <a:effectLst/>
                <a:latin typeface="Consolas" panose="020B0609020204030204" pitchFamily="49" charset="0"/>
              </a:rPr>
              <a:t>        </a:t>
            </a:r>
            <a:r>
              <a:rPr lang="en-IN" sz="1100" b="0" dirty="0">
                <a:solidFill>
                  <a:srgbClr val="000000"/>
                </a:solidFill>
                <a:effectLst/>
                <a:highlight>
                  <a:srgbClr val="FFFF00"/>
                </a:highlight>
                <a:latin typeface="Consolas" panose="020B0609020204030204" pitchFamily="49" charset="0"/>
              </a:rPr>
              <a:t>navigate(</a:t>
            </a:r>
            <a:r>
              <a:rPr lang="en-IN" sz="1100" b="0" dirty="0">
                <a:solidFill>
                  <a:srgbClr val="A31515"/>
                </a:solidFill>
                <a:effectLst/>
                <a:highlight>
                  <a:srgbClr val="FFFF00"/>
                </a:highlight>
                <a:latin typeface="Consolas" panose="020B0609020204030204" pitchFamily="49" charset="0"/>
              </a:rPr>
              <a:t>'/'</a:t>
            </a:r>
            <a:r>
              <a:rPr lang="en-IN" sz="1100" b="0" dirty="0">
                <a:solidFill>
                  <a:srgbClr val="000000"/>
                </a:solidFill>
                <a:effectLst/>
                <a:highlight>
                  <a:srgbClr val="FFFF00"/>
                </a:highlight>
                <a:latin typeface="Consolas" panose="020B0609020204030204" pitchFamily="49" charset="0"/>
              </a:rPr>
              <a: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AD0A66BC-0E54-42F8-9AAB-0C6F22BC8753}"/>
              </a:ext>
            </a:extLst>
          </p:cNvPr>
          <p:cNvSpPr txBox="1"/>
          <p:nvPr/>
        </p:nvSpPr>
        <p:spPr>
          <a:xfrm>
            <a:off x="6292645" y="-166081"/>
            <a:ext cx="6096000" cy="6863417"/>
          </a:xfrm>
          <a:prstGeom prst="rect">
            <a:avLst/>
          </a:prstGeom>
          <a:noFill/>
        </p:spPr>
        <p:txBody>
          <a:bodyPr wrap="square">
            <a:spAutoFit/>
          </a:bodyPr>
          <a:lstStyle/>
          <a:p>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return</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&lt;form</a:t>
            </a:r>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onSubmit</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handleSubmit</a:t>
            </a:r>
            <a:r>
              <a:rPr lang="en-IN" sz="1100" b="0" dirty="0">
                <a:solidFill>
                  <a:srgbClr val="0000FF"/>
                </a:solidFill>
                <a:effectLst/>
                <a:latin typeface="Consolas" panose="020B0609020204030204" pitchFamily="49" charset="0"/>
              </a:rPr>
              <a:t>}</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Id:</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"id"</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employee?.id ??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disabled</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{true}</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name:</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"name"</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employee?.name ??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Email:</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"email"</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employee?.email</a:t>
            </a:r>
            <a:r>
              <a:rPr lang="en-IN" sz="1100" b="0" dirty="0">
                <a:solidFill>
                  <a:srgbClr val="000000"/>
                </a:solidFill>
                <a:effectLst/>
                <a:latin typeface="Consolas" panose="020B0609020204030204" pitchFamily="49" charset="0"/>
              </a:rPr>
              <a:t> </a:t>
            </a:r>
            <a:r>
              <a:rPr lang="en-IN" sz="1100" dirty="0">
                <a:solidFill>
                  <a:srgbClr val="000000"/>
                </a:solidFill>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&lt;label&gt;</a:t>
            </a:r>
            <a:r>
              <a:rPr lang="en-IN" sz="1100" b="0" dirty="0">
                <a:solidFill>
                  <a:srgbClr val="000000"/>
                </a:solidFill>
                <a:effectLst/>
                <a:latin typeface="Consolas" panose="020B0609020204030204" pitchFamily="49" charset="0"/>
              </a:rPr>
              <a:t>Department:</a:t>
            </a:r>
            <a:r>
              <a:rPr lang="en-IN" sz="1100" b="0" dirty="0">
                <a:solidFill>
                  <a:srgbClr val="800000"/>
                </a:solidFill>
                <a:effectLst/>
                <a:latin typeface="Consolas" panose="020B0609020204030204" pitchFamily="49" charset="0"/>
              </a:rPr>
              <a:t>&lt;/label&gt;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"text"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"department"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employee?.department</a:t>
            </a:r>
            <a:r>
              <a:rPr lang="en-IN" sz="1100" b="0" dirty="0">
                <a:solidFill>
                  <a:srgbClr val="000000"/>
                </a:solidFill>
                <a:effectLst/>
                <a:latin typeface="Consolas" panose="020B0609020204030204" pitchFamily="49" charset="0"/>
              </a:rPr>
              <a:t> </a:t>
            </a:r>
            <a:r>
              <a:rPr lang="en-IN" sz="1100" dirty="0">
                <a:solidFill>
                  <a:srgbClr val="000000"/>
                </a:solidFill>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onChange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00"/>
                </a:solidFill>
                <a:effectLst/>
                <a:latin typeface="Consolas" panose="020B0609020204030204" pitchFamily="49" charset="0"/>
              </a:rPr>
              <a:t>handleChange</a:t>
            </a:r>
            <a:r>
              <a:rPr lang="en-IN" sz="1100" b="0" dirty="0">
                <a:solidFill>
                  <a:srgbClr val="0000FF"/>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800000"/>
                </a:solidFill>
                <a:effectLst/>
                <a:latin typeface="Consolas" panose="020B0609020204030204" pitchFamily="49" charset="0"/>
              </a:rPr>
              <a:t>br</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&lt;input</a:t>
            </a:r>
            <a:r>
              <a:rPr lang="en-IN" sz="1100" b="0" dirty="0">
                <a:solidFill>
                  <a:srgbClr val="000000"/>
                </a:solidFill>
                <a:effectLst/>
                <a:latin typeface="Consolas" panose="020B0609020204030204" pitchFamily="49" charset="0"/>
              </a:rPr>
              <a:t> </a:t>
            </a:r>
            <a:r>
              <a:rPr lang="en-IN" sz="1100" b="0" dirty="0">
                <a:solidFill>
                  <a:srgbClr val="E5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"submit"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&lt;/form&gt;</a:t>
            </a:r>
            <a:endParaRPr lang="en-IN" sz="1100" b="0" dirty="0">
              <a:solidFill>
                <a:srgbClr val="000000"/>
              </a:solidFill>
              <a:effectLst/>
              <a:latin typeface="Consolas" panose="020B0609020204030204" pitchFamily="49" charset="0"/>
            </a:endParaRPr>
          </a:p>
          <a:p>
            <a:r>
              <a:rPr lang="en-IN" sz="1100" b="0" dirty="0">
                <a:solidFill>
                  <a:srgbClr val="000000"/>
                </a:solidFill>
                <a:effectLst/>
                <a:latin typeface="Consolas" panose="020B0609020204030204" pitchFamily="49" charset="0"/>
              </a:rPr>
              <a:t>    );</a:t>
            </a:r>
          </a:p>
          <a:p>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export</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default</a:t>
            </a:r>
            <a:r>
              <a:rPr lang="en-IN" sz="1100" b="0" dirty="0">
                <a:solidFill>
                  <a:srgbClr val="000000"/>
                </a:solidFill>
                <a:effectLst/>
                <a:latin typeface="Consolas" panose="020B0609020204030204" pitchFamily="49" charset="0"/>
              </a:rPr>
              <a:t> </a:t>
            </a:r>
            <a:r>
              <a:rPr lang="en-IN" sz="1100" b="0" dirty="0" err="1">
                <a:solidFill>
                  <a:srgbClr val="000000"/>
                </a:solidFill>
                <a:effectLst/>
                <a:latin typeface="Consolas" panose="020B0609020204030204" pitchFamily="49" charset="0"/>
              </a:rPr>
              <a:t>Employeeup</a:t>
            </a:r>
            <a:r>
              <a:rPr lang="en-IN" sz="1100" b="0" dirty="0">
                <a:solidFill>
                  <a:srgbClr val="000000"/>
                </a:solidFill>
                <a:effectLst/>
                <a:latin typeface="Consolas" panose="020B0609020204030204" pitchFamily="49" charset="0"/>
              </a:rPr>
              <a:t>;</a:t>
            </a:r>
          </a:p>
          <a:p>
            <a:br>
              <a:rPr lang="en-IN" sz="1100" b="0" dirty="0">
                <a:solidFill>
                  <a:srgbClr val="000000"/>
                </a:solidFill>
                <a:effectLst/>
                <a:latin typeface="Consolas" panose="020B0609020204030204" pitchFamily="49" charset="0"/>
              </a:rPr>
            </a:br>
            <a:endParaRPr lang="en-IN" sz="1100" b="0" dirty="0">
              <a:solidFill>
                <a:srgbClr val="000000"/>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2" name="Rectangle 1">
            <a:extLst>
              <a:ext uri="{FF2B5EF4-FFF2-40B4-BE49-F238E27FC236}">
                <a16:creationId xmlns:a16="http://schemas.microsoft.com/office/drawing/2014/main" id="{FCC15C97-1970-5CC4-E225-5386129AED97}"/>
              </a:ext>
            </a:extLst>
          </p:cNvPr>
          <p:cNvSpPr/>
          <p:nvPr/>
        </p:nvSpPr>
        <p:spPr>
          <a:xfrm>
            <a:off x="4789005" y="1525805"/>
            <a:ext cx="2613990" cy="139489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US" b="0" dirty="0" err="1">
                <a:solidFill>
                  <a:srgbClr val="001080"/>
                </a:solidFill>
                <a:effectLst/>
                <a:latin typeface="Consolas" panose="020B0609020204030204" pitchFamily="49" charset="0"/>
              </a:rPr>
              <a:t>name:raj</a:t>
            </a:r>
            <a:endParaRPr lang="en-US" b="0" dirty="0">
              <a:solidFill>
                <a:srgbClr val="001080"/>
              </a:solidFill>
              <a:effectLst/>
              <a:latin typeface="Consolas" panose="020B0609020204030204" pitchFamily="49" charset="0"/>
            </a:endParaRPr>
          </a:p>
          <a:p>
            <a:r>
              <a:rPr lang="en-US" dirty="0" err="1">
                <a:solidFill>
                  <a:srgbClr val="001080"/>
                </a:solidFill>
                <a:latin typeface="Consolas" panose="020B0609020204030204" pitchFamily="49" charset="0"/>
              </a:rPr>
              <a:t>Email:Raj@gmail.com</a:t>
            </a:r>
            <a:endParaRPr lang="en-US" dirty="0">
              <a:solidFill>
                <a:srgbClr val="001080"/>
              </a:solidFill>
              <a:latin typeface="Consolas" panose="020B0609020204030204" pitchFamily="49" charset="0"/>
            </a:endParaRPr>
          </a:p>
          <a:p>
            <a:r>
              <a:rPr lang="en-US" b="0" dirty="0" err="1">
                <a:solidFill>
                  <a:srgbClr val="001080"/>
                </a:solidFill>
                <a:effectLst/>
                <a:latin typeface="Consolas" panose="020B0609020204030204" pitchFamily="49" charset="0"/>
              </a:rPr>
              <a:t>Department:HR</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8208189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AF8956-8741-0B4A-E3D6-E4CCC9AC2B0C}"/>
              </a:ext>
            </a:extLst>
          </p:cNvPr>
          <p:cNvSpPr txBox="1"/>
          <p:nvPr/>
        </p:nvSpPr>
        <p:spPr>
          <a:xfrm>
            <a:off x="2534479" y="248479"/>
            <a:ext cx="5993295" cy="523220"/>
          </a:xfrm>
          <a:prstGeom prst="rect">
            <a:avLst/>
          </a:prstGeom>
          <a:noFill/>
        </p:spPr>
        <p:txBody>
          <a:bodyPr wrap="square" rtlCol="0">
            <a:spAutoFit/>
          </a:bodyPr>
          <a:lstStyle/>
          <a:p>
            <a:pPr algn="ctr"/>
            <a:r>
              <a:rPr lang="en-US" sz="2800" dirty="0"/>
              <a:t>Delete</a:t>
            </a:r>
            <a:endParaRPr lang="en-IN" sz="2800" dirty="0"/>
          </a:p>
        </p:txBody>
      </p:sp>
      <p:sp>
        <p:nvSpPr>
          <p:cNvPr id="6" name="TextBox 5">
            <a:extLst>
              <a:ext uri="{FF2B5EF4-FFF2-40B4-BE49-F238E27FC236}">
                <a16:creationId xmlns:a16="http://schemas.microsoft.com/office/drawing/2014/main" id="{D911FA5C-8D85-D801-BB36-5C73E290F97D}"/>
              </a:ext>
            </a:extLst>
          </p:cNvPr>
          <p:cNvSpPr txBox="1"/>
          <p:nvPr/>
        </p:nvSpPr>
        <p:spPr>
          <a:xfrm>
            <a:off x="3048828" y="3105835"/>
            <a:ext cx="6097656" cy="646331"/>
          </a:xfrm>
          <a:prstGeom prst="rect">
            <a:avLst/>
          </a:prstGeom>
          <a:noFill/>
        </p:spPr>
        <p:txBody>
          <a:bodyPr wrap="square">
            <a:spAutoFit/>
          </a:bodyPr>
          <a:lstStyle/>
          <a:p>
            <a:r>
              <a:rPr lang="en-US" b="0" dirty="0">
                <a:solidFill>
                  <a:srgbClr val="800000"/>
                </a:solidFill>
                <a:effectLst/>
                <a:latin typeface="Consolas" panose="020B0609020204030204" pitchFamily="49" charset="0"/>
              </a:rPr>
              <a:t>&lt;Route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path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empdel</a:t>
            </a:r>
            <a:r>
              <a:rPr lang="en-US" b="0" dirty="0">
                <a:solidFill>
                  <a:srgbClr val="A31515"/>
                </a:solidFill>
                <a:effectLst/>
                <a:latin typeface="Consolas" panose="020B0609020204030204" pitchFamily="49" charset="0"/>
              </a:rPr>
              <a:t>/:id"</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element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Employeedel</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55044D76-3501-9CE9-0F38-7B7BFEC856D7}"/>
              </a:ext>
            </a:extLst>
          </p:cNvPr>
          <p:cNvSpPr txBox="1"/>
          <p:nvPr/>
        </p:nvSpPr>
        <p:spPr>
          <a:xfrm>
            <a:off x="7354957" y="556591"/>
            <a:ext cx="2991678" cy="369332"/>
          </a:xfrm>
          <a:prstGeom prst="rect">
            <a:avLst/>
          </a:prstGeom>
          <a:noFill/>
        </p:spPr>
        <p:txBody>
          <a:bodyPr wrap="square" rtlCol="0">
            <a:spAutoFit/>
          </a:bodyPr>
          <a:lstStyle/>
          <a:p>
            <a:r>
              <a:rPr lang="en-US" dirty="0">
                <a:solidFill>
                  <a:schemeClr val="accent1"/>
                </a:solidFill>
              </a:rPr>
              <a:t>Localhost:3000/</a:t>
            </a:r>
            <a:r>
              <a:rPr lang="en-US" dirty="0" err="1">
                <a:solidFill>
                  <a:schemeClr val="accent1"/>
                </a:solidFill>
              </a:rPr>
              <a:t>emdel</a:t>
            </a:r>
            <a:r>
              <a:rPr lang="en-US" dirty="0">
                <a:solidFill>
                  <a:schemeClr val="accent1"/>
                </a:solidFill>
              </a:rPr>
              <a:t>/2</a:t>
            </a:r>
            <a:endParaRPr lang="en-IN" dirty="0">
              <a:solidFill>
                <a:schemeClr val="accent1"/>
              </a:solidFill>
            </a:endParaRPr>
          </a:p>
        </p:txBody>
      </p:sp>
      <p:cxnSp>
        <p:nvCxnSpPr>
          <p:cNvPr id="9" name="Straight Arrow Connector 8">
            <a:extLst>
              <a:ext uri="{FF2B5EF4-FFF2-40B4-BE49-F238E27FC236}">
                <a16:creationId xmlns:a16="http://schemas.microsoft.com/office/drawing/2014/main" id="{D9AA08F2-489F-80E9-2561-DC213C34F74B}"/>
              </a:ext>
            </a:extLst>
          </p:cNvPr>
          <p:cNvCxnSpPr/>
          <p:nvPr/>
        </p:nvCxnSpPr>
        <p:spPr>
          <a:xfrm flipH="1">
            <a:off x="5834270" y="925923"/>
            <a:ext cx="3240156" cy="2179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845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9D15D2-90CF-79B1-9EF5-FA94F6130772}"/>
              </a:ext>
            </a:extLst>
          </p:cNvPr>
          <p:cNvPicPr>
            <a:picLocks noChangeAspect="1"/>
          </p:cNvPicPr>
          <p:nvPr/>
        </p:nvPicPr>
        <p:blipFill>
          <a:blip r:embed="rId2"/>
          <a:stretch>
            <a:fillRect/>
          </a:stretch>
        </p:blipFill>
        <p:spPr>
          <a:xfrm>
            <a:off x="2186601" y="228322"/>
            <a:ext cx="7818798" cy="6401355"/>
          </a:xfrm>
          <a:prstGeom prst="rect">
            <a:avLst/>
          </a:prstGeom>
        </p:spPr>
      </p:pic>
    </p:spTree>
    <p:extLst>
      <p:ext uri="{BB962C8B-B14F-4D97-AF65-F5344CB8AC3E}">
        <p14:creationId xmlns:p14="http://schemas.microsoft.com/office/powerpoint/2010/main" val="1360620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7F1F0-3C40-4342-9633-16857C43E56C}"/>
              </a:ext>
            </a:extLst>
          </p:cNvPr>
          <p:cNvSpPr txBox="1"/>
          <p:nvPr/>
        </p:nvSpPr>
        <p:spPr>
          <a:xfrm>
            <a:off x="0" y="98322"/>
            <a:ext cx="7285703" cy="6247864"/>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React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useParams,useNavigate</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"react-router-</a:t>
            </a:r>
            <a:r>
              <a:rPr lang="en-IN" sz="1600" b="0" dirty="0" err="1">
                <a:solidFill>
                  <a:srgbClr val="A31515"/>
                </a:solidFill>
                <a:effectLst/>
                <a:latin typeface="Consolas" panose="020B0609020204030204" pitchFamily="49" charset="0"/>
              </a:rPr>
              <a:t>dom</a:t>
            </a:r>
            <a:r>
              <a:rPr lang="en-IN" sz="1600" b="0" dirty="0">
                <a:solidFill>
                  <a:srgbClr val="A31515"/>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Employeedel</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[employee,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 id } = </a:t>
            </a:r>
            <a:r>
              <a:rPr lang="en-IN" sz="1600" b="0" dirty="0" err="1">
                <a:solidFill>
                  <a:srgbClr val="000000"/>
                </a:solidFill>
                <a:effectLst/>
                <a:latin typeface="Consolas" panose="020B0609020204030204" pitchFamily="49" charset="0"/>
              </a:rPr>
              <a:t>useParams</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navigate= </a:t>
            </a:r>
            <a:r>
              <a:rPr lang="en-IN" sz="1600" b="0" dirty="0" err="1">
                <a:solidFill>
                  <a:srgbClr val="000000"/>
                </a:solidFill>
                <a:effectLst/>
                <a:latin typeface="Consolas" panose="020B0609020204030204" pitchFamily="49" charset="0"/>
              </a:rPr>
              <a:t>useNavigate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useEffect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"https://localhost:7115/</a:t>
            </a:r>
            <a:r>
              <a:rPr lang="en-IN" sz="1600" b="0" dirty="0" err="1">
                <a:solidFill>
                  <a:srgbClr val="A31515"/>
                </a:solidFill>
                <a:effectLst/>
                <a:latin typeface="Consolas" panose="020B0609020204030204" pitchFamily="49" charset="0"/>
              </a:rPr>
              <a:t>api</a:t>
            </a:r>
            <a:r>
              <a:rPr lang="en-IN" sz="1600" b="0" dirty="0">
                <a:solidFill>
                  <a:srgbClr val="A31515"/>
                </a:solidFill>
                <a:effectLst/>
                <a:latin typeface="Consolas" panose="020B0609020204030204" pitchFamily="49" charset="0"/>
              </a:rPr>
              <a:t>/Employee/"</a:t>
            </a:r>
            <a:r>
              <a:rPr lang="en-IN" sz="1600" b="0" dirty="0">
                <a:solidFill>
                  <a:srgbClr val="000000"/>
                </a:solidFill>
                <a:effectLst/>
                <a:latin typeface="Consolas" panose="020B0609020204030204" pitchFamily="49" charset="0"/>
              </a:rPr>
              <a:t> + id)</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res.json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setEmployee</a:t>
            </a:r>
            <a:r>
              <a:rPr lang="en-IN" sz="1600" b="0" dirty="0">
                <a:solidFill>
                  <a:srgbClr val="000000"/>
                </a:solidFill>
                <a:effectLst/>
                <a:latin typeface="Consolas" panose="020B0609020204030204" pitchFamily="49" charset="0"/>
              </a:rPr>
              <a:t>(result);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 </a:t>
            </a:r>
            <a:r>
              <a:rPr lang="en-IN" sz="1600" dirty="0">
                <a:solidFill>
                  <a:srgbClr val="000000"/>
                </a:solidFill>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handeldel</a:t>
            </a:r>
            <a:r>
              <a:rPr lang="en-IN" sz="1600" b="0" dirty="0">
                <a:solidFill>
                  <a:srgbClr val="000000"/>
                </a:solidFill>
                <a:effectLst/>
                <a:latin typeface="Consolas" panose="020B0609020204030204" pitchFamily="49" charset="0"/>
              </a:rPr>
              <a:t> = (event)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fetch(</a:t>
            </a:r>
            <a:r>
              <a:rPr lang="en-IN" sz="1600" b="0" dirty="0">
                <a:solidFill>
                  <a:srgbClr val="A31515"/>
                </a:solidFill>
                <a:effectLst/>
                <a:latin typeface="Consolas" panose="020B0609020204030204" pitchFamily="49" charset="0"/>
              </a:rPr>
              <a:t>"https://localhost:7115/</a:t>
            </a:r>
            <a:r>
              <a:rPr lang="en-IN" sz="1600" b="0" dirty="0" err="1">
                <a:solidFill>
                  <a:srgbClr val="A31515"/>
                </a:solidFill>
                <a:effectLst/>
                <a:latin typeface="Consolas" panose="020B0609020204030204" pitchFamily="49" charset="0"/>
              </a:rPr>
              <a:t>api</a:t>
            </a:r>
            <a:r>
              <a:rPr lang="en-IN" sz="1600" b="0" dirty="0">
                <a:solidFill>
                  <a:srgbClr val="A31515"/>
                </a:solidFill>
                <a:effectLst/>
                <a:latin typeface="Consolas" panose="020B0609020204030204" pitchFamily="49" charset="0"/>
              </a:rPr>
              <a:t>/Employee/"</a:t>
            </a:r>
            <a:r>
              <a:rPr lang="en-IN" sz="1600" b="0" dirty="0">
                <a:solidFill>
                  <a:srgbClr val="000000"/>
                </a:solidFill>
                <a:effectLst/>
                <a:latin typeface="Consolas" panose="020B0609020204030204" pitchFamily="49" charset="0"/>
              </a:rPr>
              <a:t> + id, {</a:t>
            </a:r>
          </a:p>
          <a:p>
            <a:r>
              <a:rPr lang="en-IN" sz="1600" b="0" dirty="0">
                <a:solidFill>
                  <a:srgbClr val="000000"/>
                </a:solidFill>
                <a:effectLst/>
                <a:latin typeface="Consolas" panose="020B0609020204030204" pitchFamily="49" charset="0"/>
              </a:rPr>
              <a:t>            method: </a:t>
            </a:r>
            <a:r>
              <a:rPr lang="en-IN" sz="1600" b="0" dirty="0">
                <a:solidFill>
                  <a:srgbClr val="A31515"/>
                </a:solidFill>
                <a:effectLst/>
                <a:latin typeface="Consolas" panose="020B0609020204030204" pitchFamily="49" charset="0"/>
              </a:rPr>
              <a:t>'Delete'</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.then(res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res)</a:t>
            </a:r>
          </a:p>
          <a:p>
            <a:r>
              <a:rPr lang="en-IN" sz="1600" b="0" dirty="0">
                <a:solidFill>
                  <a:srgbClr val="000000"/>
                </a:solidFill>
                <a:effectLst/>
                <a:latin typeface="Consolas" panose="020B0609020204030204" pitchFamily="49" charset="0"/>
              </a:rPr>
              <a:t>            .then((result)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console.log(result)</a:t>
            </a:r>
          </a:p>
          <a:p>
            <a:r>
              <a:rPr lang="en-IN" sz="1600" b="0" dirty="0">
                <a:solidFill>
                  <a:srgbClr val="000000"/>
                </a:solidFill>
                <a:effectLst/>
                <a:latin typeface="Consolas" panose="020B0609020204030204" pitchFamily="49" charset="0"/>
              </a:rPr>
              <a:t>            }); </a:t>
            </a:r>
          </a:p>
          <a:p>
            <a:r>
              <a:rPr lang="en-IN" sz="1600" dirty="0">
                <a:solidFill>
                  <a:srgbClr val="000000"/>
                </a:solidFill>
                <a:latin typeface="Consolas" panose="020B0609020204030204" pitchFamily="49" charset="0"/>
              </a:rPr>
              <a:t> </a:t>
            </a:r>
            <a:r>
              <a:rPr lang="en-IN" sz="1600" dirty="0" err="1">
                <a:solidFill>
                  <a:srgbClr val="000000"/>
                </a:solidFill>
                <a:latin typeface="Consolas" panose="020B0609020204030204" pitchFamily="49" charset="0"/>
              </a:rPr>
              <a:t>event.preventDefault</a:t>
            </a:r>
            <a:r>
              <a:rPr lang="en-IN" sz="1600" dirty="0">
                <a:solidFill>
                  <a:srgbClr val="000000"/>
                </a:solidFill>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navigate(</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endParaRPr lang="en-IN" sz="16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8FC1ED0-FABC-4089-9E64-DD6C8B359A39}"/>
              </a:ext>
            </a:extLst>
          </p:cNvPr>
          <p:cNvSpPr txBox="1"/>
          <p:nvPr/>
        </p:nvSpPr>
        <p:spPr>
          <a:xfrm>
            <a:off x="6567948" y="0"/>
            <a:ext cx="5624052" cy="6740307"/>
          </a:xfrm>
          <a:prstGeom prst="rect">
            <a:avLst/>
          </a:prstGeom>
          <a:noFill/>
        </p:spPr>
        <p:txBody>
          <a:bodyPr wrap="square">
            <a:spAutoFit/>
          </a:bodyPr>
          <a:lstStyle/>
          <a:p>
            <a:br>
              <a:rPr lang="en-IN" sz="1800" b="0" dirty="0">
                <a:solidFill>
                  <a:srgbClr val="000000"/>
                </a:solidFill>
                <a:effectLst/>
                <a:latin typeface="Consolas" panose="020B0609020204030204" pitchFamily="49" charset="0"/>
              </a:rPr>
            </a:br>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return</a:t>
            </a:r>
            <a:r>
              <a:rPr lang="en-IN" sz="1800" b="0" dirty="0">
                <a:solidFill>
                  <a:srgbClr val="000000"/>
                </a:solidFill>
                <a:effectLst/>
                <a:latin typeface="Consolas" panose="020B0609020204030204" pitchFamily="49" charset="0"/>
              </a:rPr>
              <a:t> (</a:t>
            </a:r>
          </a:p>
          <a:p>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&lt;div&gt;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&lt;h1</a:t>
            </a:r>
            <a:r>
              <a:rPr lang="en-IN" sz="1800" b="0" dirty="0">
                <a:solidFill>
                  <a:srgbClr val="000000"/>
                </a:solidFill>
                <a:effectLst/>
                <a:latin typeface="Consolas" panose="020B0609020204030204" pitchFamily="49" charset="0"/>
              </a:rPr>
              <a:t> </a:t>
            </a:r>
            <a:r>
              <a:rPr lang="en-IN" sz="1800" b="0" dirty="0">
                <a:solidFill>
                  <a:srgbClr val="E50000"/>
                </a:solidFill>
                <a:effectLst/>
                <a:latin typeface="Consolas" panose="020B0609020204030204" pitchFamily="49" charset="0"/>
              </a:rPr>
              <a:t>style</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r>
              <a:rPr lang="en-IN" sz="1800" b="0" dirty="0" err="1">
                <a:solidFill>
                  <a:srgbClr val="000000"/>
                </a:solidFill>
                <a:effectLst/>
                <a:latin typeface="Consolas" panose="020B0609020204030204" pitchFamily="49" charset="0"/>
              </a:rPr>
              <a:t>color</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'red'</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&gt;</a:t>
            </a:r>
            <a:r>
              <a:rPr lang="en-IN" sz="1800" b="0" dirty="0">
                <a:solidFill>
                  <a:srgbClr val="000000"/>
                </a:solidFill>
                <a:effectLst/>
                <a:latin typeface="Consolas" panose="020B0609020204030204" pitchFamily="49" charset="0"/>
              </a:rPr>
              <a:t>R you sure</a:t>
            </a:r>
            <a:r>
              <a:rPr lang="en-IN" sz="1800" b="0" dirty="0">
                <a:solidFill>
                  <a:srgbClr val="800000"/>
                </a:solidFill>
                <a:effectLst/>
                <a:latin typeface="Consolas" panose="020B0609020204030204" pitchFamily="49" charset="0"/>
              </a:rPr>
              <a:t>&lt;/h1&gt;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a:solidFill>
                  <a:srgbClr val="000000"/>
                </a:solidFill>
                <a:effectLst/>
                <a:latin typeface="Consolas" panose="020B0609020204030204" pitchFamily="49" charset="0"/>
              </a:rPr>
              <a:t>Id:</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employee.id</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&lt;</a:t>
            </a:r>
            <a:r>
              <a:rPr lang="en-IN" sz="1800" b="0" dirty="0" err="1">
                <a:solidFill>
                  <a:srgbClr val="800000"/>
                </a:solidFill>
                <a:effectLst/>
                <a:latin typeface="Consolas" panose="020B0609020204030204" pitchFamily="49" charset="0"/>
              </a:rPr>
              <a:t>br</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a:solidFill>
                  <a:srgbClr val="000000"/>
                </a:solidFill>
                <a:effectLst/>
                <a:latin typeface="Consolas" panose="020B0609020204030204" pitchFamily="49" charset="0"/>
              </a:rPr>
              <a:t>name:</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employee.name</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&lt;</a:t>
            </a:r>
            <a:r>
              <a:rPr lang="en-IN" sz="1800" b="0" dirty="0" err="1">
                <a:solidFill>
                  <a:srgbClr val="800000"/>
                </a:solidFill>
                <a:effectLst/>
                <a:latin typeface="Consolas" panose="020B0609020204030204" pitchFamily="49" charset="0"/>
              </a:rPr>
              <a:t>br</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a:solidFill>
                  <a:srgbClr val="000000"/>
                </a:solidFill>
                <a:effectLst/>
                <a:latin typeface="Consolas" panose="020B0609020204030204" pitchFamily="49" charset="0"/>
              </a:rPr>
              <a:t>Email:</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employee.email</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&lt;</a:t>
            </a:r>
            <a:r>
              <a:rPr lang="en-IN" sz="1800" b="0" dirty="0" err="1">
                <a:solidFill>
                  <a:srgbClr val="800000"/>
                </a:solidFill>
                <a:effectLst/>
                <a:latin typeface="Consolas" panose="020B0609020204030204" pitchFamily="49" charset="0"/>
              </a:rPr>
              <a:t>br</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&lt;label&gt;</a:t>
            </a:r>
            <a:r>
              <a:rPr lang="en-IN" sz="1800" b="0" dirty="0" err="1">
                <a:solidFill>
                  <a:srgbClr val="000000"/>
                </a:solidFill>
                <a:effectLst/>
                <a:latin typeface="Consolas" panose="020B0609020204030204" pitchFamily="49" charset="0"/>
              </a:rPr>
              <a:t>Dpartment</a:t>
            </a:r>
            <a:r>
              <a:rPr lang="en-IN" sz="1800" b="0" dirty="0">
                <a:solidFill>
                  <a:srgbClr val="000000"/>
                </a:solidFill>
                <a:effectLst/>
                <a:latin typeface="Consolas" panose="020B0609020204030204" pitchFamily="49" charset="0"/>
              </a:rPr>
              <a:t>:</a:t>
            </a:r>
            <a:r>
              <a:rPr lang="en-IN" sz="1800" b="0" dirty="0">
                <a:solidFill>
                  <a:srgbClr val="800000"/>
                </a:solidFill>
                <a:effectLst/>
                <a:latin typeface="Consolas" panose="020B0609020204030204" pitchFamily="49" charset="0"/>
              </a:rPr>
              <a:t>&lt;/label&gt;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employee.department</a:t>
            </a:r>
            <a:r>
              <a:rPr lang="en-IN" sz="1800" b="0" dirty="0">
                <a:solidFill>
                  <a:srgbClr val="0000FF"/>
                </a:solidFill>
                <a:effectLst/>
                <a:latin typeface="Consolas" panose="020B0609020204030204" pitchFamily="49" charset="0"/>
              </a:rPr>
              <a: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&lt;form</a:t>
            </a:r>
            <a:r>
              <a:rPr lang="en-IN" sz="1800" b="0" dirty="0">
                <a:solidFill>
                  <a:srgbClr val="000000"/>
                </a:solidFill>
                <a:effectLst/>
                <a:latin typeface="Consolas" panose="020B0609020204030204" pitchFamily="49" charset="0"/>
              </a:rPr>
              <a:t> </a:t>
            </a:r>
            <a:r>
              <a:rPr lang="en-IN" sz="1800" b="0" dirty="0" err="1">
                <a:solidFill>
                  <a:srgbClr val="E50000"/>
                </a:solidFill>
                <a:effectLst/>
                <a:latin typeface="Consolas" panose="020B0609020204030204" pitchFamily="49" charset="0"/>
              </a:rPr>
              <a:t>onSubmit</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r>
              <a:rPr lang="en-IN" sz="1800" b="0" dirty="0" err="1">
                <a:solidFill>
                  <a:srgbClr val="000000"/>
                </a:solidFill>
                <a:effectLst/>
                <a:latin typeface="Consolas" panose="020B0609020204030204" pitchFamily="49" charset="0"/>
              </a:rPr>
              <a:t>handeldel</a:t>
            </a:r>
            <a:r>
              <a:rPr lang="en-IN" sz="1800" b="0" dirty="0">
                <a:solidFill>
                  <a:srgbClr val="0000FF"/>
                </a:solidFill>
                <a:effectLst/>
                <a:latin typeface="Consolas" panose="020B0609020204030204" pitchFamily="49" charset="0"/>
              </a:rPr>
              <a:t>}</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&lt;input</a:t>
            </a:r>
            <a:r>
              <a:rPr lang="en-IN" sz="1800" b="0" dirty="0">
                <a:solidFill>
                  <a:srgbClr val="000000"/>
                </a:solidFill>
                <a:effectLst/>
                <a:latin typeface="Consolas" panose="020B0609020204030204" pitchFamily="49" charset="0"/>
              </a:rPr>
              <a:t> </a:t>
            </a:r>
            <a:r>
              <a:rPr lang="en-IN" sz="1800" b="0" dirty="0">
                <a:solidFill>
                  <a:srgbClr val="E50000"/>
                </a:solidFill>
                <a:effectLst/>
                <a:latin typeface="Consolas" panose="020B0609020204030204" pitchFamily="49" charset="0"/>
              </a:rPr>
              <a:t>type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"submit"</a:t>
            </a:r>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&lt;/form&gt;</a:t>
            </a:r>
            <a:endParaRPr lang="en-IN" sz="1800" b="0" dirty="0">
              <a:solidFill>
                <a:srgbClr val="000000"/>
              </a:solidFill>
              <a:effectLst/>
              <a:latin typeface="Consolas" panose="020B0609020204030204" pitchFamily="49" charset="0"/>
            </a:endParaRPr>
          </a:p>
          <a:p>
            <a:r>
              <a:rPr lang="en-IN" sz="1800" b="0" dirty="0">
                <a:solidFill>
                  <a:srgbClr val="000000"/>
                </a:solidFill>
                <a:effectLst/>
                <a:latin typeface="Consolas" panose="020B0609020204030204" pitchFamily="49" charset="0"/>
              </a:rPr>
              <a:t>        </a:t>
            </a:r>
            <a:r>
              <a:rPr lang="en-IN" sz="1800" b="0" dirty="0">
                <a:solidFill>
                  <a:srgbClr val="800000"/>
                </a:solidFill>
                <a:effectLst/>
                <a:latin typeface="Consolas" panose="020B0609020204030204" pitchFamily="49" charset="0"/>
              </a:rPr>
              <a:t>&lt;/div&gt;</a:t>
            </a:r>
            <a:endParaRPr lang="en-IN" sz="1800" b="0" dirty="0">
              <a:solidFill>
                <a:srgbClr val="000000"/>
              </a:solidFill>
              <a:effectLst/>
              <a:latin typeface="Consolas" panose="020B0609020204030204" pitchFamily="49" charset="0"/>
            </a:endParaRPr>
          </a:p>
          <a:p>
            <a:br>
              <a:rPr lang="en-IN" sz="1800" b="0" dirty="0">
                <a:solidFill>
                  <a:srgbClr val="000000"/>
                </a:solidFill>
                <a:effectLst/>
                <a:latin typeface="Consolas" panose="020B0609020204030204" pitchFamily="49" charset="0"/>
              </a:rPr>
            </a:br>
            <a:r>
              <a:rPr lang="en-IN" sz="1800" b="0" dirty="0">
                <a:solidFill>
                  <a:srgbClr val="000000"/>
                </a:solidFill>
                <a:effectLst/>
                <a:latin typeface="Consolas" panose="020B0609020204030204" pitchFamily="49" charset="0"/>
              </a:rPr>
              <a:t>    );</a:t>
            </a:r>
          </a:p>
          <a:p>
            <a:r>
              <a:rPr lang="en-IN" sz="1800" b="0" dirty="0">
                <a:solidFill>
                  <a:srgbClr val="000000"/>
                </a:solidFill>
                <a:effectLst/>
                <a:latin typeface="Consolas" panose="020B0609020204030204" pitchFamily="49" charset="0"/>
              </a:rPr>
              <a:t>}</a:t>
            </a:r>
          </a:p>
          <a:p>
            <a:r>
              <a:rPr lang="en-IN" sz="1800" b="0" dirty="0">
                <a:solidFill>
                  <a:srgbClr val="0000FF"/>
                </a:solidFill>
                <a:effectLst/>
                <a:latin typeface="Consolas" panose="020B0609020204030204" pitchFamily="49" charset="0"/>
              </a:rPr>
              <a:t>export</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default</a:t>
            </a:r>
            <a:r>
              <a:rPr lang="en-IN" sz="1800" b="0" dirty="0">
                <a:solidFill>
                  <a:srgbClr val="000000"/>
                </a:solidFill>
                <a:effectLst/>
                <a:latin typeface="Consolas" panose="020B0609020204030204" pitchFamily="49" charset="0"/>
              </a:rPr>
              <a:t> </a:t>
            </a:r>
            <a:r>
              <a:rPr lang="en-IN" sz="1800" b="0" dirty="0" err="1">
                <a:solidFill>
                  <a:srgbClr val="000000"/>
                </a:solidFill>
                <a:effectLst/>
                <a:latin typeface="Consolas" panose="020B0609020204030204" pitchFamily="49" charset="0"/>
              </a:rPr>
              <a:t>Employeedel</a:t>
            </a:r>
            <a:r>
              <a:rPr lang="en-IN" sz="1800" b="0" dirty="0">
                <a:solidFill>
                  <a:srgbClr val="000000"/>
                </a:solidFill>
                <a:effectLst/>
                <a:latin typeface="Consolas" panose="020B0609020204030204" pitchFamily="49" charset="0"/>
              </a:rPr>
              <a:t>;</a:t>
            </a:r>
          </a:p>
          <a:p>
            <a:endParaRPr lang="en-IN" sz="18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886215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5D7FC8-C981-4B15-3964-E6505F371F64}"/>
              </a:ext>
            </a:extLst>
          </p:cNvPr>
          <p:cNvSpPr txBox="1"/>
          <p:nvPr/>
        </p:nvSpPr>
        <p:spPr>
          <a:xfrm>
            <a:off x="9541933" y="0"/>
            <a:ext cx="2844800" cy="369332"/>
          </a:xfrm>
          <a:prstGeom prst="rect">
            <a:avLst/>
          </a:prstGeom>
          <a:noFill/>
        </p:spPr>
        <p:txBody>
          <a:bodyPr wrap="square" rtlCol="0">
            <a:spAutoFit/>
          </a:bodyPr>
          <a:lstStyle/>
          <a:p>
            <a:r>
              <a:rPr lang="en-IN" dirty="0">
                <a:solidFill>
                  <a:srgbClr val="FF0000"/>
                </a:solidFill>
                <a:highlight>
                  <a:srgbClr val="FFFF00"/>
                </a:highlight>
              </a:rPr>
              <a:t>Best Practice</a:t>
            </a:r>
          </a:p>
        </p:txBody>
      </p:sp>
      <p:sp>
        <p:nvSpPr>
          <p:cNvPr id="6" name="TextBox 5">
            <a:extLst>
              <a:ext uri="{FF2B5EF4-FFF2-40B4-BE49-F238E27FC236}">
                <a16:creationId xmlns:a16="http://schemas.microsoft.com/office/drawing/2014/main" id="{DE2CB94D-06EA-53D1-2AC1-48491D4F5E04}"/>
              </a:ext>
            </a:extLst>
          </p:cNvPr>
          <p:cNvSpPr txBox="1"/>
          <p:nvPr/>
        </p:nvSpPr>
        <p:spPr>
          <a:xfrm>
            <a:off x="33868" y="0"/>
            <a:ext cx="9160932" cy="6463308"/>
          </a:xfrm>
          <a:prstGeom prst="rect">
            <a:avLst/>
          </a:prstGeom>
          <a:noFill/>
        </p:spPr>
        <p:txBody>
          <a:bodyPr wrap="square">
            <a:spAutoFit/>
          </a:bodyPr>
          <a:lstStyle/>
          <a:p>
            <a:pPr>
              <a:buNone/>
            </a:pPr>
            <a:r>
              <a:rPr lang="en-IN" b="0" dirty="0">
                <a:solidFill>
                  <a:srgbClr val="AF00DB"/>
                </a:solidFill>
                <a:effectLst/>
                <a:latin typeface="Consolas" panose="020B0609020204030204" pitchFamily="49" charset="0"/>
              </a:rPr>
              <a:t>import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React</a:t>
            </a:r>
            <a:r>
              <a:rPr lang="en-IN" b="0" dirty="0">
                <a:solidFill>
                  <a:srgbClr val="3B3B3B"/>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useState</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useEffect</a:t>
            </a: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3B3B3B"/>
                </a:solidFill>
                <a:effectLst/>
                <a:latin typeface="Consolas" panose="020B0609020204030204" pitchFamily="49" charset="0"/>
              </a:rPr>
              <a:t>;</a:t>
            </a:r>
          </a:p>
          <a:p>
            <a:pPr>
              <a:buNone/>
            </a:pPr>
            <a:r>
              <a:rPr lang="en-IN" b="0" dirty="0">
                <a:solidFill>
                  <a:srgbClr val="AF00DB"/>
                </a:solidFill>
                <a:effectLst/>
                <a:latin typeface="Consolas" panose="020B0609020204030204" pitchFamily="49" charset="0"/>
              </a:rPr>
              <a:t>import</a:t>
            </a:r>
            <a:r>
              <a:rPr lang="en-IN" b="0" dirty="0">
                <a:solidFill>
                  <a:srgbClr val="3B3B3B"/>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useParams</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useNavigate</a:t>
            </a: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"react-router-</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p>
          <a:p>
            <a:pPr>
              <a:buNone/>
            </a:pPr>
            <a:br>
              <a:rPr lang="en-IN" b="0" dirty="0">
                <a:solidFill>
                  <a:srgbClr val="3B3B3B"/>
                </a:solidFill>
                <a:effectLst/>
                <a:latin typeface="Consolas" panose="020B0609020204030204" pitchFamily="49" charset="0"/>
              </a:rPr>
            </a:br>
            <a:r>
              <a:rPr lang="en-IN" b="0" dirty="0">
                <a:solidFill>
                  <a:srgbClr val="AF00DB"/>
                </a:solidFill>
                <a:effectLst/>
                <a:latin typeface="Consolas" panose="020B0609020204030204" pitchFamily="49" charset="0"/>
              </a:rPr>
              <a:t>export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Employeedel</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employee</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setEmployee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useState</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email:</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department:</a:t>
            </a:r>
            <a:r>
              <a:rPr lang="en-IN" b="0" dirty="0">
                <a:solidFill>
                  <a:srgbClr val="3B3B3B"/>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loading</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setLoading</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useState</a:t>
            </a:r>
            <a:r>
              <a:rPr lang="en-IN" b="0" dirty="0">
                <a:solidFill>
                  <a:srgbClr val="3B3B3B"/>
                </a:solidFill>
                <a:effectLst/>
                <a:latin typeface="Consolas" panose="020B0609020204030204" pitchFamily="49" charset="0"/>
              </a:rPr>
              <a:t>(</a:t>
            </a:r>
            <a:r>
              <a:rPr lang="en-IN" b="0" dirty="0">
                <a:solidFill>
                  <a:srgbClr val="0000FF"/>
                </a:solidFill>
                <a:effectLst/>
                <a:latin typeface="Consolas" panose="020B0609020204030204" pitchFamily="49" charset="0"/>
              </a:rPr>
              <a:t>true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 </a:t>
            </a:r>
            <a:r>
              <a:rPr lang="en-IN" b="0" dirty="0">
                <a:solidFill>
                  <a:srgbClr val="0070C1"/>
                </a:solidFill>
                <a:effectLst/>
                <a:latin typeface="Consolas" panose="020B0609020204030204" pitchFamily="49" charset="0"/>
              </a:rPr>
              <a:t>id</a:t>
            </a:r>
            <a:r>
              <a:rPr lang="en-IN" b="0" dirty="0">
                <a:solidFill>
                  <a:srgbClr val="3B3B3B"/>
                </a:solidFill>
                <a:effectLst/>
                <a:latin typeface="Consolas" panose="020B0609020204030204" pitchFamily="49" charset="0"/>
              </a:rPr>
              <a:t> }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useParams</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navigate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useNavigate</a:t>
            </a:r>
            <a:r>
              <a:rPr lang="en-IN" b="0" dirty="0">
                <a:solidFill>
                  <a:srgbClr val="3B3B3B"/>
                </a:solidFill>
                <a:effectLst/>
                <a:latin typeface="Consolas" panose="020B0609020204030204" pitchFamily="49" charset="0"/>
              </a:rPr>
              <a:t>();</a:t>
            </a: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a:solidFill>
                  <a:srgbClr val="008000"/>
                </a:solidFill>
                <a:effectLst/>
                <a:latin typeface="Consolas" panose="020B0609020204030204" pitchFamily="49" charset="0"/>
              </a:rPr>
              <a:t>// Fetch employee details</a:t>
            </a: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useEffect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controller</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AbortController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fetchEmployee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fetch</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`https://localhost:7115/</a:t>
            </a:r>
            <a:r>
              <a:rPr lang="en-IN" b="0" dirty="0" err="1">
                <a:solidFill>
                  <a:srgbClr val="A31515"/>
                </a:solidFill>
                <a:effectLst/>
                <a:latin typeface="Consolas" panose="020B0609020204030204" pitchFamily="49" charset="0"/>
              </a:rPr>
              <a:t>api</a:t>
            </a:r>
            <a:r>
              <a:rPr lang="en-IN" b="0" dirty="0">
                <a:solidFill>
                  <a:srgbClr val="A31515"/>
                </a:solidFill>
                <a:effectLst/>
                <a:latin typeface="Consolas" panose="020B0609020204030204" pitchFamily="49" charset="0"/>
              </a:rPr>
              <a:t>/Employee/</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id</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signal:</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controller</a:t>
            </a:r>
            <a:r>
              <a:rPr lang="en-IN" b="0" dirty="0" err="1">
                <a:solidFill>
                  <a:srgbClr val="3B3B3B"/>
                </a:solidFill>
                <a:effectLst/>
                <a:latin typeface="Consolas" panose="020B0609020204030204" pitchFamily="49" charset="0"/>
              </a:rPr>
              <a:t>.</a:t>
            </a:r>
            <a:r>
              <a:rPr lang="en-IN" b="0" dirty="0" err="1">
                <a:solidFill>
                  <a:srgbClr val="0070C1"/>
                </a:solidFill>
                <a:effectLst/>
                <a:latin typeface="Consolas" panose="020B0609020204030204" pitchFamily="49" charset="0"/>
              </a:rPr>
              <a:t>signal</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0070C1"/>
                </a:solidFill>
                <a:effectLst/>
                <a:latin typeface="Consolas" panose="020B0609020204030204" pitchFamily="49" charset="0"/>
              </a:rPr>
              <a:t>ok</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throw</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3B3B3B"/>
                </a:solidFill>
                <a:effectLst/>
                <a:latin typeface="Consolas" panose="020B0609020204030204" pitchFamily="49" charset="0"/>
              </a:rPr>
              <a:t> </a:t>
            </a:r>
            <a:r>
              <a:rPr lang="en-IN" b="0" dirty="0">
                <a:solidFill>
                  <a:srgbClr val="267F99"/>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"Failed to fetch employee"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data</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795E26"/>
                </a:solidFill>
                <a:effectLst/>
                <a:latin typeface="Consolas" panose="020B0609020204030204" pitchFamily="49" charset="0"/>
              </a:rPr>
              <a:t>setEmployee</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data</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38237127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E41C67-CCD7-60A3-11C2-0183853D1BF8}"/>
              </a:ext>
            </a:extLst>
          </p:cNvPr>
          <p:cNvSpPr txBox="1"/>
          <p:nvPr/>
        </p:nvSpPr>
        <p:spPr>
          <a:xfrm>
            <a:off x="228599" y="0"/>
            <a:ext cx="10981267" cy="67710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name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AbortError</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"Error fetching employee details"</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finally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setLoading</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false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fetchEmployee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Cleanup: abort fetch if component unmounts</a:t>
            </a: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controller</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abort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handleDelete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async</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event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preventDefault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confirmDelete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window</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confirm</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"Are you sure you want to delete this employee?"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confirmDelete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try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await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fetch</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`https://localhost:7115/</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api</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/Employee/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method:</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"DELETE"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if</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response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ok</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throw</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"Failed to delete employee"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b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br>
            <a:endPar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"Employee deleted successfully"</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navigate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catch</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error</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alert</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"Error deleting employee"</a:t>
            </a: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p:txBody>
      </p:sp>
    </p:spTree>
    <p:extLst>
      <p:ext uri="{BB962C8B-B14F-4D97-AF65-F5344CB8AC3E}">
        <p14:creationId xmlns:p14="http://schemas.microsoft.com/office/powerpoint/2010/main" val="28687887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ABB4CC-D966-BE54-1B60-7A376C0B0EB4}"/>
              </a:ext>
            </a:extLst>
          </p:cNvPr>
          <p:cNvSpPr txBox="1"/>
          <p:nvPr/>
        </p:nvSpPr>
        <p:spPr>
          <a:xfrm>
            <a:off x="87198" y="99710"/>
            <a:ext cx="6094428" cy="7232749"/>
          </a:xfrm>
          <a:prstGeom prst="rect">
            <a:avLst/>
          </a:prstGeom>
          <a:solidFill>
            <a:schemeClr val="tx1"/>
          </a:solidFill>
        </p:spPr>
        <p:txBody>
          <a:bodyPr wrap="square">
            <a:spAutoFit/>
          </a:bodyPr>
          <a:lstStyle/>
          <a:p>
            <a:r>
              <a:rPr lang="en-IN" sz="1600" b="0" dirty="0">
                <a:solidFill>
                  <a:srgbClr val="C586C0"/>
                </a:solidFill>
                <a:effectLst/>
                <a:latin typeface="Consolas" panose="020B0609020204030204" pitchFamily="49" charset="0"/>
              </a:rPr>
              <a:t>import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useState</a:t>
            </a:r>
            <a:r>
              <a:rPr lang="en-IN" sz="1600" b="0" dirty="0">
                <a:solidFill>
                  <a:srgbClr val="D4D4D4"/>
                </a:solidFill>
                <a:effectLst/>
                <a:latin typeface="Consolas" panose="020B0609020204030204" pitchFamily="49" charset="0"/>
              </a:rPr>
              <a:t> } </a:t>
            </a:r>
            <a:r>
              <a:rPr lang="en-IN" sz="1600" b="0" dirty="0">
                <a:solidFill>
                  <a:srgbClr val="C586C0"/>
                </a:solidFill>
                <a:effectLst/>
                <a:latin typeface="Consolas" panose="020B0609020204030204" pitchFamily="49" charset="0"/>
              </a:rPr>
              <a:t>from</a:t>
            </a:r>
            <a:r>
              <a:rPr lang="en-IN" sz="1600" b="0" dirty="0">
                <a:solidFill>
                  <a:srgbClr val="D4D4D4"/>
                </a:solidFill>
                <a:effectLst/>
                <a:latin typeface="Consolas" panose="020B0609020204030204" pitchFamily="49" charset="0"/>
              </a:rPr>
              <a:t> </a:t>
            </a:r>
            <a:r>
              <a:rPr lang="en-IN" sz="1600" b="0" dirty="0">
                <a:solidFill>
                  <a:srgbClr val="CE9178"/>
                </a:solidFill>
                <a:effectLst/>
                <a:latin typeface="Consolas" panose="020B0609020204030204" pitchFamily="49" charset="0"/>
              </a:rPr>
              <a:t>"react"</a:t>
            </a:r>
            <a:r>
              <a:rPr lang="en-IN" sz="1600" b="0" dirty="0">
                <a:solidFill>
                  <a:srgbClr val="D4D4D4"/>
                </a:solidFill>
                <a:effectLst/>
                <a:latin typeface="Consolas" panose="020B0609020204030204" pitchFamily="49" charset="0"/>
              </a:rPr>
              <a:t>;</a:t>
            </a:r>
          </a:p>
          <a:p>
            <a:r>
              <a:rPr lang="en-IN" sz="1600" b="0" dirty="0">
                <a:solidFill>
                  <a:srgbClr val="C586C0"/>
                </a:solidFill>
                <a:effectLst/>
                <a:latin typeface="Consolas" panose="020B0609020204030204" pitchFamily="49" charset="0"/>
              </a:rPr>
              <a:t>import</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Outlet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Link</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useNavigate</a:t>
            </a:r>
            <a:r>
              <a:rPr lang="en-IN" sz="1600" b="0" dirty="0">
                <a:solidFill>
                  <a:srgbClr val="D4D4D4"/>
                </a:solidFill>
                <a:effectLst/>
                <a:latin typeface="Consolas" panose="020B0609020204030204" pitchFamily="49" charset="0"/>
              </a:rPr>
              <a:t> } </a:t>
            </a:r>
            <a:r>
              <a:rPr lang="en-IN" sz="1600" b="0" dirty="0">
                <a:solidFill>
                  <a:srgbClr val="C586C0"/>
                </a:solidFill>
                <a:effectLst/>
                <a:latin typeface="Consolas" panose="020B0609020204030204" pitchFamily="49" charset="0"/>
              </a:rPr>
              <a:t>from</a:t>
            </a:r>
            <a:r>
              <a:rPr lang="en-IN" sz="1600" b="0" dirty="0">
                <a:solidFill>
                  <a:srgbClr val="D4D4D4"/>
                </a:solidFill>
                <a:effectLst/>
                <a:latin typeface="Consolas" panose="020B0609020204030204" pitchFamily="49" charset="0"/>
              </a:rPr>
              <a:t> </a:t>
            </a:r>
            <a:r>
              <a:rPr lang="en-IN" sz="1600" b="0" dirty="0">
                <a:solidFill>
                  <a:srgbClr val="CE9178"/>
                </a:solidFill>
                <a:effectLst/>
                <a:latin typeface="Consolas" panose="020B0609020204030204" pitchFamily="49" charset="0"/>
              </a:rPr>
              <a:t>"react-router-</a:t>
            </a:r>
            <a:r>
              <a:rPr lang="en-IN" sz="1600" b="0" dirty="0" err="1">
                <a:solidFill>
                  <a:srgbClr val="CE9178"/>
                </a:solidFill>
                <a:effectLst/>
                <a:latin typeface="Consolas" panose="020B0609020204030204" pitchFamily="49" charset="0"/>
              </a:rPr>
              <a:t>dom</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br>
              <a:rPr lang="en-IN" sz="1600" b="0" dirty="0">
                <a:solidFill>
                  <a:srgbClr val="D4D4D4"/>
                </a:solidFill>
                <a:effectLst/>
                <a:latin typeface="Consolas" panose="020B0609020204030204" pitchFamily="49" charset="0"/>
              </a:rPr>
            </a:br>
            <a:r>
              <a:rPr lang="en-IN" sz="1600" b="0" dirty="0">
                <a:solidFill>
                  <a:srgbClr val="D4D4D4"/>
                </a:solidFill>
                <a:effectLst/>
                <a:latin typeface="Consolas" panose="020B0609020204030204" pitchFamily="49" charset="0"/>
              </a:rPr>
              <a:t>  </a:t>
            </a:r>
          </a:p>
          <a:p>
            <a:r>
              <a:rPr lang="en-IN" sz="1600" b="0" dirty="0">
                <a:solidFill>
                  <a:srgbClr val="569CD6"/>
                </a:solidFill>
                <a:effectLst/>
                <a:latin typeface="Consolas" panose="020B0609020204030204" pitchFamily="49" charset="0"/>
              </a:rPr>
              <a:t>function</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App</a:t>
            </a:r>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err="1">
                <a:solidFill>
                  <a:srgbClr val="4FC1FF"/>
                </a:solidFill>
                <a:effectLst/>
                <a:latin typeface="Consolas" panose="020B0609020204030204" pitchFamily="49" charset="0"/>
              </a:rPr>
              <a:t>isloggedin</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setLoggedin</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useState</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null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err="1">
                <a:solidFill>
                  <a:srgbClr val="4FC1FF"/>
                </a:solidFill>
                <a:effectLst/>
                <a:latin typeface="Consolas" panose="020B0609020204030204" pitchFamily="49" charset="0"/>
              </a:rPr>
              <a:t>readval</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setVal</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useState</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 "</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handeldata</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event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=&gt;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setVal</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event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target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value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navigate</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useNavigate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check</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event</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=&gt;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event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target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value</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LoggedIn</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569CD6"/>
                </a:solidFill>
                <a:effectLst/>
                <a:latin typeface="Consolas" panose="020B0609020204030204" pitchFamily="49" charset="0"/>
              </a:rPr>
              <a:t>const</a:t>
            </a:r>
            <a:r>
              <a:rPr lang="en-IN" sz="1600" b="0" dirty="0">
                <a:solidFill>
                  <a:srgbClr val="D4D4D4"/>
                </a:solidFill>
                <a:effectLst/>
                <a:latin typeface="Consolas" panose="020B0609020204030204" pitchFamily="49" charset="0"/>
              </a:rPr>
              <a:t> </a:t>
            </a:r>
            <a:r>
              <a:rPr lang="en-IN" sz="1600" b="0" dirty="0">
                <a:solidFill>
                  <a:srgbClr val="4FC1FF"/>
                </a:solidFill>
                <a:effectLst/>
                <a:latin typeface="Consolas" panose="020B0609020204030204" pitchFamily="49" charset="0"/>
              </a:rPr>
              <a:t>data</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readval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sessionStorage</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setItem</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"key"</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JSON</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stringify</a:t>
            </a:r>
            <a:r>
              <a:rPr lang="en-IN" sz="1600" b="0" dirty="0">
                <a:solidFill>
                  <a:srgbClr val="D4D4D4"/>
                </a:solidFill>
                <a:effectLst/>
                <a:latin typeface="Consolas" panose="020B0609020204030204" pitchFamily="49" charset="0"/>
              </a:rPr>
              <a:t>(</a:t>
            </a:r>
            <a:r>
              <a:rPr lang="en-IN" sz="1600" b="0" dirty="0">
                <a:solidFill>
                  <a:srgbClr val="4FC1FF"/>
                </a:solidFill>
                <a:effectLst/>
                <a:latin typeface="Consolas" panose="020B0609020204030204" pitchFamily="49" charset="0"/>
              </a:rPr>
              <a:t>data</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setVal</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 "</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setLoggedin</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true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else</a:t>
            </a:r>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sessionStorage</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setItem</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"key"</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DCDCAA"/>
                </a:solidFill>
                <a:effectLst/>
                <a:latin typeface="Consolas" panose="020B0609020204030204" pitchFamily="49" charset="0"/>
              </a:rPr>
              <a:t>setLoggedin</a:t>
            </a:r>
            <a:r>
              <a:rPr lang="en-IN" sz="1600" b="0" dirty="0">
                <a:solidFill>
                  <a:srgbClr val="D4D4D4"/>
                </a:solidFill>
                <a:effectLst/>
                <a:latin typeface="Consolas" panose="020B0609020204030204" pitchFamily="49" charset="0"/>
              </a:rPr>
              <a:t>(</a:t>
            </a:r>
            <a:r>
              <a:rPr lang="en-IN" sz="1600" b="0" dirty="0">
                <a:solidFill>
                  <a:srgbClr val="569CD6"/>
                </a:solidFill>
                <a:effectLst/>
                <a:latin typeface="Consolas" panose="020B0609020204030204" pitchFamily="49" charset="0"/>
              </a:rPr>
              <a:t>false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navigate</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D3AEE6C2-C44E-B133-D388-BB2CD56E5B16}"/>
              </a:ext>
            </a:extLst>
          </p:cNvPr>
          <p:cNvSpPr txBox="1"/>
          <p:nvPr/>
        </p:nvSpPr>
        <p:spPr>
          <a:xfrm>
            <a:off x="6346597" y="37707"/>
            <a:ext cx="6094428" cy="7879080"/>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div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nav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ul</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to</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to</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Contactus</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Contactus</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to</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Listproduct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Listproduct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Link</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li</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ul</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nav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span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input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type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"text"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4FC1FF"/>
                </a:solidFill>
                <a:effectLst/>
                <a:uLnTx/>
                <a:uFillTx/>
                <a:latin typeface="Consolas" panose="020B0609020204030204" pitchFamily="49" charset="0"/>
                <a:ea typeface="+mn-ea"/>
                <a:cs typeface="+mn-cs"/>
              </a:rPr>
              <a:t>readval</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onInput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handeldata</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span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4FC1FF"/>
                </a:solidFill>
                <a:effectLst/>
                <a:uLnTx/>
                <a:uFillTx/>
                <a:latin typeface="Consolas" panose="020B0609020204030204" pitchFamily="49" charset="0"/>
                <a:ea typeface="+mn-ea"/>
                <a:cs typeface="+mn-cs"/>
              </a:rPr>
              <a:t>isloggedin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onClick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check</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LoggedOut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LoggedOut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onClick</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check</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value</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LoggedIn</a:t>
            </a:r>
            <a:r>
              <a:rPr kumimoji="0" lang="en-IN" sz="16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err="1">
                <a:ln>
                  <a:noFill/>
                </a:ln>
                <a:solidFill>
                  <a:srgbClr val="D4D4D4"/>
                </a:solidFill>
                <a:effectLst/>
                <a:uLnTx/>
                <a:uFillTx/>
                <a:latin typeface="Consolas" panose="020B0609020204030204" pitchFamily="49" charset="0"/>
                <a:ea typeface="+mn-ea"/>
                <a:cs typeface="+mn-cs"/>
              </a:rPr>
              <a:t>LoggedIn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button</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Outlet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div</a:t>
            </a:r>
            <a:r>
              <a:rPr kumimoji="0" lang="en-IN" sz="1600" b="0" i="0" u="none" strike="noStrike" kern="1200" cap="none" spc="0" normalizeH="0" baseline="0" noProof="0" dirty="0">
                <a:ln>
                  <a:noFill/>
                </a:ln>
                <a:solidFill>
                  <a:srgbClr val="80808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export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default</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App</a:t>
            </a:r>
            <a: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br>
            <a:endParaRPr lang="en-IN" dirty="0"/>
          </a:p>
        </p:txBody>
      </p:sp>
    </p:spTree>
    <p:extLst>
      <p:ext uri="{BB962C8B-B14F-4D97-AF65-F5344CB8AC3E}">
        <p14:creationId xmlns:p14="http://schemas.microsoft.com/office/powerpoint/2010/main" val="9149777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345CEF-38AC-F666-EC47-0AB01A39B3D9}"/>
              </a:ext>
            </a:extLst>
          </p:cNvPr>
          <p:cNvSpPr txBox="1"/>
          <p:nvPr/>
        </p:nvSpPr>
        <p:spPr>
          <a:xfrm>
            <a:off x="285162" y="182367"/>
            <a:ext cx="5540603" cy="5755422"/>
          </a:xfrm>
          <a:prstGeom prst="rect">
            <a:avLst/>
          </a:prstGeom>
          <a:noFill/>
        </p:spPr>
        <p:txBody>
          <a:bodyPr wrap="square">
            <a:spAutoFit/>
          </a:bodyPr>
          <a:lstStyle/>
          <a:p>
            <a:r>
              <a:rPr lang="en-IN" sz="1600" dirty="0"/>
              <a:t>import React from 'react';</a:t>
            </a:r>
          </a:p>
          <a:p>
            <a:r>
              <a:rPr lang="en-IN" sz="1600" dirty="0"/>
              <a:t>import { </a:t>
            </a:r>
            <a:r>
              <a:rPr lang="en-IN" sz="1600" dirty="0" err="1"/>
              <a:t>useState</a:t>
            </a:r>
            <a:r>
              <a:rPr lang="en-IN" sz="1600" dirty="0"/>
              <a:t>, </a:t>
            </a:r>
            <a:r>
              <a:rPr lang="en-IN" sz="1600" dirty="0" err="1"/>
              <a:t>useEffect</a:t>
            </a:r>
            <a:r>
              <a:rPr lang="en-IN" sz="1600" dirty="0"/>
              <a:t> } from "react";</a:t>
            </a:r>
          </a:p>
          <a:p>
            <a:r>
              <a:rPr lang="en-IN" sz="1600" dirty="0"/>
              <a:t>import { </a:t>
            </a:r>
            <a:r>
              <a:rPr lang="en-IN" sz="1600" dirty="0" err="1"/>
              <a:t>useNavigate</a:t>
            </a:r>
            <a:r>
              <a:rPr lang="en-IN" sz="1600" dirty="0"/>
              <a:t> } from 'react-router-</a:t>
            </a:r>
            <a:r>
              <a:rPr lang="en-IN" sz="1600" dirty="0" err="1"/>
              <a:t>dom</a:t>
            </a:r>
            <a:r>
              <a:rPr lang="en-IN" sz="1600" dirty="0"/>
              <a:t>';</a:t>
            </a:r>
          </a:p>
          <a:p>
            <a:r>
              <a:rPr lang="en-IN" sz="1600" dirty="0"/>
              <a:t>export function </a:t>
            </a:r>
            <a:r>
              <a:rPr lang="en-IN" sz="1600" dirty="0" err="1"/>
              <a:t>Listproduct</a:t>
            </a:r>
            <a:r>
              <a:rPr lang="en-IN" sz="1600" dirty="0"/>
              <a:t>(props) {</a:t>
            </a:r>
          </a:p>
          <a:p>
            <a:endParaRPr lang="en-IN" sz="1600" dirty="0"/>
          </a:p>
          <a:p>
            <a:r>
              <a:rPr lang="en-IN" sz="1600" dirty="0"/>
              <a:t>    </a:t>
            </a:r>
            <a:r>
              <a:rPr lang="en-IN" sz="1600" dirty="0" err="1"/>
              <a:t>const</a:t>
            </a:r>
            <a:r>
              <a:rPr lang="en-IN" sz="1600" dirty="0"/>
              <a:t> [products, </a:t>
            </a:r>
            <a:r>
              <a:rPr lang="en-IN" sz="1600" dirty="0" err="1"/>
              <a:t>setProduct</a:t>
            </a:r>
            <a:r>
              <a:rPr lang="en-IN" sz="1600" dirty="0"/>
              <a:t>] = </a:t>
            </a:r>
            <a:r>
              <a:rPr lang="en-IN" sz="1600" dirty="0" err="1"/>
              <a:t>useState</a:t>
            </a:r>
            <a:r>
              <a:rPr lang="en-IN" sz="1600" dirty="0"/>
              <a:t>([]);</a:t>
            </a:r>
          </a:p>
          <a:p>
            <a:r>
              <a:rPr lang="en-IN" sz="1600" dirty="0">
                <a:highlight>
                  <a:srgbClr val="FFFF00"/>
                </a:highlight>
              </a:rPr>
              <a:t>    </a:t>
            </a:r>
            <a:r>
              <a:rPr lang="en-IN" sz="1600" dirty="0" err="1">
                <a:highlight>
                  <a:srgbClr val="FFFF00"/>
                </a:highlight>
              </a:rPr>
              <a:t>const</a:t>
            </a:r>
            <a:r>
              <a:rPr lang="en-IN" sz="1600" dirty="0">
                <a:highlight>
                  <a:srgbClr val="FFFF00"/>
                </a:highlight>
              </a:rPr>
              <a:t> </a:t>
            </a:r>
            <a:r>
              <a:rPr lang="en-IN" sz="1600" dirty="0" err="1">
                <a:highlight>
                  <a:srgbClr val="FFFF00"/>
                </a:highlight>
              </a:rPr>
              <a:t>chks</a:t>
            </a:r>
            <a:r>
              <a:rPr lang="en-IN" sz="1600" dirty="0">
                <a:highlight>
                  <a:srgbClr val="FFFF00"/>
                </a:highlight>
              </a:rPr>
              <a:t>=</a:t>
            </a:r>
            <a:r>
              <a:rPr lang="en-IN" sz="1600" dirty="0" err="1">
                <a:highlight>
                  <a:srgbClr val="FFFF00"/>
                </a:highlight>
              </a:rPr>
              <a:t>sessionStorage.getItem</a:t>
            </a:r>
            <a:r>
              <a:rPr lang="en-IN" sz="1600" dirty="0">
                <a:highlight>
                  <a:srgbClr val="FFFF00"/>
                </a:highlight>
              </a:rPr>
              <a:t>("key");</a:t>
            </a:r>
          </a:p>
          <a:p>
            <a:r>
              <a:rPr lang="en-IN" sz="1600" dirty="0">
                <a:highlight>
                  <a:srgbClr val="FFFF00"/>
                </a:highlight>
              </a:rPr>
              <a:t>    let navigate = </a:t>
            </a:r>
            <a:r>
              <a:rPr lang="en-IN" sz="1600" dirty="0" err="1">
                <a:highlight>
                  <a:srgbClr val="FFFF00"/>
                </a:highlight>
              </a:rPr>
              <a:t>useNavigate</a:t>
            </a:r>
            <a:r>
              <a:rPr lang="en-IN" sz="1600" dirty="0">
                <a:highlight>
                  <a:srgbClr val="FFFF00"/>
                </a:highlight>
              </a:rPr>
              <a:t>();     </a:t>
            </a:r>
          </a:p>
          <a:p>
            <a:r>
              <a:rPr lang="en-IN" sz="1600" dirty="0">
                <a:highlight>
                  <a:srgbClr val="FFFF00"/>
                </a:highlight>
              </a:rPr>
              <a:t>    </a:t>
            </a:r>
            <a:r>
              <a:rPr lang="en-IN" sz="1600" dirty="0" err="1">
                <a:highlight>
                  <a:srgbClr val="FFFF00"/>
                </a:highlight>
              </a:rPr>
              <a:t>useEffect</a:t>
            </a:r>
            <a:r>
              <a:rPr lang="en-IN" sz="1600" dirty="0">
                <a:highlight>
                  <a:srgbClr val="FFFF00"/>
                </a:highlight>
              </a:rPr>
              <a:t>(() =&gt; {</a:t>
            </a:r>
          </a:p>
          <a:p>
            <a:r>
              <a:rPr lang="en-IN" sz="1600" dirty="0">
                <a:highlight>
                  <a:srgbClr val="FFFF00"/>
                </a:highlight>
              </a:rPr>
              <a:t>      if(</a:t>
            </a:r>
            <a:r>
              <a:rPr lang="en-IN" sz="1600" dirty="0" err="1">
                <a:highlight>
                  <a:srgbClr val="FFFF00"/>
                </a:highlight>
              </a:rPr>
              <a:t>chks</a:t>
            </a:r>
            <a:r>
              <a:rPr lang="en-IN" sz="1600" dirty="0">
                <a:highlight>
                  <a:srgbClr val="FFFF00"/>
                </a:highlight>
              </a:rPr>
              <a:t>==="")</a:t>
            </a:r>
          </a:p>
          <a:p>
            <a:r>
              <a:rPr lang="en-IN" sz="1600" dirty="0">
                <a:highlight>
                  <a:srgbClr val="FFFF00"/>
                </a:highlight>
              </a:rPr>
              <a:t>     {</a:t>
            </a:r>
          </a:p>
          <a:p>
            <a:r>
              <a:rPr lang="en-IN" sz="1600" dirty="0">
                <a:highlight>
                  <a:srgbClr val="FFFF00"/>
                </a:highlight>
              </a:rPr>
              <a:t>      navigate("/");</a:t>
            </a:r>
          </a:p>
          <a:p>
            <a:r>
              <a:rPr lang="en-IN" sz="1600" dirty="0">
                <a:highlight>
                  <a:srgbClr val="FFFF00"/>
                </a:highlight>
              </a:rPr>
              <a:t>     },[</a:t>
            </a:r>
            <a:r>
              <a:rPr lang="en-IN" sz="1600" dirty="0" err="1">
                <a:highlight>
                  <a:srgbClr val="FFFF00"/>
                </a:highlight>
              </a:rPr>
              <a:t>chks,navigate</a:t>
            </a:r>
            <a:r>
              <a:rPr lang="en-IN" sz="1600" dirty="0">
                <a:highlight>
                  <a:srgbClr val="FFFF00"/>
                </a:highlight>
              </a:rPr>
              <a:t>])</a:t>
            </a:r>
          </a:p>
          <a:p>
            <a:r>
              <a:rPr lang="en-IN" sz="1600" dirty="0"/>
              <a:t>       </a:t>
            </a:r>
            <a:r>
              <a:rPr lang="en-IN" sz="1600" dirty="0" err="1">
                <a:highlight>
                  <a:srgbClr val="FFFF00"/>
                </a:highlight>
              </a:rPr>
              <a:t>useEffect</a:t>
            </a:r>
            <a:r>
              <a:rPr lang="en-IN" sz="1600" dirty="0">
                <a:highlight>
                  <a:srgbClr val="FFFF00"/>
                </a:highlight>
              </a:rPr>
              <a:t>(() =&gt; {</a:t>
            </a:r>
          </a:p>
          <a:p>
            <a:r>
              <a:rPr lang="en-IN" sz="1600" dirty="0"/>
              <a:t> fetch("https://localhost:44370/</a:t>
            </a:r>
            <a:r>
              <a:rPr lang="en-IN" sz="1600" dirty="0" err="1"/>
              <a:t>api</a:t>
            </a:r>
            <a:r>
              <a:rPr lang="en-IN" sz="1600" dirty="0"/>
              <a:t>/products/")</a:t>
            </a:r>
          </a:p>
          <a:p>
            <a:r>
              <a:rPr lang="en-IN" sz="1600" dirty="0"/>
              <a:t>            .then(res =&gt; </a:t>
            </a:r>
            <a:r>
              <a:rPr lang="en-IN" sz="1600" dirty="0" err="1"/>
              <a:t>res.json</a:t>
            </a:r>
            <a:r>
              <a:rPr lang="en-IN" sz="1600" dirty="0"/>
              <a:t>())</a:t>
            </a:r>
          </a:p>
          <a:p>
            <a:r>
              <a:rPr lang="en-IN" sz="1600" dirty="0"/>
              <a:t>            .then((result) =&gt; { </a:t>
            </a:r>
            <a:r>
              <a:rPr lang="en-IN" sz="1600" dirty="0" err="1"/>
              <a:t>setProduct</a:t>
            </a:r>
            <a:r>
              <a:rPr lang="en-IN" sz="1600" dirty="0"/>
              <a:t>(result); }</a:t>
            </a:r>
          </a:p>
          <a:p>
            <a:r>
              <a:rPr lang="en-IN" sz="1600" dirty="0"/>
              <a:t>            );</a:t>
            </a:r>
          </a:p>
          <a:p>
            <a:r>
              <a:rPr lang="en-IN" sz="1600" dirty="0"/>
              <a:t>    }, []);</a:t>
            </a:r>
          </a:p>
          <a:p>
            <a:r>
              <a:rPr lang="en-IN" sz="1600" dirty="0"/>
              <a:t>    return (</a:t>
            </a:r>
          </a:p>
          <a:p>
            <a:r>
              <a:rPr lang="en-IN" sz="1600" dirty="0"/>
              <a:t>        &lt;div&gt;</a:t>
            </a:r>
          </a:p>
          <a:p>
            <a:r>
              <a:rPr lang="en-IN" sz="1600" dirty="0"/>
              <a:t>          &lt;h2&gt;Employees Data...&lt;/h2&gt;</a:t>
            </a:r>
          </a:p>
          <a:p>
            <a:r>
              <a:rPr lang="en-IN" sz="1600" dirty="0"/>
              <a:t>;</a:t>
            </a:r>
          </a:p>
        </p:txBody>
      </p:sp>
      <p:sp>
        <p:nvSpPr>
          <p:cNvPr id="7" name="TextBox 6">
            <a:extLst>
              <a:ext uri="{FF2B5EF4-FFF2-40B4-BE49-F238E27FC236}">
                <a16:creationId xmlns:a16="http://schemas.microsoft.com/office/drawing/2014/main" id="{9F621467-8827-7EDB-5CDE-3A4EF37EC106}"/>
              </a:ext>
            </a:extLst>
          </p:cNvPr>
          <p:cNvSpPr txBox="1"/>
          <p:nvPr/>
        </p:nvSpPr>
        <p:spPr>
          <a:xfrm>
            <a:off x="5812410" y="91170"/>
            <a:ext cx="6094428" cy="60016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&lt;table&gt;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thead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&gt;Name&lt;/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&gt;category&lt;/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Color</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unitPrice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availableQuantity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thead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tbody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products.map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(emp =&gt;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 key={</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&lt;td&gt;{emp.name}&lt;/td&gt;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emp.category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emp.color</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emp.unitPrice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emp.availableQuantity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&lt;td&gt;&lt;a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editemp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}&gt;Edit&lt;/a&gt;&lt;/td&gt;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&lt;td&gt;&lt;a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dispemp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}&gt;Display&lt;/a&gt;&lt;/td&gt;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&lt;td&gt;&lt;a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href</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deleteemp</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emp.productId</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}&gt;Delete&lt;/a&gt;&lt;/td&gt;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tbody</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&lt;/table&gt;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&lt;/div&gt;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export default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Listproduct</a:t>
            </a:r>
            <a:endParaRPr lang="en-IN" dirty="0"/>
          </a:p>
        </p:txBody>
      </p:sp>
    </p:spTree>
    <p:extLst>
      <p:ext uri="{BB962C8B-B14F-4D97-AF65-F5344CB8AC3E}">
        <p14:creationId xmlns:p14="http://schemas.microsoft.com/office/powerpoint/2010/main" val="3869070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4521</TotalTime>
  <Words>6843</Words>
  <Application>Microsoft Office PowerPoint</Application>
  <PresentationFormat>Widescreen</PresentationFormat>
  <Paragraphs>903</Paragraphs>
  <Slides>41</Slides>
  <Notes>0</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41</vt:i4>
      </vt:variant>
    </vt:vector>
  </HeadingPairs>
  <TitlesOfParts>
    <vt:vector size="57" baseType="lpstr">
      <vt:lpstr>Arial</vt:lpstr>
      <vt:lpstr>Arial</vt:lpstr>
      <vt:lpstr>Calibri</vt:lpstr>
      <vt:lpstr>Calibri Light</vt:lpstr>
      <vt:lpstr>Cambria</vt:lpstr>
      <vt:lpstr>Consolas</vt:lpstr>
      <vt:lpstr>Courier New</vt:lpstr>
      <vt:lpstr>Garamond</vt:lpstr>
      <vt:lpstr>inherit</vt:lpstr>
      <vt:lpstr>Lato</vt:lpstr>
      <vt:lpstr>Segoe UI</vt:lpstr>
      <vt:lpstr>ui-monospace</vt:lpstr>
      <vt:lpstr>ui-sans-serif</vt:lpstr>
      <vt:lpstr>Office Theme</vt:lpstr>
      <vt:lpstr>1_Office Theme</vt:lpstr>
      <vt:lpstr>2_Office Theme</vt:lpstr>
      <vt:lpstr>PowerPoint Presentation</vt:lpstr>
      <vt:lpstr>Routing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 All Employee</vt:lpstr>
      <vt:lpstr>PowerPoint Presentation</vt:lpstr>
      <vt:lpstr>PowerPoint Presentation</vt:lpstr>
      <vt:lpstr>PowerPoint Presentation</vt:lpstr>
      <vt:lpstr>PowerPoint Presentation</vt:lpstr>
      <vt:lpstr>Best Practices</vt:lpstr>
      <vt:lpstr>PowerPoint Presentation</vt:lpstr>
      <vt:lpstr>POST Employee</vt:lpstr>
      <vt:lpstr>PowerPoint Presentation</vt:lpstr>
      <vt:lpstr>PowerPoint Presentation</vt:lpstr>
      <vt:lpstr>PowerPoint Presentation</vt:lpstr>
      <vt:lpstr>PowerPoint Presentation</vt:lpstr>
      <vt:lpstr>PowerPoint Presentation</vt:lpstr>
      <vt:lpstr>Get one employee</vt:lpstr>
      <vt:lpstr>PowerPoint Presentation</vt:lpstr>
      <vt:lpstr>PowerPoint Presentation</vt:lpstr>
      <vt:lpstr>PowerPoint Presentation</vt:lpstr>
      <vt:lpstr>PowerPoint Presentation</vt:lpstr>
      <vt:lpstr>PowerPoint Presentation</vt:lpstr>
      <vt:lpstr>Update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87</cp:revision>
  <dcterms:created xsi:type="dcterms:W3CDTF">2022-02-25T15:07:36Z</dcterms:created>
  <dcterms:modified xsi:type="dcterms:W3CDTF">2025-12-09T17:08:33Z</dcterms:modified>
</cp:coreProperties>
</file>