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61" r:id="rId3"/>
    <p:sldId id="262" r:id="rId4"/>
    <p:sldId id="263" r:id="rId5"/>
    <p:sldId id="264" r:id="rId6"/>
    <p:sldId id="275" r:id="rId7"/>
    <p:sldId id="265" r:id="rId8"/>
    <p:sldId id="266" r:id="rId9"/>
    <p:sldId id="270" r:id="rId10"/>
    <p:sldId id="273" r:id="rId11"/>
    <p:sldId id="271" r:id="rId12"/>
    <p:sldId id="272" r:id="rId13"/>
    <p:sldId id="267" r:id="rId14"/>
    <p:sldId id="268" r:id="rId15"/>
    <p:sldId id="269" r:id="rId16"/>
    <p:sldId id="274"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0" d="100"/>
          <a:sy n="90" d="100"/>
        </p:scale>
        <p:origin x="370"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C2D3F-7E40-4C8A-AAF1-FF8439D147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AD72839-F2DB-487E-86A4-AF07198372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B2AD9DF-D751-499A-B1F2-4658DB7F9AC8}"/>
              </a:ext>
            </a:extLst>
          </p:cNvPr>
          <p:cNvSpPr>
            <a:spLocks noGrp="1"/>
          </p:cNvSpPr>
          <p:nvPr>
            <p:ph type="dt" sz="half" idx="10"/>
          </p:nvPr>
        </p:nvSpPr>
        <p:spPr/>
        <p:txBody>
          <a:bodyPr/>
          <a:lstStyle/>
          <a:p>
            <a:fld id="{C004658C-45DA-453C-8046-7731F20C314D}" type="datetimeFigureOut">
              <a:rPr lang="en-IN" smtClean="0"/>
              <a:t>16-05-2025</a:t>
            </a:fld>
            <a:endParaRPr lang="en-IN"/>
          </a:p>
        </p:txBody>
      </p:sp>
      <p:sp>
        <p:nvSpPr>
          <p:cNvPr id="5" name="Footer Placeholder 4">
            <a:extLst>
              <a:ext uri="{FF2B5EF4-FFF2-40B4-BE49-F238E27FC236}">
                <a16:creationId xmlns:a16="http://schemas.microsoft.com/office/drawing/2014/main" id="{60810642-F60A-41B2-A559-6BCDA5E346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929564-8805-41F0-8FA2-B91878EFA10A}"/>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9558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43649B-5440-4FBB-8D52-86560DB7B81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EAEFAAE-9D4B-488A-84DE-F9B7B40E0F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5B9E0D-CB4E-45BC-9342-2685552EA624}"/>
              </a:ext>
            </a:extLst>
          </p:cNvPr>
          <p:cNvSpPr>
            <a:spLocks noGrp="1"/>
          </p:cNvSpPr>
          <p:nvPr>
            <p:ph type="dt" sz="half" idx="10"/>
          </p:nvPr>
        </p:nvSpPr>
        <p:spPr/>
        <p:txBody>
          <a:bodyPr/>
          <a:lstStyle/>
          <a:p>
            <a:fld id="{C004658C-45DA-453C-8046-7731F20C314D}" type="datetimeFigureOut">
              <a:rPr lang="en-IN" smtClean="0"/>
              <a:t>16-05-2025</a:t>
            </a:fld>
            <a:endParaRPr lang="en-IN"/>
          </a:p>
        </p:txBody>
      </p:sp>
      <p:sp>
        <p:nvSpPr>
          <p:cNvPr id="5" name="Footer Placeholder 4">
            <a:extLst>
              <a:ext uri="{FF2B5EF4-FFF2-40B4-BE49-F238E27FC236}">
                <a16:creationId xmlns:a16="http://schemas.microsoft.com/office/drawing/2014/main" id="{11C1038D-F12D-477B-9032-BEE3CED009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6C8A08-E66A-4DC9-9A66-8A7AF89A46E3}"/>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8549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AD09C-476B-4B3C-BFA4-8DA21A32FA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0C0C82DB-9B98-49CC-A555-BFCF47EEBAE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0BFC01-B0A6-4A7B-B9F2-D6A9CDBE30CC}"/>
              </a:ext>
            </a:extLst>
          </p:cNvPr>
          <p:cNvSpPr>
            <a:spLocks noGrp="1"/>
          </p:cNvSpPr>
          <p:nvPr>
            <p:ph type="dt" sz="half" idx="10"/>
          </p:nvPr>
        </p:nvSpPr>
        <p:spPr/>
        <p:txBody>
          <a:bodyPr/>
          <a:lstStyle/>
          <a:p>
            <a:fld id="{C004658C-45DA-453C-8046-7731F20C314D}" type="datetimeFigureOut">
              <a:rPr lang="en-IN" smtClean="0"/>
              <a:t>16-05-2025</a:t>
            </a:fld>
            <a:endParaRPr lang="en-IN"/>
          </a:p>
        </p:txBody>
      </p:sp>
      <p:sp>
        <p:nvSpPr>
          <p:cNvPr id="5" name="Footer Placeholder 4">
            <a:extLst>
              <a:ext uri="{FF2B5EF4-FFF2-40B4-BE49-F238E27FC236}">
                <a16:creationId xmlns:a16="http://schemas.microsoft.com/office/drawing/2014/main" id="{6F09F5AC-0481-46E6-9DF4-FDF8C28F4B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F7C3B7-0110-4B1B-A36A-0C507C182655}"/>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41193620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B4B1F9-EB81-48BC-9509-A46CE28835C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2154F5F-7B97-4AE1-8C8C-6DDE59931CF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44105FE-F84E-476C-AA3E-3ACEA51922C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0B2D7D-8F2A-4542-809C-ABD2679AD799}"/>
              </a:ext>
            </a:extLst>
          </p:cNvPr>
          <p:cNvSpPr>
            <a:spLocks noGrp="1"/>
          </p:cNvSpPr>
          <p:nvPr>
            <p:ph type="dt" sz="half" idx="10"/>
          </p:nvPr>
        </p:nvSpPr>
        <p:spPr/>
        <p:txBody>
          <a:bodyPr/>
          <a:lstStyle/>
          <a:p>
            <a:fld id="{C004658C-45DA-453C-8046-7731F20C314D}" type="datetimeFigureOut">
              <a:rPr lang="en-IN" smtClean="0"/>
              <a:t>16-05-2025</a:t>
            </a:fld>
            <a:endParaRPr lang="en-IN"/>
          </a:p>
        </p:txBody>
      </p:sp>
      <p:sp>
        <p:nvSpPr>
          <p:cNvPr id="6" name="Footer Placeholder 5">
            <a:extLst>
              <a:ext uri="{FF2B5EF4-FFF2-40B4-BE49-F238E27FC236}">
                <a16:creationId xmlns:a16="http://schemas.microsoft.com/office/drawing/2014/main" id="{88496495-04D3-412A-B6A9-B0F377C6CA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A832D1-4D1F-4A6D-AD92-C331278A9FC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167328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267D-4932-46DB-ADD0-78843BAFB7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D570D7F-5AA1-4453-910D-9A76D79CB3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1533F1-277C-4E07-8AED-05200D4D267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14560CD-AE08-4482-8420-4C30736D03C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309AE45-A8AB-4C40-A840-D78F56E608B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59FC0E6-84D8-4A50-BEBD-CF5D19AF413E}"/>
              </a:ext>
            </a:extLst>
          </p:cNvPr>
          <p:cNvSpPr>
            <a:spLocks noGrp="1"/>
          </p:cNvSpPr>
          <p:nvPr>
            <p:ph type="dt" sz="half" idx="10"/>
          </p:nvPr>
        </p:nvSpPr>
        <p:spPr/>
        <p:txBody>
          <a:bodyPr/>
          <a:lstStyle/>
          <a:p>
            <a:fld id="{C004658C-45DA-453C-8046-7731F20C314D}" type="datetimeFigureOut">
              <a:rPr lang="en-IN" smtClean="0"/>
              <a:t>16-05-2025</a:t>
            </a:fld>
            <a:endParaRPr lang="en-IN"/>
          </a:p>
        </p:txBody>
      </p:sp>
      <p:sp>
        <p:nvSpPr>
          <p:cNvPr id="8" name="Footer Placeholder 7">
            <a:extLst>
              <a:ext uri="{FF2B5EF4-FFF2-40B4-BE49-F238E27FC236}">
                <a16:creationId xmlns:a16="http://schemas.microsoft.com/office/drawing/2014/main" id="{CF24D531-1AFE-40F4-B407-A13D38E561B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EB9A13C-F3B2-4536-8721-FAB18E56E9A8}"/>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8427169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538B2-7E66-46D2-B90B-4ACCBC668D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FD9BC10-AC2C-44C4-BB8A-96BF1948FFCE}"/>
              </a:ext>
            </a:extLst>
          </p:cNvPr>
          <p:cNvSpPr>
            <a:spLocks noGrp="1"/>
          </p:cNvSpPr>
          <p:nvPr>
            <p:ph type="dt" sz="half" idx="10"/>
          </p:nvPr>
        </p:nvSpPr>
        <p:spPr/>
        <p:txBody>
          <a:bodyPr/>
          <a:lstStyle/>
          <a:p>
            <a:fld id="{C004658C-45DA-453C-8046-7731F20C314D}" type="datetimeFigureOut">
              <a:rPr lang="en-IN" smtClean="0"/>
              <a:t>16-05-2025</a:t>
            </a:fld>
            <a:endParaRPr lang="en-IN"/>
          </a:p>
        </p:txBody>
      </p:sp>
      <p:sp>
        <p:nvSpPr>
          <p:cNvPr id="4" name="Footer Placeholder 3">
            <a:extLst>
              <a:ext uri="{FF2B5EF4-FFF2-40B4-BE49-F238E27FC236}">
                <a16:creationId xmlns:a16="http://schemas.microsoft.com/office/drawing/2014/main" id="{A643D4D6-9AA0-4487-83AA-68EA43B9E0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E705848-1F85-45FF-B0BC-4D0BA27CA85C}"/>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742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FD4D18-C07E-4A35-A2FD-AF3660E9E3B0}"/>
              </a:ext>
            </a:extLst>
          </p:cNvPr>
          <p:cNvSpPr>
            <a:spLocks noGrp="1"/>
          </p:cNvSpPr>
          <p:nvPr>
            <p:ph type="dt" sz="half" idx="10"/>
          </p:nvPr>
        </p:nvSpPr>
        <p:spPr/>
        <p:txBody>
          <a:bodyPr/>
          <a:lstStyle/>
          <a:p>
            <a:fld id="{C004658C-45DA-453C-8046-7731F20C314D}" type="datetimeFigureOut">
              <a:rPr lang="en-IN" smtClean="0"/>
              <a:t>16-05-2025</a:t>
            </a:fld>
            <a:endParaRPr lang="en-IN"/>
          </a:p>
        </p:txBody>
      </p:sp>
      <p:sp>
        <p:nvSpPr>
          <p:cNvPr id="3" name="Footer Placeholder 2">
            <a:extLst>
              <a:ext uri="{FF2B5EF4-FFF2-40B4-BE49-F238E27FC236}">
                <a16:creationId xmlns:a16="http://schemas.microsoft.com/office/drawing/2014/main" id="{3F3251B9-692D-4BE0-BAF1-99171EC3B1F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C3E1108-801C-468F-8B19-6B581BC1A96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598633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2C412B-48AF-409B-8357-2EE7CBBE4D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22EB46A-9741-43DE-A239-502DF85804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0B68FA1-3FBE-49C1-9108-F9557EE74D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EA8935-1423-43BE-B58A-36EE09057C89}"/>
              </a:ext>
            </a:extLst>
          </p:cNvPr>
          <p:cNvSpPr>
            <a:spLocks noGrp="1"/>
          </p:cNvSpPr>
          <p:nvPr>
            <p:ph type="dt" sz="half" idx="10"/>
          </p:nvPr>
        </p:nvSpPr>
        <p:spPr/>
        <p:txBody>
          <a:bodyPr/>
          <a:lstStyle/>
          <a:p>
            <a:fld id="{C004658C-45DA-453C-8046-7731F20C314D}" type="datetimeFigureOut">
              <a:rPr lang="en-IN" smtClean="0"/>
              <a:t>16-05-2025</a:t>
            </a:fld>
            <a:endParaRPr lang="en-IN"/>
          </a:p>
        </p:txBody>
      </p:sp>
      <p:sp>
        <p:nvSpPr>
          <p:cNvPr id="6" name="Footer Placeholder 5">
            <a:extLst>
              <a:ext uri="{FF2B5EF4-FFF2-40B4-BE49-F238E27FC236}">
                <a16:creationId xmlns:a16="http://schemas.microsoft.com/office/drawing/2014/main" id="{FFA87432-8FD6-48D6-A782-B5FD451E0CE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DAE8922-295E-443F-94AA-DE04B0771677}"/>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36246191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9DF4CF-55BA-44B7-B5C1-6AABBEEA7D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9804C6-94F5-4D5B-8DFD-4C01987A5C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F494586-57E1-4731-AB5B-330E0EC4C59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67832B-C40F-4E1F-ABB3-BB36A394963E}"/>
              </a:ext>
            </a:extLst>
          </p:cNvPr>
          <p:cNvSpPr>
            <a:spLocks noGrp="1"/>
          </p:cNvSpPr>
          <p:nvPr>
            <p:ph type="dt" sz="half" idx="10"/>
          </p:nvPr>
        </p:nvSpPr>
        <p:spPr/>
        <p:txBody>
          <a:bodyPr/>
          <a:lstStyle/>
          <a:p>
            <a:fld id="{C004658C-45DA-453C-8046-7731F20C314D}" type="datetimeFigureOut">
              <a:rPr lang="en-IN" smtClean="0"/>
              <a:t>16-05-2025</a:t>
            </a:fld>
            <a:endParaRPr lang="en-IN"/>
          </a:p>
        </p:txBody>
      </p:sp>
      <p:sp>
        <p:nvSpPr>
          <p:cNvPr id="6" name="Footer Placeholder 5">
            <a:extLst>
              <a:ext uri="{FF2B5EF4-FFF2-40B4-BE49-F238E27FC236}">
                <a16:creationId xmlns:a16="http://schemas.microsoft.com/office/drawing/2014/main" id="{C88947CF-39CE-409F-BB68-7352DFD949F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D2BF2E-806C-4B7F-9063-3F1E0C913519}"/>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95122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252159-3716-4F83-81C9-5BD08B1F552E}"/>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5DBA662-CCE1-41C4-BF91-B2CB5FC59C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49D8A99-AD56-4CA5-B9A0-FEAF607E21B2}"/>
              </a:ext>
            </a:extLst>
          </p:cNvPr>
          <p:cNvSpPr>
            <a:spLocks noGrp="1"/>
          </p:cNvSpPr>
          <p:nvPr>
            <p:ph type="dt" sz="half" idx="10"/>
          </p:nvPr>
        </p:nvSpPr>
        <p:spPr/>
        <p:txBody>
          <a:bodyPr/>
          <a:lstStyle/>
          <a:p>
            <a:fld id="{C004658C-45DA-453C-8046-7731F20C314D}" type="datetimeFigureOut">
              <a:rPr lang="en-IN" smtClean="0"/>
              <a:t>16-05-2025</a:t>
            </a:fld>
            <a:endParaRPr lang="en-IN"/>
          </a:p>
        </p:txBody>
      </p:sp>
      <p:sp>
        <p:nvSpPr>
          <p:cNvPr id="5" name="Footer Placeholder 4">
            <a:extLst>
              <a:ext uri="{FF2B5EF4-FFF2-40B4-BE49-F238E27FC236}">
                <a16:creationId xmlns:a16="http://schemas.microsoft.com/office/drawing/2014/main" id="{25CD5B1E-135D-48A4-A7D1-D36BF6791B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967079-262E-4207-A65E-7FEB6D46D3BD}"/>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13619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21C3810-0CAF-41C0-8AEB-61F991B901C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3B3C37-946E-469E-BF32-9A3172EB956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A261361-B290-45F7-89D0-EC2684F66A70}"/>
              </a:ext>
            </a:extLst>
          </p:cNvPr>
          <p:cNvSpPr>
            <a:spLocks noGrp="1"/>
          </p:cNvSpPr>
          <p:nvPr>
            <p:ph type="dt" sz="half" idx="10"/>
          </p:nvPr>
        </p:nvSpPr>
        <p:spPr/>
        <p:txBody>
          <a:bodyPr/>
          <a:lstStyle/>
          <a:p>
            <a:fld id="{C004658C-45DA-453C-8046-7731F20C314D}" type="datetimeFigureOut">
              <a:rPr lang="en-IN" smtClean="0"/>
              <a:t>16-05-2025</a:t>
            </a:fld>
            <a:endParaRPr lang="en-IN"/>
          </a:p>
        </p:txBody>
      </p:sp>
      <p:sp>
        <p:nvSpPr>
          <p:cNvPr id="5" name="Footer Placeholder 4">
            <a:extLst>
              <a:ext uri="{FF2B5EF4-FFF2-40B4-BE49-F238E27FC236}">
                <a16:creationId xmlns:a16="http://schemas.microsoft.com/office/drawing/2014/main" id="{68AB217D-811E-4E1E-8334-38008E6F176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FF01B6-3214-4BB6-9D55-08159A264AE1}"/>
              </a:ext>
            </a:extLst>
          </p:cNvPr>
          <p:cNvSpPr>
            <a:spLocks noGrp="1"/>
          </p:cNvSpPr>
          <p:nvPr>
            <p:ph type="sldNum" sz="quarter" idx="12"/>
          </p:nvPr>
        </p:nvSpPr>
        <p:spPr/>
        <p:txBody>
          <a:bodyPr/>
          <a:lstStyle/>
          <a:p>
            <a:fld id="{8D2BFB83-5A77-48BE-A920-3538D8F17072}" type="slidenum">
              <a:rPr lang="en-IN" smtClean="0"/>
              <a:t>‹#›</a:t>
            </a:fld>
            <a:endParaRPr lang="en-IN"/>
          </a:p>
        </p:txBody>
      </p:sp>
    </p:spTree>
    <p:extLst>
      <p:ext uri="{BB962C8B-B14F-4D97-AF65-F5344CB8AC3E}">
        <p14:creationId xmlns:p14="http://schemas.microsoft.com/office/powerpoint/2010/main" val="19471917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3B01FB5-9B19-4006-BF79-43AAE4B2BBF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71D79293-3335-415D-96FF-6F1528620B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05602B98-AB1D-47C8-BA11-5D17054C1ED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004658C-45DA-453C-8046-7731F20C314D}" type="datetimeFigureOut">
              <a:rPr lang="en-IN" smtClean="0"/>
              <a:t>16-05-2025</a:t>
            </a:fld>
            <a:endParaRPr lang="en-IN"/>
          </a:p>
        </p:txBody>
      </p:sp>
      <p:sp>
        <p:nvSpPr>
          <p:cNvPr id="5" name="Footer Placeholder 4">
            <a:extLst>
              <a:ext uri="{FF2B5EF4-FFF2-40B4-BE49-F238E27FC236}">
                <a16:creationId xmlns:a16="http://schemas.microsoft.com/office/drawing/2014/main" id="{925A71B4-FC6F-40AF-BC00-01976BC4ECF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241785E-8303-4660-BD55-D6594DE105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D2BFB83-5A77-48BE-A920-3538D8F17072}" type="slidenum">
              <a:rPr lang="en-IN" smtClean="0"/>
              <a:t>‹#›</a:t>
            </a:fld>
            <a:endParaRPr lang="en-IN"/>
          </a:p>
        </p:txBody>
      </p:sp>
      <p:pic>
        <p:nvPicPr>
          <p:cNvPr id="7" name="Picture 6">
            <a:extLst>
              <a:ext uri="{FF2B5EF4-FFF2-40B4-BE49-F238E27FC236}">
                <a16:creationId xmlns:a16="http://schemas.microsoft.com/office/drawing/2014/main" id="{B4B2C9EE-F42D-45DD-BECE-E7B06F786BC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6200" y="-76200"/>
            <a:ext cx="1282699" cy="857534"/>
          </a:xfrm>
          <a:prstGeom prst="rect">
            <a:avLst/>
          </a:prstGeom>
        </p:spPr>
      </p:pic>
      <p:sp>
        <p:nvSpPr>
          <p:cNvPr id="8" name="Rectangle 7">
            <a:extLst>
              <a:ext uri="{FF2B5EF4-FFF2-40B4-BE49-F238E27FC236}">
                <a16:creationId xmlns:a16="http://schemas.microsoft.com/office/drawing/2014/main" id="{3D287664-7564-46A5-A87F-F1F1AB30D4BA}"/>
              </a:ext>
            </a:extLst>
          </p:cNvPr>
          <p:cNvSpPr/>
          <p:nvPr userDrawn="1"/>
        </p:nvSpPr>
        <p:spPr>
          <a:xfrm>
            <a:off x="228600" y="6593087"/>
            <a:ext cx="8515350" cy="307777"/>
          </a:xfrm>
          <a:prstGeom prst="rect">
            <a:avLst/>
          </a:prstGeom>
        </p:spPr>
        <p:txBody>
          <a:bodyPr wrap="square">
            <a:spAutoFit/>
          </a:bodyPr>
          <a:lstStyle/>
          <a:p>
            <a:pPr algn="ctr"/>
            <a:r>
              <a:rPr lang="en-US" sz="1400" b="1" dirty="0">
                <a:solidFill>
                  <a:prstClr val="black"/>
                </a:solidFill>
                <a:latin typeface="Cambria" panose="02040503050406030204" pitchFamily="18" charset="0"/>
              </a:rPr>
              <a:t>USM’s </a:t>
            </a:r>
            <a:r>
              <a:rPr lang="en-US" sz="1400" b="1" dirty="0" err="1">
                <a:solidFill>
                  <a:prstClr val="black"/>
                </a:solidFill>
                <a:latin typeface="Cambria" panose="02040503050406030204" pitchFamily="18" charset="0"/>
              </a:rPr>
              <a:t>Shriram</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Mantri</a:t>
            </a:r>
            <a:r>
              <a:rPr lang="en-US" sz="1400" b="1" dirty="0">
                <a:solidFill>
                  <a:prstClr val="black"/>
                </a:solidFill>
                <a:latin typeface="Cambria" panose="02040503050406030204" pitchFamily="18" charset="0"/>
              </a:rPr>
              <a:t> </a:t>
            </a:r>
            <a:r>
              <a:rPr lang="en-US" sz="1400" b="1" dirty="0" err="1">
                <a:solidFill>
                  <a:prstClr val="black"/>
                </a:solidFill>
                <a:latin typeface="Cambria" panose="02040503050406030204" pitchFamily="18" charset="0"/>
              </a:rPr>
              <a:t>Vidyanidhi</a:t>
            </a:r>
            <a:r>
              <a:rPr lang="en-US" sz="1400" b="1" dirty="0">
                <a:solidFill>
                  <a:prstClr val="black"/>
                </a:solidFill>
                <a:latin typeface="Cambria" panose="02040503050406030204" pitchFamily="18" charset="0"/>
              </a:rPr>
              <a:t> Info Tech Academy </a:t>
            </a:r>
            <a:endParaRPr lang="en-IN" sz="1400" dirty="0">
              <a:solidFill>
                <a:prstClr val="black"/>
              </a:solidFill>
              <a:latin typeface="Cambria" panose="02040503050406030204" pitchFamily="18" charset="0"/>
            </a:endParaRPr>
          </a:p>
        </p:txBody>
      </p:sp>
    </p:spTree>
    <p:extLst>
      <p:ext uri="{BB962C8B-B14F-4D97-AF65-F5344CB8AC3E}">
        <p14:creationId xmlns:p14="http://schemas.microsoft.com/office/powerpoint/2010/main" val="30662353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vidyanidhi.com/" TargetMode="Externa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nodejs/node" TargetMode="External"/><Relationship Id="rId2" Type="http://schemas.openxmlformats.org/officeDocument/2006/relationships/hyperlink" Target="https://nodejs.org/" TargetMode="External"/><Relationship Id="rId1" Type="http://schemas.openxmlformats.org/officeDocument/2006/relationships/slideLayout" Target="../slideLayouts/slideLayout2.xml"/><Relationship Id="rId4" Type="http://schemas.openxmlformats.org/officeDocument/2006/relationships/hyperlink" Target="http://nodeconf.com/"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localhost:8080/summer"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localhost:8080/?year=2017&amp;month=July"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DFEADA-E901-4302-A497-05D33C2B29A4}"/>
              </a:ext>
            </a:extLst>
          </p:cNvPr>
          <p:cNvSpPr>
            <a:spLocks noGrp="1"/>
          </p:cNvSpPr>
          <p:nvPr>
            <p:ph idx="1"/>
          </p:nvPr>
        </p:nvSpPr>
        <p:spPr>
          <a:xfrm>
            <a:off x="1752600" y="152400"/>
            <a:ext cx="8458200" cy="6705600"/>
          </a:xfrm>
        </p:spPr>
        <p:txBody>
          <a:bodyPr/>
          <a:lstStyle/>
          <a:p>
            <a:pPr marL="0" indent="0" algn="ctr">
              <a:buNone/>
            </a:pPr>
            <a:r>
              <a:rPr lang="en-IN" dirty="0">
                <a:hlinkClick r:id="rId2"/>
              </a:rPr>
              <a:t>http://www.vidyanidhi.com/</a:t>
            </a:r>
            <a:endParaRPr lang="en-IN" dirty="0"/>
          </a:p>
          <a:p>
            <a:pPr marL="0" indent="0" algn="ctr">
              <a:buNone/>
            </a:pPr>
            <a:r>
              <a:rPr lang="en-IN" dirty="0"/>
              <a:t>ketkiacharya.net@gmail.com</a:t>
            </a:r>
          </a:p>
        </p:txBody>
      </p:sp>
      <p:sp>
        <p:nvSpPr>
          <p:cNvPr id="4" name="TextBox 3">
            <a:extLst>
              <a:ext uri="{FF2B5EF4-FFF2-40B4-BE49-F238E27FC236}">
                <a16:creationId xmlns:a16="http://schemas.microsoft.com/office/drawing/2014/main" id="{E8DE8A8E-ED85-4B70-916D-ED56E0E40BBC}"/>
              </a:ext>
            </a:extLst>
          </p:cNvPr>
          <p:cNvSpPr txBox="1"/>
          <p:nvPr/>
        </p:nvSpPr>
        <p:spPr>
          <a:xfrm>
            <a:off x="2057400" y="4038601"/>
            <a:ext cx="3276600" cy="1200329"/>
          </a:xfrm>
          <a:prstGeom prst="rect">
            <a:avLst/>
          </a:prstGeom>
          <a:noFill/>
        </p:spPr>
        <p:txBody>
          <a:bodyPr wrap="square" rtlCol="0">
            <a:spAutoFit/>
          </a:bodyPr>
          <a:lstStyle/>
          <a:p>
            <a:r>
              <a:rPr lang="en-IN" dirty="0" err="1"/>
              <a:t>Ketki</a:t>
            </a:r>
            <a:r>
              <a:rPr lang="en-IN" dirty="0"/>
              <a:t> Acharya</a:t>
            </a:r>
          </a:p>
          <a:p>
            <a:r>
              <a:rPr lang="en-IN" dirty="0"/>
              <a:t>From: SM VITA ATC of CDAC</a:t>
            </a:r>
          </a:p>
          <a:p>
            <a:r>
              <a:rPr lang="en-IN" dirty="0"/>
              <a:t>9769201036</a:t>
            </a:r>
          </a:p>
          <a:p>
            <a:r>
              <a:rPr lang="en-IN" dirty="0"/>
              <a:t>ketkiacharya.net@gmail.com</a:t>
            </a:r>
          </a:p>
        </p:txBody>
      </p:sp>
    </p:spTree>
    <p:extLst>
      <p:ext uri="{BB962C8B-B14F-4D97-AF65-F5344CB8AC3E}">
        <p14:creationId xmlns:p14="http://schemas.microsoft.com/office/powerpoint/2010/main" val="33035979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95FBD-5500-4EC9-A6B4-018523F81AD3}"/>
              </a:ext>
            </a:extLst>
          </p:cNvPr>
          <p:cNvSpPr>
            <a:spLocks noGrp="1"/>
          </p:cNvSpPr>
          <p:nvPr>
            <p:ph type="title"/>
          </p:nvPr>
        </p:nvSpPr>
        <p:spPr>
          <a:xfrm>
            <a:off x="1253068" y="287867"/>
            <a:ext cx="10100732" cy="393171"/>
          </a:xfrm>
        </p:spPr>
        <p:txBody>
          <a:bodyPr>
            <a:normAutofit fontScale="90000"/>
          </a:bodyPr>
          <a:lstStyle/>
          <a:p>
            <a:r>
              <a:rPr lang="en-IN" dirty="0"/>
              <a:t>What is </a:t>
            </a:r>
            <a:r>
              <a:rPr lang="en-IN" dirty="0" err="1"/>
              <a:t>nodeJs</a:t>
            </a:r>
            <a:endParaRPr lang="en-IN" dirty="0"/>
          </a:p>
        </p:txBody>
      </p:sp>
      <p:sp>
        <p:nvSpPr>
          <p:cNvPr id="3" name="Content Placeholder 2">
            <a:extLst>
              <a:ext uri="{FF2B5EF4-FFF2-40B4-BE49-F238E27FC236}">
                <a16:creationId xmlns:a16="http://schemas.microsoft.com/office/drawing/2014/main" id="{8EE35A8F-5B15-4C79-8D63-A7CBD1FBF69C}"/>
              </a:ext>
            </a:extLst>
          </p:cNvPr>
          <p:cNvSpPr>
            <a:spLocks noGrp="1"/>
          </p:cNvSpPr>
          <p:nvPr>
            <p:ph idx="1"/>
          </p:nvPr>
        </p:nvSpPr>
        <p:spPr>
          <a:xfrm>
            <a:off x="254000" y="838200"/>
            <a:ext cx="10837333" cy="5050896"/>
          </a:xfrm>
        </p:spPr>
        <p:txBody>
          <a:bodyPr>
            <a:normAutofit/>
          </a:bodyPr>
          <a:lstStyle/>
          <a:p>
            <a:r>
              <a:rPr lang="en-US" sz="1600" b="0" i="0" dirty="0">
                <a:solidFill>
                  <a:srgbClr val="333333"/>
                </a:solidFill>
                <a:effectLst/>
              </a:rPr>
              <a:t>As an asynchronous event-driven JavaScript runtime, Node.js is designed to build scalable network applications.</a:t>
            </a:r>
          </a:p>
          <a:p>
            <a:pPr algn="l"/>
            <a:r>
              <a:rPr lang="en-US" sz="1600" b="0" i="0" dirty="0">
                <a:solidFill>
                  <a:srgbClr val="000000"/>
                </a:solidFill>
                <a:effectLst/>
              </a:rPr>
              <a:t>Node.js is an open source server environment.</a:t>
            </a:r>
          </a:p>
          <a:p>
            <a:pPr algn="l"/>
            <a:r>
              <a:rPr lang="en-US" sz="1600" b="0" i="0" dirty="0">
                <a:solidFill>
                  <a:srgbClr val="000000"/>
                </a:solidFill>
                <a:effectLst/>
              </a:rPr>
              <a:t>Node.js allows you to run JavaScript on the server.</a:t>
            </a:r>
          </a:p>
          <a:p>
            <a:r>
              <a:rPr lang="en-IN" sz="1600" b="0" i="0" dirty="0">
                <a:solidFill>
                  <a:srgbClr val="000000"/>
                </a:solidFill>
                <a:effectLst/>
              </a:rPr>
              <a:t>Node.js is a very powerful JavaScript-based platform built on Google Chrome's JavaScript V8 Engine. </a:t>
            </a:r>
          </a:p>
          <a:p>
            <a:r>
              <a:rPr lang="en-IN" sz="1600" b="0" i="0" dirty="0">
                <a:solidFill>
                  <a:srgbClr val="000000"/>
                </a:solidFill>
                <a:effectLst/>
              </a:rPr>
              <a:t>It is used to develop I/O intensive web applications like video streaming sites, single-page applications, and other web applications. Node.js is open source.</a:t>
            </a:r>
          </a:p>
          <a:p>
            <a:r>
              <a:rPr lang="en-US" sz="1600" b="0" i="0" dirty="0">
                <a:solidFill>
                  <a:srgbClr val="000000"/>
                </a:solidFill>
                <a:effectLst/>
                <a:latin typeface="Arial" panose="020B0604020202020204" pitchFamily="34" charset="0"/>
              </a:rPr>
              <a:t>Node.js was developed by Ryan Dahl in 2009</a:t>
            </a:r>
          </a:p>
          <a:p>
            <a:endParaRPr lang="en-US" sz="1600" dirty="0">
              <a:solidFill>
                <a:srgbClr val="000000"/>
              </a:solidFill>
              <a:latin typeface="Arial" panose="020B0604020202020204" pitchFamily="34" charset="0"/>
            </a:endParaRPr>
          </a:p>
          <a:p>
            <a:r>
              <a:rPr lang="en-US" sz="1600" dirty="0"/>
              <a:t>Node.js is a platform built on Chrome's JavaScript runtime for easily building fast and scalable network applications. Node.js uses an event-driven, non-blocking I/O model that makes it lightweight and efficient, perfect for data-intensive real-time applications that run across distributed devices.</a:t>
            </a:r>
            <a:endParaRPr lang="en-IN" sz="1600" dirty="0"/>
          </a:p>
        </p:txBody>
      </p:sp>
      <p:sp>
        <p:nvSpPr>
          <p:cNvPr id="5" name="TextBox 4">
            <a:extLst>
              <a:ext uri="{FF2B5EF4-FFF2-40B4-BE49-F238E27FC236}">
                <a16:creationId xmlns:a16="http://schemas.microsoft.com/office/drawing/2014/main" id="{82291BF6-A47A-446C-9AE4-E4A2A676D039}"/>
              </a:ext>
            </a:extLst>
          </p:cNvPr>
          <p:cNvSpPr txBox="1"/>
          <p:nvPr/>
        </p:nvSpPr>
        <p:spPr>
          <a:xfrm>
            <a:off x="865238" y="4819471"/>
            <a:ext cx="9950245" cy="923330"/>
          </a:xfrm>
          <a:prstGeom prst="rect">
            <a:avLst/>
          </a:prstGeom>
          <a:noFill/>
        </p:spPr>
        <p:txBody>
          <a:bodyPr wrap="square">
            <a:spAutoFit/>
          </a:bodyPr>
          <a:lstStyle/>
          <a:p>
            <a:pPr algn="just"/>
            <a:r>
              <a:rPr lang="en-US" b="0" i="0" dirty="0">
                <a:solidFill>
                  <a:srgbClr val="181717"/>
                </a:solidFill>
                <a:effectLst/>
                <a:latin typeface="Verdana" panose="020B0604030504040204" pitchFamily="34" charset="0"/>
              </a:rPr>
              <a:t>Node.js official web site: </a:t>
            </a:r>
            <a:r>
              <a:rPr lang="en-US" b="0" i="0" u="none" strike="noStrike" dirty="0">
                <a:solidFill>
                  <a:srgbClr val="407FB0"/>
                </a:solidFill>
                <a:effectLst/>
                <a:latin typeface="Verdana" panose="020B0604030504040204" pitchFamily="34" charset="0"/>
                <a:hlinkClick r:id="rId2"/>
              </a:rPr>
              <a:t>https://nodejs.org</a:t>
            </a:r>
            <a:endParaRPr lang="en-US" b="0" i="0" dirty="0">
              <a:solidFill>
                <a:srgbClr val="181717"/>
              </a:solidFill>
              <a:effectLst/>
              <a:latin typeface="Verdana" panose="020B0604030504040204" pitchFamily="34" charset="0"/>
            </a:endParaRPr>
          </a:p>
          <a:p>
            <a:pPr algn="just"/>
            <a:r>
              <a:rPr lang="en-US" b="0" i="0" dirty="0">
                <a:solidFill>
                  <a:srgbClr val="181717"/>
                </a:solidFill>
                <a:effectLst/>
                <a:latin typeface="Verdana" panose="020B0604030504040204" pitchFamily="34" charset="0"/>
              </a:rPr>
              <a:t>Node.js on </a:t>
            </a:r>
            <a:r>
              <a:rPr lang="en-US" b="0" i="0" dirty="0" err="1">
                <a:solidFill>
                  <a:srgbClr val="181717"/>
                </a:solidFill>
                <a:effectLst/>
                <a:latin typeface="Verdana" panose="020B0604030504040204" pitchFamily="34" charset="0"/>
              </a:rPr>
              <a:t>github</a:t>
            </a:r>
            <a:r>
              <a:rPr lang="en-US" b="0" i="0" dirty="0">
                <a:solidFill>
                  <a:srgbClr val="181717"/>
                </a:solidFill>
                <a:effectLst/>
                <a:latin typeface="Verdana" panose="020B0604030504040204" pitchFamily="34" charset="0"/>
              </a:rPr>
              <a:t>: </a:t>
            </a:r>
            <a:r>
              <a:rPr lang="en-US" b="0" i="0" u="none" strike="noStrike" dirty="0">
                <a:solidFill>
                  <a:srgbClr val="407FB0"/>
                </a:solidFill>
                <a:effectLst/>
                <a:latin typeface="Verdana" panose="020B0604030504040204" pitchFamily="34" charset="0"/>
                <a:hlinkClick r:id="rId3"/>
              </a:rPr>
              <a:t>https://github.com/nodejs/node</a:t>
            </a:r>
            <a:endParaRPr lang="en-US" b="0" i="0" dirty="0">
              <a:solidFill>
                <a:srgbClr val="181717"/>
              </a:solidFill>
              <a:effectLst/>
              <a:latin typeface="Verdana" panose="020B0604030504040204" pitchFamily="34" charset="0"/>
            </a:endParaRPr>
          </a:p>
          <a:p>
            <a:pPr algn="just"/>
            <a:r>
              <a:rPr lang="en-US" b="0" i="0" dirty="0">
                <a:solidFill>
                  <a:srgbClr val="181717"/>
                </a:solidFill>
                <a:effectLst/>
                <a:latin typeface="Verdana" panose="020B0604030504040204" pitchFamily="34" charset="0"/>
              </a:rPr>
              <a:t>Node.js community conference </a:t>
            </a:r>
            <a:r>
              <a:rPr lang="en-US" b="0" i="0" u="none" strike="noStrike" dirty="0">
                <a:solidFill>
                  <a:srgbClr val="407FB0"/>
                </a:solidFill>
                <a:effectLst/>
                <a:latin typeface="Verdana" panose="020B0604030504040204" pitchFamily="34" charset="0"/>
                <a:hlinkClick r:id="rId4"/>
              </a:rPr>
              <a:t>http://nodeconf.com</a:t>
            </a:r>
            <a:endParaRPr lang="en-US" b="0" i="0" dirty="0">
              <a:solidFill>
                <a:srgbClr val="181717"/>
              </a:solidFill>
              <a:effectLst/>
              <a:latin typeface="Verdana" panose="020B0604030504040204" pitchFamily="34" charset="0"/>
            </a:endParaRPr>
          </a:p>
        </p:txBody>
      </p:sp>
    </p:spTree>
    <p:extLst>
      <p:ext uri="{BB962C8B-B14F-4D97-AF65-F5344CB8AC3E}">
        <p14:creationId xmlns:p14="http://schemas.microsoft.com/office/powerpoint/2010/main" val="641570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E3DF0-9D26-443E-8C7D-88375C832EAE}"/>
              </a:ext>
            </a:extLst>
          </p:cNvPr>
          <p:cNvSpPr>
            <a:spLocks noGrp="1"/>
          </p:cNvSpPr>
          <p:nvPr>
            <p:ph type="title"/>
          </p:nvPr>
        </p:nvSpPr>
        <p:spPr>
          <a:xfrm>
            <a:off x="1253066" y="0"/>
            <a:ext cx="9728200" cy="633941"/>
          </a:xfrm>
        </p:spPr>
        <p:txBody>
          <a:bodyPr>
            <a:normAutofit fontScale="90000"/>
          </a:bodyPr>
          <a:lstStyle/>
          <a:p>
            <a:r>
              <a:rPr lang="en-IN" dirty="0"/>
              <a:t>Features of Node.js</a:t>
            </a:r>
          </a:p>
        </p:txBody>
      </p:sp>
      <p:sp>
        <p:nvSpPr>
          <p:cNvPr id="3" name="Content Placeholder 2">
            <a:extLst>
              <a:ext uri="{FF2B5EF4-FFF2-40B4-BE49-F238E27FC236}">
                <a16:creationId xmlns:a16="http://schemas.microsoft.com/office/drawing/2014/main" id="{B6C10F7D-8078-4B5F-9D60-7F9117A97282}"/>
              </a:ext>
            </a:extLst>
          </p:cNvPr>
          <p:cNvSpPr>
            <a:spLocks noGrp="1"/>
          </p:cNvSpPr>
          <p:nvPr>
            <p:ph idx="1"/>
          </p:nvPr>
        </p:nvSpPr>
        <p:spPr>
          <a:xfrm>
            <a:off x="423332" y="1012825"/>
            <a:ext cx="10515600" cy="4351338"/>
          </a:xfrm>
        </p:spPr>
        <p:txBody>
          <a:bodyPr>
            <a:normAutofit fontScale="55000" lnSpcReduction="20000"/>
          </a:bodyPr>
          <a:lstStyle/>
          <a:p>
            <a:pPr>
              <a:lnSpc>
                <a:spcPct val="120000"/>
              </a:lnSpc>
              <a:spcBef>
                <a:spcPts val="1200"/>
              </a:spcBef>
              <a:spcAft>
                <a:spcPts val="1200"/>
              </a:spcAft>
            </a:pPr>
            <a:r>
              <a:rPr lang="en-US" dirty="0"/>
              <a:t>Asynchronous and Event Driven − All APIs of Node.js library are asynchronous, that is, non-blocking. It essentially means a Node.js based server never waits for an API to return data. The server moves to the next API after calling it and a notification mechanism of Events of Node.js helps the server to get a response from the previous API call.</a:t>
            </a:r>
          </a:p>
          <a:p>
            <a:pPr>
              <a:lnSpc>
                <a:spcPct val="120000"/>
              </a:lnSpc>
              <a:spcBef>
                <a:spcPts val="1200"/>
              </a:spcBef>
              <a:spcAft>
                <a:spcPts val="1200"/>
              </a:spcAft>
            </a:pPr>
            <a:r>
              <a:rPr lang="en-US" dirty="0"/>
              <a:t>Very Fast − Being built on Google Chrome's V8 JavaScript Engine, Node.js library is very fast in code execution.</a:t>
            </a:r>
          </a:p>
          <a:p>
            <a:pPr>
              <a:lnSpc>
                <a:spcPct val="120000"/>
              </a:lnSpc>
              <a:spcBef>
                <a:spcPts val="1200"/>
              </a:spcBef>
              <a:spcAft>
                <a:spcPts val="1200"/>
              </a:spcAft>
            </a:pPr>
            <a:r>
              <a:rPr lang="en-US" dirty="0"/>
              <a:t>Single Threaded but Highly Scalable − Node.js uses a single threaded model with event looping. Event mechanism helps the server to respond in a non-blocking way and makes the server highly scalable as opposed to traditional servers which create limited threads to handle requests. Node.js uses a single threaded program and the same program can provide service to a much larger number of requests than traditional servers like Apache HTTP Server.</a:t>
            </a:r>
          </a:p>
          <a:p>
            <a:pPr>
              <a:lnSpc>
                <a:spcPct val="120000"/>
              </a:lnSpc>
              <a:spcBef>
                <a:spcPts val="1200"/>
              </a:spcBef>
              <a:spcAft>
                <a:spcPts val="1200"/>
              </a:spcAft>
            </a:pPr>
            <a:r>
              <a:rPr lang="en-US" dirty="0"/>
              <a:t>No Buffering − Node.js applications never buffer any data. These applications simply output the data in chunks.</a:t>
            </a:r>
          </a:p>
          <a:p>
            <a:pPr>
              <a:lnSpc>
                <a:spcPct val="120000"/>
              </a:lnSpc>
              <a:spcBef>
                <a:spcPts val="1200"/>
              </a:spcBef>
              <a:spcAft>
                <a:spcPts val="1200"/>
              </a:spcAft>
            </a:pPr>
            <a:r>
              <a:rPr lang="en-US" dirty="0"/>
              <a:t>License − Node.js is released under the MIT license.</a:t>
            </a:r>
            <a:endParaRPr lang="en-IN" dirty="0"/>
          </a:p>
        </p:txBody>
      </p:sp>
    </p:spTree>
    <p:extLst>
      <p:ext uri="{BB962C8B-B14F-4D97-AF65-F5344CB8AC3E}">
        <p14:creationId xmlns:p14="http://schemas.microsoft.com/office/powerpoint/2010/main" val="16518907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B6162-086A-416B-B6B2-3969663BCA06}"/>
              </a:ext>
            </a:extLst>
          </p:cNvPr>
          <p:cNvSpPr>
            <a:spLocks noGrp="1"/>
          </p:cNvSpPr>
          <p:nvPr>
            <p:ph type="title"/>
          </p:nvPr>
        </p:nvSpPr>
        <p:spPr>
          <a:xfrm>
            <a:off x="1380066" y="365125"/>
            <a:ext cx="9973733" cy="676275"/>
          </a:xfrm>
        </p:spPr>
        <p:txBody>
          <a:bodyPr>
            <a:normAutofit/>
          </a:bodyPr>
          <a:lstStyle/>
          <a:p>
            <a:r>
              <a:rPr lang="en-US" sz="1800" dirty="0"/>
              <a:t>Where to Use Node.js?</a:t>
            </a:r>
            <a:endParaRPr lang="en-IN" sz="1800" dirty="0"/>
          </a:p>
        </p:txBody>
      </p:sp>
      <p:sp>
        <p:nvSpPr>
          <p:cNvPr id="3" name="Content Placeholder 2">
            <a:extLst>
              <a:ext uri="{FF2B5EF4-FFF2-40B4-BE49-F238E27FC236}">
                <a16:creationId xmlns:a16="http://schemas.microsoft.com/office/drawing/2014/main" id="{16C139EB-7461-466C-80FB-7458983825C7}"/>
              </a:ext>
            </a:extLst>
          </p:cNvPr>
          <p:cNvSpPr>
            <a:spLocks noGrp="1"/>
          </p:cNvSpPr>
          <p:nvPr>
            <p:ph idx="1"/>
          </p:nvPr>
        </p:nvSpPr>
        <p:spPr>
          <a:xfrm>
            <a:off x="296333" y="1149350"/>
            <a:ext cx="4855770" cy="1799167"/>
          </a:xfrm>
        </p:spPr>
        <p:txBody>
          <a:bodyPr>
            <a:normAutofit/>
          </a:bodyPr>
          <a:lstStyle/>
          <a:p>
            <a:r>
              <a:rPr lang="en-IN" sz="1600" dirty="0"/>
              <a:t>I/O bound Applications</a:t>
            </a:r>
          </a:p>
          <a:p>
            <a:r>
              <a:rPr lang="en-IN" sz="1600" dirty="0"/>
              <a:t>Data Streaming Applications</a:t>
            </a:r>
          </a:p>
          <a:p>
            <a:r>
              <a:rPr lang="en-IN" sz="1600" dirty="0"/>
              <a:t>Data Intensive Real-time Applications (DIRT)</a:t>
            </a:r>
          </a:p>
          <a:p>
            <a:r>
              <a:rPr lang="en-IN" sz="1600" dirty="0"/>
              <a:t>JSON APIs based Applications</a:t>
            </a:r>
          </a:p>
          <a:p>
            <a:r>
              <a:rPr lang="en-IN" sz="1600" dirty="0"/>
              <a:t>Single Page Applications</a:t>
            </a:r>
          </a:p>
        </p:txBody>
      </p:sp>
      <p:sp>
        <p:nvSpPr>
          <p:cNvPr id="5" name="TextBox 4">
            <a:extLst>
              <a:ext uri="{FF2B5EF4-FFF2-40B4-BE49-F238E27FC236}">
                <a16:creationId xmlns:a16="http://schemas.microsoft.com/office/drawing/2014/main" id="{DB49A2B7-3859-41BC-9121-59AB133C4A07}"/>
              </a:ext>
            </a:extLst>
          </p:cNvPr>
          <p:cNvSpPr txBox="1"/>
          <p:nvPr/>
        </p:nvSpPr>
        <p:spPr>
          <a:xfrm>
            <a:off x="296333" y="2948517"/>
            <a:ext cx="6134100" cy="369332"/>
          </a:xfrm>
          <a:prstGeom prst="rect">
            <a:avLst/>
          </a:prstGeom>
          <a:noFill/>
        </p:spPr>
        <p:txBody>
          <a:bodyPr wrap="square">
            <a:spAutoFit/>
          </a:bodyPr>
          <a:lstStyle/>
          <a:p>
            <a:r>
              <a:rPr lang="en-US" dirty="0"/>
              <a:t>Where Not to Use Node.js?</a:t>
            </a:r>
            <a:endParaRPr lang="en-IN" dirty="0"/>
          </a:p>
        </p:txBody>
      </p:sp>
      <p:sp>
        <p:nvSpPr>
          <p:cNvPr id="7" name="TextBox 6">
            <a:extLst>
              <a:ext uri="{FF2B5EF4-FFF2-40B4-BE49-F238E27FC236}">
                <a16:creationId xmlns:a16="http://schemas.microsoft.com/office/drawing/2014/main" id="{7DD7F059-8E83-4180-9DDF-8356AA668F2F}"/>
              </a:ext>
            </a:extLst>
          </p:cNvPr>
          <p:cNvSpPr txBox="1"/>
          <p:nvPr/>
        </p:nvSpPr>
        <p:spPr>
          <a:xfrm>
            <a:off x="0" y="3663434"/>
            <a:ext cx="6134100" cy="369332"/>
          </a:xfrm>
          <a:prstGeom prst="rect">
            <a:avLst/>
          </a:prstGeom>
          <a:noFill/>
        </p:spPr>
        <p:txBody>
          <a:bodyPr wrap="square">
            <a:spAutoFit/>
          </a:bodyPr>
          <a:lstStyle/>
          <a:p>
            <a:r>
              <a:rPr lang="en-US" dirty="0"/>
              <a:t>It is not advisable to use Node.js for CPU intensive applications.</a:t>
            </a:r>
            <a:endParaRPr lang="en-IN" dirty="0"/>
          </a:p>
        </p:txBody>
      </p:sp>
      <p:sp>
        <p:nvSpPr>
          <p:cNvPr id="9" name="TextBox 8">
            <a:extLst>
              <a:ext uri="{FF2B5EF4-FFF2-40B4-BE49-F238E27FC236}">
                <a16:creationId xmlns:a16="http://schemas.microsoft.com/office/drawing/2014/main" id="{489320F8-6D35-4E63-B14C-19E674D21D07}"/>
              </a:ext>
            </a:extLst>
          </p:cNvPr>
          <p:cNvSpPr txBox="1"/>
          <p:nvPr/>
        </p:nvSpPr>
        <p:spPr>
          <a:xfrm>
            <a:off x="6057900" y="132361"/>
            <a:ext cx="6134100" cy="5909310"/>
          </a:xfrm>
          <a:prstGeom prst="rect">
            <a:avLst/>
          </a:prstGeom>
          <a:noFill/>
        </p:spPr>
        <p:txBody>
          <a:bodyPr wrap="square">
            <a:spAutoFit/>
          </a:bodyPr>
          <a:lstStyle/>
          <a:p>
            <a:r>
              <a:rPr lang="en-US" dirty="0"/>
              <a:t>A common task for a web server can be to open a file on the server and return the content to the client.</a:t>
            </a:r>
          </a:p>
          <a:p>
            <a:endParaRPr lang="en-US" dirty="0"/>
          </a:p>
          <a:p>
            <a:r>
              <a:rPr lang="en-US" b="1" dirty="0"/>
              <a:t>Here is how PHP or ASP handles a file request: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Sends the task to the computer's file system.</a:t>
            </a:r>
          </a:p>
          <a:p>
            <a:pPr marL="285750" indent="-285750">
              <a:buFont typeface="Arial" panose="020B0604020202020204" pitchFamily="34" charset="0"/>
              <a:buChar char="•"/>
            </a:pPr>
            <a:r>
              <a:rPr lang="en-US" dirty="0">
                <a:highlight>
                  <a:srgbClr val="FFFF00"/>
                </a:highlight>
              </a:rPr>
              <a:t>Waits while the file system opens </a:t>
            </a:r>
            <a:r>
              <a:rPr lang="en-US" dirty="0"/>
              <a:t>and reads the file.</a:t>
            </a:r>
          </a:p>
          <a:p>
            <a:pPr marL="285750" indent="-285750">
              <a:buFont typeface="Arial" panose="020B0604020202020204" pitchFamily="34" charset="0"/>
              <a:buChar char="•"/>
            </a:pPr>
            <a:r>
              <a:rPr lang="en-US" dirty="0"/>
              <a:t>Returns the content to the client.</a:t>
            </a:r>
          </a:p>
          <a:p>
            <a:pPr marL="285750" indent="-285750">
              <a:buFont typeface="Arial" panose="020B0604020202020204" pitchFamily="34" charset="0"/>
              <a:buChar char="•"/>
            </a:pPr>
            <a:r>
              <a:rPr lang="en-US" dirty="0"/>
              <a:t>Ready to handle the next request.</a:t>
            </a:r>
          </a:p>
          <a:p>
            <a:endParaRPr lang="en-US" dirty="0"/>
          </a:p>
          <a:p>
            <a:r>
              <a:rPr lang="en-US" b="1" dirty="0"/>
              <a:t>Here is how Node.js handles a file request:</a:t>
            </a:r>
          </a:p>
          <a:p>
            <a:endParaRPr lang="en-US" dirty="0"/>
          </a:p>
          <a:p>
            <a:pPr marL="285750" indent="-285750">
              <a:buFont typeface="Arial" panose="020B0604020202020204" pitchFamily="34" charset="0"/>
              <a:buChar char="•"/>
            </a:pPr>
            <a:r>
              <a:rPr lang="en-US" dirty="0"/>
              <a:t>Sends the task to the computer's file system.</a:t>
            </a:r>
          </a:p>
          <a:p>
            <a:pPr marL="285750" indent="-285750">
              <a:buFont typeface="Arial" panose="020B0604020202020204" pitchFamily="34" charset="0"/>
              <a:buChar char="•"/>
            </a:pPr>
            <a:r>
              <a:rPr lang="en-US" dirty="0">
                <a:highlight>
                  <a:srgbClr val="FFFF00"/>
                </a:highlight>
              </a:rPr>
              <a:t>Ready to handle the next request</a:t>
            </a:r>
            <a:r>
              <a:rPr lang="en-US" dirty="0"/>
              <a:t>.</a:t>
            </a:r>
          </a:p>
          <a:p>
            <a:pPr marL="285750" indent="-285750">
              <a:buFont typeface="Arial" panose="020B0604020202020204" pitchFamily="34" charset="0"/>
              <a:buChar char="•"/>
            </a:pPr>
            <a:r>
              <a:rPr lang="en-US" dirty="0"/>
              <a:t>When the file system has opened and read the file, the server returns the content to the client.</a:t>
            </a:r>
          </a:p>
          <a:p>
            <a:pPr marL="285750" indent="-285750">
              <a:buFont typeface="Arial" panose="020B0604020202020204" pitchFamily="34" charset="0"/>
              <a:buChar char="•"/>
            </a:pPr>
            <a:r>
              <a:rPr lang="en-US" dirty="0"/>
              <a:t>Node.js eliminates the waiting, and simply continues with the next request.</a:t>
            </a:r>
          </a:p>
          <a:p>
            <a:endParaRPr lang="en-US" dirty="0"/>
          </a:p>
          <a:p>
            <a:r>
              <a:rPr lang="en-US" dirty="0"/>
              <a:t>Node.js runs single-threaded, non-blocking, asynchronously programming, which is very memory efficient.</a:t>
            </a:r>
            <a:endParaRPr lang="en-IN" dirty="0"/>
          </a:p>
        </p:txBody>
      </p:sp>
    </p:spTree>
    <p:extLst>
      <p:ext uri="{BB962C8B-B14F-4D97-AF65-F5344CB8AC3E}">
        <p14:creationId xmlns:p14="http://schemas.microsoft.com/office/powerpoint/2010/main" val="237697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525DD-710B-414A-9BC1-23C1AD6A15FA}"/>
              </a:ext>
            </a:extLst>
          </p:cNvPr>
          <p:cNvSpPr>
            <a:spLocks noGrp="1"/>
          </p:cNvSpPr>
          <p:nvPr>
            <p:ph type="title"/>
          </p:nvPr>
        </p:nvSpPr>
        <p:spPr>
          <a:xfrm>
            <a:off x="1221658" y="-7796"/>
            <a:ext cx="10213258" cy="666557"/>
          </a:xfrm>
        </p:spPr>
        <p:txBody>
          <a:bodyPr>
            <a:normAutofit fontScale="90000"/>
          </a:bodyPr>
          <a:lstStyle/>
          <a:p>
            <a:r>
              <a:rPr kumimoji="0" lang="en-US" sz="4400" b="0" i="0" u="none" strike="noStrike" kern="1200" cap="none" spc="0" normalizeH="0" baseline="0" noProof="0" dirty="0">
                <a:ln>
                  <a:noFill/>
                </a:ln>
                <a:solidFill>
                  <a:prstClr val="black"/>
                </a:solidFill>
                <a:effectLst/>
                <a:uLnTx/>
                <a:uFillTx/>
                <a:latin typeface="Garamond" panose="02020404030301010803"/>
                <a:ea typeface="+mn-ea"/>
                <a:cs typeface="+mn-cs"/>
              </a:rPr>
              <a:t>Installation on Windows</a:t>
            </a:r>
            <a:endParaRPr lang="en-IN" dirty="0"/>
          </a:p>
        </p:txBody>
      </p:sp>
      <p:sp>
        <p:nvSpPr>
          <p:cNvPr id="3" name="Content Placeholder 2">
            <a:extLst>
              <a:ext uri="{FF2B5EF4-FFF2-40B4-BE49-F238E27FC236}">
                <a16:creationId xmlns:a16="http://schemas.microsoft.com/office/drawing/2014/main" id="{6761AA61-27C5-4EA0-B1F6-7D91AA14B5F6}"/>
              </a:ext>
            </a:extLst>
          </p:cNvPr>
          <p:cNvSpPr>
            <a:spLocks noGrp="1"/>
          </p:cNvSpPr>
          <p:nvPr>
            <p:ph idx="1"/>
          </p:nvPr>
        </p:nvSpPr>
        <p:spPr>
          <a:xfrm>
            <a:off x="207843" y="658761"/>
            <a:ext cx="11227073" cy="5153282"/>
          </a:xfrm>
        </p:spPr>
        <p:txBody>
          <a:bodyPr>
            <a:noAutofit/>
          </a:bodyPr>
          <a:lstStyle/>
          <a:p>
            <a:pPr>
              <a:lnSpc>
                <a:spcPct val="100000"/>
              </a:lnSpc>
              <a:spcBef>
                <a:spcPts val="0"/>
              </a:spcBef>
            </a:pPr>
            <a:r>
              <a:rPr lang="en-US" sz="2000" dirty="0"/>
              <a:t>https://nodejs.org/en/download/</a:t>
            </a:r>
          </a:p>
          <a:p>
            <a:pPr>
              <a:lnSpc>
                <a:spcPct val="100000"/>
              </a:lnSpc>
              <a:spcBef>
                <a:spcPts val="0"/>
              </a:spcBef>
            </a:pPr>
            <a:r>
              <a:rPr lang="en-US" sz="2000" dirty="0"/>
              <a:t>Use the MSI file and follow the prompts to install the Node.js. By default, the installer uses the Node.js distribution in C:\Program Files\</a:t>
            </a:r>
            <a:r>
              <a:rPr lang="en-US" sz="2000" dirty="0" err="1"/>
              <a:t>nodejs</a:t>
            </a:r>
            <a:r>
              <a:rPr lang="en-US" sz="2000" dirty="0"/>
              <a:t>. The installer should set the C:\Program Files\</a:t>
            </a:r>
            <a:r>
              <a:rPr lang="en-US" sz="2000" dirty="0" err="1"/>
              <a:t>nodejs</a:t>
            </a:r>
            <a:r>
              <a:rPr lang="en-US" sz="2000" dirty="0"/>
              <a:t>\bin directory in window's PATH environment variable. Restart any open command prompts for the change to take effect.</a:t>
            </a:r>
          </a:p>
          <a:p>
            <a:pPr>
              <a:lnSpc>
                <a:spcPct val="100000"/>
              </a:lnSpc>
              <a:spcBef>
                <a:spcPts val="0"/>
              </a:spcBef>
            </a:pPr>
            <a:endParaRPr lang="en-US" sz="2000" dirty="0"/>
          </a:p>
          <a:p>
            <a:pPr>
              <a:lnSpc>
                <a:spcPct val="100000"/>
              </a:lnSpc>
              <a:spcBef>
                <a:spcPts val="0"/>
              </a:spcBef>
            </a:pPr>
            <a:r>
              <a:rPr lang="en-US" sz="2000" dirty="0"/>
              <a:t>Test is software running: open terminal</a:t>
            </a:r>
          </a:p>
          <a:p>
            <a:pPr>
              <a:lnSpc>
                <a:spcPct val="100000"/>
              </a:lnSpc>
              <a:spcBef>
                <a:spcPts val="0"/>
              </a:spcBef>
            </a:pPr>
            <a:endParaRPr lang="en-US" sz="2000" dirty="0"/>
          </a:p>
          <a:p>
            <a:pPr>
              <a:lnSpc>
                <a:spcPct val="100000"/>
              </a:lnSpc>
              <a:spcBef>
                <a:spcPts val="0"/>
              </a:spcBef>
            </a:pPr>
            <a:r>
              <a:rPr lang="en-US" sz="2000" dirty="0"/>
              <a:t> Create a </a:t>
            </a:r>
            <a:r>
              <a:rPr lang="en-US" sz="2000" dirty="0" err="1"/>
              <a:t>js</a:t>
            </a:r>
            <a:r>
              <a:rPr lang="en-US" sz="2000" dirty="0"/>
              <a:t> file named main.js on your machine (Windows or Linux) having the following code.</a:t>
            </a:r>
          </a:p>
          <a:p>
            <a:pPr>
              <a:lnSpc>
                <a:spcPct val="100000"/>
              </a:lnSpc>
              <a:spcBef>
                <a:spcPts val="0"/>
              </a:spcBef>
            </a:pPr>
            <a:endParaRPr lang="en-US" sz="2000" dirty="0"/>
          </a:p>
          <a:p>
            <a:pPr marL="457200" lvl="1" indent="0">
              <a:lnSpc>
                <a:spcPct val="100000"/>
              </a:lnSpc>
              <a:spcBef>
                <a:spcPts val="0"/>
              </a:spcBef>
              <a:buNone/>
            </a:pPr>
            <a:r>
              <a:rPr kumimoji="0" lang="en-US" altLang="en-US" sz="2000" b="1" i="0" u="none" strike="noStrike" cap="none" normalizeH="0" baseline="0" dirty="0">
                <a:ln>
                  <a:noFill/>
                </a:ln>
                <a:solidFill>
                  <a:srgbClr val="000000"/>
                </a:solidFill>
                <a:effectLst/>
                <a:latin typeface="Courier New" panose="02070309020205020404" pitchFamily="49" charset="0"/>
              </a:rPr>
              <a:t>console</a:t>
            </a:r>
            <a:r>
              <a:rPr kumimoji="0" lang="en-US" altLang="en-US" sz="2000" b="1" i="0" u="none" strike="noStrike" cap="none" normalizeH="0" baseline="0" dirty="0">
                <a:ln>
                  <a:noFill/>
                </a:ln>
                <a:solidFill>
                  <a:srgbClr val="666600"/>
                </a:solidFill>
                <a:effectLst/>
                <a:latin typeface="Courier New" panose="02070309020205020404" pitchFamily="49" charset="0"/>
              </a:rPr>
              <a:t>.</a:t>
            </a:r>
            <a:r>
              <a:rPr kumimoji="0" lang="en-US" altLang="en-US" sz="2000" b="1" i="0" u="none" strike="noStrike" cap="none" normalizeH="0" baseline="0" dirty="0">
                <a:ln>
                  <a:noFill/>
                </a:ln>
                <a:solidFill>
                  <a:srgbClr val="000000"/>
                </a:solidFill>
                <a:effectLst/>
                <a:latin typeface="Courier New" panose="02070309020205020404" pitchFamily="49" charset="0"/>
              </a:rPr>
              <a:t>log</a:t>
            </a:r>
            <a:r>
              <a:rPr kumimoji="0" lang="en-US" altLang="en-US" sz="2000" b="1" i="0" u="none" strike="noStrike" cap="none" normalizeH="0" baseline="0" dirty="0">
                <a:ln>
                  <a:noFill/>
                </a:ln>
                <a:solidFill>
                  <a:srgbClr val="666600"/>
                </a:solidFill>
                <a:effectLst/>
                <a:latin typeface="Courier New" panose="02070309020205020404" pitchFamily="49" charset="0"/>
              </a:rPr>
              <a:t>(</a:t>
            </a:r>
            <a:r>
              <a:rPr kumimoji="0" lang="en-US" altLang="en-US" sz="2000" b="1" i="0" u="none" strike="noStrike" cap="none" normalizeH="0" baseline="0" dirty="0">
                <a:ln>
                  <a:noFill/>
                </a:ln>
                <a:solidFill>
                  <a:srgbClr val="008800"/>
                </a:solidFill>
                <a:effectLst/>
                <a:latin typeface="Courier New" panose="02070309020205020404" pitchFamily="49" charset="0"/>
              </a:rPr>
              <a:t>"Hello, World!"</a:t>
            </a:r>
            <a:r>
              <a:rPr kumimoji="0" lang="en-US" altLang="en-US" sz="2000" b="1" i="0" u="none" strike="noStrike" cap="none" normalizeH="0" baseline="0" dirty="0">
                <a:ln>
                  <a:noFill/>
                </a:ln>
                <a:solidFill>
                  <a:srgbClr val="666600"/>
                </a:solidFill>
                <a:effectLst/>
                <a:latin typeface="Courier New" panose="02070309020205020404" pitchFamily="49" charset="0"/>
              </a:rPr>
              <a:t>)</a:t>
            </a:r>
            <a:r>
              <a:rPr kumimoji="0" lang="en-US" altLang="en-US" sz="2000" b="1" i="0" u="none" strike="noStrike" cap="none" normalizeH="0" baseline="0" dirty="0">
                <a:ln>
                  <a:noFill/>
                </a:ln>
                <a:solidFill>
                  <a:schemeClr val="tx1"/>
                </a:solidFill>
                <a:effectLst/>
              </a:rPr>
              <a:t> </a:t>
            </a:r>
            <a:endParaRPr lang="en-US" sz="2000" dirty="0"/>
          </a:p>
          <a:p>
            <a:pPr>
              <a:lnSpc>
                <a:spcPct val="100000"/>
              </a:lnSpc>
              <a:spcBef>
                <a:spcPts val="0"/>
              </a:spcBef>
            </a:pPr>
            <a:r>
              <a:rPr lang="en-US" sz="2000" dirty="0"/>
              <a:t>Now execute main.js file using Node.js interpreter to see the result −</a:t>
            </a:r>
          </a:p>
          <a:p>
            <a:pPr>
              <a:lnSpc>
                <a:spcPct val="100000"/>
              </a:lnSpc>
              <a:spcBef>
                <a:spcPts val="0"/>
              </a:spcBef>
            </a:pPr>
            <a:endParaRPr lang="en-US" sz="2000" dirty="0"/>
          </a:p>
          <a:p>
            <a:pPr>
              <a:lnSpc>
                <a:spcPct val="100000"/>
              </a:lnSpc>
              <a:spcBef>
                <a:spcPts val="0"/>
              </a:spcBef>
            </a:pPr>
            <a:r>
              <a:rPr lang="en-US" sz="2000" b="1" dirty="0"/>
              <a:t>&gt; node main.js</a:t>
            </a:r>
          </a:p>
          <a:p>
            <a:pPr>
              <a:lnSpc>
                <a:spcPct val="100000"/>
              </a:lnSpc>
              <a:spcBef>
                <a:spcPts val="0"/>
              </a:spcBef>
            </a:pPr>
            <a:endParaRPr lang="en-US" sz="2000" b="1" dirty="0"/>
          </a:p>
          <a:p>
            <a:pPr>
              <a:lnSpc>
                <a:spcPct val="100000"/>
              </a:lnSpc>
              <a:spcBef>
                <a:spcPts val="0"/>
              </a:spcBef>
            </a:pPr>
            <a:r>
              <a:rPr lang="en-US" sz="2000" dirty="0"/>
              <a:t>If everything is fine with your installation, this should produce the following result −</a:t>
            </a:r>
          </a:p>
          <a:p>
            <a:pPr>
              <a:lnSpc>
                <a:spcPct val="100000"/>
              </a:lnSpc>
              <a:spcBef>
                <a:spcPts val="0"/>
              </a:spcBef>
            </a:pPr>
            <a:r>
              <a:rPr lang="en-US" sz="2000" dirty="0"/>
              <a:t>Hello, World!</a:t>
            </a:r>
          </a:p>
          <a:p>
            <a:pPr>
              <a:lnSpc>
                <a:spcPct val="120000"/>
              </a:lnSpc>
              <a:spcBef>
                <a:spcPts val="1200"/>
              </a:spcBef>
              <a:spcAft>
                <a:spcPts val="1200"/>
              </a:spcAft>
            </a:pPr>
            <a:endParaRPr lang="en-IN" sz="2000" dirty="0"/>
          </a:p>
        </p:txBody>
      </p:sp>
    </p:spTree>
    <p:extLst>
      <p:ext uri="{BB962C8B-B14F-4D97-AF65-F5344CB8AC3E}">
        <p14:creationId xmlns:p14="http://schemas.microsoft.com/office/powerpoint/2010/main" val="4183910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3E1A7F7-FCAC-4606-ADC0-EF1715C6E5D1}"/>
              </a:ext>
            </a:extLst>
          </p:cNvPr>
          <p:cNvPicPr>
            <a:picLocks noGrp="1" noChangeAspect="1"/>
          </p:cNvPicPr>
          <p:nvPr>
            <p:ph idx="1"/>
          </p:nvPr>
        </p:nvPicPr>
        <p:blipFill>
          <a:blip r:embed="rId2"/>
          <a:stretch>
            <a:fillRect/>
          </a:stretch>
        </p:blipFill>
        <p:spPr>
          <a:xfrm>
            <a:off x="2228144" y="1825625"/>
            <a:ext cx="7735712" cy="4351338"/>
          </a:xfrm>
        </p:spPr>
      </p:pic>
    </p:spTree>
    <p:extLst>
      <p:ext uri="{BB962C8B-B14F-4D97-AF65-F5344CB8AC3E}">
        <p14:creationId xmlns:p14="http://schemas.microsoft.com/office/powerpoint/2010/main" val="465034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4DCACC-BBA7-4B4E-9647-93004B918EF6}"/>
              </a:ext>
            </a:extLst>
          </p:cNvPr>
          <p:cNvSpPr>
            <a:spLocks noGrp="1"/>
          </p:cNvSpPr>
          <p:nvPr>
            <p:ph type="title"/>
          </p:nvPr>
        </p:nvSpPr>
        <p:spPr>
          <a:xfrm>
            <a:off x="1312333" y="0"/>
            <a:ext cx="10041467" cy="422275"/>
          </a:xfrm>
        </p:spPr>
        <p:txBody>
          <a:bodyPr>
            <a:normAutofit/>
          </a:bodyPr>
          <a:lstStyle/>
          <a:p>
            <a:r>
              <a:rPr lang="en-US" sz="1600" b="0" i="0" dirty="0">
                <a:solidFill>
                  <a:srgbClr val="000000"/>
                </a:solidFill>
                <a:effectLst/>
                <a:latin typeface="Arial" panose="020B0604020202020204" pitchFamily="34" charset="0"/>
              </a:rPr>
              <a:t>A Node.js application consists of the following three important components −Demo1</a:t>
            </a:r>
            <a:endParaRPr lang="en-IN" dirty="0"/>
          </a:p>
        </p:txBody>
      </p:sp>
      <p:sp>
        <p:nvSpPr>
          <p:cNvPr id="3" name="Content Placeholder 2">
            <a:extLst>
              <a:ext uri="{FF2B5EF4-FFF2-40B4-BE49-F238E27FC236}">
                <a16:creationId xmlns:a16="http://schemas.microsoft.com/office/drawing/2014/main" id="{4FAA6744-FA09-4173-BD0A-C2DF9B81C60D}"/>
              </a:ext>
            </a:extLst>
          </p:cNvPr>
          <p:cNvSpPr>
            <a:spLocks noGrp="1"/>
          </p:cNvSpPr>
          <p:nvPr>
            <p:ph idx="1"/>
          </p:nvPr>
        </p:nvSpPr>
        <p:spPr>
          <a:xfrm>
            <a:off x="1075266" y="288486"/>
            <a:ext cx="10515600" cy="1510242"/>
          </a:xfrm>
        </p:spPr>
        <p:txBody>
          <a:bodyPr>
            <a:normAutofit/>
          </a:bodyPr>
          <a:lstStyle/>
          <a:p>
            <a:r>
              <a:rPr lang="en-US" sz="1600" dirty="0"/>
              <a:t>Import required modules − We use the require directive to load Node.js modules.</a:t>
            </a:r>
          </a:p>
          <a:p>
            <a:r>
              <a:rPr lang="en-US" sz="1600" dirty="0"/>
              <a:t>Create server − A server which will listen to client's requests similar to Apache HTTP Server.</a:t>
            </a:r>
          </a:p>
          <a:p>
            <a:r>
              <a:rPr lang="en-US" sz="1600" dirty="0"/>
              <a:t>Read request and return response − create a server that will read the HTTP request made by the client which can be a browser or a console and return the response.</a:t>
            </a:r>
            <a:endParaRPr lang="en-IN" sz="1600" dirty="0"/>
          </a:p>
        </p:txBody>
      </p:sp>
      <p:sp>
        <p:nvSpPr>
          <p:cNvPr id="5" name="TextBox 4">
            <a:extLst>
              <a:ext uri="{FF2B5EF4-FFF2-40B4-BE49-F238E27FC236}">
                <a16:creationId xmlns:a16="http://schemas.microsoft.com/office/drawing/2014/main" id="{65C51A8B-2E3D-448D-AFF4-E61423FDB4D8}"/>
              </a:ext>
            </a:extLst>
          </p:cNvPr>
          <p:cNvSpPr txBox="1"/>
          <p:nvPr/>
        </p:nvSpPr>
        <p:spPr>
          <a:xfrm>
            <a:off x="0" y="1400614"/>
            <a:ext cx="11391901" cy="861774"/>
          </a:xfrm>
          <a:prstGeom prst="rect">
            <a:avLst/>
          </a:prstGeom>
          <a:noFill/>
        </p:spPr>
        <p:txBody>
          <a:bodyPr wrap="square">
            <a:spAutoFit/>
          </a:bodyPr>
          <a:lstStyle/>
          <a:p>
            <a:r>
              <a:rPr lang="en-US" b="1" dirty="0"/>
              <a:t>Step 1 - Import Required Module</a:t>
            </a:r>
          </a:p>
          <a:p>
            <a:r>
              <a:rPr lang="en-US" dirty="0"/>
              <a:t>We use the require directive to load the http module and store the returned HTTP instance into an http variable as follows −</a:t>
            </a:r>
          </a:p>
          <a:p>
            <a:r>
              <a:rPr lang="en-IN" sz="1400" b="0" dirty="0">
                <a:solidFill>
                  <a:srgbClr val="0000FF"/>
                </a:solidFill>
                <a:effectLst/>
                <a:latin typeface="Consolas" panose="020B0609020204030204" pitchFamily="49" charset="0"/>
              </a:rPr>
              <a:t>var</a:t>
            </a:r>
            <a:r>
              <a:rPr lang="en-IN" sz="1400" b="0" dirty="0">
                <a:solidFill>
                  <a:srgbClr val="000000"/>
                </a:solidFill>
                <a:effectLst/>
                <a:latin typeface="Consolas" panose="020B0609020204030204" pitchFamily="49" charset="0"/>
              </a:rPr>
              <a:t> </a:t>
            </a:r>
            <a:r>
              <a:rPr lang="en-IN" sz="1400" b="0" dirty="0">
                <a:solidFill>
                  <a:srgbClr val="001080"/>
                </a:solidFill>
                <a:effectLst/>
                <a:latin typeface="Consolas" panose="020B0609020204030204" pitchFamily="49" charset="0"/>
              </a:rPr>
              <a:t>http</a:t>
            </a:r>
            <a:r>
              <a:rPr lang="en-IN" sz="1400" b="0" dirty="0">
                <a:solidFill>
                  <a:srgbClr val="000000"/>
                </a:solidFill>
                <a:effectLst/>
                <a:latin typeface="Consolas" panose="020B0609020204030204" pitchFamily="49" charset="0"/>
              </a:rPr>
              <a:t> = </a:t>
            </a:r>
            <a:r>
              <a:rPr lang="en-IN" sz="1400" b="0" dirty="0">
                <a:solidFill>
                  <a:srgbClr val="795E26"/>
                </a:solidFill>
                <a:effectLst/>
                <a:latin typeface="Consolas" panose="020B0609020204030204" pitchFamily="49" charset="0"/>
              </a:rPr>
              <a:t>require</a:t>
            </a:r>
            <a:r>
              <a:rPr lang="en-IN" sz="1400" b="0" dirty="0">
                <a:solidFill>
                  <a:srgbClr val="000000"/>
                </a:solidFill>
                <a:effectLst/>
                <a:latin typeface="Consolas" panose="020B0609020204030204" pitchFamily="49" charset="0"/>
              </a:rPr>
              <a:t>(</a:t>
            </a:r>
            <a:r>
              <a:rPr lang="en-IN" sz="1400" b="0" dirty="0">
                <a:solidFill>
                  <a:srgbClr val="A31515"/>
                </a:solidFill>
                <a:effectLst/>
                <a:latin typeface="Consolas" panose="020B0609020204030204" pitchFamily="49" charset="0"/>
              </a:rPr>
              <a:t>"http"</a:t>
            </a:r>
            <a:r>
              <a:rPr lang="en-IN" sz="1400"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2BBE5FB5-7248-490F-85F2-0B4B4D95361D}"/>
              </a:ext>
            </a:extLst>
          </p:cNvPr>
          <p:cNvSpPr txBox="1"/>
          <p:nvPr/>
        </p:nvSpPr>
        <p:spPr>
          <a:xfrm>
            <a:off x="0" y="2344297"/>
            <a:ext cx="12020551" cy="1200329"/>
          </a:xfrm>
          <a:prstGeom prst="rect">
            <a:avLst/>
          </a:prstGeom>
          <a:noFill/>
        </p:spPr>
        <p:txBody>
          <a:bodyPr wrap="square">
            <a:spAutoFit/>
          </a:bodyPr>
          <a:lstStyle/>
          <a:p>
            <a:r>
              <a:rPr lang="en-US" b="1" dirty="0"/>
              <a:t>Step 2 - Create Server</a:t>
            </a:r>
          </a:p>
          <a:p>
            <a:r>
              <a:rPr lang="en-US" dirty="0"/>
              <a:t>We use the created </a:t>
            </a:r>
            <a:r>
              <a:rPr lang="en-US" dirty="0">
                <a:highlight>
                  <a:srgbClr val="FFFF00"/>
                </a:highlight>
              </a:rPr>
              <a:t>http instance </a:t>
            </a:r>
            <a:r>
              <a:rPr lang="en-US" dirty="0"/>
              <a:t>and call </a:t>
            </a:r>
            <a:r>
              <a:rPr lang="en-US" dirty="0" err="1"/>
              <a:t>http.createServer</a:t>
            </a:r>
            <a:r>
              <a:rPr lang="en-US" dirty="0"/>
              <a:t>() method to create a server instance and then we bind it at port 8081 using the listen method associated with the </a:t>
            </a:r>
            <a:r>
              <a:rPr lang="en-US" dirty="0">
                <a:highlight>
                  <a:srgbClr val="FFFF00"/>
                </a:highlight>
              </a:rPr>
              <a:t>server instance</a:t>
            </a:r>
            <a:r>
              <a:rPr lang="en-US" dirty="0"/>
              <a:t>. Pass it a function with parameters request and response. Write the sample implementation to always return "Hello World".</a:t>
            </a:r>
            <a:endParaRPr lang="en-IN" dirty="0"/>
          </a:p>
        </p:txBody>
      </p:sp>
      <p:sp>
        <p:nvSpPr>
          <p:cNvPr id="9" name="TextBox 8">
            <a:extLst>
              <a:ext uri="{FF2B5EF4-FFF2-40B4-BE49-F238E27FC236}">
                <a16:creationId xmlns:a16="http://schemas.microsoft.com/office/drawing/2014/main" id="{171DF032-66AF-4557-B1CC-AABAE1CB16CE}"/>
              </a:ext>
            </a:extLst>
          </p:cNvPr>
          <p:cNvSpPr txBox="1"/>
          <p:nvPr/>
        </p:nvSpPr>
        <p:spPr>
          <a:xfrm>
            <a:off x="264583" y="3430193"/>
            <a:ext cx="10659533" cy="3139321"/>
          </a:xfrm>
          <a:prstGeom prst="rect">
            <a:avLst/>
          </a:prstGeom>
          <a:noFill/>
        </p:spPr>
        <p:txBody>
          <a:bodyPr wrap="square">
            <a:spAutoFit/>
          </a:bodyPr>
          <a:lstStyle/>
          <a:p>
            <a:r>
              <a:rPr lang="en-IN" dirty="0">
                <a:solidFill>
                  <a:srgbClr val="0000FF"/>
                </a:solidFill>
                <a:latin typeface="Consolas" panose="020B0609020204030204" pitchFamily="49" charset="0"/>
              </a:rPr>
              <a:t>//file 02.js</a:t>
            </a:r>
            <a:endParaRPr lang="en-IN" b="0" dirty="0">
              <a:solidFill>
                <a:srgbClr val="0000FF"/>
              </a:solidFill>
              <a:effectLst/>
              <a:latin typeface="Consolas" panose="020B0609020204030204" pitchFamily="49" charset="0"/>
            </a:endParaRP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http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"http"</a:t>
            </a:r>
            <a:r>
              <a:rPr lang="en-IN" b="0" dirty="0">
                <a:solidFill>
                  <a:srgbClr val="000000"/>
                </a:solidFill>
                <a:effectLst/>
                <a:latin typeface="Consolas" panose="020B0609020204030204" pitchFamily="49" charset="0"/>
              </a:rPr>
              <a:t>);</a:t>
            </a:r>
          </a:p>
          <a:p>
            <a:r>
              <a:rPr lang="en-IN" b="0" dirty="0" err="1">
                <a:solidFill>
                  <a:srgbClr val="001080"/>
                </a:solidFill>
                <a:effectLst/>
                <a:latin typeface="Consolas" panose="020B0609020204030204" pitchFamily="49" charset="0"/>
              </a:rPr>
              <a:t>http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createServer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request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response</a:t>
            </a:r>
            <a:r>
              <a:rPr lang="en-IN" b="0" dirty="0">
                <a:solidFill>
                  <a:srgbClr val="000000"/>
                </a:solidFill>
                <a:effectLst/>
                <a:latin typeface="Consolas" panose="020B0609020204030204" pitchFamily="49" charset="0"/>
              </a:rPr>
              <a:t>) {</a:t>
            </a:r>
          </a:p>
          <a:p>
            <a:br>
              <a:rPr lang="en-IN" b="0" dirty="0">
                <a:solidFill>
                  <a:srgbClr val="000000"/>
                </a:solidFill>
                <a:effectLst/>
                <a:latin typeface="Consolas" panose="020B0609020204030204" pitchFamily="49" charset="0"/>
              </a:rPr>
            </a:b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Send the HTTP header </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HTTP Status: 200 : OK</a:t>
            </a:r>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Content Type: text/plain</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writeHead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'text/plain'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Send the response body as "Hello World"</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EE0000"/>
                </a:solidFill>
                <a:effectLst/>
                <a:latin typeface="Consolas" panose="020B0609020204030204" pitchFamily="49" charset="0"/>
              </a:rPr>
              <a:t>\n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8081</a:t>
            </a:r>
            <a:r>
              <a:rPr lang="en-IN" b="0" dirty="0">
                <a:solidFill>
                  <a:srgbClr val="000000"/>
                </a:solidFill>
                <a:effectLst/>
                <a:latin typeface="Consolas" panose="020B0609020204030204" pitchFamily="49" charset="0"/>
              </a:rPr>
              <a:t>);</a:t>
            </a:r>
            <a:br>
              <a:rPr lang="en-IN" b="0" dirty="0">
                <a:solidFill>
                  <a:srgbClr val="000000"/>
                </a:solidFill>
                <a:effectLst/>
                <a:latin typeface="Consolas" panose="020B0609020204030204" pitchFamily="49" charset="0"/>
              </a:rPr>
            </a:br>
            <a:r>
              <a:rPr lang="en-IN" b="0" dirty="0">
                <a:solidFill>
                  <a:srgbClr val="008000"/>
                </a:solidFill>
                <a:effectLst/>
                <a:latin typeface="Consolas" panose="020B0609020204030204" pitchFamily="49" charset="0"/>
              </a:rPr>
              <a:t>// Console will print the message</a:t>
            </a:r>
            <a:endParaRPr lang="en-IN" b="0" dirty="0">
              <a:solidFill>
                <a:srgbClr val="000000"/>
              </a:solidFill>
              <a:effectLst/>
              <a:latin typeface="Consolas" panose="020B0609020204030204" pitchFamily="49" charset="0"/>
            </a:endParaRPr>
          </a:p>
          <a:p>
            <a:r>
              <a:rPr lang="en-IN" b="0" dirty="0">
                <a:solidFill>
                  <a:srgbClr val="001080"/>
                </a:solidFill>
                <a:effectLst/>
                <a:latin typeface="Consolas" panose="020B0609020204030204" pitchFamily="49" charset="0"/>
              </a:rPr>
              <a:t>console</a:t>
            </a:r>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log</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'Server running at http://127.0.0.1:8081/'</a:t>
            </a:r>
            <a:r>
              <a:rPr lang="en-IN" b="0" dirty="0">
                <a:solidFill>
                  <a:srgbClr val="000000"/>
                </a:solidFill>
                <a:effectLst/>
                <a:latin typeface="Consolas" panose="020B0609020204030204" pitchFamily="49" charset="0"/>
              </a:rPr>
              <a:t>);</a:t>
            </a:r>
          </a:p>
        </p:txBody>
      </p:sp>
      <p:sp>
        <p:nvSpPr>
          <p:cNvPr id="10" name="TextBox 9">
            <a:extLst>
              <a:ext uri="{FF2B5EF4-FFF2-40B4-BE49-F238E27FC236}">
                <a16:creationId xmlns:a16="http://schemas.microsoft.com/office/drawing/2014/main" id="{9AE26500-B39A-4182-B71C-832D4F02F757}"/>
              </a:ext>
            </a:extLst>
          </p:cNvPr>
          <p:cNvSpPr txBox="1"/>
          <p:nvPr/>
        </p:nvSpPr>
        <p:spPr>
          <a:xfrm>
            <a:off x="8111067" y="5164667"/>
            <a:ext cx="3479799" cy="1477328"/>
          </a:xfrm>
          <a:prstGeom prst="rect">
            <a:avLst/>
          </a:prstGeom>
          <a:noFill/>
        </p:spPr>
        <p:txBody>
          <a:bodyPr wrap="square" rtlCol="0">
            <a:spAutoFit/>
          </a:bodyPr>
          <a:lstStyle/>
          <a:p>
            <a:r>
              <a:rPr lang="en-IN" dirty="0"/>
              <a:t>Open command prompt </a:t>
            </a:r>
          </a:p>
          <a:p>
            <a:r>
              <a:rPr lang="en-IN" dirty="0"/>
              <a:t>Visit the location of file</a:t>
            </a:r>
          </a:p>
          <a:p>
            <a:r>
              <a:rPr lang="en-IN" dirty="0"/>
              <a:t>&gt;node 02.js</a:t>
            </a:r>
          </a:p>
          <a:p>
            <a:r>
              <a:rPr lang="en-IN" dirty="0"/>
              <a:t>In browser</a:t>
            </a:r>
          </a:p>
          <a:p>
            <a:r>
              <a:rPr lang="en-IN" dirty="0"/>
              <a:t>http://localhost:8081</a:t>
            </a:r>
          </a:p>
        </p:txBody>
      </p:sp>
    </p:spTree>
    <p:extLst>
      <p:ext uri="{BB962C8B-B14F-4D97-AF65-F5344CB8AC3E}">
        <p14:creationId xmlns:p14="http://schemas.microsoft.com/office/powerpoint/2010/main" val="3891145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B5C75-5EB8-4D4D-B282-73C12EF00485}"/>
              </a:ext>
            </a:extLst>
          </p:cNvPr>
          <p:cNvSpPr>
            <a:spLocks noGrp="1"/>
          </p:cNvSpPr>
          <p:nvPr>
            <p:ph type="title"/>
          </p:nvPr>
        </p:nvSpPr>
        <p:spPr>
          <a:xfrm>
            <a:off x="1100665" y="102660"/>
            <a:ext cx="10718801" cy="578378"/>
          </a:xfrm>
        </p:spPr>
        <p:txBody>
          <a:bodyPr>
            <a:normAutofit fontScale="90000"/>
          </a:bodyPr>
          <a:lstStyle/>
          <a:p>
            <a:r>
              <a:rPr lang="en-IN" dirty="0"/>
              <a:t>How to change port number</a:t>
            </a:r>
          </a:p>
        </p:txBody>
      </p:sp>
      <p:sp>
        <p:nvSpPr>
          <p:cNvPr id="3" name="Content Placeholder 2">
            <a:extLst>
              <a:ext uri="{FF2B5EF4-FFF2-40B4-BE49-F238E27FC236}">
                <a16:creationId xmlns:a16="http://schemas.microsoft.com/office/drawing/2014/main" id="{BECEA74E-02D3-4612-9120-68D3913F8DC8}"/>
              </a:ext>
            </a:extLst>
          </p:cNvPr>
          <p:cNvSpPr>
            <a:spLocks noGrp="1"/>
          </p:cNvSpPr>
          <p:nvPr>
            <p:ph idx="1"/>
          </p:nvPr>
        </p:nvSpPr>
        <p:spPr>
          <a:xfrm>
            <a:off x="254000" y="905933"/>
            <a:ext cx="11099800" cy="5271030"/>
          </a:xfrm>
        </p:spPr>
        <p:txBody>
          <a:bodyPr>
            <a:normAutofit/>
          </a:bodyPr>
          <a:lstStyle/>
          <a:p>
            <a:pPr marL="0" indent="0">
              <a:buNone/>
            </a:pP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http</a:t>
            </a:r>
            <a:r>
              <a:rPr lang="en-IN" sz="1800" b="0" dirty="0">
                <a:solidFill>
                  <a:srgbClr val="000000"/>
                </a:solidFill>
                <a:effectLst/>
                <a:latin typeface="Consolas" panose="020B0609020204030204" pitchFamily="49" charset="0"/>
              </a:rPr>
              <a:t> = </a:t>
            </a:r>
            <a:r>
              <a:rPr lang="en-IN" sz="1800" b="0" dirty="0">
                <a:solidFill>
                  <a:srgbClr val="795E26"/>
                </a:solidFill>
                <a:effectLst/>
                <a:latin typeface="Consolas" panose="020B0609020204030204" pitchFamily="49" charset="0"/>
              </a:rPr>
              <a:t>require</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'http'</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hostname</a:t>
            </a:r>
            <a:r>
              <a:rPr lang="en-IN" sz="1800" b="0" dirty="0">
                <a:solidFill>
                  <a:srgbClr val="000000"/>
                </a:solidFill>
                <a:effectLst/>
                <a:latin typeface="Consolas" panose="020B0609020204030204" pitchFamily="49" charset="0"/>
              </a:rPr>
              <a:t> = </a:t>
            </a:r>
            <a:r>
              <a:rPr lang="en-IN" sz="1800" b="0" dirty="0">
                <a:solidFill>
                  <a:srgbClr val="A31515"/>
                </a:solidFill>
                <a:effectLst/>
                <a:latin typeface="Consolas" panose="020B0609020204030204" pitchFamily="49" charset="0"/>
              </a:rPr>
              <a:t>'127.0.0.1'</a:t>
            </a:r>
            <a:r>
              <a:rPr lang="en-IN" sz="1800" b="0" dirty="0">
                <a:solidFill>
                  <a:srgbClr val="000000"/>
                </a:solidFill>
                <a:effectLst/>
                <a:latin typeface="Consolas" panose="020B0609020204030204" pitchFamily="49" charset="0"/>
              </a:rPr>
              <a:t>;</a:t>
            </a:r>
          </a:p>
          <a:p>
            <a:pPr marL="0" indent="0">
              <a:buNone/>
            </a:pP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port</a:t>
            </a:r>
            <a:r>
              <a:rPr lang="en-IN" sz="1800" b="0" dirty="0">
                <a:solidFill>
                  <a:srgbClr val="000000"/>
                </a:solidFill>
                <a:effectLst/>
                <a:latin typeface="Consolas" panose="020B0609020204030204" pitchFamily="49" charset="0"/>
              </a:rPr>
              <a:t> = </a:t>
            </a:r>
            <a:r>
              <a:rPr lang="en-IN" sz="1800" b="0" dirty="0">
                <a:solidFill>
                  <a:srgbClr val="098658"/>
                </a:solidFill>
                <a:effectLst/>
                <a:latin typeface="Consolas" panose="020B0609020204030204" pitchFamily="49" charset="0"/>
              </a:rPr>
              <a:t>3000</a:t>
            </a:r>
            <a:r>
              <a:rPr lang="en-IN" sz="18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r>
              <a:rPr lang="en-IN" sz="1800" b="0" dirty="0" err="1">
                <a:solidFill>
                  <a:srgbClr val="0000FF"/>
                </a:solidFill>
                <a:effectLst/>
                <a:latin typeface="Consolas" panose="020B0609020204030204" pitchFamily="49" charset="0"/>
              </a:rPr>
              <a:t>const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server</a:t>
            </a:r>
            <a:r>
              <a:rPr lang="en-IN" sz="1800" b="0" dirty="0">
                <a:solidFill>
                  <a:srgbClr val="000000"/>
                </a:solidFill>
                <a:effectLst/>
                <a:latin typeface="Consolas" panose="020B0609020204030204" pitchFamily="49" charset="0"/>
              </a:rPr>
              <a:t> = </a:t>
            </a:r>
            <a:r>
              <a:rPr lang="en-IN" sz="1800" b="0" dirty="0" err="1">
                <a:solidFill>
                  <a:srgbClr val="0070C1"/>
                </a:solidFill>
                <a:effectLst/>
                <a:latin typeface="Consolas" panose="020B0609020204030204" pitchFamily="49" charset="0"/>
              </a:rPr>
              <a:t>http</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createServer</a:t>
            </a:r>
            <a:r>
              <a:rPr lang="en-IN" sz="1800" b="0" dirty="0">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req</a:t>
            </a: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res</a:t>
            </a:r>
            <a:r>
              <a:rPr lang="en-IN" sz="1800" b="0" dirty="0">
                <a:solidFill>
                  <a:srgbClr val="000000"/>
                </a:solidFill>
                <a:effectLst/>
                <a:latin typeface="Consolas" panose="020B0609020204030204" pitchFamily="49" charset="0"/>
              </a:rPr>
              <a:t>) </a:t>
            </a:r>
            <a:r>
              <a:rPr lang="en-IN" sz="1800" b="0" dirty="0">
                <a:solidFill>
                  <a:srgbClr val="0000FF"/>
                </a:solidFill>
                <a:effectLst/>
                <a:latin typeface="Consolas" panose="020B0609020204030204" pitchFamily="49" charset="0"/>
              </a:rPr>
              <a:t>=&gt;</a:t>
            </a:r>
            <a:r>
              <a:rPr lang="en-IN" sz="1800" b="0" dirty="0">
                <a:solidFill>
                  <a:srgbClr val="000000"/>
                </a:solidFill>
                <a:effectLst/>
                <a:latin typeface="Consolas" panose="020B0609020204030204" pitchFamily="49" charset="0"/>
              </a:rPr>
              <a:t> {</a:t>
            </a: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001080"/>
                </a:solidFill>
                <a:effectLst/>
                <a:latin typeface="Consolas" panose="020B0609020204030204" pitchFamily="49" charset="0"/>
              </a:rPr>
              <a:t>statusCode</a:t>
            </a:r>
            <a:r>
              <a:rPr lang="en-IN" sz="1800" b="0" dirty="0">
                <a:solidFill>
                  <a:srgbClr val="000000"/>
                </a:solidFill>
                <a:effectLst/>
                <a:latin typeface="Consolas" panose="020B0609020204030204" pitchFamily="49" charset="0"/>
              </a:rPr>
              <a:t> = </a:t>
            </a:r>
            <a:r>
              <a:rPr lang="en-IN" sz="1800" b="0" dirty="0">
                <a:solidFill>
                  <a:srgbClr val="098658"/>
                </a:solidFill>
                <a:effectLst/>
                <a:latin typeface="Consolas" panose="020B0609020204030204" pitchFamily="49" charset="0"/>
              </a:rPr>
              <a:t>200</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setHeader</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'Content-Type'</a:t>
            </a:r>
            <a:r>
              <a:rPr lang="en-IN" sz="1800" b="0" dirty="0">
                <a:solidFill>
                  <a:srgbClr val="000000"/>
                </a:solidFill>
                <a:effectLst/>
                <a:latin typeface="Consolas" panose="020B0609020204030204" pitchFamily="49" charset="0"/>
              </a:rPr>
              <a:t>, </a:t>
            </a:r>
            <a:r>
              <a:rPr lang="en-IN" sz="1800" b="0" dirty="0">
                <a:solidFill>
                  <a:srgbClr val="A31515"/>
                </a:solidFill>
                <a:effectLst/>
                <a:latin typeface="Consolas" panose="020B0609020204030204" pitchFamily="49" charset="0"/>
              </a:rPr>
              <a:t>'text/plain'</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  </a:t>
            </a:r>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end</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'Hello World</a:t>
            </a:r>
            <a:r>
              <a:rPr lang="en-IN" sz="1800" b="0" dirty="0">
                <a:solidFill>
                  <a:srgbClr val="EE0000"/>
                </a:solidFill>
                <a:effectLst/>
                <a:latin typeface="Consolas" panose="020B0609020204030204" pitchFamily="49" charset="0"/>
              </a:rPr>
              <a:t>\n</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a:t>
            </a:r>
          </a:p>
          <a:p>
            <a:pPr marL="0" indent="0">
              <a:buNone/>
            </a:pPr>
            <a:br>
              <a:rPr lang="en-IN" sz="1800" b="0" dirty="0">
                <a:solidFill>
                  <a:srgbClr val="000000"/>
                </a:solidFill>
                <a:effectLst/>
                <a:latin typeface="Consolas" panose="020B0609020204030204" pitchFamily="49" charset="0"/>
              </a:rPr>
            </a:br>
            <a:r>
              <a:rPr lang="en-IN" sz="1800" b="0" dirty="0" err="1">
                <a:solidFill>
                  <a:srgbClr val="0070C1"/>
                </a:solidFill>
                <a:effectLst/>
                <a:latin typeface="Consolas" panose="020B0609020204030204" pitchFamily="49" charset="0"/>
              </a:rPr>
              <a:t>server</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listen</a:t>
            </a:r>
            <a:r>
              <a:rPr lang="en-IN" sz="1800" b="0" dirty="0">
                <a:solidFill>
                  <a:srgbClr val="000000"/>
                </a:solidFill>
                <a:effectLst/>
                <a:latin typeface="Consolas" panose="020B0609020204030204" pitchFamily="49" charset="0"/>
              </a:rPr>
              <a:t>(</a:t>
            </a:r>
            <a:r>
              <a:rPr lang="en-IN" sz="1800" b="0" dirty="0">
                <a:solidFill>
                  <a:srgbClr val="0070C1"/>
                </a:solidFill>
                <a:effectLst/>
                <a:latin typeface="Consolas" panose="020B0609020204030204" pitchFamily="49" charset="0"/>
              </a:rPr>
              <a:t>port</a:t>
            </a:r>
            <a:r>
              <a:rPr lang="en-IN" sz="1800" b="0" dirty="0">
                <a:solidFill>
                  <a:srgbClr val="000000"/>
                </a:solidFill>
                <a:effectLst/>
                <a:latin typeface="Consolas" panose="020B0609020204030204" pitchFamily="49" charset="0"/>
              </a:rPr>
              <a:t>, </a:t>
            </a:r>
            <a:r>
              <a:rPr lang="en-IN" sz="1800" b="0" dirty="0">
                <a:solidFill>
                  <a:srgbClr val="0070C1"/>
                </a:solidFill>
                <a:effectLst/>
                <a:latin typeface="Consolas" panose="020B0609020204030204" pitchFamily="49" charset="0"/>
              </a:rPr>
              <a:t>hostname</a:t>
            </a:r>
            <a:r>
              <a:rPr lang="en-IN" sz="1800" b="0" dirty="0">
                <a:solidFill>
                  <a:srgbClr val="000000"/>
                </a:solidFill>
                <a:effectLst/>
                <a:latin typeface="Consolas" panose="020B0609020204030204" pitchFamily="49" charset="0"/>
              </a:rPr>
              <a:t>, () </a:t>
            </a:r>
            <a:r>
              <a:rPr lang="en-IN" sz="1800" b="0" dirty="0">
                <a:solidFill>
                  <a:srgbClr val="0000FF"/>
                </a:solidFill>
                <a:effectLst/>
                <a:latin typeface="Consolas" panose="020B0609020204030204" pitchFamily="49" charset="0"/>
              </a:rPr>
              <a:t>=&gt;</a:t>
            </a:r>
            <a:r>
              <a:rPr lang="en-IN" sz="1800" b="0" dirty="0">
                <a:solidFill>
                  <a:srgbClr val="000000"/>
                </a:solidFill>
                <a:effectLst/>
                <a:latin typeface="Consolas" panose="020B0609020204030204" pitchFamily="49" charset="0"/>
              </a:rPr>
              <a:t> {</a:t>
            </a:r>
          </a:p>
          <a:p>
            <a:pPr marL="0" indent="0">
              <a:buNone/>
            </a:pPr>
            <a:r>
              <a:rPr lang="en-IN" sz="1800" b="0" dirty="0">
                <a:solidFill>
                  <a:srgbClr val="000000"/>
                </a:solidFill>
                <a:effectLst/>
                <a:latin typeface="Consolas" panose="020B0609020204030204" pitchFamily="49" charset="0"/>
              </a:rPr>
              <a:t>  </a:t>
            </a:r>
            <a:r>
              <a:rPr lang="en-IN" sz="1800" b="0" dirty="0">
                <a:solidFill>
                  <a:srgbClr val="001080"/>
                </a:solidFill>
                <a:effectLst/>
                <a:latin typeface="Consolas" panose="020B0609020204030204" pitchFamily="49" charset="0"/>
              </a:rPr>
              <a:t>console</a:t>
            </a:r>
            <a:r>
              <a:rPr lang="en-IN" sz="1800" b="0" dirty="0">
                <a:solidFill>
                  <a:srgbClr val="000000"/>
                </a:solidFill>
                <a:effectLst/>
                <a:latin typeface="Consolas" panose="020B0609020204030204" pitchFamily="49" charset="0"/>
              </a:rPr>
              <a:t>.</a:t>
            </a:r>
            <a:r>
              <a:rPr lang="en-IN" sz="1800" b="0" dirty="0">
                <a:solidFill>
                  <a:srgbClr val="795E26"/>
                </a:solidFill>
                <a:effectLst/>
                <a:latin typeface="Consolas" panose="020B0609020204030204" pitchFamily="49" charset="0"/>
              </a:rPr>
              <a:t>log</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`Server running at http://</a:t>
            </a:r>
            <a:r>
              <a:rPr lang="en-IN" sz="1800" b="0" dirty="0">
                <a:solidFill>
                  <a:srgbClr val="0000FF"/>
                </a:solidFill>
                <a:effectLst/>
                <a:latin typeface="Consolas" panose="020B0609020204030204" pitchFamily="49" charset="0"/>
              </a:rPr>
              <a:t>${</a:t>
            </a:r>
            <a:r>
              <a:rPr lang="en-IN" sz="1800" b="0" dirty="0">
                <a:solidFill>
                  <a:srgbClr val="0070C1"/>
                </a:solidFill>
                <a:effectLst/>
                <a:latin typeface="Consolas" panose="020B0609020204030204" pitchFamily="49" charset="0"/>
              </a:rPr>
              <a:t>hostname</a:t>
            </a:r>
            <a:r>
              <a:rPr lang="en-IN" sz="1800" b="0" dirty="0">
                <a:solidFill>
                  <a:srgbClr val="0000FF"/>
                </a:solidFill>
                <a:effectLst/>
                <a:latin typeface="Consolas" panose="020B0609020204030204" pitchFamily="49" charset="0"/>
              </a:rPr>
              <a:t>}</a:t>
            </a:r>
            <a:r>
              <a:rPr lang="en-IN" sz="1800" b="0" dirty="0">
                <a:solidFill>
                  <a:srgbClr val="A31515"/>
                </a:solidFill>
                <a:effectLst/>
                <a:latin typeface="Consolas" panose="020B0609020204030204" pitchFamily="49" charset="0"/>
              </a:rPr>
              <a:t>:</a:t>
            </a:r>
            <a:r>
              <a:rPr lang="en-IN" sz="1800" b="0" dirty="0">
                <a:solidFill>
                  <a:srgbClr val="0000FF"/>
                </a:solidFill>
                <a:effectLst/>
                <a:latin typeface="Consolas" panose="020B0609020204030204" pitchFamily="49" charset="0"/>
              </a:rPr>
              <a:t>${</a:t>
            </a:r>
            <a:r>
              <a:rPr lang="en-IN" sz="1800" b="0" dirty="0">
                <a:solidFill>
                  <a:srgbClr val="0070C1"/>
                </a:solidFill>
                <a:effectLst/>
                <a:latin typeface="Consolas" panose="020B0609020204030204" pitchFamily="49" charset="0"/>
              </a:rPr>
              <a:t>port</a:t>
            </a:r>
            <a:r>
              <a:rPr lang="en-IN" sz="1800" b="0" dirty="0">
                <a:solidFill>
                  <a:srgbClr val="0000FF"/>
                </a:solidFill>
                <a:effectLst/>
                <a:latin typeface="Consolas" panose="020B0609020204030204" pitchFamily="49" charset="0"/>
              </a:rPr>
              <a:t>}</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p>
          <a:p>
            <a:pPr marL="0" indent="0">
              <a:buNone/>
            </a:pPr>
            <a:r>
              <a:rPr lang="en-IN" sz="1800" b="0" dirty="0">
                <a:solidFill>
                  <a:srgbClr val="000000"/>
                </a:solidFill>
                <a:effectLst/>
                <a:latin typeface="Consolas" panose="020B0609020204030204" pitchFamily="49" charset="0"/>
              </a:rPr>
              <a:t>});</a:t>
            </a:r>
          </a:p>
          <a:p>
            <a:pPr marL="0" indent="0">
              <a:buNone/>
            </a:pPr>
            <a:endParaRPr lang="en-IN" sz="1800" dirty="0"/>
          </a:p>
        </p:txBody>
      </p:sp>
      <p:graphicFrame>
        <p:nvGraphicFramePr>
          <p:cNvPr id="4" name="Table 3">
            <a:extLst>
              <a:ext uri="{FF2B5EF4-FFF2-40B4-BE49-F238E27FC236}">
                <a16:creationId xmlns:a16="http://schemas.microsoft.com/office/drawing/2014/main" id="{A0FDDC93-3FC4-0409-4DB9-B90B23B7E3A8}"/>
              </a:ext>
            </a:extLst>
          </p:cNvPr>
          <p:cNvGraphicFramePr>
            <a:graphicFrameLocks noGrp="1"/>
          </p:cNvGraphicFramePr>
          <p:nvPr>
            <p:extLst>
              <p:ext uri="{D42A27DB-BD31-4B8C-83A1-F6EECF244321}">
                <p14:modId xmlns:p14="http://schemas.microsoft.com/office/powerpoint/2010/main" val="1011705708"/>
              </p:ext>
            </p:extLst>
          </p:nvPr>
        </p:nvGraphicFramePr>
        <p:xfrm>
          <a:off x="6457647" y="573435"/>
          <a:ext cx="5734353" cy="3200400"/>
        </p:xfrm>
        <a:graphic>
          <a:graphicData uri="http://schemas.openxmlformats.org/drawingml/2006/table">
            <a:tbl>
              <a:tblPr/>
              <a:tblGrid>
                <a:gridCol w="1348620">
                  <a:extLst>
                    <a:ext uri="{9D8B030D-6E8A-4147-A177-3AD203B41FA5}">
                      <a16:colId xmlns:a16="http://schemas.microsoft.com/office/drawing/2014/main" val="729390776"/>
                    </a:ext>
                  </a:extLst>
                </a:gridCol>
                <a:gridCol w="2252133">
                  <a:extLst>
                    <a:ext uri="{9D8B030D-6E8A-4147-A177-3AD203B41FA5}">
                      <a16:colId xmlns:a16="http://schemas.microsoft.com/office/drawing/2014/main" val="3664026786"/>
                    </a:ext>
                  </a:extLst>
                </a:gridCol>
                <a:gridCol w="2133600">
                  <a:extLst>
                    <a:ext uri="{9D8B030D-6E8A-4147-A177-3AD203B41FA5}">
                      <a16:colId xmlns:a16="http://schemas.microsoft.com/office/drawing/2014/main" val="4122769748"/>
                    </a:ext>
                  </a:extLst>
                </a:gridCol>
              </a:tblGrid>
              <a:tr h="297633">
                <a:tc>
                  <a:txBody>
                    <a:bodyPr/>
                    <a:lstStyle/>
                    <a:p>
                      <a:r>
                        <a:rPr lang="en-IN"/>
                        <a:t>Feature</a:t>
                      </a:r>
                    </a:p>
                  </a:txBody>
                  <a:tcPr anchor="ctr">
                    <a:lnL>
                      <a:noFill/>
                    </a:lnL>
                    <a:lnR>
                      <a:noFill/>
                    </a:lnR>
                    <a:lnT>
                      <a:noFill/>
                    </a:lnT>
                    <a:lnB>
                      <a:noFill/>
                    </a:lnB>
                    <a:noFill/>
                  </a:tcPr>
                </a:tc>
                <a:tc>
                  <a:txBody>
                    <a:bodyPr/>
                    <a:lstStyle/>
                    <a:p>
                      <a:r>
                        <a:rPr lang="en-IN" dirty="0" err="1"/>
                        <a:t>res.setHeader</a:t>
                      </a:r>
                      <a:r>
                        <a:rPr lang="en-IN" dirty="0"/>
                        <a:t>()</a:t>
                      </a:r>
                    </a:p>
                  </a:txBody>
                  <a:tcPr anchor="ctr">
                    <a:lnL>
                      <a:noFill/>
                    </a:lnL>
                    <a:lnR>
                      <a:noFill/>
                    </a:lnR>
                    <a:lnT>
                      <a:noFill/>
                    </a:lnT>
                    <a:lnB>
                      <a:noFill/>
                    </a:lnB>
                    <a:noFill/>
                  </a:tcPr>
                </a:tc>
                <a:tc>
                  <a:txBody>
                    <a:bodyPr/>
                    <a:lstStyle/>
                    <a:p>
                      <a:r>
                        <a:rPr lang="en-IN"/>
                        <a:t>res.writeHead()</a:t>
                      </a:r>
                    </a:p>
                  </a:txBody>
                  <a:tcPr anchor="ctr">
                    <a:lnL>
                      <a:noFill/>
                    </a:lnL>
                    <a:lnR>
                      <a:noFill/>
                    </a:lnR>
                    <a:lnT>
                      <a:noFill/>
                    </a:lnT>
                    <a:lnB>
                      <a:noFill/>
                    </a:lnB>
                    <a:noFill/>
                  </a:tcPr>
                </a:tc>
                <a:extLst>
                  <a:ext uri="{0D108BD9-81ED-4DB2-BD59-A6C34878D82A}">
                    <a16:rowId xmlns:a16="http://schemas.microsoft.com/office/drawing/2014/main" val="4191297354"/>
                  </a:ext>
                </a:extLst>
              </a:tr>
              <a:tr h="520858">
                <a:tc>
                  <a:txBody>
                    <a:bodyPr/>
                    <a:lstStyle/>
                    <a:p>
                      <a:r>
                        <a:rPr lang="en-IN" dirty="0"/>
                        <a:t>Purpose</a:t>
                      </a:r>
                    </a:p>
                  </a:txBody>
                  <a:tcPr anchor="ctr">
                    <a:lnL>
                      <a:noFill/>
                    </a:lnL>
                    <a:lnR>
                      <a:noFill/>
                    </a:lnR>
                    <a:lnT>
                      <a:noFill/>
                    </a:lnT>
                    <a:lnB>
                      <a:noFill/>
                    </a:lnB>
                    <a:noFill/>
                  </a:tcPr>
                </a:tc>
                <a:tc>
                  <a:txBody>
                    <a:bodyPr/>
                    <a:lstStyle/>
                    <a:p>
                      <a:r>
                        <a:rPr lang="en-IN" dirty="0"/>
                        <a:t>Sets a single header</a:t>
                      </a:r>
                    </a:p>
                  </a:txBody>
                  <a:tcPr anchor="ctr">
                    <a:lnL>
                      <a:noFill/>
                    </a:lnL>
                    <a:lnR>
                      <a:noFill/>
                    </a:lnR>
                    <a:lnT>
                      <a:noFill/>
                    </a:lnT>
                    <a:lnB>
                      <a:noFill/>
                    </a:lnB>
                    <a:noFill/>
                  </a:tcPr>
                </a:tc>
                <a:tc>
                  <a:txBody>
                    <a:bodyPr/>
                    <a:lstStyle/>
                    <a:p>
                      <a:r>
                        <a:rPr lang="en-US" dirty="0"/>
                        <a:t>Sets multiple headers and status code</a:t>
                      </a:r>
                    </a:p>
                  </a:txBody>
                  <a:tcPr anchor="ctr">
                    <a:lnL>
                      <a:noFill/>
                    </a:lnL>
                    <a:lnR>
                      <a:noFill/>
                    </a:lnR>
                    <a:lnT>
                      <a:noFill/>
                    </a:lnT>
                    <a:lnB>
                      <a:noFill/>
                    </a:lnB>
                    <a:noFill/>
                  </a:tcPr>
                </a:tc>
                <a:extLst>
                  <a:ext uri="{0D108BD9-81ED-4DB2-BD59-A6C34878D82A}">
                    <a16:rowId xmlns:a16="http://schemas.microsoft.com/office/drawing/2014/main" val="2961386567"/>
                  </a:ext>
                </a:extLst>
              </a:tr>
              <a:tr h="520858">
                <a:tc>
                  <a:txBody>
                    <a:bodyPr/>
                    <a:lstStyle/>
                    <a:p>
                      <a:r>
                        <a:rPr lang="en-IN" dirty="0"/>
                        <a:t>Timing</a:t>
                      </a:r>
                    </a:p>
                  </a:txBody>
                  <a:tcPr anchor="ctr">
                    <a:lnL>
                      <a:noFill/>
                    </a:lnL>
                    <a:lnR>
                      <a:noFill/>
                    </a:lnR>
                    <a:lnT>
                      <a:noFill/>
                    </a:lnT>
                    <a:lnB>
                      <a:noFill/>
                    </a:lnB>
                    <a:noFill/>
                  </a:tcPr>
                </a:tc>
                <a:tc>
                  <a:txBody>
                    <a:bodyPr/>
                    <a:lstStyle/>
                    <a:p>
                      <a:r>
                        <a:rPr lang="en-US"/>
                        <a:t>Can be called multiple times before sending</a:t>
                      </a:r>
                    </a:p>
                  </a:txBody>
                  <a:tcPr anchor="ctr">
                    <a:lnL>
                      <a:noFill/>
                    </a:lnL>
                    <a:lnR>
                      <a:noFill/>
                    </a:lnR>
                    <a:lnT>
                      <a:noFill/>
                    </a:lnT>
                    <a:lnB>
                      <a:noFill/>
                    </a:lnB>
                    <a:noFill/>
                  </a:tcPr>
                </a:tc>
                <a:tc>
                  <a:txBody>
                    <a:bodyPr/>
                    <a:lstStyle/>
                    <a:p>
                      <a:r>
                        <a:rPr lang="en-US"/>
                        <a:t>Headers are sent immediately when called</a:t>
                      </a:r>
                    </a:p>
                  </a:txBody>
                  <a:tcPr anchor="ctr">
                    <a:lnL>
                      <a:noFill/>
                    </a:lnL>
                    <a:lnR>
                      <a:noFill/>
                    </a:lnR>
                    <a:lnT>
                      <a:noFill/>
                    </a:lnT>
                    <a:lnB>
                      <a:noFill/>
                    </a:lnB>
                    <a:noFill/>
                  </a:tcPr>
                </a:tc>
                <a:extLst>
                  <a:ext uri="{0D108BD9-81ED-4DB2-BD59-A6C34878D82A}">
                    <a16:rowId xmlns:a16="http://schemas.microsoft.com/office/drawing/2014/main" val="2252823997"/>
                  </a:ext>
                </a:extLst>
              </a:tr>
              <a:tr h="297633">
                <a:tc>
                  <a:txBody>
                    <a:bodyPr/>
                    <a:lstStyle/>
                    <a:p>
                      <a:r>
                        <a:rPr lang="en-IN"/>
                        <a:t>Status Code</a:t>
                      </a:r>
                    </a:p>
                  </a:txBody>
                  <a:tcPr anchor="ctr">
                    <a:lnL>
                      <a:noFill/>
                    </a:lnL>
                    <a:lnR>
                      <a:noFill/>
                    </a:lnR>
                    <a:lnT>
                      <a:noFill/>
                    </a:lnT>
                    <a:lnB>
                      <a:noFill/>
                    </a:lnB>
                    <a:noFill/>
                  </a:tcPr>
                </a:tc>
                <a:tc>
                  <a:txBody>
                    <a:bodyPr/>
                    <a:lstStyle/>
                    <a:p>
                      <a:r>
                        <a:rPr lang="en-US"/>
                        <a:t>Does </a:t>
                      </a:r>
                      <a:r>
                        <a:rPr lang="en-US" b="1"/>
                        <a:t>not</a:t>
                      </a:r>
                      <a:r>
                        <a:rPr lang="en-US"/>
                        <a:t> set status code</a:t>
                      </a:r>
                    </a:p>
                  </a:txBody>
                  <a:tcPr anchor="ctr">
                    <a:lnL>
                      <a:noFill/>
                    </a:lnL>
                    <a:lnR>
                      <a:noFill/>
                    </a:lnR>
                    <a:lnT>
                      <a:noFill/>
                    </a:lnT>
                    <a:lnB>
                      <a:noFill/>
                    </a:lnB>
                    <a:noFill/>
                  </a:tcPr>
                </a:tc>
                <a:tc>
                  <a:txBody>
                    <a:bodyPr/>
                    <a:lstStyle/>
                    <a:p>
                      <a:r>
                        <a:rPr lang="en-IN"/>
                        <a:t>Sets status code (e.g., 200 OK)</a:t>
                      </a:r>
                    </a:p>
                  </a:txBody>
                  <a:tcPr anchor="ctr">
                    <a:lnL>
                      <a:noFill/>
                    </a:lnL>
                    <a:lnR>
                      <a:noFill/>
                    </a:lnR>
                    <a:lnT>
                      <a:noFill/>
                    </a:lnT>
                    <a:lnB>
                      <a:noFill/>
                    </a:lnB>
                    <a:noFill/>
                  </a:tcPr>
                </a:tc>
                <a:extLst>
                  <a:ext uri="{0D108BD9-81ED-4DB2-BD59-A6C34878D82A}">
                    <a16:rowId xmlns:a16="http://schemas.microsoft.com/office/drawing/2014/main" val="3482420063"/>
                  </a:ext>
                </a:extLst>
              </a:tr>
              <a:tr h="520858">
                <a:tc>
                  <a:txBody>
                    <a:bodyPr/>
                    <a:lstStyle/>
                    <a:p>
                      <a:r>
                        <a:rPr lang="en-IN"/>
                        <a:t>Overwriting</a:t>
                      </a:r>
                    </a:p>
                  </a:txBody>
                  <a:tcPr anchor="ctr">
                    <a:lnL>
                      <a:noFill/>
                    </a:lnL>
                    <a:lnR>
                      <a:noFill/>
                    </a:lnR>
                    <a:lnT>
                      <a:noFill/>
                    </a:lnT>
                    <a:lnB>
                      <a:noFill/>
                    </a:lnB>
                    <a:noFill/>
                  </a:tcPr>
                </a:tc>
                <a:tc>
                  <a:txBody>
                    <a:bodyPr/>
                    <a:lstStyle/>
                    <a:p>
                      <a:r>
                        <a:rPr lang="en-US"/>
                        <a:t>Can overwrite headers before sending</a:t>
                      </a:r>
                    </a:p>
                  </a:txBody>
                  <a:tcPr anchor="ctr">
                    <a:lnL>
                      <a:noFill/>
                    </a:lnL>
                    <a:lnR>
                      <a:noFill/>
                    </a:lnR>
                    <a:lnT>
                      <a:noFill/>
                    </a:lnT>
                    <a:lnB>
                      <a:noFill/>
                    </a:lnB>
                    <a:noFill/>
                  </a:tcPr>
                </a:tc>
                <a:tc>
                  <a:txBody>
                    <a:bodyPr/>
                    <a:lstStyle/>
                    <a:p>
                      <a:r>
                        <a:rPr lang="en-US" dirty="0"/>
                        <a:t>Cannot overwrite headers after calling</a:t>
                      </a:r>
                    </a:p>
                  </a:txBody>
                  <a:tcPr anchor="ctr">
                    <a:lnL>
                      <a:noFill/>
                    </a:lnL>
                    <a:lnR>
                      <a:noFill/>
                    </a:lnR>
                    <a:lnT>
                      <a:noFill/>
                    </a:lnT>
                    <a:lnB>
                      <a:noFill/>
                    </a:lnB>
                    <a:noFill/>
                  </a:tcPr>
                </a:tc>
                <a:extLst>
                  <a:ext uri="{0D108BD9-81ED-4DB2-BD59-A6C34878D82A}">
                    <a16:rowId xmlns:a16="http://schemas.microsoft.com/office/drawing/2014/main" val="1387850365"/>
                  </a:ext>
                </a:extLst>
              </a:tr>
            </a:tbl>
          </a:graphicData>
        </a:graphic>
      </p:graphicFrame>
      <p:sp>
        <p:nvSpPr>
          <p:cNvPr id="5" name="Rectangle 1">
            <a:extLst>
              <a:ext uri="{FF2B5EF4-FFF2-40B4-BE49-F238E27FC236}">
                <a16:creationId xmlns:a16="http://schemas.microsoft.com/office/drawing/2014/main" id="{994604C1-3C29-8192-26A2-A9C858B48191}"/>
              </a:ext>
            </a:extLst>
          </p:cNvPr>
          <p:cNvSpPr>
            <a:spLocks noChangeArrowheads="1"/>
          </p:cNvSpPr>
          <p:nvPr/>
        </p:nvSpPr>
        <p:spPr bwMode="auto">
          <a:xfrm>
            <a:off x="8771467" y="34826"/>
            <a:ext cx="2971800" cy="5386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1" i="0" u="none" strike="noStrike" cap="none" normalizeH="0" baseline="0" dirty="0">
                <a:ln>
                  <a:noFill/>
                </a:ln>
                <a:solidFill>
                  <a:schemeClr val="tx1"/>
                </a:solidFill>
                <a:effectLst/>
                <a:latin typeface="Arial" panose="020B0604020202020204" pitchFamily="34" charset="0"/>
              </a:rPr>
              <a:t>Key Differences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9733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D0917-D379-411B-9380-2F902B7B59D3}"/>
              </a:ext>
            </a:extLst>
          </p:cNvPr>
          <p:cNvSpPr>
            <a:spLocks noGrp="1"/>
          </p:cNvSpPr>
          <p:nvPr>
            <p:ph type="title"/>
          </p:nvPr>
        </p:nvSpPr>
        <p:spPr>
          <a:xfrm>
            <a:off x="973394" y="33439"/>
            <a:ext cx="9829800" cy="647598"/>
          </a:xfrm>
        </p:spPr>
        <p:txBody>
          <a:bodyPr>
            <a:normAutofit fontScale="90000"/>
          </a:bodyPr>
          <a:lstStyle/>
          <a:p>
            <a:r>
              <a:rPr lang="en-IN" dirty="0"/>
              <a:t>What is http</a:t>
            </a:r>
          </a:p>
        </p:txBody>
      </p:sp>
      <p:sp>
        <p:nvSpPr>
          <p:cNvPr id="7" name="TextBox 6">
            <a:extLst>
              <a:ext uri="{FF2B5EF4-FFF2-40B4-BE49-F238E27FC236}">
                <a16:creationId xmlns:a16="http://schemas.microsoft.com/office/drawing/2014/main" id="{61681613-56C3-41C4-9199-E0BBFB0EBAB7}"/>
              </a:ext>
            </a:extLst>
          </p:cNvPr>
          <p:cNvSpPr txBox="1"/>
          <p:nvPr/>
        </p:nvSpPr>
        <p:spPr>
          <a:xfrm>
            <a:off x="0" y="681037"/>
            <a:ext cx="6135328" cy="4524315"/>
          </a:xfrm>
          <a:prstGeom prst="rect">
            <a:avLst/>
          </a:prstGeom>
          <a:noFill/>
        </p:spPr>
        <p:txBody>
          <a:bodyPr wrap="square">
            <a:spAutoFit/>
          </a:bodyPr>
          <a:lstStyle/>
          <a:p>
            <a:r>
              <a:rPr lang="en-IN" dirty="0"/>
              <a:t>To use the HTTP server and client one must require('http').</a:t>
            </a:r>
          </a:p>
          <a:p>
            <a:endParaRPr lang="en-IN" dirty="0"/>
          </a:p>
          <a:p>
            <a:r>
              <a:rPr lang="en-IN" dirty="0"/>
              <a:t>The HTTP interfaces in Node.js are designed to support many features of the protocol which have been traditionally difficult to use. </a:t>
            </a:r>
          </a:p>
          <a:p>
            <a:r>
              <a:rPr lang="en-IN" dirty="0"/>
              <a:t>In particular, large, possibly chunk-encoded, messages. </a:t>
            </a:r>
          </a:p>
          <a:p>
            <a:r>
              <a:rPr lang="en-IN" dirty="0"/>
              <a:t>The interface is careful to never buffer entire requests or responses, so the user is able to stream data.</a:t>
            </a:r>
          </a:p>
          <a:p>
            <a:endParaRPr lang="en-IN" dirty="0"/>
          </a:p>
          <a:p>
            <a:r>
              <a:rPr lang="en-IN" dirty="0"/>
              <a:t>HTTP message headers are represented by an object like this:</a:t>
            </a:r>
          </a:p>
          <a:p>
            <a:endParaRPr lang="en-IN" dirty="0"/>
          </a:p>
          <a:p>
            <a:r>
              <a:rPr lang="en-IN" dirty="0"/>
              <a:t>{ 'content-length': '123',</a:t>
            </a:r>
          </a:p>
          <a:p>
            <a:r>
              <a:rPr lang="en-IN" dirty="0"/>
              <a:t>  'content-type': 'text/plain',</a:t>
            </a:r>
          </a:p>
          <a:p>
            <a:r>
              <a:rPr lang="en-IN" dirty="0"/>
              <a:t>  'connection': 'keep-alive',</a:t>
            </a:r>
          </a:p>
          <a:p>
            <a:r>
              <a:rPr lang="en-IN" dirty="0"/>
              <a:t>  'host': 'mysite.com',</a:t>
            </a:r>
          </a:p>
          <a:p>
            <a:r>
              <a:rPr lang="en-IN" dirty="0"/>
              <a:t>  'accept': '*/*' }</a:t>
            </a:r>
          </a:p>
        </p:txBody>
      </p:sp>
      <p:sp>
        <p:nvSpPr>
          <p:cNvPr id="8" name="Rectangle 2">
            <a:extLst>
              <a:ext uri="{FF2B5EF4-FFF2-40B4-BE49-F238E27FC236}">
                <a16:creationId xmlns:a16="http://schemas.microsoft.com/office/drawing/2014/main" id="{E9C4B6B6-7838-47B1-8E7D-C494204D56F7}"/>
              </a:ext>
            </a:extLst>
          </p:cNvPr>
          <p:cNvSpPr>
            <a:spLocks noChangeArrowheads="1"/>
          </p:cNvSpPr>
          <p:nvPr/>
        </p:nvSpPr>
        <p:spPr bwMode="auto">
          <a:xfrm>
            <a:off x="6025945" y="-69486"/>
            <a:ext cx="5927624" cy="6740307"/>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As mentioned before, web servers accept requests from browsers and other clients. </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We may interact with a web server by entering a domain name, which is translated to an IP address by a DNS server. </a:t>
            </a:r>
          </a:p>
          <a:p>
            <a:pPr marL="0" marR="0" lvl="0" indent="0" algn="l" defTabSz="914400" rtl="0" eaLnBrk="0" fontAlgn="base" latinLnBrk="0" hangingPunct="0">
              <a:lnSpc>
                <a:spcPct val="100000"/>
              </a:lnSpc>
              <a:spcBef>
                <a:spcPts val="0"/>
              </a:spcBef>
              <a:spcAft>
                <a:spcPts val="0"/>
              </a:spcAft>
              <a:buClrTx/>
              <a:buSzTx/>
              <a:buFontTx/>
              <a:buNone/>
              <a:tabLst/>
            </a:pPr>
            <a:endParaRPr lang="en-US" altLang="en-US" sz="1600" dirty="0">
              <a:solidFill>
                <a:srgbClr val="333333"/>
              </a:solidFill>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endParaRPr kumimoji="0" lang="en-US" altLang="en-US" sz="1600" b="0" i="0" u="none" strike="noStrike" cap="none" normalizeH="0" baseline="0" dirty="0">
              <a:ln>
                <a:noFill/>
              </a:ln>
              <a:solidFill>
                <a:srgbClr val="333333"/>
              </a:solidFill>
              <a:effectLst/>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An IP address is a unique sequence of numbers that identify a machine on a network,</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 like the internet. The value </a:t>
            </a:r>
            <a:r>
              <a:rPr kumimoji="0" lang="en-US" altLang="en-US" sz="1600" b="0" i="0" u="none" strike="noStrike" cap="none" normalizeH="0" baseline="0" dirty="0">
                <a:ln>
                  <a:noFill/>
                </a:ln>
                <a:solidFill>
                  <a:srgbClr val="545454"/>
                </a:solidFill>
                <a:effectLst/>
                <a:latin typeface="Consolas" panose="020B0609020204030204" pitchFamily="49" charset="0"/>
              </a:rPr>
              <a:t>localhost</a:t>
            </a:r>
            <a:r>
              <a:rPr kumimoji="0" lang="en-US" altLang="en-US" sz="1600" b="0" i="0" u="none" strike="noStrike" cap="none" normalizeH="0" baseline="0" dirty="0">
                <a:ln>
                  <a:noFill/>
                </a:ln>
                <a:solidFill>
                  <a:srgbClr val="333333"/>
                </a:solidFill>
                <a:effectLst/>
                <a:latin typeface="Sailec-Regular"/>
              </a:rPr>
              <a:t> is a special private address that computers</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 use to refer to themselves. It’s typically the equivalent of the internal </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IP address </a:t>
            </a:r>
            <a:r>
              <a:rPr kumimoji="0" lang="en-US" altLang="en-US" sz="1600" b="0" i="0" u="none" strike="noStrike" cap="none" normalizeH="0" baseline="0" dirty="0">
                <a:ln>
                  <a:noFill/>
                </a:ln>
                <a:solidFill>
                  <a:srgbClr val="545454"/>
                </a:solidFill>
                <a:effectLst/>
                <a:latin typeface="Consolas" panose="020B0609020204030204" pitchFamily="49" charset="0"/>
              </a:rPr>
              <a:t>127.0.0.1</a:t>
            </a:r>
            <a:r>
              <a:rPr kumimoji="0" lang="en-US" altLang="en-US" sz="1600" b="0" i="0" u="none" strike="noStrike" cap="none" normalizeH="0" baseline="0" dirty="0">
                <a:ln>
                  <a:noFill/>
                </a:ln>
                <a:solidFill>
                  <a:srgbClr val="333333"/>
                </a:solidFill>
                <a:effectLst/>
                <a:latin typeface="Sailec-Regular"/>
              </a:rPr>
              <a:t> and it’s only available to the local computer, </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not to any local networks we’ve joined or to the internet.</a:t>
            </a:r>
          </a:p>
          <a:p>
            <a:pPr marL="0" marR="0" lvl="0" indent="0" algn="l" defTabSz="914400" rtl="0" eaLnBrk="0" fontAlgn="base" latinLnBrk="0" hangingPunct="0">
              <a:lnSpc>
                <a:spcPct val="100000"/>
              </a:lnSpc>
              <a:spcBef>
                <a:spcPts val="0"/>
              </a:spcBef>
              <a:spcAft>
                <a:spcPts val="0"/>
              </a:spcAft>
              <a:buClrTx/>
              <a:buSzTx/>
              <a:buFontTx/>
              <a:buNone/>
              <a:tabLst/>
            </a:pPr>
            <a:endParaRPr lang="en-US" altLang="en-US" sz="1600" dirty="0">
              <a:solidFill>
                <a:srgbClr val="333333"/>
              </a:solidFill>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The port is a number that servers use as an endpoint or “door” to our IP address.</a:t>
            </a: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 In our example, we will use port </a:t>
            </a:r>
            <a:r>
              <a:rPr kumimoji="0" lang="en-US" altLang="en-US" sz="1600" b="0" i="0" u="none" strike="noStrike" cap="none" normalizeH="0" baseline="0" dirty="0">
                <a:ln>
                  <a:noFill/>
                </a:ln>
                <a:solidFill>
                  <a:srgbClr val="545454"/>
                </a:solidFill>
                <a:effectLst/>
                <a:latin typeface="Consolas" panose="020B0609020204030204" pitchFamily="49" charset="0"/>
              </a:rPr>
              <a:t>8081</a:t>
            </a:r>
            <a:r>
              <a:rPr kumimoji="0" lang="en-US" altLang="en-US" sz="1600" b="0" i="0" u="none" strike="noStrike" cap="none" normalizeH="0" baseline="0" dirty="0">
                <a:ln>
                  <a:noFill/>
                </a:ln>
                <a:solidFill>
                  <a:srgbClr val="333333"/>
                </a:solidFill>
                <a:effectLst/>
                <a:latin typeface="Sailec-Regular"/>
              </a:rPr>
              <a:t> for our web server. Ports </a:t>
            </a:r>
            <a:r>
              <a:rPr kumimoji="0" lang="en-US" altLang="en-US" sz="1600" b="0" i="0" u="none" strike="noStrike" cap="none" normalizeH="0" baseline="0" dirty="0">
                <a:ln>
                  <a:noFill/>
                </a:ln>
                <a:solidFill>
                  <a:srgbClr val="545454"/>
                </a:solidFill>
                <a:effectLst/>
                <a:latin typeface="Consolas" panose="020B0609020204030204" pitchFamily="49" charset="0"/>
              </a:rPr>
              <a:t>8080</a:t>
            </a:r>
            <a:r>
              <a:rPr kumimoji="0" lang="en-US" altLang="en-US" sz="1600" b="0" i="0" u="none" strike="noStrike" cap="none" normalizeH="0" baseline="0" dirty="0">
                <a:ln>
                  <a:noFill/>
                </a:ln>
                <a:solidFill>
                  <a:srgbClr val="333333"/>
                </a:solidFill>
                <a:effectLst/>
                <a:latin typeface="Sailec-Regular"/>
              </a:rPr>
              <a:t> and </a:t>
            </a:r>
            <a:r>
              <a:rPr kumimoji="0" lang="en-US" altLang="en-US" sz="1600" b="0" i="0" u="none" strike="noStrike" cap="none" normalizeH="0" baseline="0" dirty="0">
                <a:ln>
                  <a:noFill/>
                </a:ln>
                <a:solidFill>
                  <a:srgbClr val="545454"/>
                </a:solidFill>
                <a:effectLst/>
                <a:latin typeface="Consolas" panose="020B0609020204030204" pitchFamily="49" charset="0"/>
              </a:rPr>
              <a:t>8081</a:t>
            </a:r>
            <a:r>
              <a:rPr kumimoji="0" lang="en-US" altLang="en-US" sz="1600" b="0" i="0" u="none" strike="noStrike" cap="none" normalizeH="0" baseline="0" dirty="0">
                <a:ln>
                  <a:noFill/>
                </a:ln>
                <a:solidFill>
                  <a:srgbClr val="333333"/>
                </a:solidFill>
                <a:effectLst/>
                <a:latin typeface="Sailec-Regular"/>
              </a:rPr>
              <a:t> are typically  used as default ports in development, and in most cases developers will use them rather  than other ports for HTTP servers.</a:t>
            </a:r>
          </a:p>
          <a:p>
            <a:pPr marL="0" marR="0" lvl="0" indent="0" algn="l" defTabSz="914400" rtl="0" eaLnBrk="0" fontAlgn="base" latinLnBrk="0" hangingPunct="0">
              <a:lnSpc>
                <a:spcPct val="100000"/>
              </a:lnSpc>
              <a:spcBef>
                <a:spcPts val="0"/>
              </a:spcBef>
              <a:spcAft>
                <a:spcPts val="0"/>
              </a:spcAft>
              <a:buClrTx/>
              <a:buSzTx/>
              <a:buFontTx/>
              <a:buNone/>
              <a:tabLst/>
            </a:pPr>
            <a:endParaRPr lang="en-US" altLang="en-US" sz="1600" dirty="0">
              <a:solidFill>
                <a:srgbClr val="333333"/>
              </a:solidFill>
              <a:latin typeface="Sailec-Regular"/>
            </a:endParaRPr>
          </a:p>
          <a:p>
            <a:pPr marL="0" marR="0" lvl="0" indent="0" algn="l" defTabSz="914400" rtl="0" eaLnBrk="0" fontAlgn="base" latinLnBrk="0" hangingPunct="0">
              <a:lnSpc>
                <a:spcPct val="100000"/>
              </a:lnSpc>
              <a:spcBef>
                <a:spcPts val="0"/>
              </a:spcBef>
              <a:spcAft>
                <a:spcPts val="0"/>
              </a:spcAft>
              <a:buClrTx/>
              <a:buSzTx/>
              <a:buFontTx/>
              <a:buNone/>
              <a:tabLst/>
            </a:pPr>
            <a:endParaRPr kumimoji="0" lang="en-US" altLang="en-US" sz="1600" b="0" i="0" u="none" strike="noStrike" cap="none" normalizeH="0" baseline="0" dirty="0">
              <a:ln>
                <a:noFill/>
              </a:ln>
              <a:solidFill>
                <a:schemeClr val="tx1"/>
              </a:solidFill>
              <a:effectLst/>
            </a:endParaRPr>
          </a:p>
          <a:p>
            <a:pPr marL="0" marR="0" lvl="0" indent="0" algn="l" defTabSz="914400" rtl="0" eaLnBrk="0" fontAlgn="base" latinLnBrk="0" hangingPunct="0">
              <a:lnSpc>
                <a:spcPct val="100000"/>
              </a:lnSpc>
              <a:spcBef>
                <a:spcPts val="0"/>
              </a:spcBef>
              <a:spcAft>
                <a:spcPts val="0"/>
              </a:spcAft>
              <a:buClrTx/>
              <a:buSzTx/>
              <a:buFontTx/>
              <a:buNone/>
              <a:tabLst/>
            </a:pPr>
            <a:r>
              <a:rPr kumimoji="0" lang="en-US" altLang="en-US" sz="1600" b="0" i="0" u="none" strike="noStrike" cap="none" normalizeH="0" baseline="0" dirty="0">
                <a:ln>
                  <a:noFill/>
                </a:ln>
                <a:solidFill>
                  <a:srgbClr val="333333"/>
                </a:solidFill>
                <a:effectLst/>
                <a:latin typeface="Sailec-Regular"/>
              </a:rPr>
              <a:t>When we bind our server to this host and port, we will be able to reach our server by visiting </a:t>
            </a:r>
            <a:r>
              <a:rPr kumimoji="0" lang="en-US" altLang="en-US" sz="1600" b="0" i="0" u="none" strike="noStrike" cap="none" normalizeH="0" baseline="0" dirty="0">
                <a:ln>
                  <a:noFill/>
                </a:ln>
                <a:solidFill>
                  <a:srgbClr val="545454"/>
                </a:solidFill>
                <a:effectLst/>
                <a:latin typeface="Consolas" panose="020B0609020204030204" pitchFamily="49" charset="0"/>
              </a:rPr>
              <a:t>http://localhost:8000</a:t>
            </a:r>
            <a:r>
              <a:rPr kumimoji="0" lang="en-US" altLang="en-US" sz="1600" b="0" i="0" u="none" strike="noStrike" cap="none" normalizeH="0" baseline="0" dirty="0">
                <a:ln>
                  <a:noFill/>
                </a:ln>
                <a:solidFill>
                  <a:srgbClr val="333333"/>
                </a:solidFill>
                <a:effectLst/>
                <a:latin typeface="Sailec-Regular"/>
              </a:rPr>
              <a:t> in a local browser.</a:t>
            </a:r>
            <a:endParaRPr kumimoji="0" lang="en-US" altLang="en-US" sz="16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92E3CA56-64EA-4DA1-B3C7-B9F94A36691B}"/>
              </a:ext>
            </a:extLst>
          </p:cNvPr>
          <p:cNvSpPr txBox="1"/>
          <p:nvPr/>
        </p:nvSpPr>
        <p:spPr>
          <a:xfrm>
            <a:off x="238431" y="5456903"/>
            <a:ext cx="5129982" cy="923330"/>
          </a:xfrm>
          <a:prstGeom prst="rect">
            <a:avLst/>
          </a:prstGeom>
          <a:noFill/>
        </p:spPr>
        <p:txBody>
          <a:bodyPr wrap="square" rtlCol="0">
            <a:spAutoFit/>
          </a:bodyPr>
          <a:lstStyle/>
          <a:p>
            <a:r>
              <a:rPr lang="en-IN" dirty="0"/>
              <a:t>Put this line in code </a:t>
            </a:r>
          </a:p>
          <a:p>
            <a:r>
              <a:rPr lang="en-IN" dirty="0"/>
              <a:t>Console.log(http) </a:t>
            </a:r>
          </a:p>
          <a:p>
            <a:r>
              <a:rPr lang="en-IN" dirty="0"/>
              <a:t>You will see all methods and property of HTP class</a:t>
            </a:r>
          </a:p>
        </p:txBody>
      </p:sp>
    </p:spTree>
    <p:extLst>
      <p:ext uri="{BB962C8B-B14F-4D97-AF65-F5344CB8AC3E}">
        <p14:creationId xmlns:p14="http://schemas.microsoft.com/office/powerpoint/2010/main" val="27557681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0028B-EBE5-450F-B750-CE1CC122488B}"/>
              </a:ext>
            </a:extLst>
          </p:cNvPr>
          <p:cNvSpPr>
            <a:spLocks noGrp="1"/>
          </p:cNvSpPr>
          <p:nvPr>
            <p:ph type="title"/>
          </p:nvPr>
        </p:nvSpPr>
        <p:spPr>
          <a:xfrm>
            <a:off x="1288025" y="103239"/>
            <a:ext cx="10026445" cy="500114"/>
          </a:xfrm>
        </p:spPr>
        <p:txBody>
          <a:bodyPr>
            <a:normAutofit fontScale="90000"/>
          </a:bodyPr>
          <a:lstStyle/>
          <a:p>
            <a:r>
              <a:rPr lang="en-US" dirty="0" err="1"/>
              <a:t>http.createServer</a:t>
            </a:r>
            <a:r>
              <a:rPr lang="en-US" dirty="0"/>
              <a:t>([options][, </a:t>
            </a:r>
            <a:r>
              <a:rPr lang="en-US" dirty="0" err="1"/>
              <a:t>requestListener</a:t>
            </a:r>
            <a:r>
              <a:rPr lang="en-US" dirty="0"/>
              <a:t>])</a:t>
            </a:r>
            <a:endParaRPr lang="en-IN" dirty="0"/>
          </a:p>
        </p:txBody>
      </p:sp>
      <p:sp>
        <p:nvSpPr>
          <p:cNvPr id="3" name="Content Placeholder 2">
            <a:extLst>
              <a:ext uri="{FF2B5EF4-FFF2-40B4-BE49-F238E27FC236}">
                <a16:creationId xmlns:a16="http://schemas.microsoft.com/office/drawing/2014/main" id="{04744640-323F-48E3-B7C2-7B846B9981BA}"/>
              </a:ext>
            </a:extLst>
          </p:cNvPr>
          <p:cNvSpPr>
            <a:spLocks noGrp="1"/>
          </p:cNvSpPr>
          <p:nvPr>
            <p:ph idx="1"/>
          </p:nvPr>
        </p:nvSpPr>
        <p:spPr>
          <a:xfrm>
            <a:off x="501445" y="1253330"/>
            <a:ext cx="11621729" cy="5501431"/>
          </a:xfrm>
        </p:spPr>
        <p:txBody>
          <a:bodyPr>
            <a:noAutofit/>
          </a:bodyPr>
          <a:lstStyle/>
          <a:p>
            <a:pPr>
              <a:lnSpc>
                <a:spcPct val="100000"/>
              </a:lnSpc>
              <a:spcBef>
                <a:spcPts val="600"/>
              </a:spcBef>
              <a:spcAft>
                <a:spcPts val="600"/>
              </a:spcAft>
            </a:pPr>
            <a:r>
              <a:rPr lang="en-US" sz="2000" dirty="0"/>
              <a:t>options &lt;Object&gt;:</a:t>
            </a:r>
            <a:r>
              <a:rPr lang="en-US" sz="2000" dirty="0" err="1"/>
              <a:t>IncomingMessage</a:t>
            </a:r>
            <a:r>
              <a:rPr lang="en-US" sz="2000" dirty="0"/>
              <a:t> &lt;</a:t>
            </a:r>
            <a:r>
              <a:rPr lang="en-US" sz="2000" dirty="0" err="1"/>
              <a:t>http.IncomingMessage</a:t>
            </a:r>
            <a:r>
              <a:rPr lang="en-US" sz="2000" dirty="0"/>
              <a:t>&gt; Specifies the </a:t>
            </a:r>
            <a:r>
              <a:rPr lang="en-US" sz="2000" dirty="0" err="1"/>
              <a:t>IncomingMessage</a:t>
            </a:r>
            <a:r>
              <a:rPr lang="en-US" sz="2000" dirty="0"/>
              <a:t> class to be used. Useful for extending the original </a:t>
            </a:r>
            <a:r>
              <a:rPr lang="en-US" sz="2000" dirty="0" err="1"/>
              <a:t>IncomingMessage</a:t>
            </a:r>
            <a:r>
              <a:rPr lang="en-US" sz="2000" dirty="0"/>
              <a:t>. Default: </a:t>
            </a:r>
            <a:r>
              <a:rPr lang="en-US" sz="2000" dirty="0" err="1"/>
              <a:t>IncomingMessage</a:t>
            </a:r>
            <a:r>
              <a:rPr lang="en-US" sz="2000" dirty="0"/>
              <a:t>.</a:t>
            </a:r>
          </a:p>
          <a:p>
            <a:pPr>
              <a:lnSpc>
                <a:spcPct val="100000"/>
              </a:lnSpc>
              <a:spcBef>
                <a:spcPts val="600"/>
              </a:spcBef>
              <a:spcAft>
                <a:spcPts val="600"/>
              </a:spcAft>
            </a:pPr>
            <a:r>
              <a:rPr lang="en-US" sz="2000" dirty="0" err="1"/>
              <a:t>ServerResponse</a:t>
            </a:r>
            <a:r>
              <a:rPr lang="en-US" sz="2000" dirty="0"/>
              <a:t> &lt;</a:t>
            </a:r>
            <a:r>
              <a:rPr lang="en-US" sz="2000" dirty="0" err="1"/>
              <a:t>http.ServerResponse</a:t>
            </a:r>
            <a:r>
              <a:rPr lang="en-US" sz="2000" dirty="0"/>
              <a:t>&gt; Specifies the </a:t>
            </a:r>
            <a:r>
              <a:rPr lang="en-US" sz="2000" dirty="0" err="1"/>
              <a:t>ServerResponse</a:t>
            </a:r>
            <a:r>
              <a:rPr lang="en-US" sz="2000" dirty="0"/>
              <a:t> class to be used. Useful for extending the original </a:t>
            </a:r>
            <a:r>
              <a:rPr lang="en-US" sz="2000" dirty="0" err="1"/>
              <a:t>ServerResponse</a:t>
            </a:r>
            <a:r>
              <a:rPr lang="en-US" sz="2000" dirty="0"/>
              <a:t>. </a:t>
            </a:r>
            <a:r>
              <a:rPr lang="en-US" sz="2000" b="1" dirty="0"/>
              <a:t>Default</a:t>
            </a:r>
            <a:r>
              <a:rPr lang="en-US" sz="2000" dirty="0"/>
              <a:t>: </a:t>
            </a:r>
            <a:r>
              <a:rPr lang="en-US" sz="2000" dirty="0" err="1"/>
              <a:t>ServerResponse</a:t>
            </a:r>
            <a:r>
              <a:rPr lang="en-US" sz="2000" dirty="0"/>
              <a:t>.</a:t>
            </a:r>
          </a:p>
          <a:p>
            <a:pPr>
              <a:lnSpc>
                <a:spcPct val="100000"/>
              </a:lnSpc>
              <a:spcBef>
                <a:spcPts val="600"/>
              </a:spcBef>
              <a:spcAft>
                <a:spcPts val="600"/>
              </a:spcAft>
            </a:pPr>
            <a:r>
              <a:rPr lang="en-US" sz="2000" dirty="0" err="1"/>
              <a:t>insecureHTTPParser</a:t>
            </a:r>
            <a:r>
              <a:rPr lang="en-US" sz="2000" dirty="0"/>
              <a:t> &lt;</a:t>
            </a:r>
            <a:r>
              <a:rPr lang="en-US" sz="2000" dirty="0" err="1"/>
              <a:t>boolean</a:t>
            </a:r>
            <a:r>
              <a:rPr lang="en-US" sz="2000" dirty="0"/>
              <a:t>&gt; Use an insecure HTTP parser that accepts invalid HTTP headers when true. Using the insecure parser should be avoided. See --insecure-http-parser for more information. </a:t>
            </a:r>
            <a:r>
              <a:rPr lang="en-US" sz="2000" b="1" dirty="0"/>
              <a:t>Default:</a:t>
            </a:r>
            <a:r>
              <a:rPr lang="en-US" sz="2000" dirty="0"/>
              <a:t> false</a:t>
            </a:r>
          </a:p>
          <a:p>
            <a:pPr>
              <a:lnSpc>
                <a:spcPct val="100000"/>
              </a:lnSpc>
              <a:spcBef>
                <a:spcPts val="600"/>
              </a:spcBef>
              <a:spcAft>
                <a:spcPts val="600"/>
              </a:spcAft>
            </a:pPr>
            <a:r>
              <a:rPr lang="en-US" sz="2000" dirty="0" err="1"/>
              <a:t>maxHeaderSize</a:t>
            </a:r>
            <a:r>
              <a:rPr lang="en-US" sz="2000" dirty="0"/>
              <a:t> &lt;number&gt; Optionally overrides the value of --max-http-header-size for requests received by this server, i.e. the maximum length of request headers in bytes. </a:t>
            </a:r>
            <a:r>
              <a:rPr lang="en-US" sz="2000" b="1" dirty="0"/>
              <a:t>Default:</a:t>
            </a:r>
            <a:r>
              <a:rPr lang="en-US" sz="2000" dirty="0"/>
              <a:t> 16384 (16KB).</a:t>
            </a:r>
          </a:p>
          <a:p>
            <a:pPr>
              <a:lnSpc>
                <a:spcPct val="100000"/>
              </a:lnSpc>
              <a:spcBef>
                <a:spcPts val="600"/>
              </a:spcBef>
              <a:spcAft>
                <a:spcPts val="600"/>
              </a:spcAft>
            </a:pPr>
            <a:r>
              <a:rPr lang="en-US" sz="2000" dirty="0" err="1"/>
              <a:t>requestListener</a:t>
            </a:r>
            <a:r>
              <a:rPr lang="en-US" sz="2000" dirty="0"/>
              <a:t> &lt;Function&gt;</a:t>
            </a:r>
          </a:p>
          <a:p>
            <a:pPr>
              <a:lnSpc>
                <a:spcPct val="100000"/>
              </a:lnSpc>
              <a:spcBef>
                <a:spcPts val="600"/>
              </a:spcBef>
              <a:spcAft>
                <a:spcPts val="600"/>
              </a:spcAft>
            </a:pPr>
            <a:r>
              <a:rPr lang="en-US" sz="2000" b="1" dirty="0"/>
              <a:t>Returns: &lt;</a:t>
            </a:r>
            <a:r>
              <a:rPr lang="en-US" sz="2000" b="1" dirty="0" err="1"/>
              <a:t>http.Server</a:t>
            </a:r>
            <a:r>
              <a:rPr lang="en-US" sz="2000" b="1" dirty="0"/>
              <a:t>&gt;</a:t>
            </a:r>
          </a:p>
          <a:p>
            <a:pPr>
              <a:lnSpc>
                <a:spcPct val="100000"/>
              </a:lnSpc>
              <a:spcBef>
                <a:spcPts val="600"/>
              </a:spcBef>
              <a:spcAft>
                <a:spcPts val="600"/>
              </a:spcAft>
            </a:pPr>
            <a:r>
              <a:rPr lang="en-US" sz="2000" b="1" dirty="0"/>
              <a:t>Returns a new instance of </a:t>
            </a:r>
            <a:r>
              <a:rPr lang="en-US" sz="2000" b="1" dirty="0" err="1"/>
              <a:t>http.Server</a:t>
            </a:r>
            <a:r>
              <a:rPr lang="en-US" sz="2000" b="1" dirty="0"/>
              <a:t>.</a:t>
            </a:r>
            <a:endParaRPr lang="en-IN" sz="2000" b="1" dirty="0"/>
          </a:p>
        </p:txBody>
      </p:sp>
    </p:spTree>
    <p:extLst>
      <p:ext uri="{BB962C8B-B14F-4D97-AF65-F5344CB8AC3E}">
        <p14:creationId xmlns:p14="http://schemas.microsoft.com/office/powerpoint/2010/main" val="19922179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3551AA-D082-49DD-A862-C143638DAF59}"/>
              </a:ext>
            </a:extLst>
          </p:cNvPr>
          <p:cNvSpPr>
            <a:spLocks noGrp="1"/>
          </p:cNvSpPr>
          <p:nvPr>
            <p:ph type="title"/>
          </p:nvPr>
        </p:nvSpPr>
        <p:spPr>
          <a:xfrm>
            <a:off x="1307690" y="0"/>
            <a:ext cx="10223090" cy="608269"/>
          </a:xfrm>
        </p:spPr>
        <p:txBody>
          <a:bodyPr>
            <a:normAutofit fontScale="90000"/>
          </a:bodyPr>
          <a:lstStyle/>
          <a:p>
            <a:r>
              <a:rPr lang="en-IN" dirty="0"/>
              <a:t>What is </a:t>
            </a:r>
            <a:r>
              <a:rPr lang="en-IN" dirty="0" err="1"/>
              <a:t>req</a:t>
            </a:r>
            <a:r>
              <a:rPr lang="en-IN" dirty="0"/>
              <a:t>, res in anonymous function</a:t>
            </a:r>
          </a:p>
        </p:txBody>
      </p:sp>
      <p:sp>
        <p:nvSpPr>
          <p:cNvPr id="8" name="TextBox 7">
            <a:extLst>
              <a:ext uri="{FF2B5EF4-FFF2-40B4-BE49-F238E27FC236}">
                <a16:creationId xmlns:a16="http://schemas.microsoft.com/office/drawing/2014/main" id="{5F5ACFD2-7447-425C-AD3B-794AD788BF71}"/>
              </a:ext>
            </a:extLst>
          </p:cNvPr>
          <p:cNvSpPr txBox="1"/>
          <p:nvPr/>
        </p:nvSpPr>
        <p:spPr>
          <a:xfrm>
            <a:off x="285135" y="3429000"/>
            <a:ext cx="10874478" cy="1754326"/>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writeHead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'text/plain'</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a:solidFill>
                  <a:srgbClr val="008000"/>
                </a:solidFill>
                <a:effectLst/>
                <a:latin typeface="Consolas" panose="020B0609020204030204" pitchFamily="49" charset="0"/>
              </a:rPr>
              <a:t>// Send the response body as "Hello World"</a:t>
            </a:r>
            <a:endParaRPr lang="en-IN" b="0" dirty="0">
              <a:solidFill>
                <a:srgbClr val="000000"/>
              </a:solidFill>
              <a:effectLst/>
              <a:latin typeface="Consolas" panose="020B0609020204030204" pitchFamily="49" charset="0"/>
            </a:endParaRP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EE0000"/>
                </a:solidFill>
                <a:effectLst/>
                <a:latin typeface="Consolas" panose="020B0609020204030204" pitchFamily="49" charset="0"/>
              </a:rPr>
              <a:t>\n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endParaRPr lang="en-IN" b="0" dirty="0">
              <a:solidFill>
                <a:srgbClr val="000000"/>
              </a:solidFill>
              <a:effectLst/>
              <a:latin typeface="Consolas" panose="020B0609020204030204" pitchFamily="49" charset="0"/>
            </a:endParaRPr>
          </a:p>
          <a:p>
            <a:r>
              <a:rPr lang="en-US" dirty="0" err="1"/>
              <a:t>res.writeHead</a:t>
            </a:r>
            <a:r>
              <a:rPr lang="en-US" dirty="0"/>
              <a:t>(200); sets the HTTP status code of the response. HTTP status codes indicate how well an HTTP request was handled by the server. In this case, the status code 200 corresponds to "OK".</a:t>
            </a:r>
          </a:p>
        </p:txBody>
      </p:sp>
      <p:sp>
        <p:nvSpPr>
          <p:cNvPr id="10" name="TextBox 9">
            <a:extLst>
              <a:ext uri="{FF2B5EF4-FFF2-40B4-BE49-F238E27FC236}">
                <a16:creationId xmlns:a16="http://schemas.microsoft.com/office/drawing/2014/main" id="{61FD5565-312C-42E9-9A75-E1711B14DDD9}"/>
              </a:ext>
            </a:extLst>
          </p:cNvPr>
          <p:cNvSpPr txBox="1"/>
          <p:nvPr/>
        </p:nvSpPr>
        <p:spPr>
          <a:xfrm>
            <a:off x="176980" y="747252"/>
            <a:ext cx="11071122" cy="2585323"/>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b="0" dirty="0" err="1">
                <a:solidFill>
                  <a:srgbClr val="001080"/>
                </a:solidFill>
                <a:effectLst/>
                <a:latin typeface="Consolas" panose="020B0609020204030204" pitchFamily="49" charset="0"/>
              </a:rPr>
              <a:t>http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createServer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request</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response</a:t>
            </a:r>
            <a:r>
              <a:rPr lang="en-IN" b="0" dirty="0">
                <a:solidFill>
                  <a:srgbClr val="000000"/>
                </a:solidFill>
                <a:effectLst/>
                <a:latin typeface="Consolas" panose="020B0609020204030204" pitchFamily="49" charset="0"/>
              </a:rPr>
              <a:t>) { </a:t>
            </a:r>
          </a:p>
          <a:p>
            <a:endParaRPr lang="en-IN" dirty="0">
              <a:solidFill>
                <a:srgbClr val="000000"/>
              </a:solidFill>
              <a:latin typeface="Consolas" panose="020B0609020204030204" pitchFamily="49" charset="0"/>
            </a:endParaRPr>
          </a:p>
          <a:p>
            <a:r>
              <a:rPr lang="en-IN" b="0" dirty="0">
                <a:solidFill>
                  <a:srgbClr val="000000"/>
                </a:solidFill>
                <a:effectLst/>
                <a:latin typeface="Consolas" panose="020B0609020204030204" pitchFamily="49" charset="0"/>
              </a:rPr>
              <a:t>})</a:t>
            </a:r>
          </a:p>
          <a:p>
            <a:r>
              <a:rPr lang="en-US" dirty="0"/>
              <a:t>All request listener functions in Node.js accept two arguments: req and res (we can name them differently if we want). </a:t>
            </a:r>
          </a:p>
          <a:p>
            <a:endParaRPr lang="en-US" dirty="0"/>
          </a:p>
          <a:p>
            <a:r>
              <a:rPr lang="en-US" dirty="0"/>
              <a:t>The HTTP request the user sends is captured in a Request object, which corresponds to the first argument, req. </a:t>
            </a:r>
          </a:p>
          <a:p>
            <a:endParaRPr lang="en-US" dirty="0"/>
          </a:p>
          <a:p>
            <a:r>
              <a:rPr lang="en-US" dirty="0"/>
              <a:t>The HTTP response that we return to the user is formed by interacting with the Response object in second argument, res.</a:t>
            </a:r>
            <a:br>
              <a:rPr lang="en-IN" b="0" dirty="0">
                <a:solidFill>
                  <a:srgbClr val="000000"/>
                </a:solidFill>
                <a:effectLst/>
                <a:latin typeface="Consolas" panose="020B0609020204030204" pitchFamily="49" charset="0"/>
              </a:rPr>
            </a:br>
            <a:endParaRPr lang="en-IN" dirty="0"/>
          </a:p>
        </p:txBody>
      </p:sp>
      <p:sp>
        <p:nvSpPr>
          <p:cNvPr id="14" name="TextBox 13">
            <a:extLst>
              <a:ext uri="{FF2B5EF4-FFF2-40B4-BE49-F238E27FC236}">
                <a16:creationId xmlns:a16="http://schemas.microsoft.com/office/drawing/2014/main" id="{06742AB6-EC6D-4932-B8C2-4F408024863B}"/>
              </a:ext>
            </a:extLst>
          </p:cNvPr>
          <p:cNvSpPr txBox="1"/>
          <p:nvPr/>
        </p:nvSpPr>
        <p:spPr>
          <a:xfrm>
            <a:off x="176980" y="5279751"/>
            <a:ext cx="12103510" cy="1200329"/>
          </a:xfrm>
          <a:prstGeom prst="rect">
            <a:avLst/>
          </a:prstGeom>
        </p:spPr>
        <p:style>
          <a:lnRef idx="2">
            <a:schemeClr val="accent6"/>
          </a:lnRef>
          <a:fillRef idx="1">
            <a:schemeClr val="lt1"/>
          </a:fillRef>
          <a:effectRef idx="0">
            <a:schemeClr val="accent6"/>
          </a:effectRef>
          <a:fontRef idx="minor">
            <a:schemeClr val="dk1"/>
          </a:fontRef>
        </p:style>
        <p:txBody>
          <a:bodyPr wrap="square">
            <a:spAutoFit/>
          </a:bodyPr>
          <a:lstStyle/>
          <a:p>
            <a:r>
              <a:rPr lang="en-IN" b="0" dirty="0" err="1">
                <a:solidFill>
                  <a:srgbClr val="001080"/>
                </a:solidFill>
                <a:effectLst/>
                <a:latin typeface="Consolas" panose="020B0609020204030204" pitchFamily="49" charset="0"/>
              </a:rPr>
              <a:t>response</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'Hello World</a:t>
            </a:r>
            <a:r>
              <a:rPr lang="en-IN" b="0" dirty="0">
                <a:solidFill>
                  <a:srgbClr val="EE0000"/>
                </a:solidFill>
                <a:effectLst/>
                <a:latin typeface="Consolas" panose="020B0609020204030204" pitchFamily="49" charset="0"/>
              </a:rPr>
              <a:t>\n</a:t>
            </a:r>
            <a:r>
              <a:rPr lang="en-IN" b="0" dirty="0">
                <a:solidFill>
                  <a:srgbClr val="A31515"/>
                </a:solidFill>
                <a:effectLst/>
                <a:latin typeface="Consolas" panose="020B0609020204030204" pitchFamily="49" charset="0"/>
              </a:rPr>
              <a:t>’</a:t>
            </a:r>
            <a:r>
              <a:rPr lang="en-IN" b="0" dirty="0">
                <a:solidFill>
                  <a:srgbClr val="000000"/>
                </a:solidFill>
                <a:effectLst/>
                <a:latin typeface="Consolas" panose="020B0609020204030204" pitchFamily="49" charset="0"/>
              </a:rPr>
              <a:t>);</a:t>
            </a:r>
          </a:p>
          <a:p>
            <a:endParaRPr lang="en-US" dirty="0"/>
          </a:p>
          <a:p>
            <a:r>
              <a:rPr lang="en-US" dirty="0" err="1"/>
              <a:t>res.end</a:t>
            </a:r>
            <a:r>
              <a:rPr lang="en-US" dirty="0"/>
              <a:t>("My first server!");, writes the HTTP response back to the client who requested it. This function returns any data the server has to return. In this case, it’s returning text data.</a:t>
            </a:r>
            <a:endParaRPr lang="en-IN" dirty="0"/>
          </a:p>
        </p:txBody>
      </p:sp>
    </p:spTree>
    <p:extLst>
      <p:ext uri="{BB962C8B-B14F-4D97-AF65-F5344CB8AC3E}">
        <p14:creationId xmlns:p14="http://schemas.microsoft.com/office/powerpoint/2010/main" val="2443592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D06CFE-187D-480F-8D99-CE30AB655DE3}"/>
              </a:ext>
            </a:extLst>
          </p:cNvPr>
          <p:cNvSpPr>
            <a:spLocks noGrp="1"/>
          </p:cNvSpPr>
          <p:nvPr>
            <p:ph idx="1"/>
          </p:nvPr>
        </p:nvSpPr>
        <p:spPr>
          <a:xfrm>
            <a:off x="176980" y="812467"/>
            <a:ext cx="10921181" cy="5233066"/>
          </a:xfrm>
        </p:spPr>
        <p:txBody>
          <a:bodyPr/>
          <a:lstStyle/>
          <a:p>
            <a:pPr marL="0" indent="0">
              <a:buNone/>
            </a:pPr>
            <a:r>
              <a:rPr lang="en-US" dirty="0" err="1"/>
              <a:t>server.listen</a:t>
            </a:r>
            <a:r>
              <a:rPr lang="en-US" dirty="0"/>
              <a:t>() method.</a:t>
            </a:r>
          </a:p>
          <a:p>
            <a:pPr marL="0" indent="0">
              <a:buNone/>
            </a:pPr>
            <a:r>
              <a:rPr lang="en-US" dirty="0"/>
              <a:t> It accepts three arguments: port, host, and a callback function that fires when the server begins to listen.</a:t>
            </a:r>
          </a:p>
          <a:p>
            <a:pPr marL="0" indent="0">
              <a:buNone/>
            </a:pPr>
            <a:endParaRPr lang="en-US" dirty="0"/>
          </a:p>
          <a:p>
            <a:pPr marL="0" indent="0">
              <a:buNone/>
            </a:pPr>
            <a:r>
              <a:rPr lang="en-US" b="0" i="0" dirty="0">
                <a:solidFill>
                  <a:srgbClr val="333333"/>
                </a:solidFill>
                <a:effectLst/>
                <a:latin typeface="Lato"/>
              </a:rPr>
              <a:t>Starts the HTTP server listening for connections</a:t>
            </a:r>
            <a:endParaRPr lang="en-IN" dirty="0"/>
          </a:p>
        </p:txBody>
      </p:sp>
      <p:sp>
        <p:nvSpPr>
          <p:cNvPr id="7" name="TextBox 6">
            <a:extLst>
              <a:ext uri="{FF2B5EF4-FFF2-40B4-BE49-F238E27FC236}">
                <a16:creationId xmlns:a16="http://schemas.microsoft.com/office/drawing/2014/main" id="{8FC77461-000B-4738-A3EB-E5BB34B6890C}"/>
              </a:ext>
            </a:extLst>
          </p:cNvPr>
          <p:cNvSpPr txBox="1"/>
          <p:nvPr/>
        </p:nvSpPr>
        <p:spPr>
          <a:xfrm>
            <a:off x="838200" y="4321728"/>
            <a:ext cx="10515600" cy="646331"/>
          </a:xfrm>
          <a:prstGeom prst="rect">
            <a:avLst/>
          </a:prstGeom>
          <a:noFill/>
        </p:spPr>
        <p:txBody>
          <a:bodyPr wrap="square">
            <a:spAutoFit/>
          </a:bodyPr>
          <a:lstStyle/>
          <a:p>
            <a:r>
              <a:rPr lang="en-US" dirty="0" err="1"/>
              <a:t>res.end</a:t>
            </a:r>
            <a:r>
              <a:rPr lang="en-US" dirty="0"/>
              <a:t>() was called. With http. response() one must always call </a:t>
            </a:r>
            <a:r>
              <a:rPr lang="en-US" dirty="0" err="1"/>
              <a:t>res.end</a:t>
            </a:r>
            <a:r>
              <a:rPr lang="en-US" dirty="0"/>
              <a:t>() to signify the end of the request - even if there is no data being written to the request body.</a:t>
            </a:r>
            <a:endParaRPr lang="en-IN" dirty="0"/>
          </a:p>
        </p:txBody>
      </p:sp>
      <p:sp>
        <p:nvSpPr>
          <p:cNvPr id="9" name="TextBox 8">
            <a:extLst>
              <a:ext uri="{FF2B5EF4-FFF2-40B4-BE49-F238E27FC236}">
                <a16:creationId xmlns:a16="http://schemas.microsoft.com/office/drawing/2014/main" id="{052DAF40-4438-49F1-A367-D741B34513C9}"/>
              </a:ext>
            </a:extLst>
          </p:cNvPr>
          <p:cNvSpPr txBox="1"/>
          <p:nvPr/>
        </p:nvSpPr>
        <p:spPr>
          <a:xfrm>
            <a:off x="934065" y="3753153"/>
            <a:ext cx="6135328" cy="369332"/>
          </a:xfrm>
          <a:prstGeom prst="rect">
            <a:avLst/>
          </a:prstGeom>
          <a:noFill/>
        </p:spPr>
        <p:txBody>
          <a:bodyPr wrap="square">
            <a:spAutoFit/>
          </a:bodyPr>
          <a:lstStyle/>
          <a:p>
            <a:r>
              <a:rPr lang="en-IN" sz="1800" b="0" dirty="0" err="1">
                <a:solidFill>
                  <a:srgbClr val="001080"/>
                </a:solidFill>
                <a:effectLst/>
                <a:latin typeface="Consolas" panose="020B0609020204030204" pitchFamily="49" charset="0"/>
              </a:rPr>
              <a:t>res</a:t>
            </a:r>
            <a:r>
              <a:rPr lang="en-IN" sz="1800" b="0" dirty="0" err="1">
                <a:solidFill>
                  <a:srgbClr val="000000"/>
                </a:solidFill>
                <a:effectLst/>
                <a:latin typeface="Consolas" panose="020B0609020204030204" pitchFamily="49" charset="0"/>
              </a:rPr>
              <a:t>.</a:t>
            </a:r>
            <a:r>
              <a:rPr lang="en-IN" sz="1800" b="0" dirty="0" err="1">
                <a:solidFill>
                  <a:srgbClr val="795E26"/>
                </a:solidFill>
                <a:effectLst/>
                <a:latin typeface="Consolas" panose="020B0609020204030204" pitchFamily="49" charset="0"/>
              </a:rPr>
              <a:t>end</a:t>
            </a:r>
            <a:r>
              <a:rPr lang="en-IN" sz="1800" b="0" dirty="0">
                <a:solidFill>
                  <a:srgbClr val="000000"/>
                </a:solidFill>
                <a:effectLst/>
                <a:latin typeface="Consolas" panose="020B0609020204030204" pitchFamily="49" charset="0"/>
              </a:rPr>
              <a:t>(</a:t>
            </a:r>
            <a:r>
              <a:rPr lang="en-IN" sz="1800" b="0" dirty="0">
                <a:solidFill>
                  <a:srgbClr val="A31515"/>
                </a:solidFill>
                <a:effectLst/>
                <a:latin typeface="Consolas" panose="020B0609020204030204" pitchFamily="49" charset="0"/>
              </a:rPr>
              <a:t>'Hello World</a:t>
            </a:r>
            <a:r>
              <a:rPr lang="en-IN" sz="1800" b="0" dirty="0">
                <a:solidFill>
                  <a:srgbClr val="EE0000"/>
                </a:solidFill>
                <a:effectLst/>
                <a:latin typeface="Consolas" panose="020B0609020204030204" pitchFamily="49" charset="0"/>
              </a:rPr>
              <a:t>\n</a:t>
            </a:r>
            <a:r>
              <a:rPr lang="en-IN" sz="1800" b="0" dirty="0">
                <a:solidFill>
                  <a:srgbClr val="A31515"/>
                </a:solidFill>
                <a:effectLst/>
                <a:latin typeface="Consolas" panose="020B0609020204030204" pitchFamily="49" charset="0"/>
              </a:rPr>
              <a:t>'</a:t>
            </a:r>
            <a:r>
              <a:rPr lang="en-IN" sz="1800" b="0" dirty="0">
                <a:solidFill>
                  <a:srgbClr val="000000"/>
                </a:solidFill>
                <a:effectLst/>
                <a:latin typeface="Consolas" panose="020B0609020204030204" pitchFamily="49" charset="0"/>
              </a:rPr>
              <a:t>);</a:t>
            </a:r>
            <a:endParaRPr lang="en-IN" dirty="0"/>
          </a:p>
        </p:txBody>
      </p:sp>
    </p:spTree>
    <p:extLst>
      <p:ext uri="{BB962C8B-B14F-4D97-AF65-F5344CB8AC3E}">
        <p14:creationId xmlns:p14="http://schemas.microsoft.com/office/powerpoint/2010/main" val="40172203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93D8E7-640F-4BCB-B5BD-4FE4E9D754EF}"/>
              </a:ext>
            </a:extLst>
          </p:cNvPr>
          <p:cNvSpPr>
            <a:spLocks noGrp="1"/>
          </p:cNvSpPr>
          <p:nvPr>
            <p:ph type="title"/>
          </p:nvPr>
        </p:nvSpPr>
        <p:spPr>
          <a:xfrm>
            <a:off x="1295400" y="0"/>
            <a:ext cx="2159000" cy="566208"/>
          </a:xfrm>
        </p:spPr>
        <p:txBody>
          <a:bodyPr>
            <a:normAutofit/>
          </a:bodyPr>
          <a:lstStyle/>
          <a:p>
            <a:r>
              <a:rPr lang="en-IN" sz="2000" dirty="0"/>
              <a:t>What is modules</a:t>
            </a:r>
          </a:p>
        </p:txBody>
      </p:sp>
      <p:sp>
        <p:nvSpPr>
          <p:cNvPr id="3" name="Content Placeholder 2">
            <a:extLst>
              <a:ext uri="{FF2B5EF4-FFF2-40B4-BE49-F238E27FC236}">
                <a16:creationId xmlns:a16="http://schemas.microsoft.com/office/drawing/2014/main" id="{FA388F13-044A-4F95-BF0A-6CD54460E654}"/>
              </a:ext>
            </a:extLst>
          </p:cNvPr>
          <p:cNvSpPr>
            <a:spLocks noGrp="1"/>
          </p:cNvSpPr>
          <p:nvPr>
            <p:ph idx="1"/>
          </p:nvPr>
        </p:nvSpPr>
        <p:spPr>
          <a:xfrm>
            <a:off x="254000" y="877359"/>
            <a:ext cx="10515600" cy="1450974"/>
          </a:xfrm>
        </p:spPr>
        <p:txBody>
          <a:bodyPr>
            <a:normAutofit/>
          </a:bodyPr>
          <a:lstStyle/>
          <a:p>
            <a:pPr algn="l"/>
            <a:r>
              <a:rPr lang="en-US" sz="1400" b="0" i="0" dirty="0">
                <a:solidFill>
                  <a:srgbClr val="000000"/>
                </a:solidFill>
                <a:effectLst/>
                <a:latin typeface="+mj-lt"/>
              </a:rPr>
              <a:t>Consider modules to be the same as JavaScript libraries.</a:t>
            </a:r>
          </a:p>
          <a:p>
            <a:pPr algn="l"/>
            <a:r>
              <a:rPr lang="en-US" sz="1400" b="0" i="0" dirty="0">
                <a:solidFill>
                  <a:srgbClr val="000000"/>
                </a:solidFill>
                <a:effectLst/>
                <a:latin typeface="+mj-lt"/>
              </a:rPr>
              <a:t>A set of functions you want to include in your application.</a:t>
            </a:r>
          </a:p>
          <a:p>
            <a:pPr algn="l"/>
            <a:r>
              <a:rPr lang="en-US" sz="1400" b="0" i="0" dirty="0">
                <a:solidFill>
                  <a:srgbClr val="000000"/>
                </a:solidFill>
                <a:effectLst/>
                <a:latin typeface="+mj-lt"/>
              </a:rPr>
              <a:t>Node.js has a set of built-in modules which you can use without any further installation. Ex. http is built in module [</a:t>
            </a:r>
            <a:r>
              <a:rPr lang="en-IN" sz="1050" b="0" i="0" dirty="0">
                <a:solidFill>
                  <a:srgbClr val="0000CD"/>
                </a:solidFill>
                <a:effectLst/>
                <a:latin typeface="Consolas" panose="020B0609020204030204" pitchFamily="49" charset="0"/>
              </a:rPr>
              <a:t>var</a:t>
            </a:r>
            <a:r>
              <a:rPr lang="en-IN" sz="1050" b="0" i="0" dirty="0">
                <a:solidFill>
                  <a:srgbClr val="000000"/>
                </a:solidFill>
                <a:effectLst/>
                <a:latin typeface="Consolas" panose="020B0609020204030204" pitchFamily="49" charset="0"/>
              </a:rPr>
              <a:t> http = require(</a:t>
            </a:r>
            <a:r>
              <a:rPr lang="en-IN" sz="1050" b="0" i="0" dirty="0">
                <a:solidFill>
                  <a:srgbClr val="A52A2A"/>
                </a:solidFill>
                <a:effectLst/>
                <a:latin typeface="Consolas" panose="020B0609020204030204" pitchFamily="49" charset="0"/>
              </a:rPr>
              <a:t>'http’</a:t>
            </a:r>
            <a:r>
              <a:rPr lang="en-IN" sz="1050" b="0" i="0" dirty="0">
                <a:solidFill>
                  <a:srgbClr val="000000"/>
                </a:solidFill>
                <a:effectLst/>
                <a:latin typeface="Consolas" panose="020B0609020204030204" pitchFamily="49" charset="0"/>
              </a:rPr>
              <a:t>);]</a:t>
            </a:r>
            <a:endParaRPr lang="en-US" sz="1400" b="0" i="0" dirty="0">
              <a:solidFill>
                <a:srgbClr val="000000"/>
              </a:solidFill>
              <a:effectLst/>
              <a:latin typeface="+mj-lt"/>
            </a:endParaRPr>
          </a:p>
          <a:p>
            <a:endParaRPr lang="en-IN" sz="1400" dirty="0">
              <a:latin typeface="+mj-lt"/>
            </a:endParaRPr>
          </a:p>
        </p:txBody>
      </p:sp>
      <p:sp>
        <p:nvSpPr>
          <p:cNvPr id="5" name="TextBox 4">
            <a:extLst>
              <a:ext uri="{FF2B5EF4-FFF2-40B4-BE49-F238E27FC236}">
                <a16:creationId xmlns:a16="http://schemas.microsoft.com/office/drawing/2014/main" id="{F175BEB1-CE8E-49EC-B6BE-86659CC31AD4}"/>
              </a:ext>
            </a:extLst>
          </p:cNvPr>
          <p:cNvSpPr txBox="1"/>
          <p:nvPr/>
        </p:nvSpPr>
        <p:spPr>
          <a:xfrm>
            <a:off x="6096000" y="1917406"/>
            <a:ext cx="6134100" cy="2862322"/>
          </a:xfrm>
          <a:prstGeom prst="rect">
            <a:avLst/>
          </a:prstGeom>
          <a:noFill/>
        </p:spPr>
        <p:txBody>
          <a:bodyPr wrap="square">
            <a:spAutoFit/>
          </a:bodyPr>
          <a:lstStyle/>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http</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'http'</a:t>
            </a:r>
            <a:r>
              <a:rPr lang="en-IN" b="0" dirty="0">
                <a:solidFill>
                  <a:srgbClr val="000000"/>
                </a:solidFill>
                <a:effectLst/>
                <a:latin typeface="Consolas" panose="020B0609020204030204" pitchFamily="49" charset="0"/>
              </a:rPr>
              <a:t>);</a:t>
            </a:r>
          </a:p>
          <a:p>
            <a:r>
              <a:rPr lang="en-IN" b="0" dirty="0">
                <a:solidFill>
                  <a:srgbClr val="0000FF"/>
                </a:solidFill>
                <a:effectLst/>
                <a:latin typeface="Consolas" panose="020B0609020204030204" pitchFamily="49" charset="0"/>
              </a:rPr>
              <a:t>var</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dt</a:t>
            </a:r>
            <a:r>
              <a:rPr lang="en-IN" b="0" dirty="0">
                <a:solidFill>
                  <a:srgbClr val="000000"/>
                </a:solidFill>
                <a:effectLst/>
                <a:latin typeface="Consolas" panose="020B0609020204030204" pitchFamily="49" charset="0"/>
              </a:rPr>
              <a:t> = </a:t>
            </a:r>
            <a:r>
              <a:rPr lang="en-IN" b="0" dirty="0">
                <a:solidFill>
                  <a:srgbClr val="795E26"/>
                </a:solidFill>
                <a:effectLst/>
                <a:latin typeface="Consolas" panose="020B0609020204030204" pitchFamily="49" charset="0"/>
              </a:rPr>
              <a:t>require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‘./03module'</a:t>
            </a:r>
            <a:r>
              <a:rPr lang="en-IN" b="0" dirty="0">
                <a:solidFill>
                  <a:srgbClr val="000000"/>
                </a:solidFill>
                <a:effectLst/>
                <a:latin typeface="Consolas" panose="020B0609020204030204" pitchFamily="49" charset="0"/>
              </a:rPr>
              <a:t>);</a:t>
            </a:r>
          </a:p>
          <a:p>
            <a:br>
              <a:rPr lang="en-IN" b="0" dirty="0">
                <a:solidFill>
                  <a:srgbClr val="000000"/>
                </a:solidFill>
                <a:effectLst/>
                <a:latin typeface="Consolas" panose="020B0609020204030204" pitchFamily="49" charset="0"/>
              </a:rPr>
            </a:br>
            <a:r>
              <a:rPr lang="en-IN" b="0" dirty="0" err="1">
                <a:solidFill>
                  <a:srgbClr val="001080"/>
                </a:solidFill>
                <a:effectLst/>
                <a:latin typeface="Consolas" panose="020B0609020204030204" pitchFamily="49" charset="0"/>
              </a:rPr>
              <a:t>http</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createServer</a:t>
            </a:r>
            <a:r>
              <a:rPr lang="en-IN" b="0" dirty="0">
                <a:solidFill>
                  <a:srgbClr val="000000"/>
                </a:solidFill>
                <a:effectLst/>
                <a:latin typeface="Consolas" panose="020B0609020204030204" pitchFamily="49" charset="0"/>
              </a:rPr>
              <a:t>(</a:t>
            </a:r>
            <a:r>
              <a:rPr lang="en-IN" b="0" dirty="0">
                <a:solidFill>
                  <a:srgbClr val="0000FF"/>
                </a:solidFill>
                <a:effectLst/>
                <a:latin typeface="Consolas" panose="020B0609020204030204" pitchFamily="49" charset="0"/>
              </a:rPr>
              <a:t>function</a:t>
            </a:r>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req</a:t>
            </a:r>
            <a:r>
              <a:rPr lang="en-IN" b="0" dirty="0">
                <a:solidFill>
                  <a:srgbClr val="000000"/>
                </a:solidFill>
                <a:effectLst/>
                <a:latin typeface="Consolas" panose="020B0609020204030204" pitchFamily="49" charset="0"/>
              </a:rPr>
              <a:t>, </a:t>
            </a:r>
            <a:r>
              <a:rPr lang="en-IN" b="0" dirty="0">
                <a:solidFill>
                  <a:srgbClr val="001080"/>
                </a:solidFill>
                <a:effectLst/>
                <a:latin typeface="Consolas" panose="020B0609020204030204" pitchFamily="49" charset="0"/>
              </a:rPr>
              <a:t>res</a:t>
            </a:r>
            <a:r>
              <a:rPr lang="en-IN" b="0" dirty="0">
                <a:solidFill>
                  <a:srgbClr val="000000"/>
                </a:solidFill>
                <a:effectLst/>
                <a:latin typeface="Consolas" panose="020B0609020204030204" pitchFamily="49" charset="0"/>
              </a:rPr>
              <a:t>) {</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writeHead</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200</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'Content-Type'</a:t>
            </a:r>
            <a:r>
              <a:rPr lang="en-IN" b="0" dirty="0">
                <a:solidFill>
                  <a:srgbClr val="001080"/>
                </a:solidFill>
                <a:effectLst/>
                <a:latin typeface="Consolas" panose="020B0609020204030204" pitchFamily="49" charset="0"/>
              </a:rPr>
              <a:t>:</a:t>
            </a:r>
            <a:r>
              <a:rPr lang="en-IN" b="0" dirty="0">
                <a:solidFill>
                  <a:srgbClr val="000000"/>
                </a:solidFill>
                <a:effectLst/>
                <a:latin typeface="Consolas" panose="020B0609020204030204" pitchFamily="49" charset="0"/>
              </a:rPr>
              <a:t> </a:t>
            </a:r>
            <a:r>
              <a:rPr lang="en-IN" b="0" dirty="0">
                <a:solidFill>
                  <a:srgbClr val="A31515"/>
                </a:solidFill>
                <a:effectLst/>
                <a:latin typeface="Consolas" panose="020B0609020204030204" pitchFamily="49" charset="0"/>
              </a:rPr>
              <a:t>'text/html'</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write</a:t>
            </a:r>
            <a:r>
              <a:rPr lang="en-IN" b="0" dirty="0">
                <a:solidFill>
                  <a:srgbClr val="000000"/>
                </a:solidFill>
                <a:effectLst/>
                <a:latin typeface="Consolas" panose="020B0609020204030204" pitchFamily="49" charset="0"/>
              </a:rPr>
              <a:t>(</a:t>
            </a:r>
            <a:r>
              <a:rPr lang="en-IN" b="0" dirty="0">
                <a:solidFill>
                  <a:srgbClr val="A31515"/>
                </a:solidFill>
                <a:effectLst/>
                <a:latin typeface="Consolas" panose="020B0609020204030204" pitchFamily="49" charset="0"/>
              </a:rPr>
              <a:t>"The date and time are currently: "</a:t>
            </a:r>
            <a:r>
              <a:rPr lang="en-IN" b="0" dirty="0">
                <a:solidFill>
                  <a:srgbClr val="000000"/>
                </a:solidFill>
                <a:effectLst/>
                <a:latin typeface="Consolas" panose="020B0609020204030204" pitchFamily="49" charset="0"/>
              </a:rPr>
              <a:t> + </a:t>
            </a:r>
            <a:r>
              <a:rPr lang="en-IN" b="0" dirty="0" err="1">
                <a:solidFill>
                  <a:srgbClr val="001080"/>
                </a:solidFill>
                <a:effectLst/>
                <a:latin typeface="Consolas" panose="020B0609020204030204" pitchFamily="49" charset="0"/>
              </a:rPr>
              <a:t>dt</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myDateTime</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  </a:t>
            </a:r>
            <a:r>
              <a:rPr lang="en-IN" b="0" dirty="0" err="1">
                <a:solidFill>
                  <a:srgbClr val="001080"/>
                </a:solidFill>
                <a:effectLst/>
                <a:latin typeface="Consolas" panose="020B0609020204030204" pitchFamily="49" charset="0"/>
              </a:rPr>
              <a:t>res</a:t>
            </a:r>
            <a:r>
              <a:rPr lang="en-IN" b="0" dirty="0" err="1">
                <a:solidFill>
                  <a:srgbClr val="000000"/>
                </a:solidFill>
                <a:effectLst/>
                <a:latin typeface="Consolas" panose="020B0609020204030204" pitchFamily="49" charset="0"/>
              </a:rPr>
              <a:t>.</a:t>
            </a:r>
            <a:r>
              <a:rPr lang="en-IN" b="0" dirty="0" err="1">
                <a:solidFill>
                  <a:srgbClr val="795E26"/>
                </a:solidFill>
                <a:effectLst/>
                <a:latin typeface="Consolas" panose="020B0609020204030204" pitchFamily="49" charset="0"/>
              </a:rPr>
              <a:t>end</a:t>
            </a:r>
            <a:r>
              <a:rPr lang="en-IN" b="0" dirty="0">
                <a:solidFill>
                  <a:srgbClr val="000000"/>
                </a:solidFill>
                <a:effectLst/>
                <a:latin typeface="Consolas" panose="020B0609020204030204" pitchFamily="49" charset="0"/>
              </a:rPr>
              <a:t>();</a:t>
            </a:r>
          </a:p>
          <a:p>
            <a:r>
              <a:rPr lang="en-IN" b="0" dirty="0">
                <a:solidFill>
                  <a:srgbClr val="000000"/>
                </a:solidFill>
                <a:effectLst/>
                <a:latin typeface="Consolas" panose="020B0609020204030204" pitchFamily="49" charset="0"/>
              </a:rPr>
              <a:t>}).</a:t>
            </a:r>
            <a:r>
              <a:rPr lang="en-IN" b="0" dirty="0">
                <a:solidFill>
                  <a:srgbClr val="795E26"/>
                </a:solidFill>
                <a:effectLst/>
                <a:latin typeface="Consolas" panose="020B0609020204030204" pitchFamily="49" charset="0"/>
              </a:rPr>
              <a:t>listen</a:t>
            </a:r>
            <a:r>
              <a:rPr lang="en-IN" b="0" dirty="0">
                <a:solidFill>
                  <a:srgbClr val="000000"/>
                </a:solidFill>
                <a:effectLst/>
                <a:latin typeface="Consolas" panose="020B0609020204030204" pitchFamily="49" charset="0"/>
              </a:rPr>
              <a:t>(</a:t>
            </a:r>
            <a:r>
              <a:rPr lang="en-IN" b="0" dirty="0">
                <a:solidFill>
                  <a:srgbClr val="098658"/>
                </a:solidFill>
                <a:effectLst/>
                <a:latin typeface="Consolas" panose="020B0609020204030204" pitchFamily="49" charset="0"/>
              </a:rPr>
              <a:t>8080</a:t>
            </a:r>
            <a:r>
              <a:rPr lang="en-IN" b="0" dirty="0">
                <a:solidFill>
                  <a:srgbClr val="000000"/>
                </a:solidFill>
                <a:effectLst/>
                <a:latin typeface="Consolas" panose="020B0609020204030204" pitchFamily="49" charset="0"/>
              </a:rPr>
              <a:t>);</a:t>
            </a:r>
          </a:p>
        </p:txBody>
      </p:sp>
      <p:sp>
        <p:nvSpPr>
          <p:cNvPr id="7" name="TextBox 6">
            <a:extLst>
              <a:ext uri="{FF2B5EF4-FFF2-40B4-BE49-F238E27FC236}">
                <a16:creationId xmlns:a16="http://schemas.microsoft.com/office/drawing/2014/main" id="{791F96BB-4756-427A-9F98-3DF7F3DB9349}"/>
              </a:ext>
            </a:extLst>
          </p:cNvPr>
          <p:cNvSpPr txBox="1"/>
          <p:nvPr/>
        </p:nvSpPr>
        <p:spPr>
          <a:xfrm>
            <a:off x="135467" y="2328333"/>
            <a:ext cx="4500033" cy="1477328"/>
          </a:xfrm>
          <a:prstGeom prst="rect">
            <a:avLst/>
          </a:prstGeom>
          <a:noFill/>
        </p:spPr>
        <p:txBody>
          <a:bodyPr wrap="square">
            <a:spAutoFit/>
          </a:bodyPr>
          <a:lstStyle/>
          <a:p>
            <a:r>
              <a:rPr lang="en-US" b="0" dirty="0">
                <a:solidFill>
                  <a:srgbClr val="267F99"/>
                </a:solidFill>
                <a:effectLst/>
                <a:latin typeface="Consolas" panose="020B0609020204030204" pitchFamily="49" charset="0"/>
              </a:rPr>
              <a:t>//file03modul.js</a:t>
            </a:r>
          </a:p>
          <a:p>
            <a:r>
              <a:rPr lang="en-US" b="0" dirty="0" err="1">
                <a:solidFill>
                  <a:srgbClr val="267F99"/>
                </a:solidFill>
                <a:effectLst/>
                <a:latin typeface="Consolas" panose="020B0609020204030204" pitchFamily="49" charset="0"/>
              </a:rPr>
              <a:t>exports</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myDateTime</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Date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a:p>
            <a:endParaRPr lang="en-US" dirty="0">
              <a:solidFill>
                <a:srgbClr val="000000"/>
              </a:solidFill>
              <a:latin typeface="Consolas" panose="020B0609020204030204" pitchFamily="49" charset="0"/>
            </a:endParaRPr>
          </a:p>
        </p:txBody>
      </p:sp>
      <p:sp>
        <p:nvSpPr>
          <p:cNvPr id="9" name="Rectangle 1">
            <a:extLst>
              <a:ext uri="{FF2B5EF4-FFF2-40B4-BE49-F238E27FC236}">
                <a16:creationId xmlns:a16="http://schemas.microsoft.com/office/drawing/2014/main" id="{53A61800-47DB-4126-88BB-D49438E60945}"/>
              </a:ext>
            </a:extLst>
          </p:cNvPr>
          <p:cNvSpPr>
            <a:spLocks noChangeArrowheads="1"/>
          </p:cNvSpPr>
          <p:nvPr/>
        </p:nvSpPr>
        <p:spPr bwMode="auto">
          <a:xfrm>
            <a:off x="135467" y="5905546"/>
            <a:ext cx="9279466" cy="261610"/>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a:ln>
                  <a:noFill/>
                </a:ln>
                <a:solidFill>
                  <a:srgbClr val="000000"/>
                </a:solidFill>
                <a:effectLst/>
                <a:latin typeface="Verdana" panose="020B0604030504040204" pitchFamily="34" charset="0"/>
              </a:rPr>
              <a:t>Notice that we use </a:t>
            </a:r>
            <a:r>
              <a:rPr kumimoji="0" lang="en-US" altLang="en-US" sz="1100" b="0" i="0" u="none" strike="noStrike" cap="none" normalizeH="0" baseline="0">
                <a:ln>
                  <a:noFill/>
                </a:ln>
                <a:solidFill>
                  <a:srgbClr val="DC143C"/>
                </a:solidFill>
                <a:effectLst/>
                <a:latin typeface="Consolas" panose="020B0609020204030204" pitchFamily="49" charset="0"/>
              </a:rPr>
              <a:t>./</a:t>
            </a:r>
            <a:r>
              <a:rPr kumimoji="0" lang="en-US" altLang="en-US" sz="1100" b="0" i="0" u="none" strike="noStrike" cap="none" normalizeH="0" baseline="0">
                <a:ln>
                  <a:noFill/>
                </a:ln>
                <a:solidFill>
                  <a:srgbClr val="000000"/>
                </a:solidFill>
                <a:effectLst/>
                <a:latin typeface="Verdana" panose="020B0604030504040204" pitchFamily="34" charset="0"/>
              </a:rPr>
              <a:t> to locate the module, that means that the module is located in the same folder as the Node.js file.</a:t>
            </a:r>
            <a:r>
              <a:rPr kumimoji="0" lang="en-US" altLang="en-US" sz="800" b="0" i="0" u="none" strike="noStrike" cap="none" normalizeH="0" baseline="0">
                <a:ln>
                  <a:noFill/>
                </a:ln>
                <a:solidFill>
                  <a:schemeClr val="tx1"/>
                </a:solidFill>
                <a:effectLst/>
              </a:rPr>
              <a:t>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4" name="TextBox 3">
            <a:extLst>
              <a:ext uri="{FF2B5EF4-FFF2-40B4-BE49-F238E27FC236}">
                <a16:creationId xmlns:a16="http://schemas.microsoft.com/office/drawing/2014/main" id="{42AA2E9B-8EBF-0D37-6FE5-ACA3E04E55AA}"/>
              </a:ext>
            </a:extLst>
          </p:cNvPr>
          <p:cNvSpPr txBox="1"/>
          <p:nvPr/>
        </p:nvSpPr>
        <p:spPr>
          <a:xfrm>
            <a:off x="499533" y="4148667"/>
            <a:ext cx="3970867" cy="1200329"/>
          </a:xfrm>
          <a:prstGeom prst="rect">
            <a:avLst/>
          </a:prstGeom>
          <a:noFill/>
        </p:spPr>
        <p:txBody>
          <a:bodyPr wrap="square" rtlCol="0">
            <a:spAutoFit/>
          </a:bodyPr>
          <a:lstStyle/>
          <a:p>
            <a:r>
              <a:rPr lang="en-US" b="0" dirty="0">
                <a:solidFill>
                  <a:srgbClr val="000000"/>
                </a:solidFill>
                <a:effectLst/>
                <a:latin typeface="Consolas" panose="020B0609020204030204" pitchFamily="49" charset="0"/>
              </a:rPr>
              <a:t>Extra notes</a:t>
            </a:r>
          </a:p>
          <a:p>
            <a:r>
              <a:rPr lang="en-US" b="0" dirty="0" err="1">
                <a:solidFill>
                  <a:srgbClr val="000000"/>
                </a:solidFill>
                <a:effectLst/>
                <a:latin typeface="Consolas" panose="020B0609020204030204" pitchFamily="49" charset="0"/>
              </a:rPr>
              <a:t>Module.exports</a:t>
            </a:r>
            <a:r>
              <a:rPr lang="en-US" b="0" dirty="0">
                <a:solidFill>
                  <a:srgbClr val="000000"/>
                </a:solidFill>
                <a:effectLst/>
                <a:latin typeface="Consolas" panose="020B0609020204030204" pitchFamily="49" charset="0"/>
              </a:rPr>
              <a:t>={}</a:t>
            </a:r>
          </a:p>
          <a:p>
            <a:r>
              <a:rPr lang="en-US" dirty="0" err="1">
                <a:solidFill>
                  <a:srgbClr val="000000"/>
                </a:solidFill>
                <a:latin typeface="Consolas" panose="020B0609020204030204" pitchFamily="49" charset="0"/>
              </a:rPr>
              <a:t>Moduule.exports</a:t>
            </a:r>
            <a:r>
              <a:rPr lang="en-US" dirty="0">
                <a:solidFill>
                  <a:srgbClr val="000000"/>
                </a:solidFill>
                <a:latin typeface="Consolas" panose="020B0609020204030204" pitchFamily="49" charset="0"/>
              </a:rPr>
              <a:t>={</a:t>
            </a:r>
            <a:r>
              <a:rPr lang="en-US" b="0" dirty="0" err="1">
                <a:solidFill>
                  <a:srgbClr val="795E26"/>
                </a:solidFill>
                <a:effectLst/>
                <a:latin typeface="Consolas" panose="020B0609020204030204" pitchFamily="49" charset="0"/>
              </a:rPr>
              <a:t>myDateTime</a:t>
            </a:r>
            <a:r>
              <a:rPr lang="en-US" dirty="0">
                <a:solidFill>
                  <a:srgbClr val="000000"/>
                </a:solidFill>
                <a:latin typeface="Consolas" panose="020B0609020204030204" pitchFamily="49" charset="0"/>
              </a:rPr>
              <a:t>}</a:t>
            </a:r>
            <a:endParaRPr lang="en-US" b="0" dirty="0">
              <a:solidFill>
                <a:srgbClr val="000000"/>
              </a:solidFill>
              <a:effectLst/>
              <a:latin typeface="Consolas" panose="020B0609020204030204" pitchFamily="49" charset="0"/>
            </a:endParaRPr>
          </a:p>
          <a:p>
            <a:endParaRPr lang="en-IN" dirty="0"/>
          </a:p>
        </p:txBody>
      </p:sp>
    </p:spTree>
    <p:extLst>
      <p:ext uri="{BB962C8B-B14F-4D97-AF65-F5344CB8AC3E}">
        <p14:creationId xmlns:p14="http://schemas.microsoft.com/office/powerpoint/2010/main" val="4246238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23637-F35D-42E6-BE5E-E46DB0D5FC03}"/>
              </a:ext>
            </a:extLst>
          </p:cNvPr>
          <p:cNvSpPr>
            <a:spLocks noGrp="1"/>
          </p:cNvSpPr>
          <p:nvPr>
            <p:ph type="title"/>
          </p:nvPr>
        </p:nvSpPr>
        <p:spPr>
          <a:xfrm>
            <a:off x="2074333" y="102922"/>
            <a:ext cx="9677400" cy="244212"/>
          </a:xfrm>
        </p:spPr>
        <p:txBody>
          <a:bodyPr>
            <a:normAutofit fontScale="90000"/>
          </a:bodyPr>
          <a:lstStyle/>
          <a:p>
            <a:r>
              <a:rPr lang="en-IN" b="0" i="0" dirty="0">
                <a:solidFill>
                  <a:srgbClr val="000000"/>
                </a:solidFill>
                <a:effectLst/>
                <a:latin typeface="Segoe UI" panose="020B0502040204020203" pitchFamily="34" charset="0"/>
              </a:rPr>
              <a:t>Read the Query String</a:t>
            </a:r>
            <a:endParaRPr lang="en-IN" dirty="0"/>
          </a:p>
        </p:txBody>
      </p:sp>
      <p:sp>
        <p:nvSpPr>
          <p:cNvPr id="3" name="Content Placeholder 2">
            <a:extLst>
              <a:ext uri="{FF2B5EF4-FFF2-40B4-BE49-F238E27FC236}">
                <a16:creationId xmlns:a16="http://schemas.microsoft.com/office/drawing/2014/main" id="{D7BC6AE5-EE56-405C-BC45-B2CD8BEBCDF1}"/>
              </a:ext>
            </a:extLst>
          </p:cNvPr>
          <p:cNvSpPr>
            <a:spLocks noGrp="1"/>
          </p:cNvSpPr>
          <p:nvPr>
            <p:ph idx="1"/>
          </p:nvPr>
        </p:nvSpPr>
        <p:spPr>
          <a:xfrm>
            <a:off x="60325" y="707620"/>
            <a:ext cx="9127066" cy="2416175"/>
          </a:xfrm>
        </p:spPr>
        <p:txBody>
          <a:bodyPr>
            <a:normAutofit lnSpcReduction="10000"/>
          </a:bodyPr>
          <a:lstStyle/>
          <a:p>
            <a:r>
              <a:rPr lang="en-US" dirty="0"/>
              <a:t>the function passed into the </a:t>
            </a:r>
            <a:r>
              <a:rPr lang="en-US" dirty="0" err="1"/>
              <a:t>http.createServer</a:t>
            </a:r>
            <a:r>
              <a:rPr lang="en-US" dirty="0"/>
              <a:t>() has a req argument that represents the request from the client, as an object (</a:t>
            </a:r>
            <a:r>
              <a:rPr lang="en-US" dirty="0" err="1"/>
              <a:t>http.IncomingMessage</a:t>
            </a:r>
            <a:r>
              <a:rPr lang="en-US" dirty="0"/>
              <a:t> object).</a:t>
            </a:r>
          </a:p>
          <a:p>
            <a:endParaRPr lang="en-US" dirty="0"/>
          </a:p>
          <a:p>
            <a:r>
              <a:rPr lang="en-US" dirty="0"/>
              <a:t>This object has a property called "</a:t>
            </a:r>
            <a:r>
              <a:rPr lang="en-US" dirty="0" err="1"/>
              <a:t>url</a:t>
            </a:r>
            <a:r>
              <a:rPr lang="en-US" dirty="0"/>
              <a:t>" which holds the part of the </a:t>
            </a:r>
            <a:r>
              <a:rPr lang="en-US" dirty="0" err="1"/>
              <a:t>url</a:t>
            </a:r>
            <a:r>
              <a:rPr lang="en-US" dirty="0"/>
              <a:t> that comes after the domain name:</a:t>
            </a:r>
            <a:endParaRPr lang="en-IN" dirty="0"/>
          </a:p>
        </p:txBody>
      </p:sp>
      <p:sp>
        <p:nvSpPr>
          <p:cNvPr id="7" name="TextBox 6">
            <a:extLst>
              <a:ext uri="{FF2B5EF4-FFF2-40B4-BE49-F238E27FC236}">
                <a16:creationId xmlns:a16="http://schemas.microsoft.com/office/drawing/2014/main" id="{78DF9B6E-625F-4E89-B78B-08323562CCD2}"/>
              </a:ext>
            </a:extLst>
          </p:cNvPr>
          <p:cNvSpPr txBox="1"/>
          <p:nvPr/>
        </p:nvSpPr>
        <p:spPr>
          <a:xfrm>
            <a:off x="256116" y="3526706"/>
            <a:ext cx="8735484" cy="2031325"/>
          </a:xfrm>
          <a:prstGeom prst="rect">
            <a:avLst/>
          </a:prstGeom>
          <a:noFill/>
        </p:spPr>
        <p:txBody>
          <a:bodyPr wrap="square">
            <a:spAutoFit/>
          </a:bodyPr>
          <a:lstStyle/>
          <a:p>
            <a:r>
              <a:rPr lang="en-IN" b="0" i="0" dirty="0">
                <a:solidFill>
                  <a:srgbClr val="0000CD"/>
                </a:solidFill>
                <a:effectLst/>
                <a:latin typeface="Consolas" panose="020B0609020204030204" pitchFamily="49" charset="0"/>
              </a:rPr>
              <a:t>//05url.js</a:t>
            </a:r>
          </a:p>
          <a:p>
            <a:r>
              <a:rPr lang="en-IN" b="0" i="0" dirty="0">
                <a:solidFill>
                  <a:srgbClr val="0000CD"/>
                </a:solidFill>
                <a:effectLst/>
                <a:latin typeface="Consolas" panose="020B0609020204030204" pitchFamily="49" charset="0"/>
              </a:rPr>
              <a:t>var</a:t>
            </a:r>
            <a:r>
              <a:rPr lang="en-IN" b="0" i="0" dirty="0">
                <a:solidFill>
                  <a:srgbClr val="000000"/>
                </a:solidFill>
                <a:effectLst/>
                <a:latin typeface="Consolas" panose="020B0609020204030204" pitchFamily="49" charset="0"/>
              </a:rPr>
              <a:t> http = require(</a:t>
            </a:r>
            <a:r>
              <a:rPr lang="en-IN" b="0" i="0" dirty="0">
                <a:solidFill>
                  <a:srgbClr val="A52A2A"/>
                </a:solidFill>
                <a:effectLst/>
                <a:latin typeface="Consolas" panose="020B0609020204030204" pitchFamily="49" charset="0"/>
              </a:rPr>
              <a:t>'http'</a:t>
            </a:r>
            <a:r>
              <a:rPr lang="en-IN" b="0" i="0" dirty="0">
                <a:solidFill>
                  <a:srgbClr val="000000"/>
                </a:solidFill>
                <a:effectLst/>
                <a:latin typeface="Consolas" panose="020B0609020204030204" pitchFamily="49" charset="0"/>
              </a:rPr>
              <a:t>);</a:t>
            </a:r>
            <a:br>
              <a:rPr lang="en-IN" dirty="0"/>
            </a:br>
            <a:r>
              <a:rPr lang="en-IN" b="0" i="0" dirty="0" err="1">
                <a:solidFill>
                  <a:srgbClr val="000000"/>
                </a:solidFill>
                <a:effectLst/>
                <a:latin typeface="Consolas" panose="020B0609020204030204" pitchFamily="49" charset="0"/>
              </a:rPr>
              <a:t>http.createServer</a:t>
            </a:r>
            <a:r>
              <a:rPr lang="en-IN" b="0" i="0" dirty="0">
                <a:solidFill>
                  <a:srgbClr val="000000"/>
                </a:solidFill>
                <a:effectLst/>
                <a:latin typeface="Consolas" panose="020B0609020204030204" pitchFamily="49" charset="0"/>
              </a:rPr>
              <a:t>(</a:t>
            </a:r>
            <a:r>
              <a:rPr lang="en-IN" b="0" i="0" dirty="0">
                <a:solidFill>
                  <a:srgbClr val="0000CD"/>
                </a:solidFill>
                <a:effectLst/>
                <a:latin typeface="Consolas" panose="020B0609020204030204" pitchFamily="49" charset="0"/>
              </a:rPr>
              <a:t>function</a:t>
            </a:r>
            <a:r>
              <a:rPr lang="en-IN" b="0" i="0" dirty="0">
                <a:solidFill>
                  <a:srgbClr val="000000"/>
                </a:solidFill>
                <a:effectLst/>
                <a:latin typeface="Consolas" panose="020B0609020204030204" pitchFamily="49" charset="0"/>
              </a:rPr>
              <a:t> (</a:t>
            </a:r>
            <a:r>
              <a:rPr lang="en-IN" b="1" i="0" dirty="0" err="1">
                <a:solidFill>
                  <a:srgbClr val="000000"/>
                </a:solidFill>
                <a:effectLst/>
                <a:latin typeface="Consolas" panose="020B0609020204030204" pitchFamily="49" charset="0"/>
              </a:rPr>
              <a:t>req</a:t>
            </a:r>
            <a:r>
              <a:rPr lang="en-IN" b="0" i="0" dirty="0">
                <a:solidFill>
                  <a:srgbClr val="000000"/>
                </a:solidFill>
                <a:effectLst/>
                <a:latin typeface="Consolas" panose="020B0609020204030204" pitchFamily="49" charset="0"/>
              </a:rPr>
              <a:t>, res) {</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res.writeHead</a:t>
            </a:r>
            <a:r>
              <a:rPr lang="en-IN" b="0" i="0" dirty="0">
                <a:solidFill>
                  <a:srgbClr val="000000"/>
                </a:solidFill>
                <a:effectLst/>
                <a:latin typeface="Consolas" panose="020B0609020204030204" pitchFamily="49" charset="0"/>
              </a:rPr>
              <a:t>(</a:t>
            </a:r>
            <a:r>
              <a:rPr lang="en-IN" b="0" i="0" dirty="0">
                <a:solidFill>
                  <a:srgbClr val="FF0000"/>
                </a:solidFill>
                <a:effectLst/>
                <a:latin typeface="Consolas" panose="020B0609020204030204" pitchFamily="49" charset="0"/>
              </a:rPr>
              <a:t>200</a:t>
            </a:r>
            <a:r>
              <a:rPr lang="en-IN" b="0" i="0" dirty="0">
                <a:solidFill>
                  <a:srgbClr val="000000"/>
                </a:solidFill>
                <a:effectLst/>
                <a:latin typeface="Consolas" panose="020B0609020204030204" pitchFamily="49" charset="0"/>
              </a:rPr>
              <a:t>, {</a:t>
            </a:r>
            <a:r>
              <a:rPr lang="en-IN" b="0" i="0" dirty="0">
                <a:solidFill>
                  <a:srgbClr val="A52A2A"/>
                </a:solidFill>
                <a:effectLst/>
                <a:latin typeface="Consolas" panose="020B0609020204030204" pitchFamily="49" charset="0"/>
              </a:rPr>
              <a:t>'Content-Type’ </a:t>
            </a:r>
            <a:r>
              <a:rPr lang="en-IN" b="0" i="0" dirty="0">
                <a:solidFill>
                  <a:srgbClr val="000000"/>
                </a:solidFill>
                <a:effectLst/>
                <a:latin typeface="Consolas" panose="020B0609020204030204" pitchFamily="49" charset="0"/>
              </a:rPr>
              <a:t>: </a:t>
            </a:r>
            <a:r>
              <a:rPr lang="en-IN" b="0" i="0" dirty="0">
                <a:solidFill>
                  <a:srgbClr val="A52A2A"/>
                </a:solidFill>
                <a:effectLst/>
                <a:latin typeface="Consolas" panose="020B0609020204030204" pitchFamily="49" charset="0"/>
              </a:rPr>
              <a:t>'text/html'</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res.write</a:t>
            </a:r>
            <a:r>
              <a:rPr lang="en-IN" b="0" i="0" dirty="0">
                <a:solidFill>
                  <a:srgbClr val="000000"/>
                </a:solidFill>
                <a:effectLst/>
                <a:latin typeface="Consolas" panose="020B0609020204030204" pitchFamily="49" charset="0"/>
              </a:rPr>
              <a:t>(</a:t>
            </a:r>
            <a:r>
              <a:rPr lang="en-IN" b="1" i="0" dirty="0">
                <a:solidFill>
                  <a:srgbClr val="000000"/>
                </a:solidFill>
                <a:effectLst/>
                <a:latin typeface="Consolas" panose="020B0609020204030204" pitchFamily="49" charset="0"/>
              </a:rPr>
              <a:t>req.url</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res.end</a:t>
            </a:r>
            <a:r>
              <a:rPr lang="en-IN" b="0" i="0" dirty="0">
                <a:solidFill>
                  <a:srgbClr val="000000"/>
                </a:solidFill>
                <a:effectLst/>
                <a:latin typeface="Consolas" panose="020B0609020204030204" pitchFamily="49" charset="0"/>
              </a:rPr>
              <a:t>();</a:t>
            </a:r>
            <a:br>
              <a:rPr lang="en-IN" dirty="0"/>
            </a:br>
            <a:r>
              <a:rPr lang="en-IN" b="0" i="0" dirty="0">
                <a:solidFill>
                  <a:srgbClr val="000000"/>
                </a:solidFill>
                <a:effectLst/>
                <a:latin typeface="Consolas" panose="020B0609020204030204" pitchFamily="49" charset="0"/>
              </a:rPr>
              <a:t>}).listen(</a:t>
            </a:r>
            <a:r>
              <a:rPr lang="en-IN" b="0" i="0" dirty="0">
                <a:solidFill>
                  <a:srgbClr val="FF0000"/>
                </a:solidFill>
                <a:effectLst/>
                <a:latin typeface="Consolas" panose="020B0609020204030204" pitchFamily="49" charset="0"/>
              </a:rPr>
              <a:t>8080</a:t>
            </a:r>
            <a:r>
              <a:rPr lang="en-IN" b="0" i="0" dirty="0">
                <a:solidFill>
                  <a:srgbClr val="000000"/>
                </a:solidFill>
                <a:effectLst/>
                <a:latin typeface="Consolas" panose="020B0609020204030204" pitchFamily="49" charset="0"/>
              </a:rPr>
              <a:t>);</a:t>
            </a:r>
            <a:endParaRPr lang="en-IN" dirty="0"/>
          </a:p>
        </p:txBody>
      </p:sp>
      <p:sp>
        <p:nvSpPr>
          <p:cNvPr id="9" name="TextBox 8">
            <a:extLst>
              <a:ext uri="{FF2B5EF4-FFF2-40B4-BE49-F238E27FC236}">
                <a16:creationId xmlns:a16="http://schemas.microsoft.com/office/drawing/2014/main" id="{F4CA21B3-4A1C-4E83-A54A-3E843F003EC8}"/>
              </a:ext>
            </a:extLst>
          </p:cNvPr>
          <p:cNvSpPr txBox="1"/>
          <p:nvPr/>
        </p:nvSpPr>
        <p:spPr>
          <a:xfrm>
            <a:off x="5463117" y="5234865"/>
            <a:ext cx="6134100" cy="646331"/>
          </a:xfrm>
          <a:prstGeom prst="rect">
            <a:avLst/>
          </a:prstGeom>
          <a:noFill/>
        </p:spPr>
        <p:txBody>
          <a:bodyPr wrap="square">
            <a:spAutoFit/>
          </a:bodyPr>
          <a:lstStyle/>
          <a:p>
            <a:r>
              <a:rPr lang="en-IN" b="0" i="0" dirty="0">
                <a:solidFill>
                  <a:srgbClr val="4CAF50"/>
                </a:solidFill>
                <a:effectLst/>
                <a:latin typeface="Verdana" panose="020B0604030504040204" pitchFamily="34" charset="0"/>
                <a:hlinkClick r:id="rId2"/>
              </a:rPr>
              <a:t>Run code : type in </a:t>
            </a:r>
            <a:r>
              <a:rPr lang="en-IN" b="0" i="0" dirty="0" err="1">
                <a:solidFill>
                  <a:srgbClr val="4CAF50"/>
                </a:solidFill>
                <a:effectLst/>
                <a:latin typeface="Verdana" panose="020B0604030504040204" pitchFamily="34" charset="0"/>
                <a:hlinkClick r:id="rId2"/>
              </a:rPr>
              <a:t>url</a:t>
            </a:r>
            <a:endParaRPr lang="en-IN" b="0" i="0" dirty="0">
              <a:solidFill>
                <a:srgbClr val="4CAF50"/>
              </a:solidFill>
              <a:effectLst/>
              <a:latin typeface="Verdana" panose="020B0604030504040204" pitchFamily="34" charset="0"/>
              <a:hlinkClick r:id="rId2"/>
            </a:endParaRPr>
          </a:p>
          <a:p>
            <a:r>
              <a:rPr lang="en-IN" b="0" i="0" dirty="0">
                <a:solidFill>
                  <a:srgbClr val="4CAF50"/>
                </a:solidFill>
                <a:effectLst/>
                <a:latin typeface="Verdana" panose="020B0604030504040204" pitchFamily="34" charset="0"/>
                <a:hlinkClick r:id="rId2"/>
              </a:rPr>
              <a:t>http://localhost:8080/</a:t>
            </a:r>
            <a:r>
              <a:rPr lang="en-IN" b="0" i="0" dirty="0">
                <a:solidFill>
                  <a:srgbClr val="4CAF50"/>
                </a:solidFill>
                <a:effectLst/>
                <a:latin typeface="Verdana" panose="020B0604030504040204" pitchFamily="34" charset="0"/>
              </a:rPr>
              <a:t>dac</a:t>
            </a:r>
            <a:endParaRPr lang="en-IN" dirty="0"/>
          </a:p>
        </p:txBody>
      </p:sp>
      <p:pic>
        <p:nvPicPr>
          <p:cNvPr id="11" name="Picture 10">
            <a:extLst>
              <a:ext uri="{FF2B5EF4-FFF2-40B4-BE49-F238E27FC236}">
                <a16:creationId xmlns:a16="http://schemas.microsoft.com/office/drawing/2014/main" id="{72FF2614-A599-4403-AA59-3AC494C9CBE0}"/>
              </a:ext>
            </a:extLst>
          </p:cNvPr>
          <p:cNvPicPr>
            <a:picLocks noChangeAspect="1"/>
          </p:cNvPicPr>
          <p:nvPr/>
        </p:nvPicPr>
        <p:blipFill rotWithShape="1">
          <a:blip r:embed="rId3"/>
          <a:srcRect r="57862" b="40951"/>
          <a:stretch/>
        </p:blipFill>
        <p:spPr>
          <a:xfrm>
            <a:off x="8716434" y="3207491"/>
            <a:ext cx="3391959" cy="2673705"/>
          </a:xfrm>
          <a:prstGeom prst="rect">
            <a:avLst/>
          </a:prstGeom>
        </p:spPr>
      </p:pic>
    </p:spTree>
    <p:extLst>
      <p:ext uri="{BB962C8B-B14F-4D97-AF65-F5344CB8AC3E}">
        <p14:creationId xmlns:p14="http://schemas.microsoft.com/office/powerpoint/2010/main" val="3501985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7DC29E-F8C6-4096-81B0-09F7365FACDD}"/>
              </a:ext>
            </a:extLst>
          </p:cNvPr>
          <p:cNvSpPr>
            <a:spLocks noGrp="1"/>
          </p:cNvSpPr>
          <p:nvPr>
            <p:ph type="title"/>
          </p:nvPr>
        </p:nvSpPr>
        <p:spPr>
          <a:xfrm>
            <a:off x="973665" y="59268"/>
            <a:ext cx="10632017" cy="1147140"/>
          </a:xfrm>
        </p:spPr>
        <p:txBody>
          <a:bodyPr>
            <a:noAutofit/>
          </a:bodyPr>
          <a:lstStyle/>
          <a:p>
            <a:pPr>
              <a:lnSpc>
                <a:spcPct val="100000"/>
              </a:lnSpc>
              <a:spcBef>
                <a:spcPts val="600"/>
              </a:spcBef>
              <a:spcAft>
                <a:spcPts val="600"/>
              </a:spcAft>
            </a:pPr>
            <a:r>
              <a:rPr lang="en-US" sz="1400" b="0" i="0" dirty="0">
                <a:solidFill>
                  <a:srgbClr val="000000"/>
                </a:solidFill>
                <a:effectLst/>
                <a:latin typeface="Segoe UI" panose="020B0502040204020203" pitchFamily="34" charset="0"/>
              </a:rPr>
              <a:t>	</a:t>
            </a:r>
            <a:r>
              <a:rPr lang="en-US" sz="1400" b="1" i="0" dirty="0">
                <a:solidFill>
                  <a:srgbClr val="000000"/>
                </a:solidFill>
                <a:effectLst/>
                <a:latin typeface="Segoe UI" panose="020B0502040204020203" pitchFamily="34" charset="0"/>
              </a:rPr>
              <a:t>Split the Query String</a:t>
            </a:r>
            <a:br>
              <a:rPr lang="en-US" sz="1400" b="0" i="0" dirty="0">
                <a:solidFill>
                  <a:srgbClr val="000000"/>
                </a:solidFill>
                <a:effectLst/>
                <a:latin typeface="Segoe UI" panose="020B0502040204020203" pitchFamily="34" charset="0"/>
              </a:rPr>
            </a:br>
            <a:br>
              <a:rPr lang="en-US" sz="1400" b="0" i="0" dirty="0">
                <a:solidFill>
                  <a:srgbClr val="000000"/>
                </a:solidFill>
                <a:effectLst/>
                <a:latin typeface="Segoe UI" panose="020B0502040204020203" pitchFamily="34" charset="0"/>
              </a:rPr>
            </a:br>
            <a:r>
              <a:rPr lang="en-US" sz="1400" b="0" i="0" dirty="0">
                <a:solidFill>
                  <a:srgbClr val="000000"/>
                </a:solidFill>
                <a:effectLst/>
                <a:latin typeface="Verdana" panose="020B0604030504040204" pitchFamily="34" charset="0"/>
              </a:rPr>
              <a:t>There are built-in modules to easily split the Query String</a:t>
            </a:r>
            <a:br>
              <a:rPr lang="en-US" sz="1400" b="0" i="0" dirty="0">
                <a:solidFill>
                  <a:srgbClr val="000000"/>
                </a:solidFill>
                <a:effectLst/>
                <a:latin typeface="Verdana" panose="020B0604030504040204" pitchFamily="34" charset="0"/>
              </a:rPr>
            </a:br>
            <a:br>
              <a:rPr lang="en-US" sz="1400" b="0" i="0" dirty="0">
                <a:solidFill>
                  <a:srgbClr val="000000"/>
                </a:solidFill>
                <a:effectLst/>
                <a:latin typeface="Verdana" panose="020B0604030504040204" pitchFamily="34" charset="0"/>
              </a:rPr>
            </a:br>
            <a:r>
              <a:rPr lang="en-US" sz="1400" b="0" i="0" dirty="0">
                <a:solidFill>
                  <a:srgbClr val="000000"/>
                </a:solidFill>
                <a:effectLst/>
                <a:latin typeface="Verdana" panose="020B0604030504040204" pitchFamily="34" charset="0"/>
              </a:rPr>
              <a:t>There are built-in modules to easily split the query string into readable parts, such as the URL module.</a:t>
            </a:r>
            <a:br>
              <a:rPr lang="en-US" sz="1400" b="0" i="0" dirty="0">
                <a:solidFill>
                  <a:srgbClr val="000000"/>
                </a:solidFill>
                <a:effectLst/>
                <a:latin typeface="Verdana" panose="020B0604030504040204" pitchFamily="34" charset="0"/>
              </a:rPr>
            </a:br>
            <a:endParaRPr lang="en-IN" sz="1400" dirty="0"/>
          </a:p>
        </p:txBody>
      </p:sp>
      <p:sp>
        <p:nvSpPr>
          <p:cNvPr id="3" name="Content Placeholder 2">
            <a:extLst>
              <a:ext uri="{FF2B5EF4-FFF2-40B4-BE49-F238E27FC236}">
                <a16:creationId xmlns:a16="http://schemas.microsoft.com/office/drawing/2014/main" id="{C01D032E-F3F9-4016-9D24-06428260B27A}"/>
              </a:ext>
            </a:extLst>
          </p:cNvPr>
          <p:cNvSpPr>
            <a:spLocks noGrp="1"/>
          </p:cNvSpPr>
          <p:nvPr>
            <p:ph idx="1"/>
          </p:nvPr>
        </p:nvSpPr>
        <p:spPr>
          <a:xfrm>
            <a:off x="425451" y="1545073"/>
            <a:ext cx="8238067" cy="1993993"/>
          </a:xfrm>
        </p:spPr>
        <p:txBody>
          <a:bodyPr>
            <a:normAutofit/>
          </a:bodyPr>
          <a:lstStyle/>
          <a:p>
            <a:pPr marL="0" indent="0">
              <a:buNone/>
            </a:pPr>
            <a:r>
              <a:rPr lang="en-IN" sz="1200" b="0" i="0" dirty="0">
                <a:solidFill>
                  <a:srgbClr val="0000CD"/>
                </a:solidFill>
                <a:effectLst/>
                <a:latin typeface="Consolas" panose="020B0609020204030204" pitchFamily="49" charset="0"/>
              </a:rPr>
              <a:t>var</a:t>
            </a:r>
            <a:r>
              <a:rPr lang="en-IN" sz="1200" b="0" i="0" dirty="0">
                <a:solidFill>
                  <a:srgbClr val="000000"/>
                </a:solidFill>
                <a:effectLst/>
                <a:latin typeface="Consolas" panose="020B0609020204030204" pitchFamily="49" charset="0"/>
              </a:rPr>
              <a:t> http = require(</a:t>
            </a:r>
            <a:r>
              <a:rPr lang="en-IN" sz="1200" b="0" i="0" dirty="0">
                <a:solidFill>
                  <a:srgbClr val="A52A2A"/>
                </a:solidFill>
                <a:effectLst/>
                <a:latin typeface="Consolas" panose="020B0609020204030204" pitchFamily="49" charset="0"/>
              </a:rPr>
              <a:t>'http'</a:t>
            </a:r>
            <a:r>
              <a:rPr lang="en-IN" sz="1200" b="0" i="0" dirty="0">
                <a:solidFill>
                  <a:srgbClr val="000000"/>
                </a:solidFill>
                <a:effectLst/>
                <a:latin typeface="Consolas" panose="020B0609020204030204" pitchFamily="49" charset="0"/>
              </a:rPr>
              <a:t>);</a:t>
            </a:r>
            <a:br>
              <a:rPr lang="en-IN" sz="1200" dirty="0"/>
            </a:br>
            <a:r>
              <a:rPr lang="en-IN" sz="1400" b="1" i="0" dirty="0">
                <a:solidFill>
                  <a:srgbClr val="0000CD"/>
                </a:solidFill>
                <a:effectLst/>
                <a:latin typeface="Consolas" panose="020B0609020204030204" pitchFamily="49" charset="0"/>
              </a:rPr>
              <a:t>var</a:t>
            </a:r>
            <a:r>
              <a:rPr lang="en-IN" sz="1400" b="1" i="0" dirty="0">
                <a:solidFill>
                  <a:srgbClr val="000000"/>
                </a:solidFill>
                <a:effectLst/>
                <a:latin typeface="Consolas" panose="020B0609020204030204" pitchFamily="49" charset="0"/>
              </a:rPr>
              <a:t> </a:t>
            </a:r>
            <a:r>
              <a:rPr lang="en-IN" sz="1400" b="1" i="0" dirty="0" err="1">
                <a:solidFill>
                  <a:srgbClr val="000000"/>
                </a:solidFill>
                <a:effectLst/>
                <a:latin typeface="Consolas" panose="020B0609020204030204" pitchFamily="49" charset="0"/>
              </a:rPr>
              <a:t>url</a:t>
            </a:r>
            <a:r>
              <a:rPr lang="en-IN" sz="1400" b="1" i="0" dirty="0">
                <a:solidFill>
                  <a:srgbClr val="000000"/>
                </a:solidFill>
                <a:effectLst/>
                <a:latin typeface="Consolas" panose="020B0609020204030204" pitchFamily="49" charset="0"/>
              </a:rPr>
              <a:t> = require(</a:t>
            </a:r>
            <a:r>
              <a:rPr lang="en-IN" sz="1400" b="1" i="0" dirty="0">
                <a:solidFill>
                  <a:srgbClr val="A52A2A"/>
                </a:solidFill>
                <a:effectLst/>
                <a:latin typeface="Consolas" panose="020B0609020204030204" pitchFamily="49" charset="0"/>
              </a:rPr>
              <a:t>'</a:t>
            </a:r>
            <a:r>
              <a:rPr lang="en-IN" sz="1400" b="1" i="0" dirty="0" err="1">
                <a:solidFill>
                  <a:srgbClr val="A52A2A"/>
                </a:solidFill>
                <a:effectLst/>
                <a:latin typeface="Consolas" panose="020B0609020204030204" pitchFamily="49" charset="0"/>
              </a:rPr>
              <a:t>url</a:t>
            </a:r>
            <a:r>
              <a:rPr lang="en-IN" sz="1400" b="1" i="0" dirty="0">
                <a:solidFill>
                  <a:srgbClr val="A52A2A"/>
                </a:solidFill>
                <a:effectLst/>
                <a:latin typeface="Consolas" panose="020B0609020204030204" pitchFamily="49" charset="0"/>
              </a:rPr>
              <a:t>'</a:t>
            </a:r>
            <a:r>
              <a:rPr lang="en-IN" sz="1400" b="1" i="0" dirty="0">
                <a:solidFill>
                  <a:srgbClr val="000000"/>
                </a:solidFill>
                <a:effectLst/>
                <a:latin typeface="Consolas" panose="020B0609020204030204" pitchFamily="49" charset="0"/>
              </a:rPr>
              <a:t>);</a:t>
            </a:r>
            <a:br>
              <a:rPr lang="en-IN" sz="1400" b="1" i="0" dirty="0">
                <a:solidFill>
                  <a:srgbClr val="000000"/>
                </a:solidFill>
                <a:effectLst/>
                <a:latin typeface="Consolas" panose="020B0609020204030204" pitchFamily="49" charset="0"/>
              </a:rPr>
            </a:br>
            <a:br>
              <a:rPr lang="en-IN" sz="1400" dirty="0"/>
            </a:br>
            <a:r>
              <a:rPr lang="en-IN" sz="1400" b="0" i="0" dirty="0" err="1">
                <a:solidFill>
                  <a:srgbClr val="000000"/>
                </a:solidFill>
                <a:effectLst/>
                <a:latin typeface="Consolas" panose="020B0609020204030204" pitchFamily="49" charset="0"/>
              </a:rPr>
              <a:t>http.createServer</a:t>
            </a:r>
            <a:r>
              <a:rPr lang="en-IN" sz="1400" b="0" i="0" dirty="0">
                <a:solidFill>
                  <a:srgbClr val="000000"/>
                </a:solidFill>
                <a:effectLst/>
                <a:latin typeface="Consolas" panose="020B0609020204030204" pitchFamily="49" charset="0"/>
              </a:rPr>
              <a:t>(</a:t>
            </a:r>
            <a:r>
              <a:rPr lang="en-IN" sz="1400" b="0" i="0" dirty="0">
                <a:solidFill>
                  <a:srgbClr val="0000CD"/>
                </a:solidFill>
                <a:effectLst/>
                <a:latin typeface="Consolas" panose="020B0609020204030204" pitchFamily="49" charset="0"/>
              </a:rPr>
              <a:t>function</a:t>
            </a: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req</a:t>
            </a:r>
            <a:r>
              <a:rPr lang="en-IN" sz="1400" b="0" i="0" dirty="0">
                <a:solidFill>
                  <a:srgbClr val="000000"/>
                </a:solidFill>
                <a:effectLst/>
                <a:latin typeface="Consolas" panose="020B0609020204030204" pitchFamily="49" charset="0"/>
              </a:rPr>
              <a:t>, res) {</a:t>
            </a:r>
            <a:br>
              <a:rPr lang="en-IN" sz="1400" dirty="0"/>
            </a:b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res.writeHead</a:t>
            </a:r>
            <a:r>
              <a:rPr lang="en-IN" sz="1400" b="0" i="0" dirty="0">
                <a:solidFill>
                  <a:srgbClr val="000000"/>
                </a:solidFill>
                <a:effectLst/>
                <a:latin typeface="Consolas" panose="020B0609020204030204" pitchFamily="49" charset="0"/>
              </a:rPr>
              <a:t>(</a:t>
            </a:r>
            <a:r>
              <a:rPr lang="en-IN" sz="1400" b="0" i="0" dirty="0">
                <a:solidFill>
                  <a:srgbClr val="FF0000"/>
                </a:solidFill>
                <a:effectLst/>
                <a:latin typeface="Consolas" panose="020B0609020204030204" pitchFamily="49" charset="0"/>
              </a:rPr>
              <a:t>200</a:t>
            </a:r>
            <a:r>
              <a:rPr lang="en-IN" sz="1400" b="0" i="0" dirty="0">
                <a:solidFill>
                  <a:srgbClr val="000000"/>
                </a:solidFill>
                <a:effectLst/>
                <a:latin typeface="Consolas" panose="020B0609020204030204" pitchFamily="49" charset="0"/>
              </a:rPr>
              <a:t>, {</a:t>
            </a:r>
            <a:r>
              <a:rPr lang="en-IN" sz="1400" b="0" i="0" dirty="0">
                <a:solidFill>
                  <a:srgbClr val="A52A2A"/>
                </a:solidFill>
                <a:effectLst/>
                <a:latin typeface="Consolas" panose="020B0609020204030204" pitchFamily="49" charset="0"/>
              </a:rPr>
              <a:t>'Content-Type'</a:t>
            </a:r>
            <a:r>
              <a:rPr lang="en-IN" sz="1400" b="0" i="0" dirty="0">
                <a:solidFill>
                  <a:srgbClr val="000000"/>
                </a:solidFill>
                <a:effectLst/>
                <a:latin typeface="Consolas" panose="020B0609020204030204" pitchFamily="49" charset="0"/>
              </a:rPr>
              <a:t>: </a:t>
            </a:r>
            <a:r>
              <a:rPr lang="en-IN" sz="1400" b="0" i="0" dirty="0">
                <a:solidFill>
                  <a:srgbClr val="A52A2A"/>
                </a:solidFill>
                <a:effectLst/>
                <a:latin typeface="Consolas" panose="020B0609020204030204" pitchFamily="49" charset="0"/>
              </a:rPr>
              <a:t>'text/html'</a:t>
            </a:r>
            <a:r>
              <a:rPr lang="en-IN" sz="1400" b="0" i="0" dirty="0">
                <a:solidFill>
                  <a:srgbClr val="000000"/>
                </a:solidFill>
                <a:effectLst/>
                <a:latin typeface="Consolas" panose="020B0609020204030204" pitchFamily="49" charset="0"/>
              </a:rPr>
              <a:t>});</a:t>
            </a:r>
            <a:br>
              <a:rPr lang="en-IN" sz="1400" dirty="0"/>
            </a:br>
            <a:r>
              <a:rPr lang="en-IN" sz="1400" b="1" i="0" dirty="0">
                <a:solidFill>
                  <a:srgbClr val="000000"/>
                </a:solidFill>
                <a:effectLst/>
                <a:latin typeface="Consolas" panose="020B0609020204030204" pitchFamily="49" charset="0"/>
              </a:rPr>
              <a:t>  </a:t>
            </a:r>
            <a:r>
              <a:rPr lang="en-IN" sz="1400" b="1" i="0" dirty="0">
                <a:solidFill>
                  <a:srgbClr val="0000CD"/>
                </a:solidFill>
                <a:effectLst/>
                <a:latin typeface="Consolas" panose="020B0609020204030204" pitchFamily="49" charset="0"/>
              </a:rPr>
              <a:t>var</a:t>
            </a:r>
            <a:r>
              <a:rPr lang="en-IN" sz="1400" b="1" i="0" dirty="0">
                <a:solidFill>
                  <a:srgbClr val="000000"/>
                </a:solidFill>
                <a:effectLst/>
                <a:latin typeface="Consolas" panose="020B0609020204030204" pitchFamily="49" charset="0"/>
              </a:rPr>
              <a:t> q = </a:t>
            </a:r>
            <a:r>
              <a:rPr lang="en-IN" sz="1400" b="1" i="0" dirty="0" err="1">
                <a:solidFill>
                  <a:srgbClr val="000000"/>
                </a:solidFill>
                <a:effectLst/>
                <a:latin typeface="Consolas" panose="020B0609020204030204" pitchFamily="49" charset="0"/>
              </a:rPr>
              <a:t>url.parse</a:t>
            </a:r>
            <a:r>
              <a:rPr lang="en-IN" sz="1400" b="1" i="0" dirty="0">
                <a:solidFill>
                  <a:srgbClr val="000000"/>
                </a:solidFill>
                <a:effectLst/>
                <a:latin typeface="Consolas" panose="020B0609020204030204" pitchFamily="49" charset="0"/>
              </a:rPr>
              <a:t>(req.url, </a:t>
            </a:r>
            <a:r>
              <a:rPr lang="en-IN" sz="1400" b="1" i="0" dirty="0">
                <a:solidFill>
                  <a:srgbClr val="0000CD"/>
                </a:solidFill>
                <a:effectLst/>
                <a:latin typeface="Consolas" panose="020B0609020204030204" pitchFamily="49" charset="0"/>
              </a:rPr>
              <a:t>true</a:t>
            </a:r>
            <a:r>
              <a:rPr lang="en-IN" sz="1400" b="1" i="0" dirty="0">
                <a:solidFill>
                  <a:srgbClr val="000000"/>
                </a:solidFill>
                <a:effectLst/>
                <a:latin typeface="Consolas" panose="020B0609020204030204" pitchFamily="49" charset="0"/>
              </a:rPr>
              <a:t>).query;</a:t>
            </a:r>
            <a:br>
              <a:rPr lang="en-IN" sz="1400" b="1" i="0" dirty="0">
                <a:solidFill>
                  <a:srgbClr val="000000"/>
                </a:solidFill>
                <a:effectLst/>
                <a:latin typeface="Consolas" panose="020B0609020204030204" pitchFamily="49" charset="0"/>
              </a:rPr>
            </a:br>
            <a:r>
              <a:rPr lang="en-IN" sz="1400" b="0" i="0" dirty="0">
                <a:solidFill>
                  <a:srgbClr val="000000"/>
                </a:solidFill>
                <a:effectLst/>
                <a:latin typeface="Consolas" panose="020B0609020204030204" pitchFamily="49" charset="0"/>
              </a:rPr>
              <a:t>  </a:t>
            </a:r>
            <a:r>
              <a:rPr lang="en-IN" sz="1400" b="0" i="0" dirty="0">
                <a:solidFill>
                  <a:srgbClr val="0000CD"/>
                </a:solidFill>
                <a:effectLst/>
                <a:latin typeface="Consolas" panose="020B0609020204030204" pitchFamily="49" charset="0"/>
              </a:rPr>
              <a:t>var</a:t>
            </a:r>
            <a:r>
              <a:rPr lang="en-IN" sz="1400" b="0" i="0" dirty="0">
                <a:solidFill>
                  <a:srgbClr val="000000"/>
                </a:solidFill>
                <a:effectLst/>
                <a:latin typeface="Consolas" panose="020B0609020204030204" pitchFamily="49" charset="0"/>
              </a:rPr>
              <a:t> txt = </a:t>
            </a:r>
            <a:r>
              <a:rPr lang="en-IN" sz="1400" b="1" i="0" dirty="0" err="1">
                <a:solidFill>
                  <a:srgbClr val="000000"/>
                </a:solidFill>
                <a:effectLst/>
                <a:latin typeface="Consolas" panose="020B0609020204030204" pitchFamily="49" charset="0"/>
              </a:rPr>
              <a:t>q.year</a:t>
            </a:r>
            <a:r>
              <a:rPr lang="en-IN" sz="1400" b="0" i="0" dirty="0">
                <a:solidFill>
                  <a:srgbClr val="000000"/>
                </a:solidFill>
                <a:effectLst/>
                <a:latin typeface="Consolas" panose="020B0609020204030204" pitchFamily="49" charset="0"/>
              </a:rPr>
              <a:t> + </a:t>
            </a:r>
            <a:r>
              <a:rPr lang="en-IN" sz="1400" b="0" i="0" dirty="0">
                <a:solidFill>
                  <a:srgbClr val="A52A2A"/>
                </a:solidFill>
                <a:effectLst/>
                <a:latin typeface="Consolas" panose="020B0609020204030204" pitchFamily="49" charset="0"/>
              </a:rPr>
              <a:t>" "</a:t>
            </a:r>
            <a:r>
              <a:rPr lang="en-IN" sz="1400" b="0" i="0" dirty="0">
                <a:solidFill>
                  <a:srgbClr val="000000"/>
                </a:solidFill>
                <a:effectLst/>
                <a:latin typeface="Consolas" panose="020B0609020204030204" pitchFamily="49" charset="0"/>
              </a:rPr>
              <a:t> + </a:t>
            </a:r>
            <a:r>
              <a:rPr lang="en-IN" sz="1400" b="1" i="0" dirty="0" err="1">
                <a:solidFill>
                  <a:srgbClr val="000000"/>
                </a:solidFill>
                <a:effectLst/>
                <a:latin typeface="Consolas" panose="020B0609020204030204" pitchFamily="49" charset="0"/>
              </a:rPr>
              <a:t>q.month</a:t>
            </a:r>
            <a:r>
              <a:rPr lang="en-IN" sz="1400" b="0" i="0" dirty="0">
                <a:solidFill>
                  <a:srgbClr val="000000"/>
                </a:solidFill>
                <a:effectLst/>
                <a:latin typeface="Consolas" panose="020B0609020204030204" pitchFamily="49" charset="0"/>
              </a:rPr>
              <a:t>;</a:t>
            </a:r>
            <a:br>
              <a:rPr lang="en-IN" sz="1400" dirty="0"/>
            </a:br>
            <a:r>
              <a:rPr lang="en-IN" sz="1400" b="0" i="0" dirty="0">
                <a:solidFill>
                  <a:srgbClr val="000000"/>
                </a:solidFill>
                <a:effectLst/>
                <a:latin typeface="Consolas" panose="020B0609020204030204" pitchFamily="49" charset="0"/>
              </a:rPr>
              <a:t>  </a:t>
            </a:r>
            <a:r>
              <a:rPr lang="en-IN" sz="1400" b="0" i="0" dirty="0" err="1">
                <a:solidFill>
                  <a:srgbClr val="000000"/>
                </a:solidFill>
                <a:effectLst/>
                <a:latin typeface="Consolas" panose="020B0609020204030204" pitchFamily="49" charset="0"/>
              </a:rPr>
              <a:t>res.end</a:t>
            </a:r>
            <a:r>
              <a:rPr lang="en-IN" sz="1400" b="0" i="0" dirty="0">
                <a:solidFill>
                  <a:srgbClr val="000000"/>
                </a:solidFill>
                <a:effectLst/>
                <a:latin typeface="Consolas" panose="020B0609020204030204" pitchFamily="49" charset="0"/>
              </a:rPr>
              <a:t>(txt);</a:t>
            </a:r>
            <a:br>
              <a:rPr lang="en-IN" sz="1400" dirty="0"/>
            </a:br>
            <a:r>
              <a:rPr lang="en-IN" sz="1400" b="0" i="0" dirty="0">
                <a:solidFill>
                  <a:srgbClr val="000000"/>
                </a:solidFill>
                <a:effectLst/>
                <a:latin typeface="Consolas" panose="020B0609020204030204" pitchFamily="49" charset="0"/>
              </a:rPr>
              <a:t>}).listen(</a:t>
            </a:r>
            <a:r>
              <a:rPr lang="en-IN" sz="1400" b="0" i="0" dirty="0">
                <a:solidFill>
                  <a:srgbClr val="FF0000"/>
                </a:solidFill>
                <a:effectLst/>
                <a:latin typeface="Consolas" panose="020B0609020204030204" pitchFamily="49" charset="0"/>
              </a:rPr>
              <a:t>8080</a:t>
            </a:r>
            <a:r>
              <a:rPr lang="en-IN" sz="1400" b="0" i="0" dirty="0">
                <a:solidFill>
                  <a:srgbClr val="000000"/>
                </a:solidFill>
                <a:effectLst/>
                <a:latin typeface="Consolas" panose="020B0609020204030204" pitchFamily="49" charset="0"/>
              </a:rPr>
              <a:t>);</a:t>
            </a:r>
            <a:endParaRPr lang="en-IN" sz="1400" dirty="0"/>
          </a:p>
        </p:txBody>
      </p:sp>
      <p:sp>
        <p:nvSpPr>
          <p:cNvPr id="7" name="TextBox 6">
            <a:extLst>
              <a:ext uri="{FF2B5EF4-FFF2-40B4-BE49-F238E27FC236}">
                <a16:creationId xmlns:a16="http://schemas.microsoft.com/office/drawing/2014/main" id="{2D62CAB0-E830-4B5F-ADD1-B521A62FF3D9}"/>
              </a:ext>
            </a:extLst>
          </p:cNvPr>
          <p:cNvSpPr txBox="1"/>
          <p:nvPr/>
        </p:nvSpPr>
        <p:spPr>
          <a:xfrm>
            <a:off x="1090766" y="4004068"/>
            <a:ext cx="6134100" cy="923330"/>
          </a:xfrm>
          <a:prstGeom prst="rect">
            <a:avLst/>
          </a:prstGeom>
          <a:noFill/>
        </p:spPr>
        <p:txBody>
          <a:bodyPr wrap="square">
            <a:spAutoFit/>
          </a:bodyPr>
          <a:lstStyle/>
          <a:p>
            <a:pPr algn="l"/>
            <a:r>
              <a:rPr lang="en-US" b="0" i="0" dirty="0">
                <a:solidFill>
                  <a:srgbClr val="4CAF50"/>
                </a:solidFill>
                <a:effectLst/>
                <a:latin typeface="Verdana" panose="020B0604030504040204" pitchFamily="34" charset="0"/>
                <a:hlinkClick r:id="rId2"/>
              </a:rPr>
              <a:t>http://localhost:8080/?year=2017&amp;month=July</a:t>
            </a:r>
            <a:endParaRPr lang="en-US" b="0" i="0" dirty="0">
              <a:solidFill>
                <a:srgbClr val="000000"/>
              </a:solidFill>
              <a:effectLst/>
              <a:latin typeface="Verdana" panose="020B0604030504040204" pitchFamily="34" charset="0"/>
            </a:endParaRPr>
          </a:p>
          <a:p>
            <a:pPr algn="l"/>
            <a:r>
              <a:rPr lang="en-US" b="0" i="0" dirty="0">
                <a:solidFill>
                  <a:srgbClr val="000000"/>
                </a:solidFill>
                <a:effectLst/>
                <a:latin typeface="Verdana" panose="020B0604030504040204" pitchFamily="34" charset="0"/>
              </a:rPr>
              <a:t>Will produce this result:</a:t>
            </a:r>
          </a:p>
          <a:p>
            <a:pPr algn="l"/>
            <a:r>
              <a:rPr lang="en-IN" b="0" i="0" dirty="0">
                <a:solidFill>
                  <a:srgbClr val="000000"/>
                </a:solidFill>
                <a:effectLst/>
                <a:latin typeface="Consolas" panose="020B0609020204030204" pitchFamily="49" charset="0"/>
              </a:rPr>
              <a:t>2017 July</a:t>
            </a:r>
            <a:endParaRPr lang="en-US" b="0" i="0" dirty="0">
              <a:solidFill>
                <a:srgbClr val="000000"/>
              </a:solidFill>
              <a:effectLst/>
              <a:latin typeface="Verdana" panose="020B0604030504040204" pitchFamily="34" charset="0"/>
            </a:endParaRPr>
          </a:p>
        </p:txBody>
      </p:sp>
      <p:sp>
        <p:nvSpPr>
          <p:cNvPr id="4" name="Rectangle 1">
            <a:extLst>
              <a:ext uri="{FF2B5EF4-FFF2-40B4-BE49-F238E27FC236}">
                <a16:creationId xmlns:a16="http://schemas.microsoft.com/office/drawing/2014/main" id="{B0809433-3D0D-470D-94CE-6E9C07270B50}"/>
              </a:ext>
            </a:extLst>
          </p:cNvPr>
          <p:cNvSpPr>
            <a:spLocks noChangeArrowheads="1"/>
          </p:cNvSpPr>
          <p:nvPr/>
        </p:nvSpPr>
        <p:spPr bwMode="auto">
          <a:xfrm>
            <a:off x="425451" y="5392401"/>
            <a:ext cx="9406807" cy="261610"/>
          </a:xfrm>
          <a:prstGeom prst="rect">
            <a:avLst/>
          </a:prstGeom>
          <a:solidFill>
            <a:srgbClr val="F1F1F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100" b="0" i="0" u="none" strike="noStrike" cap="none" normalizeH="0" baseline="0" dirty="0">
                <a:ln>
                  <a:noFill/>
                </a:ln>
                <a:solidFill>
                  <a:srgbClr val="000000"/>
                </a:solidFill>
                <a:effectLst/>
                <a:latin typeface="Verdana" panose="020B0604030504040204" pitchFamily="34" charset="0"/>
              </a:rPr>
              <a:t>Parse an address with the </a:t>
            </a:r>
            <a:r>
              <a:rPr kumimoji="0" lang="en-US" altLang="en-US" sz="1100" b="0" i="0" u="none" strike="noStrike" cap="none" normalizeH="0" baseline="0" dirty="0" err="1">
                <a:ln>
                  <a:noFill/>
                </a:ln>
                <a:solidFill>
                  <a:srgbClr val="DC143C"/>
                </a:solidFill>
                <a:effectLst/>
                <a:latin typeface="Consolas" panose="020B0609020204030204" pitchFamily="49" charset="0"/>
              </a:rPr>
              <a:t>url.parse</a:t>
            </a:r>
            <a:r>
              <a:rPr kumimoji="0" lang="en-US" altLang="en-US" sz="1100" b="0" i="0" u="none" strike="noStrike" cap="none" normalizeH="0" baseline="0" dirty="0">
                <a:ln>
                  <a:noFill/>
                </a:ln>
                <a:solidFill>
                  <a:srgbClr val="DC143C"/>
                </a:solidFill>
                <a:effectLst/>
                <a:latin typeface="Consolas" panose="020B0609020204030204" pitchFamily="49" charset="0"/>
              </a:rPr>
              <a:t>()</a:t>
            </a:r>
            <a:r>
              <a:rPr kumimoji="0" lang="en-US" altLang="en-US" sz="1100" b="0" i="0" u="none" strike="noStrike" cap="none" normalizeH="0" baseline="0" dirty="0">
                <a:ln>
                  <a:noFill/>
                </a:ln>
                <a:solidFill>
                  <a:srgbClr val="000000"/>
                </a:solidFill>
                <a:effectLst/>
                <a:latin typeface="Verdana" panose="020B0604030504040204" pitchFamily="34" charset="0"/>
              </a:rPr>
              <a:t> method, and it will return a URL object with each part of the address as properties:</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4"/>
          <p:cNvSpPr/>
          <p:nvPr/>
        </p:nvSpPr>
        <p:spPr>
          <a:xfrm>
            <a:off x="8663518" y="2542069"/>
            <a:ext cx="1571264" cy="1477328"/>
          </a:xfrm>
          <a:prstGeom prst="rect">
            <a:avLst/>
          </a:prstGeom>
        </p:spPr>
        <p:txBody>
          <a:bodyPr wrap="none">
            <a:spAutoFit/>
          </a:bodyPr>
          <a:lstStyle/>
          <a:p>
            <a:r>
              <a:rPr lang="en-US" dirty="0">
                <a:solidFill>
                  <a:srgbClr val="4CAF50"/>
                </a:solidFill>
                <a:latin typeface="Verdana" panose="020B0604030504040204" pitchFamily="34" charset="0"/>
                <a:hlinkClick r:id="rId2"/>
              </a:rPr>
              <a:t>{</a:t>
            </a:r>
          </a:p>
          <a:p>
            <a:r>
              <a:rPr lang="en-US" dirty="0">
                <a:solidFill>
                  <a:srgbClr val="4CAF50"/>
                </a:solidFill>
                <a:latin typeface="Verdana" panose="020B0604030504040204" pitchFamily="34" charset="0"/>
                <a:hlinkClick r:id="rId2"/>
              </a:rPr>
              <a:t>year=2017</a:t>
            </a:r>
          </a:p>
          <a:p>
            <a:r>
              <a:rPr lang="en-US" dirty="0">
                <a:solidFill>
                  <a:srgbClr val="4CAF50"/>
                </a:solidFill>
                <a:latin typeface="Verdana" panose="020B0604030504040204" pitchFamily="34" charset="0"/>
                <a:hlinkClick r:id="rId2"/>
              </a:rPr>
              <a:t>month=July</a:t>
            </a:r>
            <a:endParaRPr lang="en-US" dirty="0">
              <a:solidFill>
                <a:srgbClr val="4CAF50"/>
              </a:solidFill>
              <a:latin typeface="Verdana" panose="020B0604030504040204" pitchFamily="34" charset="0"/>
            </a:endParaRPr>
          </a:p>
          <a:p>
            <a:endParaRPr lang="en-US" dirty="0">
              <a:solidFill>
                <a:srgbClr val="4CAF50"/>
              </a:solidFill>
              <a:latin typeface="Verdana" panose="020B0604030504040204" pitchFamily="34" charset="0"/>
            </a:endParaRPr>
          </a:p>
          <a:p>
            <a:r>
              <a:rPr lang="en-US" dirty="0">
                <a:solidFill>
                  <a:srgbClr val="4CAF50"/>
                </a:solidFill>
                <a:latin typeface="Verdana" panose="020B0604030504040204" pitchFamily="34" charset="0"/>
              </a:rPr>
              <a:t>}</a:t>
            </a:r>
            <a:endParaRPr lang="en-US" dirty="0">
              <a:solidFill>
                <a:srgbClr val="000000"/>
              </a:solidFill>
              <a:latin typeface="Verdana" panose="020B0604030504040204" pitchFamily="34" charset="0"/>
            </a:endParaRPr>
          </a:p>
        </p:txBody>
      </p:sp>
    </p:spTree>
    <p:extLst>
      <p:ext uri="{BB962C8B-B14F-4D97-AF65-F5344CB8AC3E}">
        <p14:creationId xmlns:p14="http://schemas.microsoft.com/office/powerpoint/2010/main" val="20663584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A861E-5AB8-42AD-A11D-8C76946E5EBD}"/>
              </a:ext>
            </a:extLst>
          </p:cNvPr>
          <p:cNvSpPr>
            <a:spLocks noGrp="1"/>
          </p:cNvSpPr>
          <p:nvPr>
            <p:ph type="title"/>
          </p:nvPr>
        </p:nvSpPr>
        <p:spPr>
          <a:xfrm>
            <a:off x="1408471" y="239917"/>
            <a:ext cx="9945329" cy="441120"/>
          </a:xfrm>
        </p:spPr>
        <p:txBody>
          <a:bodyPr>
            <a:noAutofit/>
          </a:bodyPr>
          <a:lstStyle/>
          <a:p>
            <a:r>
              <a:rPr lang="en-IN" sz="3200" dirty="0" err="1"/>
              <a:t>url.parse</a:t>
            </a:r>
            <a:r>
              <a:rPr lang="en-IN" sz="3200" dirty="0"/>
              <a:t>(</a:t>
            </a:r>
            <a:r>
              <a:rPr lang="en-IN" sz="3200" dirty="0" err="1"/>
              <a:t>urlString</a:t>
            </a:r>
            <a:r>
              <a:rPr lang="en-IN" sz="3200" dirty="0"/>
              <a:t>[, </a:t>
            </a:r>
            <a:r>
              <a:rPr lang="en-IN" sz="3200" dirty="0" err="1"/>
              <a:t>parseQueryString</a:t>
            </a:r>
            <a:r>
              <a:rPr lang="en-IN" sz="3200" dirty="0"/>
              <a:t>[, </a:t>
            </a:r>
            <a:r>
              <a:rPr lang="en-IN" sz="3200" dirty="0" err="1"/>
              <a:t>slashesDenoteHost</a:t>
            </a:r>
            <a:r>
              <a:rPr lang="en-IN" sz="3200" dirty="0"/>
              <a:t>]])</a:t>
            </a:r>
          </a:p>
        </p:txBody>
      </p:sp>
      <p:sp>
        <p:nvSpPr>
          <p:cNvPr id="3" name="Content Placeholder 2">
            <a:extLst>
              <a:ext uri="{FF2B5EF4-FFF2-40B4-BE49-F238E27FC236}">
                <a16:creationId xmlns:a16="http://schemas.microsoft.com/office/drawing/2014/main" id="{17BF08CD-294B-4BB3-8AA6-33EA7518953E}"/>
              </a:ext>
            </a:extLst>
          </p:cNvPr>
          <p:cNvSpPr>
            <a:spLocks noGrp="1"/>
          </p:cNvSpPr>
          <p:nvPr>
            <p:ph idx="1"/>
          </p:nvPr>
        </p:nvSpPr>
        <p:spPr>
          <a:xfrm>
            <a:off x="344129" y="1179871"/>
            <a:ext cx="11009671" cy="4997092"/>
          </a:xfrm>
        </p:spPr>
        <p:txBody>
          <a:bodyPr>
            <a:normAutofit fontScale="62500" lnSpcReduction="20000"/>
          </a:bodyPr>
          <a:lstStyle/>
          <a:p>
            <a:pPr>
              <a:lnSpc>
                <a:spcPct val="120000"/>
              </a:lnSpc>
              <a:spcBef>
                <a:spcPts val="0"/>
              </a:spcBef>
            </a:pPr>
            <a:r>
              <a:rPr lang="en-US" dirty="0" err="1"/>
              <a:t>urlString</a:t>
            </a:r>
            <a:r>
              <a:rPr lang="en-US" dirty="0"/>
              <a:t> &lt;string&gt; The URL string to parse.</a:t>
            </a:r>
          </a:p>
          <a:p>
            <a:pPr>
              <a:lnSpc>
                <a:spcPct val="120000"/>
              </a:lnSpc>
              <a:spcBef>
                <a:spcPts val="0"/>
              </a:spcBef>
            </a:pPr>
            <a:endParaRPr lang="en-US" dirty="0"/>
          </a:p>
          <a:p>
            <a:pPr>
              <a:lnSpc>
                <a:spcPct val="120000"/>
              </a:lnSpc>
              <a:spcBef>
                <a:spcPts val="0"/>
              </a:spcBef>
            </a:pPr>
            <a:r>
              <a:rPr lang="en-US" dirty="0" err="1"/>
              <a:t>parseQueryString</a:t>
            </a:r>
            <a:r>
              <a:rPr lang="en-US" dirty="0"/>
              <a:t> &lt;</a:t>
            </a:r>
            <a:r>
              <a:rPr lang="en-US" dirty="0" err="1"/>
              <a:t>boolean</a:t>
            </a:r>
            <a:r>
              <a:rPr lang="en-US" dirty="0"/>
              <a:t>&gt; If true, the query property will always be set to an object returned by the </a:t>
            </a:r>
            <a:r>
              <a:rPr lang="en-US" dirty="0" err="1"/>
              <a:t>querystring</a:t>
            </a:r>
            <a:r>
              <a:rPr lang="en-US" dirty="0"/>
              <a:t> module's parse() method. If false, the query property on the returned URL object will be an unparsed, </a:t>
            </a:r>
            <a:r>
              <a:rPr lang="en-US" dirty="0" err="1"/>
              <a:t>undecoded</a:t>
            </a:r>
            <a:r>
              <a:rPr lang="en-US" dirty="0"/>
              <a:t> string. Default: false.</a:t>
            </a:r>
          </a:p>
          <a:p>
            <a:pPr>
              <a:lnSpc>
                <a:spcPct val="120000"/>
              </a:lnSpc>
              <a:spcBef>
                <a:spcPts val="0"/>
              </a:spcBef>
            </a:pPr>
            <a:endParaRPr lang="en-US" dirty="0"/>
          </a:p>
          <a:p>
            <a:pPr>
              <a:lnSpc>
                <a:spcPct val="120000"/>
              </a:lnSpc>
              <a:spcBef>
                <a:spcPts val="0"/>
              </a:spcBef>
            </a:pPr>
            <a:r>
              <a:rPr lang="en-US" dirty="0" err="1"/>
              <a:t>slashesDenoteHost</a:t>
            </a:r>
            <a:r>
              <a:rPr lang="en-US" dirty="0"/>
              <a:t> &lt;</a:t>
            </a:r>
            <a:r>
              <a:rPr lang="en-US" dirty="0" err="1"/>
              <a:t>boolean</a:t>
            </a:r>
            <a:r>
              <a:rPr lang="en-US" dirty="0"/>
              <a:t>&gt; If true, the first token after the literal string // and preceding the next / will be interpreted as the host. </a:t>
            </a:r>
          </a:p>
          <a:p>
            <a:pPr>
              <a:lnSpc>
                <a:spcPct val="120000"/>
              </a:lnSpc>
              <a:spcBef>
                <a:spcPts val="0"/>
              </a:spcBef>
            </a:pPr>
            <a:endParaRPr lang="en-US" dirty="0"/>
          </a:p>
          <a:p>
            <a:pPr>
              <a:lnSpc>
                <a:spcPct val="120000"/>
              </a:lnSpc>
              <a:spcBef>
                <a:spcPts val="0"/>
              </a:spcBef>
            </a:pPr>
            <a:r>
              <a:rPr lang="en-US" dirty="0"/>
              <a:t>For instance, given //foo/bar, the result would be {host: 'foo', pathname: '/bar'} rather than {pathname: '//foo/bar'}. Default: false.</a:t>
            </a:r>
          </a:p>
          <a:p>
            <a:pPr marL="0" indent="0">
              <a:lnSpc>
                <a:spcPct val="120000"/>
              </a:lnSpc>
              <a:spcBef>
                <a:spcPts val="0"/>
              </a:spcBef>
              <a:buNone/>
            </a:pPr>
            <a:endParaRPr lang="en-US" dirty="0"/>
          </a:p>
          <a:p>
            <a:pPr>
              <a:lnSpc>
                <a:spcPct val="120000"/>
              </a:lnSpc>
              <a:spcBef>
                <a:spcPts val="0"/>
              </a:spcBef>
            </a:pPr>
            <a:r>
              <a:rPr lang="en-US" dirty="0"/>
              <a:t>The </a:t>
            </a:r>
            <a:r>
              <a:rPr lang="en-US" dirty="0" err="1"/>
              <a:t>url.parse</a:t>
            </a:r>
            <a:r>
              <a:rPr lang="en-US" dirty="0"/>
              <a:t>() method takes a URL string, parses it, and returns a URL object.</a:t>
            </a:r>
          </a:p>
          <a:p>
            <a:pPr>
              <a:lnSpc>
                <a:spcPct val="120000"/>
              </a:lnSpc>
              <a:spcBef>
                <a:spcPts val="0"/>
              </a:spcBef>
            </a:pPr>
            <a:endParaRPr lang="en-US" dirty="0"/>
          </a:p>
          <a:p>
            <a:pPr>
              <a:lnSpc>
                <a:spcPct val="120000"/>
              </a:lnSpc>
              <a:spcBef>
                <a:spcPts val="0"/>
              </a:spcBef>
            </a:pPr>
            <a:r>
              <a:rPr lang="en-US" dirty="0"/>
              <a:t>A </a:t>
            </a:r>
            <a:r>
              <a:rPr lang="en-US" dirty="0" err="1"/>
              <a:t>TypeError</a:t>
            </a:r>
            <a:r>
              <a:rPr lang="en-US" dirty="0"/>
              <a:t> is thrown if </a:t>
            </a:r>
            <a:r>
              <a:rPr lang="en-US" dirty="0" err="1"/>
              <a:t>urlString</a:t>
            </a:r>
            <a:r>
              <a:rPr lang="en-US" dirty="0"/>
              <a:t> is not a string.</a:t>
            </a:r>
          </a:p>
          <a:p>
            <a:pPr>
              <a:lnSpc>
                <a:spcPct val="120000"/>
              </a:lnSpc>
              <a:spcBef>
                <a:spcPts val="0"/>
              </a:spcBef>
            </a:pPr>
            <a:endParaRPr lang="en-US" dirty="0"/>
          </a:p>
          <a:p>
            <a:pPr>
              <a:lnSpc>
                <a:spcPct val="120000"/>
              </a:lnSpc>
              <a:spcBef>
                <a:spcPts val="0"/>
              </a:spcBef>
            </a:pPr>
            <a:r>
              <a:rPr lang="en-US" dirty="0"/>
              <a:t>A </a:t>
            </a:r>
            <a:r>
              <a:rPr lang="en-US" dirty="0" err="1"/>
              <a:t>URIError</a:t>
            </a:r>
            <a:r>
              <a:rPr lang="en-US" dirty="0"/>
              <a:t> is thrown if the auth property is present but cannot be decoded.</a:t>
            </a:r>
            <a:endParaRPr lang="en-IN" dirty="0"/>
          </a:p>
        </p:txBody>
      </p:sp>
    </p:spTree>
    <p:extLst>
      <p:ext uri="{BB962C8B-B14F-4D97-AF65-F5344CB8AC3E}">
        <p14:creationId xmlns:p14="http://schemas.microsoft.com/office/powerpoint/2010/main" val="12504194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Garamond">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1475</TotalTime>
  <Words>2711</Words>
  <Application>Microsoft Office PowerPoint</Application>
  <PresentationFormat>Widescreen</PresentationFormat>
  <Paragraphs>231</Paragraphs>
  <Slides>16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16</vt:i4>
      </vt:variant>
    </vt:vector>
  </HeadingPairs>
  <TitlesOfParts>
    <vt:vector size="26" baseType="lpstr">
      <vt:lpstr>Arial</vt:lpstr>
      <vt:lpstr>Cambria</vt:lpstr>
      <vt:lpstr>Consolas</vt:lpstr>
      <vt:lpstr>Courier New</vt:lpstr>
      <vt:lpstr>Garamond</vt:lpstr>
      <vt:lpstr>Lato</vt:lpstr>
      <vt:lpstr>Sailec-Regular</vt:lpstr>
      <vt:lpstr>Segoe UI</vt:lpstr>
      <vt:lpstr>Verdana</vt:lpstr>
      <vt:lpstr>Office Theme</vt:lpstr>
      <vt:lpstr>PowerPoint Presentation</vt:lpstr>
      <vt:lpstr>What is nodeJs</vt:lpstr>
      <vt:lpstr>Features of Node.js</vt:lpstr>
      <vt:lpstr>Where to Use Node.js?</vt:lpstr>
      <vt:lpstr>Installation on Windows</vt:lpstr>
      <vt:lpstr>PowerPoint Presentation</vt:lpstr>
      <vt:lpstr>A Node.js application consists of the following three important components −Demo1</vt:lpstr>
      <vt:lpstr>How to change port number</vt:lpstr>
      <vt:lpstr>What is http</vt:lpstr>
      <vt:lpstr>http.createServer([options][, requestListener])</vt:lpstr>
      <vt:lpstr>What is req, res in anonymous function</vt:lpstr>
      <vt:lpstr>PowerPoint Presentation</vt:lpstr>
      <vt:lpstr>What is modules</vt:lpstr>
      <vt:lpstr>Read the Query String</vt:lpstr>
      <vt:lpstr> Split the Query String  There are built-in modules to easily split the Query String  There are built-in modules to easily split the query string into readable parts, such as the URL module. </vt:lpstr>
      <vt:lpstr>url.parse(urlString[, parseQueryString[, slashesDenoteHost]])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Sriram Mantri vidyanidhi infotech academy</dc:creator>
  <cp:lastModifiedBy>sriram mantri vidyanidhi infotech academy</cp:lastModifiedBy>
  <cp:revision>63</cp:revision>
  <dcterms:created xsi:type="dcterms:W3CDTF">2020-12-02T14:02:37Z</dcterms:created>
  <dcterms:modified xsi:type="dcterms:W3CDTF">2025-05-16T15:46:23Z</dcterms:modified>
</cp:coreProperties>
</file>