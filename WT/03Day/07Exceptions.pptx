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1"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82" r:id="rId18"/>
    <p:sldId id="272" r:id="rId19"/>
    <p:sldId id="273" r:id="rId20"/>
    <p:sldId id="279" r:id="rId21"/>
    <p:sldId id="275" r:id="rId22"/>
    <p:sldId id="276"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0" d="100"/>
          <a:sy n="90" d="100"/>
        </p:scale>
        <p:origin x="123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C7D0BDA-E760-449D-91B9-873A68AF1315}"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7AB50B-647F-4F93-84DE-331695EF2AE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7D0BDA-E760-449D-91B9-873A68AF1315}"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7AB50B-647F-4F93-84DE-331695EF2AE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7D0BDA-E760-449D-91B9-873A68AF1315}"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7AB50B-647F-4F93-84DE-331695EF2AE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C7D0BDA-E760-449D-91B9-873A68AF1315}" type="datetimeFigureOut">
              <a:rPr lang="en-US" smtClean="0"/>
              <a:pPr/>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7AB50B-647F-4F93-84DE-331695EF2AE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C7D0BDA-E760-449D-91B9-873A68AF1315}" type="datetimeFigureOut">
              <a:rPr lang="en-US" smtClean="0"/>
              <a:pPr/>
              <a:t>11/26/2025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7AB50B-647F-4F93-84DE-331695EF2AE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C7D0BDA-E760-449D-91B9-873A68AF1315}" type="datetimeFigureOut">
              <a:rPr lang="en-US" smtClean="0"/>
              <a:pPr/>
              <a:t>11/26/2025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7AB50B-647F-4F93-84DE-331695EF2AE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7D0BDA-E760-449D-91B9-873A68AF1315}" type="datetimeFigureOut">
              <a:rPr lang="en-US" smtClean="0"/>
              <a:pPr/>
              <a:t>11/26/2025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7AB50B-647F-4F93-84DE-331695EF2AE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7D0BDA-E760-449D-91B9-873A68AF1315}" type="datetimeFigureOut">
              <a:rPr lang="en-US" smtClean="0"/>
              <a:pPr/>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7AB50B-647F-4F93-84DE-331695EF2AE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7D0BDA-E760-449D-91B9-873A68AF1315}" type="datetimeFigureOut">
              <a:rPr lang="en-US" smtClean="0"/>
              <a:pPr/>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7AB50B-647F-4F93-84DE-331695EF2AE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7D0BDA-E760-449D-91B9-873A68AF1315}"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7AB50B-647F-4F93-84DE-331695EF2AE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7D0BDA-E760-449D-91B9-873A68AF1315}"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7AB50B-647F-4F93-84DE-331695EF2AE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7D0BDA-E760-449D-91B9-873A68AF1315}" type="datetimeFigureOut">
              <a:rPr lang="en-US" smtClean="0"/>
              <a:pPr/>
              <a:t>11/26/2025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7AB50B-647F-4F93-84DE-331695EF2AE0}" type="slidenum">
              <a:rPr lang="en-US" smtClean="0"/>
              <a:pPr/>
              <a:t>‹#›</a:t>
            </a:fld>
            <a:endParaRPr lang="en-US"/>
          </a:p>
        </p:txBody>
      </p:sp>
      <p:pic>
        <p:nvPicPr>
          <p:cNvPr id="7" name="Picture 6">
            <a:extLst>
              <a:ext uri="{FF2B5EF4-FFF2-40B4-BE49-F238E27FC236}">
                <a16:creationId xmlns:a16="http://schemas.microsoft.com/office/drawing/2014/main" id="{CF191925-EE7F-4EA0-B1EA-2FF31CDDD0C1}"/>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8" name="Rectangle 7">
            <a:extLst>
              <a:ext uri="{FF2B5EF4-FFF2-40B4-BE49-F238E27FC236}">
                <a16:creationId xmlns:a16="http://schemas.microsoft.com/office/drawing/2014/main" id="{5B0FFA7D-4F42-4779-9FA3-DA1E97E13B0A}"/>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314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1543050" y="3886201"/>
            <a:ext cx="2457450" cy="923330"/>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dirty="0"/>
              <a:t>9769201036</a:t>
            </a:r>
          </a:p>
          <a:p>
            <a:r>
              <a:rPr lang="en-IN" sz="1350" dirty="0"/>
              <a:t>ketkiacharya.net@gmail.com</a:t>
            </a:r>
          </a:p>
        </p:txBody>
      </p:sp>
    </p:spTree>
    <p:extLst>
      <p:ext uri="{BB962C8B-B14F-4D97-AF65-F5344CB8AC3E}">
        <p14:creationId xmlns:p14="http://schemas.microsoft.com/office/powerpoint/2010/main" val="629767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5800" y="838200"/>
            <a:ext cx="7162800" cy="646331"/>
          </a:xfrm>
          <a:prstGeom prst="rect">
            <a:avLst/>
          </a:prstGeom>
          <a:noFill/>
        </p:spPr>
        <p:txBody>
          <a:bodyPr wrap="square" rtlCol="0">
            <a:spAutoFit/>
          </a:bodyPr>
          <a:lstStyle/>
          <a:p>
            <a:pPr algn="ctr"/>
            <a:r>
              <a:rPr lang="en-US" sz="3600" b="1" dirty="0">
                <a:effectLst>
                  <a:outerShdw blurRad="38100" dist="38100" dir="2700000" algn="tl">
                    <a:srgbClr val="000000">
                      <a:alpha val="43137"/>
                    </a:srgbClr>
                  </a:outerShdw>
                </a:effectLst>
              </a:rPr>
              <a:t>Exception Handling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5800" y="838200"/>
            <a:ext cx="7162800" cy="461665"/>
          </a:xfrm>
          <a:prstGeom prst="rect">
            <a:avLst/>
          </a:prstGeom>
          <a:noFill/>
        </p:spPr>
        <p:txBody>
          <a:bodyPr wrap="square" rtlCol="0">
            <a:spAutoFit/>
          </a:bodyPr>
          <a:lstStyle/>
          <a:p>
            <a:r>
              <a:rPr lang="en-US" sz="2400" dirty="0"/>
              <a:t>Exception Handling</a:t>
            </a:r>
          </a:p>
        </p:txBody>
      </p:sp>
      <p:sp>
        <p:nvSpPr>
          <p:cNvPr id="3" name="TextBox 2"/>
          <p:cNvSpPr txBox="1"/>
          <p:nvPr/>
        </p:nvSpPr>
        <p:spPr>
          <a:xfrm>
            <a:off x="457200" y="1676400"/>
            <a:ext cx="8077200" cy="4247317"/>
          </a:xfrm>
          <a:prstGeom prst="rect">
            <a:avLst/>
          </a:prstGeom>
          <a:noFill/>
        </p:spPr>
        <p:txBody>
          <a:bodyPr wrap="square" rtlCol="0">
            <a:spAutoFit/>
          </a:bodyPr>
          <a:lstStyle/>
          <a:p>
            <a:pPr algn="just"/>
            <a:r>
              <a:rPr lang="en-US" dirty="0"/>
              <a:t>The term "exceptions" refers to those errors which can be tracked and controlled. For example, if a function attempts an unsupported operation on a built-in JavaScript object (say, trying to assign values to a non-existent array index), JavaScript will generate a "</a:t>
            </a:r>
            <a:r>
              <a:rPr lang="en-US" dirty="0" err="1"/>
              <a:t>TypeError</a:t>
            </a:r>
            <a:r>
              <a:rPr lang="en-US" dirty="0"/>
              <a:t>" exception, together with a message explaining the problem. Exceptions like these can be caught by the application, and appropriately diverted to an exception-handling routine.</a:t>
            </a:r>
          </a:p>
          <a:p>
            <a:pPr algn="just"/>
            <a:endParaRPr lang="en-US" dirty="0"/>
          </a:p>
          <a:p>
            <a:pPr algn="just"/>
            <a:r>
              <a:rPr lang="en-US" dirty="0"/>
              <a:t>In earlier versions of JavaScript, exception handling was almost non-existent - developers were stuck with the standard error construct provided by the browser, and had little or no control over what happened with the JavaScript interpreter encountered an error. With JavaScript 1.5, all of that changed - the language now supports standard "try-catch" exception-handling constructs, and provides a far greater degree of control over how errors are processed.</a:t>
            </a:r>
          </a:p>
          <a:p>
            <a:pPr algn="just"/>
            <a:endParaRPr lang="en-US" dirty="0"/>
          </a:p>
          <a:p>
            <a:pPr algn="just"/>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5800" y="838200"/>
            <a:ext cx="7162800" cy="461665"/>
          </a:xfrm>
          <a:prstGeom prst="rect">
            <a:avLst/>
          </a:prstGeom>
          <a:noFill/>
        </p:spPr>
        <p:txBody>
          <a:bodyPr wrap="square" rtlCol="0">
            <a:spAutoFit/>
          </a:bodyPr>
          <a:lstStyle/>
          <a:p>
            <a:r>
              <a:rPr lang="en-US" sz="2400" dirty="0"/>
              <a:t>Exception Handling</a:t>
            </a:r>
          </a:p>
        </p:txBody>
      </p:sp>
      <p:sp>
        <p:nvSpPr>
          <p:cNvPr id="3" name="TextBox 2"/>
          <p:cNvSpPr txBox="1"/>
          <p:nvPr/>
        </p:nvSpPr>
        <p:spPr>
          <a:xfrm>
            <a:off x="457200" y="1676400"/>
            <a:ext cx="8077200" cy="4832092"/>
          </a:xfrm>
          <a:prstGeom prst="rect">
            <a:avLst/>
          </a:prstGeom>
          <a:noFill/>
        </p:spPr>
        <p:txBody>
          <a:bodyPr wrap="square" rtlCol="0">
            <a:spAutoFit/>
          </a:bodyPr>
          <a:lstStyle/>
          <a:p>
            <a:r>
              <a:rPr lang="en-US" sz="1400" dirty="0"/>
              <a:t>Consider the following simple line of code,</a:t>
            </a:r>
          </a:p>
          <a:p>
            <a:r>
              <a:rPr lang="en-US" sz="1400" dirty="0"/>
              <a:t> </a:t>
            </a:r>
          </a:p>
          <a:p>
            <a:r>
              <a:rPr lang="en-US" sz="1400" dirty="0"/>
              <a:t>&lt;script language="JavaScript"&gt;</a:t>
            </a:r>
          </a:p>
          <a:p>
            <a:r>
              <a:rPr lang="en-US" sz="1400" dirty="0"/>
              <a:t> </a:t>
            </a:r>
          </a:p>
          <a:p>
            <a:r>
              <a:rPr lang="en-US" sz="1400" dirty="0" err="1"/>
              <a:t>colours</a:t>
            </a:r>
            <a:r>
              <a:rPr lang="en-US" sz="1400" dirty="0"/>
              <a:t>[2] = "red";</a:t>
            </a:r>
          </a:p>
          <a:p>
            <a:r>
              <a:rPr lang="en-US" sz="1400" dirty="0"/>
              <a:t> </a:t>
            </a:r>
          </a:p>
          <a:p>
            <a:r>
              <a:rPr lang="en-US" sz="1400" dirty="0"/>
              <a:t>&lt;/script&gt;</a:t>
            </a:r>
          </a:p>
          <a:p>
            <a:endParaRPr lang="en-US" sz="1400" dirty="0"/>
          </a:p>
          <a:p>
            <a:r>
              <a:rPr lang="en-US" sz="1400" dirty="0"/>
              <a:t>In the example above, JavaScript tries to change the value of the second element of the array variable "</a:t>
            </a:r>
            <a:r>
              <a:rPr lang="en-US" sz="1400" dirty="0" err="1"/>
              <a:t>colours</a:t>
            </a:r>
            <a:r>
              <a:rPr lang="en-US" sz="1400" dirty="0"/>
              <a:t>". Now, this variable does not exist in the variable namespace. What does JavaScript do? </a:t>
            </a:r>
          </a:p>
          <a:p>
            <a:r>
              <a:rPr lang="en-US" sz="1400" dirty="0"/>
              <a:t>Rather than quietly packing up and moving to a new neighborhood, JavaScript decides to generate an exception.</a:t>
            </a:r>
          </a:p>
          <a:p>
            <a:endParaRPr lang="en-US" sz="1400" dirty="0"/>
          </a:p>
          <a:p>
            <a:r>
              <a:rPr lang="en-US" sz="1400" dirty="0">
                <a:solidFill>
                  <a:srgbClr val="FF0000"/>
                </a:solidFill>
              </a:rPr>
              <a:t>Uncaught </a:t>
            </a:r>
            <a:r>
              <a:rPr lang="en-US" sz="1400" dirty="0" err="1">
                <a:solidFill>
                  <a:srgbClr val="FF0000"/>
                </a:solidFill>
              </a:rPr>
              <a:t>ReferenceError</a:t>
            </a:r>
            <a:r>
              <a:rPr lang="en-US" sz="1400" dirty="0">
                <a:solidFill>
                  <a:srgbClr val="FF0000"/>
                </a:solidFill>
              </a:rPr>
              <a:t>: </a:t>
            </a:r>
            <a:r>
              <a:rPr lang="en-US" sz="1400" dirty="0" err="1">
                <a:solidFill>
                  <a:srgbClr val="FF0000"/>
                </a:solidFill>
              </a:rPr>
              <a:t>colours</a:t>
            </a:r>
            <a:r>
              <a:rPr lang="en-US" sz="1400" dirty="0">
                <a:solidFill>
                  <a:srgbClr val="FF0000"/>
                </a:solidFill>
              </a:rPr>
              <a:t> is not defined    at 00without_trycatch.html:4</a:t>
            </a:r>
          </a:p>
          <a:p>
            <a:endParaRPr lang="en-US" sz="1400" dirty="0"/>
          </a:p>
          <a:p>
            <a:r>
              <a:rPr lang="en-US" sz="1400" dirty="0"/>
              <a:t>You can see this from the first few lines of the output, which describe the exception, together with the variable that caused it.</a:t>
            </a:r>
          </a:p>
          <a:p>
            <a:r>
              <a:rPr lang="en-US" sz="1400" dirty="0"/>
              <a:t>From the above output, it's pretty clear what happened - an error occurred because the "</a:t>
            </a:r>
            <a:r>
              <a:rPr lang="en-US" sz="1400" dirty="0" err="1"/>
              <a:t>colours</a:t>
            </a:r>
            <a:r>
              <a:rPr lang="en-US" sz="1400" dirty="0"/>
              <a:t>" variable doesn't exist. And JavaScript also provides primitive debugging information on the error, such as the line on which the errant code resides. A little analysis of this debug data, and you'll quickly be able to identify the lines of code involved in the error.</a:t>
            </a:r>
          </a:p>
          <a:p>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5800" y="838200"/>
            <a:ext cx="7162800" cy="461665"/>
          </a:xfrm>
          <a:prstGeom prst="rect">
            <a:avLst/>
          </a:prstGeom>
          <a:noFill/>
        </p:spPr>
        <p:txBody>
          <a:bodyPr wrap="square" rtlCol="0">
            <a:spAutoFit/>
          </a:bodyPr>
          <a:lstStyle/>
          <a:p>
            <a:r>
              <a:rPr lang="en-US" sz="2400" dirty="0"/>
              <a:t>Introducing try ……  catch </a:t>
            </a:r>
          </a:p>
        </p:txBody>
      </p:sp>
      <p:sp>
        <p:nvSpPr>
          <p:cNvPr id="3" name="TextBox 2"/>
          <p:cNvSpPr txBox="1"/>
          <p:nvPr/>
        </p:nvSpPr>
        <p:spPr>
          <a:xfrm>
            <a:off x="457200" y="1676400"/>
            <a:ext cx="8077200" cy="2677656"/>
          </a:xfrm>
          <a:prstGeom prst="rect">
            <a:avLst/>
          </a:prstGeom>
          <a:noFill/>
        </p:spPr>
        <p:txBody>
          <a:bodyPr wrap="square" rtlCol="0">
            <a:spAutoFit/>
          </a:bodyPr>
          <a:lstStyle/>
          <a:p>
            <a:r>
              <a:rPr lang="en-US" sz="1400" dirty="0"/>
              <a:t>JavaScript allows you to trap errors using the standard "try-catch" exception-handling combination. Here's what it looks like:</a:t>
            </a:r>
          </a:p>
          <a:p>
            <a:r>
              <a:rPr lang="en-US" sz="1400" dirty="0"/>
              <a:t> </a:t>
            </a:r>
          </a:p>
          <a:p>
            <a:r>
              <a:rPr lang="en-US" sz="1400" dirty="0"/>
              <a:t>try </a:t>
            </a:r>
          </a:p>
          <a:p>
            <a:r>
              <a:rPr lang="en-US" sz="1400" dirty="0"/>
              <a:t>{</a:t>
            </a:r>
          </a:p>
          <a:p>
            <a:r>
              <a:rPr lang="en-US" sz="1400" dirty="0"/>
              <a:t>	execute this block</a:t>
            </a:r>
          </a:p>
          <a:p>
            <a:r>
              <a:rPr lang="en-US" sz="1400" dirty="0"/>
              <a:t>} </a:t>
            </a:r>
          </a:p>
          <a:p>
            <a:r>
              <a:rPr lang="en-US" sz="1400" dirty="0"/>
              <a:t>catch (error) </a:t>
            </a:r>
          </a:p>
          <a:p>
            <a:r>
              <a:rPr lang="en-US" sz="1400" dirty="0"/>
              <a:t>{</a:t>
            </a:r>
          </a:p>
          <a:p>
            <a:r>
              <a:rPr lang="en-US" sz="1400" dirty="0"/>
              <a:t>	execute this block if error</a:t>
            </a:r>
          </a:p>
          <a:p>
            <a:r>
              <a:rPr lang="en-US" sz="1400" dirty="0"/>
              <a:t>}</a:t>
            </a:r>
          </a:p>
          <a:p>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118675"/>
            <a:ext cx="7162800" cy="461665"/>
          </a:xfrm>
          <a:prstGeom prst="rect">
            <a:avLst/>
          </a:prstGeom>
          <a:noFill/>
        </p:spPr>
        <p:txBody>
          <a:bodyPr wrap="square" rtlCol="0">
            <a:spAutoFit/>
          </a:bodyPr>
          <a:lstStyle/>
          <a:p>
            <a:r>
              <a:rPr lang="en-US" sz="2400" dirty="0"/>
              <a:t>Introducing try ……  catch </a:t>
            </a:r>
          </a:p>
        </p:txBody>
      </p:sp>
      <p:sp>
        <p:nvSpPr>
          <p:cNvPr id="3" name="TextBox 2"/>
          <p:cNvSpPr txBox="1"/>
          <p:nvPr/>
        </p:nvSpPr>
        <p:spPr>
          <a:xfrm>
            <a:off x="228600" y="838200"/>
            <a:ext cx="7848600" cy="4401205"/>
          </a:xfrm>
          <a:prstGeom prst="rect">
            <a:avLst/>
          </a:prstGeom>
          <a:noFill/>
        </p:spPr>
        <p:txBody>
          <a:bodyPr wrap="square" rtlCol="0">
            <a:spAutoFit/>
          </a:bodyPr>
          <a:lstStyle/>
          <a:p>
            <a:r>
              <a:rPr lang="en-US" sz="1400" dirty="0"/>
              <a:t>Take a look at this rewrite of the previous example, which incorporates a simple exception handler.</a:t>
            </a:r>
          </a:p>
          <a:p>
            <a:endParaRPr lang="en-US" sz="1400" dirty="0"/>
          </a:p>
          <a:p>
            <a:r>
              <a:rPr lang="en-US" sz="1400" dirty="0"/>
              <a:t>&lt;script language="JavaScript"&gt;</a:t>
            </a:r>
          </a:p>
          <a:p>
            <a:r>
              <a:rPr lang="en-US" sz="1400" dirty="0"/>
              <a:t> </a:t>
            </a:r>
          </a:p>
          <a:p>
            <a:r>
              <a:rPr lang="en-US" sz="1400" dirty="0"/>
              <a:t>try </a:t>
            </a:r>
          </a:p>
          <a:p>
            <a:r>
              <a:rPr lang="en-US" sz="1400" dirty="0"/>
              <a:t>{</a:t>
            </a:r>
          </a:p>
          <a:p>
            <a:r>
              <a:rPr lang="en-US" sz="1400" dirty="0"/>
              <a:t>	</a:t>
            </a:r>
            <a:r>
              <a:rPr lang="en-US" sz="1400" dirty="0" err="1"/>
              <a:t>colours</a:t>
            </a:r>
            <a:r>
              <a:rPr lang="en-US" sz="1400" dirty="0"/>
              <a:t>[2] = "red";</a:t>
            </a:r>
          </a:p>
          <a:p>
            <a:r>
              <a:rPr lang="en-US" sz="1400" dirty="0"/>
              <a:t>} </a:t>
            </a:r>
          </a:p>
          <a:p>
            <a:r>
              <a:rPr lang="en-US" sz="1400" dirty="0"/>
              <a:t>catch (e) </a:t>
            </a:r>
          </a:p>
          <a:p>
            <a:r>
              <a:rPr lang="en-US" sz="1400" dirty="0"/>
              <a:t>{</a:t>
            </a:r>
          </a:p>
          <a:p>
            <a:r>
              <a:rPr lang="en-US" sz="1400" dirty="0"/>
              <a:t>	alert("Oops! Something bad just happened. ");</a:t>
            </a:r>
          </a:p>
          <a:p>
            <a:r>
              <a:rPr lang="en-US" sz="1400" dirty="0"/>
              <a:t>}</a:t>
            </a:r>
          </a:p>
          <a:p>
            <a:r>
              <a:rPr lang="en-US" sz="1400" dirty="0"/>
              <a:t> </a:t>
            </a:r>
          </a:p>
          <a:p>
            <a:r>
              <a:rPr lang="en-US" sz="1400" dirty="0"/>
              <a:t>&lt;/script&gt;</a:t>
            </a:r>
          </a:p>
          <a:p>
            <a:endParaRPr lang="en-US" sz="1400" dirty="0"/>
          </a:p>
          <a:p>
            <a:r>
              <a:rPr lang="en-US" sz="1400" dirty="0"/>
              <a:t>And this time, when the script is executed, it will not generate an error - instead, it will output</a:t>
            </a:r>
          </a:p>
          <a:p>
            <a:endParaRPr lang="en-US" sz="1400" i="1" dirty="0"/>
          </a:p>
          <a:p>
            <a:r>
              <a:rPr lang="en-US" sz="1400" b="1" i="1" dirty="0"/>
              <a:t>Oops! Something bad just happened. </a:t>
            </a:r>
            <a:endParaRPr lang="en-US" sz="1400" b="1" dirty="0"/>
          </a:p>
          <a:p>
            <a:endParaRPr lang="en-US" sz="1400" dirty="0"/>
          </a:p>
          <a:p>
            <a:endParaRPr lang="en-US" sz="1400" dirty="0"/>
          </a:p>
        </p:txBody>
      </p:sp>
      <p:sp>
        <p:nvSpPr>
          <p:cNvPr id="2" name="Rectangle 1">
            <a:extLst>
              <a:ext uri="{FF2B5EF4-FFF2-40B4-BE49-F238E27FC236}">
                <a16:creationId xmlns:a16="http://schemas.microsoft.com/office/drawing/2014/main" id="{98982BE6-97B8-4D3D-B970-718FDC62DAB4}"/>
              </a:ext>
            </a:extLst>
          </p:cNvPr>
          <p:cNvSpPr/>
          <p:nvPr/>
        </p:nvSpPr>
        <p:spPr>
          <a:xfrm>
            <a:off x="5181600" y="2917128"/>
            <a:ext cx="609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e</a:t>
            </a:r>
          </a:p>
        </p:txBody>
      </p:sp>
      <p:sp>
        <p:nvSpPr>
          <p:cNvPr id="5" name="Rectangle 4">
            <a:extLst>
              <a:ext uri="{FF2B5EF4-FFF2-40B4-BE49-F238E27FC236}">
                <a16:creationId xmlns:a16="http://schemas.microsoft.com/office/drawing/2014/main" id="{CDAB97D9-4105-465A-B6E9-8933A3B81C6F}"/>
              </a:ext>
            </a:extLst>
          </p:cNvPr>
          <p:cNvSpPr/>
          <p:nvPr/>
        </p:nvSpPr>
        <p:spPr>
          <a:xfrm>
            <a:off x="6591300" y="2659626"/>
            <a:ext cx="1905000" cy="12008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ReferenceError</a:t>
            </a:r>
            <a:r>
              <a:rPr lang="en-IN" dirty="0"/>
              <a:t>()</a:t>
            </a:r>
          </a:p>
        </p:txBody>
      </p:sp>
      <p:cxnSp>
        <p:nvCxnSpPr>
          <p:cNvPr id="7" name="Straight Arrow Connector 6">
            <a:extLst>
              <a:ext uri="{FF2B5EF4-FFF2-40B4-BE49-F238E27FC236}">
                <a16:creationId xmlns:a16="http://schemas.microsoft.com/office/drawing/2014/main" id="{9AE3AA46-D341-4767-B031-01BCC9B5BF8F}"/>
              </a:ext>
            </a:extLst>
          </p:cNvPr>
          <p:cNvCxnSpPr>
            <a:cxnSpLocks/>
          </p:cNvCxnSpPr>
          <p:nvPr/>
        </p:nvCxnSpPr>
        <p:spPr>
          <a:xfrm>
            <a:off x="5791200" y="3429000"/>
            <a:ext cx="685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A0122A7-5616-4665-9C44-78F56C027B71}"/>
              </a:ext>
            </a:extLst>
          </p:cNvPr>
          <p:cNvCxnSpPr/>
          <p:nvPr/>
        </p:nvCxnSpPr>
        <p:spPr>
          <a:xfrm>
            <a:off x="7086600" y="1981200"/>
            <a:ext cx="0" cy="6096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4" name="Rectangle 13">
            <a:extLst>
              <a:ext uri="{FF2B5EF4-FFF2-40B4-BE49-F238E27FC236}">
                <a16:creationId xmlns:a16="http://schemas.microsoft.com/office/drawing/2014/main" id="{A9926205-7BB9-4655-94D2-E18F6A6D56DD}"/>
              </a:ext>
            </a:extLst>
          </p:cNvPr>
          <p:cNvSpPr/>
          <p:nvPr/>
        </p:nvSpPr>
        <p:spPr>
          <a:xfrm>
            <a:off x="6858000" y="1219200"/>
            <a:ext cx="12192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Error()</a:t>
            </a:r>
          </a:p>
        </p:txBody>
      </p:sp>
      <p:cxnSp>
        <p:nvCxnSpPr>
          <p:cNvPr id="15" name="Straight Connector 14">
            <a:extLst>
              <a:ext uri="{FF2B5EF4-FFF2-40B4-BE49-F238E27FC236}">
                <a16:creationId xmlns:a16="http://schemas.microsoft.com/office/drawing/2014/main" id="{D936BCE5-05D0-4431-9C31-B6E8973E3DE8}"/>
              </a:ext>
            </a:extLst>
          </p:cNvPr>
          <p:cNvCxnSpPr>
            <a:cxnSpLocks/>
          </p:cNvCxnSpPr>
          <p:nvPr/>
        </p:nvCxnSpPr>
        <p:spPr>
          <a:xfrm>
            <a:off x="7924800" y="685800"/>
            <a:ext cx="0" cy="4572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7" name="Rectangle 16">
            <a:extLst>
              <a:ext uri="{FF2B5EF4-FFF2-40B4-BE49-F238E27FC236}">
                <a16:creationId xmlns:a16="http://schemas.microsoft.com/office/drawing/2014/main" id="{AD7D6B52-4D0C-4EA9-89F9-6CCC1B0B80C8}"/>
              </a:ext>
            </a:extLst>
          </p:cNvPr>
          <p:cNvSpPr/>
          <p:nvPr/>
        </p:nvSpPr>
        <p:spPr>
          <a:xfrm>
            <a:off x="7010400" y="-19665"/>
            <a:ext cx="12192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Object()</a:t>
            </a:r>
          </a:p>
        </p:txBody>
      </p:sp>
      <p:cxnSp>
        <p:nvCxnSpPr>
          <p:cNvPr id="19" name="Straight Arrow Connector 18">
            <a:extLst>
              <a:ext uri="{FF2B5EF4-FFF2-40B4-BE49-F238E27FC236}">
                <a16:creationId xmlns:a16="http://schemas.microsoft.com/office/drawing/2014/main" id="{D7E503CA-3417-4732-8564-FF3ED1091FA5}"/>
              </a:ext>
            </a:extLst>
          </p:cNvPr>
          <p:cNvCxnSpPr>
            <a:cxnSpLocks/>
          </p:cNvCxnSpPr>
          <p:nvPr/>
        </p:nvCxnSpPr>
        <p:spPr>
          <a:xfrm>
            <a:off x="2609850" y="2286000"/>
            <a:ext cx="3867150" cy="3736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05000" y="0"/>
            <a:ext cx="7162800" cy="461665"/>
          </a:xfrm>
          <a:prstGeom prst="rect">
            <a:avLst/>
          </a:prstGeom>
          <a:noFill/>
        </p:spPr>
        <p:txBody>
          <a:bodyPr wrap="square" rtlCol="0">
            <a:spAutoFit/>
          </a:bodyPr>
          <a:lstStyle/>
          <a:p>
            <a:r>
              <a:rPr lang="en-US" sz="2400" dirty="0"/>
              <a:t>Introducing try ……  catch </a:t>
            </a:r>
          </a:p>
        </p:txBody>
      </p:sp>
      <p:sp>
        <p:nvSpPr>
          <p:cNvPr id="3" name="TextBox 2"/>
          <p:cNvSpPr txBox="1"/>
          <p:nvPr/>
        </p:nvSpPr>
        <p:spPr>
          <a:xfrm>
            <a:off x="76200" y="762000"/>
            <a:ext cx="8077200" cy="4616648"/>
          </a:xfrm>
          <a:prstGeom prst="rect">
            <a:avLst/>
          </a:prstGeom>
          <a:noFill/>
        </p:spPr>
        <p:txBody>
          <a:bodyPr wrap="square" rtlCol="0">
            <a:spAutoFit/>
          </a:bodyPr>
          <a:lstStyle/>
          <a:p>
            <a:r>
              <a:rPr lang="en-US" sz="1400" b="1" dirty="0"/>
              <a:t>Explanation</a:t>
            </a:r>
          </a:p>
          <a:p>
            <a:endParaRPr lang="en-US" sz="1400" dirty="0"/>
          </a:p>
          <a:p>
            <a:r>
              <a:rPr lang="en-US" sz="1400" dirty="0"/>
              <a:t>The first part of the code introduces you to the "try" block; this instructs JavaScript to try - literally - to execute the statements within the enclosing block.</a:t>
            </a:r>
          </a:p>
          <a:p>
            <a:r>
              <a:rPr lang="en-US" sz="1400" dirty="0"/>
              <a:t> </a:t>
            </a:r>
          </a:p>
          <a:p>
            <a:r>
              <a:rPr lang="en-US" sz="1400" dirty="0"/>
              <a:t>try </a:t>
            </a:r>
          </a:p>
          <a:p>
            <a:r>
              <a:rPr lang="en-US" sz="1400" dirty="0"/>
              <a:t>{</a:t>
            </a:r>
          </a:p>
          <a:p>
            <a:r>
              <a:rPr lang="en-US" sz="1400" dirty="0"/>
              <a:t>	</a:t>
            </a:r>
            <a:r>
              <a:rPr lang="en-US" sz="1400" dirty="0" err="1"/>
              <a:t>colours</a:t>
            </a:r>
            <a:r>
              <a:rPr lang="en-US" sz="1400" dirty="0"/>
              <a:t>[2] = "red";</a:t>
            </a:r>
          </a:p>
          <a:p>
            <a:r>
              <a:rPr lang="en-US" sz="1400" dirty="0"/>
              <a:t>}</a:t>
            </a:r>
          </a:p>
          <a:p>
            <a:endParaRPr lang="en-US" sz="1400" dirty="0"/>
          </a:p>
          <a:p>
            <a:r>
              <a:rPr lang="en-US" sz="1400" dirty="0"/>
              <a:t>The "catch" block sets up the exception handler, in the event that one is generated. This does the hard work of trapping the exception and suggesting how to handle it</a:t>
            </a:r>
          </a:p>
          <a:p>
            <a:r>
              <a:rPr lang="en-US" sz="1400" dirty="0"/>
              <a:t> </a:t>
            </a:r>
          </a:p>
          <a:p>
            <a:r>
              <a:rPr lang="en-US" sz="1400" dirty="0"/>
              <a:t>catch (e) </a:t>
            </a:r>
          </a:p>
          <a:p>
            <a:r>
              <a:rPr lang="en-US" sz="1400" dirty="0"/>
              <a:t>{</a:t>
            </a:r>
          </a:p>
          <a:p>
            <a:r>
              <a:rPr lang="en-US" sz="1400" dirty="0"/>
              <a:t>	alert("Oops! Something bad just happened. ");</a:t>
            </a:r>
          </a:p>
          <a:p>
            <a:r>
              <a:rPr lang="en-US" sz="1400" dirty="0"/>
              <a:t>}</a:t>
            </a:r>
          </a:p>
          <a:p>
            <a:endParaRPr lang="en-US" sz="1400" dirty="0"/>
          </a:p>
          <a:p>
            <a:r>
              <a:rPr lang="en-US" sz="1400" dirty="0"/>
              <a:t>If an exception is generated, the "catch" segment of the code will be triggered, and JavaScript's default error handling mechanism will be overridden by the instructions in that code segment - in this case, displaying the text "Something bad happened".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09600" y="152400"/>
            <a:ext cx="7162800" cy="461665"/>
          </a:xfrm>
          <a:prstGeom prst="rect">
            <a:avLst/>
          </a:prstGeom>
          <a:noFill/>
        </p:spPr>
        <p:txBody>
          <a:bodyPr wrap="square" rtlCol="0">
            <a:spAutoFit/>
          </a:bodyPr>
          <a:lstStyle/>
          <a:p>
            <a:r>
              <a:rPr lang="en-US" sz="2400" dirty="0"/>
              <a:t>Introducing try ……  catch </a:t>
            </a:r>
          </a:p>
        </p:txBody>
      </p:sp>
      <p:sp>
        <p:nvSpPr>
          <p:cNvPr id="3" name="TextBox 2"/>
          <p:cNvSpPr txBox="1"/>
          <p:nvPr/>
        </p:nvSpPr>
        <p:spPr>
          <a:xfrm>
            <a:off x="152400" y="685800"/>
            <a:ext cx="8077200" cy="6340197"/>
          </a:xfrm>
          <a:prstGeom prst="rect">
            <a:avLst/>
          </a:prstGeom>
          <a:noFill/>
        </p:spPr>
        <p:txBody>
          <a:bodyPr wrap="square" rtlCol="0">
            <a:spAutoFit/>
          </a:bodyPr>
          <a:lstStyle/>
          <a:p>
            <a:r>
              <a:rPr lang="en-US" sz="1400" dirty="0"/>
              <a:t>JavaScript satisfies this requirement via two special, pre-defined properties of the Error object generated by an exception - the "name" and "message" properties. Take a look:</a:t>
            </a:r>
          </a:p>
          <a:p>
            <a:r>
              <a:rPr lang="en-US" sz="1400" dirty="0"/>
              <a:t> </a:t>
            </a:r>
          </a:p>
          <a:p>
            <a:r>
              <a:rPr lang="en-US" sz="1400" dirty="0"/>
              <a:t> </a:t>
            </a:r>
            <a:r>
              <a:rPr lang="en-IN" sz="1400" b="0" dirty="0">
                <a:solidFill>
                  <a:srgbClr val="800000"/>
                </a:solidFill>
                <a:effectLst/>
                <a:latin typeface="Consolas" panose="020B0609020204030204" pitchFamily="49" charset="0"/>
              </a:rPr>
              <a:t>&lt;script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language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"JavaScript"</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p>
          <a:p>
            <a:r>
              <a:rPr lang="en-IN" sz="1400" b="0" dirty="0">
                <a:solidFill>
                  <a:srgbClr val="AF00DB"/>
                </a:solidFill>
                <a:effectLst/>
                <a:latin typeface="Consolas" panose="020B0609020204030204" pitchFamily="49" charset="0"/>
              </a:rPr>
              <a:t>try</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colours</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2</a:t>
            </a:r>
            <a:r>
              <a:rPr lang="en-IN" sz="1400" b="0" dirty="0">
                <a:solidFill>
                  <a:srgbClr val="000000"/>
                </a:solidFill>
                <a:effectLst/>
                <a:latin typeface="Consolas" panose="020B0609020204030204" pitchFamily="49" charset="0"/>
              </a:rPr>
              <a:t>] = </a:t>
            </a:r>
            <a:r>
              <a:rPr lang="en-IN" sz="1400" b="0" dirty="0">
                <a:solidFill>
                  <a:srgbClr val="A31515"/>
                </a:solidFill>
                <a:effectLst/>
                <a:latin typeface="Consolas" panose="020B0609020204030204" pitchFamily="49" charset="0"/>
              </a:rPr>
              <a:t>"red"</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p>
          <a:p>
            <a:r>
              <a:rPr lang="en-IN" sz="1400" b="0" dirty="0">
                <a:solidFill>
                  <a:srgbClr val="AF00DB"/>
                </a:solidFill>
                <a:effectLst/>
                <a:latin typeface="Consolas" panose="020B0609020204030204" pitchFamily="49" charset="0"/>
              </a:rPr>
              <a:t>catch</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e</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alert</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e</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message</a:t>
            </a:r>
            <a:r>
              <a:rPr lang="en-IN" sz="1400" b="0" dirty="0" err="1">
                <a:solidFill>
                  <a:srgbClr val="000000"/>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"Oops</a:t>
            </a:r>
            <a:r>
              <a:rPr lang="en-IN" sz="1400" b="0" dirty="0">
                <a:solidFill>
                  <a:srgbClr val="A31515"/>
                </a:solidFill>
                <a:effectLst/>
                <a:latin typeface="Consolas" panose="020B0609020204030204" pitchFamily="49" charset="0"/>
              </a:rPr>
              <a:t>! Something bad just happened. "</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e</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name</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p>
          <a:p>
            <a:r>
              <a:rPr lang="en-IN" sz="1400" b="0" dirty="0">
                <a:solidFill>
                  <a:srgbClr val="800000"/>
                </a:solidFill>
                <a:effectLst/>
                <a:latin typeface="Consolas" panose="020B0609020204030204" pitchFamily="49" charset="0"/>
              </a:rPr>
              <a:t>&lt;/script&gt;</a:t>
            </a:r>
            <a:endParaRPr lang="en-IN" sz="1400" b="0" dirty="0">
              <a:solidFill>
                <a:srgbClr val="000000"/>
              </a:solidFill>
              <a:effectLst/>
              <a:latin typeface="Consolas" panose="020B0609020204030204" pitchFamily="49" charset="0"/>
            </a:endParaRPr>
          </a:p>
          <a:p>
            <a:br>
              <a:rPr lang="en-IN" sz="1400" b="0" dirty="0">
                <a:solidFill>
                  <a:srgbClr val="000000"/>
                </a:solidFill>
                <a:effectLst/>
                <a:latin typeface="Consolas" panose="020B0609020204030204" pitchFamily="49" charset="0"/>
              </a:rPr>
            </a:br>
            <a:endParaRPr lang="en-US" sz="1400" dirty="0"/>
          </a:p>
          <a:p>
            <a:r>
              <a:rPr lang="en-US" sz="1400" b="1" dirty="0"/>
              <a:t>Here's the output:</a:t>
            </a:r>
          </a:p>
          <a:p>
            <a:r>
              <a:rPr lang="en-US" sz="1400" i="1" dirty="0"/>
              <a:t>An exception occurred in the script. Error name: </a:t>
            </a:r>
            <a:r>
              <a:rPr lang="en-US" sz="1400" i="1" dirty="0" err="1"/>
              <a:t>ReferenceError</a:t>
            </a:r>
            <a:r>
              <a:rPr lang="en-US" sz="1400" i="1" dirty="0"/>
              <a:t>. Error message: </a:t>
            </a:r>
            <a:r>
              <a:rPr lang="en-US" sz="1400" i="1" dirty="0" err="1"/>
              <a:t>colours</a:t>
            </a:r>
            <a:r>
              <a:rPr lang="en-US" sz="1400" i="1" dirty="0"/>
              <a:t> is not defined</a:t>
            </a:r>
          </a:p>
          <a:p>
            <a:endParaRPr lang="en-US" sz="1400" i="1" dirty="0"/>
          </a:p>
          <a:p>
            <a:r>
              <a:rPr lang="en-US" sz="1400" dirty="0"/>
              <a:t>Don't want to use the alert() box because it's disruptive and annoying? Write the output directly to the page itself with the write () method instead, as below:</a:t>
            </a:r>
          </a:p>
          <a:p>
            <a:r>
              <a:rPr lang="en-US" sz="1400" dirty="0"/>
              <a:t> </a:t>
            </a:r>
          </a:p>
          <a:p>
            <a:r>
              <a:rPr lang="en-US" sz="1400" dirty="0"/>
              <a:t>An exception occurred in the script!</a:t>
            </a:r>
            <a:br>
              <a:rPr lang="en-US" sz="1400" dirty="0"/>
            </a:br>
            <a:endParaRPr lang="en-US" sz="1400" dirty="0"/>
          </a:p>
          <a:p>
            <a:r>
              <a:rPr lang="en-US" sz="1400" dirty="0"/>
              <a:t>Error name: </a:t>
            </a:r>
            <a:r>
              <a:rPr lang="en-US" sz="1400" i="1" dirty="0" err="1"/>
              <a:t>ReferenceError</a:t>
            </a:r>
            <a:br>
              <a:rPr lang="en-US" sz="1400" dirty="0"/>
            </a:br>
            <a:endParaRPr lang="en-US" sz="1400" dirty="0"/>
          </a:p>
          <a:p>
            <a:r>
              <a:rPr lang="en-US" sz="1400" dirty="0"/>
              <a:t>Error message: '</a:t>
            </a:r>
            <a:r>
              <a:rPr lang="en-US" sz="1400" dirty="0" err="1"/>
              <a:t>colours'</a:t>
            </a:r>
            <a:r>
              <a:rPr lang="en-US" sz="1400" dirty="0"/>
              <a:t> is undefined</a:t>
            </a:r>
          </a:p>
        </p:txBody>
      </p:sp>
      <p:sp>
        <p:nvSpPr>
          <p:cNvPr id="2" name="Rectangle 1">
            <a:extLst>
              <a:ext uri="{FF2B5EF4-FFF2-40B4-BE49-F238E27FC236}">
                <a16:creationId xmlns:a16="http://schemas.microsoft.com/office/drawing/2014/main" id="{035E7EB4-DB04-4DBE-81D9-6FE4307489DA}"/>
              </a:ext>
            </a:extLst>
          </p:cNvPr>
          <p:cNvSpPr>
            <a:spLocks noChangeArrowheads="1"/>
          </p:cNvSpPr>
          <p:nvPr/>
        </p:nvSpPr>
        <p:spPr bwMode="auto">
          <a:xfrm>
            <a:off x="3886200" y="5554415"/>
            <a:ext cx="4114800" cy="1077218"/>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333333"/>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333333"/>
                </a:solidFill>
                <a:effectLst/>
                <a:latin typeface="Consolas" panose="020B0609020204030204" pitchFamily="49" charset="0"/>
              </a:rPr>
              <a:t>console</a:t>
            </a:r>
            <a:r>
              <a:rPr kumimoji="0" lang="en-US" altLang="en-US" sz="1000" b="0" i="0" u="none" strike="noStrike" cap="none" normalizeH="0" baseline="0" dirty="0">
                <a:ln>
                  <a:noFill/>
                </a:ln>
                <a:solidFill>
                  <a:srgbClr val="999999"/>
                </a:solidFill>
                <a:effectLst/>
                <a:latin typeface="Consolas" panose="020B0609020204030204" pitchFamily="49" charset="0"/>
              </a:rPr>
              <a:t>.</a:t>
            </a:r>
            <a:r>
              <a:rPr kumimoji="0" lang="en-US" altLang="en-US" sz="1000" b="0" i="0" u="none" strike="noStrike" cap="none" normalizeH="0" baseline="0" dirty="0">
                <a:ln>
                  <a:noFill/>
                </a:ln>
                <a:solidFill>
                  <a:srgbClr val="DD4A68"/>
                </a:solidFill>
                <a:effectLst/>
                <a:latin typeface="Consolas" panose="020B0609020204030204" pitchFamily="49" charset="0"/>
              </a:rPr>
              <a:t>log</a:t>
            </a:r>
            <a:r>
              <a:rPr kumimoji="0" lang="en-US" altLang="en-US" sz="1000" b="0" i="0" u="none" strike="noStrike" cap="none" normalizeH="0" baseline="0" dirty="0">
                <a:ln>
                  <a:noFill/>
                </a:ln>
                <a:solidFill>
                  <a:srgbClr val="999999"/>
                </a:solidFill>
                <a:effectLst/>
                <a:latin typeface="Consolas" panose="020B0609020204030204" pitchFamily="49" charset="0"/>
              </a:rPr>
              <a:t>(</a:t>
            </a:r>
            <a:r>
              <a:rPr kumimoji="0" lang="en-US" altLang="en-US" sz="1000" b="0" i="0" u="none" strike="noStrike" cap="none" normalizeH="0" baseline="0" dirty="0" err="1">
                <a:ln>
                  <a:noFill/>
                </a:ln>
                <a:solidFill>
                  <a:srgbClr val="333333"/>
                </a:solidFill>
                <a:effectLst/>
                <a:latin typeface="Consolas" panose="020B0609020204030204" pitchFamily="49" charset="0"/>
              </a:rPr>
              <a:t>e</a:t>
            </a:r>
            <a:r>
              <a:rPr kumimoji="0" lang="en-US" altLang="en-US" sz="1000" b="0" i="0" u="none" strike="noStrike" cap="none" normalizeH="0" baseline="0" dirty="0" err="1">
                <a:ln>
                  <a:noFill/>
                </a:ln>
                <a:solidFill>
                  <a:srgbClr val="999999"/>
                </a:solidFill>
                <a:effectLst/>
                <a:latin typeface="Consolas" panose="020B0609020204030204" pitchFamily="49" charset="0"/>
              </a:rPr>
              <a:t>.</a:t>
            </a:r>
            <a:r>
              <a:rPr kumimoji="0" lang="en-US" altLang="en-US" sz="1000" b="0" i="0" u="none" strike="noStrike" cap="none" normalizeH="0" baseline="0" dirty="0" err="1">
                <a:ln>
                  <a:noFill/>
                </a:ln>
                <a:solidFill>
                  <a:srgbClr val="333333"/>
                </a:solidFill>
                <a:effectLst/>
                <a:latin typeface="Consolas" panose="020B0609020204030204" pitchFamily="49" charset="0"/>
              </a:rPr>
              <a:t>fileName</a:t>
            </a:r>
            <a:r>
              <a:rPr kumimoji="0" lang="en-US" altLang="en-US" sz="1000" b="0" i="0" u="none" strike="noStrike" cap="none" normalizeH="0" baseline="0" dirty="0">
                <a:ln>
                  <a:noFill/>
                </a:ln>
                <a:solidFill>
                  <a:srgbClr val="999999"/>
                </a:solidFill>
                <a:effectLst/>
                <a:latin typeface="Consolas" panose="020B0609020204030204" pitchFamily="49" charset="0"/>
              </a:rPr>
              <a:t>)</a:t>
            </a:r>
            <a:r>
              <a:rPr kumimoji="0" lang="en-US" altLang="en-US" sz="1000" b="0" i="0" u="none" strike="noStrike" cap="none" normalizeH="0" baseline="0" dirty="0">
                <a:ln>
                  <a:noFill/>
                </a:ln>
                <a:solidFill>
                  <a:srgbClr val="333333"/>
                </a:solidFill>
                <a:effectLst/>
                <a:latin typeface="Consolas" panose="020B0609020204030204" pitchFamily="49" charset="0"/>
              </a:rPr>
              <a:t> </a:t>
            </a:r>
            <a:r>
              <a:rPr kumimoji="0" lang="en-US" altLang="en-US" sz="1000" b="0" i="0" u="none" strike="noStrike" cap="none" normalizeH="0" baseline="0" dirty="0">
                <a:ln>
                  <a:noFill/>
                </a:ln>
                <a:solidFill>
                  <a:srgbClr val="708090"/>
                </a:solidFill>
                <a:effectLst/>
                <a:latin typeface="Consolas" panose="020B0609020204030204" pitchFamily="49" charset="0"/>
              </a:rPr>
              <a:t>// "Scratchpad/1"</a:t>
            </a:r>
            <a:r>
              <a:rPr kumimoji="0" lang="en-US" altLang="en-US" sz="1000" b="0" i="0" u="none" strike="noStrike" cap="none" normalizeH="0" baseline="0" dirty="0">
                <a:ln>
                  <a:noFill/>
                </a:ln>
                <a:solidFill>
                  <a:srgbClr val="33333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333333"/>
                </a:solidFill>
                <a:effectLst/>
                <a:latin typeface="Consolas" panose="020B0609020204030204" pitchFamily="49" charset="0"/>
              </a:rPr>
              <a:t>console</a:t>
            </a:r>
            <a:r>
              <a:rPr kumimoji="0" lang="en-US" altLang="en-US" sz="1000" b="0" i="0" u="none" strike="noStrike" cap="none" normalizeH="0" baseline="0" dirty="0">
                <a:ln>
                  <a:noFill/>
                </a:ln>
                <a:solidFill>
                  <a:srgbClr val="999999"/>
                </a:solidFill>
                <a:effectLst/>
                <a:latin typeface="Consolas" panose="020B0609020204030204" pitchFamily="49" charset="0"/>
              </a:rPr>
              <a:t>.</a:t>
            </a:r>
            <a:r>
              <a:rPr kumimoji="0" lang="en-US" altLang="en-US" sz="1000" b="0" i="0" u="none" strike="noStrike" cap="none" normalizeH="0" baseline="0" dirty="0">
                <a:ln>
                  <a:noFill/>
                </a:ln>
                <a:solidFill>
                  <a:srgbClr val="DD4A68"/>
                </a:solidFill>
                <a:effectLst/>
                <a:latin typeface="Consolas" panose="020B0609020204030204" pitchFamily="49" charset="0"/>
              </a:rPr>
              <a:t>log</a:t>
            </a:r>
            <a:r>
              <a:rPr kumimoji="0" lang="en-US" altLang="en-US" sz="1000" b="0" i="0" u="none" strike="noStrike" cap="none" normalizeH="0" baseline="0" dirty="0">
                <a:ln>
                  <a:noFill/>
                </a:ln>
                <a:solidFill>
                  <a:srgbClr val="999999"/>
                </a:solidFill>
                <a:effectLst/>
                <a:latin typeface="Consolas" panose="020B0609020204030204" pitchFamily="49" charset="0"/>
              </a:rPr>
              <a:t>(</a:t>
            </a:r>
            <a:r>
              <a:rPr kumimoji="0" lang="en-US" altLang="en-US" sz="1000" b="0" i="0" u="none" strike="noStrike" cap="none" normalizeH="0" baseline="0" dirty="0" err="1">
                <a:ln>
                  <a:noFill/>
                </a:ln>
                <a:solidFill>
                  <a:srgbClr val="333333"/>
                </a:solidFill>
                <a:effectLst/>
                <a:latin typeface="Consolas" panose="020B0609020204030204" pitchFamily="49" charset="0"/>
              </a:rPr>
              <a:t>e</a:t>
            </a:r>
            <a:r>
              <a:rPr kumimoji="0" lang="en-US" altLang="en-US" sz="1000" b="0" i="0" u="none" strike="noStrike" cap="none" normalizeH="0" baseline="0" dirty="0" err="1">
                <a:ln>
                  <a:noFill/>
                </a:ln>
                <a:solidFill>
                  <a:srgbClr val="999999"/>
                </a:solidFill>
                <a:effectLst/>
                <a:latin typeface="Consolas" panose="020B0609020204030204" pitchFamily="49" charset="0"/>
              </a:rPr>
              <a:t>.</a:t>
            </a:r>
            <a:r>
              <a:rPr kumimoji="0" lang="en-US" altLang="en-US" sz="1000" b="0" i="0" u="none" strike="noStrike" cap="none" normalizeH="0" baseline="0" dirty="0" err="1">
                <a:ln>
                  <a:noFill/>
                </a:ln>
                <a:solidFill>
                  <a:srgbClr val="333333"/>
                </a:solidFill>
                <a:effectLst/>
                <a:latin typeface="Consolas" panose="020B0609020204030204" pitchFamily="49" charset="0"/>
              </a:rPr>
              <a:t>lineNumber</a:t>
            </a:r>
            <a:r>
              <a:rPr kumimoji="0" lang="en-US" altLang="en-US" sz="1000" b="0" i="0" u="none" strike="noStrike" cap="none" normalizeH="0" baseline="0" dirty="0">
                <a:ln>
                  <a:noFill/>
                </a:ln>
                <a:solidFill>
                  <a:srgbClr val="999999"/>
                </a:solidFill>
                <a:effectLst/>
                <a:latin typeface="Consolas" panose="020B0609020204030204" pitchFamily="49" charset="0"/>
              </a:rPr>
              <a:t>)</a:t>
            </a:r>
            <a:r>
              <a:rPr kumimoji="0" lang="en-US" altLang="en-US" sz="1000" b="0" i="0" u="none" strike="noStrike" cap="none" normalizeH="0" baseline="0" dirty="0">
                <a:ln>
                  <a:noFill/>
                </a:ln>
                <a:solidFill>
                  <a:srgbClr val="333333"/>
                </a:solidFill>
                <a:effectLst/>
                <a:latin typeface="Consolas" panose="020B0609020204030204" pitchFamily="49" charset="0"/>
              </a:rPr>
              <a:t> </a:t>
            </a:r>
            <a:r>
              <a:rPr kumimoji="0" lang="en-US" altLang="en-US" sz="1000" b="0" i="0" u="none" strike="noStrike" cap="none" normalizeH="0" baseline="0" dirty="0">
                <a:ln>
                  <a:noFill/>
                </a:ln>
                <a:solidFill>
                  <a:srgbClr val="708090"/>
                </a:solidFill>
                <a:effectLst/>
                <a:latin typeface="Consolas" panose="020B0609020204030204" pitchFamily="49" charset="0"/>
              </a:rPr>
              <a:t>// 2</a:t>
            </a:r>
            <a:r>
              <a:rPr kumimoji="0" lang="en-US" altLang="en-US" sz="1000" b="0" i="0" u="none" strike="noStrike" cap="none" normalizeH="0" baseline="0" dirty="0">
                <a:ln>
                  <a:noFill/>
                </a:ln>
                <a:solidFill>
                  <a:srgbClr val="33333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333333"/>
                </a:solidFill>
                <a:effectLst/>
                <a:latin typeface="Consolas" panose="020B0609020204030204" pitchFamily="49" charset="0"/>
              </a:rPr>
              <a:t>console</a:t>
            </a:r>
            <a:r>
              <a:rPr kumimoji="0" lang="en-US" altLang="en-US" sz="1000" b="0" i="0" u="none" strike="noStrike" cap="none" normalizeH="0" baseline="0" dirty="0">
                <a:ln>
                  <a:noFill/>
                </a:ln>
                <a:solidFill>
                  <a:srgbClr val="999999"/>
                </a:solidFill>
                <a:effectLst/>
                <a:latin typeface="Consolas" panose="020B0609020204030204" pitchFamily="49" charset="0"/>
              </a:rPr>
              <a:t>.</a:t>
            </a:r>
            <a:r>
              <a:rPr kumimoji="0" lang="en-US" altLang="en-US" sz="1000" b="0" i="0" u="none" strike="noStrike" cap="none" normalizeH="0" baseline="0" dirty="0">
                <a:ln>
                  <a:noFill/>
                </a:ln>
                <a:solidFill>
                  <a:srgbClr val="DD4A68"/>
                </a:solidFill>
                <a:effectLst/>
                <a:latin typeface="Consolas" panose="020B0609020204030204" pitchFamily="49" charset="0"/>
              </a:rPr>
              <a:t>log</a:t>
            </a:r>
            <a:r>
              <a:rPr kumimoji="0" lang="en-US" altLang="en-US" sz="1000" b="0" i="0" u="none" strike="noStrike" cap="none" normalizeH="0" baseline="0" dirty="0">
                <a:ln>
                  <a:noFill/>
                </a:ln>
                <a:solidFill>
                  <a:srgbClr val="999999"/>
                </a:solidFill>
                <a:effectLst/>
                <a:latin typeface="Consolas" panose="020B0609020204030204" pitchFamily="49" charset="0"/>
              </a:rPr>
              <a:t>(</a:t>
            </a:r>
            <a:r>
              <a:rPr kumimoji="0" lang="en-US" altLang="en-US" sz="1000" b="0" i="0" u="none" strike="noStrike" cap="none" normalizeH="0" baseline="0" dirty="0" err="1">
                <a:ln>
                  <a:noFill/>
                </a:ln>
                <a:solidFill>
                  <a:srgbClr val="333333"/>
                </a:solidFill>
                <a:effectLst/>
                <a:latin typeface="Consolas" panose="020B0609020204030204" pitchFamily="49" charset="0"/>
              </a:rPr>
              <a:t>e</a:t>
            </a:r>
            <a:r>
              <a:rPr kumimoji="0" lang="en-US" altLang="en-US" sz="1000" b="0" i="0" u="none" strike="noStrike" cap="none" normalizeH="0" baseline="0" dirty="0" err="1">
                <a:ln>
                  <a:noFill/>
                </a:ln>
                <a:solidFill>
                  <a:srgbClr val="999999"/>
                </a:solidFill>
                <a:effectLst/>
                <a:latin typeface="Consolas" panose="020B0609020204030204" pitchFamily="49" charset="0"/>
              </a:rPr>
              <a:t>.</a:t>
            </a:r>
            <a:r>
              <a:rPr kumimoji="0" lang="en-US" altLang="en-US" sz="1000" b="0" i="0" u="none" strike="noStrike" cap="none" normalizeH="0" baseline="0" dirty="0" err="1">
                <a:ln>
                  <a:noFill/>
                </a:ln>
                <a:solidFill>
                  <a:srgbClr val="333333"/>
                </a:solidFill>
                <a:effectLst/>
                <a:latin typeface="Consolas" panose="020B0609020204030204" pitchFamily="49" charset="0"/>
              </a:rPr>
              <a:t>columnNumber</a:t>
            </a:r>
            <a:r>
              <a:rPr kumimoji="0" lang="en-US" altLang="en-US" sz="1000" b="0" i="0" u="none" strike="noStrike" cap="none" normalizeH="0" baseline="0" dirty="0">
                <a:ln>
                  <a:noFill/>
                </a:ln>
                <a:solidFill>
                  <a:srgbClr val="999999"/>
                </a:solidFill>
                <a:effectLst/>
                <a:latin typeface="Consolas" panose="020B0609020204030204" pitchFamily="49" charset="0"/>
              </a:rPr>
              <a:t>)</a:t>
            </a:r>
            <a:r>
              <a:rPr kumimoji="0" lang="en-US" altLang="en-US" sz="1000" b="0" i="0" u="none" strike="noStrike" cap="none" normalizeH="0" baseline="0" dirty="0">
                <a:ln>
                  <a:noFill/>
                </a:ln>
                <a:solidFill>
                  <a:srgbClr val="333333"/>
                </a:solidFill>
                <a:effectLst/>
                <a:latin typeface="Consolas" panose="020B0609020204030204" pitchFamily="49" charset="0"/>
              </a:rPr>
              <a:t> </a:t>
            </a:r>
            <a:r>
              <a:rPr kumimoji="0" lang="en-US" altLang="en-US" sz="1000" b="0" i="0" u="none" strike="noStrike" cap="none" normalizeH="0" baseline="0" dirty="0">
                <a:ln>
                  <a:noFill/>
                </a:ln>
                <a:solidFill>
                  <a:srgbClr val="708090"/>
                </a:solidFill>
                <a:effectLst/>
                <a:latin typeface="Consolas" panose="020B0609020204030204" pitchFamily="49" charset="0"/>
              </a:rPr>
              <a:t>// 2</a:t>
            </a:r>
            <a:r>
              <a:rPr kumimoji="0" lang="en-US" altLang="en-US" sz="1000" b="0" i="0" u="none" strike="noStrike" cap="none" normalizeH="0" baseline="0" dirty="0">
                <a:ln>
                  <a:noFill/>
                </a:ln>
                <a:solidFill>
                  <a:srgbClr val="33333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333333"/>
                </a:solidFill>
                <a:effectLst/>
                <a:latin typeface="Consolas" panose="020B0609020204030204" pitchFamily="49" charset="0"/>
              </a:rPr>
              <a:t>console</a:t>
            </a:r>
            <a:r>
              <a:rPr kumimoji="0" lang="en-US" altLang="en-US" sz="1000" b="0" i="0" u="none" strike="noStrike" cap="none" normalizeH="0" baseline="0" dirty="0">
                <a:ln>
                  <a:noFill/>
                </a:ln>
                <a:solidFill>
                  <a:srgbClr val="999999"/>
                </a:solidFill>
                <a:effectLst/>
                <a:latin typeface="Consolas" panose="020B0609020204030204" pitchFamily="49" charset="0"/>
              </a:rPr>
              <a:t>.</a:t>
            </a:r>
            <a:r>
              <a:rPr kumimoji="0" lang="en-US" altLang="en-US" sz="1000" b="0" i="0" u="none" strike="noStrike" cap="none" normalizeH="0" baseline="0" dirty="0">
                <a:ln>
                  <a:noFill/>
                </a:ln>
                <a:solidFill>
                  <a:srgbClr val="DD4A68"/>
                </a:solidFill>
                <a:effectLst/>
                <a:latin typeface="Consolas" panose="020B0609020204030204" pitchFamily="49" charset="0"/>
              </a:rPr>
              <a:t>log</a:t>
            </a:r>
            <a:r>
              <a:rPr kumimoji="0" lang="en-US" altLang="en-US" sz="1000" b="0" i="0" u="none" strike="noStrike" cap="none" normalizeH="0" baseline="0" dirty="0">
                <a:ln>
                  <a:noFill/>
                </a:ln>
                <a:solidFill>
                  <a:srgbClr val="999999"/>
                </a:solidFill>
                <a:effectLst/>
                <a:latin typeface="Consolas" panose="020B0609020204030204" pitchFamily="49" charset="0"/>
              </a:rPr>
              <a:t>(</a:t>
            </a:r>
            <a:r>
              <a:rPr kumimoji="0" lang="en-US" altLang="en-US" sz="1000" b="0" i="0" u="none" strike="noStrike" cap="none" normalizeH="0" baseline="0" dirty="0" err="1">
                <a:ln>
                  <a:noFill/>
                </a:ln>
                <a:solidFill>
                  <a:srgbClr val="333333"/>
                </a:solidFill>
                <a:effectLst/>
                <a:latin typeface="Consolas" panose="020B0609020204030204" pitchFamily="49" charset="0"/>
              </a:rPr>
              <a:t>e</a:t>
            </a:r>
            <a:r>
              <a:rPr kumimoji="0" lang="en-US" altLang="en-US" sz="1000" b="0" i="0" u="none" strike="noStrike" cap="none" normalizeH="0" baseline="0" dirty="0" err="1">
                <a:ln>
                  <a:noFill/>
                </a:ln>
                <a:solidFill>
                  <a:srgbClr val="999999"/>
                </a:solidFill>
                <a:effectLst/>
                <a:latin typeface="Consolas" panose="020B0609020204030204" pitchFamily="49" charset="0"/>
              </a:rPr>
              <a:t>.</a:t>
            </a:r>
            <a:r>
              <a:rPr kumimoji="0" lang="en-US" altLang="en-US" sz="1000" b="0" i="0" u="none" strike="noStrike" cap="none" normalizeH="0" baseline="0" dirty="0" err="1">
                <a:ln>
                  <a:noFill/>
                </a:ln>
                <a:solidFill>
                  <a:srgbClr val="333333"/>
                </a:solidFill>
                <a:effectLst/>
                <a:latin typeface="Consolas" panose="020B0609020204030204" pitchFamily="49" charset="0"/>
              </a:rPr>
              <a:t>stack</a:t>
            </a:r>
            <a:r>
              <a:rPr kumimoji="0" lang="en-US" altLang="en-US" sz="1000" b="0" i="0" u="none" strike="noStrike" cap="none" normalizeH="0" baseline="0" dirty="0">
                <a:ln>
                  <a:noFill/>
                </a:ln>
                <a:solidFill>
                  <a:srgbClr val="999999"/>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00" dirty="0">
              <a:solidFill>
                <a:srgbClr val="999999"/>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333333"/>
                </a:solidFill>
                <a:effectLst/>
                <a:latin typeface="Consolas" panose="020B0609020204030204" pitchFamily="49"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0"/>
            <a:ext cx="7162800" cy="461665"/>
          </a:xfrm>
          <a:prstGeom prst="rect">
            <a:avLst/>
          </a:prstGeom>
          <a:noFill/>
        </p:spPr>
        <p:txBody>
          <a:bodyPr wrap="square" rtlCol="0">
            <a:spAutoFit/>
          </a:bodyPr>
          <a:lstStyle/>
          <a:p>
            <a:r>
              <a:rPr lang="en-US" sz="2400" dirty="0"/>
              <a:t>Introducing try ……  catch </a:t>
            </a:r>
          </a:p>
        </p:txBody>
      </p:sp>
      <p:sp>
        <p:nvSpPr>
          <p:cNvPr id="3" name="TextBox 2"/>
          <p:cNvSpPr txBox="1"/>
          <p:nvPr/>
        </p:nvSpPr>
        <p:spPr>
          <a:xfrm>
            <a:off x="228600" y="609600"/>
            <a:ext cx="8382000" cy="5478423"/>
          </a:xfrm>
          <a:prstGeom prst="rect">
            <a:avLst/>
          </a:prstGeom>
          <a:noFill/>
        </p:spPr>
        <p:txBody>
          <a:bodyPr wrap="square" rtlCol="0">
            <a:spAutoFit/>
          </a:bodyPr>
          <a:lstStyle/>
          <a:p>
            <a:r>
              <a:rPr lang="en-US" sz="1400" dirty="0"/>
              <a:t>It's also possible to write an exception handler to ignore all errors generated in your script - the following example demonstrates:</a:t>
            </a:r>
          </a:p>
          <a:p>
            <a:r>
              <a:rPr lang="en-US" sz="1400" dirty="0"/>
              <a:t> </a:t>
            </a:r>
          </a:p>
          <a:p>
            <a:r>
              <a:rPr lang="en-US" sz="1400" b="0" dirty="0">
                <a:solidFill>
                  <a:srgbClr val="800000"/>
                </a:solidFill>
                <a:effectLst/>
                <a:latin typeface="Consolas" panose="020B0609020204030204" pitchFamily="49" charset="0"/>
              </a:rPr>
              <a:t>&lt;script</a:t>
            </a:r>
            <a:r>
              <a:rPr lang="en-US" sz="1400" b="0" dirty="0">
                <a:solidFill>
                  <a:srgbClr val="000000"/>
                </a:solidFill>
                <a:effectLst/>
                <a:latin typeface="Consolas" panose="020B0609020204030204" pitchFamily="49" charset="0"/>
              </a:rPr>
              <a:t> </a:t>
            </a:r>
            <a:r>
              <a:rPr lang="en-US" sz="1400" b="0" dirty="0">
                <a:solidFill>
                  <a:srgbClr val="FF0000"/>
                </a:solidFill>
                <a:effectLst/>
                <a:latin typeface="Consolas" panose="020B0609020204030204" pitchFamily="49" charset="0"/>
              </a:rPr>
              <a:t>language</a:t>
            </a:r>
            <a:r>
              <a:rPr lang="en-US" sz="1400" b="0" dirty="0">
                <a:solidFill>
                  <a:srgbClr val="000000"/>
                </a:solidFill>
                <a:effectLst/>
                <a:latin typeface="Consolas" panose="020B0609020204030204" pitchFamily="49" charset="0"/>
              </a:rPr>
              <a:t>=</a:t>
            </a:r>
            <a:r>
              <a:rPr lang="en-US" sz="1400" b="0" dirty="0">
                <a:solidFill>
                  <a:srgbClr val="0000FF"/>
                </a:solidFill>
                <a:effectLst/>
                <a:latin typeface="Consolas" panose="020B0609020204030204" pitchFamily="49" charset="0"/>
              </a:rPr>
              <a:t>"JavaScript"</a:t>
            </a:r>
            <a:r>
              <a:rPr lang="en-US" sz="1400" b="0" dirty="0">
                <a:solidFill>
                  <a:srgbClr val="800000"/>
                </a:solidFill>
                <a:effectLst/>
                <a:latin typeface="Consolas" panose="020B0609020204030204" pitchFamily="49" charset="0"/>
              </a:rPr>
              <a:t>&gt;</a:t>
            </a:r>
            <a:endParaRPr lang="en-US" sz="1400" b="0" dirty="0">
              <a:solidFill>
                <a:srgbClr val="000000"/>
              </a:solidFill>
              <a:effectLst/>
              <a:latin typeface="Consolas" panose="020B0609020204030204" pitchFamily="49" charset="0"/>
            </a:endParaRPr>
          </a:p>
          <a:p>
            <a:r>
              <a:rPr lang="en-US" sz="1400" b="0" dirty="0">
                <a:solidFill>
                  <a:srgbClr val="AF00DB"/>
                </a:solidFill>
                <a:effectLst/>
                <a:latin typeface="Consolas" panose="020B0609020204030204" pitchFamily="49" charset="0"/>
              </a:rPr>
              <a:t>try</a:t>
            </a:r>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008000"/>
                </a:solidFill>
                <a:effectLst/>
                <a:latin typeface="Consolas" panose="020B0609020204030204" pitchFamily="49" charset="0"/>
              </a:rPr>
              <a:t>// generate an error</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    </a:t>
            </a:r>
            <a:r>
              <a:rPr lang="en-US" sz="1400" b="0" dirty="0">
                <a:solidFill>
                  <a:srgbClr val="795E26"/>
                </a:solidFill>
                <a:effectLst/>
                <a:latin typeface="Consolas" panose="020B0609020204030204" pitchFamily="49" charset="0"/>
              </a:rPr>
              <a:t>eval</a:t>
            </a:r>
            <a:r>
              <a:rPr lang="en-US" sz="1400" b="0" dirty="0">
                <a:solidFill>
                  <a:srgbClr val="000000"/>
                </a:solidFill>
                <a:effectLst/>
                <a:latin typeface="Consolas" panose="020B0609020204030204" pitchFamily="49" charset="0"/>
              </a:rPr>
              <a:t>(</a:t>
            </a:r>
            <a:r>
              <a:rPr lang="en-US" sz="1400" b="0" dirty="0">
                <a:solidFill>
                  <a:srgbClr val="A31515"/>
                </a:solidFill>
                <a:effectLst/>
                <a:latin typeface="Consolas" panose="020B0609020204030204" pitchFamily="49" charset="0"/>
              </a:rPr>
              <a:t>"some gibberish"</a:t>
            </a:r>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 </a:t>
            </a:r>
          </a:p>
          <a:p>
            <a:r>
              <a:rPr lang="en-US" sz="1400" b="0" dirty="0">
                <a:solidFill>
                  <a:srgbClr val="AF00DB"/>
                </a:solidFill>
                <a:effectLst/>
                <a:latin typeface="Consolas" panose="020B0609020204030204" pitchFamily="49" charset="0"/>
              </a:rPr>
              <a:t>catch</a:t>
            </a:r>
            <a:r>
              <a:rPr lang="en-US" sz="1400" b="0" dirty="0">
                <a:solidFill>
                  <a:srgbClr val="000000"/>
                </a:solidFill>
                <a:effectLst/>
                <a:latin typeface="Consolas" panose="020B0609020204030204" pitchFamily="49" charset="0"/>
              </a:rPr>
              <a:t> (</a:t>
            </a:r>
            <a:r>
              <a:rPr lang="en-US" sz="1400" b="0" dirty="0">
                <a:solidFill>
                  <a:srgbClr val="001080"/>
                </a:solidFill>
                <a:effectLst/>
                <a:latin typeface="Consolas" panose="020B0609020204030204" pitchFamily="49" charset="0"/>
              </a:rPr>
              <a:t>e</a:t>
            </a:r>
            <a:r>
              <a:rPr lang="en-US" sz="1400" b="0" dirty="0">
                <a:solidFill>
                  <a:srgbClr val="000000"/>
                </a:solidFill>
                <a:effectLst/>
                <a:latin typeface="Consolas" panose="020B0609020204030204" pitchFamily="49" charset="0"/>
              </a:rPr>
              <a:t>) </a:t>
            </a:r>
          </a:p>
          <a:p>
            <a:r>
              <a:rPr lang="en-US" sz="1400" b="0" dirty="0">
                <a:solidFill>
                  <a:srgbClr val="000000"/>
                </a:solidFill>
                <a:effectLst/>
                <a:latin typeface="Consolas" panose="020B0609020204030204" pitchFamily="49" charset="0"/>
              </a:rPr>
              <a:t>{</a:t>
            </a:r>
          </a:p>
          <a:p>
            <a:r>
              <a:rPr lang="en-US" sz="1400" b="0" dirty="0">
                <a:solidFill>
                  <a:srgbClr val="000000"/>
                </a:solidFill>
                <a:effectLst/>
                <a:latin typeface="Consolas" panose="020B0609020204030204" pitchFamily="49" charset="0"/>
              </a:rPr>
              <a:t>    </a:t>
            </a:r>
            <a:r>
              <a:rPr lang="en-US" sz="1400" b="0" dirty="0">
                <a:solidFill>
                  <a:srgbClr val="008000"/>
                </a:solidFill>
                <a:effectLst/>
                <a:latin typeface="Consolas" panose="020B0609020204030204" pitchFamily="49" charset="0"/>
              </a:rPr>
              <a:t>// ignore it</a:t>
            </a:r>
            <a:endParaRPr lang="en-US" sz="1400" b="0" dirty="0">
              <a:solidFill>
                <a:srgbClr val="000000"/>
              </a:solidFill>
              <a:effectLst/>
              <a:latin typeface="Consolas" panose="020B0609020204030204" pitchFamily="49" charset="0"/>
            </a:endParaRPr>
          </a:p>
          <a:p>
            <a:r>
              <a:rPr lang="en-US" sz="1400" b="0" dirty="0">
                <a:solidFill>
                  <a:srgbClr val="000000"/>
                </a:solidFill>
                <a:effectLst/>
                <a:latin typeface="Consolas" panose="020B0609020204030204" pitchFamily="49" charset="0"/>
              </a:rPr>
              <a:t>}</a:t>
            </a:r>
          </a:p>
          <a:p>
            <a:r>
              <a:rPr lang="en-US" sz="1400" b="0" dirty="0">
                <a:solidFill>
                  <a:srgbClr val="800000"/>
                </a:solidFill>
                <a:effectLst/>
                <a:latin typeface="Consolas" panose="020B0609020204030204" pitchFamily="49" charset="0"/>
              </a:rPr>
              <a:t>&lt;/script&gt;</a:t>
            </a:r>
            <a:endParaRPr lang="en-US" sz="1400" b="0" dirty="0">
              <a:solidFill>
                <a:srgbClr val="000000"/>
              </a:solidFill>
              <a:effectLst/>
              <a:latin typeface="Consolas" panose="020B0609020204030204" pitchFamily="49" charset="0"/>
            </a:endParaRPr>
          </a:p>
          <a:p>
            <a:br>
              <a:rPr lang="en-US" sz="1400" b="0" dirty="0">
                <a:solidFill>
                  <a:srgbClr val="000000"/>
                </a:solidFill>
                <a:effectLst/>
                <a:latin typeface="Consolas" panose="020B0609020204030204" pitchFamily="49" charset="0"/>
              </a:rPr>
            </a:br>
            <a:endParaRPr lang="en-US" sz="1400" b="0" dirty="0">
              <a:solidFill>
                <a:srgbClr val="000000"/>
              </a:solidFill>
              <a:effectLst/>
              <a:latin typeface="Consolas" panose="020B0609020204030204" pitchFamily="49" charset="0"/>
            </a:endParaRPr>
          </a:p>
          <a:p>
            <a:endParaRPr lang="en-US" sz="1400" dirty="0"/>
          </a:p>
          <a:p>
            <a:r>
              <a:rPr lang="en-US" sz="1400" dirty="0"/>
              <a:t>In this case, it doesn't matter what type of exception JavaScript generates</a:t>
            </a:r>
          </a:p>
          <a:p>
            <a:br>
              <a:rPr lang="en-US" sz="1400" dirty="0"/>
            </a:br>
            <a:r>
              <a:rPr lang="en-US" sz="1400" dirty="0"/>
              <a:t>- the generic handler will catch it, ignore it and continue to process the rest of the script.</a:t>
            </a:r>
          </a:p>
          <a:p>
            <a:endParaRPr lang="en-US" sz="1400" dirty="0"/>
          </a:p>
          <a:p>
            <a:r>
              <a:rPr lang="en-US" sz="1400" dirty="0"/>
              <a:t>It should be noted, however, that this approach, although extremely simple, is *not* recommended for general use. It is poor programming practice to trap all errors, regardless of type, and ignore them; it is far better - and more professional - to anticipate the likely errors ahead of time, and use the "try-catch" construct to isolate and resolve them.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0" y="118675"/>
            <a:ext cx="7162800" cy="461665"/>
          </a:xfrm>
          <a:prstGeom prst="rect">
            <a:avLst/>
          </a:prstGeom>
          <a:noFill/>
        </p:spPr>
        <p:txBody>
          <a:bodyPr wrap="square" rtlCol="0">
            <a:spAutoFit/>
          </a:bodyPr>
          <a:lstStyle/>
          <a:p>
            <a:r>
              <a:rPr lang="en-US" sz="2400" dirty="0"/>
              <a:t>Introducing try ……  catch </a:t>
            </a:r>
          </a:p>
        </p:txBody>
      </p:sp>
      <p:sp>
        <p:nvSpPr>
          <p:cNvPr id="3" name="TextBox 2"/>
          <p:cNvSpPr txBox="1"/>
          <p:nvPr/>
        </p:nvSpPr>
        <p:spPr>
          <a:xfrm>
            <a:off x="304800" y="685800"/>
            <a:ext cx="8077200" cy="4832092"/>
          </a:xfrm>
          <a:prstGeom prst="rect">
            <a:avLst/>
          </a:prstGeom>
          <a:noFill/>
        </p:spPr>
        <p:txBody>
          <a:bodyPr wrap="square" rtlCol="0">
            <a:spAutoFit/>
          </a:bodyPr>
          <a:lstStyle/>
          <a:p>
            <a:r>
              <a:rPr lang="en-US" sz="1400" dirty="0"/>
              <a:t>You can also write specific exception handlers for different types of exceptions, by using an "if" test to check the exception type within the "catch" block. Consider the following handler, which only handles </a:t>
            </a:r>
            <a:r>
              <a:rPr lang="en-US" sz="1400" dirty="0" err="1"/>
              <a:t>TypeError</a:t>
            </a:r>
            <a:r>
              <a:rPr lang="en-US" sz="1400" dirty="0"/>
              <a:t> exceptions:</a:t>
            </a:r>
          </a:p>
          <a:p>
            <a:endParaRPr lang="en-US" sz="1400" dirty="0"/>
          </a:p>
          <a:p>
            <a:r>
              <a:rPr lang="en-IN" sz="1400" b="0" dirty="0">
                <a:solidFill>
                  <a:srgbClr val="800000"/>
                </a:solidFill>
                <a:effectLst/>
                <a:latin typeface="Consolas" panose="020B0609020204030204" pitchFamily="49" charset="0"/>
              </a:rPr>
              <a:t>&lt;script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language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"JavaScript"</a:t>
            </a:r>
            <a:r>
              <a:rPr lang="en-IN" sz="1400" b="0" dirty="0">
                <a:solidFill>
                  <a:srgbClr val="800000"/>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p>
          <a:p>
            <a:r>
              <a:rPr lang="en-IN" sz="1400" b="0" dirty="0">
                <a:solidFill>
                  <a:srgbClr val="AF00DB"/>
                </a:solidFill>
                <a:effectLst/>
                <a:latin typeface="Consolas" panose="020B0609020204030204" pitchFamily="49" charset="0"/>
              </a:rPr>
              <a:t>try</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colours</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2</a:t>
            </a:r>
            <a:r>
              <a:rPr lang="en-IN" sz="1400" b="0" dirty="0">
                <a:solidFill>
                  <a:srgbClr val="000000"/>
                </a:solidFill>
                <a:effectLst/>
                <a:latin typeface="Consolas" panose="020B0609020204030204" pitchFamily="49" charset="0"/>
              </a:rPr>
              <a:t>] = </a:t>
            </a:r>
            <a:r>
              <a:rPr lang="en-IN" sz="1400" b="0" dirty="0">
                <a:solidFill>
                  <a:srgbClr val="A31515"/>
                </a:solidFill>
                <a:effectLst/>
                <a:latin typeface="Consolas" panose="020B0609020204030204" pitchFamily="49" charset="0"/>
              </a:rPr>
              <a:t>"red"</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p>
          <a:p>
            <a:r>
              <a:rPr lang="en-IN" sz="1400" b="0" dirty="0">
                <a:solidFill>
                  <a:srgbClr val="AF00DB"/>
                </a:solidFill>
                <a:effectLst/>
                <a:latin typeface="Consolas" panose="020B0609020204030204" pitchFamily="49" charset="0"/>
              </a:rPr>
              <a:t>catch</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e</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if</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e</a:t>
            </a:r>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instanceof</a:t>
            </a:r>
            <a:r>
              <a:rPr lang="en-IN" sz="1400" b="0" dirty="0">
                <a:solidFill>
                  <a:srgbClr val="000000"/>
                </a:solidFill>
                <a:effectLst/>
                <a:latin typeface="Consolas" panose="020B0609020204030204" pitchFamily="49" charset="0"/>
              </a:rPr>
              <a:t> </a:t>
            </a:r>
            <a:r>
              <a:rPr lang="en-IN" sz="1400" b="0" dirty="0" err="1">
                <a:solidFill>
                  <a:srgbClr val="267F99"/>
                </a:solidFill>
                <a:effectLst/>
                <a:latin typeface="Consolas" panose="020B0609020204030204" pitchFamily="49" charset="0"/>
              </a:rPr>
              <a:t>ReferenceError</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alert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"Bad or undefined variable!"</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a:t>
            </a:r>
          </a:p>
          <a:p>
            <a:r>
              <a:rPr lang="en-IN" sz="1400" b="0" dirty="0">
                <a:solidFill>
                  <a:srgbClr val="800000"/>
                </a:solidFill>
                <a:effectLst/>
                <a:latin typeface="Consolas" panose="020B0609020204030204" pitchFamily="49" charset="0"/>
              </a:rPr>
              <a:t>&lt;/script&gt;</a:t>
            </a:r>
            <a:endParaRPr lang="en-IN" sz="1400" b="0" dirty="0">
              <a:solidFill>
                <a:srgbClr val="000000"/>
              </a:solidFill>
              <a:effectLst/>
              <a:latin typeface="Consolas" panose="020B0609020204030204" pitchFamily="49" charset="0"/>
            </a:endParaRPr>
          </a:p>
          <a:p>
            <a:br>
              <a:rPr lang="en-IN" sz="1400" b="0" dirty="0">
                <a:solidFill>
                  <a:srgbClr val="000000"/>
                </a:solidFill>
                <a:effectLst/>
                <a:latin typeface="Consolas" panose="020B0609020204030204" pitchFamily="49" charset="0"/>
              </a:rPr>
            </a:br>
            <a:endParaRPr lang="en-IN" sz="1400" b="0" dirty="0">
              <a:solidFill>
                <a:srgbClr val="000000"/>
              </a:solidFill>
              <a:effectLst/>
              <a:latin typeface="Consolas" panose="020B0609020204030204" pitchFamily="49" charset="0"/>
            </a:endParaRPr>
          </a:p>
          <a:p>
            <a:endParaRPr lang="en-US" sz="1400" dirty="0"/>
          </a:p>
          <a:p>
            <a:r>
              <a:rPr lang="en-US" sz="1400" b="1" dirty="0"/>
              <a:t>Here's the output:</a:t>
            </a:r>
          </a:p>
          <a:p>
            <a:r>
              <a:rPr lang="en-US" sz="1400" i="1" dirty="0"/>
              <a:t>Bad or undefined variable!</a:t>
            </a:r>
            <a:r>
              <a:rPr lang="en-US" sz="1400" dirty="0"/>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5800" y="838200"/>
            <a:ext cx="7162800" cy="461665"/>
          </a:xfrm>
          <a:prstGeom prst="rect">
            <a:avLst/>
          </a:prstGeom>
          <a:noFill/>
        </p:spPr>
        <p:txBody>
          <a:bodyPr wrap="square" rtlCol="0">
            <a:spAutoFit/>
          </a:bodyPr>
          <a:lstStyle/>
          <a:p>
            <a:r>
              <a:rPr lang="en-US" sz="2400" dirty="0"/>
              <a:t>Error Types…….</a:t>
            </a:r>
          </a:p>
        </p:txBody>
      </p:sp>
      <p:sp>
        <p:nvSpPr>
          <p:cNvPr id="3" name="TextBox 2"/>
          <p:cNvSpPr txBox="1"/>
          <p:nvPr/>
        </p:nvSpPr>
        <p:spPr>
          <a:xfrm>
            <a:off x="457200" y="1676400"/>
            <a:ext cx="8077200" cy="2893100"/>
          </a:xfrm>
          <a:prstGeom prst="rect">
            <a:avLst/>
          </a:prstGeom>
          <a:noFill/>
        </p:spPr>
        <p:txBody>
          <a:bodyPr wrap="square" rtlCol="0">
            <a:spAutoFit/>
          </a:bodyPr>
          <a:lstStyle/>
          <a:p>
            <a:r>
              <a:rPr lang="en-US" sz="1400" dirty="0"/>
              <a:t>The JavaScript 1.5 specification defines six primary error types, as follows:</a:t>
            </a:r>
          </a:p>
          <a:p>
            <a:endParaRPr lang="en-US" sz="1400" dirty="0"/>
          </a:p>
          <a:p>
            <a:r>
              <a:rPr lang="en-US" sz="1400" dirty="0" err="1"/>
              <a:t>EvalError</a:t>
            </a:r>
            <a:r>
              <a:rPr lang="en-US" sz="1400" dirty="0"/>
              <a:t> - raised when the </a:t>
            </a:r>
            <a:r>
              <a:rPr lang="en-US" sz="1400" dirty="0" err="1"/>
              <a:t>eval</a:t>
            </a:r>
            <a:r>
              <a:rPr lang="en-US" sz="1400" dirty="0"/>
              <a:t>() functions is used in an incorrect manner;</a:t>
            </a:r>
          </a:p>
          <a:p>
            <a:endParaRPr lang="en-US" sz="1400" dirty="0"/>
          </a:p>
          <a:p>
            <a:r>
              <a:rPr lang="en-US" sz="1400" dirty="0" err="1"/>
              <a:t>RangeError</a:t>
            </a:r>
            <a:r>
              <a:rPr lang="en-US" sz="1400" dirty="0"/>
              <a:t> - raised when a numeric variable exceeds its allowed range;</a:t>
            </a:r>
          </a:p>
          <a:p>
            <a:endParaRPr lang="en-US" sz="1400" dirty="0"/>
          </a:p>
          <a:p>
            <a:r>
              <a:rPr lang="en-US" sz="1400" dirty="0" err="1"/>
              <a:t>ReferenceError</a:t>
            </a:r>
            <a:r>
              <a:rPr lang="en-US" sz="1400" dirty="0"/>
              <a:t> - raised when an invalid reference is used;</a:t>
            </a:r>
          </a:p>
          <a:p>
            <a:endParaRPr lang="en-US" sz="1400" dirty="0"/>
          </a:p>
          <a:p>
            <a:r>
              <a:rPr lang="en-US" sz="1400" dirty="0" err="1"/>
              <a:t>SyntaxError</a:t>
            </a:r>
            <a:r>
              <a:rPr lang="en-US" sz="1400" dirty="0"/>
              <a:t> - raised when a syntax error occurs while parsing JavaScript code;</a:t>
            </a:r>
          </a:p>
          <a:p>
            <a:endParaRPr lang="en-US" sz="1400" dirty="0"/>
          </a:p>
          <a:p>
            <a:r>
              <a:rPr lang="en-US" sz="1400" dirty="0" err="1"/>
              <a:t>TypeError</a:t>
            </a:r>
            <a:r>
              <a:rPr lang="en-US" sz="1400" dirty="0"/>
              <a:t> - raised when the type of a variable is not as expected;</a:t>
            </a:r>
          </a:p>
          <a:p>
            <a:endParaRPr lang="en-US" sz="1400" dirty="0"/>
          </a:p>
          <a:p>
            <a:r>
              <a:rPr lang="en-US" sz="1400" dirty="0" err="1"/>
              <a:t>URIError</a:t>
            </a:r>
            <a:r>
              <a:rPr lang="en-US" sz="1400" dirty="0"/>
              <a:t> - raised when the </a:t>
            </a:r>
            <a:r>
              <a:rPr lang="en-US" sz="1400" dirty="0" err="1"/>
              <a:t>encodeURI</a:t>
            </a:r>
            <a:r>
              <a:rPr lang="en-US" sz="1400" dirty="0"/>
              <a:t>() or </a:t>
            </a:r>
            <a:r>
              <a:rPr lang="en-US" sz="1400" dirty="0" err="1"/>
              <a:t>decodeURI</a:t>
            </a:r>
            <a:r>
              <a:rPr lang="en-US" sz="1400" dirty="0"/>
              <a:t>() functions are used in an incorrect manner;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5800" y="838200"/>
            <a:ext cx="7162800" cy="461665"/>
          </a:xfrm>
          <a:prstGeom prst="rect">
            <a:avLst/>
          </a:prstGeom>
          <a:noFill/>
        </p:spPr>
        <p:txBody>
          <a:bodyPr wrap="square" rtlCol="0">
            <a:spAutoFit/>
          </a:bodyPr>
          <a:lstStyle/>
          <a:p>
            <a:r>
              <a:rPr lang="en-US" sz="2400" dirty="0"/>
              <a:t>Handling Multiple Exceptions</a:t>
            </a:r>
          </a:p>
        </p:txBody>
      </p:sp>
      <p:sp>
        <p:nvSpPr>
          <p:cNvPr id="3" name="TextBox 2"/>
          <p:cNvSpPr txBox="1"/>
          <p:nvPr/>
        </p:nvSpPr>
        <p:spPr>
          <a:xfrm>
            <a:off x="457200" y="1676400"/>
            <a:ext cx="8077200" cy="4616648"/>
          </a:xfrm>
          <a:prstGeom prst="rect">
            <a:avLst/>
          </a:prstGeom>
          <a:noFill/>
        </p:spPr>
        <p:txBody>
          <a:bodyPr wrap="square" rtlCol="0">
            <a:spAutoFit/>
          </a:bodyPr>
          <a:lstStyle/>
          <a:p>
            <a:r>
              <a:rPr lang="en-US" sz="1400" dirty="0"/>
              <a:t>You can trap more than one exception, and handle each one in a different way, by using multiple "if" constructs within a single "catch" block. </a:t>
            </a:r>
          </a:p>
          <a:p>
            <a:r>
              <a:rPr lang="en-US" sz="1400" dirty="0"/>
              <a:t> </a:t>
            </a:r>
          </a:p>
          <a:p>
            <a:r>
              <a:rPr lang="en-US" sz="1400" dirty="0"/>
              <a:t>try {</a:t>
            </a:r>
          </a:p>
          <a:p>
            <a:r>
              <a:rPr lang="en-US" sz="1400" dirty="0"/>
              <a:t>execute this block</a:t>
            </a:r>
          </a:p>
          <a:p>
            <a:r>
              <a:rPr lang="en-US" sz="1400" dirty="0"/>
              <a:t>} catch (error) {</a:t>
            </a:r>
          </a:p>
          <a:p>
            <a:r>
              <a:rPr lang="en-US" sz="1400" dirty="0"/>
              <a:t>if (error </a:t>
            </a:r>
            <a:r>
              <a:rPr lang="en-US" sz="1400" dirty="0" err="1"/>
              <a:t>instanceOf</a:t>
            </a:r>
            <a:r>
              <a:rPr lang="en-US" sz="1400" dirty="0"/>
              <a:t> errorType1)</a:t>
            </a:r>
          </a:p>
          <a:p>
            <a:r>
              <a:rPr lang="en-US" sz="1400" dirty="0"/>
              <a:t>{</a:t>
            </a:r>
          </a:p>
          <a:p>
            <a:r>
              <a:rPr lang="en-US" sz="1400" dirty="0"/>
              <a:t>do this</a:t>
            </a:r>
          </a:p>
          <a:p>
            <a:r>
              <a:rPr lang="en-US" sz="1400" dirty="0"/>
              <a:t>}</a:t>
            </a:r>
          </a:p>
          <a:p>
            <a:r>
              <a:rPr lang="en-US" sz="1400" dirty="0"/>
              <a:t>else if (error </a:t>
            </a:r>
            <a:r>
              <a:rPr lang="en-US" sz="1400" dirty="0" err="1"/>
              <a:t>instanceOf</a:t>
            </a:r>
            <a:r>
              <a:rPr lang="en-US" sz="1400" dirty="0"/>
              <a:t> errorType2)</a:t>
            </a:r>
          </a:p>
          <a:p>
            <a:r>
              <a:rPr lang="en-US" sz="1400" dirty="0"/>
              <a:t>{</a:t>
            </a:r>
          </a:p>
          <a:p>
            <a:r>
              <a:rPr lang="en-US" sz="1400" dirty="0"/>
              <a:t>do this</a:t>
            </a:r>
          </a:p>
          <a:p>
            <a:r>
              <a:rPr lang="en-US" sz="1400" dirty="0"/>
              <a:t>}</a:t>
            </a:r>
          </a:p>
          <a:p>
            <a:r>
              <a:rPr lang="en-US" sz="1400" dirty="0"/>
              <a:t>... and so on ...</a:t>
            </a:r>
          </a:p>
          <a:p>
            <a:r>
              <a:rPr lang="en-US" sz="1400" dirty="0"/>
              <a:t>else</a:t>
            </a:r>
          </a:p>
          <a:p>
            <a:r>
              <a:rPr lang="en-US" sz="1400" dirty="0"/>
              <a:t>{</a:t>
            </a:r>
          </a:p>
          <a:p>
            <a:r>
              <a:rPr lang="en-US" sz="1400" dirty="0"/>
              <a:t>do this if none of the error types above match</a:t>
            </a:r>
          </a:p>
          <a:p>
            <a:r>
              <a:rPr lang="en-US" sz="1400" dirty="0"/>
              <a:t>}</a:t>
            </a:r>
          </a:p>
          <a:p>
            <a:r>
              <a:rPr lang="en-US" sz="1400" dirty="0"/>
              <a:t>} </a:t>
            </a:r>
          </a:p>
          <a:p>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676400"/>
            <a:ext cx="8077200" cy="1600438"/>
          </a:xfrm>
          <a:prstGeom prst="rect">
            <a:avLst/>
          </a:prstGeom>
          <a:noFill/>
        </p:spPr>
        <p:txBody>
          <a:bodyPr wrap="square" rtlCol="0">
            <a:spAutoFit/>
          </a:bodyPr>
          <a:lstStyle/>
          <a:p>
            <a:r>
              <a:rPr lang="en-US" sz="1400" dirty="0"/>
              <a:t>If an exception is encountered while running the code within the "try" block, the JavaScript interpreter stops execution of the block at that point and begins checking each "if" test within the "catch" block to see if there is a handler for the exception. If a handler is found, the code within the appropriate "if" block is executed; if not, control moves to the "else" block, if one exists.</a:t>
            </a:r>
          </a:p>
          <a:p>
            <a:endParaRPr lang="en-US" sz="1400" dirty="0"/>
          </a:p>
          <a:p>
            <a:r>
              <a:rPr lang="en-US" sz="1400" dirty="0"/>
              <a:t>Once the "try" block has been fully executed and assuming that the program has not been terminated, the lines following the "try" block are executed.</a:t>
            </a:r>
          </a:p>
        </p:txBody>
      </p:sp>
      <p:sp>
        <p:nvSpPr>
          <p:cNvPr id="5" name="TextBox 4"/>
          <p:cNvSpPr txBox="1"/>
          <p:nvPr/>
        </p:nvSpPr>
        <p:spPr>
          <a:xfrm>
            <a:off x="685800" y="838200"/>
            <a:ext cx="7162800" cy="461665"/>
          </a:xfrm>
          <a:prstGeom prst="rect">
            <a:avLst/>
          </a:prstGeom>
          <a:noFill/>
        </p:spPr>
        <p:txBody>
          <a:bodyPr wrap="square" rtlCol="0">
            <a:spAutoFit/>
          </a:bodyPr>
          <a:lstStyle/>
          <a:p>
            <a:r>
              <a:rPr lang="en-US" sz="2400" dirty="0"/>
              <a:t>Handling Multiple Exceptions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8600" y="296333"/>
            <a:ext cx="8077200" cy="7294305"/>
          </a:xfrm>
          <a:prstGeom prst="rect">
            <a:avLst/>
          </a:prstGeom>
          <a:noFill/>
        </p:spPr>
        <p:txBody>
          <a:bodyPr wrap="square" rtlCol="0">
            <a:spAutoFit/>
          </a:bodyPr>
          <a:lstStyle/>
          <a:p>
            <a:r>
              <a:rPr lang="en-US" sz="1200" dirty="0"/>
              <a:t>Take a look at the next example, which demonstrates how this works by revising the example on the previous page::</a:t>
            </a:r>
          </a:p>
          <a:p>
            <a:r>
              <a:rPr lang="en-US" sz="1200" dirty="0"/>
              <a:t> </a:t>
            </a:r>
          </a:p>
          <a:p>
            <a:r>
              <a:rPr lang="en-IN" sz="1200" b="0" dirty="0">
                <a:solidFill>
                  <a:srgbClr val="800000"/>
                </a:solidFill>
                <a:effectLst/>
                <a:latin typeface="Consolas" panose="020B0609020204030204" pitchFamily="49" charset="0"/>
              </a:rPr>
              <a:t>&lt;script</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language</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"JavaScript"</a:t>
            </a:r>
            <a:r>
              <a:rPr lang="en-IN" sz="1200" b="0" dirty="0">
                <a:solidFill>
                  <a:srgbClr val="800000"/>
                </a:solidFill>
                <a:effectLst/>
                <a:latin typeface="Consolas" panose="020B0609020204030204" pitchFamily="49" charset="0"/>
              </a:rPr>
              <a:t>&gt;</a:t>
            </a:r>
            <a:endParaRPr lang="en-IN" sz="1200" b="0" dirty="0">
              <a:solidFill>
                <a:srgbClr val="000000"/>
              </a:solidFill>
              <a:effectLst/>
              <a:latin typeface="Consolas" panose="020B0609020204030204" pitchFamily="49" charset="0"/>
            </a:endParaRPr>
          </a:p>
          <a:p>
            <a:r>
              <a:rPr lang="en-IN" sz="1200" b="0" dirty="0">
                <a:solidFill>
                  <a:srgbClr val="008000"/>
                </a:solidFill>
                <a:effectLst/>
                <a:latin typeface="Consolas" panose="020B0609020204030204" pitchFamily="49" charset="0"/>
              </a:rPr>
              <a:t>// ask for user input</a:t>
            </a:r>
            <a:endParaRPr lang="en-IN" sz="1200" b="0" dirty="0">
              <a:solidFill>
                <a:srgbClr val="000000"/>
              </a:solidFill>
              <a:effectLst/>
              <a:latin typeface="Consolas" panose="020B0609020204030204" pitchFamily="49" charset="0"/>
            </a:endParaRPr>
          </a:p>
          <a:p>
            <a:br>
              <a:rPr lang="en-IN" sz="1200" b="0" dirty="0">
                <a:solidFill>
                  <a:srgbClr val="000000"/>
                </a:solidFill>
                <a:effectLst/>
                <a:latin typeface="Consolas" panose="020B0609020204030204" pitchFamily="49" charset="0"/>
              </a:rPr>
            </a:br>
            <a:r>
              <a:rPr lang="en-IN" sz="1200" b="0" dirty="0">
                <a:solidFill>
                  <a:srgbClr val="001080"/>
                </a:solidFill>
                <a:effectLst/>
                <a:latin typeface="Consolas" panose="020B0609020204030204" pitchFamily="49" charset="0"/>
              </a:rPr>
              <a:t>code</a:t>
            </a:r>
            <a:r>
              <a:rPr lang="en-IN" sz="1200" b="0" dirty="0">
                <a:solidFill>
                  <a:srgbClr val="000000"/>
                </a:solidFill>
                <a:effectLst/>
                <a:latin typeface="Consolas" panose="020B0609020204030204" pitchFamily="49" charset="0"/>
              </a:rPr>
              <a:t> = </a:t>
            </a:r>
            <a:r>
              <a:rPr lang="en-IN" sz="1200" b="0" dirty="0">
                <a:solidFill>
                  <a:srgbClr val="795E26"/>
                </a:solidFill>
                <a:effectLst/>
                <a:latin typeface="Consolas" panose="020B0609020204030204" pitchFamily="49" charset="0"/>
              </a:rPr>
              <a:t>prompt</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"Enter some JavaScript code"</a:t>
            </a:r>
            <a:r>
              <a:rPr lang="en-IN" sz="1200" b="0" dirty="0">
                <a:solidFill>
                  <a:srgbClr val="000000"/>
                </a:solidFill>
                <a:effectLst/>
                <a:latin typeface="Consolas" panose="020B0609020204030204" pitchFamily="49" charset="0"/>
              </a:rPr>
              <a:t>);</a:t>
            </a:r>
          </a:p>
          <a:p>
            <a:r>
              <a:rPr lang="en-IN" sz="1200" b="0" dirty="0">
                <a:solidFill>
                  <a:srgbClr val="008000"/>
                </a:solidFill>
                <a:effectLst/>
                <a:latin typeface="Consolas" panose="020B0609020204030204" pitchFamily="49" charset="0"/>
              </a:rPr>
              <a:t>// run the code and catch errors if any generated</a:t>
            </a:r>
            <a:endParaRPr lang="en-IN" sz="1200" b="0" dirty="0">
              <a:solidFill>
                <a:srgbClr val="000000"/>
              </a:solidFill>
              <a:effectLst/>
              <a:latin typeface="Consolas" panose="020B0609020204030204" pitchFamily="49" charset="0"/>
            </a:endParaRPr>
          </a:p>
          <a:p>
            <a:br>
              <a:rPr lang="en-IN" sz="1200" b="0" dirty="0">
                <a:solidFill>
                  <a:srgbClr val="000000"/>
                </a:solidFill>
                <a:effectLst/>
                <a:latin typeface="Consolas" panose="020B0609020204030204" pitchFamily="49" charset="0"/>
              </a:rPr>
            </a:br>
            <a:r>
              <a:rPr lang="en-IN" sz="1200" b="0" dirty="0">
                <a:solidFill>
                  <a:srgbClr val="AF00DB"/>
                </a:solidFill>
                <a:effectLst/>
                <a:latin typeface="Consolas" panose="020B0609020204030204" pitchFamily="49" charset="0"/>
              </a:rPr>
              <a:t>try</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eval</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code</a:t>
            </a:r>
            <a:r>
              <a:rPr lang="en-IN"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alert("This </a:t>
            </a:r>
            <a:r>
              <a:rPr lang="en-US" sz="1200" b="0" dirty="0" err="1">
                <a:solidFill>
                  <a:srgbClr val="000000"/>
                </a:solidFill>
                <a:effectLst/>
                <a:latin typeface="Consolas" panose="020B0609020204030204" pitchFamily="49" charset="0"/>
              </a:rPr>
              <a:t>statememt</a:t>
            </a:r>
            <a:r>
              <a:rPr lang="en-US" sz="1200" b="0" dirty="0">
                <a:solidFill>
                  <a:srgbClr val="000000"/>
                </a:solidFill>
                <a:effectLst/>
                <a:latin typeface="Consolas" panose="020B0609020204030204" pitchFamily="49" charset="0"/>
              </a:rPr>
              <a:t> may not get executer");</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catch</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e</a:t>
            </a:r>
            <a:r>
              <a:rPr lang="en-IN" sz="1200" b="0" dirty="0">
                <a:solidFill>
                  <a:srgbClr val="000000"/>
                </a:solidFill>
                <a:effectLst/>
                <a:latin typeface="Consolas" panose="020B0609020204030204" pitchFamily="49" charset="0"/>
              </a:rPr>
              <a:t>) {</a:t>
            </a:r>
          </a:p>
          <a:p>
            <a:br>
              <a:rPr lang="en-IN" sz="1200" b="0" dirty="0">
                <a:solidFill>
                  <a:srgbClr val="000000"/>
                </a:solidFill>
                <a:effectLst/>
                <a:latin typeface="Consolas" panose="020B0609020204030204" pitchFamily="49" charset="0"/>
              </a:rPr>
            </a:br>
            <a:r>
              <a:rPr lang="en-IN" sz="1200" b="0" dirty="0">
                <a:solidFill>
                  <a:srgbClr val="AF00DB"/>
                </a:solidFill>
                <a:effectLst/>
                <a:latin typeface="Consolas" panose="020B0609020204030204" pitchFamily="49" charset="0"/>
              </a:rPr>
              <a:t>if</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e</a:t>
            </a:r>
            <a:r>
              <a:rPr lang="en-IN" sz="1200" b="0" dirty="0">
                <a:solidFill>
                  <a:srgbClr val="000000"/>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instanceof</a:t>
            </a:r>
            <a:r>
              <a:rPr lang="en-IN" sz="1200" b="0" dirty="0">
                <a:solidFill>
                  <a:srgbClr val="000000"/>
                </a:solidFill>
                <a:effectLst/>
                <a:latin typeface="Consolas" panose="020B0609020204030204" pitchFamily="49" charset="0"/>
              </a:rPr>
              <a:t> </a:t>
            </a:r>
            <a:r>
              <a:rPr lang="en-IN" sz="1200" b="0" dirty="0" err="1">
                <a:solidFill>
                  <a:srgbClr val="267F99"/>
                </a:solidFill>
                <a:effectLst/>
                <a:latin typeface="Consolas" panose="020B0609020204030204" pitchFamily="49" charset="0"/>
              </a:rPr>
              <a:t>TypeError</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alert</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message</a:t>
            </a:r>
            <a:r>
              <a:rPr lang="en-IN" sz="1200" b="0" dirty="0" err="1">
                <a:solidFill>
                  <a:srgbClr val="000000"/>
                </a:solidFill>
                <a:effectLst/>
                <a:latin typeface="Consolas" panose="020B0609020204030204" pitchFamily="49" charset="0"/>
              </a:rPr>
              <a:t>+</a:t>
            </a:r>
            <a:r>
              <a:rPr lang="en-IN" sz="1200" b="0" dirty="0" err="1">
                <a:solidFill>
                  <a:srgbClr val="A31515"/>
                </a:solidFill>
                <a:effectLst/>
                <a:latin typeface="Consolas" panose="020B0609020204030204" pitchFamily="49" charset="0"/>
              </a:rPr>
              <a:t>"Variable</a:t>
            </a:r>
            <a:r>
              <a:rPr lang="en-IN" sz="1200" b="0" dirty="0">
                <a:solidFill>
                  <a:srgbClr val="A31515"/>
                </a:solidFill>
                <a:effectLst/>
                <a:latin typeface="Consolas" panose="020B0609020204030204" pitchFamily="49" charset="0"/>
              </a:rPr>
              <a:t> type problem, check your variable definitions!"</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e</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a:t>
            </a:r>
          </a:p>
          <a:p>
            <a:r>
              <a:rPr lang="en-IN" sz="1200" b="0" dirty="0">
                <a:solidFill>
                  <a:srgbClr val="AF00DB"/>
                </a:solidFill>
                <a:effectLst/>
                <a:latin typeface="Consolas" panose="020B0609020204030204" pitchFamily="49" charset="0"/>
              </a:rPr>
              <a:t>else</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if</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e</a:t>
            </a:r>
            <a:r>
              <a:rPr lang="en-IN" sz="1200" b="0" dirty="0">
                <a:solidFill>
                  <a:srgbClr val="000000"/>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instanceof</a:t>
            </a:r>
            <a:r>
              <a:rPr lang="en-IN" sz="1200" b="0" dirty="0">
                <a:solidFill>
                  <a:srgbClr val="000000"/>
                </a:solidFill>
                <a:effectLst/>
                <a:latin typeface="Consolas" panose="020B0609020204030204" pitchFamily="49" charset="0"/>
              </a:rPr>
              <a:t> </a:t>
            </a:r>
            <a:r>
              <a:rPr lang="en-IN" sz="1200" b="0" dirty="0" err="1">
                <a:solidFill>
                  <a:srgbClr val="267F99"/>
                </a:solidFill>
                <a:effectLst/>
                <a:latin typeface="Consolas" panose="020B0609020204030204" pitchFamily="49" charset="0"/>
              </a:rPr>
              <a:t>RangeError</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alert</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message</a:t>
            </a:r>
            <a:r>
              <a:rPr lang="en-IN" sz="1200" b="0" dirty="0" err="1">
                <a:solidFill>
                  <a:srgbClr val="000000"/>
                </a:solidFill>
                <a:effectLst/>
                <a:latin typeface="Consolas" panose="020B0609020204030204" pitchFamily="49" charset="0"/>
              </a:rPr>
              <a:t>+</a:t>
            </a:r>
            <a:r>
              <a:rPr lang="en-IN" sz="1200" b="0" dirty="0" err="1">
                <a:solidFill>
                  <a:srgbClr val="A31515"/>
                </a:solidFill>
                <a:effectLst/>
                <a:latin typeface="Consolas" panose="020B0609020204030204" pitchFamily="49" charset="0"/>
              </a:rPr>
              <a:t>"Number</a:t>
            </a:r>
            <a:r>
              <a:rPr lang="en-IN" sz="1200" b="0" dirty="0">
                <a:solidFill>
                  <a:srgbClr val="A31515"/>
                </a:solidFill>
                <a:effectLst/>
                <a:latin typeface="Consolas" panose="020B0609020204030204" pitchFamily="49" charset="0"/>
              </a:rPr>
              <a:t> out of range!"</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e</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a:t>
            </a:r>
          </a:p>
          <a:p>
            <a:r>
              <a:rPr lang="en-IN" sz="1200" b="0" dirty="0">
                <a:solidFill>
                  <a:srgbClr val="AF00DB"/>
                </a:solidFill>
                <a:effectLst/>
                <a:latin typeface="Consolas" panose="020B0609020204030204" pitchFamily="49" charset="0"/>
              </a:rPr>
              <a:t>else</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if</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e</a:t>
            </a:r>
            <a:r>
              <a:rPr lang="en-IN" sz="1200" b="0" dirty="0">
                <a:solidFill>
                  <a:srgbClr val="000000"/>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instanceof</a:t>
            </a:r>
            <a:r>
              <a:rPr lang="en-IN" sz="1200" b="0" dirty="0">
                <a:solidFill>
                  <a:srgbClr val="000000"/>
                </a:solidFill>
                <a:effectLst/>
                <a:latin typeface="Consolas" panose="020B0609020204030204" pitchFamily="49" charset="0"/>
              </a:rPr>
              <a:t> </a:t>
            </a:r>
            <a:r>
              <a:rPr lang="en-IN" sz="1200" b="0" dirty="0" err="1">
                <a:solidFill>
                  <a:srgbClr val="267F99"/>
                </a:solidFill>
                <a:effectLst/>
                <a:latin typeface="Consolas" panose="020B0609020204030204" pitchFamily="49" charset="0"/>
              </a:rPr>
              <a:t>SyntaxError</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a:t>
            </a:r>
          </a:p>
          <a:p>
            <a:r>
              <a:rPr lang="en-IN" sz="1200" b="0" dirty="0">
                <a:solidFill>
                  <a:srgbClr val="795E26"/>
                </a:solidFill>
                <a:effectLst/>
                <a:latin typeface="Consolas" panose="020B0609020204030204" pitchFamily="49" charset="0"/>
              </a:rPr>
              <a:t>alert</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message</a:t>
            </a:r>
            <a:r>
              <a:rPr lang="en-IN" sz="1200" b="0" dirty="0" err="1">
                <a:solidFill>
                  <a:srgbClr val="000000"/>
                </a:solidFill>
                <a:effectLst/>
                <a:latin typeface="Consolas" panose="020B0609020204030204" pitchFamily="49" charset="0"/>
              </a:rPr>
              <a:t>+</a:t>
            </a:r>
            <a:r>
              <a:rPr lang="en-IN" sz="1200" b="0" dirty="0" err="1">
                <a:solidFill>
                  <a:srgbClr val="A31515"/>
                </a:solidFill>
                <a:effectLst/>
                <a:latin typeface="Consolas" panose="020B0609020204030204" pitchFamily="49" charset="0"/>
              </a:rPr>
              <a:t>"Syntax</a:t>
            </a:r>
            <a:r>
              <a:rPr lang="en-IN" sz="1200" b="0" dirty="0">
                <a:solidFill>
                  <a:srgbClr val="A31515"/>
                </a:solidFill>
                <a:effectLst/>
                <a:latin typeface="Consolas" panose="020B0609020204030204" pitchFamily="49" charset="0"/>
              </a:rPr>
              <a:t> error in code!"</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e</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a:t>
            </a:r>
          </a:p>
          <a:p>
            <a:r>
              <a:rPr lang="en-IN" sz="1200" b="0" dirty="0">
                <a:solidFill>
                  <a:srgbClr val="AF00DB"/>
                </a:solidFill>
                <a:effectLst/>
                <a:latin typeface="Consolas" panose="020B0609020204030204" pitchFamily="49" charset="0"/>
              </a:rPr>
              <a:t>else</a:t>
            </a:r>
            <a:r>
              <a:rPr lang="en-IN" sz="1200" b="0" dirty="0">
                <a:solidFill>
                  <a:srgbClr val="000000"/>
                </a:solidFill>
                <a:effectLst/>
                <a:latin typeface="Consolas" panose="020B0609020204030204" pitchFamily="49" charset="0"/>
              </a:rPr>
              <a:t>{</a:t>
            </a:r>
          </a:p>
          <a:p>
            <a:r>
              <a:rPr lang="en-IN" sz="1200" b="0" dirty="0">
                <a:solidFill>
                  <a:srgbClr val="795E26"/>
                </a:solidFill>
                <a:effectLst/>
                <a:latin typeface="Consolas" panose="020B0609020204030204" pitchFamily="49" charset="0"/>
              </a:rPr>
              <a:t>alert</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e</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message</a:t>
            </a:r>
            <a:r>
              <a:rPr lang="en-IN" sz="1200" b="0" dirty="0" err="1">
                <a:solidFill>
                  <a:srgbClr val="000000"/>
                </a:solidFill>
                <a:effectLst/>
                <a:latin typeface="Consolas" panose="020B0609020204030204" pitchFamily="49" charset="0"/>
              </a:rPr>
              <a:t>+</a:t>
            </a:r>
            <a:r>
              <a:rPr lang="en-IN" sz="1200" b="0" dirty="0" err="1">
                <a:solidFill>
                  <a:srgbClr val="A31515"/>
                </a:solidFill>
                <a:effectLst/>
                <a:latin typeface="Consolas" panose="020B0609020204030204" pitchFamily="49" charset="0"/>
              </a:rPr>
              <a:t>"An</a:t>
            </a:r>
            <a:r>
              <a:rPr lang="en-IN" sz="1200" b="0" dirty="0">
                <a:solidFill>
                  <a:srgbClr val="A31515"/>
                </a:solidFill>
                <a:effectLst/>
                <a:latin typeface="Consolas" panose="020B0609020204030204" pitchFamily="49" charset="0"/>
              </a:rPr>
              <a:t> unspecified error occurred!"</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e</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p>
          <a:p>
            <a:br>
              <a:rPr lang="en-IN" sz="1200" b="0" dirty="0">
                <a:solidFill>
                  <a:srgbClr val="000000"/>
                </a:solidFill>
                <a:effectLst/>
                <a:latin typeface="Consolas" panose="020B0609020204030204" pitchFamily="49" charset="0"/>
              </a:rPr>
            </a:br>
            <a:r>
              <a:rPr lang="en-IN" sz="1200" b="0" dirty="0">
                <a:solidFill>
                  <a:srgbClr val="AF00DB"/>
                </a:solidFill>
                <a:effectLst/>
                <a:latin typeface="Consolas" panose="020B0609020204030204" pitchFamily="49" charset="0"/>
              </a:rPr>
              <a:t>finally</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alert</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"Thank you for playing. Come back soon!"</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a:t>
            </a:r>
            <a:br>
              <a:rPr lang="en-IN" sz="1200" b="0" dirty="0">
                <a:solidFill>
                  <a:srgbClr val="000000"/>
                </a:solidFill>
                <a:effectLst/>
                <a:latin typeface="Consolas" panose="020B0609020204030204" pitchFamily="49" charset="0"/>
              </a:rPr>
            </a:br>
            <a:r>
              <a:rPr lang="en-IN" sz="1200" b="0" dirty="0">
                <a:solidFill>
                  <a:srgbClr val="800000"/>
                </a:solidFill>
                <a:effectLst/>
                <a:latin typeface="Consolas" panose="020B0609020204030204" pitchFamily="49" charset="0"/>
              </a:rPr>
              <a:t>&lt;/script&gt;</a:t>
            </a:r>
            <a:endParaRPr lang="en-IN" sz="1200" b="0" dirty="0">
              <a:solidFill>
                <a:srgbClr val="000000"/>
              </a:solidFill>
              <a:effectLst/>
              <a:latin typeface="Consolas" panose="020B0609020204030204" pitchFamily="49" charset="0"/>
            </a:endParaRPr>
          </a:p>
          <a:p>
            <a:endParaRPr lang="en-US" sz="1200" dirty="0"/>
          </a:p>
        </p:txBody>
      </p:sp>
      <p:sp>
        <p:nvSpPr>
          <p:cNvPr id="5" name="TextBox 4"/>
          <p:cNvSpPr txBox="1"/>
          <p:nvPr/>
        </p:nvSpPr>
        <p:spPr>
          <a:xfrm>
            <a:off x="685800" y="-131465"/>
            <a:ext cx="7162800" cy="461665"/>
          </a:xfrm>
          <a:prstGeom prst="rect">
            <a:avLst/>
          </a:prstGeom>
          <a:noFill/>
        </p:spPr>
        <p:txBody>
          <a:bodyPr wrap="square" rtlCol="0">
            <a:spAutoFit/>
          </a:bodyPr>
          <a:lstStyle/>
          <a:p>
            <a:r>
              <a:rPr lang="en-US" sz="2400" dirty="0"/>
              <a:t>Handling Multiple Exceptions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676400"/>
            <a:ext cx="8305800" cy="3539430"/>
          </a:xfrm>
          <a:prstGeom prst="rect">
            <a:avLst/>
          </a:prstGeom>
          <a:noFill/>
        </p:spPr>
        <p:txBody>
          <a:bodyPr wrap="square" rtlCol="0">
            <a:spAutoFit/>
          </a:bodyPr>
          <a:lstStyle/>
          <a:p>
            <a:r>
              <a:rPr lang="en-US" sz="1400" dirty="0"/>
              <a:t>You can test this exception handler by entering different lines of code into the box that appears when you load the page into your browser. </a:t>
            </a:r>
          </a:p>
          <a:p>
            <a:r>
              <a:rPr lang="en-US" sz="1400" dirty="0"/>
              <a:t>* To generate a </a:t>
            </a:r>
            <a:r>
              <a:rPr lang="en-US" sz="1400" dirty="0" err="1"/>
              <a:t>REferenceError</a:t>
            </a:r>
            <a:r>
              <a:rPr lang="en-US" sz="1400" dirty="0"/>
              <a:t>, try accessing a non-existent array subscript, like this:</a:t>
            </a:r>
          </a:p>
          <a:p>
            <a:r>
              <a:rPr lang="en-US" sz="1400" dirty="0"/>
              <a:t> alert(</a:t>
            </a:r>
            <a:r>
              <a:rPr lang="en-US" sz="1400" dirty="0" err="1"/>
              <a:t>someArr</a:t>
            </a:r>
            <a:r>
              <a:rPr lang="en-US" sz="1400" dirty="0"/>
              <a:t>[18])</a:t>
            </a:r>
          </a:p>
          <a:p>
            <a:endParaRPr lang="en-US" sz="1400" dirty="0"/>
          </a:p>
          <a:p>
            <a:r>
              <a:rPr lang="en-US" sz="1400" dirty="0"/>
              <a:t>* To generate a </a:t>
            </a:r>
            <a:r>
              <a:rPr lang="en-US" sz="1400" dirty="0" err="1"/>
              <a:t>TypeError</a:t>
            </a:r>
            <a:r>
              <a:rPr lang="en-US" sz="1400" dirty="0"/>
              <a:t>, try accessing a non-existent </a:t>
            </a:r>
            <a:r>
              <a:rPr lang="en-US" sz="1400" dirty="0" err="1"/>
              <a:t>ie</a:t>
            </a:r>
            <a:r>
              <a:rPr lang="en-US" sz="1400" dirty="0"/>
              <a:t>. null.</a:t>
            </a:r>
          </a:p>
          <a:p>
            <a:r>
              <a:rPr lang="en-US" sz="1400" dirty="0"/>
              <a:t> </a:t>
            </a:r>
            <a:r>
              <a:rPr lang="en-US" sz="1400" dirty="0" err="1"/>
              <a:t>null.f</a:t>
            </a:r>
            <a:r>
              <a:rPr lang="en-US" sz="1400" dirty="0"/>
              <a:t>()</a:t>
            </a:r>
          </a:p>
          <a:p>
            <a:endParaRPr lang="en-US" sz="1400" dirty="0"/>
          </a:p>
          <a:p>
            <a:r>
              <a:rPr lang="en-US" sz="1400" dirty="0"/>
              <a:t>* To generate a </a:t>
            </a:r>
            <a:r>
              <a:rPr lang="en-US" sz="1400" dirty="0" err="1"/>
              <a:t>RangeError</a:t>
            </a:r>
            <a:r>
              <a:rPr lang="en-US" sz="1400" dirty="0"/>
              <a:t>, try creating an array with an extremely large size, like this:</a:t>
            </a:r>
          </a:p>
          <a:p>
            <a:r>
              <a:rPr lang="en-US" sz="1400" dirty="0"/>
              <a:t> var </a:t>
            </a:r>
            <a:r>
              <a:rPr lang="en-US" sz="1400" dirty="0" err="1"/>
              <a:t>someArr</a:t>
            </a:r>
            <a:r>
              <a:rPr lang="en-US" sz="1400" dirty="0"/>
              <a:t> = new Array(89723742304323248456)</a:t>
            </a:r>
          </a:p>
          <a:p>
            <a:endParaRPr lang="en-US" sz="1400" dirty="0"/>
          </a:p>
          <a:p>
            <a:r>
              <a:rPr lang="en-US" sz="1400" dirty="0"/>
              <a:t>* To generate a </a:t>
            </a:r>
            <a:r>
              <a:rPr lang="en-US" sz="1400" dirty="0" err="1"/>
              <a:t>SyntaxError</a:t>
            </a:r>
            <a:r>
              <a:rPr lang="en-US" sz="1400" dirty="0"/>
              <a:t>, try entering a line of code with a deliberate error in it, like this:</a:t>
            </a:r>
          </a:p>
          <a:p>
            <a:r>
              <a:rPr lang="en-US" sz="1400" dirty="0"/>
              <a:t> </a:t>
            </a:r>
            <a:r>
              <a:rPr lang="en-US" sz="1400" dirty="0" err="1"/>
              <a:t>vara</a:t>
            </a:r>
            <a:r>
              <a:rPr lang="en-US" sz="1400" dirty="0"/>
              <a:t> count = 99</a:t>
            </a:r>
          </a:p>
          <a:p>
            <a:r>
              <a:rPr lang="en-US" sz="1400" dirty="0"/>
              <a:t>As you will, in each case, the exception handler above will identify the error type and display an appropriate alert message. The "else" block works as a catch-all exception handler, processing all errors which have not been accounted for in the preceding "if" clauses.</a:t>
            </a:r>
          </a:p>
        </p:txBody>
      </p:sp>
      <p:sp>
        <p:nvSpPr>
          <p:cNvPr id="5" name="TextBox 4"/>
          <p:cNvSpPr txBox="1"/>
          <p:nvPr/>
        </p:nvSpPr>
        <p:spPr>
          <a:xfrm>
            <a:off x="685800" y="838200"/>
            <a:ext cx="7162800" cy="461665"/>
          </a:xfrm>
          <a:prstGeom prst="rect">
            <a:avLst/>
          </a:prstGeom>
          <a:noFill/>
        </p:spPr>
        <p:txBody>
          <a:bodyPr wrap="square" rtlCol="0">
            <a:spAutoFit/>
          </a:bodyPr>
          <a:lstStyle/>
          <a:p>
            <a:r>
              <a:rPr lang="en-US" sz="2400" dirty="0"/>
              <a:t>Handling Multiple Exceptions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676400"/>
            <a:ext cx="8077200" cy="4401205"/>
          </a:xfrm>
          <a:prstGeom prst="rect">
            <a:avLst/>
          </a:prstGeom>
          <a:noFill/>
        </p:spPr>
        <p:txBody>
          <a:bodyPr wrap="square" rtlCol="0">
            <a:spAutoFit/>
          </a:bodyPr>
          <a:lstStyle/>
          <a:p>
            <a:r>
              <a:rPr lang="en-US" sz="1400" dirty="0"/>
              <a:t>JavaScript also allows you to add a "finally" block to the "try-catch" block discussed previously. The "finally" block contains statements that are executed regardless of whether an exception is generated or not in the "try-catch" block. </a:t>
            </a:r>
          </a:p>
          <a:p>
            <a:r>
              <a:rPr lang="en-US" sz="1400" dirty="0"/>
              <a:t> </a:t>
            </a:r>
          </a:p>
          <a:p>
            <a:r>
              <a:rPr lang="en-US" sz="1400" dirty="0"/>
              <a:t>try </a:t>
            </a:r>
          </a:p>
          <a:p>
            <a:r>
              <a:rPr lang="en-US" sz="1400" dirty="0"/>
              <a:t>{</a:t>
            </a:r>
          </a:p>
          <a:p>
            <a:r>
              <a:rPr lang="en-US" sz="1400" dirty="0"/>
              <a:t>	execute this block</a:t>
            </a:r>
          </a:p>
          <a:p>
            <a:r>
              <a:rPr lang="en-US" sz="1400" dirty="0"/>
              <a:t>} </a:t>
            </a:r>
          </a:p>
          <a:p>
            <a:r>
              <a:rPr lang="en-US" sz="1400" dirty="0"/>
              <a:t>catch (error) </a:t>
            </a:r>
          </a:p>
          <a:p>
            <a:r>
              <a:rPr lang="en-US" sz="1400" dirty="0"/>
              <a:t>{</a:t>
            </a:r>
          </a:p>
          <a:p>
            <a:r>
              <a:rPr lang="en-US" sz="1400" dirty="0"/>
              <a:t>	execute this block if error</a:t>
            </a:r>
          </a:p>
          <a:p>
            <a:r>
              <a:rPr lang="en-US" sz="1400" dirty="0"/>
              <a:t>} </a:t>
            </a:r>
          </a:p>
          <a:p>
            <a:r>
              <a:rPr lang="en-US" sz="1400" dirty="0"/>
              <a:t>finally </a:t>
            </a:r>
          </a:p>
          <a:p>
            <a:r>
              <a:rPr lang="en-US" sz="1400" dirty="0"/>
              <a:t>{</a:t>
            </a:r>
          </a:p>
          <a:p>
            <a:r>
              <a:rPr lang="en-US" sz="1400" dirty="0"/>
              <a:t>	execute this block after the try block</a:t>
            </a:r>
          </a:p>
          <a:p>
            <a:r>
              <a:rPr lang="en-US" sz="1400" dirty="0"/>
              <a:t>}</a:t>
            </a:r>
          </a:p>
          <a:p>
            <a:endParaRPr lang="en-US" sz="1400" dirty="0"/>
          </a:p>
          <a:p>
            <a:r>
              <a:rPr lang="en-US" sz="1400" dirty="0"/>
              <a:t>If an exception is encountered when running the code within the "try" block, JavaScript will stop execution at that point, and look for a "catch" block to handle it. Once the error has been handled (or if no "catch" block exists), control passes to the "finally" block.</a:t>
            </a:r>
          </a:p>
        </p:txBody>
      </p:sp>
      <p:sp>
        <p:nvSpPr>
          <p:cNvPr id="5" name="TextBox 4"/>
          <p:cNvSpPr txBox="1"/>
          <p:nvPr/>
        </p:nvSpPr>
        <p:spPr>
          <a:xfrm>
            <a:off x="685800" y="838200"/>
            <a:ext cx="7162800" cy="461665"/>
          </a:xfrm>
          <a:prstGeom prst="rect">
            <a:avLst/>
          </a:prstGeom>
          <a:noFill/>
        </p:spPr>
        <p:txBody>
          <a:bodyPr wrap="square" rtlCol="0">
            <a:spAutoFit/>
          </a:bodyPr>
          <a:lstStyle/>
          <a:p>
            <a:r>
              <a:rPr lang="en-US" sz="2400" dirty="0"/>
              <a:t>The finally block…….?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ECA2B-AE8D-483B-A38A-1EDA394B4A43}"/>
              </a:ext>
            </a:extLst>
          </p:cNvPr>
          <p:cNvSpPr>
            <a:spLocks noGrp="1"/>
          </p:cNvSpPr>
          <p:nvPr>
            <p:ph type="title"/>
          </p:nvPr>
        </p:nvSpPr>
        <p:spPr/>
        <p:txBody>
          <a:bodyPr/>
          <a:lstStyle/>
          <a:p>
            <a:r>
              <a:rPr lang="en-IN" dirty="0"/>
              <a:t>General Exception</a:t>
            </a:r>
          </a:p>
        </p:txBody>
      </p:sp>
      <p:sp>
        <p:nvSpPr>
          <p:cNvPr id="3" name="Content Placeholder 2">
            <a:extLst>
              <a:ext uri="{FF2B5EF4-FFF2-40B4-BE49-F238E27FC236}">
                <a16:creationId xmlns:a16="http://schemas.microsoft.com/office/drawing/2014/main" id="{3CC08DE4-70E8-4F5F-AD1E-5CCE1014724D}"/>
              </a:ext>
            </a:extLst>
          </p:cNvPr>
          <p:cNvSpPr>
            <a:spLocks noGrp="1"/>
          </p:cNvSpPr>
          <p:nvPr>
            <p:ph idx="1"/>
          </p:nvPr>
        </p:nvSpPr>
        <p:spPr/>
        <p:txBody>
          <a:bodyPr>
            <a:normAutofit fontScale="70000" lnSpcReduction="20000"/>
          </a:bodyPr>
          <a:lstStyle/>
          <a:p>
            <a:pPr marL="0" indent="0">
              <a:buNone/>
            </a:pPr>
            <a:endParaRPr lang="en-US" sz="3200" dirty="0"/>
          </a:p>
          <a:p>
            <a:pPr marL="0" indent="0">
              <a:buNone/>
            </a:pPr>
            <a:r>
              <a:rPr lang="en-US" sz="3200" dirty="0"/>
              <a:t>try </a:t>
            </a:r>
          </a:p>
          <a:p>
            <a:pPr marL="0" indent="0">
              <a:buNone/>
            </a:pPr>
            <a:r>
              <a:rPr lang="en-US" sz="3200" dirty="0"/>
              <a:t>{</a:t>
            </a:r>
          </a:p>
          <a:p>
            <a:pPr marL="0" indent="0">
              <a:buNone/>
            </a:pPr>
            <a:r>
              <a:rPr lang="en-US" sz="3200" dirty="0"/>
              <a:t>	execute this block</a:t>
            </a:r>
          </a:p>
          <a:p>
            <a:pPr marL="0" indent="0">
              <a:buNone/>
            </a:pPr>
            <a:r>
              <a:rPr lang="en-US" sz="3200" dirty="0"/>
              <a:t>} </a:t>
            </a:r>
          </a:p>
          <a:p>
            <a:pPr marL="0" indent="0">
              <a:buNone/>
            </a:pPr>
            <a:r>
              <a:rPr lang="en-US" sz="3200" dirty="0"/>
              <a:t>catch {</a:t>
            </a:r>
          </a:p>
          <a:p>
            <a:pPr marL="0" indent="0">
              <a:buNone/>
            </a:pPr>
            <a:r>
              <a:rPr lang="en-US" sz="3200" dirty="0"/>
              <a:t>	execute this block if error</a:t>
            </a:r>
          </a:p>
          <a:p>
            <a:pPr marL="0" indent="0">
              <a:buNone/>
            </a:pPr>
            <a:r>
              <a:rPr lang="en-US" sz="3200" dirty="0"/>
              <a:t>} </a:t>
            </a:r>
          </a:p>
          <a:p>
            <a:pPr marL="0" indent="0">
              <a:buNone/>
            </a:pPr>
            <a:r>
              <a:rPr lang="en-US" sz="3200" dirty="0"/>
              <a:t>finally </a:t>
            </a:r>
          </a:p>
          <a:p>
            <a:pPr marL="0" indent="0">
              <a:buNone/>
            </a:pPr>
            <a:r>
              <a:rPr lang="en-US" sz="3200" dirty="0"/>
              <a:t>{</a:t>
            </a:r>
          </a:p>
          <a:p>
            <a:pPr marL="0" indent="0">
              <a:buNone/>
            </a:pPr>
            <a:r>
              <a:rPr lang="en-US" sz="3200" dirty="0"/>
              <a:t>	execute this block after the try block</a:t>
            </a:r>
          </a:p>
          <a:p>
            <a:pPr marL="0" indent="0">
              <a:buNone/>
            </a:pPr>
            <a:r>
              <a:rPr lang="en-US" sz="3200" dirty="0"/>
              <a:t>}</a:t>
            </a:r>
          </a:p>
          <a:p>
            <a:pPr marL="0" indent="0">
              <a:buNone/>
            </a:pPr>
            <a:endParaRPr lang="en-IN" dirty="0"/>
          </a:p>
        </p:txBody>
      </p:sp>
    </p:spTree>
    <p:extLst>
      <p:ext uri="{BB962C8B-B14F-4D97-AF65-F5344CB8AC3E}">
        <p14:creationId xmlns:p14="http://schemas.microsoft.com/office/powerpoint/2010/main" val="40167334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295400"/>
            <a:ext cx="8077200" cy="1815882"/>
          </a:xfrm>
          <a:prstGeom prst="rect">
            <a:avLst/>
          </a:prstGeom>
          <a:noFill/>
        </p:spPr>
        <p:txBody>
          <a:bodyPr wrap="square" rtlCol="0">
            <a:spAutoFit/>
          </a:bodyPr>
          <a:lstStyle/>
          <a:p>
            <a:r>
              <a:rPr lang="en-US" sz="1400" dirty="0"/>
              <a:t>Thus far, you've been working with JavaScript's built-in exceptions, which can handle most logical or syntactical errors. However, JavaScript also allows you to get creative with exceptions, by generating your own custom exceptions if the need arises.</a:t>
            </a:r>
          </a:p>
          <a:p>
            <a:endParaRPr lang="en-US" sz="1400" dirty="0"/>
          </a:p>
          <a:p>
            <a:r>
              <a:rPr lang="en-US" sz="1400" dirty="0"/>
              <a:t>This is accomplished via JavaScript's "throw" statement, which is used to raise errors which can be detected and resolved by the "try" family of exception handlers. The "throw" statement needs to be passed an error type. When the exception is raised, this exception name and description will be made available to the defined exception handler.</a:t>
            </a:r>
          </a:p>
        </p:txBody>
      </p:sp>
      <p:sp>
        <p:nvSpPr>
          <p:cNvPr id="5" name="TextBox 4"/>
          <p:cNvSpPr txBox="1"/>
          <p:nvPr/>
        </p:nvSpPr>
        <p:spPr>
          <a:xfrm>
            <a:off x="685800" y="533400"/>
            <a:ext cx="7162800" cy="461665"/>
          </a:xfrm>
          <a:prstGeom prst="rect">
            <a:avLst/>
          </a:prstGeom>
          <a:noFill/>
        </p:spPr>
        <p:txBody>
          <a:bodyPr wrap="square" rtlCol="0">
            <a:spAutoFit/>
          </a:bodyPr>
          <a:lstStyle/>
          <a:p>
            <a:r>
              <a:rPr lang="en-US" sz="2400" dirty="0"/>
              <a:t>Own Exceptions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2400" y="685800"/>
            <a:ext cx="8610600" cy="954107"/>
          </a:xfrm>
          <a:prstGeom prst="rect">
            <a:avLst/>
          </a:prstGeom>
          <a:noFill/>
        </p:spPr>
        <p:txBody>
          <a:bodyPr wrap="square" rtlCol="0">
            <a:spAutoFit/>
          </a:bodyPr>
          <a:lstStyle/>
          <a:p>
            <a:r>
              <a:rPr lang="en-US" sz="1400" dirty="0"/>
              <a:t>In the following piece of code, if the value entered into the form field is greater than 99, the code will manually generate a </a:t>
            </a:r>
            <a:r>
              <a:rPr lang="en-US" sz="1400" dirty="0" err="1"/>
              <a:t>RangeError</a:t>
            </a:r>
            <a:r>
              <a:rPr lang="en-US" sz="1400" dirty="0"/>
              <a:t> exception, which will be caught and displayed appropriately.</a:t>
            </a:r>
          </a:p>
          <a:p>
            <a:r>
              <a:rPr lang="en-US" sz="1400" dirty="0"/>
              <a:t> </a:t>
            </a:r>
          </a:p>
          <a:p>
            <a:endParaRPr lang="en-US" sz="1400" dirty="0"/>
          </a:p>
        </p:txBody>
      </p:sp>
      <p:sp>
        <p:nvSpPr>
          <p:cNvPr id="5" name="TextBox 4"/>
          <p:cNvSpPr txBox="1"/>
          <p:nvPr/>
        </p:nvSpPr>
        <p:spPr>
          <a:xfrm>
            <a:off x="685800" y="152400"/>
            <a:ext cx="7162800" cy="461665"/>
          </a:xfrm>
          <a:prstGeom prst="rect">
            <a:avLst/>
          </a:prstGeom>
          <a:noFill/>
        </p:spPr>
        <p:txBody>
          <a:bodyPr wrap="square" rtlCol="0">
            <a:spAutoFit/>
          </a:bodyPr>
          <a:lstStyle/>
          <a:p>
            <a:r>
              <a:rPr lang="en-US" sz="2400" dirty="0"/>
              <a:t>Own Exceptions !</a:t>
            </a:r>
          </a:p>
        </p:txBody>
      </p:sp>
      <p:sp>
        <p:nvSpPr>
          <p:cNvPr id="6" name="TextBox 5">
            <a:extLst>
              <a:ext uri="{FF2B5EF4-FFF2-40B4-BE49-F238E27FC236}">
                <a16:creationId xmlns:a16="http://schemas.microsoft.com/office/drawing/2014/main" id="{0B0CACB0-877B-4C54-95AD-7A6E3919F91E}"/>
              </a:ext>
            </a:extLst>
          </p:cNvPr>
          <p:cNvSpPr txBox="1"/>
          <p:nvPr/>
        </p:nvSpPr>
        <p:spPr>
          <a:xfrm>
            <a:off x="0" y="1162853"/>
            <a:ext cx="6019800" cy="6124754"/>
          </a:xfrm>
          <a:prstGeom prst="rect">
            <a:avLst/>
          </a:prstGeom>
          <a:noFill/>
        </p:spPr>
        <p:txBody>
          <a:bodyPr wrap="square">
            <a:spAutoFit/>
          </a:bodyPr>
          <a:lstStyle/>
          <a:p>
            <a:r>
              <a:rPr lang="en-IN" sz="1400" b="0" dirty="0">
                <a:solidFill>
                  <a:srgbClr val="800000"/>
                </a:solidFill>
                <a:effectLst/>
                <a:latin typeface="Consolas" panose="020B0609020204030204" pitchFamily="49" charset="0"/>
              </a:rPr>
              <a:t>&lt;html&gt;&lt;head&gt;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&lt;script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language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"JavaScript"</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1080"/>
                </a:solidFill>
                <a:effectLst/>
                <a:latin typeface="Consolas" panose="020B0609020204030204" pitchFamily="49" charset="0"/>
              </a:rPr>
              <a:t>Idiot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new</a:t>
            </a:r>
            <a:r>
              <a:rPr lang="en-IN" sz="1400" b="0" dirty="0">
                <a:solidFill>
                  <a:srgbClr val="000000"/>
                </a:solidFill>
                <a:effectLst/>
                <a:latin typeface="Consolas" panose="020B0609020204030204" pitchFamily="49" charset="0"/>
              </a:rPr>
              <a:t> </a:t>
            </a:r>
            <a:r>
              <a:rPr lang="en-IN" sz="1400" b="0" dirty="0">
                <a:solidFill>
                  <a:srgbClr val="267F99"/>
                </a:solidFill>
                <a:effectLst/>
                <a:latin typeface="Consolas" panose="020B0609020204030204" pitchFamily="49" charset="0"/>
              </a:rPr>
              <a:t>Error</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"Idiot user detected, terminating... "</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checkAge</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a:t>
            </a:r>
          </a:p>
          <a:p>
            <a:r>
              <a:rPr lang="en-IN" sz="1400" b="0" dirty="0">
                <a:solidFill>
                  <a:srgbClr val="AF00DB"/>
                </a:solidFill>
                <a:effectLst/>
                <a:latin typeface="Consolas" panose="020B0609020204030204" pitchFamily="49" charset="0"/>
              </a:rPr>
              <a:t>try</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 </a:t>
            </a:r>
            <a:r>
              <a:rPr lang="en-IN" sz="1400" b="0" dirty="0">
                <a:solidFill>
                  <a:srgbClr val="008000"/>
                </a:solidFill>
                <a:effectLst/>
                <a:latin typeface="Consolas" panose="020B0609020204030204" pitchFamily="49" charset="0"/>
              </a:rPr>
              <a:t>// if incorrect value in form</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008000"/>
                </a:solidFill>
                <a:effectLst/>
                <a:latin typeface="Consolas" panose="020B0609020204030204" pitchFamily="49" charset="0"/>
              </a:rPr>
              <a:t>// generate an error</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if</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0070C1"/>
                </a:solidFill>
                <a:effectLst/>
                <a:latin typeface="Consolas" panose="020B0609020204030204" pitchFamily="49" charset="0"/>
              </a:rPr>
              <a:t>forms</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0</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age</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value</a:t>
            </a:r>
            <a:r>
              <a:rPr lang="en-IN" sz="1400" b="0" dirty="0">
                <a:solidFill>
                  <a:srgbClr val="000000"/>
                </a:solidFill>
                <a:effectLst/>
                <a:latin typeface="Consolas" panose="020B0609020204030204" pitchFamily="49" charset="0"/>
              </a:rPr>
              <a:t> &gt; </a:t>
            </a:r>
            <a:r>
              <a:rPr lang="en-IN" sz="1400" b="0" dirty="0">
                <a:solidFill>
                  <a:srgbClr val="098658"/>
                </a:solidFill>
                <a:effectLst/>
                <a:latin typeface="Consolas" panose="020B0609020204030204" pitchFamily="49" charset="0"/>
              </a:rPr>
              <a:t>99</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throw</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Idiot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new</a:t>
            </a:r>
            <a:r>
              <a:rPr lang="en-IN" sz="1400" b="0" dirty="0">
                <a:solidFill>
                  <a:srgbClr val="000000"/>
                </a:solidFill>
                <a:effectLst/>
                <a:latin typeface="Consolas" panose="020B0609020204030204" pitchFamily="49" charset="0"/>
              </a:rPr>
              <a:t> </a:t>
            </a:r>
            <a:r>
              <a:rPr lang="en-IN" sz="1400" b="0" dirty="0">
                <a:solidFill>
                  <a:srgbClr val="267F99"/>
                </a:solidFill>
                <a:effectLst/>
                <a:latin typeface="Consolas" panose="020B0609020204030204" pitchFamily="49" charset="0"/>
              </a:rPr>
              <a:t>Error</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"Idiot user detected, terminating... "</a:t>
            </a:r>
            <a:r>
              <a:rPr lang="en-IN" sz="1400" b="0" dirty="0">
                <a:solidFill>
                  <a:srgbClr val="000000"/>
                </a:solidFill>
                <a:effectLst/>
                <a:latin typeface="Consolas" panose="020B0609020204030204" pitchFamily="49" charset="0"/>
              </a:rPr>
              <a:t>)</a:t>
            </a:r>
          </a:p>
          <a:p>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008000"/>
                </a:solidFill>
                <a:effectLst/>
                <a:latin typeface="Consolas" panose="020B0609020204030204" pitchFamily="49" charset="0"/>
              </a:rPr>
              <a:t>//</a:t>
            </a:r>
            <a:r>
              <a:rPr lang="en-IN" sz="1400" b="0" dirty="0" err="1">
                <a:solidFill>
                  <a:srgbClr val="008000"/>
                </a:solidFill>
                <a:effectLst/>
                <a:latin typeface="Consolas" panose="020B0609020204030204" pitchFamily="49" charset="0"/>
              </a:rPr>
              <a:t>thow</a:t>
            </a:r>
            <a:r>
              <a:rPr lang="en-IN" sz="1400" b="0" dirty="0">
                <a:solidFill>
                  <a:srgbClr val="008000"/>
                </a:solidFill>
                <a:effectLst/>
                <a:latin typeface="Consolas" panose="020B0609020204030204" pitchFamily="49" charset="0"/>
              </a:rPr>
              <a:t> </a:t>
            </a:r>
            <a:r>
              <a:rPr lang="en-IN" sz="1400" b="0" dirty="0" err="1">
                <a:solidFill>
                  <a:srgbClr val="008000"/>
                </a:solidFill>
                <a:effectLst/>
                <a:latin typeface="Consolas" panose="020B0609020204030204" pitchFamily="49" charset="0"/>
              </a:rPr>
              <a:t>RangeError</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 </a:t>
            </a:r>
          </a:p>
          <a:p>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catch</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e</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008000"/>
                </a:solidFill>
                <a:effectLst/>
                <a:latin typeface="Consolas" panose="020B0609020204030204" pitchFamily="49" charset="0"/>
              </a:rPr>
              <a:t>// catch all thrown errors and print error type</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alert</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e</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name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  "</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e</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message</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a:t>
            </a:r>
          </a:p>
          <a:p>
            <a:r>
              <a:rPr lang="en-IN" sz="1400" b="0" dirty="0">
                <a:solidFill>
                  <a:srgbClr val="800000"/>
                </a:solidFill>
                <a:effectLst/>
                <a:latin typeface="Consolas" panose="020B0609020204030204" pitchFamily="49" charset="0"/>
              </a:rPr>
              <a:t>&lt;/script&gt;&lt;/head&gt;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&lt;body&gt;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&lt;form&gt;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&lt;input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type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"text"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name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"age"</a:t>
            </a:r>
            <a:r>
              <a:rPr lang="en-IN" sz="1400" b="0" dirty="0">
                <a:solidFill>
                  <a:srgbClr val="000000"/>
                </a:solidFill>
                <a:effectLst/>
                <a:latin typeface="Consolas" panose="020B0609020204030204" pitchFamily="49" charset="0"/>
              </a:rPr>
              <a:t> </a:t>
            </a:r>
            <a:r>
              <a:rPr lang="en-IN" sz="1400" b="0" dirty="0" err="1">
                <a:solidFill>
                  <a:srgbClr val="FF0000"/>
                </a:solidFill>
                <a:effectLst/>
                <a:latin typeface="Consolas" panose="020B0609020204030204" pitchFamily="49" charset="0"/>
              </a:rPr>
              <a:t>onBlur</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checkAge</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&lt;/form&gt;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&lt;/body&gt;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&lt;/html&gt;</a:t>
            </a:r>
            <a:endParaRPr lang="en-IN" sz="1400" b="0" dirty="0">
              <a:solidFill>
                <a:srgbClr val="000000"/>
              </a:solidFill>
              <a:effectLst/>
              <a:latin typeface="Consolas" panose="020B0609020204030204" pitchFamily="49" charset="0"/>
            </a:endParaRPr>
          </a:p>
        </p:txBody>
      </p:sp>
      <p:sp>
        <p:nvSpPr>
          <p:cNvPr id="2" name="Rectangle 1">
            <a:extLst>
              <a:ext uri="{FF2B5EF4-FFF2-40B4-BE49-F238E27FC236}">
                <a16:creationId xmlns:a16="http://schemas.microsoft.com/office/drawing/2014/main" id="{38612734-D88F-4176-B72F-3EF30AD09FEA}"/>
              </a:ext>
            </a:extLst>
          </p:cNvPr>
          <p:cNvSpPr/>
          <p:nvPr/>
        </p:nvSpPr>
        <p:spPr>
          <a:xfrm>
            <a:off x="5638800" y="2209800"/>
            <a:ext cx="8382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Idiot</a:t>
            </a:r>
          </a:p>
        </p:txBody>
      </p:sp>
      <p:cxnSp>
        <p:nvCxnSpPr>
          <p:cNvPr id="7" name="Straight Arrow Connector 6">
            <a:extLst>
              <a:ext uri="{FF2B5EF4-FFF2-40B4-BE49-F238E27FC236}">
                <a16:creationId xmlns:a16="http://schemas.microsoft.com/office/drawing/2014/main" id="{C0C567EC-4C90-42F7-B0B5-F41DFADFF9A0}"/>
              </a:ext>
            </a:extLst>
          </p:cNvPr>
          <p:cNvCxnSpPr/>
          <p:nvPr/>
        </p:nvCxnSpPr>
        <p:spPr>
          <a:xfrm flipV="1">
            <a:off x="6477000" y="2286000"/>
            <a:ext cx="762000" cy="381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FB7F7CB9-EDC2-4902-84B7-09B6B21F3B0E}"/>
              </a:ext>
            </a:extLst>
          </p:cNvPr>
          <p:cNvSpPr/>
          <p:nvPr/>
        </p:nvSpPr>
        <p:spPr>
          <a:xfrm>
            <a:off x="7391400" y="1639907"/>
            <a:ext cx="1524000" cy="15604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Message=“idiot user…”</a:t>
            </a:r>
          </a:p>
        </p:txBody>
      </p:sp>
      <p:sp>
        <p:nvSpPr>
          <p:cNvPr id="9" name="TextBox 8">
            <a:extLst>
              <a:ext uri="{FF2B5EF4-FFF2-40B4-BE49-F238E27FC236}">
                <a16:creationId xmlns:a16="http://schemas.microsoft.com/office/drawing/2014/main" id="{F0BCF104-6537-417A-92AB-06B8CCF1D285}"/>
              </a:ext>
            </a:extLst>
          </p:cNvPr>
          <p:cNvSpPr txBox="1"/>
          <p:nvPr/>
        </p:nvSpPr>
        <p:spPr>
          <a:xfrm>
            <a:off x="7391400" y="1219200"/>
            <a:ext cx="1295400" cy="369332"/>
          </a:xfrm>
          <a:prstGeom prst="rect">
            <a:avLst/>
          </a:prstGeom>
          <a:noFill/>
        </p:spPr>
        <p:txBody>
          <a:bodyPr wrap="square" rtlCol="0">
            <a:spAutoFit/>
          </a:bodyPr>
          <a:lstStyle/>
          <a:p>
            <a:r>
              <a:rPr lang="en-IN" dirty="0"/>
              <a:t>Error</a:t>
            </a:r>
          </a:p>
        </p:txBody>
      </p:sp>
      <p:sp>
        <p:nvSpPr>
          <p:cNvPr id="10" name="Rectangle 9">
            <a:extLst>
              <a:ext uri="{FF2B5EF4-FFF2-40B4-BE49-F238E27FC236}">
                <a16:creationId xmlns:a16="http://schemas.microsoft.com/office/drawing/2014/main" id="{603CC0F9-4DB9-4337-9BC7-EAC68F55E43E}"/>
              </a:ext>
            </a:extLst>
          </p:cNvPr>
          <p:cNvSpPr/>
          <p:nvPr/>
        </p:nvSpPr>
        <p:spPr>
          <a:xfrm>
            <a:off x="5783826" y="3323986"/>
            <a:ext cx="8382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e</a:t>
            </a:r>
          </a:p>
        </p:txBody>
      </p:sp>
      <p:cxnSp>
        <p:nvCxnSpPr>
          <p:cNvPr id="11" name="Straight Arrow Connector 10">
            <a:extLst>
              <a:ext uri="{FF2B5EF4-FFF2-40B4-BE49-F238E27FC236}">
                <a16:creationId xmlns:a16="http://schemas.microsoft.com/office/drawing/2014/main" id="{EDA3F6AA-F878-452E-AC15-ED600F0486E2}"/>
              </a:ext>
            </a:extLst>
          </p:cNvPr>
          <p:cNvCxnSpPr>
            <a:cxnSpLocks/>
          </p:cNvCxnSpPr>
          <p:nvPr/>
        </p:nvCxnSpPr>
        <p:spPr>
          <a:xfrm flipV="1">
            <a:off x="6477000" y="2723347"/>
            <a:ext cx="685800" cy="8977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66800" y="-33867"/>
            <a:ext cx="7162800" cy="461665"/>
          </a:xfrm>
          <a:prstGeom prst="rect">
            <a:avLst/>
          </a:prstGeom>
          <a:noFill/>
        </p:spPr>
        <p:txBody>
          <a:bodyPr wrap="square" rtlCol="0">
            <a:spAutoFit/>
          </a:bodyPr>
          <a:lstStyle/>
          <a:p>
            <a:r>
              <a:rPr lang="en-US" sz="2400" dirty="0"/>
              <a:t>Own Exceptions – The complete example</a:t>
            </a:r>
          </a:p>
        </p:txBody>
      </p:sp>
      <p:sp>
        <p:nvSpPr>
          <p:cNvPr id="7" name="TextBox 6">
            <a:extLst>
              <a:ext uri="{FF2B5EF4-FFF2-40B4-BE49-F238E27FC236}">
                <a16:creationId xmlns:a16="http://schemas.microsoft.com/office/drawing/2014/main" id="{B78B91EE-1C4E-4906-B5E2-FF56EDEB7A0B}"/>
              </a:ext>
            </a:extLst>
          </p:cNvPr>
          <p:cNvSpPr txBox="1"/>
          <p:nvPr/>
        </p:nvSpPr>
        <p:spPr>
          <a:xfrm>
            <a:off x="228600" y="419331"/>
            <a:ext cx="6781800" cy="3046988"/>
          </a:xfrm>
          <a:prstGeom prst="rect">
            <a:avLst/>
          </a:prstGeom>
          <a:noFill/>
        </p:spPr>
        <p:txBody>
          <a:bodyPr wrap="square">
            <a:spAutoFit/>
          </a:bodyPr>
          <a:lstStyle/>
          <a:p>
            <a:r>
              <a:rPr lang="en-IN" sz="1200" b="0" dirty="0">
                <a:solidFill>
                  <a:srgbClr val="800000"/>
                </a:solidFill>
                <a:effectLst/>
                <a:latin typeface="Consolas" panose="020B0609020204030204" pitchFamily="49" charset="0"/>
              </a:rPr>
              <a:t>&lt;html&gt; &lt;head&gt;</a:t>
            </a:r>
            <a:endParaRPr lang="en-IN" sz="1200" b="0" dirty="0">
              <a:solidFill>
                <a:srgbClr val="000000"/>
              </a:solidFill>
              <a:effectLst/>
              <a:latin typeface="Consolas" panose="020B0609020204030204" pitchFamily="49" charset="0"/>
            </a:endParaRPr>
          </a:p>
          <a:p>
            <a:r>
              <a:rPr lang="en-IN" sz="1200" b="0" dirty="0">
                <a:solidFill>
                  <a:srgbClr val="800000"/>
                </a:solidFill>
                <a:effectLst/>
                <a:latin typeface="Consolas" panose="020B0609020204030204" pitchFamily="49" charset="0"/>
              </a:rPr>
              <a:t>&lt;script</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language</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"JavaScript"</a:t>
            </a:r>
            <a:r>
              <a:rPr lang="en-IN" sz="1200" b="0" dirty="0">
                <a:solidFill>
                  <a:srgbClr val="800000"/>
                </a:solidFill>
                <a:effectLst/>
                <a:latin typeface="Consolas" panose="020B0609020204030204" pitchFamily="49" charset="0"/>
              </a:rPr>
              <a:t>&gt;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008000"/>
                </a:solidFill>
                <a:effectLst/>
                <a:latin typeface="Consolas" panose="020B0609020204030204" pitchFamily="49" charset="0"/>
              </a:rPr>
              <a:t>// create new Error objects</a:t>
            </a:r>
            <a:endParaRPr lang="en-IN" sz="1200" b="0" dirty="0">
              <a:solidFill>
                <a:srgbClr val="000000"/>
              </a:solidFill>
              <a:effectLst/>
              <a:latin typeface="Consolas" panose="020B0609020204030204" pitchFamily="49" charset="0"/>
            </a:endParaRPr>
          </a:p>
          <a:p>
            <a:r>
              <a:rPr lang="en-IN" sz="1200" b="0" dirty="0" err="1">
                <a:solidFill>
                  <a:srgbClr val="001080"/>
                </a:solidFill>
                <a:effectLst/>
                <a:latin typeface="Consolas" panose="020B0609020204030204" pitchFamily="49" charset="0"/>
              </a:rPr>
              <a:t>badNameError</a:t>
            </a:r>
            <a:r>
              <a:rPr lang="en-IN" sz="1200" b="0" dirty="0">
                <a:solidFill>
                  <a:srgbClr val="000000"/>
                </a:solidFill>
                <a:effectLst/>
                <a:latin typeface="Consolas" panose="020B0609020204030204" pitchFamily="49" charset="0"/>
              </a:rPr>
              <a:t> = </a:t>
            </a:r>
            <a:r>
              <a:rPr lang="en-IN" sz="1200" b="0" dirty="0">
                <a:solidFill>
                  <a:srgbClr val="0000FF"/>
                </a:solidFill>
                <a:effectLst/>
                <a:latin typeface="Consolas" panose="020B0609020204030204" pitchFamily="49" charset="0"/>
              </a:rPr>
              <a:t>new</a:t>
            </a:r>
            <a:r>
              <a:rPr lang="en-IN" sz="1200" b="0" dirty="0">
                <a:solidFill>
                  <a:srgbClr val="000000"/>
                </a:solidFill>
                <a:effectLst/>
                <a:latin typeface="Consolas" panose="020B0609020204030204" pitchFamily="49" charset="0"/>
              </a:rPr>
              <a:t> </a:t>
            </a:r>
            <a:r>
              <a:rPr lang="en-IN" sz="1200" b="0" dirty="0">
                <a:solidFill>
                  <a:srgbClr val="267F99"/>
                </a:solidFill>
                <a:effectLst/>
                <a:latin typeface="Consolas" panose="020B0609020204030204" pitchFamily="49" charset="0"/>
              </a:rPr>
              <a:t>Error</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"System user name does not match actual user name"</a:t>
            </a:r>
            <a:r>
              <a:rPr lang="en-IN" sz="1200" b="0" dirty="0">
                <a:solidFill>
                  <a:srgbClr val="000000"/>
                </a:solidFill>
                <a:effectLst/>
                <a:latin typeface="Consolas" panose="020B0609020204030204" pitchFamily="49" charset="0"/>
              </a:rPr>
              <a:t>); </a:t>
            </a:r>
          </a:p>
          <a:p>
            <a:r>
              <a:rPr lang="en-IN" sz="1200" b="0" dirty="0" err="1">
                <a:solidFill>
                  <a:srgbClr val="001080"/>
                </a:solidFill>
                <a:effectLst/>
                <a:latin typeface="Consolas" panose="020B0609020204030204" pitchFamily="49" charset="0"/>
              </a:rPr>
              <a:t>noNameError</a:t>
            </a:r>
            <a:r>
              <a:rPr lang="en-IN" sz="1200" b="0" dirty="0">
                <a:solidFill>
                  <a:srgbClr val="000000"/>
                </a:solidFill>
                <a:effectLst/>
                <a:latin typeface="Consolas" panose="020B0609020204030204" pitchFamily="49" charset="0"/>
              </a:rPr>
              <a:t> = </a:t>
            </a:r>
            <a:r>
              <a:rPr lang="en-IN" sz="1200" b="0" dirty="0">
                <a:solidFill>
                  <a:srgbClr val="0000FF"/>
                </a:solidFill>
                <a:effectLst/>
                <a:latin typeface="Consolas" panose="020B0609020204030204" pitchFamily="49" charset="0"/>
              </a:rPr>
              <a:t>new</a:t>
            </a:r>
            <a:r>
              <a:rPr lang="en-IN" sz="1200" b="0" dirty="0">
                <a:solidFill>
                  <a:srgbClr val="000000"/>
                </a:solidFill>
                <a:effectLst/>
                <a:latin typeface="Consolas" panose="020B0609020204030204" pitchFamily="49" charset="0"/>
              </a:rPr>
              <a:t> </a:t>
            </a:r>
            <a:r>
              <a:rPr lang="en-IN" sz="1200" b="0" dirty="0">
                <a:solidFill>
                  <a:srgbClr val="267F99"/>
                </a:solidFill>
                <a:effectLst/>
                <a:latin typeface="Consolas" panose="020B0609020204030204" pitchFamily="49" charset="0"/>
              </a:rPr>
              <a:t>Error</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"System user name cannot be blank"</a:t>
            </a:r>
            <a:r>
              <a:rPr lang="en-IN" sz="1200" b="0" dirty="0">
                <a:solidFill>
                  <a:srgbClr val="000000"/>
                </a:solidFill>
                <a:effectLst/>
                <a:latin typeface="Consolas" panose="020B0609020204030204" pitchFamily="49" charset="0"/>
              </a:rPr>
              <a:t>);</a:t>
            </a:r>
          </a:p>
          <a:p>
            <a:endParaRPr lang="en-IN" sz="1200" b="0" dirty="0">
              <a:solidFill>
                <a:srgbClr val="000000"/>
              </a:solidFill>
              <a:effectLst/>
              <a:latin typeface="Consolas" panose="020B0609020204030204" pitchFamily="49" charset="0"/>
            </a:endParaRPr>
          </a:p>
          <a:p>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mainExceptionHandler</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e</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alert</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e</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message</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008000"/>
                </a:solidFill>
                <a:effectLst/>
                <a:latin typeface="Consolas" panose="020B0609020204030204" pitchFamily="49" charset="0"/>
              </a:rPr>
              <a:t>// general form validation functions</a:t>
            </a:r>
            <a:endParaRPr lang="en-IN" sz="1200" b="0" dirty="0">
              <a:solidFill>
                <a:srgbClr val="000000"/>
              </a:solidFill>
              <a:effectLst/>
              <a:latin typeface="Consolas" panose="020B0609020204030204" pitchFamily="49" charset="0"/>
            </a:endParaRPr>
          </a:p>
          <a:p>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validateForm</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a:t>
            </a:r>
          </a:p>
          <a:p>
            <a:r>
              <a:rPr lang="en-IN" sz="1200" b="0" dirty="0">
                <a:solidFill>
                  <a:srgbClr val="795E26"/>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checkName</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a:t>
            </a:r>
          </a:p>
        </p:txBody>
      </p:sp>
      <p:sp>
        <p:nvSpPr>
          <p:cNvPr id="9" name="TextBox 8">
            <a:extLst>
              <a:ext uri="{FF2B5EF4-FFF2-40B4-BE49-F238E27FC236}">
                <a16:creationId xmlns:a16="http://schemas.microsoft.com/office/drawing/2014/main" id="{6AA09202-FAC8-4331-9252-89132F4AC0BA}"/>
              </a:ext>
            </a:extLst>
          </p:cNvPr>
          <p:cNvSpPr txBox="1"/>
          <p:nvPr/>
        </p:nvSpPr>
        <p:spPr>
          <a:xfrm>
            <a:off x="-76199" y="3657600"/>
            <a:ext cx="4876800" cy="2862322"/>
          </a:xfrm>
          <a:prstGeom prst="rect">
            <a:avLst/>
          </a:prstGeom>
          <a:noFill/>
        </p:spPr>
        <p:txBody>
          <a:bodyPr wrap="square">
            <a:spAutoFit/>
          </a:bodyPr>
          <a:lstStyle/>
          <a:p>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checkName</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try</a:t>
            </a:r>
            <a:r>
              <a:rPr lang="en-IN" sz="1200" b="0" dirty="0">
                <a:solidFill>
                  <a:srgbClr val="000000"/>
                </a:solidFill>
                <a:effectLst/>
                <a:latin typeface="Consolas" panose="020B0609020204030204" pitchFamily="49" charset="0"/>
              </a:rPr>
              <a:t> {</a:t>
            </a:r>
          </a:p>
          <a:p>
            <a:r>
              <a:rPr lang="en-IN" sz="1200" b="0" dirty="0">
                <a:solidFill>
                  <a:srgbClr val="AF00DB"/>
                </a:solidFill>
                <a:effectLst/>
                <a:latin typeface="Consolas" panose="020B0609020204030204" pitchFamily="49" charset="0"/>
              </a:rPr>
              <a:t>          if</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document</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forms</a:t>
            </a:r>
            <a:r>
              <a:rPr lang="en-IN" sz="1200" b="0" dirty="0">
                <a:solidFill>
                  <a:srgbClr val="000000"/>
                </a:solidFill>
                <a:effectLst/>
                <a:latin typeface="Consolas" panose="020B0609020204030204" pitchFamily="49" charset="0"/>
              </a:rPr>
              <a:t>[</a:t>
            </a:r>
            <a:r>
              <a:rPr lang="en-IN" sz="1200" b="0" dirty="0">
                <a:solidFill>
                  <a:srgbClr val="098658"/>
                </a:solidFill>
                <a:effectLst/>
                <a:latin typeface="Consolas" panose="020B0609020204030204" pitchFamily="49" charset="0"/>
              </a:rPr>
              <a:t>0</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username</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 == </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         throw</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noNameError</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if</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document</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forms</a:t>
            </a:r>
            <a:r>
              <a:rPr lang="en-IN" sz="1200" b="0" dirty="0">
                <a:solidFill>
                  <a:srgbClr val="000000"/>
                </a:solidFill>
                <a:effectLst/>
                <a:latin typeface="Consolas" panose="020B0609020204030204" pitchFamily="49" charset="0"/>
              </a:rPr>
              <a:t>[</a:t>
            </a:r>
            <a:r>
              <a:rPr lang="en-IN" sz="1200" b="0" dirty="0">
                <a:solidFill>
                  <a:srgbClr val="098658"/>
                </a:solidFill>
                <a:effectLst/>
                <a:latin typeface="Consolas" panose="020B0609020204030204" pitchFamily="49" charset="0"/>
              </a:rPr>
              <a:t>0</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username</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 != </a:t>
            </a:r>
            <a:r>
              <a:rPr lang="en-IN" sz="1200" b="0" dirty="0">
                <a:solidFill>
                  <a:srgbClr val="A31515"/>
                </a:solidFill>
                <a:effectLst/>
                <a:latin typeface="Consolas" panose="020B0609020204030204" pitchFamily="49" charset="0"/>
              </a:rPr>
              <a:t>"john"</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throw</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badNameError</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 </a:t>
            </a:r>
          </a:p>
          <a:p>
            <a:r>
              <a:rPr lang="en-IN" sz="1200" b="0" dirty="0">
                <a:solidFill>
                  <a:srgbClr val="AF00DB"/>
                </a:solidFill>
                <a:effectLst/>
                <a:latin typeface="Consolas" panose="020B0609020204030204" pitchFamily="49" charset="0"/>
              </a:rPr>
              <a:t>    catch</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e</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008000"/>
                </a:solidFill>
                <a:effectLst/>
                <a:latin typeface="Consolas" panose="020B0609020204030204" pitchFamily="49" charset="0"/>
              </a:rPr>
              <a:t>     // any and all errors will go to this handler</a:t>
            </a:r>
            <a:endParaRPr lang="en-IN" sz="1200" b="0" dirty="0">
              <a:solidFill>
                <a:srgbClr val="000000"/>
              </a:solidFill>
              <a:effectLst/>
              <a:latin typeface="Consolas" panose="020B0609020204030204" pitchFamily="49" charset="0"/>
            </a:endParaRPr>
          </a:p>
          <a:p>
            <a:r>
              <a:rPr lang="en-IN" sz="1200" b="0" dirty="0">
                <a:solidFill>
                  <a:srgbClr val="795E26"/>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mainExceptionHandler</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e</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 </a:t>
            </a:r>
          </a:p>
          <a:p>
            <a:r>
              <a:rPr lang="en-IN" sz="1200" b="0" dirty="0">
                <a:solidFill>
                  <a:srgbClr val="000000"/>
                </a:solidFill>
                <a:effectLst/>
                <a:latin typeface="Consolas" panose="020B0609020204030204" pitchFamily="49" charset="0"/>
              </a:rPr>
              <a:t>} </a:t>
            </a:r>
          </a:p>
        </p:txBody>
      </p:sp>
      <p:sp>
        <p:nvSpPr>
          <p:cNvPr id="11" name="TextBox 10">
            <a:extLst>
              <a:ext uri="{FF2B5EF4-FFF2-40B4-BE49-F238E27FC236}">
                <a16:creationId xmlns:a16="http://schemas.microsoft.com/office/drawing/2014/main" id="{BD8ADBBA-A4B8-4458-8379-E2B753FCCDE5}"/>
              </a:ext>
            </a:extLst>
          </p:cNvPr>
          <p:cNvSpPr txBox="1"/>
          <p:nvPr/>
        </p:nvSpPr>
        <p:spPr>
          <a:xfrm>
            <a:off x="4724400" y="2282005"/>
            <a:ext cx="4724400" cy="3108543"/>
          </a:xfrm>
          <a:prstGeom prst="rect">
            <a:avLst/>
          </a:prstGeom>
          <a:noFill/>
        </p:spPr>
        <p:txBody>
          <a:bodyPr wrap="square">
            <a:spAutoFit/>
          </a:bodyPr>
          <a:lstStyle/>
          <a:p>
            <a:r>
              <a:rPr lang="en-IN" sz="1400" b="0" dirty="0">
                <a:solidFill>
                  <a:srgbClr val="800000"/>
                </a:solidFill>
                <a:effectLst/>
                <a:latin typeface="Consolas" panose="020B0609020204030204" pitchFamily="49" charset="0"/>
              </a:rPr>
              <a:t>&lt;/script&gt;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&lt;/head&gt;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&lt;body&gt;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p>
          <a:p>
            <a:r>
              <a:rPr lang="en-IN" sz="1400" b="0" dirty="0">
                <a:solidFill>
                  <a:srgbClr val="800000"/>
                </a:solidFill>
                <a:effectLst/>
                <a:latin typeface="Consolas" panose="020B0609020204030204" pitchFamily="49" charset="0"/>
              </a:rPr>
              <a:t>&lt;form</a:t>
            </a:r>
            <a:r>
              <a:rPr lang="en-IN" sz="1400" b="0" dirty="0">
                <a:solidFill>
                  <a:srgbClr val="000000"/>
                </a:solidFill>
                <a:effectLst/>
                <a:latin typeface="Consolas" panose="020B0609020204030204" pitchFamily="49" charset="0"/>
              </a:rPr>
              <a:t> </a:t>
            </a:r>
            <a:r>
              <a:rPr lang="en-IN" sz="1400" b="0" dirty="0" err="1">
                <a:solidFill>
                  <a:srgbClr val="FF0000"/>
                </a:solidFill>
                <a:effectLst/>
                <a:latin typeface="Consolas" panose="020B0609020204030204" pitchFamily="49" charset="0"/>
              </a:rPr>
              <a:t>onSubmit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err="1">
                <a:solidFill>
                  <a:srgbClr val="0000FF"/>
                </a:solidFill>
                <a:effectLst/>
                <a:latin typeface="Consolas" panose="020B0609020204030204" pitchFamily="49" charset="0"/>
              </a:rPr>
              <a:t>validateForm</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Enter your system username:</a:t>
            </a: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&lt;input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type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"text"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name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"username"</a:t>
            </a:r>
            <a:r>
              <a:rPr lang="en-IN" sz="1400" b="0" dirty="0">
                <a:solidFill>
                  <a:srgbClr val="800000"/>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p>
          <a:p>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a:t>
            </a:r>
            <a:r>
              <a:rPr lang="en-IN" sz="1400" b="0" dirty="0" err="1">
                <a:solidFill>
                  <a:srgbClr val="800000"/>
                </a:solidFill>
                <a:effectLst/>
                <a:latin typeface="Consolas" panose="020B0609020204030204" pitchFamily="49" charset="0"/>
              </a:rPr>
              <a:t>br</a:t>
            </a:r>
            <a:r>
              <a:rPr lang="en-IN" sz="1400" b="0" dirty="0">
                <a:solidFill>
                  <a:srgbClr val="800000"/>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p>
          <a:p>
            <a:r>
              <a:rPr lang="en-IN" sz="1400" b="0" dirty="0">
                <a:solidFill>
                  <a:srgbClr val="800000"/>
                </a:solidFill>
                <a:effectLst/>
                <a:latin typeface="Consolas" panose="020B0609020204030204" pitchFamily="49" charset="0"/>
              </a:rPr>
              <a:t>&lt;input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type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"submit"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name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"submit"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value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"Go"</a:t>
            </a:r>
            <a:r>
              <a:rPr lang="en-IN" sz="1400" b="0" dirty="0">
                <a:solidFill>
                  <a:srgbClr val="800000"/>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p>
          <a:p>
            <a:r>
              <a:rPr lang="en-IN" sz="1400" b="0" dirty="0">
                <a:solidFill>
                  <a:srgbClr val="800000"/>
                </a:solidFill>
                <a:effectLst/>
                <a:latin typeface="Consolas" panose="020B0609020204030204" pitchFamily="49" charset="0"/>
              </a:rPr>
              <a:t>&lt;/form&gt;</a:t>
            </a:r>
            <a:r>
              <a:rPr lang="en-IN" sz="1400" b="0" dirty="0">
                <a:solidFill>
                  <a:srgbClr val="000000"/>
                </a:solidFill>
                <a:effectLst/>
                <a:latin typeface="Consolas" panose="020B0609020204030204" pitchFamily="49" charset="0"/>
              </a:rPr>
              <a:t> </a:t>
            </a:r>
          </a:p>
          <a:p>
            <a:r>
              <a:rPr lang="en-IN" sz="1400" b="0" dirty="0">
                <a:solidFill>
                  <a:srgbClr val="800000"/>
                </a:solidFill>
                <a:effectLst/>
                <a:latin typeface="Consolas" panose="020B0609020204030204" pitchFamily="49" charset="0"/>
              </a:rPr>
              <a:t>&lt;/body&gt;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&lt;/html&gt;</a:t>
            </a:r>
            <a:endParaRPr lang="en-IN"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295400"/>
            <a:ext cx="8077200" cy="2031325"/>
          </a:xfrm>
          <a:prstGeom prst="rect">
            <a:avLst/>
          </a:prstGeom>
          <a:noFill/>
        </p:spPr>
        <p:txBody>
          <a:bodyPr wrap="square" rtlCol="0">
            <a:spAutoFit/>
          </a:bodyPr>
          <a:lstStyle/>
          <a:p>
            <a:r>
              <a:rPr lang="en-US" sz="1400" dirty="0"/>
              <a:t>You can also create your own exceptions, via the JavaScript Error constructor. </a:t>
            </a:r>
          </a:p>
          <a:p>
            <a:r>
              <a:rPr lang="en-US" sz="1400" dirty="0"/>
              <a:t>The following example demonstrates, by creating a custom error type called </a:t>
            </a:r>
            <a:r>
              <a:rPr lang="en-US" sz="1400" dirty="0" err="1"/>
              <a:t>idiotUserError</a:t>
            </a:r>
            <a:r>
              <a:rPr lang="en-US" sz="1400" dirty="0"/>
              <a:t>.</a:t>
            </a:r>
          </a:p>
          <a:p>
            <a:r>
              <a:rPr lang="en-US" sz="1400" dirty="0"/>
              <a:t> </a:t>
            </a:r>
          </a:p>
          <a:p>
            <a:r>
              <a:rPr lang="en-US" sz="1400" dirty="0"/>
              <a:t>Idiot=new Error(“Idiot user detected, terminating... “)</a:t>
            </a:r>
          </a:p>
          <a:p>
            <a:r>
              <a:rPr lang="en-US" sz="1400" dirty="0"/>
              <a:t>Idiot user detected, terminating...</a:t>
            </a:r>
          </a:p>
          <a:p>
            <a:r>
              <a:rPr lang="en-US" sz="1400" dirty="0"/>
              <a:t> </a:t>
            </a:r>
          </a:p>
          <a:p>
            <a:r>
              <a:rPr lang="en-US" sz="1400" dirty="0"/>
              <a:t>In this case, when you run the script, a new Error object will be created named </a:t>
            </a:r>
            <a:r>
              <a:rPr lang="en-US" sz="1400" dirty="0" err="1"/>
              <a:t>idiotUserError</a:t>
            </a:r>
            <a:r>
              <a:rPr lang="en-US" sz="1400" dirty="0"/>
              <a:t>, with the message specified in the Error object constructor. This error can now be thrown using the regular "throw" statement, as in the previous example.</a:t>
            </a:r>
          </a:p>
        </p:txBody>
      </p:sp>
      <p:sp>
        <p:nvSpPr>
          <p:cNvPr id="5" name="TextBox 4"/>
          <p:cNvSpPr txBox="1"/>
          <p:nvPr/>
        </p:nvSpPr>
        <p:spPr>
          <a:xfrm>
            <a:off x="685800" y="533400"/>
            <a:ext cx="7162800" cy="461665"/>
          </a:xfrm>
          <a:prstGeom prst="rect">
            <a:avLst/>
          </a:prstGeom>
          <a:noFill/>
        </p:spPr>
        <p:txBody>
          <a:bodyPr wrap="square" rtlCol="0">
            <a:spAutoFit/>
          </a:bodyPr>
          <a:lstStyle/>
          <a:p>
            <a:r>
              <a:rPr lang="en-US" sz="2400" dirty="0"/>
              <a:t>Own Exceptions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5800" y="533400"/>
            <a:ext cx="7162800" cy="461665"/>
          </a:xfrm>
          <a:prstGeom prst="rect">
            <a:avLst/>
          </a:prstGeom>
          <a:noFill/>
        </p:spPr>
        <p:txBody>
          <a:bodyPr wrap="square" rtlCol="0">
            <a:spAutoFit/>
          </a:bodyPr>
          <a:lstStyle/>
          <a:p>
            <a:r>
              <a:rPr lang="en-US" sz="2400" dirty="0"/>
              <a:t>Own Exceptions – The complete example</a:t>
            </a:r>
          </a:p>
        </p:txBody>
      </p:sp>
      <p:sp>
        <p:nvSpPr>
          <p:cNvPr id="4" name="TextBox 3">
            <a:extLst>
              <a:ext uri="{FF2B5EF4-FFF2-40B4-BE49-F238E27FC236}">
                <a16:creationId xmlns:a16="http://schemas.microsoft.com/office/drawing/2014/main" id="{4F61BEDB-CAD9-488B-8E86-2F3C3CD87C30}"/>
              </a:ext>
            </a:extLst>
          </p:cNvPr>
          <p:cNvSpPr txBox="1"/>
          <p:nvPr/>
        </p:nvSpPr>
        <p:spPr>
          <a:xfrm>
            <a:off x="304800" y="2133600"/>
            <a:ext cx="8077200" cy="954107"/>
          </a:xfrm>
          <a:prstGeom prst="rect">
            <a:avLst/>
          </a:prstGeom>
          <a:noFill/>
        </p:spPr>
        <p:txBody>
          <a:bodyPr wrap="square" rtlCol="0">
            <a:spAutoFit/>
          </a:bodyPr>
          <a:lstStyle/>
          <a:p>
            <a:endParaRPr lang="en-US" sz="1400" dirty="0"/>
          </a:p>
          <a:p>
            <a:r>
              <a:rPr lang="en-US" sz="1400" dirty="0"/>
              <a:t>In this case, if the value entered into the form is blank or not "john", a custom exception will be thrown by the code. This custom exception can be caught by a generic exception handler such as the one used above, and the exception can be routed and resolved appropriately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422</TotalTime>
  <Words>2696</Words>
  <Application>Microsoft Office PowerPoint</Application>
  <PresentationFormat>On-screen Show (4:3)</PresentationFormat>
  <Paragraphs>359</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General Exception</vt:lpstr>
      <vt:lpstr>PowerPoint Presentation</vt:lpstr>
      <vt:lpstr>PowerPoint Presentation</vt:lpstr>
      <vt:lpstr>PowerPoint Presentation</vt:lpstr>
      <vt:lpstr>PowerPoint Presentation</vt:lpstr>
      <vt:lpstr>PowerPoint Presentation</vt:lpstr>
    </vt:vector>
  </TitlesOfParts>
  <Company>lntinfotech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Dinesh M</dc:creator>
  <cp:lastModifiedBy>sriram mantri vidyanidhi infotech academy</cp:lastModifiedBy>
  <cp:revision>64</cp:revision>
  <dcterms:created xsi:type="dcterms:W3CDTF">2009-01-03T14:45:05Z</dcterms:created>
  <dcterms:modified xsi:type="dcterms:W3CDTF">2025-11-26T17:14:25Z</dcterms:modified>
</cp:coreProperties>
</file>