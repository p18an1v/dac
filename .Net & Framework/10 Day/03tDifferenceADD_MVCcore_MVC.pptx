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4" r:id="rId3"/>
    <p:sldId id="258" r:id="rId4"/>
    <p:sldId id="259" r:id="rId5"/>
    <p:sldId id="256" r:id="rId6"/>
    <p:sldId id="260"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B3B8F-F848-4B50-BE06-32DD659540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A6FBEEF-36B3-4407-8E8F-61399F24B2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4DF644F-5333-4D1B-81BC-81D5592FC142}"/>
              </a:ext>
            </a:extLst>
          </p:cNvPr>
          <p:cNvSpPr>
            <a:spLocks noGrp="1"/>
          </p:cNvSpPr>
          <p:nvPr>
            <p:ph type="dt" sz="half" idx="10"/>
          </p:nvPr>
        </p:nvSpPr>
        <p:spPr/>
        <p:txBody>
          <a:bodyPr/>
          <a:lstStyle/>
          <a:p>
            <a:fld id="{93E579BE-3F48-4303-A283-AC133E5299C6}" type="datetimeFigureOut">
              <a:rPr lang="en-IN" smtClean="0"/>
              <a:t>09-11-2023</a:t>
            </a:fld>
            <a:endParaRPr lang="en-IN"/>
          </a:p>
        </p:txBody>
      </p:sp>
      <p:sp>
        <p:nvSpPr>
          <p:cNvPr id="5" name="Footer Placeholder 4">
            <a:extLst>
              <a:ext uri="{FF2B5EF4-FFF2-40B4-BE49-F238E27FC236}">
                <a16:creationId xmlns:a16="http://schemas.microsoft.com/office/drawing/2014/main" id="{BD8A87BA-A328-4CDA-8521-BAC9B18F2A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52581C-34C3-48E8-8452-39369C0B46E2}"/>
              </a:ext>
            </a:extLst>
          </p:cNvPr>
          <p:cNvSpPr>
            <a:spLocks noGrp="1"/>
          </p:cNvSpPr>
          <p:nvPr>
            <p:ph type="sldNum" sz="quarter" idx="12"/>
          </p:nvPr>
        </p:nvSpPr>
        <p:spPr/>
        <p:txBody>
          <a:bodyPr/>
          <a:lstStyle/>
          <a:p>
            <a:fld id="{8527F505-0CC4-46DB-9B24-481904E37599}" type="slidenum">
              <a:rPr lang="en-IN" smtClean="0"/>
              <a:t>‹#›</a:t>
            </a:fld>
            <a:endParaRPr lang="en-IN"/>
          </a:p>
        </p:txBody>
      </p:sp>
    </p:spTree>
    <p:extLst>
      <p:ext uri="{BB962C8B-B14F-4D97-AF65-F5344CB8AC3E}">
        <p14:creationId xmlns:p14="http://schemas.microsoft.com/office/powerpoint/2010/main" val="1350098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EDD83-EA2B-4A0D-B612-B2E61279A1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5B3C9CE-FFF0-4A3A-A9E1-035268DF55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F1FC6B-B816-45DE-B7E5-5A6DC5996B1B}"/>
              </a:ext>
            </a:extLst>
          </p:cNvPr>
          <p:cNvSpPr>
            <a:spLocks noGrp="1"/>
          </p:cNvSpPr>
          <p:nvPr>
            <p:ph type="dt" sz="half" idx="10"/>
          </p:nvPr>
        </p:nvSpPr>
        <p:spPr/>
        <p:txBody>
          <a:bodyPr/>
          <a:lstStyle/>
          <a:p>
            <a:fld id="{93E579BE-3F48-4303-A283-AC133E5299C6}" type="datetimeFigureOut">
              <a:rPr lang="en-IN" smtClean="0"/>
              <a:t>09-11-2023</a:t>
            </a:fld>
            <a:endParaRPr lang="en-IN"/>
          </a:p>
        </p:txBody>
      </p:sp>
      <p:sp>
        <p:nvSpPr>
          <p:cNvPr id="5" name="Footer Placeholder 4">
            <a:extLst>
              <a:ext uri="{FF2B5EF4-FFF2-40B4-BE49-F238E27FC236}">
                <a16:creationId xmlns:a16="http://schemas.microsoft.com/office/drawing/2014/main" id="{B2EE71F9-8B26-4B0C-91EB-A56F4D671F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CE7AAA-442E-47B5-9979-ECE34CCAC71F}"/>
              </a:ext>
            </a:extLst>
          </p:cNvPr>
          <p:cNvSpPr>
            <a:spLocks noGrp="1"/>
          </p:cNvSpPr>
          <p:nvPr>
            <p:ph type="sldNum" sz="quarter" idx="12"/>
          </p:nvPr>
        </p:nvSpPr>
        <p:spPr/>
        <p:txBody>
          <a:bodyPr/>
          <a:lstStyle/>
          <a:p>
            <a:fld id="{8527F505-0CC4-46DB-9B24-481904E37599}" type="slidenum">
              <a:rPr lang="en-IN" smtClean="0"/>
              <a:t>‹#›</a:t>
            </a:fld>
            <a:endParaRPr lang="en-IN"/>
          </a:p>
        </p:txBody>
      </p:sp>
    </p:spTree>
    <p:extLst>
      <p:ext uri="{BB962C8B-B14F-4D97-AF65-F5344CB8AC3E}">
        <p14:creationId xmlns:p14="http://schemas.microsoft.com/office/powerpoint/2010/main" val="3480994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49DC2-6CC3-410E-8662-42F7227A34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545D924-35C8-42B1-B403-E7ADBBAA82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03BAB4-3941-4817-A22C-B90311632721}"/>
              </a:ext>
            </a:extLst>
          </p:cNvPr>
          <p:cNvSpPr>
            <a:spLocks noGrp="1"/>
          </p:cNvSpPr>
          <p:nvPr>
            <p:ph type="dt" sz="half" idx="10"/>
          </p:nvPr>
        </p:nvSpPr>
        <p:spPr/>
        <p:txBody>
          <a:bodyPr/>
          <a:lstStyle/>
          <a:p>
            <a:fld id="{93E579BE-3F48-4303-A283-AC133E5299C6}" type="datetimeFigureOut">
              <a:rPr lang="en-IN" smtClean="0"/>
              <a:t>09-11-2023</a:t>
            </a:fld>
            <a:endParaRPr lang="en-IN"/>
          </a:p>
        </p:txBody>
      </p:sp>
      <p:sp>
        <p:nvSpPr>
          <p:cNvPr id="5" name="Footer Placeholder 4">
            <a:extLst>
              <a:ext uri="{FF2B5EF4-FFF2-40B4-BE49-F238E27FC236}">
                <a16:creationId xmlns:a16="http://schemas.microsoft.com/office/drawing/2014/main" id="{4CACF06C-E5DA-4E86-B832-C4CDA1628D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DA8926-C6A7-4C0C-AB1D-E5EAFFA4ABD4}"/>
              </a:ext>
            </a:extLst>
          </p:cNvPr>
          <p:cNvSpPr>
            <a:spLocks noGrp="1"/>
          </p:cNvSpPr>
          <p:nvPr>
            <p:ph type="sldNum" sz="quarter" idx="12"/>
          </p:nvPr>
        </p:nvSpPr>
        <p:spPr/>
        <p:txBody>
          <a:bodyPr/>
          <a:lstStyle/>
          <a:p>
            <a:fld id="{8527F505-0CC4-46DB-9B24-481904E37599}" type="slidenum">
              <a:rPr lang="en-IN" smtClean="0"/>
              <a:t>‹#›</a:t>
            </a:fld>
            <a:endParaRPr lang="en-IN"/>
          </a:p>
        </p:txBody>
      </p:sp>
    </p:spTree>
    <p:extLst>
      <p:ext uri="{BB962C8B-B14F-4D97-AF65-F5344CB8AC3E}">
        <p14:creationId xmlns:p14="http://schemas.microsoft.com/office/powerpoint/2010/main" val="2512924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FCB7D-3905-45E5-B286-2B716327B1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1D58C0E-AF87-4281-B440-A1BCC4DE57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EE58ADD-5AF5-4EB0-A349-3E7A323202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E42E0A4-0615-4EC5-8C6E-5156B65391F5}"/>
              </a:ext>
            </a:extLst>
          </p:cNvPr>
          <p:cNvSpPr>
            <a:spLocks noGrp="1"/>
          </p:cNvSpPr>
          <p:nvPr>
            <p:ph type="dt" sz="half" idx="10"/>
          </p:nvPr>
        </p:nvSpPr>
        <p:spPr/>
        <p:txBody>
          <a:bodyPr/>
          <a:lstStyle/>
          <a:p>
            <a:fld id="{93E579BE-3F48-4303-A283-AC133E5299C6}" type="datetimeFigureOut">
              <a:rPr lang="en-IN" smtClean="0"/>
              <a:t>09-11-2023</a:t>
            </a:fld>
            <a:endParaRPr lang="en-IN"/>
          </a:p>
        </p:txBody>
      </p:sp>
      <p:sp>
        <p:nvSpPr>
          <p:cNvPr id="6" name="Footer Placeholder 5">
            <a:extLst>
              <a:ext uri="{FF2B5EF4-FFF2-40B4-BE49-F238E27FC236}">
                <a16:creationId xmlns:a16="http://schemas.microsoft.com/office/drawing/2014/main" id="{FCBE451C-E4F8-4A54-8EE4-4B96C632A9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950746-1817-443C-9C35-2C5A62C36F5E}"/>
              </a:ext>
            </a:extLst>
          </p:cNvPr>
          <p:cNvSpPr>
            <a:spLocks noGrp="1"/>
          </p:cNvSpPr>
          <p:nvPr>
            <p:ph type="sldNum" sz="quarter" idx="12"/>
          </p:nvPr>
        </p:nvSpPr>
        <p:spPr/>
        <p:txBody>
          <a:bodyPr/>
          <a:lstStyle/>
          <a:p>
            <a:fld id="{8527F505-0CC4-46DB-9B24-481904E37599}" type="slidenum">
              <a:rPr lang="en-IN" smtClean="0"/>
              <a:t>‹#›</a:t>
            </a:fld>
            <a:endParaRPr lang="en-IN"/>
          </a:p>
        </p:txBody>
      </p:sp>
    </p:spTree>
    <p:extLst>
      <p:ext uri="{BB962C8B-B14F-4D97-AF65-F5344CB8AC3E}">
        <p14:creationId xmlns:p14="http://schemas.microsoft.com/office/powerpoint/2010/main" val="4051186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C36FB-5F0B-44D1-8037-A3C08A7C8A6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C7D2AF-4163-4FF7-9EEC-5E9CF332EA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5F16-AFCD-446D-A5C0-9E34A1CE6F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7220C43-D556-4B9D-9634-EC937614AA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3963A0-CF01-4CB2-85E8-97DA08EB4C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DC03E52-1C9A-4E37-B79F-C3A1E57596CF}"/>
              </a:ext>
            </a:extLst>
          </p:cNvPr>
          <p:cNvSpPr>
            <a:spLocks noGrp="1"/>
          </p:cNvSpPr>
          <p:nvPr>
            <p:ph type="dt" sz="half" idx="10"/>
          </p:nvPr>
        </p:nvSpPr>
        <p:spPr/>
        <p:txBody>
          <a:bodyPr/>
          <a:lstStyle/>
          <a:p>
            <a:fld id="{93E579BE-3F48-4303-A283-AC133E5299C6}" type="datetimeFigureOut">
              <a:rPr lang="en-IN" smtClean="0"/>
              <a:t>09-11-2023</a:t>
            </a:fld>
            <a:endParaRPr lang="en-IN"/>
          </a:p>
        </p:txBody>
      </p:sp>
      <p:sp>
        <p:nvSpPr>
          <p:cNvPr id="8" name="Footer Placeholder 7">
            <a:extLst>
              <a:ext uri="{FF2B5EF4-FFF2-40B4-BE49-F238E27FC236}">
                <a16:creationId xmlns:a16="http://schemas.microsoft.com/office/drawing/2014/main" id="{B3C5BEB7-B566-40B6-918A-41DE22830B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E430F38-4F11-4D4D-9E89-842FB5B79B43}"/>
              </a:ext>
            </a:extLst>
          </p:cNvPr>
          <p:cNvSpPr>
            <a:spLocks noGrp="1"/>
          </p:cNvSpPr>
          <p:nvPr>
            <p:ph type="sldNum" sz="quarter" idx="12"/>
          </p:nvPr>
        </p:nvSpPr>
        <p:spPr/>
        <p:txBody>
          <a:bodyPr/>
          <a:lstStyle/>
          <a:p>
            <a:fld id="{8527F505-0CC4-46DB-9B24-481904E37599}" type="slidenum">
              <a:rPr lang="en-IN" smtClean="0"/>
              <a:t>‹#›</a:t>
            </a:fld>
            <a:endParaRPr lang="en-IN"/>
          </a:p>
        </p:txBody>
      </p:sp>
    </p:spTree>
    <p:extLst>
      <p:ext uri="{BB962C8B-B14F-4D97-AF65-F5344CB8AC3E}">
        <p14:creationId xmlns:p14="http://schemas.microsoft.com/office/powerpoint/2010/main" val="2796145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24450-7C7E-4FD5-B7F7-4F0213CB457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09E7ED2-C17E-4EA3-BB31-1434F8863CB0}"/>
              </a:ext>
            </a:extLst>
          </p:cNvPr>
          <p:cNvSpPr>
            <a:spLocks noGrp="1"/>
          </p:cNvSpPr>
          <p:nvPr>
            <p:ph type="dt" sz="half" idx="10"/>
          </p:nvPr>
        </p:nvSpPr>
        <p:spPr/>
        <p:txBody>
          <a:bodyPr/>
          <a:lstStyle/>
          <a:p>
            <a:fld id="{93E579BE-3F48-4303-A283-AC133E5299C6}" type="datetimeFigureOut">
              <a:rPr lang="en-IN" smtClean="0"/>
              <a:t>09-11-2023</a:t>
            </a:fld>
            <a:endParaRPr lang="en-IN"/>
          </a:p>
        </p:txBody>
      </p:sp>
      <p:sp>
        <p:nvSpPr>
          <p:cNvPr id="4" name="Footer Placeholder 3">
            <a:extLst>
              <a:ext uri="{FF2B5EF4-FFF2-40B4-BE49-F238E27FC236}">
                <a16:creationId xmlns:a16="http://schemas.microsoft.com/office/drawing/2014/main" id="{6D61E42F-BE14-408D-ACCB-113433062F2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A213AA4-4BA7-4486-B6BD-8BB8BBCDDCDD}"/>
              </a:ext>
            </a:extLst>
          </p:cNvPr>
          <p:cNvSpPr>
            <a:spLocks noGrp="1"/>
          </p:cNvSpPr>
          <p:nvPr>
            <p:ph type="sldNum" sz="quarter" idx="12"/>
          </p:nvPr>
        </p:nvSpPr>
        <p:spPr/>
        <p:txBody>
          <a:bodyPr/>
          <a:lstStyle/>
          <a:p>
            <a:fld id="{8527F505-0CC4-46DB-9B24-481904E37599}" type="slidenum">
              <a:rPr lang="en-IN" smtClean="0"/>
              <a:t>‹#›</a:t>
            </a:fld>
            <a:endParaRPr lang="en-IN"/>
          </a:p>
        </p:txBody>
      </p:sp>
    </p:spTree>
    <p:extLst>
      <p:ext uri="{BB962C8B-B14F-4D97-AF65-F5344CB8AC3E}">
        <p14:creationId xmlns:p14="http://schemas.microsoft.com/office/powerpoint/2010/main" val="4089822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A021FA-23FB-4042-A716-515F80E0D5F4}"/>
              </a:ext>
            </a:extLst>
          </p:cNvPr>
          <p:cNvSpPr>
            <a:spLocks noGrp="1"/>
          </p:cNvSpPr>
          <p:nvPr>
            <p:ph type="dt" sz="half" idx="10"/>
          </p:nvPr>
        </p:nvSpPr>
        <p:spPr/>
        <p:txBody>
          <a:bodyPr/>
          <a:lstStyle/>
          <a:p>
            <a:fld id="{93E579BE-3F48-4303-A283-AC133E5299C6}" type="datetimeFigureOut">
              <a:rPr lang="en-IN" smtClean="0"/>
              <a:t>09-11-2023</a:t>
            </a:fld>
            <a:endParaRPr lang="en-IN"/>
          </a:p>
        </p:txBody>
      </p:sp>
      <p:sp>
        <p:nvSpPr>
          <p:cNvPr id="3" name="Footer Placeholder 2">
            <a:extLst>
              <a:ext uri="{FF2B5EF4-FFF2-40B4-BE49-F238E27FC236}">
                <a16:creationId xmlns:a16="http://schemas.microsoft.com/office/drawing/2014/main" id="{670BAE82-B626-4636-9760-31B9AD62892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95A911-A54C-48CD-BCD5-A8F8C56CEE04}"/>
              </a:ext>
            </a:extLst>
          </p:cNvPr>
          <p:cNvSpPr>
            <a:spLocks noGrp="1"/>
          </p:cNvSpPr>
          <p:nvPr>
            <p:ph type="sldNum" sz="quarter" idx="12"/>
          </p:nvPr>
        </p:nvSpPr>
        <p:spPr/>
        <p:txBody>
          <a:bodyPr/>
          <a:lstStyle/>
          <a:p>
            <a:fld id="{8527F505-0CC4-46DB-9B24-481904E37599}" type="slidenum">
              <a:rPr lang="en-IN" smtClean="0"/>
              <a:t>‹#›</a:t>
            </a:fld>
            <a:endParaRPr lang="en-IN"/>
          </a:p>
        </p:txBody>
      </p:sp>
    </p:spTree>
    <p:extLst>
      <p:ext uri="{BB962C8B-B14F-4D97-AF65-F5344CB8AC3E}">
        <p14:creationId xmlns:p14="http://schemas.microsoft.com/office/powerpoint/2010/main" val="1755039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82117-4DCB-48AB-8406-4C8B409093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D93BCB1-B465-4259-A20D-1DC84FFCA5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7C1B49-E99F-4442-AB27-21981113E7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DF1843-A42A-4630-9DED-E0E46CF4B1E4}"/>
              </a:ext>
            </a:extLst>
          </p:cNvPr>
          <p:cNvSpPr>
            <a:spLocks noGrp="1"/>
          </p:cNvSpPr>
          <p:nvPr>
            <p:ph type="dt" sz="half" idx="10"/>
          </p:nvPr>
        </p:nvSpPr>
        <p:spPr/>
        <p:txBody>
          <a:bodyPr/>
          <a:lstStyle/>
          <a:p>
            <a:fld id="{93E579BE-3F48-4303-A283-AC133E5299C6}" type="datetimeFigureOut">
              <a:rPr lang="en-IN" smtClean="0"/>
              <a:t>09-11-2023</a:t>
            </a:fld>
            <a:endParaRPr lang="en-IN"/>
          </a:p>
        </p:txBody>
      </p:sp>
      <p:sp>
        <p:nvSpPr>
          <p:cNvPr id="6" name="Footer Placeholder 5">
            <a:extLst>
              <a:ext uri="{FF2B5EF4-FFF2-40B4-BE49-F238E27FC236}">
                <a16:creationId xmlns:a16="http://schemas.microsoft.com/office/drawing/2014/main" id="{CCAD2E67-CA60-4C83-9368-2C83C749F1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68930A-CC8C-4925-B035-09BC9886E115}"/>
              </a:ext>
            </a:extLst>
          </p:cNvPr>
          <p:cNvSpPr>
            <a:spLocks noGrp="1"/>
          </p:cNvSpPr>
          <p:nvPr>
            <p:ph type="sldNum" sz="quarter" idx="12"/>
          </p:nvPr>
        </p:nvSpPr>
        <p:spPr/>
        <p:txBody>
          <a:bodyPr/>
          <a:lstStyle/>
          <a:p>
            <a:fld id="{8527F505-0CC4-46DB-9B24-481904E37599}" type="slidenum">
              <a:rPr lang="en-IN" smtClean="0"/>
              <a:t>‹#›</a:t>
            </a:fld>
            <a:endParaRPr lang="en-IN"/>
          </a:p>
        </p:txBody>
      </p:sp>
    </p:spTree>
    <p:extLst>
      <p:ext uri="{BB962C8B-B14F-4D97-AF65-F5344CB8AC3E}">
        <p14:creationId xmlns:p14="http://schemas.microsoft.com/office/powerpoint/2010/main" val="4089364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196F2-624B-4A7D-97CA-409119AF83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C857AD7-D68E-4F64-B594-DA9210AAA4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9528A6E-8BF8-4BBD-9A26-EB8A6297BC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5CE38F-B592-4ECC-9ABC-C6E43D78517F}"/>
              </a:ext>
            </a:extLst>
          </p:cNvPr>
          <p:cNvSpPr>
            <a:spLocks noGrp="1"/>
          </p:cNvSpPr>
          <p:nvPr>
            <p:ph type="dt" sz="half" idx="10"/>
          </p:nvPr>
        </p:nvSpPr>
        <p:spPr/>
        <p:txBody>
          <a:bodyPr/>
          <a:lstStyle/>
          <a:p>
            <a:fld id="{93E579BE-3F48-4303-A283-AC133E5299C6}" type="datetimeFigureOut">
              <a:rPr lang="en-IN" smtClean="0"/>
              <a:t>09-11-2023</a:t>
            </a:fld>
            <a:endParaRPr lang="en-IN"/>
          </a:p>
        </p:txBody>
      </p:sp>
      <p:sp>
        <p:nvSpPr>
          <p:cNvPr id="6" name="Footer Placeholder 5">
            <a:extLst>
              <a:ext uri="{FF2B5EF4-FFF2-40B4-BE49-F238E27FC236}">
                <a16:creationId xmlns:a16="http://schemas.microsoft.com/office/drawing/2014/main" id="{DE40060A-0FBB-49AC-B9C7-2ED330C3A5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F7BDA5-5D08-4E65-BB2F-4870D082CF0B}"/>
              </a:ext>
            </a:extLst>
          </p:cNvPr>
          <p:cNvSpPr>
            <a:spLocks noGrp="1"/>
          </p:cNvSpPr>
          <p:nvPr>
            <p:ph type="sldNum" sz="quarter" idx="12"/>
          </p:nvPr>
        </p:nvSpPr>
        <p:spPr/>
        <p:txBody>
          <a:bodyPr/>
          <a:lstStyle/>
          <a:p>
            <a:fld id="{8527F505-0CC4-46DB-9B24-481904E37599}" type="slidenum">
              <a:rPr lang="en-IN" smtClean="0"/>
              <a:t>‹#›</a:t>
            </a:fld>
            <a:endParaRPr lang="en-IN"/>
          </a:p>
        </p:txBody>
      </p:sp>
    </p:spTree>
    <p:extLst>
      <p:ext uri="{BB962C8B-B14F-4D97-AF65-F5344CB8AC3E}">
        <p14:creationId xmlns:p14="http://schemas.microsoft.com/office/powerpoint/2010/main" val="3770859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71C87-8612-4BEF-BBEB-E83045D999C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FE22EE-9AF7-4AEC-8DEF-38D98EDF99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2C1BD7-ACDC-4269-A653-170D142515F0}"/>
              </a:ext>
            </a:extLst>
          </p:cNvPr>
          <p:cNvSpPr>
            <a:spLocks noGrp="1"/>
          </p:cNvSpPr>
          <p:nvPr>
            <p:ph type="dt" sz="half" idx="10"/>
          </p:nvPr>
        </p:nvSpPr>
        <p:spPr/>
        <p:txBody>
          <a:bodyPr/>
          <a:lstStyle/>
          <a:p>
            <a:fld id="{93E579BE-3F48-4303-A283-AC133E5299C6}" type="datetimeFigureOut">
              <a:rPr lang="en-IN" smtClean="0"/>
              <a:t>09-11-2023</a:t>
            </a:fld>
            <a:endParaRPr lang="en-IN"/>
          </a:p>
        </p:txBody>
      </p:sp>
      <p:sp>
        <p:nvSpPr>
          <p:cNvPr id="5" name="Footer Placeholder 4">
            <a:extLst>
              <a:ext uri="{FF2B5EF4-FFF2-40B4-BE49-F238E27FC236}">
                <a16:creationId xmlns:a16="http://schemas.microsoft.com/office/drawing/2014/main" id="{E20A375E-87E7-41BC-A422-13D2D708D4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5ADDBF-EDD8-4640-AEB8-E82B9A879E97}"/>
              </a:ext>
            </a:extLst>
          </p:cNvPr>
          <p:cNvSpPr>
            <a:spLocks noGrp="1"/>
          </p:cNvSpPr>
          <p:nvPr>
            <p:ph type="sldNum" sz="quarter" idx="12"/>
          </p:nvPr>
        </p:nvSpPr>
        <p:spPr/>
        <p:txBody>
          <a:bodyPr/>
          <a:lstStyle/>
          <a:p>
            <a:fld id="{8527F505-0CC4-46DB-9B24-481904E37599}" type="slidenum">
              <a:rPr lang="en-IN" smtClean="0"/>
              <a:t>‹#›</a:t>
            </a:fld>
            <a:endParaRPr lang="en-IN"/>
          </a:p>
        </p:txBody>
      </p:sp>
    </p:spTree>
    <p:extLst>
      <p:ext uri="{BB962C8B-B14F-4D97-AF65-F5344CB8AC3E}">
        <p14:creationId xmlns:p14="http://schemas.microsoft.com/office/powerpoint/2010/main" val="1028788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9613A0-BFE6-4DD6-B584-4C59564BC5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D45F13-7CF6-410A-9F22-BEBD70D077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B1C33D-AC6B-4DA9-BFB9-83B07F8112FA}"/>
              </a:ext>
            </a:extLst>
          </p:cNvPr>
          <p:cNvSpPr>
            <a:spLocks noGrp="1"/>
          </p:cNvSpPr>
          <p:nvPr>
            <p:ph type="dt" sz="half" idx="10"/>
          </p:nvPr>
        </p:nvSpPr>
        <p:spPr/>
        <p:txBody>
          <a:bodyPr/>
          <a:lstStyle/>
          <a:p>
            <a:fld id="{93E579BE-3F48-4303-A283-AC133E5299C6}" type="datetimeFigureOut">
              <a:rPr lang="en-IN" smtClean="0"/>
              <a:t>09-11-2023</a:t>
            </a:fld>
            <a:endParaRPr lang="en-IN"/>
          </a:p>
        </p:txBody>
      </p:sp>
      <p:sp>
        <p:nvSpPr>
          <p:cNvPr id="5" name="Footer Placeholder 4">
            <a:extLst>
              <a:ext uri="{FF2B5EF4-FFF2-40B4-BE49-F238E27FC236}">
                <a16:creationId xmlns:a16="http://schemas.microsoft.com/office/drawing/2014/main" id="{08AE588F-AE8A-4933-9870-E6F6826310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30E954-A0A0-421A-A409-27199145A19A}"/>
              </a:ext>
            </a:extLst>
          </p:cNvPr>
          <p:cNvSpPr>
            <a:spLocks noGrp="1"/>
          </p:cNvSpPr>
          <p:nvPr>
            <p:ph type="sldNum" sz="quarter" idx="12"/>
          </p:nvPr>
        </p:nvSpPr>
        <p:spPr/>
        <p:txBody>
          <a:bodyPr/>
          <a:lstStyle/>
          <a:p>
            <a:fld id="{8527F505-0CC4-46DB-9B24-481904E37599}" type="slidenum">
              <a:rPr lang="en-IN" smtClean="0"/>
              <a:t>‹#›</a:t>
            </a:fld>
            <a:endParaRPr lang="en-IN"/>
          </a:p>
        </p:txBody>
      </p:sp>
    </p:spTree>
    <p:extLst>
      <p:ext uri="{BB962C8B-B14F-4D97-AF65-F5344CB8AC3E}">
        <p14:creationId xmlns:p14="http://schemas.microsoft.com/office/powerpoint/2010/main" val="1314033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0F60E-4826-4858-BF23-90860137D4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ECA910-9382-43CD-B6F1-2D805261E6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E50EA5-67AF-4DE6-A71C-43F3117CB3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E579BE-3F48-4303-A283-AC133E5299C6}" type="datetimeFigureOut">
              <a:rPr lang="en-IN" smtClean="0"/>
              <a:t>09-11-2023</a:t>
            </a:fld>
            <a:endParaRPr lang="en-IN"/>
          </a:p>
        </p:txBody>
      </p:sp>
      <p:sp>
        <p:nvSpPr>
          <p:cNvPr id="5" name="Footer Placeholder 4">
            <a:extLst>
              <a:ext uri="{FF2B5EF4-FFF2-40B4-BE49-F238E27FC236}">
                <a16:creationId xmlns:a16="http://schemas.microsoft.com/office/drawing/2014/main" id="{AE1FD718-BC26-4C68-8837-B101D2546F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596C244-92B9-4709-BDA9-9520950440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27F505-0CC4-46DB-9B24-481904E37599}" type="slidenum">
              <a:rPr lang="en-IN" smtClean="0"/>
              <a:t>‹#›</a:t>
            </a:fld>
            <a:endParaRPr lang="en-IN"/>
          </a:p>
        </p:txBody>
      </p:sp>
    </p:spTree>
    <p:extLst>
      <p:ext uri="{BB962C8B-B14F-4D97-AF65-F5344CB8AC3E}">
        <p14:creationId xmlns:p14="http://schemas.microsoft.com/office/powerpoint/2010/main" val="42695077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learn.microsoft.com/en-us/dotnet/api/microsoft.extensions.dependencyinjection.entityframeworkservicecollectionextensions.adddbcontext" TargetMode="External"/><Relationship Id="rId2" Type="http://schemas.openxmlformats.org/officeDocument/2006/relationships/hyperlink" Target="https://learn.microsoft.com/en-us/aspnet/core/fundamentals/dependency-injection?view=aspnetcore-7.0#service-lifetimes"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ocs.microsoft.com/en-us/aspnet/core/fundamentals/dependency-injection" TargetMode="External"/><Relationship Id="rId2" Type="http://schemas.openxmlformats.org/officeDocument/2006/relationships/hyperlink" Target="https://docs.microsoft.com/en-us/dotnet/api/microsoft.entityframeworkcore.dbcontext" TargetMode="External"/><Relationship Id="rId1" Type="http://schemas.openxmlformats.org/officeDocument/2006/relationships/slideLayout" Target="../slideLayouts/slideLayout2.xml"/><Relationship Id="rId5" Type="http://schemas.openxmlformats.org/officeDocument/2006/relationships/hyperlink" Target="https://docs.microsoft.com/en-us/aspnet/core/fundamentals/dependency-injection#service-lifetimes" TargetMode="External"/><Relationship Id="rId4" Type="http://schemas.openxmlformats.org/officeDocument/2006/relationships/hyperlink" Target="https://docs.microsoft.com/en-us/dotnet/api/microsoft.extensions.dependencyinjection.entityframeworkservicecollectionextensions.adddbcontextpoo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FB7CEE3-2C87-44B3-9CE0-C9E41A29E21A}"/>
              </a:ext>
            </a:extLst>
          </p:cNvPr>
          <p:cNvSpPr txBox="1"/>
          <p:nvPr/>
        </p:nvSpPr>
        <p:spPr>
          <a:xfrm>
            <a:off x="334296" y="325764"/>
            <a:ext cx="11316930" cy="369332"/>
          </a:xfrm>
          <a:prstGeom prst="rect">
            <a:avLst/>
          </a:prstGeom>
          <a:noFill/>
        </p:spPr>
        <p:txBody>
          <a:bodyPr wrap="square">
            <a:spAutoFit/>
          </a:bodyPr>
          <a:lstStyle/>
          <a:p>
            <a:pPr algn="just" fontAlgn="base"/>
            <a:r>
              <a:rPr lang="en-IN" sz="1800" b="1" i="0" dirty="0" err="1">
                <a:solidFill>
                  <a:srgbClr val="000000"/>
                </a:solidFill>
                <a:effectLst/>
                <a:latin typeface="arial" panose="020B0604020202020204" pitchFamily="34" charset="0"/>
              </a:rPr>
              <a:t>AddController</a:t>
            </a:r>
            <a:r>
              <a:rPr lang="en-IN" sz="1800" b="1" i="0" dirty="0">
                <a:solidFill>
                  <a:srgbClr val="000000"/>
                </a:solidFill>
                <a:effectLst/>
                <a:latin typeface="arial" panose="020B0604020202020204" pitchFamily="34" charset="0"/>
              </a:rPr>
              <a:t> vs </a:t>
            </a:r>
            <a:r>
              <a:rPr lang="en-IN" sz="1800" b="1" i="0" dirty="0" err="1">
                <a:solidFill>
                  <a:srgbClr val="000000"/>
                </a:solidFill>
                <a:effectLst/>
                <a:latin typeface="arial" panose="020B0604020202020204" pitchFamily="34" charset="0"/>
              </a:rPr>
              <a:t>AddMvc</a:t>
            </a:r>
            <a:r>
              <a:rPr lang="en-IN" sz="1800" b="1" i="0" dirty="0">
                <a:solidFill>
                  <a:srgbClr val="000000"/>
                </a:solidFill>
                <a:effectLst/>
                <a:latin typeface="arial" panose="020B0604020202020204" pitchFamily="34" charset="0"/>
              </a:rPr>
              <a:t> vs </a:t>
            </a:r>
            <a:r>
              <a:rPr lang="en-IN" sz="1800" b="1" i="0" dirty="0" err="1">
                <a:solidFill>
                  <a:srgbClr val="000000"/>
                </a:solidFill>
                <a:effectLst/>
                <a:latin typeface="arial" panose="020B0604020202020204" pitchFamily="34" charset="0"/>
              </a:rPr>
              <a:t>AddControllersWithViews</a:t>
            </a:r>
            <a:r>
              <a:rPr lang="en-IN" sz="1800" b="1" i="0" dirty="0">
                <a:solidFill>
                  <a:srgbClr val="000000"/>
                </a:solidFill>
                <a:effectLst/>
                <a:latin typeface="arial" panose="020B0604020202020204" pitchFamily="34" charset="0"/>
              </a:rPr>
              <a:t> vs </a:t>
            </a:r>
            <a:r>
              <a:rPr lang="en-IN" sz="1800" b="1" i="0" dirty="0" err="1">
                <a:solidFill>
                  <a:srgbClr val="000000"/>
                </a:solidFill>
                <a:effectLst/>
                <a:latin typeface="arial" panose="020B0604020202020204" pitchFamily="34" charset="0"/>
              </a:rPr>
              <a:t>AddRazorPages</a:t>
            </a:r>
            <a:endParaRPr lang="en-IN" b="0" i="0" dirty="0">
              <a:solidFill>
                <a:srgbClr val="3A3A3A"/>
              </a:solidFill>
              <a:effectLst/>
              <a:latin typeface="-apple-system"/>
            </a:endParaRPr>
          </a:p>
        </p:txBody>
      </p:sp>
      <p:pic>
        <p:nvPicPr>
          <p:cNvPr id="1026" name="Picture 2" descr="AddController() vs AddMvc() vs AddControllersWithViews() vs AddRazorPages() method in ASP.NET Core application">
            <a:extLst>
              <a:ext uri="{FF2B5EF4-FFF2-40B4-BE49-F238E27FC236}">
                <a16:creationId xmlns:a16="http://schemas.microsoft.com/office/drawing/2014/main" id="{2B8F18DF-474D-4A53-8AC5-4FA2745ACE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51" y="1258530"/>
            <a:ext cx="12014897" cy="3539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8805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B751BC-130F-487D-B474-3664CFA07E84}"/>
              </a:ext>
            </a:extLst>
          </p:cNvPr>
          <p:cNvSpPr>
            <a:spLocks noGrp="1"/>
          </p:cNvSpPr>
          <p:nvPr>
            <p:ph type="title"/>
          </p:nvPr>
        </p:nvSpPr>
        <p:spPr>
          <a:xfrm>
            <a:off x="1205680" y="-28166"/>
            <a:ext cx="9780639" cy="391959"/>
          </a:xfrm>
        </p:spPr>
        <p:txBody>
          <a:bodyPr>
            <a:noAutofit/>
          </a:bodyPr>
          <a:lstStyle/>
          <a:p>
            <a:r>
              <a:rPr lang="en-US" sz="2000" b="1" i="0" dirty="0">
                <a:solidFill>
                  <a:srgbClr val="333333"/>
                </a:solidFill>
                <a:effectLst/>
                <a:latin typeface="arial" panose="020B0604020202020204" pitchFamily="34" charset="0"/>
              </a:rPr>
              <a:t>Difference between </a:t>
            </a:r>
            <a:r>
              <a:rPr lang="en-US" sz="2000" b="1" i="0" dirty="0" err="1">
                <a:solidFill>
                  <a:srgbClr val="0000FF"/>
                </a:solidFill>
                <a:effectLst/>
                <a:latin typeface="arial" panose="020B0604020202020204" pitchFamily="34" charset="0"/>
              </a:rPr>
              <a:t>AddMvc</a:t>
            </a:r>
            <a:r>
              <a:rPr lang="en-US" sz="2000" b="1" i="0" dirty="0">
                <a:solidFill>
                  <a:srgbClr val="0000FF"/>
                </a:solidFill>
                <a:effectLst/>
                <a:latin typeface="arial" panose="020B0604020202020204" pitchFamily="34" charset="0"/>
              </a:rPr>
              <a:t>()</a:t>
            </a:r>
            <a:r>
              <a:rPr lang="en-US" sz="2000" b="1" i="0" dirty="0">
                <a:solidFill>
                  <a:srgbClr val="333333"/>
                </a:solidFill>
                <a:effectLst/>
                <a:latin typeface="arial" panose="020B0604020202020204" pitchFamily="34" charset="0"/>
              </a:rPr>
              <a:t> and </a:t>
            </a:r>
            <a:r>
              <a:rPr lang="en-US" sz="2000" b="1" i="0" dirty="0" err="1">
                <a:solidFill>
                  <a:srgbClr val="0000FF"/>
                </a:solidFill>
                <a:effectLst/>
                <a:latin typeface="arial" panose="020B0604020202020204" pitchFamily="34" charset="0"/>
              </a:rPr>
              <a:t>AddMvcCore</a:t>
            </a:r>
            <a:r>
              <a:rPr lang="en-US" sz="2000" b="1" i="0" dirty="0">
                <a:solidFill>
                  <a:srgbClr val="0000FF"/>
                </a:solidFill>
                <a:effectLst/>
                <a:latin typeface="arial" panose="020B0604020202020204" pitchFamily="34" charset="0"/>
              </a:rPr>
              <a:t>()</a:t>
            </a:r>
            <a:r>
              <a:rPr lang="en-US" sz="2000" b="0" i="0" dirty="0">
                <a:solidFill>
                  <a:srgbClr val="333333"/>
                </a:solidFill>
                <a:effectLst/>
                <a:latin typeface="arial" panose="020B0604020202020204" pitchFamily="34" charset="0"/>
              </a:rPr>
              <a:t> methods. </a:t>
            </a:r>
            <a:endParaRPr lang="en-IN" sz="2000" dirty="0"/>
          </a:p>
        </p:txBody>
      </p:sp>
      <p:sp>
        <p:nvSpPr>
          <p:cNvPr id="6" name="TextBox 5">
            <a:extLst>
              <a:ext uri="{FF2B5EF4-FFF2-40B4-BE49-F238E27FC236}">
                <a16:creationId xmlns:a16="http://schemas.microsoft.com/office/drawing/2014/main" id="{CF0BD27E-C563-41AB-B8CD-B37CE4D1DFCB}"/>
              </a:ext>
            </a:extLst>
          </p:cNvPr>
          <p:cNvSpPr txBox="1"/>
          <p:nvPr/>
        </p:nvSpPr>
        <p:spPr>
          <a:xfrm>
            <a:off x="808171" y="391371"/>
            <a:ext cx="11906864" cy="10772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To setup MVC in an ASP.NET Core application we call </a:t>
            </a:r>
            <a:r>
              <a:rPr kumimoji="0" lang="en-US" altLang="en-US" sz="1600" b="0" i="0" u="none" strike="noStrike" kern="1200" cap="none" spc="0" normalizeH="0" baseline="0" noProof="0" dirty="0" err="1">
                <a:ln>
                  <a:noFill/>
                </a:ln>
                <a:solidFill>
                  <a:srgbClr val="0000FF"/>
                </a:solidFill>
                <a:effectLst/>
                <a:uLnTx/>
                <a:uFillTx/>
                <a:latin typeface="Arial" panose="020B0604020202020204" pitchFamily="34" charset="0"/>
                <a:ea typeface="+mn-ea"/>
                <a:cs typeface="Arial" panose="020B0604020202020204" pitchFamily="34" charset="0"/>
              </a:rPr>
              <a:t>AddMvc</a:t>
            </a:r>
            <a:r>
              <a:rPr kumimoji="0" lang="en-US" altLang="en-US" sz="1600" b="0" i="0"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a:t>
            </a:r>
            <a:r>
              <a:rPr kumimoji="0" lang="en-US" altLang="en-US" sz="16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 method of the </a:t>
            </a:r>
            <a:r>
              <a:rPr kumimoji="0" lang="en-US" altLang="en-US" sz="1600" b="0" i="0" u="none" strike="noStrike" kern="1200" cap="none" spc="0" normalizeH="0" baseline="0" noProof="0" dirty="0" err="1">
                <a:ln>
                  <a:noFill/>
                </a:ln>
                <a:solidFill>
                  <a:srgbClr val="3D85C6"/>
                </a:solidFill>
                <a:effectLst/>
                <a:uLnTx/>
                <a:uFillTx/>
                <a:latin typeface="Arial" panose="020B0604020202020204" pitchFamily="34" charset="0"/>
                <a:ea typeface="+mn-ea"/>
                <a:cs typeface="Arial" panose="020B0604020202020204" pitchFamily="34" charset="0"/>
              </a:rPr>
              <a:t>IServiceCollection</a:t>
            </a:r>
            <a:r>
              <a:rPr kumimoji="0" lang="en-US" altLang="en-US" sz="1600" b="0" i="0" u="none" strike="noStrike" kern="1200" cap="none" spc="0" normalizeH="0" baseline="0" noProof="0" dirty="0">
                <a:ln>
                  <a:noFill/>
                </a:ln>
                <a:solidFill>
                  <a:srgbClr val="3D85C6"/>
                </a:solidFill>
                <a:effectLst/>
                <a:uLnTx/>
                <a:uFillTx/>
                <a:latin typeface="Arial" panose="020B0604020202020204" pitchFamily="34" charset="0"/>
                <a:ea typeface="+mn-ea"/>
                <a:cs typeface="Arial" panose="020B0604020202020204" pitchFamily="34" charset="0"/>
              </a:rPr>
              <a:t> </a:t>
            </a:r>
            <a:r>
              <a:rPr kumimoji="0" lang="en-US" altLang="en-US" sz="16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interface</a:t>
            </a:r>
            <a:br>
              <a:rPr kumimoji="0" lang="en-US" alt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altLang="en-US" sz="1600" b="0" i="0" u="none" strike="noStrike" kern="1200" cap="none" spc="0" normalizeH="0" baseline="0" noProof="0" dirty="0" err="1">
                <a:ln>
                  <a:noFill/>
                </a:ln>
                <a:solidFill>
                  <a:srgbClr val="0000FF"/>
                </a:solidFill>
                <a:effectLst/>
                <a:uLnTx/>
                <a:uFillTx/>
                <a:latin typeface="Arial" panose="020B0604020202020204" pitchFamily="34" charset="0"/>
                <a:ea typeface="+mn-ea"/>
                <a:cs typeface="Arial" panose="020B0604020202020204" pitchFamily="34" charset="0"/>
              </a:rPr>
              <a:t>services.AddMvc</a:t>
            </a:r>
            <a:r>
              <a:rPr kumimoji="0" lang="en-US" altLang="en-US" sz="1600" b="0" i="0"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a:t>
            </a:r>
            <a:endParaRPr kumimoji="0" lang="en-US" alt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In addition to </a:t>
            </a:r>
            <a:r>
              <a:rPr kumimoji="0" lang="en-US" altLang="en-US" sz="1600" b="0" i="0" u="none" strike="noStrike" kern="1200" cap="none" spc="0" normalizeH="0" baseline="0" noProof="0" dirty="0" err="1">
                <a:ln>
                  <a:noFill/>
                </a:ln>
                <a:solidFill>
                  <a:srgbClr val="0000FF"/>
                </a:solidFill>
                <a:effectLst/>
                <a:uLnTx/>
                <a:uFillTx/>
                <a:latin typeface="Arial" panose="020B0604020202020204" pitchFamily="34" charset="0"/>
                <a:ea typeface="+mn-ea"/>
                <a:cs typeface="Arial" panose="020B0604020202020204" pitchFamily="34" charset="0"/>
              </a:rPr>
              <a:t>AddMvc</a:t>
            </a:r>
            <a:r>
              <a:rPr kumimoji="0" lang="en-US" altLang="en-US" sz="1600" b="0" i="0"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a:t>
            </a:r>
            <a:r>
              <a:rPr kumimoji="0" lang="en-US" altLang="en-US" sz="16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 method we also have </a:t>
            </a:r>
            <a:r>
              <a:rPr kumimoji="0" lang="en-US" altLang="en-US" sz="1600" b="0" i="0" u="none" strike="noStrike" kern="1200" cap="none" spc="0" normalizeH="0" baseline="0" noProof="0" dirty="0" err="1">
                <a:ln>
                  <a:noFill/>
                </a:ln>
                <a:solidFill>
                  <a:srgbClr val="0000FF"/>
                </a:solidFill>
                <a:effectLst/>
                <a:uLnTx/>
                <a:uFillTx/>
                <a:latin typeface="Arial" panose="020B0604020202020204" pitchFamily="34" charset="0"/>
                <a:ea typeface="+mn-ea"/>
                <a:cs typeface="Arial" panose="020B0604020202020204" pitchFamily="34" charset="0"/>
              </a:rPr>
              <a:t>AddMvcCore</a:t>
            </a:r>
            <a:r>
              <a:rPr kumimoji="0" lang="en-US" altLang="en-US" sz="1600" b="0" i="0"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a:t>
            </a:r>
            <a:r>
              <a:rPr kumimoji="0" lang="en-US" altLang="en-US" sz="16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 method on the </a:t>
            </a:r>
            <a:r>
              <a:rPr kumimoji="0" lang="en-US" altLang="en-US" sz="1600" b="0" i="0" u="none" strike="noStrike" kern="1200" cap="none" spc="0" normalizeH="0" baseline="0" noProof="0" dirty="0" err="1">
                <a:ln>
                  <a:noFill/>
                </a:ln>
                <a:solidFill>
                  <a:srgbClr val="3D85C6"/>
                </a:solidFill>
                <a:effectLst/>
                <a:uLnTx/>
                <a:uFillTx/>
                <a:latin typeface="Arial" panose="020B0604020202020204" pitchFamily="34" charset="0"/>
                <a:ea typeface="+mn-ea"/>
                <a:cs typeface="Arial" panose="020B0604020202020204" pitchFamily="34" charset="0"/>
              </a:rPr>
              <a:t>IServiceCollection</a:t>
            </a:r>
            <a:r>
              <a:rPr kumimoji="0" lang="en-US" altLang="en-US" sz="1600" b="0" i="0" u="none" strike="noStrike" kern="1200" cap="none" spc="0" normalizeH="0" baseline="0" noProof="0" dirty="0">
                <a:ln>
                  <a:noFill/>
                </a:ln>
                <a:solidFill>
                  <a:srgbClr val="3D85C6"/>
                </a:solidFill>
                <a:effectLst/>
                <a:uLnTx/>
                <a:uFillTx/>
                <a:latin typeface="Arial" panose="020B0604020202020204" pitchFamily="34" charset="0"/>
                <a:ea typeface="+mn-ea"/>
                <a:cs typeface="Arial" panose="020B0604020202020204" pitchFamily="34" charset="0"/>
              </a:rPr>
              <a:t> </a:t>
            </a:r>
            <a:r>
              <a:rPr kumimoji="0" lang="en-US" altLang="en-US" sz="1600" b="0" i="0" u="none" strike="noStrike" kern="1200" cap="none" spc="0" normalizeH="0" baseline="0" noProof="0" dirty="0">
                <a:ln>
                  <a:noFill/>
                </a:ln>
                <a:solidFill>
                  <a:srgbClr val="333333"/>
                </a:solidFill>
                <a:effectLst/>
                <a:uLnTx/>
                <a:uFillTx/>
                <a:latin typeface="Arial" panose="020B0604020202020204" pitchFamily="34" charset="0"/>
                <a:ea typeface="+mn-ea"/>
                <a:cs typeface="Arial" panose="020B0604020202020204" pitchFamily="34" charset="0"/>
              </a:rPr>
              <a:t>interface. So, the obvious question that comes to our mind is, what's the difference between these 2 methods.</a:t>
            </a:r>
          </a:p>
        </p:txBody>
      </p:sp>
      <p:sp>
        <p:nvSpPr>
          <p:cNvPr id="7" name="TextBox 6">
            <a:extLst>
              <a:ext uri="{FF2B5EF4-FFF2-40B4-BE49-F238E27FC236}">
                <a16:creationId xmlns:a16="http://schemas.microsoft.com/office/drawing/2014/main" id="{8D72784B-74B8-4956-85A4-497EA57E45B6}"/>
              </a:ext>
            </a:extLst>
          </p:cNvPr>
          <p:cNvSpPr txBox="1"/>
          <p:nvPr/>
        </p:nvSpPr>
        <p:spPr>
          <a:xfrm>
            <a:off x="-1" y="1711481"/>
            <a:ext cx="6096000" cy="3970318"/>
          </a:xfrm>
          <a:prstGeom prst="rect">
            <a:avLst/>
          </a:prstGeom>
          <a:noFill/>
        </p:spPr>
        <p:txBody>
          <a:bodyPr wrap="square">
            <a:spAutoFit/>
          </a:bodyPr>
          <a:lstStyle/>
          <a:p>
            <a:pPr algn="l"/>
            <a:r>
              <a:rPr lang="en-US" sz="1200" b="1" i="0" dirty="0" err="1">
                <a:solidFill>
                  <a:srgbClr val="333333"/>
                </a:solidFill>
                <a:effectLst/>
                <a:latin typeface="arial" panose="020B0604020202020204" pitchFamily="34" charset="0"/>
              </a:rPr>
              <a:t>AddMvc</a:t>
            </a:r>
            <a:r>
              <a:rPr lang="en-US" sz="1200" b="1" i="0" dirty="0">
                <a:solidFill>
                  <a:srgbClr val="333333"/>
                </a:solidFill>
                <a:effectLst/>
                <a:latin typeface="arial" panose="020B0604020202020204" pitchFamily="34" charset="0"/>
              </a:rPr>
              <a:t>() v/s </a:t>
            </a:r>
            <a:r>
              <a:rPr lang="en-US" sz="1200" b="1" i="0" dirty="0" err="1">
                <a:solidFill>
                  <a:srgbClr val="333333"/>
                </a:solidFill>
                <a:effectLst/>
                <a:latin typeface="arial" panose="020B0604020202020204" pitchFamily="34" charset="0"/>
              </a:rPr>
              <a:t>AddMvcCore</a:t>
            </a:r>
            <a:r>
              <a:rPr lang="en-US" sz="1200" b="1" i="0" dirty="0">
                <a:solidFill>
                  <a:srgbClr val="333333"/>
                </a:solidFill>
                <a:effectLst/>
                <a:latin typeface="arial" panose="020B0604020202020204" pitchFamily="34" charset="0"/>
              </a:rPr>
              <a:t>()</a:t>
            </a:r>
            <a:br>
              <a:rPr lang="en-US" sz="1200" dirty="0"/>
            </a:br>
            <a:br>
              <a:rPr lang="en-US" sz="1200" dirty="0"/>
            </a:br>
            <a:r>
              <a:rPr lang="en-US" sz="1200" b="0" i="0" dirty="0">
                <a:solidFill>
                  <a:srgbClr val="333333"/>
                </a:solidFill>
                <a:effectLst/>
                <a:latin typeface="arial" panose="020B0604020202020204" pitchFamily="34" charset="0"/>
              </a:rPr>
              <a:t>Before we discuss the difference between </a:t>
            </a:r>
            <a:r>
              <a:rPr lang="en-US" sz="1200" b="0" i="0" dirty="0" err="1">
                <a:solidFill>
                  <a:srgbClr val="0000FF"/>
                </a:solidFill>
                <a:effectLst/>
                <a:latin typeface="arial" panose="020B0604020202020204" pitchFamily="34" charset="0"/>
              </a:rPr>
              <a:t>AddMvc</a:t>
            </a:r>
            <a:r>
              <a:rPr lang="en-US" sz="1200" b="0" i="0" dirty="0">
                <a:solidFill>
                  <a:srgbClr val="0000FF"/>
                </a:solidFill>
                <a:effectLst/>
                <a:latin typeface="arial" panose="020B0604020202020204" pitchFamily="34" charset="0"/>
              </a:rPr>
              <a:t>()</a:t>
            </a:r>
            <a:r>
              <a:rPr lang="en-US" sz="1200" b="0" i="0" dirty="0">
                <a:solidFill>
                  <a:srgbClr val="333333"/>
                </a:solidFill>
                <a:effectLst/>
                <a:latin typeface="arial" panose="020B0604020202020204" pitchFamily="34" charset="0"/>
              </a:rPr>
              <a:t> and </a:t>
            </a:r>
            <a:r>
              <a:rPr lang="en-US" sz="1200" b="0" i="0" dirty="0" err="1">
                <a:solidFill>
                  <a:srgbClr val="0000FF"/>
                </a:solidFill>
                <a:effectLst/>
                <a:latin typeface="arial" panose="020B0604020202020204" pitchFamily="34" charset="0"/>
              </a:rPr>
              <a:t>AddMvcCore</a:t>
            </a:r>
            <a:r>
              <a:rPr lang="en-US" sz="1200" b="0" i="0" dirty="0">
                <a:solidFill>
                  <a:srgbClr val="0000FF"/>
                </a:solidFill>
                <a:effectLst/>
                <a:latin typeface="arial" panose="020B0604020202020204" pitchFamily="34" charset="0"/>
              </a:rPr>
              <a:t>()</a:t>
            </a:r>
            <a:r>
              <a:rPr lang="en-US" sz="1200" b="0" i="0" dirty="0">
                <a:solidFill>
                  <a:srgbClr val="333333"/>
                </a:solidFill>
                <a:effectLst/>
                <a:latin typeface="arial" panose="020B0604020202020204" pitchFamily="34" charset="0"/>
              </a:rPr>
              <a:t> methods, let's modify the following </a:t>
            </a:r>
            <a:r>
              <a:rPr lang="en-US" sz="1200" b="0" i="0" dirty="0" err="1">
                <a:solidFill>
                  <a:srgbClr val="3D85C6"/>
                </a:solidFill>
                <a:effectLst/>
                <a:latin typeface="arial" panose="020B0604020202020204" pitchFamily="34" charset="0"/>
              </a:rPr>
              <a:t>HomeController</a:t>
            </a:r>
            <a:r>
              <a:rPr lang="en-US" sz="1200" b="0" i="0" dirty="0">
                <a:solidFill>
                  <a:srgbClr val="3D85C6"/>
                </a:solidFill>
                <a:effectLst/>
                <a:latin typeface="arial" panose="020B0604020202020204" pitchFamily="34" charset="0"/>
              </a:rPr>
              <a:t> </a:t>
            </a:r>
            <a:r>
              <a:rPr lang="en-US" sz="1200" b="0" i="0" dirty="0">
                <a:solidFill>
                  <a:srgbClr val="333333"/>
                </a:solidFill>
                <a:effectLst/>
                <a:latin typeface="arial" panose="020B0604020202020204" pitchFamily="34" charset="0"/>
              </a:rPr>
              <a:t>to return JSON formatted data, instead of a simple string. </a:t>
            </a:r>
            <a:br>
              <a:rPr lang="en-US" sz="1200" dirty="0"/>
            </a:br>
            <a:br>
              <a:rPr lang="en-US" sz="1200" dirty="0"/>
            </a:br>
            <a:r>
              <a:rPr lang="en-US" sz="1200" b="0" i="0" dirty="0">
                <a:solidFill>
                  <a:srgbClr val="333333"/>
                </a:solidFill>
                <a:effectLst/>
                <a:latin typeface="arial" panose="020B0604020202020204" pitchFamily="34" charset="0"/>
              </a:rPr>
              <a:t>At the moment, there is no base class specified for the </a:t>
            </a:r>
            <a:r>
              <a:rPr lang="en-US" sz="1200" b="0" i="0" dirty="0" err="1">
                <a:solidFill>
                  <a:srgbClr val="333333"/>
                </a:solidFill>
                <a:effectLst/>
                <a:latin typeface="arial" panose="020B0604020202020204" pitchFamily="34" charset="0"/>
              </a:rPr>
              <a:t>the</a:t>
            </a:r>
            <a:r>
              <a:rPr lang="en-US" sz="1200" b="0" i="0" dirty="0">
                <a:solidFill>
                  <a:srgbClr val="333333"/>
                </a:solidFill>
                <a:effectLst/>
                <a:latin typeface="arial" panose="020B0604020202020204" pitchFamily="34" charset="0"/>
              </a:rPr>
              <a:t> </a:t>
            </a:r>
            <a:r>
              <a:rPr lang="en-US" sz="1200" b="0" i="0" dirty="0" err="1">
                <a:solidFill>
                  <a:srgbClr val="3D85C6"/>
                </a:solidFill>
                <a:effectLst/>
                <a:latin typeface="arial" panose="020B0604020202020204" pitchFamily="34" charset="0"/>
              </a:rPr>
              <a:t>HomeController</a:t>
            </a:r>
            <a:r>
              <a:rPr lang="en-US" sz="1200" b="0" i="0" dirty="0">
                <a:solidFill>
                  <a:srgbClr val="3D85C6"/>
                </a:solidFill>
                <a:effectLst/>
                <a:latin typeface="arial" panose="020B0604020202020204" pitchFamily="34" charset="0"/>
              </a:rPr>
              <a:t> </a:t>
            </a:r>
            <a:r>
              <a:rPr lang="en-US" sz="1200" b="0" i="0" dirty="0">
                <a:solidFill>
                  <a:srgbClr val="333333"/>
                </a:solidFill>
                <a:effectLst/>
                <a:latin typeface="arial" panose="020B0604020202020204" pitchFamily="34" charset="0"/>
              </a:rPr>
              <a:t>class. It works for us now because we are returning a simple string from the </a:t>
            </a:r>
            <a:r>
              <a:rPr lang="en-US" sz="1200" b="0" i="0" dirty="0">
                <a:solidFill>
                  <a:srgbClr val="0000FF"/>
                </a:solidFill>
                <a:effectLst/>
                <a:latin typeface="arial" panose="020B0604020202020204" pitchFamily="34" charset="0"/>
              </a:rPr>
              <a:t>Index()</a:t>
            </a:r>
            <a:r>
              <a:rPr lang="en-US" sz="1200" b="0" i="0" dirty="0">
                <a:solidFill>
                  <a:srgbClr val="333333"/>
                </a:solidFill>
                <a:effectLst/>
                <a:latin typeface="arial" panose="020B0604020202020204" pitchFamily="34" charset="0"/>
              </a:rPr>
              <a:t> action method.</a:t>
            </a:r>
            <a:br>
              <a:rPr lang="en-US" sz="1200" dirty="0"/>
            </a:br>
            <a:br>
              <a:rPr lang="en-US" sz="1200" dirty="0"/>
            </a:br>
            <a:r>
              <a:rPr lang="en-US" sz="1200" b="0" i="0" dirty="0">
                <a:solidFill>
                  <a:srgbClr val="0000FF"/>
                </a:solidFill>
                <a:effectLst/>
                <a:latin typeface="arial" panose="020B0604020202020204" pitchFamily="34" charset="0"/>
              </a:rPr>
              <a:t>public class </a:t>
            </a:r>
            <a:r>
              <a:rPr lang="en-US" sz="1200" b="0" i="0" dirty="0" err="1">
                <a:solidFill>
                  <a:srgbClr val="3D85C6"/>
                </a:solidFill>
                <a:effectLst/>
                <a:latin typeface="arial" panose="020B0604020202020204" pitchFamily="34" charset="0"/>
              </a:rPr>
              <a:t>HomeController</a:t>
            </a:r>
            <a:br>
              <a:rPr lang="en-US" sz="1200" b="0" i="0" dirty="0">
                <a:solidFill>
                  <a:srgbClr val="333333"/>
                </a:solidFill>
                <a:effectLst/>
                <a:latin typeface="Arial" panose="020B0604020202020204" pitchFamily="34" charset="0"/>
              </a:rPr>
            </a:br>
            <a:r>
              <a:rPr lang="en-US" sz="1200" b="0" i="0" dirty="0">
                <a:solidFill>
                  <a:srgbClr val="333333"/>
                </a:solidFill>
                <a:effectLst/>
                <a:latin typeface="arial" panose="020B0604020202020204" pitchFamily="34" charset="0"/>
              </a:rPr>
              <a:t>{</a:t>
            </a:r>
            <a:br>
              <a:rPr lang="en-US" sz="1200" b="0" i="0" dirty="0">
                <a:solidFill>
                  <a:srgbClr val="333333"/>
                </a:solidFill>
                <a:effectLst/>
                <a:latin typeface="Arial" panose="020B0604020202020204" pitchFamily="34" charset="0"/>
              </a:rPr>
            </a:br>
            <a:r>
              <a:rPr lang="en-US" sz="1200" b="0" i="0" dirty="0">
                <a:solidFill>
                  <a:srgbClr val="333333"/>
                </a:solidFill>
                <a:effectLst/>
                <a:latin typeface="arial" panose="020B0604020202020204" pitchFamily="34" charset="0"/>
              </a:rPr>
              <a:t>    </a:t>
            </a:r>
            <a:r>
              <a:rPr lang="en-US" sz="1200" b="0" i="0" dirty="0">
                <a:solidFill>
                  <a:srgbClr val="0000FF"/>
                </a:solidFill>
                <a:effectLst/>
                <a:latin typeface="arial" panose="020B0604020202020204" pitchFamily="34" charset="0"/>
              </a:rPr>
              <a:t>public string</a:t>
            </a:r>
            <a:r>
              <a:rPr lang="en-US" sz="1200" b="0" i="0" dirty="0">
                <a:solidFill>
                  <a:srgbClr val="333333"/>
                </a:solidFill>
                <a:effectLst/>
                <a:latin typeface="arial" panose="020B0604020202020204" pitchFamily="34" charset="0"/>
              </a:rPr>
              <a:t> Index()</a:t>
            </a:r>
            <a:br>
              <a:rPr lang="en-US" sz="1200" b="0" i="0" dirty="0">
                <a:solidFill>
                  <a:srgbClr val="333333"/>
                </a:solidFill>
                <a:effectLst/>
                <a:latin typeface="Arial" panose="020B0604020202020204" pitchFamily="34" charset="0"/>
              </a:rPr>
            </a:br>
            <a:r>
              <a:rPr lang="en-US" sz="1200" b="0" i="0" dirty="0">
                <a:solidFill>
                  <a:srgbClr val="333333"/>
                </a:solidFill>
                <a:effectLst/>
                <a:latin typeface="arial" panose="020B0604020202020204" pitchFamily="34" charset="0"/>
              </a:rPr>
              <a:t>    {</a:t>
            </a:r>
            <a:br>
              <a:rPr lang="en-US" sz="1200" b="0" i="0" dirty="0">
                <a:solidFill>
                  <a:srgbClr val="333333"/>
                </a:solidFill>
                <a:effectLst/>
                <a:latin typeface="Arial" panose="020B0604020202020204" pitchFamily="34" charset="0"/>
              </a:rPr>
            </a:br>
            <a:r>
              <a:rPr lang="en-US" sz="1200" b="0" i="0" dirty="0">
                <a:solidFill>
                  <a:srgbClr val="333333"/>
                </a:solidFill>
                <a:effectLst/>
                <a:latin typeface="arial" panose="020B0604020202020204" pitchFamily="34" charset="0"/>
              </a:rPr>
              <a:t>            </a:t>
            </a:r>
            <a:r>
              <a:rPr lang="en-US" sz="1200" b="0" i="0" dirty="0">
                <a:solidFill>
                  <a:srgbClr val="0000FF"/>
                </a:solidFill>
                <a:effectLst/>
                <a:latin typeface="arial" panose="020B0604020202020204" pitchFamily="34" charset="0"/>
              </a:rPr>
              <a:t>return </a:t>
            </a:r>
            <a:r>
              <a:rPr lang="en-US" sz="1200" b="0" i="0" dirty="0">
                <a:solidFill>
                  <a:srgbClr val="CC0000"/>
                </a:solidFill>
                <a:effectLst/>
                <a:latin typeface="arial" panose="020B0604020202020204" pitchFamily="34" charset="0"/>
              </a:rPr>
              <a:t>"Hello from MVC"</a:t>
            </a:r>
            <a:r>
              <a:rPr lang="en-US" sz="1200" b="0" i="0" dirty="0">
                <a:solidFill>
                  <a:srgbClr val="333333"/>
                </a:solidFill>
                <a:effectLst/>
                <a:latin typeface="arial" panose="020B0604020202020204" pitchFamily="34" charset="0"/>
              </a:rPr>
              <a:t>;</a:t>
            </a:r>
            <a:br>
              <a:rPr lang="en-US" sz="1200" b="0" i="0" dirty="0">
                <a:solidFill>
                  <a:srgbClr val="333333"/>
                </a:solidFill>
                <a:effectLst/>
                <a:latin typeface="Arial" panose="020B0604020202020204" pitchFamily="34" charset="0"/>
              </a:rPr>
            </a:br>
            <a:r>
              <a:rPr lang="en-US" sz="1200" b="0" i="0" dirty="0">
                <a:solidFill>
                  <a:srgbClr val="333333"/>
                </a:solidFill>
                <a:effectLst/>
                <a:latin typeface="arial" panose="020B0604020202020204" pitchFamily="34" charset="0"/>
              </a:rPr>
              <a:t>    }</a:t>
            </a:r>
            <a:br>
              <a:rPr lang="en-US" sz="1200" b="0" i="0" dirty="0">
                <a:solidFill>
                  <a:srgbClr val="333333"/>
                </a:solidFill>
                <a:effectLst/>
                <a:latin typeface="Arial" panose="020B0604020202020204" pitchFamily="34" charset="0"/>
              </a:rPr>
            </a:br>
            <a:r>
              <a:rPr lang="en-US" sz="1200" b="0" i="0" dirty="0">
                <a:solidFill>
                  <a:srgbClr val="333333"/>
                </a:solidFill>
                <a:effectLst/>
                <a:latin typeface="arial" panose="020B0604020202020204" pitchFamily="34" charset="0"/>
              </a:rPr>
              <a:t>}</a:t>
            </a:r>
            <a:br>
              <a:rPr lang="en-US" sz="1200" dirty="0"/>
            </a:br>
            <a:r>
              <a:rPr lang="en-US" sz="1200" b="0" i="0" dirty="0">
                <a:solidFill>
                  <a:srgbClr val="333333"/>
                </a:solidFill>
                <a:effectLst/>
                <a:latin typeface="arial" panose="020B0604020202020204" pitchFamily="34" charset="0"/>
              </a:rPr>
              <a:t>However, if we want to return an </a:t>
            </a:r>
            <a:r>
              <a:rPr lang="en-US" sz="1200" b="1" i="0" dirty="0">
                <a:solidFill>
                  <a:srgbClr val="333333"/>
                </a:solidFill>
                <a:effectLst/>
                <a:latin typeface="arial" panose="020B0604020202020204" pitchFamily="34" charset="0"/>
              </a:rPr>
              <a:t>HTML View </a:t>
            </a:r>
            <a:r>
              <a:rPr lang="en-US" sz="1200" b="0" i="0" dirty="0">
                <a:solidFill>
                  <a:srgbClr val="333333"/>
                </a:solidFill>
                <a:effectLst/>
                <a:latin typeface="arial" panose="020B0604020202020204" pitchFamily="34" charset="0"/>
              </a:rPr>
              <a:t>or </a:t>
            </a:r>
            <a:r>
              <a:rPr lang="en-US" sz="1200" b="1" i="0" dirty="0">
                <a:solidFill>
                  <a:srgbClr val="333333"/>
                </a:solidFill>
                <a:effectLst/>
                <a:latin typeface="arial" panose="020B0604020202020204" pitchFamily="34" charset="0"/>
              </a:rPr>
              <a:t>JSON data </a:t>
            </a:r>
            <a:r>
              <a:rPr lang="en-US" sz="1200" b="0" i="0" dirty="0">
                <a:solidFill>
                  <a:srgbClr val="333333"/>
                </a:solidFill>
                <a:effectLst/>
                <a:latin typeface="arial" panose="020B0604020202020204" pitchFamily="34" charset="0"/>
              </a:rPr>
              <a:t>from the </a:t>
            </a:r>
            <a:r>
              <a:rPr lang="en-US" sz="1200" b="1" i="0" dirty="0">
                <a:solidFill>
                  <a:srgbClr val="333333"/>
                </a:solidFill>
                <a:effectLst/>
                <a:latin typeface="arial" panose="020B0604020202020204" pitchFamily="34" charset="0"/>
              </a:rPr>
              <a:t>Index()</a:t>
            </a:r>
            <a:r>
              <a:rPr lang="en-US" sz="1200" b="0" i="0" dirty="0">
                <a:solidFill>
                  <a:srgbClr val="333333"/>
                </a:solidFill>
                <a:effectLst/>
                <a:latin typeface="arial" panose="020B0604020202020204" pitchFamily="34" charset="0"/>
              </a:rPr>
              <a:t> action method, our </a:t>
            </a:r>
            <a:r>
              <a:rPr lang="en-US" sz="1200" b="1" i="0" dirty="0" err="1">
                <a:solidFill>
                  <a:srgbClr val="333333"/>
                </a:solidFill>
                <a:effectLst/>
                <a:latin typeface="arial" panose="020B0604020202020204" pitchFamily="34" charset="0"/>
              </a:rPr>
              <a:t>HomeController</a:t>
            </a:r>
            <a:r>
              <a:rPr lang="en-US" sz="1200" b="1" i="0" dirty="0">
                <a:solidFill>
                  <a:srgbClr val="333333"/>
                </a:solidFill>
                <a:effectLst/>
                <a:latin typeface="arial" panose="020B0604020202020204" pitchFamily="34" charset="0"/>
              </a:rPr>
              <a:t> </a:t>
            </a:r>
            <a:r>
              <a:rPr lang="en-US" sz="1200" b="0" i="0" dirty="0">
                <a:solidFill>
                  <a:srgbClr val="333333"/>
                </a:solidFill>
                <a:effectLst/>
                <a:latin typeface="arial" panose="020B0604020202020204" pitchFamily="34" charset="0"/>
              </a:rPr>
              <a:t>class has to derive from the </a:t>
            </a:r>
            <a:r>
              <a:rPr lang="en-US" sz="1200" b="1" i="0" dirty="0">
                <a:solidFill>
                  <a:srgbClr val="333333"/>
                </a:solidFill>
                <a:effectLst/>
                <a:latin typeface="arial" panose="020B0604020202020204" pitchFamily="34" charset="0"/>
              </a:rPr>
              <a:t>Controller </a:t>
            </a:r>
            <a:r>
              <a:rPr lang="en-US" sz="1200" b="0" i="0" dirty="0">
                <a:solidFill>
                  <a:srgbClr val="333333"/>
                </a:solidFill>
                <a:effectLst/>
                <a:latin typeface="arial" panose="020B0604020202020204" pitchFamily="34" charset="0"/>
              </a:rPr>
              <a:t>class provided by the framework. The </a:t>
            </a:r>
            <a:r>
              <a:rPr lang="en-US" sz="1200" b="1" i="0" dirty="0">
                <a:solidFill>
                  <a:srgbClr val="333333"/>
                </a:solidFill>
                <a:effectLst/>
                <a:latin typeface="arial" panose="020B0604020202020204" pitchFamily="34" charset="0"/>
              </a:rPr>
              <a:t>Controller </a:t>
            </a:r>
            <a:r>
              <a:rPr lang="en-US" sz="1200" b="0" i="0" dirty="0">
                <a:solidFill>
                  <a:srgbClr val="333333"/>
                </a:solidFill>
                <a:effectLst/>
                <a:latin typeface="arial" panose="020B0604020202020204" pitchFamily="34" charset="0"/>
              </a:rPr>
              <a:t>base class provides support to return different results like </a:t>
            </a:r>
            <a:r>
              <a:rPr lang="en-US" sz="1200" b="1" i="0" dirty="0" err="1">
                <a:solidFill>
                  <a:srgbClr val="333333"/>
                </a:solidFill>
                <a:effectLst/>
                <a:latin typeface="arial" panose="020B0604020202020204" pitchFamily="34" charset="0"/>
              </a:rPr>
              <a:t>JsonResult</a:t>
            </a:r>
            <a:r>
              <a:rPr lang="en-US" sz="1200" b="0" i="0" dirty="0">
                <a:solidFill>
                  <a:srgbClr val="333333"/>
                </a:solidFill>
                <a:effectLst/>
                <a:latin typeface="arial" panose="020B0604020202020204" pitchFamily="34" charset="0"/>
              </a:rPr>
              <a:t>, </a:t>
            </a:r>
            <a:r>
              <a:rPr lang="en-US" sz="1200" b="1" i="0" dirty="0" err="1">
                <a:solidFill>
                  <a:srgbClr val="333333"/>
                </a:solidFill>
                <a:effectLst/>
                <a:latin typeface="arial" panose="020B0604020202020204" pitchFamily="34" charset="0"/>
              </a:rPr>
              <a:t>ViewResult</a:t>
            </a:r>
            <a:r>
              <a:rPr lang="en-US" sz="1200" b="0" i="0" dirty="0">
                <a:solidFill>
                  <a:srgbClr val="333333"/>
                </a:solidFill>
                <a:effectLst/>
                <a:latin typeface="arial" panose="020B0604020202020204" pitchFamily="34" charset="0"/>
              </a:rPr>
              <a:t>, </a:t>
            </a:r>
            <a:r>
              <a:rPr lang="en-US" sz="1200" b="1" i="0" dirty="0" err="1">
                <a:solidFill>
                  <a:srgbClr val="333333"/>
                </a:solidFill>
                <a:effectLst/>
                <a:latin typeface="arial" panose="020B0604020202020204" pitchFamily="34" charset="0"/>
              </a:rPr>
              <a:t>PartialViewResult</a:t>
            </a:r>
            <a:r>
              <a:rPr lang="en-US" sz="1200" b="1" i="0" dirty="0">
                <a:solidFill>
                  <a:srgbClr val="333333"/>
                </a:solidFill>
                <a:effectLst/>
                <a:latin typeface="arial" panose="020B0604020202020204" pitchFamily="34" charset="0"/>
              </a:rPr>
              <a:t> </a:t>
            </a:r>
            <a:r>
              <a:rPr lang="en-US" sz="1200" b="0" i="0" dirty="0">
                <a:solidFill>
                  <a:srgbClr val="333333"/>
                </a:solidFill>
                <a:effectLst/>
                <a:latin typeface="arial" panose="020B0604020202020204" pitchFamily="34" charset="0"/>
              </a:rPr>
              <a:t>etc. </a:t>
            </a:r>
            <a:endParaRPr lang="en-IN" sz="1200" dirty="0"/>
          </a:p>
        </p:txBody>
      </p:sp>
      <p:sp>
        <p:nvSpPr>
          <p:cNvPr id="8" name="TextBox 7">
            <a:extLst>
              <a:ext uri="{FF2B5EF4-FFF2-40B4-BE49-F238E27FC236}">
                <a16:creationId xmlns:a16="http://schemas.microsoft.com/office/drawing/2014/main" id="{7D541C55-5463-4E8D-B5EF-2422E1564755}"/>
              </a:ext>
            </a:extLst>
          </p:cNvPr>
          <p:cNvSpPr txBox="1"/>
          <p:nvPr/>
        </p:nvSpPr>
        <p:spPr>
          <a:xfrm>
            <a:off x="6312309" y="1687232"/>
            <a:ext cx="6096000" cy="470898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Modify the </a:t>
            </a:r>
            <a:r>
              <a:rPr kumimoji="0" lang="en-US" sz="1200" b="1" i="0" u="none" strike="noStrike" kern="1200" cap="none" spc="0" normalizeH="0" baseline="0" noProof="0" dirty="0" err="1">
                <a:ln>
                  <a:noFill/>
                </a:ln>
                <a:solidFill>
                  <a:srgbClr val="333333"/>
                </a:solidFill>
                <a:effectLst/>
                <a:uLnTx/>
                <a:uFillTx/>
                <a:latin typeface="arial" panose="020B0604020202020204" pitchFamily="34" charset="0"/>
                <a:ea typeface="+mn-ea"/>
                <a:cs typeface="+mn-cs"/>
              </a:rPr>
              <a:t>HomeController</a:t>
            </a:r>
            <a:r>
              <a:rPr kumimoji="0" lang="en-US" sz="1200" b="1"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class to derive from the </a:t>
            </a:r>
            <a:r>
              <a:rPr kumimoji="0" lang="en-US" sz="1200" b="1"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Controller </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class and return </a:t>
            </a:r>
            <a:r>
              <a:rPr kumimoji="0" lang="en-US" sz="1200" b="1" i="0" u="none" strike="noStrike" kern="1200" cap="none" spc="0" normalizeH="0" baseline="0" noProof="0" dirty="0" err="1">
                <a:ln>
                  <a:noFill/>
                </a:ln>
                <a:solidFill>
                  <a:srgbClr val="333333"/>
                </a:solidFill>
                <a:effectLst/>
                <a:uLnTx/>
                <a:uFillTx/>
                <a:latin typeface="arial" panose="020B0604020202020204" pitchFamily="34" charset="0"/>
                <a:ea typeface="+mn-ea"/>
                <a:cs typeface="+mn-cs"/>
              </a:rPr>
              <a:t>JsonResult</a:t>
            </a:r>
            <a:r>
              <a:rPr kumimoji="0" lang="en-US" sz="1200" b="1"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from the </a:t>
            </a:r>
            <a:r>
              <a:rPr kumimoji="0" lang="en-US" sz="1200" b="1"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Index()</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action method as shown below.</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0" i="0" u="none" strike="noStrike" kern="1200" cap="none" spc="0" normalizeH="0" baseline="0" noProof="0" dirty="0">
                <a:ln>
                  <a:noFill/>
                </a:ln>
                <a:solidFill>
                  <a:srgbClr val="0000FF"/>
                </a:solidFill>
                <a:effectLst/>
                <a:uLnTx/>
                <a:uFillTx/>
                <a:latin typeface="arial" panose="020B0604020202020204" pitchFamily="34" charset="0"/>
                <a:ea typeface="+mn-ea"/>
                <a:cs typeface="+mn-cs"/>
              </a:rPr>
              <a:t>public class </a:t>
            </a:r>
            <a:r>
              <a:rPr kumimoji="0" lang="en-US" sz="1200" b="0" i="0" u="none" strike="noStrike" kern="1200" cap="none" spc="0" normalizeH="0" baseline="0" noProof="0" dirty="0" err="1">
                <a:ln>
                  <a:noFill/>
                </a:ln>
                <a:solidFill>
                  <a:srgbClr val="3D85C6"/>
                </a:solidFill>
                <a:effectLst/>
                <a:uLnTx/>
                <a:uFillTx/>
                <a:latin typeface="arial" panose="020B0604020202020204" pitchFamily="34" charset="0"/>
                <a:ea typeface="+mn-ea"/>
                <a:cs typeface="+mn-cs"/>
              </a:rPr>
              <a:t>HomeController</a:t>
            </a:r>
            <a:r>
              <a:rPr kumimoji="0" lang="en-US" sz="1200" b="0" i="0" u="none" strike="noStrike" kern="1200" cap="none" spc="0" normalizeH="0" baseline="0" noProof="0" dirty="0">
                <a:ln>
                  <a:noFill/>
                </a:ln>
                <a:solidFill>
                  <a:srgbClr val="3D85C6"/>
                </a:solidFill>
                <a:effectLst/>
                <a:uLnTx/>
                <a:uFillTx/>
                <a:latin typeface="arial" panose="020B0604020202020204" pitchFamily="34" charset="0"/>
                <a:ea typeface="+mn-ea"/>
                <a:cs typeface="+mn-cs"/>
              </a:rPr>
              <a:t> </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a:t>
            </a:r>
            <a:r>
              <a:rPr kumimoji="0" lang="en-US" sz="1200" b="0" i="0" u="none" strike="noStrike" kern="1200" cap="none" spc="0" normalizeH="0" baseline="0" noProof="0" dirty="0">
                <a:ln>
                  <a:noFill/>
                </a:ln>
                <a:solidFill>
                  <a:srgbClr val="3D85C6"/>
                </a:solidFill>
                <a:effectLst/>
                <a:uLnTx/>
                <a:uFillTx/>
                <a:latin typeface="arial" panose="020B0604020202020204" pitchFamily="34" charset="0"/>
                <a:ea typeface="+mn-ea"/>
                <a:cs typeface="+mn-cs"/>
              </a:rPr>
              <a:t>Controller</a:t>
            </a:r>
            <a:b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b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a:t>
            </a:r>
            <a:b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b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a:t>
            </a:r>
            <a:r>
              <a:rPr kumimoji="0" lang="en-US" sz="1200" b="0" i="0" u="none" strike="noStrike" kern="1200" cap="none" spc="0" normalizeH="0" baseline="0" noProof="0" dirty="0">
                <a:ln>
                  <a:noFill/>
                </a:ln>
                <a:solidFill>
                  <a:srgbClr val="0000FF"/>
                </a:solidFill>
                <a:effectLst/>
                <a:uLnTx/>
                <a:uFillTx/>
                <a:latin typeface="arial" panose="020B0604020202020204" pitchFamily="34" charset="0"/>
                <a:ea typeface="+mn-ea"/>
                <a:cs typeface="+mn-cs"/>
              </a:rPr>
              <a:t>public </a:t>
            </a:r>
            <a:r>
              <a:rPr kumimoji="0" lang="en-US" sz="1200" b="0" i="0" u="none" strike="noStrike" kern="1200" cap="none" spc="0" normalizeH="0" baseline="0" noProof="0" dirty="0" err="1">
                <a:ln>
                  <a:noFill/>
                </a:ln>
                <a:solidFill>
                  <a:srgbClr val="3D85C6"/>
                </a:solidFill>
                <a:effectLst/>
                <a:uLnTx/>
                <a:uFillTx/>
                <a:latin typeface="arial" panose="020B0604020202020204" pitchFamily="34" charset="0"/>
                <a:ea typeface="+mn-ea"/>
                <a:cs typeface="+mn-cs"/>
              </a:rPr>
              <a:t>JsonResult</a:t>
            </a:r>
            <a:r>
              <a:rPr kumimoji="0" lang="en-US" sz="1200" b="0" i="0" u="none" strike="noStrike" kern="1200" cap="none" spc="0" normalizeH="0" baseline="0" noProof="0" dirty="0">
                <a:ln>
                  <a:noFill/>
                </a:ln>
                <a:solidFill>
                  <a:srgbClr val="3D85C6"/>
                </a:solidFill>
                <a:effectLst/>
                <a:uLnTx/>
                <a:uFillTx/>
                <a:latin typeface="arial" panose="020B0604020202020204" pitchFamily="34" charset="0"/>
                <a:ea typeface="+mn-ea"/>
                <a:cs typeface="+mn-cs"/>
              </a:rPr>
              <a:t> </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Index()</a:t>
            </a:r>
            <a:b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b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a:t>
            </a:r>
            <a:b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b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a:t>
            </a:r>
            <a:r>
              <a:rPr kumimoji="0" lang="en-US" sz="1200" b="0" i="0" u="none" strike="noStrike" kern="1200" cap="none" spc="0" normalizeH="0" baseline="0" noProof="0" dirty="0">
                <a:ln>
                  <a:noFill/>
                </a:ln>
                <a:solidFill>
                  <a:srgbClr val="0000FF"/>
                </a:solidFill>
                <a:effectLst/>
                <a:uLnTx/>
                <a:uFillTx/>
                <a:latin typeface="arial" panose="020B0604020202020204" pitchFamily="34" charset="0"/>
                <a:ea typeface="+mn-ea"/>
                <a:cs typeface="+mn-cs"/>
              </a:rPr>
              <a:t>return </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Json(</a:t>
            </a:r>
            <a:r>
              <a:rPr kumimoji="0" lang="en-US" sz="1200" b="0" i="0" u="none" strike="noStrike" kern="1200" cap="none" spc="0" normalizeH="0" baseline="0" noProof="0" dirty="0">
                <a:ln>
                  <a:noFill/>
                </a:ln>
                <a:solidFill>
                  <a:srgbClr val="0000FF"/>
                </a:solidFill>
                <a:effectLst/>
                <a:uLnTx/>
                <a:uFillTx/>
                <a:latin typeface="arial" panose="020B0604020202020204" pitchFamily="34" charset="0"/>
                <a:ea typeface="+mn-ea"/>
                <a:cs typeface="+mn-cs"/>
              </a:rPr>
              <a:t>new </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id=1, name=</a:t>
            </a:r>
            <a:r>
              <a:rPr kumimoji="0" lang="en-US" sz="1200" b="0" i="0" u="none" strike="noStrike" kern="1200" cap="none" spc="0" normalizeH="0" baseline="0" noProof="0" dirty="0">
                <a:ln>
                  <a:noFill/>
                </a:ln>
                <a:solidFill>
                  <a:srgbClr val="CC0000"/>
                </a:solidFill>
                <a:effectLst/>
                <a:uLnTx/>
                <a:uFillTx/>
                <a:latin typeface="arial" panose="020B0604020202020204" pitchFamily="34" charset="0"/>
                <a:ea typeface="+mn-ea"/>
                <a:cs typeface="+mn-cs"/>
              </a:rPr>
              <a:t>"CDAC"</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a:t>
            </a:r>
            <a:b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b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a:t>
            </a:r>
            <a:b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b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1"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Please note : </a:t>
            </a:r>
            <a:r>
              <a:rPr kumimoji="0" lang="en-US" sz="1200" b="0" i="0" u="none" strike="noStrike" kern="1200" cap="none" spc="0" normalizeH="0" baseline="0" noProof="0" dirty="0">
                <a:ln>
                  <a:noFill/>
                </a:ln>
                <a:solidFill>
                  <a:srgbClr val="3D85C6"/>
                </a:solidFill>
                <a:effectLst/>
                <a:uLnTx/>
                <a:uFillTx/>
                <a:latin typeface="arial" panose="020B0604020202020204" pitchFamily="34" charset="0"/>
                <a:ea typeface="+mn-ea"/>
                <a:cs typeface="+mn-cs"/>
              </a:rPr>
              <a:t>Controller </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class is present in </a:t>
            </a:r>
            <a:r>
              <a:rPr kumimoji="0" lang="en-US" sz="1200" b="0" i="0" u="none" strike="noStrike" kern="1200" cap="none" spc="0" normalizeH="0" baseline="0" noProof="0" dirty="0" err="1">
                <a:ln>
                  <a:noFill/>
                </a:ln>
                <a:solidFill>
                  <a:srgbClr val="0000FF"/>
                </a:solidFill>
                <a:effectLst/>
                <a:uLnTx/>
                <a:uFillTx/>
                <a:latin typeface="arial" panose="020B0604020202020204" pitchFamily="34" charset="0"/>
                <a:ea typeface="+mn-ea"/>
                <a:cs typeface="+mn-cs"/>
              </a:rPr>
              <a:t>Microsoft.AspNetCore.Mvc</a:t>
            </a:r>
            <a:r>
              <a:rPr kumimoji="0" lang="en-US" sz="1200" b="0" i="0" u="none" strike="noStrike" kern="1200" cap="none" spc="0" normalizeH="0" baseline="0" noProof="0" dirty="0">
                <a:ln>
                  <a:noFill/>
                </a:ln>
                <a:solidFill>
                  <a:srgbClr val="0000FF"/>
                </a:solidFill>
                <a:effectLst/>
                <a:uLnTx/>
                <a:uFillTx/>
                <a:latin typeface="arial" panose="020B0604020202020204" pitchFamily="34" charset="0"/>
                <a:ea typeface="+mn-ea"/>
                <a:cs typeface="+mn-cs"/>
              </a:rPr>
              <a:t> </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namespace.</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At this point, run the application and we should see JSON data in the browser as expected.</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Now, in the </a:t>
            </a:r>
            <a:r>
              <a:rPr kumimoji="0" lang="en-US" sz="1200" b="0" i="0" u="none" strike="noStrike" kern="1200" cap="none" spc="0" normalizeH="0" baseline="0" noProof="0" dirty="0" err="1">
                <a:ln>
                  <a:noFill/>
                </a:ln>
                <a:solidFill>
                  <a:srgbClr val="0000FF"/>
                </a:solidFill>
                <a:effectLst/>
                <a:uLnTx/>
                <a:uFillTx/>
                <a:latin typeface="arial" panose="020B0604020202020204" pitchFamily="34" charset="0"/>
                <a:ea typeface="+mn-ea"/>
                <a:cs typeface="+mn-cs"/>
              </a:rPr>
              <a:t>ConfigureServices</a:t>
            </a:r>
            <a:r>
              <a:rPr kumimoji="0" lang="en-US" sz="1200" b="0" i="0" u="none" strike="noStrike" kern="1200" cap="none" spc="0" normalizeH="0" baseline="0" noProof="0" dirty="0">
                <a:ln>
                  <a:noFill/>
                </a:ln>
                <a:solidFill>
                  <a:srgbClr val="0000FF"/>
                </a:solidFill>
                <a:effectLst/>
                <a:uLnTx/>
                <a:uFillTx/>
                <a:latin typeface="arial" panose="020B0604020202020204" pitchFamily="34" charset="0"/>
                <a:ea typeface="+mn-ea"/>
                <a:cs typeface="+mn-cs"/>
              </a:rPr>
              <a:t>()</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method call </a:t>
            </a:r>
            <a:r>
              <a:rPr kumimoji="0" lang="en-US" sz="1200" b="0" i="0" u="none" strike="noStrike" kern="1200" cap="none" spc="0" normalizeH="0" baseline="0" noProof="0" dirty="0" err="1">
                <a:ln>
                  <a:noFill/>
                </a:ln>
                <a:solidFill>
                  <a:srgbClr val="0000FF"/>
                </a:solidFill>
                <a:effectLst/>
                <a:uLnTx/>
                <a:uFillTx/>
                <a:latin typeface="arial" panose="020B0604020202020204" pitchFamily="34" charset="0"/>
                <a:ea typeface="+mn-ea"/>
                <a:cs typeface="+mn-cs"/>
              </a:rPr>
              <a:t>AddMvcCore</a:t>
            </a:r>
            <a:r>
              <a:rPr kumimoji="0" lang="en-US" sz="1200" b="0" i="0" u="none" strike="noStrike" kern="1200" cap="none" spc="0" normalizeH="0" baseline="0" noProof="0" dirty="0">
                <a:ln>
                  <a:noFill/>
                </a:ln>
                <a:solidFill>
                  <a:srgbClr val="0000FF"/>
                </a:solidFill>
                <a:effectLst/>
                <a:uLnTx/>
                <a:uFillTx/>
                <a:latin typeface="arial" panose="020B0604020202020204" pitchFamily="34" charset="0"/>
                <a:ea typeface="+mn-ea"/>
                <a:cs typeface="+mn-cs"/>
              </a:rPr>
              <a:t>()</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method instead of </a:t>
            </a:r>
            <a:r>
              <a:rPr kumimoji="0" lang="en-US" sz="1200" b="0" i="0" u="none" strike="noStrike" kern="1200" cap="none" spc="0" normalizeH="0" baseline="0" noProof="0" dirty="0" err="1">
                <a:ln>
                  <a:noFill/>
                </a:ln>
                <a:solidFill>
                  <a:srgbClr val="0000FF"/>
                </a:solidFill>
                <a:effectLst/>
                <a:uLnTx/>
                <a:uFillTx/>
                <a:latin typeface="arial" panose="020B0604020202020204" pitchFamily="34" charset="0"/>
                <a:ea typeface="+mn-ea"/>
                <a:cs typeface="+mn-cs"/>
              </a:rPr>
              <a:t>AddMvc</a:t>
            </a:r>
            <a:r>
              <a:rPr kumimoji="0" lang="en-US" sz="1200" b="0" i="0" u="none" strike="noStrike" kern="1200" cap="none" spc="0" normalizeH="0" baseline="0" noProof="0" dirty="0">
                <a:ln>
                  <a:noFill/>
                </a:ln>
                <a:solidFill>
                  <a:srgbClr val="0000FF"/>
                </a:solidFill>
                <a:effectLst/>
                <a:uLnTx/>
                <a:uFillTx/>
                <a:latin typeface="arial" panose="020B0604020202020204" pitchFamily="34" charset="0"/>
                <a:ea typeface="+mn-ea"/>
                <a:cs typeface="+mn-cs"/>
              </a:rPr>
              <a:t>() </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and run the application.</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b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a:t>
            </a:r>
            <a:r>
              <a:rPr lang="en-US" sz="1200" dirty="0">
                <a:solidFill>
                  <a:srgbClr val="333333"/>
                </a:solidFill>
                <a:latin typeface="arial" panose="020B0604020202020204" pitchFamily="34" charset="0"/>
              </a:rPr>
              <a:t>b</a:t>
            </a:r>
            <a:r>
              <a:rPr kumimoji="0" lang="en-US" sz="1200" b="0" i="0" u="none" strike="noStrike" kern="1200" cap="none" spc="0" normalizeH="0" baseline="0" noProof="0" dirty="0" err="1">
                <a:ln>
                  <a:noFill/>
                </a:ln>
                <a:solidFill>
                  <a:srgbClr val="333333"/>
                </a:solidFill>
                <a:effectLst/>
                <a:uLnTx/>
                <a:uFillTx/>
                <a:latin typeface="arial" panose="020B0604020202020204" pitchFamily="34" charset="0"/>
                <a:ea typeface="+mn-ea"/>
                <a:cs typeface="+mn-cs"/>
              </a:rPr>
              <a:t>uilder.Services.AddMvcCore</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a:t>
            </a:r>
            <a:b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b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1"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We get the following </a:t>
            </a:r>
            <a:r>
              <a:rPr kumimoji="0" lang="en-US" sz="1200" b="1" i="0" u="none" strike="noStrike" kern="1200" cap="none" spc="0" normalizeH="0" baseline="0" noProof="0" dirty="0" err="1">
                <a:ln>
                  <a:noFill/>
                </a:ln>
                <a:solidFill>
                  <a:srgbClr val="333333"/>
                </a:solidFill>
                <a:effectLst/>
                <a:uLnTx/>
                <a:uFillTx/>
                <a:latin typeface="arial" panose="020B0604020202020204" pitchFamily="34" charset="0"/>
                <a:ea typeface="+mn-ea"/>
                <a:cs typeface="+mn-cs"/>
              </a:rPr>
              <a:t>error</a:t>
            </a:r>
            <a:r>
              <a:rPr kumimoji="0" lang="en-US" sz="1200" b="0" i="0" u="none" strike="noStrike" kern="1200" cap="none" spc="0" normalizeH="0" baseline="0" noProof="0" dirty="0" err="1">
                <a:ln>
                  <a:noFill/>
                </a:ln>
                <a:solidFill>
                  <a:srgbClr val="FF0000"/>
                </a:solidFill>
                <a:effectLst/>
                <a:uLnTx/>
                <a:uFillTx/>
                <a:latin typeface="arial" panose="020B0604020202020204" pitchFamily="34" charset="0"/>
                <a:ea typeface="+mn-ea"/>
                <a:cs typeface="+mn-cs"/>
              </a:rPr>
              <a:t>No</a:t>
            </a:r>
            <a:r>
              <a:rPr kumimoji="0" lang="en-US" sz="1200" b="0" i="0" u="none" strike="noStrike" kern="1200" cap="none" spc="0" normalizeH="0" baseline="0" noProof="0" dirty="0">
                <a:ln>
                  <a:noFill/>
                </a:ln>
                <a:solidFill>
                  <a:srgbClr val="FF0000"/>
                </a:solidFill>
                <a:effectLst/>
                <a:uLnTx/>
                <a:uFillTx/>
                <a:latin typeface="arial" panose="020B0604020202020204" pitchFamily="34" charset="0"/>
                <a:ea typeface="+mn-ea"/>
                <a:cs typeface="+mn-cs"/>
              </a:rPr>
              <a:t> service for type 'Microsoft. </a:t>
            </a:r>
            <a:r>
              <a:rPr kumimoji="0" lang="en-US" sz="1200" b="0" i="0" u="none" strike="noStrike" kern="1200" cap="none" spc="0" normalizeH="0" baseline="0" noProof="0" dirty="0" err="1">
                <a:ln>
                  <a:noFill/>
                </a:ln>
                <a:solidFill>
                  <a:srgbClr val="FF0000"/>
                </a:solidFill>
                <a:effectLst/>
                <a:uLnTx/>
                <a:uFillTx/>
                <a:latin typeface="arial" panose="020B0604020202020204" pitchFamily="34" charset="0"/>
                <a:ea typeface="+mn-ea"/>
                <a:cs typeface="+mn-cs"/>
              </a:rPr>
              <a:t>AspNetCore.Mvc.Formatters.Json.Internal.JsonResultExecutor</a:t>
            </a:r>
            <a:r>
              <a:rPr kumimoji="0" lang="en-US" sz="1200" b="0" i="0" u="none" strike="noStrike" kern="1200" cap="none" spc="0" normalizeH="0" baseline="0" noProof="0" dirty="0">
                <a:ln>
                  <a:noFill/>
                </a:ln>
                <a:solidFill>
                  <a:srgbClr val="FF0000"/>
                </a:solidFill>
                <a:effectLst/>
                <a:uLnTx/>
                <a:uFillTx/>
                <a:latin typeface="arial" panose="020B0604020202020204" pitchFamily="34" charset="0"/>
                <a:ea typeface="+mn-ea"/>
                <a:cs typeface="+mn-cs"/>
              </a:rPr>
              <a:t>' has been registered.</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To be able to return JSON data, </a:t>
            </a:r>
            <a:r>
              <a:rPr kumimoji="0" lang="en-US" sz="1200" b="0" i="0" u="none" strike="noStrike" kern="1200" cap="none" spc="0" normalizeH="0" baseline="0" noProof="0" dirty="0" err="1">
                <a:ln>
                  <a:noFill/>
                </a:ln>
                <a:solidFill>
                  <a:srgbClr val="333333"/>
                </a:solidFill>
                <a:effectLst/>
                <a:uLnTx/>
                <a:uFillTx/>
                <a:latin typeface="arial" panose="020B0604020202020204" pitchFamily="34" charset="0"/>
                <a:ea typeface="+mn-ea"/>
                <a:cs typeface="+mn-cs"/>
              </a:rPr>
              <a:t>JsonFormatterServices</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need to be registered with the dependency injection container. </a:t>
            </a:r>
            <a:r>
              <a:rPr kumimoji="0" lang="en-US" sz="1200" b="0" i="0" u="none" strike="noStrike" kern="1200" cap="none" spc="0" normalizeH="0" baseline="0" noProof="0" dirty="0" err="1">
                <a:ln>
                  <a:noFill/>
                </a:ln>
                <a:solidFill>
                  <a:srgbClr val="333333"/>
                </a:solidFill>
                <a:effectLst/>
                <a:uLnTx/>
                <a:uFillTx/>
                <a:latin typeface="arial" panose="020B0604020202020204" pitchFamily="34" charset="0"/>
                <a:ea typeface="+mn-ea"/>
                <a:cs typeface="+mn-cs"/>
              </a:rPr>
              <a:t>AddMvc</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method does this but not the </a:t>
            </a:r>
            <a:r>
              <a:rPr kumimoji="0" lang="en-US" sz="1200" b="0" i="0" u="none" strike="noStrike" kern="1200" cap="none" spc="0" normalizeH="0" baseline="0" noProof="0" dirty="0" err="1">
                <a:ln>
                  <a:noFill/>
                </a:ln>
                <a:solidFill>
                  <a:srgbClr val="333333"/>
                </a:solidFill>
                <a:effectLst/>
                <a:uLnTx/>
                <a:uFillTx/>
                <a:latin typeface="arial" panose="020B0604020202020204" pitchFamily="34" charset="0"/>
                <a:ea typeface="+mn-ea"/>
                <a:cs typeface="+mn-cs"/>
              </a:rPr>
              <a:t>AddMvcCore</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method. You can confirm this by looking at the source code on ASP.NET Core MVC </a:t>
            </a:r>
            <a:r>
              <a:rPr kumimoji="0" lang="en-US" sz="1200" b="0" i="0" u="none" strike="noStrike" kern="1200" cap="none" spc="0" normalizeH="0" baseline="0" noProof="0" dirty="0" err="1">
                <a:ln>
                  <a:noFill/>
                </a:ln>
                <a:solidFill>
                  <a:srgbClr val="333333"/>
                </a:solidFill>
                <a:effectLst/>
                <a:uLnTx/>
                <a:uFillTx/>
                <a:latin typeface="arial" panose="020B0604020202020204" pitchFamily="34" charset="0"/>
                <a:ea typeface="+mn-ea"/>
                <a:cs typeface="+mn-cs"/>
              </a:rPr>
              <a:t>Github</a:t>
            </a:r>
            <a:r>
              <a:rPr kumimoji="0" lang="en-US" sz="1200" b="0" i="0" u="none" strike="noStrike" kern="1200" cap="none" spc="0" normalizeH="0" baseline="0" noProof="0" dirty="0">
                <a:ln>
                  <a:noFill/>
                </a:ln>
                <a:solidFill>
                  <a:srgbClr val="333333"/>
                </a:solidFill>
                <a:effectLst/>
                <a:uLnTx/>
                <a:uFillTx/>
                <a:latin typeface="arial" panose="020B0604020202020204" pitchFamily="34" charset="0"/>
                <a:ea typeface="+mn-ea"/>
                <a:cs typeface="+mn-cs"/>
              </a:rPr>
              <a:t> page</a:t>
            </a:r>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6C78556B-6D69-4BD6-9243-B98D0FB3A101}"/>
              </a:ext>
            </a:extLst>
          </p:cNvPr>
          <p:cNvSpPr txBox="1"/>
          <p:nvPr/>
        </p:nvSpPr>
        <p:spPr>
          <a:xfrm>
            <a:off x="167147" y="5709377"/>
            <a:ext cx="5928851" cy="1200329"/>
          </a:xfrm>
          <a:prstGeom prst="rect">
            <a:avLst/>
          </a:prstGeom>
          <a:noFill/>
        </p:spPr>
        <p:txBody>
          <a:bodyPr wrap="square">
            <a:spAutoFit/>
          </a:bodyPr>
          <a:lstStyle/>
          <a:p>
            <a:r>
              <a:rPr lang="en-US" sz="1200" dirty="0"/>
              <a:t>As the name implies, </a:t>
            </a:r>
            <a:r>
              <a:rPr lang="en-US" sz="1200" dirty="0" err="1"/>
              <a:t>AddMvcCore</a:t>
            </a:r>
            <a:r>
              <a:rPr lang="en-US" sz="1200" dirty="0"/>
              <a:t>() method only adds the core MVC services. On the other hand, </a:t>
            </a:r>
            <a:r>
              <a:rPr lang="en-US" sz="1200" dirty="0" err="1"/>
              <a:t>AddMvc</a:t>
            </a:r>
            <a:r>
              <a:rPr lang="en-US" sz="1200" dirty="0"/>
              <a:t>() method adds all the required MVC services. </a:t>
            </a:r>
            <a:r>
              <a:rPr lang="en-US" sz="1200" dirty="0" err="1"/>
              <a:t>AddMvc</a:t>
            </a:r>
            <a:r>
              <a:rPr lang="en-US" sz="1200" dirty="0"/>
              <a:t>() method calls </a:t>
            </a:r>
            <a:r>
              <a:rPr lang="en-US" sz="1200" dirty="0" err="1"/>
              <a:t>AddMvcCore</a:t>
            </a:r>
            <a:r>
              <a:rPr lang="en-US" sz="1200" dirty="0"/>
              <a:t>() method internally, to add all the core MVC services. So if we are calling </a:t>
            </a:r>
            <a:r>
              <a:rPr lang="en-US" sz="1200" dirty="0" err="1"/>
              <a:t>AddMvc</a:t>
            </a:r>
            <a:r>
              <a:rPr lang="en-US" sz="1200" dirty="0"/>
              <a:t>() method there is no need to explicitly call </a:t>
            </a:r>
            <a:r>
              <a:rPr lang="en-US" sz="1200" dirty="0" err="1"/>
              <a:t>AddMvcCore</a:t>
            </a:r>
            <a:r>
              <a:rPr lang="en-US" sz="1200" dirty="0"/>
              <a:t>() method again.</a:t>
            </a:r>
            <a:br>
              <a:rPr lang="en-US" sz="1200" dirty="0"/>
            </a:br>
            <a:r>
              <a:rPr lang="en-US" sz="1200" dirty="0"/>
              <a:t>I hope this clarifies the difference between				</a:t>
            </a:r>
            <a:r>
              <a:rPr lang="en-US" sz="1200" dirty="0" err="1"/>
              <a:t>AddMvc</a:t>
            </a:r>
            <a:r>
              <a:rPr lang="en-US" sz="1200" dirty="0"/>
              <a:t>() and </a:t>
            </a:r>
            <a:r>
              <a:rPr lang="en-US" sz="1200" dirty="0" err="1"/>
              <a:t>AddMvcCore</a:t>
            </a:r>
            <a:r>
              <a:rPr lang="en-US" sz="1200" dirty="0"/>
              <a:t>() methods.</a:t>
            </a:r>
          </a:p>
        </p:txBody>
      </p:sp>
    </p:spTree>
    <p:extLst>
      <p:ext uri="{BB962C8B-B14F-4D97-AF65-F5344CB8AC3E}">
        <p14:creationId xmlns:p14="http://schemas.microsoft.com/office/powerpoint/2010/main" val="513041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506FBD2-951A-465C-B028-CBA6DC36E0A0}"/>
              </a:ext>
            </a:extLst>
          </p:cNvPr>
          <p:cNvSpPr txBox="1"/>
          <p:nvPr/>
        </p:nvSpPr>
        <p:spPr>
          <a:xfrm>
            <a:off x="117987" y="-68826"/>
            <a:ext cx="11936361" cy="7048083"/>
          </a:xfrm>
          <a:prstGeom prst="rect">
            <a:avLst/>
          </a:prstGeom>
          <a:noFill/>
        </p:spPr>
        <p:txBody>
          <a:bodyPr wrap="square">
            <a:spAutoFit/>
          </a:bodyPr>
          <a:lstStyle/>
          <a:p>
            <a:pPr algn="just" fontAlgn="base">
              <a:spcBef>
                <a:spcPts val="600"/>
              </a:spcBef>
              <a:spcAft>
                <a:spcPts val="600"/>
              </a:spcAft>
            </a:pPr>
            <a:r>
              <a:rPr lang="en-US" b="1" i="0" dirty="0">
                <a:solidFill>
                  <a:srgbClr val="000000"/>
                </a:solidFill>
                <a:effectLst/>
                <a:latin typeface="arial" panose="020B0604020202020204" pitchFamily="34" charset="0"/>
              </a:rPr>
              <a:t>Points to Remember:</a:t>
            </a:r>
            <a:endParaRPr lang="en-US" b="0" i="0" dirty="0">
              <a:solidFill>
                <a:srgbClr val="3A3A3A"/>
              </a:solidFill>
              <a:effectLst/>
              <a:latin typeface="-apple-system"/>
            </a:endParaRPr>
          </a:p>
          <a:p>
            <a:pPr algn="just" fontAlgn="base">
              <a:spcBef>
                <a:spcPts val="600"/>
              </a:spcBef>
              <a:spcAft>
                <a:spcPts val="600"/>
              </a:spcAft>
              <a:buFont typeface="+mj-lt"/>
              <a:buAutoNum type="arabicPeriod"/>
            </a:pPr>
            <a:r>
              <a:rPr lang="en-US" b="0" i="0" dirty="0">
                <a:solidFill>
                  <a:srgbClr val="000000"/>
                </a:solidFill>
                <a:effectLst/>
                <a:latin typeface="arial" panose="020B0604020202020204" pitchFamily="34" charset="0"/>
              </a:rPr>
              <a:t>Support of controller is available for all the methods. So, if you need only a controller then you can use any of the methods.</a:t>
            </a:r>
            <a:endParaRPr lang="en-US" b="0" i="0" dirty="0">
              <a:solidFill>
                <a:srgbClr val="212529"/>
              </a:solidFill>
              <a:effectLst/>
              <a:latin typeface="-apple-system"/>
            </a:endParaRPr>
          </a:p>
          <a:p>
            <a:pPr algn="just" fontAlgn="base">
              <a:spcBef>
                <a:spcPts val="600"/>
              </a:spcBef>
              <a:spcAft>
                <a:spcPts val="600"/>
              </a:spcAft>
              <a:buFont typeface="+mj-lt"/>
              <a:buAutoNum type="arabicPeriod"/>
            </a:pPr>
            <a:r>
              <a:rPr lang="en-US" b="0" i="0" dirty="0">
                <a:solidFill>
                  <a:srgbClr val="000000"/>
                </a:solidFill>
                <a:effectLst/>
                <a:latin typeface="arial" panose="020B0604020202020204" pitchFamily="34" charset="0"/>
              </a:rPr>
              <a:t>The model binding feature is also available for all the methods. Model binding is used to map the incoming data to the controller action methods.</a:t>
            </a:r>
            <a:endParaRPr lang="en-US" b="0" i="0" dirty="0">
              <a:solidFill>
                <a:srgbClr val="212529"/>
              </a:solidFill>
              <a:effectLst/>
              <a:latin typeface="-apple-system"/>
            </a:endParaRPr>
          </a:p>
          <a:p>
            <a:pPr algn="just" fontAlgn="base">
              <a:spcBef>
                <a:spcPts val="600"/>
              </a:spcBef>
              <a:spcAft>
                <a:spcPts val="600"/>
              </a:spcAft>
              <a:buFont typeface="+mj-lt"/>
              <a:buAutoNum type="arabicPeriod"/>
            </a:pPr>
            <a:r>
              <a:rPr lang="en-US" b="0" i="0" dirty="0">
                <a:solidFill>
                  <a:srgbClr val="000000"/>
                </a:solidFill>
                <a:effectLst/>
                <a:latin typeface="arial" panose="020B0604020202020204" pitchFamily="34" charset="0"/>
              </a:rPr>
              <a:t>Except for the </a:t>
            </a:r>
            <a:r>
              <a:rPr lang="en-US" b="0" i="0" dirty="0" err="1">
                <a:solidFill>
                  <a:srgbClr val="000000"/>
                </a:solidFill>
                <a:effectLst/>
                <a:latin typeface="arial" panose="020B0604020202020204" pitchFamily="34" charset="0"/>
              </a:rPr>
              <a:t>AddRazorPages</a:t>
            </a:r>
            <a:r>
              <a:rPr lang="en-US" b="0" i="0" dirty="0">
                <a:solidFill>
                  <a:srgbClr val="000000"/>
                </a:solidFill>
                <a:effectLst/>
                <a:latin typeface="arial" panose="020B0604020202020204" pitchFamily="34" charset="0"/>
              </a:rPr>
              <a:t> method, all other methods support the API Explorer feature. The API Explorer has used the list of all the available APIs in your application.</a:t>
            </a:r>
            <a:endParaRPr lang="en-US" b="0" i="0" dirty="0">
              <a:solidFill>
                <a:srgbClr val="212529"/>
              </a:solidFill>
              <a:effectLst/>
              <a:latin typeface="-apple-system"/>
            </a:endParaRPr>
          </a:p>
          <a:p>
            <a:pPr algn="just" fontAlgn="base">
              <a:spcBef>
                <a:spcPts val="600"/>
              </a:spcBef>
              <a:spcAft>
                <a:spcPts val="600"/>
              </a:spcAft>
              <a:buFont typeface="+mj-lt"/>
              <a:buAutoNum type="arabicPeriod"/>
            </a:pPr>
            <a:r>
              <a:rPr lang="en-US" b="0" i="0" dirty="0">
                <a:solidFill>
                  <a:srgbClr val="000000"/>
                </a:solidFill>
                <a:effectLst/>
                <a:latin typeface="arial" panose="020B0604020202020204" pitchFamily="34" charset="0"/>
              </a:rPr>
              <a:t>Authorization is available for all four methods. Authorization is basically used to provide the security features,</a:t>
            </a:r>
            <a:endParaRPr lang="en-US" b="0" i="0" dirty="0">
              <a:solidFill>
                <a:srgbClr val="212529"/>
              </a:solidFill>
              <a:effectLst/>
              <a:latin typeface="-apple-system"/>
            </a:endParaRPr>
          </a:p>
          <a:p>
            <a:pPr algn="just" fontAlgn="base">
              <a:spcBef>
                <a:spcPts val="600"/>
              </a:spcBef>
              <a:spcAft>
                <a:spcPts val="600"/>
              </a:spcAft>
              <a:buFont typeface="+mj-lt"/>
              <a:buAutoNum type="arabicPeriod"/>
            </a:pPr>
            <a:r>
              <a:rPr lang="en-US" b="0" i="0" dirty="0">
                <a:solidFill>
                  <a:srgbClr val="000000"/>
                </a:solidFill>
                <a:effectLst/>
                <a:latin typeface="arial" panose="020B0604020202020204" pitchFamily="34" charset="0"/>
              </a:rPr>
              <a:t>Again, except for the </a:t>
            </a:r>
            <a:r>
              <a:rPr lang="en-US" b="0" i="0" dirty="0" err="1">
                <a:solidFill>
                  <a:srgbClr val="000000"/>
                </a:solidFill>
                <a:effectLst/>
                <a:latin typeface="arial" panose="020B0604020202020204" pitchFamily="34" charset="0"/>
              </a:rPr>
              <a:t>AddRazorPages</a:t>
            </a:r>
            <a:r>
              <a:rPr lang="en-US" b="0" i="0" dirty="0">
                <a:solidFill>
                  <a:srgbClr val="000000"/>
                </a:solidFill>
                <a:effectLst/>
                <a:latin typeface="arial" panose="020B0604020202020204" pitchFamily="34" charset="0"/>
              </a:rPr>
              <a:t> method, all other methods support CORS. CORS is basically a feature that allows CROSS domain call. That means from other domains they can access your method using jQuery AJAX.</a:t>
            </a:r>
            <a:endParaRPr lang="en-US" b="0" i="0" dirty="0">
              <a:solidFill>
                <a:srgbClr val="212529"/>
              </a:solidFill>
              <a:effectLst/>
              <a:latin typeface="-apple-system"/>
            </a:endParaRPr>
          </a:p>
          <a:p>
            <a:pPr algn="just" fontAlgn="base">
              <a:spcBef>
                <a:spcPts val="600"/>
              </a:spcBef>
              <a:spcAft>
                <a:spcPts val="600"/>
              </a:spcAft>
              <a:buFont typeface="+mj-lt"/>
              <a:buAutoNum type="arabicPeriod"/>
            </a:pPr>
            <a:r>
              <a:rPr lang="en-US" b="0" i="0" dirty="0">
                <a:solidFill>
                  <a:srgbClr val="000000"/>
                </a:solidFill>
                <a:effectLst/>
                <a:latin typeface="arial" panose="020B0604020202020204" pitchFamily="34" charset="0"/>
              </a:rPr>
              <a:t>The validation feature is supported by all the methods. Validation is basically used to validate the HTTP Request data. In .NET Core Application, we can implement validation using a concept called Data Annotation.</a:t>
            </a:r>
            <a:endParaRPr lang="en-US" b="0" i="0" dirty="0">
              <a:solidFill>
                <a:srgbClr val="212529"/>
              </a:solidFill>
              <a:effectLst/>
              <a:latin typeface="-apple-system"/>
            </a:endParaRPr>
          </a:p>
          <a:p>
            <a:pPr algn="just" fontAlgn="base">
              <a:spcBef>
                <a:spcPts val="600"/>
              </a:spcBef>
              <a:spcAft>
                <a:spcPts val="600"/>
              </a:spcAft>
              <a:buFont typeface="+mj-lt"/>
              <a:buAutoNum type="arabicPeriod"/>
            </a:pPr>
            <a:r>
              <a:rPr lang="en-US" b="0" i="0" dirty="0">
                <a:solidFill>
                  <a:srgbClr val="000000"/>
                </a:solidFill>
                <a:effectLst/>
                <a:latin typeface="arial" panose="020B0604020202020204" pitchFamily="34" charset="0"/>
              </a:rPr>
              <a:t>Except for the </a:t>
            </a:r>
            <a:r>
              <a:rPr lang="en-US" b="0" i="0" dirty="0" err="1">
                <a:solidFill>
                  <a:srgbClr val="000000"/>
                </a:solidFill>
                <a:effectLst/>
                <a:latin typeface="arial" panose="020B0604020202020204" pitchFamily="34" charset="0"/>
              </a:rPr>
              <a:t>AddRazorPages</a:t>
            </a:r>
            <a:r>
              <a:rPr lang="en-US" b="0" i="0" dirty="0">
                <a:solidFill>
                  <a:srgbClr val="000000"/>
                </a:solidFill>
                <a:effectLst/>
                <a:latin typeface="arial" panose="020B0604020202020204" pitchFamily="34" charset="0"/>
              </a:rPr>
              <a:t> method, all other methods support the Formatter Mapping feature. The Formatter Mapping feature is basically used to format the output of your action method such as JSON or XML, etc.</a:t>
            </a:r>
            <a:endParaRPr lang="en-US" b="0" i="0" dirty="0">
              <a:solidFill>
                <a:srgbClr val="212529"/>
              </a:solidFill>
              <a:effectLst/>
              <a:latin typeface="-apple-system"/>
            </a:endParaRPr>
          </a:p>
          <a:p>
            <a:pPr algn="just" fontAlgn="base">
              <a:spcBef>
                <a:spcPts val="600"/>
              </a:spcBef>
              <a:spcAft>
                <a:spcPts val="600"/>
              </a:spcAft>
              <a:buFont typeface="+mj-lt"/>
              <a:buAutoNum type="arabicPeriod"/>
            </a:pPr>
            <a:r>
              <a:rPr lang="en-US" b="0" i="0" dirty="0" err="1">
                <a:solidFill>
                  <a:srgbClr val="000000"/>
                </a:solidFill>
                <a:effectLst/>
                <a:highlight>
                  <a:srgbClr val="FFFF00"/>
                </a:highlight>
                <a:latin typeface="arial" panose="020B0604020202020204" pitchFamily="34" charset="0"/>
              </a:rPr>
              <a:t>Antiforgery</a:t>
            </a:r>
            <a:r>
              <a:rPr lang="en-US" b="0" i="0" dirty="0">
                <a:solidFill>
                  <a:srgbClr val="000000"/>
                </a:solidFill>
                <a:effectLst/>
                <a:highlight>
                  <a:srgbClr val="FFFF00"/>
                </a:highlight>
                <a:latin typeface="arial" panose="020B0604020202020204" pitchFamily="34" charset="0"/>
              </a:rPr>
              <a:t>, </a:t>
            </a:r>
            <a:r>
              <a:rPr lang="en-US" b="0" i="0" dirty="0" err="1">
                <a:solidFill>
                  <a:srgbClr val="000000"/>
                </a:solidFill>
                <a:effectLst/>
                <a:highlight>
                  <a:srgbClr val="FFFF00"/>
                </a:highlight>
                <a:latin typeface="arial" panose="020B0604020202020204" pitchFamily="34" charset="0"/>
              </a:rPr>
              <a:t>TempData</a:t>
            </a:r>
            <a:r>
              <a:rPr lang="en-US" b="0" i="0" dirty="0">
                <a:solidFill>
                  <a:srgbClr val="000000"/>
                </a:solidFill>
                <a:effectLst/>
                <a:highlight>
                  <a:srgbClr val="FFFF00"/>
                </a:highlight>
                <a:latin typeface="arial" panose="020B0604020202020204" pitchFamily="34" charset="0"/>
              </a:rPr>
              <a:t>, and Views features are not available in the </a:t>
            </a:r>
            <a:r>
              <a:rPr lang="en-US" b="0" i="0" dirty="0" err="1">
                <a:solidFill>
                  <a:srgbClr val="000000"/>
                </a:solidFill>
                <a:effectLst/>
                <a:highlight>
                  <a:srgbClr val="FFFF00"/>
                </a:highlight>
                <a:latin typeface="arial" panose="020B0604020202020204" pitchFamily="34" charset="0"/>
              </a:rPr>
              <a:t>AddControllers</a:t>
            </a:r>
            <a:r>
              <a:rPr lang="en-US" b="0" i="0" dirty="0">
                <a:solidFill>
                  <a:srgbClr val="000000"/>
                </a:solidFill>
                <a:effectLst/>
                <a:highlight>
                  <a:srgbClr val="FFFF00"/>
                </a:highlight>
                <a:latin typeface="arial" panose="020B0604020202020204" pitchFamily="34" charset="0"/>
              </a:rPr>
              <a:t> method.</a:t>
            </a:r>
            <a:endParaRPr lang="en-US" b="0" i="0" dirty="0">
              <a:solidFill>
                <a:srgbClr val="212529"/>
              </a:solidFill>
              <a:effectLst/>
              <a:highlight>
                <a:srgbClr val="FFFF00"/>
              </a:highlight>
              <a:latin typeface="-apple-system"/>
            </a:endParaRPr>
          </a:p>
          <a:p>
            <a:pPr algn="just" fontAlgn="base">
              <a:spcBef>
                <a:spcPts val="600"/>
              </a:spcBef>
              <a:spcAft>
                <a:spcPts val="600"/>
              </a:spcAft>
              <a:buFont typeface="+mj-lt"/>
              <a:buAutoNum type="arabicPeriod"/>
            </a:pPr>
            <a:r>
              <a:rPr lang="en-US" b="0" i="0" dirty="0">
                <a:solidFill>
                  <a:srgbClr val="000000"/>
                </a:solidFill>
                <a:effectLst/>
                <a:latin typeface="arial" panose="020B0604020202020204" pitchFamily="34" charset="0"/>
              </a:rPr>
              <a:t>The Pages are available only with </a:t>
            </a:r>
            <a:r>
              <a:rPr lang="en-US" b="0" i="0" dirty="0" err="1">
                <a:solidFill>
                  <a:srgbClr val="000000"/>
                </a:solidFill>
                <a:effectLst/>
                <a:latin typeface="arial" panose="020B0604020202020204" pitchFamily="34" charset="0"/>
              </a:rPr>
              <a:t>AddMVC</a:t>
            </a:r>
            <a:r>
              <a:rPr lang="en-US" b="0" i="0" dirty="0">
                <a:solidFill>
                  <a:srgbClr val="000000"/>
                </a:solidFill>
                <a:effectLst/>
                <a:latin typeface="arial" panose="020B0604020202020204" pitchFamily="34" charset="0"/>
              </a:rPr>
              <a:t> and </a:t>
            </a:r>
            <a:r>
              <a:rPr lang="en-US" b="0" i="0" dirty="0" err="1">
                <a:solidFill>
                  <a:srgbClr val="000000"/>
                </a:solidFill>
                <a:effectLst/>
                <a:latin typeface="arial" panose="020B0604020202020204" pitchFamily="34" charset="0"/>
              </a:rPr>
              <a:t>AddRazorPages</a:t>
            </a:r>
            <a:r>
              <a:rPr lang="en-US" b="0" i="0" dirty="0">
                <a:solidFill>
                  <a:srgbClr val="000000"/>
                </a:solidFill>
                <a:effectLst/>
                <a:latin typeface="arial" panose="020B0604020202020204" pitchFamily="34" charset="0"/>
              </a:rPr>
              <a:t> method.</a:t>
            </a:r>
            <a:endParaRPr lang="en-US" b="0" i="0" dirty="0">
              <a:solidFill>
                <a:srgbClr val="212529"/>
              </a:solidFill>
              <a:effectLst/>
              <a:latin typeface="-apple-system"/>
            </a:endParaRPr>
          </a:p>
          <a:p>
            <a:pPr algn="just" fontAlgn="base">
              <a:spcBef>
                <a:spcPts val="600"/>
              </a:spcBef>
              <a:spcAft>
                <a:spcPts val="600"/>
              </a:spcAft>
              <a:buFont typeface="+mj-lt"/>
              <a:buAutoNum type="arabicPeriod"/>
            </a:pPr>
            <a:r>
              <a:rPr lang="en-US" b="0" i="0" dirty="0" err="1">
                <a:solidFill>
                  <a:srgbClr val="000000"/>
                </a:solidFill>
                <a:effectLst/>
                <a:highlight>
                  <a:srgbClr val="FFFF00"/>
                </a:highlight>
                <a:latin typeface="arial" panose="020B0604020202020204" pitchFamily="34" charset="0"/>
              </a:rPr>
              <a:t>TagHelpers</a:t>
            </a:r>
            <a:r>
              <a:rPr lang="en-US" b="0" i="0" dirty="0">
                <a:solidFill>
                  <a:srgbClr val="000000"/>
                </a:solidFill>
                <a:effectLst/>
                <a:highlight>
                  <a:srgbClr val="FFFF00"/>
                </a:highlight>
                <a:latin typeface="arial" panose="020B0604020202020204" pitchFamily="34" charset="0"/>
              </a:rPr>
              <a:t> are not available in the </a:t>
            </a:r>
            <a:r>
              <a:rPr lang="en-US" b="0" i="0" dirty="0" err="1">
                <a:solidFill>
                  <a:srgbClr val="000000"/>
                </a:solidFill>
                <a:effectLst/>
                <a:highlight>
                  <a:srgbClr val="FFFF00"/>
                </a:highlight>
                <a:latin typeface="arial" panose="020B0604020202020204" pitchFamily="34" charset="0"/>
              </a:rPr>
              <a:t>AddControllers</a:t>
            </a:r>
            <a:r>
              <a:rPr lang="en-US" b="0" i="0" dirty="0">
                <a:solidFill>
                  <a:srgbClr val="000000"/>
                </a:solidFill>
                <a:effectLst/>
                <a:highlight>
                  <a:srgbClr val="FFFF00"/>
                </a:highlight>
                <a:latin typeface="arial" panose="020B0604020202020204" pitchFamily="34" charset="0"/>
              </a:rPr>
              <a:t> method and available for rest three methods</a:t>
            </a:r>
            <a:r>
              <a:rPr lang="en-US" b="0" i="0" dirty="0">
                <a:solidFill>
                  <a:srgbClr val="000000"/>
                </a:solidFill>
                <a:effectLst/>
                <a:latin typeface="arial" panose="020B0604020202020204" pitchFamily="34" charset="0"/>
              </a:rPr>
              <a:t>.</a:t>
            </a:r>
            <a:endParaRPr lang="en-US" b="0" i="0" dirty="0">
              <a:solidFill>
                <a:srgbClr val="212529"/>
              </a:solidFill>
              <a:effectLst/>
              <a:latin typeface="-apple-system"/>
            </a:endParaRPr>
          </a:p>
          <a:p>
            <a:pPr algn="just" fontAlgn="base">
              <a:spcBef>
                <a:spcPts val="600"/>
              </a:spcBef>
              <a:spcAft>
                <a:spcPts val="600"/>
              </a:spcAft>
              <a:buFont typeface="+mj-lt"/>
              <a:buAutoNum type="arabicPeriod"/>
            </a:pPr>
            <a:r>
              <a:rPr lang="en-US" b="0" i="0" dirty="0">
                <a:solidFill>
                  <a:srgbClr val="000000"/>
                </a:solidFill>
                <a:effectLst/>
                <a:latin typeface="arial" panose="020B0604020202020204" pitchFamily="34" charset="0"/>
              </a:rPr>
              <a:t>The memory Cache feature is also not available in the </a:t>
            </a:r>
            <a:r>
              <a:rPr lang="en-US" b="0" i="0" dirty="0" err="1">
                <a:solidFill>
                  <a:srgbClr val="000000"/>
                </a:solidFill>
                <a:effectLst/>
                <a:latin typeface="arial" panose="020B0604020202020204" pitchFamily="34" charset="0"/>
              </a:rPr>
              <a:t>AddControllers</a:t>
            </a:r>
            <a:r>
              <a:rPr lang="en-US" b="0" i="0" dirty="0">
                <a:solidFill>
                  <a:srgbClr val="000000"/>
                </a:solidFill>
                <a:effectLst/>
                <a:latin typeface="arial" panose="020B0604020202020204" pitchFamily="34" charset="0"/>
              </a:rPr>
              <a:t> method but available with the rest three methods.</a:t>
            </a:r>
            <a:endParaRPr lang="en-US" b="0" i="0" dirty="0">
              <a:solidFill>
                <a:srgbClr val="212529"/>
              </a:solidFill>
              <a:effectLst/>
              <a:latin typeface="-apple-system"/>
            </a:endParaRPr>
          </a:p>
        </p:txBody>
      </p:sp>
    </p:spTree>
    <p:extLst>
      <p:ext uri="{BB962C8B-B14F-4D97-AF65-F5344CB8AC3E}">
        <p14:creationId xmlns:p14="http://schemas.microsoft.com/office/powerpoint/2010/main" val="11413131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0C22932-081F-4CB0-A3E9-FF8F29E1A9B4}"/>
              </a:ext>
            </a:extLst>
          </p:cNvPr>
          <p:cNvSpPr txBox="1"/>
          <p:nvPr/>
        </p:nvSpPr>
        <p:spPr>
          <a:xfrm>
            <a:off x="521109" y="265471"/>
            <a:ext cx="11159613" cy="4616648"/>
          </a:xfrm>
          <a:prstGeom prst="rect">
            <a:avLst/>
          </a:prstGeom>
          <a:noFill/>
        </p:spPr>
        <p:txBody>
          <a:bodyPr wrap="square">
            <a:spAutoFit/>
          </a:bodyPr>
          <a:lstStyle/>
          <a:p>
            <a:pPr algn="just" fontAlgn="base">
              <a:spcBef>
                <a:spcPts val="600"/>
              </a:spcBef>
              <a:spcAft>
                <a:spcPts val="600"/>
              </a:spcAft>
            </a:pPr>
            <a:r>
              <a:rPr lang="en-US" b="1" i="0" dirty="0">
                <a:solidFill>
                  <a:srgbClr val="000000"/>
                </a:solidFill>
                <a:effectLst/>
                <a:latin typeface="arial" panose="020B0604020202020204" pitchFamily="34" charset="0"/>
              </a:rPr>
              <a:t>Which method to use for our application?</a:t>
            </a:r>
            <a:endParaRPr lang="en-US" b="0" i="0" dirty="0">
              <a:solidFill>
                <a:srgbClr val="3A3A3A"/>
              </a:solidFill>
              <a:effectLst/>
              <a:latin typeface="-apple-system"/>
            </a:endParaRPr>
          </a:p>
          <a:p>
            <a:pPr algn="just" fontAlgn="base">
              <a:spcBef>
                <a:spcPts val="600"/>
              </a:spcBef>
              <a:spcAft>
                <a:spcPts val="600"/>
              </a:spcAft>
            </a:pPr>
            <a:r>
              <a:rPr lang="en-US" b="0" i="0" dirty="0">
                <a:solidFill>
                  <a:srgbClr val="000000"/>
                </a:solidFill>
                <a:effectLst/>
                <a:latin typeface="arial" panose="020B0604020202020204" pitchFamily="34" charset="0"/>
              </a:rPr>
              <a:t>This is depending on which type of application you want to create.</a:t>
            </a:r>
            <a:endParaRPr lang="en-US" b="0" i="0" dirty="0">
              <a:solidFill>
                <a:srgbClr val="212529"/>
              </a:solidFill>
              <a:effectLst/>
              <a:latin typeface="-apple-system"/>
            </a:endParaRPr>
          </a:p>
          <a:p>
            <a:pPr algn="just" fontAlgn="base">
              <a:spcBef>
                <a:spcPts val="600"/>
              </a:spcBef>
              <a:spcAft>
                <a:spcPts val="600"/>
              </a:spcAft>
              <a:buFont typeface="+mj-lt"/>
              <a:buAutoNum type="arabicPeriod"/>
            </a:pPr>
            <a:r>
              <a:rPr lang="en-US" b="0" i="0" dirty="0">
                <a:solidFill>
                  <a:srgbClr val="000000"/>
                </a:solidFill>
                <a:effectLst/>
                <a:latin typeface="arial" panose="020B0604020202020204" pitchFamily="34" charset="0"/>
              </a:rPr>
              <a:t>If you want to create a </a:t>
            </a:r>
            <a:r>
              <a:rPr lang="en-US" b="0" i="0" dirty="0">
                <a:solidFill>
                  <a:srgbClr val="000000"/>
                </a:solidFill>
                <a:effectLst/>
                <a:highlight>
                  <a:srgbClr val="FFFF00"/>
                </a:highlight>
                <a:latin typeface="arial" panose="020B0604020202020204" pitchFamily="34" charset="0"/>
              </a:rPr>
              <a:t>Web API application </a:t>
            </a:r>
            <a:r>
              <a:rPr lang="en-US" b="0" i="0" dirty="0">
                <a:solidFill>
                  <a:srgbClr val="000000"/>
                </a:solidFill>
                <a:effectLst/>
                <a:latin typeface="arial" panose="020B0604020202020204" pitchFamily="34" charset="0"/>
              </a:rPr>
              <a:t>where there are no views, then you need to use </a:t>
            </a:r>
            <a:r>
              <a:rPr lang="en-US" b="0" i="0" dirty="0" err="1">
                <a:solidFill>
                  <a:srgbClr val="000000"/>
                </a:solidFill>
                <a:effectLst/>
                <a:highlight>
                  <a:srgbClr val="FFFF00"/>
                </a:highlight>
                <a:latin typeface="arial" panose="020B0604020202020204" pitchFamily="34" charset="0"/>
              </a:rPr>
              <a:t>AddControllers</a:t>
            </a:r>
            <a:r>
              <a:rPr lang="en-US" b="0" i="0" dirty="0">
                <a:solidFill>
                  <a:srgbClr val="000000"/>
                </a:solidFill>
                <a:effectLst/>
                <a:highlight>
                  <a:srgbClr val="FFFF00"/>
                </a:highlight>
                <a:latin typeface="arial" panose="020B0604020202020204" pitchFamily="34" charset="0"/>
              </a:rPr>
              <a:t>() </a:t>
            </a:r>
            <a:r>
              <a:rPr lang="en-US" b="0" i="0" dirty="0">
                <a:solidFill>
                  <a:srgbClr val="000000"/>
                </a:solidFill>
                <a:effectLst/>
                <a:latin typeface="arial" panose="020B0604020202020204" pitchFamily="34" charset="0"/>
              </a:rPr>
              <a:t>extension method.</a:t>
            </a:r>
            <a:endParaRPr lang="en-US" b="0" i="0" dirty="0">
              <a:solidFill>
                <a:srgbClr val="212529"/>
              </a:solidFill>
              <a:effectLst/>
              <a:latin typeface="-apple-system"/>
            </a:endParaRPr>
          </a:p>
          <a:p>
            <a:pPr algn="just" fontAlgn="base">
              <a:spcBef>
                <a:spcPts val="600"/>
              </a:spcBef>
              <a:spcAft>
                <a:spcPts val="600"/>
              </a:spcAft>
              <a:buFont typeface="+mj-lt"/>
              <a:buAutoNum type="arabicPeriod"/>
            </a:pPr>
            <a:r>
              <a:rPr lang="en-US" b="0" i="0" dirty="0">
                <a:solidFill>
                  <a:srgbClr val="000000"/>
                </a:solidFill>
                <a:effectLst/>
                <a:latin typeface="arial" panose="020B0604020202020204" pitchFamily="34" charset="0"/>
              </a:rPr>
              <a:t>If you want to work with the Razor Page application, then you need to use the </a:t>
            </a:r>
            <a:r>
              <a:rPr lang="en-US" b="0" i="0" dirty="0" err="1">
                <a:solidFill>
                  <a:srgbClr val="000000"/>
                </a:solidFill>
                <a:effectLst/>
                <a:latin typeface="arial" panose="020B0604020202020204" pitchFamily="34" charset="0"/>
              </a:rPr>
              <a:t>AddRazorPages</a:t>
            </a:r>
            <a:r>
              <a:rPr lang="en-US" b="0" i="0" dirty="0">
                <a:solidFill>
                  <a:srgbClr val="000000"/>
                </a:solidFill>
                <a:effectLst/>
                <a:latin typeface="arial" panose="020B0604020202020204" pitchFamily="34" charset="0"/>
              </a:rPr>
              <a:t>() extension method.</a:t>
            </a:r>
            <a:endParaRPr lang="en-US" b="0" i="0" dirty="0">
              <a:solidFill>
                <a:srgbClr val="212529"/>
              </a:solidFill>
              <a:effectLst/>
              <a:latin typeface="-apple-system"/>
            </a:endParaRPr>
          </a:p>
          <a:p>
            <a:pPr algn="just" fontAlgn="base">
              <a:spcBef>
                <a:spcPts val="600"/>
              </a:spcBef>
              <a:spcAft>
                <a:spcPts val="600"/>
              </a:spcAft>
              <a:buFont typeface="+mj-lt"/>
              <a:buAutoNum type="arabicPeriod"/>
            </a:pPr>
            <a:r>
              <a:rPr lang="en-US" b="0" i="0" dirty="0">
                <a:solidFill>
                  <a:srgbClr val="000000"/>
                </a:solidFill>
                <a:effectLst/>
                <a:latin typeface="arial" panose="020B0604020202020204" pitchFamily="34" charset="0"/>
              </a:rPr>
              <a:t>If you want to develop a Model View Controller i.e. MVC application then you need to use </a:t>
            </a:r>
            <a:r>
              <a:rPr lang="en-US" b="0" i="0" dirty="0" err="1">
                <a:solidFill>
                  <a:srgbClr val="000000"/>
                </a:solidFill>
                <a:effectLst/>
                <a:latin typeface="arial" panose="020B0604020202020204" pitchFamily="34" charset="0"/>
              </a:rPr>
              <a:t>AddControllersWithViews</a:t>
            </a:r>
            <a:r>
              <a:rPr lang="en-US" b="0" i="0" dirty="0">
                <a:solidFill>
                  <a:srgbClr val="000000"/>
                </a:solidFill>
                <a:effectLst/>
                <a:latin typeface="arial" panose="020B0604020202020204" pitchFamily="34" charset="0"/>
              </a:rPr>
              <a:t>() method. Further, if you want Pages features into your MVC application, then you need to use the </a:t>
            </a:r>
            <a:r>
              <a:rPr lang="en-US" b="0" i="0" dirty="0" err="1">
                <a:solidFill>
                  <a:srgbClr val="000000"/>
                </a:solidFill>
                <a:effectLst/>
                <a:latin typeface="arial" panose="020B0604020202020204" pitchFamily="34" charset="0"/>
              </a:rPr>
              <a:t>AddMVC</a:t>
            </a:r>
            <a:r>
              <a:rPr lang="en-US" b="0" i="0" dirty="0">
                <a:solidFill>
                  <a:srgbClr val="000000"/>
                </a:solidFill>
                <a:effectLst/>
                <a:latin typeface="arial" panose="020B0604020202020204" pitchFamily="34" charset="0"/>
              </a:rPr>
              <a:t> method.</a:t>
            </a:r>
            <a:endParaRPr lang="en-US" b="0" i="0" dirty="0">
              <a:solidFill>
                <a:srgbClr val="212529"/>
              </a:solidFill>
              <a:effectLst/>
              <a:latin typeface="-apple-system"/>
            </a:endParaRPr>
          </a:p>
          <a:p>
            <a:pPr algn="just" fontAlgn="base">
              <a:spcBef>
                <a:spcPts val="600"/>
              </a:spcBef>
              <a:spcAft>
                <a:spcPts val="600"/>
              </a:spcAft>
            </a:pPr>
            <a:r>
              <a:rPr lang="en-US" b="1" i="0" dirty="0" err="1">
                <a:solidFill>
                  <a:srgbClr val="000000"/>
                </a:solidFill>
                <a:effectLst/>
                <a:latin typeface="arial" panose="020B0604020202020204" pitchFamily="34" charset="0"/>
              </a:rPr>
              <a:t>AddMvc</a:t>
            </a:r>
            <a:r>
              <a:rPr lang="en-US" b="1" i="0" dirty="0">
                <a:solidFill>
                  <a:srgbClr val="000000"/>
                </a:solidFill>
                <a:effectLst/>
                <a:latin typeface="arial" panose="020B0604020202020204" pitchFamily="34" charset="0"/>
              </a:rPr>
              <a:t>:</a:t>
            </a:r>
            <a:r>
              <a:rPr lang="en-US" b="0" i="0" dirty="0">
                <a:solidFill>
                  <a:srgbClr val="000000"/>
                </a:solidFill>
                <a:effectLst/>
                <a:latin typeface="arial" panose="020B0604020202020204" pitchFamily="34" charset="0"/>
              </a:rPr>
              <a:t> This method has all the features. So, you can any type of application (Web API, MVC, and Razor Pages) using this </a:t>
            </a:r>
            <a:r>
              <a:rPr lang="en-US" b="0" i="0" dirty="0" err="1">
                <a:solidFill>
                  <a:srgbClr val="000000"/>
                </a:solidFill>
                <a:effectLst/>
                <a:latin typeface="arial" panose="020B0604020202020204" pitchFamily="34" charset="0"/>
              </a:rPr>
              <a:t>AddMVC</a:t>
            </a:r>
            <a:r>
              <a:rPr lang="en-US" b="0" i="0" dirty="0">
                <a:solidFill>
                  <a:srgbClr val="000000"/>
                </a:solidFill>
                <a:effectLst/>
                <a:latin typeface="arial" panose="020B0604020202020204" pitchFamily="34" charset="0"/>
              </a:rPr>
              <a:t> method.</a:t>
            </a:r>
            <a:endParaRPr lang="en-US" b="0" i="0" dirty="0">
              <a:solidFill>
                <a:srgbClr val="212529"/>
              </a:solidFill>
              <a:effectLst/>
              <a:latin typeface="-apple-system"/>
            </a:endParaRPr>
          </a:p>
          <a:p>
            <a:pPr algn="just" fontAlgn="base">
              <a:spcBef>
                <a:spcPts val="600"/>
              </a:spcBef>
              <a:spcAft>
                <a:spcPts val="600"/>
              </a:spcAft>
            </a:pPr>
            <a:r>
              <a:rPr lang="en-US" b="1" i="0" dirty="0">
                <a:solidFill>
                  <a:srgbClr val="000000"/>
                </a:solidFill>
                <a:effectLst/>
                <a:latin typeface="arial" panose="020B0604020202020204" pitchFamily="34" charset="0"/>
              </a:rPr>
              <a:t>Note:</a:t>
            </a:r>
            <a:r>
              <a:rPr lang="en-US" b="0" i="0" dirty="0">
                <a:solidFill>
                  <a:srgbClr val="000000"/>
                </a:solidFill>
                <a:effectLst/>
                <a:latin typeface="arial" panose="020B0604020202020204" pitchFamily="34" charset="0"/>
              </a:rPr>
              <a:t> Adding </a:t>
            </a:r>
            <a:r>
              <a:rPr lang="en-US" b="0" i="0" dirty="0" err="1">
                <a:solidFill>
                  <a:srgbClr val="000000"/>
                </a:solidFill>
                <a:effectLst/>
                <a:latin typeface="arial" panose="020B0604020202020204" pitchFamily="34" charset="0"/>
              </a:rPr>
              <a:t>AddMvc</a:t>
            </a:r>
            <a:r>
              <a:rPr lang="en-US" b="0" i="0" dirty="0">
                <a:solidFill>
                  <a:srgbClr val="000000"/>
                </a:solidFill>
                <a:effectLst/>
                <a:latin typeface="arial" panose="020B0604020202020204" pitchFamily="34" charset="0"/>
              </a:rPr>
              <a:t>() method will add extra features even though which are not required to your application which might impact the performance of the application.</a:t>
            </a:r>
            <a:endParaRPr lang="en-US" b="0" i="0" dirty="0">
              <a:solidFill>
                <a:srgbClr val="212529"/>
              </a:solidFill>
              <a:effectLst/>
              <a:latin typeface="-apple-system"/>
            </a:endParaRPr>
          </a:p>
        </p:txBody>
      </p:sp>
    </p:spTree>
    <p:extLst>
      <p:ext uri="{BB962C8B-B14F-4D97-AF65-F5344CB8AC3E}">
        <p14:creationId xmlns:p14="http://schemas.microsoft.com/office/powerpoint/2010/main" val="713536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715D1D1-392F-4753-B4C2-B298C8F1E978}"/>
              </a:ext>
            </a:extLst>
          </p:cNvPr>
          <p:cNvSpPr txBox="1"/>
          <p:nvPr/>
        </p:nvSpPr>
        <p:spPr>
          <a:xfrm>
            <a:off x="540773" y="127820"/>
            <a:ext cx="11218607" cy="4029565"/>
          </a:xfrm>
          <a:prstGeom prst="rect">
            <a:avLst/>
          </a:prstGeom>
          <a:noFill/>
        </p:spPr>
        <p:txBody>
          <a:bodyPr wrap="square">
            <a:spAutoFit/>
          </a:bodyPr>
          <a:lstStyle/>
          <a:p>
            <a:pPr>
              <a:lnSpc>
                <a:spcPct val="107000"/>
              </a:lnSpc>
              <a:spcAft>
                <a:spcPts val="800"/>
              </a:spcAft>
            </a:pPr>
            <a:r>
              <a:rPr lang="en-IN" sz="2000" b="1" dirty="0">
                <a:effectLst/>
                <a:latin typeface="Calibri" panose="020F0502020204030204" pitchFamily="34" charset="0"/>
                <a:ea typeface="Calibri" panose="020F0502020204030204" pitchFamily="34" charset="0"/>
                <a:cs typeface="Times New Roman" panose="02020603050405020304" pitchFamily="18" charset="0"/>
              </a:rPr>
              <a:t>Scoped Service vs Transient Service vs Singleton Service</a:t>
            </a:r>
            <a:br>
              <a:rPr lang="en-IN" sz="2000" dirty="0">
                <a:effectLst/>
                <a:latin typeface="Calibri" panose="020F0502020204030204" pitchFamily="34" charset="0"/>
                <a:ea typeface="Calibri" panose="020F0502020204030204" pitchFamily="34" charset="0"/>
                <a:cs typeface="Times New Roman" panose="02020603050405020304" pitchFamily="18" charset="0"/>
              </a:rPr>
            </a:br>
            <a:r>
              <a:rPr lang="en-IN" sz="2000" dirty="0">
                <a:effectLst/>
                <a:latin typeface="Calibri" panose="020F0502020204030204" pitchFamily="34" charset="0"/>
                <a:ea typeface="Calibri" panose="020F0502020204030204" pitchFamily="34" charset="0"/>
                <a:cs typeface="Times New Roman" panose="02020603050405020304" pitchFamily="18" charset="0"/>
              </a:rPr>
              <a:t>The following is the main difference between a scoped service and a transient service. </a:t>
            </a:r>
            <a:br>
              <a:rPr lang="en-IN" sz="2000" dirty="0">
                <a:effectLst/>
                <a:latin typeface="Calibri" panose="020F0502020204030204" pitchFamily="34" charset="0"/>
                <a:ea typeface="Calibri" panose="020F0502020204030204" pitchFamily="34" charset="0"/>
                <a:cs typeface="Times New Roman" panose="02020603050405020304" pitchFamily="18" charset="0"/>
              </a:rPr>
            </a:br>
            <a:br>
              <a:rPr lang="en-IN" sz="2000" dirty="0">
                <a:effectLst/>
                <a:latin typeface="Calibri" panose="020F0502020204030204" pitchFamily="34" charset="0"/>
                <a:ea typeface="Calibri" panose="020F0502020204030204" pitchFamily="34" charset="0"/>
                <a:cs typeface="Times New Roman" panose="02020603050405020304" pitchFamily="18" charset="0"/>
              </a:rPr>
            </a:br>
            <a:r>
              <a:rPr lang="en-IN" sz="2000" dirty="0">
                <a:effectLst/>
                <a:latin typeface="Calibri" panose="020F0502020204030204" pitchFamily="34" charset="0"/>
                <a:ea typeface="Calibri" panose="020F0502020204030204" pitchFamily="34" charset="0"/>
                <a:cs typeface="Times New Roman" panose="02020603050405020304" pitchFamily="18" charset="0"/>
              </a:rPr>
              <a:t>With a </a:t>
            </a:r>
            <a:r>
              <a:rPr lang="en-IN" sz="2000" b="1" i="1" dirty="0">
                <a:effectLst/>
                <a:latin typeface="Calibri" panose="020F0502020204030204" pitchFamily="34" charset="0"/>
                <a:ea typeface="Calibri" panose="020F0502020204030204" pitchFamily="34" charset="0"/>
                <a:cs typeface="Times New Roman" panose="02020603050405020304" pitchFamily="18" charset="0"/>
              </a:rPr>
              <a:t>scoped service</a:t>
            </a:r>
            <a:r>
              <a:rPr lang="en-IN" sz="2000" dirty="0">
                <a:effectLst/>
                <a:latin typeface="Calibri" panose="020F0502020204030204" pitchFamily="34" charset="0"/>
                <a:ea typeface="Calibri" panose="020F0502020204030204" pitchFamily="34" charset="0"/>
                <a:cs typeface="Times New Roman" panose="02020603050405020304" pitchFamily="18" charset="0"/>
              </a:rPr>
              <a:t> we get the </a:t>
            </a:r>
            <a:r>
              <a:rPr lang="en-IN" sz="2000" b="1" dirty="0">
                <a:effectLst/>
                <a:latin typeface="Calibri" panose="020F0502020204030204" pitchFamily="34" charset="0"/>
                <a:ea typeface="Calibri" panose="020F0502020204030204" pitchFamily="34" charset="0"/>
                <a:cs typeface="Times New Roman" panose="02020603050405020304" pitchFamily="18" charset="0"/>
              </a:rPr>
              <a:t>same instance</a:t>
            </a:r>
            <a:r>
              <a:rPr lang="en-IN" sz="2000" dirty="0">
                <a:effectLst/>
                <a:latin typeface="Calibri" panose="020F0502020204030204" pitchFamily="34" charset="0"/>
                <a:ea typeface="Calibri" panose="020F0502020204030204" pitchFamily="34" charset="0"/>
                <a:cs typeface="Times New Roman" panose="02020603050405020304" pitchFamily="18" charset="0"/>
              </a:rPr>
              <a:t> within the </a:t>
            </a:r>
            <a:r>
              <a:rPr lang="en-IN" sz="2000" b="1" dirty="0">
                <a:effectLst/>
                <a:latin typeface="Calibri" panose="020F0502020204030204" pitchFamily="34" charset="0"/>
                <a:ea typeface="Calibri" panose="020F0502020204030204" pitchFamily="34" charset="0"/>
                <a:cs typeface="Times New Roman" panose="02020603050405020304" pitchFamily="18" charset="0"/>
              </a:rPr>
              <a:t>scope of </a:t>
            </a:r>
            <a:r>
              <a:rPr lang="en-IN" sz="2000" dirty="0">
                <a:effectLst/>
                <a:latin typeface="Calibri" panose="020F0502020204030204" pitchFamily="34" charset="0"/>
                <a:ea typeface="Calibri" panose="020F0502020204030204" pitchFamily="34" charset="0"/>
                <a:cs typeface="Times New Roman" panose="02020603050405020304" pitchFamily="18" charset="0"/>
              </a:rPr>
              <a:t>a given </a:t>
            </a:r>
            <a:r>
              <a:rPr lang="en-IN" sz="2000" b="1" dirty="0">
                <a:effectLst/>
                <a:latin typeface="Calibri" panose="020F0502020204030204" pitchFamily="34" charset="0"/>
                <a:ea typeface="Calibri" panose="020F0502020204030204" pitchFamily="34" charset="0"/>
                <a:cs typeface="Times New Roman" panose="02020603050405020304" pitchFamily="18" charset="0"/>
              </a:rPr>
              <a:t>http</a:t>
            </a:r>
            <a:r>
              <a:rPr lang="en-IN" sz="2000" dirty="0">
                <a:effectLst/>
                <a:latin typeface="Calibri" panose="020F0502020204030204" pitchFamily="34" charset="0"/>
                <a:ea typeface="Calibri" panose="020F0502020204030204" pitchFamily="34" charset="0"/>
                <a:cs typeface="Times New Roman" panose="02020603050405020304" pitchFamily="18" charset="0"/>
              </a:rPr>
              <a:t> request but a new instance across different http requests</a:t>
            </a:r>
            <a:br>
              <a:rPr lang="en-IN" sz="2000" dirty="0">
                <a:effectLst/>
                <a:latin typeface="Calibri" panose="020F0502020204030204" pitchFamily="34" charset="0"/>
                <a:ea typeface="Calibri" panose="020F0502020204030204" pitchFamily="34" charset="0"/>
                <a:cs typeface="Times New Roman" panose="02020603050405020304" pitchFamily="18" charset="0"/>
              </a:rPr>
            </a:br>
            <a:br>
              <a:rPr lang="en-IN" sz="2000" dirty="0">
                <a:effectLst/>
                <a:latin typeface="Calibri" panose="020F0502020204030204" pitchFamily="34" charset="0"/>
                <a:ea typeface="Calibri" panose="020F0502020204030204" pitchFamily="34" charset="0"/>
                <a:cs typeface="Times New Roman" panose="02020603050405020304" pitchFamily="18" charset="0"/>
              </a:rPr>
            </a:br>
            <a:r>
              <a:rPr lang="en-IN" sz="2000" dirty="0">
                <a:effectLst/>
                <a:latin typeface="Calibri" panose="020F0502020204030204" pitchFamily="34" charset="0"/>
                <a:ea typeface="Calibri" panose="020F0502020204030204" pitchFamily="34" charset="0"/>
                <a:cs typeface="Times New Roman" panose="02020603050405020304" pitchFamily="18" charset="0"/>
              </a:rPr>
              <a:t>With a </a:t>
            </a:r>
            <a:r>
              <a:rPr lang="en-IN" sz="2000" b="1" dirty="0">
                <a:effectLst/>
                <a:latin typeface="Calibri" panose="020F0502020204030204" pitchFamily="34" charset="0"/>
                <a:ea typeface="Calibri" panose="020F0502020204030204" pitchFamily="34" charset="0"/>
                <a:cs typeface="Times New Roman" panose="02020603050405020304" pitchFamily="18" charset="0"/>
              </a:rPr>
              <a:t>transient service</a:t>
            </a:r>
            <a:r>
              <a:rPr lang="en-IN" sz="2000" dirty="0">
                <a:effectLst/>
                <a:latin typeface="Calibri" panose="020F0502020204030204" pitchFamily="34" charset="0"/>
                <a:ea typeface="Calibri" panose="020F0502020204030204" pitchFamily="34" charset="0"/>
                <a:cs typeface="Times New Roman" panose="02020603050405020304" pitchFamily="18" charset="0"/>
              </a:rPr>
              <a:t> a </a:t>
            </a:r>
            <a:r>
              <a:rPr lang="en-IN" sz="2000" b="1" dirty="0">
                <a:effectLst/>
                <a:latin typeface="Calibri" panose="020F0502020204030204" pitchFamily="34" charset="0"/>
                <a:ea typeface="Calibri" panose="020F0502020204030204" pitchFamily="34" charset="0"/>
                <a:cs typeface="Times New Roman" panose="02020603050405020304" pitchFamily="18" charset="0"/>
              </a:rPr>
              <a:t>new instance</a:t>
            </a:r>
            <a:r>
              <a:rPr lang="en-IN" sz="2000" dirty="0">
                <a:effectLst/>
                <a:latin typeface="Calibri" panose="020F0502020204030204" pitchFamily="34" charset="0"/>
                <a:ea typeface="Calibri" panose="020F0502020204030204" pitchFamily="34" charset="0"/>
                <a:cs typeface="Times New Roman" panose="02020603050405020304" pitchFamily="18" charset="0"/>
              </a:rPr>
              <a:t> is provided </a:t>
            </a:r>
            <a:r>
              <a:rPr lang="en-IN" sz="2000" b="1" dirty="0">
                <a:effectLst/>
                <a:latin typeface="Calibri" panose="020F0502020204030204" pitchFamily="34" charset="0"/>
                <a:ea typeface="Calibri" panose="020F0502020204030204" pitchFamily="34" charset="0"/>
                <a:cs typeface="Times New Roman" panose="02020603050405020304" pitchFamily="18" charset="0"/>
              </a:rPr>
              <a:t>every time an instance is requested</a:t>
            </a:r>
            <a:r>
              <a:rPr lang="en-IN" sz="2000" dirty="0">
                <a:effectLst/>
                <a:latin typeface="Calibri" panose="020F0502020204030204" pitchFamily="34" charset="0"/>
                <a:ea typeface="Calibri" panose="020F0502020204030204" pitchFamily="34" charset="0"/>
                <a:cs typeface="Times New Roman" panose="02020603050405020304" pitchFamily="18" charset="0"/>
              </a:rPr>
              <a:t> whether it is in the scope of the same http request or across different http requests</a:t>
            </a:r>
            <a:br>
              <a:rPr lang="en-IN" sz="2000" dirty="0">
                <a:effectLst/>
                <a:latin typeface="Calibri" panose="020F0502020204030204" pitchFamily="34" charset="0"/>
                <a:ea typeface="Calibri" panose="020F0502020204030204" pitchFamily="34" charset="0"/>
                <a:cs typeface="Times New Roman" panose="02020603050405020304" pitchFamily="18" charset="0"/>
              </a:rPr>
            </a:br>
            <a:br>
              <a:rPr lang="en-IN" sz="2000" dirty="0">
                <a:effectLst/>
                <a:latin typeface="Calibri" panose="020F0502020204030204" pitchFamily="34" charset="0"/>
                <a:ea typeface="Calibri" panose="020F0502020204030204" pitchFamily="34" charset="0"/>
                <a:cs typeface="Times New Roman" panose="02020603050405020304" pitchFamily="18" charset="0"/>
              </a:rPr>
            </a:br>
            <a:r>
              <a:rPr lang="en-IN" sz="2000" dirty="0">
                <a:effectLst/>
                <a:latin typeface="Calibri" panose="020F0502020204030204" pitchFamily="34" charset="0"/>
                <a:ea typeface="Calibri" panose="020F0502020204030204" pitchFamily="34" charset="0"/>
                <a:cs typeface="Times New Roman" panose="02020603050405020304" pitchFamily="18" charset="0"/>
              </a:rPr>
              <a:t>With a </a:t>
            </a:r>
            <a:r>
              <a:rPr lang="en-IN" sz="2000" b="1" dirty="0">
                <a:effectLst/>
                <a:latin typeface="Calibri" panose="020F0502020204030204" pitchFamily="34" charset="0"/>
                <a:ea typeface="Calibri" panose="020F0502020204030204" pitchFamily="34" charset="0"/>
                <a:cs typeface="Times New Roman" panose="02020603050405020304" pitchFamily="18" charset="0"/>
              </a:rPr>
              <a:t>singleton service</a:t>
            </a:r>
            <a:r>
              <a:rPr lang="en-IN" sz="2000" dirty="0">
                <a:effectLst/>
                <a:latin typeface="Calibri" panose="020F0502020204030204" pitchFamily="34" charset="0"/>
                <a:ea typeface="Calibri" panose="020F0502020204030204" pitchFamily="34" charset="0"/>
                <a:cs typeface="Times New Roman" panose="02020603050405020304" pitchFamily="18" charset="0"/>
              </a:rPr>
              <a:t>, there is only a single instance. An instance is created, when the service is first requested and that </a:t>
            </a:r>
            <a:r>
              <a:rPr lang="en-IN" sz="2000" b="1" dirty="0">
                <a:effectLst/>
                <a:latin typeface="Calibri" panose="020F0502020204030204" pitchFamily="34" charset="0"/>
                <a:ea typeface="Calibri" panose="020F0502020204030204" pitchFamily="34" charset="0"/>
                <a:cs typeface="Times New Roman" panose="02020603050405020304" pitchFamily="18" charset="0"/>
              </a:rPr>
              <a:t>single instance </a:t>
            </a:r>
            <a:r>
              <a:rPr lang="en-IN" sz="2000" dirty="0">
                <a:effectLst/>
                <a:latin typeface="Calibri" panose="020F0502020204030204" pitchFamily="34" charset="0"/>
                <a:ea typeface="Calibri" panose="020F0502020204030204" pitchFamily="34" charset="0"/>
                <a:cs typeface="Times New Roman" panose="02020603050405020304" pitchFamily="18" charset="0"/>
              </a:rPr>
              <a:t>is used by </a:t>
            </a:r>
            <a:r>
              <a:rPr lang="en-IN" sz="2000" b="1" dirty="0">
                <a:effectLst/>
                <a:latin typeface="Calibri" panose="020F0502020204030204" pitchFamily="34" charset="0"/>
                <a:ea typeface="Calibri" panose="020F0502020204030204" pitchFamily="34" charset="0"/>
                <a:cs typeface="Times New Roman" panose="02020603050405020304" pitchFamily="18" charset="0"/>
              </a:rPr>
              <a:t>all http requests</a:t>
            </a:r>
            <a:r>
              <a:rPr lang="en-IN" sz="2000" dirty="0">
                <a:effectLst/>
                <a:latin typeface="Calibri" panose="020F0502020204030204" pitchFamily="34" charset="0"/>
                <a:ea typeface="Calibri" panose="020F0502020204030204" pitchFamily="34" charset="0"/>
                <a:cs typeface="Times New Roman" panose="02020603050405020304" pitchFamily="18" charset="0"/>
              </a:rPr>
              <a:t> throughout the application.</a:t>
            </a:r>
            <a:br>
              <a:rPr lang="en-IN" sz="2000" dirty="0">
                <a:effectLst/>
                <a:latin typeface="Calibri" panose="020F0502020204030204" pitchFamily="34" charset="0"/>
                <a:ea typeface="Calibri" panose="020F0502020204030204" pitchFamily="34" charset="0"/>
                <a:cs typeface="Times New Roman" panose="02020603050405020304" pitchFamily="18" charset="0"/>
              </a:rPr>
            </a:b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CF56DB01-D96E-D812-9AAA-58AE73C5E91A}"/>
              </a:ext>
            </a:extLst>
          </p:cNvPr>
          <p:cNvSpPr txBox="1"/>
          <p:nvPr/>
        </p:nvSpPr>
        <p:spPr>
          <a:xfrm>
            <a:off x="503407" y="4336289"/>
            <a:ext cx="11293338"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0" i="0" dirty="0">
                <a:solidFill>
                  <a:srgbClr val="161616"/>
                </a:solidFill>
                <a:effectLst/>
                <a:latin typeface="Segoe UI" panose="020B0502040204020203" pitchFamily="34" charset="0"/>
              </a:rPr>
              <a:t>By default, Entity Framework contexts are added to the service container using the </a:t>
            </a:r>
            <a:r>
              <a:rPr lang="en-US" b="0" i="0" u="none" strike="noStrike" dirty="0">
                <a:effectLst/>
                <a:latin typeface="Segoe UI" panose="020B0502040204020203" pitchFamily="34" charset="0"/>
                <a:hlinkClick r:id="rId2"/>
              </a:rPr>
              <a:t>scoped lifetime</a:t>
            </a:r>
            <a:r>
              <a:rPr lang="en-US" b="0" i="0" dirty="0">
                <a:solidFill>
                  <a:srgbClr val="161616"/>
                </a:solidFill>
                <a:effectLst/>
                <a:latin typeface="Segoe UI" panose="020B0502040204020203" pitchFamily="34" charset="0"/>
              </a:rPr>
              <a:t> because web app database operations are normally scoped to the client request. To use a different lifetime, specify the lifetime by using an </a:t>
            </a:r>
            <a:r>
              <a:rPr lang="en-US" b="0" i="0" u="none" strike="noStrike" dirty="0" err="1">
                <a:effectLst/>
                <a:latin typeface="Segoe UI" panose="020B0502040204020203" pitchFamily="34" charset="0"/>
                <a:hlinkClick r:id="rId3"/>
              </a:rPr>
              <a:t>AddDbContext</a:t>
            </a:r>
            <a:r>
              <a:rPr lang="en-US" b="0" i="0" dirty="0">
                <a:solidFill>
                  <a:srgbClr val="161616"/>
                </a:solidFill>
                <a:effectLst/>
                <a:latin typeface="Segoe UI" panose="020B0502040204020203" pitchFamily="34" charset="0"/>
              </a:rPr>
              <a:t> overload. Services of a given lifetime shouldn't use a database context with a lifetime that's shorter than the service's lifetime.</a:t>
            </a:r>
            <a:endParaRPr lang="en-IN" dirty="0"/>
          </a:p>
        </p:txBody>
      </p:sp>
    </p:spTree>
    <p:extLst>
      <p:ext uri="{BB962C8B-B14F-4D97-AF65-F5344CB8AC3E}">
        <p14:creationId xmlns:p14="http://schemas.microsoft.com/office/powerpoint/2010/main" val="2859987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8307B3C-722D-420F-B853-3E5C094754F6}"/>
              </a:ext>
            </a:extLst>
          </p:cNvPr>
          <p:cNvSpPr txBox="1"/>
          <p:nvPr/>
        </p:nvSpPr>
        <p:spPr>
          <a:xfrm>
            <a:off x="580104" y="138951"/>
            <a:ext cx="10146890" cy="369332"/>
          </a:xfrm>
          <a:prstGeom prst="rect">
            <a:avLst/>
          </a:prstGeom>
          <a:noFill/>
        </p:spPr>
        <p:txBody>
          <a:bodyPr wrap="square">
            <a:spAutoFit/>
          </a:bodyPr>
          <a:lstStyle/>
          <a:p>
            <a:pPr algn="l"/>
            <a:r>
              <a:rPr lang="en-US" b="1" i="0" dirty="0">
                <a:solidFill>
                  <a:srgbClr val="555555"/>
                </a:solidFill>
                <a:effectLst/>
                <a:latin typeface="Arial" panose="020B0604020202020204" pitchFamily="34" charset="0"/>
              </a:rPr>
              <a:t>Difference between </a:t>
            </a:r>
            <a:r>
              <a:rPr lang="en-US" b="1" i="0" dirty="0" err="1">
                <a:solidFill>
                  <a:srgbClr val="555555"/>
                </a:solidFill>
                <a:effectLst/>
                <a:latin typeface="Arial" panose="020B0604020202020204" pitchFamily="34" charset="0"/>
              </a:rPr>
              <a:t>AddTransient</a:t>
            </a:r>
            <a:r>
              <a:rPr lang="en-US" b="1" i="0" dirty="0">
                <a:solidFill>
                  <a:srgbClr val="555555"/>
                </a:solidFill>
                <a:effectLst/>
                <a:latin typeface="Arial" panose="020B0604020202020204" pitchFamily="34" charset="0"/>
              </a:rPr>
              <a:t>, </a:t>
            </a:r>
            <a:r>
              <a:rPr lang="en-US" b="1" i="0" dirty="0" err="1">
                <a:solidFill>
                  <a:srgbClr val="555555"/>
                </a:solidFill>
                <a:effectLst/>
                <a:latin typeface="Arial" panose="020B0604020202020204" pitchFamily="34" charset="0"/>
              </a:rPr>
              <a:t>AddScoped</a:t>
            </a:r>
            <a:r>
              <a:rPr lang="en-US" b="1" i="0" dirty="0">
                <a:solidFill>
                  <a:srgbClr val="555555"/>
                </a:solidFill>
                <a:effectLst/>
                <a:latin typeface="Arial" panose="020B0604020202020204" pitchFamily="34" charset="0"/>
              </a:rPr>
              <a:t> and </a:t>
            </a:r>
            <a:r>
              <a:rPr lang="en-US" b="1" i="0" dirty="0" err="1">
                <a:solidFill>
                  <a:srgbClr val="555555"/>
                </a:solidFill>
                <a:effectLst/>
                <a:latin typeface="Arial" panose="020B0604020202020204" pitchFamily="34" charset="0"/>
              </a:rPr>
              <a:t>AddSingleton</a:t>
            </a:r>
            <a:r>
              <a:rPr lang="en-US" b="1" i="0" dirty="0">
                <a:solidFill>
                  <a:srgbClr val="555555"/>
                </a:solidFill>
                <a:effectLst/>
                <a:latin typeface="Arial" panose="020B0604020202020204" pitchFamily="34" charset="0"/>
              </a:rPr>
              <a:t> in .NET Core</a:t>
            </a:r>
          </a:p>
        </p:txBody>
      </p:sp>
      <p:sp>
        <p:nvSpPr>
          <p:cNvPr id="7" name="TextBox 6">
            <a:extLst>
              <a:ext uri="{FF2B5EF4-FFF2-40B4-BE49-F238E27FC236}">
                <a16:creationId xmlns:a16="http://schemas.microsoft.com/office/drawing/2014/main" id="{16524B47-CF57-4BE6-995F-78C3E474DE27}"/>
              </a:ext>
            </a:extLst>
          </p:cNvPr>
          <p:cNvSpPr txBox="1"/>
          <p:nvPr/>
        </p:nvSpPr>
        <p:spPr>
          <a:xfrm>
            <a:off x="78658" y="692949"/>
            <a:ext cx="12024852" cy="1477328"/>
          </a:xfrm>
          <a:prstGeom prst="rect">
            <a:avLst/>
          </a:prstGeom>
          <a:noFill/>
        </p:spPr>
        <p:txBody>
          <a:bodyPr wrap="square">
            <a:spAutoFit/>
          </a:bodyPr>
          <a:lstStyle/>
          <a:p>
            <a:pPr algn="l"/>
            <a:r>
              <a:rPr lang="en-US" b="1" i="0" dirty="0">
                <a:effectLst/>
                <a:latin typeface="Arial" panose="020B0604020202020204" pitchFamily="34" charset="0"/>
              </a:rPr>
              <a:t>Add Singleton</a:t>
            </a:r>
          </a:p>
          <a:p>
            <a:pPr algn="just"/>
            <a:r>
              <a:rPr lang="en-US" b="0" i="0" dirty="0">
                <a:solidFill>
                  <a:srgbClr val="000000"/>
                </a:solidFill>
                <a:effectLst/>
                <a:latin typeface="Arial" panose="020B0604020202020204" pitchFamily="34" charset="0"/>
              </a:rPr>
              <a:t>When we register a type as singleton, only </a:t>
            </a:r>
            <a:r>
              <a:rPr lang="en-US" b="0" i="0" dirty="0">
                <a:solidFill>
                  <a:srgbClr val="FF0000"/>
                </a:solidFill>
                <a:effectLst/>
                <a:latin typeface="Arial" panose="020B0604020202020204" pitchFamily="34" charset="0"/>
              </a:rPr>
              <a:t>one instance </a:t>
            </a:r>
            <a:r>
              <a:rPr lang="en-US" b="0" i="0" dirty="0">
                <a:solidFill>
                  <a:srgbClr val="000000"/>
                </a:solidFill>
                <a:effectLst/>
                <a:latin typeface="Arial" panose="020B0604020202020204" pitchFamily="34" charset="0"/>
              </a:rPr>
              <a:t>is available throughout the application and for </a:t>
            </a:r>
            <a:r>
              <a:rPr lang="en-US" b="0" i="0" dirty="0">
                <a:solidFill>
                  <a:srgbClr val="FF0000"/>
                </a:solidFill>
                <a:effectLst/>
                <a:latin typeface="Arial" panose="020B0604020202020204" pitchFamily="34" charset="0"/>
              </a:rPr>
              <a:t>every request</a:t>
            </a:r>
            <a:r>
              <a:rPr lang="en-US" b="0" i="0" dirty="0">
                <a:solidFill>
                  <a:srgbClr val="000000"/>
                </a:solidFill>
                <a:effectLst/>
                <a:latin typeface="Arial" panose="020B0604020202020204" pitchFamily="34" charset="0"/>
              </a:rPr>
              <a:t>.</a:t>
            </a:r>
          </a:p>
          <a:p>
            <a:pPr algn="just"/>
            <a:r>
              <a:rPr lang="en-US" b="0" i="0" dirty="0">
                <a:solidFill>
                  <a:srgbClr val="000000"/>
                </a:solidFill>
                <a:effectLst/>
                <a:latin typeface="Arial" panose="020B0604020202020204" pitchFamily="34" charset="0"/>
              </a:rPr>
              <a:t>It is similar to having a </a:t>
            </a:r>
            <a:r>
              <a:rPr lang="en-US" b="0" i="0" dirty="0">
                <a:solidFill>
                  <a:srgbClr val="FF0000"/>
                </a:solidFill>
                <a:effectLst/>
                <a:latin typeface="Arial" panose="020B0604020202020204" pitchFamily="34" charset="0"/>
              </a:rPr>
              <a:t>static object</a:t>
            </a:r>
            <a:r>
              <a:rPr lang="en-US" b="0" i="0" dirty="0">
                <a:solidFill>
                  <a:srgbClr val="000000"/>
                </a:solidFill>
                <a:effectLst/>
                <a:latin typeface="Arial" panose="020B0604020202020204" pitchFamily="34" charset="0"/>
              </a:rPr>
              <a:t>.</a:t>
            </a:r>
          </a:p>
          <a:p>
            <a:pPr algn="just"/>
            <a:r>
              <a:rPr lang="en-US" b="0" i="0" dirty="0">
                <a:solidFill>
                  <a:srgbClr val="000000"/>
                </a:solidFill>
                <a:effectLst/>
                <a:latin typeface="Arial" panose="020B0604020202020204" pitchFamily="34" charset="0"/>
              </a:rPr>
              <a:t>The instance is created for the first request and the same is available throughout the application and for each subsequent requests.</a:t>
            </a:r>
          </a:p>
        </p:txBody>
      </p:sp>
      <p:sp>
        <p:nvSpPr>
          <p:cNvPr id="9" name="TextBox 8">
            <a:extLst>
              <a:ext uri="{FF2B5EF4-FFF2-40B4-BE49-F238E27FC236}">
                <a16:creationId xmlns:a16="http://schemas.microsoft.com/office/drawing/2014/main" id="{EBD94D92-72DE-4E9D-AC29-E15A81E577F3}"/>
              </a:ext>
            </a:extLst>
          </p:cNvPr>
          <p:cNvSpPr txBox="1"/>
          <p:nvPr/>
        </p:nvSpPr>
        <p:spPr>
          <a:xfrm>
            <a:off x="36871" y="2170277"/>
            <a:ext cx="11798710" cy="923330"/>
          </a:xfrm>
          <a:prstGeom prst="rect">
            <a:avLst/>
          </a:prstGeom>
          <a:noFill/>
        </p:spPr>
        <p:txBody>
          <a:bodyPr wrap="square">
            <a:spAutoFit/>
          </a:bodyPr>
          <a:lstStyle/>
          <a:p>
            <a:pPr algn="l"/>
            <a:r>
              <a:rPr lang="en-US" b="1" i="0" dirty="0">
                <a:effectLst/>
                <a:latin typeface="Arial" panose="020B0604020202020204" pitchFamily="34" charset="0"/>
              </a:rPr>
              <a:t>Add Scoped</a:t>
            </a:r>
          </a:p>
          <a:p>
            <a:pPr algn="just"/>
            <a:r>
              <a:rPr lang="en-US" b="0" i="0" dirty="0">
                <a:solidFill>
                  <a:srgbClr val="000000"/>
                </a:solidFill>
                <a:effectLst/>
                <a:latin typeface="Arial" panose="020B0604020202020204" pitchFamily="34" charset="0"/>
              </a:rPr>
              <a:t>When we register a type as Scoped, </a:t>
            </a:r>
            <a:r>
              <a:rPr lang="en-US" b="0" i="0" dirty="0">
                <a:solidFill>
                  <a:srgbClr val="FF0000"/>
                </a:solidFill>
                <a:effectLst/>
                <a:latin typeface="Arial" panose="020B0604020202020204" pitchFamily="34" charset="0"/>
              </a:rPr>
              <a:t>one instance </a:t>
            </a:r>
            <a:r>
              <a:rPr lang="en-US" b="0" i="0" dirty="0">
                <a:solidFill>
                  <a:srgbClr val="000000"/>
                </a:solidFill>
                <a:effectLst/>
                <a:latin typeface="Arial" panose="020B0604020202020204" pitchFamily="34" charset="0"/>
              </a:rPr>
              <a:t>is available throughout the application </a:t>
            </a:r>
            <a:r>
              <a:rPr lang="en-US" b="0" i="0" dirty="0">
                <a:solidFill>
                  <a:srgbClr val="FF0000"/>
                </a:solidFill>
                <a:effectLst/>
                <a:latin typeface="Arial" panose="020B0604020202020204" pitchFamily="34" charset="0"/>
              </a:rPr>
              <a:t>per request</a:t>
            </a:r>
            <a:r>
              <a:rPr lang="en-US" b="0" i="0" dirty="0">
                <a:solidFill>
                  <a:srgbClr val="000000"/>
                </a:solidFill>
                <a:effectLst/>
                <a:latin typeface="Arial" panose="020B0604020202020204" pitchFamily="34" charset="0"/>
              </a:rPr>
              <a:t>. When a new request comes in, the new instance is created. Add scoped specifies that a </a:t>
            </a:r>
            <a:r>
              <a:rPr lang="en-US" b="0" i="0" dirty="0">
                <a:solidFill>
                  <a:srgbClr val="FF0000"/>
                </a:solidFill>
                <a:effectLst/>
                <a:latin typeface="Arial" panose="020B0604020202020204" pitchFamily="34" charset="0"/>
              </a:rPr>
              <a:t>single object </a:t>
            </a:r>
            <a:r>
              <a:rPr lang="en-US" b="0" i="0" dirty="0">
                <a:solidFill>
                  <a:srgbClr val="000000"/>
                </a:solidFill>
                <a:effectLst/>
                <a:latin typeface="Arial" panose="020B0604020202020204" pitchFamily="34" charset="0"/>
              </a:rPr>
              <a:t>is available </a:t>
            </a:r>
            <a:r>
              <a:rPr lang="en-US" b="0" i="0" dirty="0">
                <a:solidFill>
                  <a:srgbClr val="FF0000"/>
                </a:solidFill>
                <a:effectLst/>
                <a:latin typeface="Arial" panose="020B0604020202020204" pitchFamily="34" charset="0"/>
              </a:rPr>
              <a:t>per request</a:t>
            </a:r>
            <a:r>
              <a:rPr lang="en-US" b="0" i="0" dirty="0">
                <a:solidFill>
                  <a:srgbClr val="000000"/>
                </a:solidFill>
                <a:effectLst/>
                <a:latin typeface="Arial" panose="020B0604020202020204" pitchFamily="34" charset="0"/>
              </a:rPr>
              <a:t>.</a:t>
            </a:r>
          </a:p>
        </p:txBody>
      </p:sp>
      <p:sp>
        <p:nvSpPr>
          <p:cNvPr id="11" name="TextBox 10">
            <a:extLst>
              <a:ext uri="{FF2B5EF4-FFF2-40B4-BE49-F238E27FC236}">
                <a16:creationId xmlns:a16="http://schemas.microsoft.com/office/drawing/2014/main" id="{A6005AD2-8C58-4B39-8CB2-FA9CEE8D7C03}"/>
              </a:ext>
            </a:extLst>
          </p:cNvPr>
          <p:cNvSpPr txBox="1"/>
          <p:nvPr/>
        </p:nvSpPr>
        <p:spPr>
          <a:xfrm>
            <a:off x="-4916" y="3185940"/>
            <a:ext cx="11882284" cy="923330"/>
          </a:xfrm>
          <a:prstGeom prst="rect">
            <a:avLst/>
          </a:prstGeom>
          <a:noFill/>
        </p:spPr>
        <p:txBody>
          <a:bodyPr wrap="square">
            <a:spAutoFit/>
          </a:bodyPr>
          <a:lstStyle/>
          <a:p>
            <a:pPr algn="l"/>
            <a:r>
              <a:rPr lang="en-US" b="1" i="0" dirty="0">
                <a:effectLst/>
                <a:latin typeface="Arial" panose="020B0604020202020204" pitchFamily="34" charset="0"/>
              </a:rPr>
              <a:t>Add Transient</a:t>
            </a:r>
          </a:p>
          <a:p>
            <a:pPr algn="just"/>
            <a:r>
              <a:rPr lang="en-US" b="0" i="0" dirty="0">
                <a:solidFill>
                  <a:srgbClr val="000000"/>
                </a:solidFill>
                <a:effectLst/>
                <a:latin typeface="Arial" panose="020B0604020202020204" pitchFamily="34" charset="0"/>
              </a:rPr>
              <a:t>When we register a type as Transient, every time a new instance is created. Transient creates </a:t>
            </a:r>
            <a:r>
              <a:rPr lang="en-US" b="0" i="0" dirty="0">
                <a:solidFill>
                  <a:srgbClr val="FF0000"/>
                </a:solidFill>
                <a:effectLst/>
                <a:latin typeface="Arial" panose="020B0604020202020204" pitchFamily="34" charset="0"/>
              </a:rPr>
              <a:t>new instance </a:t>
            </a:r>
            <a:r>
              <a:rPr lang="en-US" b="0" i="0" dirty="0">
                <a:solidFill>
                  <a:srgbClr val="000000"/>
                </a:solidFill>
                <a:effectLst/>
                <a:latin typeface="Arial" panose="020B0604020202020204" pitchFamily="34" charset="0"/>
              </a:rPr>
              <a:t>for </a:t>
            </a:r>
            <a:r>
              <a:rPr lang="en-US" b="0" i="0" dirty="0">
                <a:solidFill>
                  <a:srgbClr val="FF0000"/>
                </a:solidFill>
                <a:effectLst/>
                <a:latin typeface="Arial" panose="020B0604020202020204" pitchFamily="34" charset="0"/>
              </a:rPr>
              <a:t>every service/ controller </a:t>
            </a:r>
            <a:r>
              <a:rPr lang="en-US" b="0" i="0" dirty="0">
                <a:solidFill>
                  <a:srgbClr val="000000"/>
                </a:solidFill>
                <a:effectLst/>
                <a:latin typeface="Arial" panose="020B0604020202020204" pitchFamily="34" charset="0"/>
              </a:rPr>
              <a:t>as well as for </a:t>
            </a:r>
            <a:r>
              <a:rPr lang="en-US" b="0" i="0" dirty="0">
                <a:solidFill>
                  <a:srgbClr val="FF0000"/>
                </a:solidFill>
                <a:effectLst/>
                <a:latin typeface="Arial" panose="020B0604020202020204" pitchFamily="34" charset="0"/>
              </a:rPr>
              <a:t>every request </a:t>
            </a:r>
            <a:r>
              <a:rPr lang="en-US" b="0" i="0" dirty="0">
                <a:solidFill>
                  <a:srgbClr val="000000"/>
                </a:solidFill>
                <a:effectLst/>
                <a:latin typeface="Arial" panose="020B0604020202020204" pitchFamily="34" charset="0"/>
              </a:rPr>
              <a:t>and </a:t>
            </a:r>
            <a:r>
              <a:rPr lang="en-US" b="0" i="0" dirty="0">
                <a:solidFill>
                  <a:srgbClr val="FF0000"/>
                </a:solidFill>
                <a:effectLst/>
                <a:latin typeface="Arial" panose="020B0604020202020204" pitchFamily="34" charset="0"/>
              </a:rPr>
              <a:t>every user</a:t>
            </a:r>
            <a:r>
              <a:rPr lang="en-US" b="0" i="0" dirty="0">
                <a:solidFill>
                  <a:srgbClr val="000000"/>
                </a:solidFill>
                <a:effectLst/>
                <a:latin typeface="Arial" panose="020B0604020202020204" pitchFamily="34" charset="0"/>
              </a:rPr>
              <a:t>.</a:t>
            </a:r>
          </a:p>
        </p:txBody>
      </p:sp>
      <p:graphicFrame>
        <p:nvGraphicFramePr>
          <p:cNvPr id="12" name="Table 11">
            <a:extLst>
              <a:ext uri="{FF2B5EF4-FFF2-40B4-BE49-F238E27FC236}">
                <a16:creationId xmlns:a16="http://schemas.microsoft.com/office/drawing/2014/main" id="{AADE5F60-2936-48C5-AE1E-06DDFEAFBDB1}"/>
              </a:ext>
            </a:extLst>
          </p:cNvPr>
          <p:cNvGraphicFramePr>
            <a:graphicFrameLocks noGrp="1"/>
          </p:cNvGraphicFramePr>
          <p:nvPr>
            <p:extLst>
              <p:ext uri="{D42A27DB-BD31-4B8C-83A1-F6EECF244321}">
                <p14:modId xmlns:p14="http://schemas.microsoft.com/office/powerpoint/2010/main" val="1632503810"/>
              </p:ext>
            </p:extLst>
          </p:nvPr>
        </p:nvGraphicFramePr>
        <p:xfrm>
          <a:off x="256522" y="4307106"/>
          <a:ext cx="11359408" cy="2133600"/>
        </p:xfrm>
        <a:graphic>
          <a:graphicData uri="http://schemas.openxmlformats.org/drawingml/2006/table">
            <a:tbl>
              <a:tblPr/>
              <a:tblGrid>
                <a:gridCol w="2839852">
                  <a:extLst>
                    <a:ext uri="{9D8B030D-6E8A-4147-A177-3AD203B41FA5}">
                      <a16:colId xmlns:a16="http://schemas.microsoft.com/office/drawing/2014/main" val="1389985205"/>
                    </a:ext>
                  </a:extLst>
                </a:gridCol>
                <a:gridCol w="2839852">
                  <a:extLst>
                    <a:ext uri="{9D8B030D-6E8A-4147-A177-3AD203B41FA5}">
                      <a16:colId xmlns:a16="http://schemas.microsoft.com/office/drawing/2014/main" val="2389466949"/>
                    </a:ext>
                  </a:extLst>
                </a:gridCol>
                <a:gridCol w="2839852">
                  <a:extLst>
                    <a:ext uri="{9D8B030D-6E8A-4147-A177-3AD203B41FA5}">
                      <a16:colId xmlns:a16="http://schemas.microsoft.com/office/drawing/2014/main" val="3460373853"/>
                    </a:ext>
                  </a:extLst>
                </a:gridCol>
                <a:gridCol w="2839852">
                  <a:extLst>
                    <a:ext uri="{9D8B030D-6E8A-4147-A177-3AD203B41FA5}">
                      <a16:colId xmlns:a16="http://schemas.microsoft.com/office/drawing/2014/main" val="3129752160"/>
                    </a:ext>
                  </a:extLst>
                </a:gridCol>
              </a:tblGrid>
              <a:tr h="0">
                <a:tc>
                  <a:txBody>
                    <a:bodyPr/>
                    <a:lstStyle/>
                    <a:p>
                      <a:pPr fontAlgn="t"/>
                      <a:r>
                        <a:rPr lang="en-IN" dirty="0" err="1">
                          <a:effectLst/>
                        </a:rPr>
                        <a:t>Prameter</a:t>
                      </a:r>
                      <a:endParaRPr lang="en-IN" dirty="0">
                        <a:effectLst/>
                      </a:endParaRP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fontAlgn="t"/>
                      <a:r>
                        <a:rPr lang="en-IN">
                          <a:effectLst/>
                        </a:rPr>
                        <a:t>Add Singleton</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fontAlgn="t"/>
                      <a:r>
                        <a:rPr lang="en-IN">
                          <a:effectLst/>
                        </a:rPr>
                        <a:t>Add Scoped</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tc>
                  <a:txBody>
                    <a:bodyPr/>
                    <a:lstStyle/>
                    <a:p>
                      <a:pPr fontAlgn="t"/>
                      <a:r>
                        <a:rPr lang="en-IN">
                          <a:effectLst/>
                        </a:rPr>
                        <a:t>Add Transient</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611115126"/>
                  </a:ext>
                </a:extLst>
              </a:tr>
              <a:tr h="0">
                <a:tc>
                  <a:txBody>
                    <a:bodyPr/>
                    <a:lstStyle/>
                    <a:p>
                      <a:pPr fontAlgn="t"/>
                      <a:r>
                        <a:rPr lang="en-IN">
                          <a:effectLst/>
                        </a:rPr>
                        <a:t>Instance</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a:effectLst/>
                        </a:rPr>
                        <a:t>Same each request/ each user.</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IN">
                          <a:effectLst/>
                        </a:rPr>
                        <a:t>One per request.</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IN">
                          <a:effectLst/>
                        </a:rPr>
                        <a:t>Different for everytime.</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445005917"/>
                  </a:ext>
                </a:extLst>
              </a:tr>
              <a:tr h="0">
                <a:tc>
                  <a:txBody>
                    <a:bodyPr/>
                    <a:lstStyle/>
                    <a:p>
                      <a:pPr fontAlgn="t"/>
                      <a:r>
                        <a:rPr lang="en-IN">
                          <a:effectLst/>
                        </a:rPr>
                        <a:t>Disposed</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IN">
                          <a:effectLst/>
                        </a:rPr>
                        <a:t>App shutdown</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IN">
                          <a:effectLst/>
                        </a:rPr>
                        <a:t>End of request</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IN">
                          <a:effectLst/>
                        </a:rPr>
                        <a:t>End of request</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737066946"/>
                  </a:ext>
                </a:extLst>
              </a:tr>
              <a:tr h="0">
                <a:tc>
                  <a:txBody>
                    <a:bodyPr/>
                    <a:lstStyle/>
                    <a:p>
                      <a:pPr fontAlgn="t"/>
                      <a:r>
                        <a:rPr lang="en-IN">
                          <a:effectLst/>
                        </a:rPr>
                        <a:t>Used in</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a:effectLst/>
                        </a:rPr>
                        <a:t>When Singleton implementation is required.</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a:effectLst/>
                        </a:rPr>
                        <a:t>Applications which have different behavior per user.</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tc>
                  <a:txBody>
                    <a:bodyPr/>
                    <a:lstStyle/>
                    <a:p>
                      <a:pPr fontAlgn="t"/>
                      <a:r>
                        <a:rPr lang="en-US" dirty="0">
                          <a:effectLst/>
                        </a:rPr>
                        <a:t>Light weight and stateless services.</a:t>
                      </a:r>
                    </a:p>
                  </a:txBody>
                  <a:tcPr marL="60960" marR="60960" marT="60960" marB="60960">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900636723"/>
                  </a:ext>
                </a:extLst>
              </a:tr>
            </a:tbl>
          </a:graphicData>
        </a:graphic>
      </p:graphicFrame>
    </p:spTree>
    <p:extLst>
      <p:ext uri="{BB962C8B-B14F-4D97-AF65-F5344CB8AC3E}">
        <p14:creationId xmlns:p14="http://schemas.microsoft.com/office/powerpoint/2010/main" val="4189309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BEE791-3871-44F0-BF92-DC9D20BFE7E8}"/>
              </a:ext>
            </a:extLst>
          </p:cNvPr>
          <p:cNvSpPr txBox="1"/>
          <p:nvPr/>
        </p:nvSpPr>
        <p:spPr>
          <a:xfrm>
            <a:off x="285135" y="0"/>
            <a:ext cx="11346426" cy="5786199"/>
          </a:xfrm>
          <a:prstGeom prst="rect">
            <a:avLst/>
          </a:prstGeom>
          <a:noFill/>
        </p:spPr>
        <p:txBody>
          <a:bodyPr wrap="square">
            <a:spAutoFit/>
          </a:bodyPr>
          <a:lstStyle/>
          <a:p>
            <a:pPr algn="just" fontAlgn="base">
              <a:spcBef>
                <a:spcPts val="600"/>
              </a:spcBef>
              <a:spcAft>
                <a:spcPts val="600"/>
              </a:spcAft>
            </a:pPr>
            <a:r>
              <a:rPr lang="en-US" b="1" i="0" dirty="0">
                <a:solidFill>
                  <a:srgbClr val="333333"/>
                </a:solidFill>
                <a:effectLst/>
                <a:latin typeface="verdana" panose="020B0604030504040204" pitchFamily="34" charset="0"/>
              </a:rPr>
              <a:t>Difference between </a:t>
            </a:r>
            <a:r>
              <a:rPr lang="en-US" b="1" i="0" dirty="0" err="1">
                <a:solidFill>
                  <a:srgbClr val="333333"/>
                </a:solidFill>
                <a:effectLst/>
                <a:latin typeface="verdana" panose="020B0604030504040204" pitchFamily="34" charset="0"/>
              </a:rPr>
              <a:t>AddDbContext</a:t>
            </a:r>
            <a:r>
              <a:rPr lang="en-US" b="1" i="0" dirty="0">
                <a:solidFill>
                  <a:srgbClr val="333333"/>
                </a:solidFill>
                <a:effectLst/>
                <a:latin typeface="verdana" panose="020B0604030504040204" pitchFamily="34" charset="0"/>
              </a:rPr>
              <a:t>() and </a:t>
            </a:r>
            <a:r>
              <a:rPr lang="en-US" b="1" i="0" dirty="0" err="1">
                <a:solidFill>
                  <a:srgbClr val="333333"/>
                </a:solidFill>
                <a:effectLst/>
                <a:latin typeface="verdana" panose="020B0604030504040204" pitchFamily="34" charset="0"/>
              </a:rPr>
              <a:t>AddDbContextPool</a:t>
            </a:r>
            <a:r>
              <a:rPr lang="en-US" b="1" i="0" dirty="0">
                <a:solidFill>
                  <a:srgbClr val="333333"/>
                </a:solidFill>
                <a:effectLst/>
                <a:latin typeface="verdana" panose="020B0604030504040204" pitchFamily="34" charset="0"/>
              </a:rPr>
              <a:t>() methods</a:t>
            </a:r>
          </a:p>
          <a:p>
            <a:pPr algn="just" fontAlgn="base">
              <a:spcBef>
                <a:spcPts val="600"/>
              </a:spcBef>
              <a:spcAft>
                <a:spcPts val="600"/>
              </a:spcAft>
            </a:pPr>
            <a:endParaRPr lang="en-US" b="1" dirty="0">
              <a:solidFill>
                <a:srgbClr val="333333"/>
              </a:solidFill>
              <a:latin typeface="verdana" panose="020B0604030504040204" pitchFamily="34" charset="0"/>
            </a:endParaRPr>
          </a:p>
          <a:p>
            <a:pPr algn="just" fontAlgn="base">
              <a:spcBef>
                <a:spcPts val="600"/>
              </a:spcBef>
              <a:spcAft>
                <a:spcPts val="600"/>
              </a:spcAft>
              <a:buFont typeface="Arial" panose="020B0604020202020204" pitchFamily="34" charset="0"/>
              <a:buChar char="•"/>
            </a:pPr>
            <a:r>
              <a:rPr lang="en-US" b="0" i="0" dirty="0">
                <a:solidFill>
                  <a:srgbClr val="333333"/>
                </a:solidFill>
                <a:effectLst/>
                <a:latin typeface="verdana" panose="020B0604030504040204" pitchFamily="34" charset="0"/>
              </a:rPr>
              <a:t>We can use either </a:t>
            </a:r>
            <a:r>
              <a:rPr lang="en-US" b="0" i="1" dirty="0" err="1">
                <a:solidFill>
                  <a:srgbClr val="0000FF"/>
                </a:solidFill>
                <a:effectLst/>
                <a:latin typeface="verdana" panose="020B0604030504040204" pitchFamily="34" charset="0"/>
              </a:rPr>
              <a:t>AddDbContext</a:t>
            </a:r>
            <a:r>
              <a:rPr lang="en-US" b="0" i="1" dirty="0">
                <a:solidFill>
                  <a:srgbClr val="0000FF"/>
                </a:solidFill>
                <a:effectLst/>
                <a:latin typeface="verdana" panose="020B0604030504040204" pitchFamily="34" charset="0"/>
              </a:rPr>
              <a:t>()</a:t>
            </a:r>
            <a:r>
              <a:rPr lang="en-US" b="0" i="0" dirty="0">
                <a:solidFill>
                  <a:srgbClr val="333333"/>
                </a:solidFill>
                <a:effectLst/>
                <a:latin typeface="verdana" panose="020B0604030504040204" pitchFamily="34" charset="0"/>
              </a:rPr>
              <a:t> or </a:t>
            </a:r>
            <a:r>
              <a:rPr lang="en-US" b="0" i="1" dirty="0" err="1">
                <a:solidFill>
                  <a:srgbClr val="0000FF"/>
                </a:solidFill>
                <a:effectLst/>
                <a:latin typeface="verdana" panose="020B0604030504040204" pitchFamily="34" charset="0"/>
              </a:rPr>
              <a:t>AddDbContextPool</a:t>
            </a:r>
            <a:r>
              <a:rPr lang="en-US" b="0" i="1" dirty="0">
                <a:solidFill>
                  <a:srgbClr val="0000FF"/>
                </a:solidFill>
                <a:effectLst/>
                <a:latin typeface="verdana" panose="020B0604030504040204" pitchFamily="34" charset="0"/>
              </a:rPr>
              <a:t>()</a:t>
            </a:r>
            <a:r>
              <a:rPr lang="en-US" b="0" i="0" dirty="0">
                <a:solidFill>
                  <a:srgbClr val="333333"/>
                </a:solidFill>
                <a:effectLst/>
                <a:latin typeface="verdana" panose="020B0604030504040204" pitchFamily="34" charset="0"/>
              </a:rPr>
              <a:t> method to register our application specific </a:t>
            </a:r>
            <a:r>
              <a:rPr lang="en-US" b="0" i="0" dirty="0" err="1">
                <a:solidFill>
                  <a:srgbClr val="3D85C6"/>
                </a:solidFill>
                <a:effectLst/>
                <a:latin typeface="verdana" panose="020B0604030504040204" pitchFamily="34" charset="0"/>
              </a:rPr>
              <a:t>DbContext</a:t>
            </a:r>
            <a:r>
              <a:rPr lang="en-US" b="0" i="0" dirty="0">
                <a:solidFill>
                  <a:srgbClr val="3D85C6"/>
                </a:solidFill>
                <a:effectLst/>
                <a:latin typeface="verdana" panose="020B0604030504040204" pitchFamily="34" charset="0"/>
              </a:rPr>
              <a:t> </a:t>
            </a:r>
            <a:r>
              <a:rPr lang="en-US" b="0" i="0" dirty="0">
                <a:solidFill>
                  <a:srgbClr val="333333"/>
                </a:solidFill>
                <a:effectLst/>
                <a:latin typeface="verdana" panose="020B0604030504040204" pitchFamily="34" charset="0"/>
              </a:rPr>
              <a:t>class with the ASP.NET Core dependency injection system.</a:t>
            </a:r>
          </a:p>
          <a:p>
            <a:pPr algn="just" fontAlgn="base">
              <a:spcBef>
                <a:spcPts val="600"/>
              </a:spcBef>
              <a:spcAft>
                <a:spcPts val="600"/>
              </a:spcAft>
              <a:buFont typeface="Arial" panose="020B0604020202020204" pitchFamily="34" charset="0"/>
              <a:buChar char="•"/>
            </a:pPr>
            <a:endParaRPr lang="en-US" b="0" i="0" dirty="0">
              <a:solidFill>
                <a:srgbClr val="333333"/>
              </a:solidFill>
              <a:effectLst/>
              <a:latin typeface="Poppins" panose="020B0502040204020203" pitchFamily="2" charset="0"/>
            </a:endParaRPr>
          </a:p>
          <a:p>
            <a:pPr algn="just" fontAlgn="base">
              <a:spcBef>
                <a:spcPts val="600"/>
              </a:spcBef>
              <a:spcAft>
                <a:spcPts val="600"/>
              </a:spcAft>
              <a:buFont typeface="Arial" panose="020B0604020202020204" pitchFamily="34" charset="0"/>
              <a:buChar char="•"/>
            </a:pPr>
            <a:r>
              <a:rPr lang="en-US" b="0" i="0" dirty="0">
                <a:solidFill>
                  <a:srgbClr val="333333"/>
                </a:solidFill>
                <a:effectLst/>
                <a:latin typeface="verdana" panose="020B0604030504040204" pitchFamily="34" charset="0"/>
              </a:rPr>
              <a:t>The difference between </a:t>
            </a:r>
            <a:r>
              <a:rPr lang="en-US" b="0" i="1" dirty="0" err="1">
                <a:solidFill>
                  <a:srgbClr val="0000FF"/>
                </a:solidFill>
                <a:effectLst/>
                <a:latin typeface="verdana" panose="020B0604030504040204" pitchFamily="34" charset="0"/>
              </a:rPr>
              <a:t>AddDbContext</a:t>
            </a:r>
            <a:r>
              <a:rPr lang="en-US" b="0" i="1" dirty="0">
                <a:solidFill>
                  <a:srgbClr val="0000FF"/>
                </a:solidFill>
                <a:effectLst/>
                <a:latin typeface="verdana" panose="020B0604030504040204" pitchFamily="34" charset="0"/>
              </a:rPr>
              <a:t>()</a:t>
            </a:r>
            <a:r>
              <a:rPr lang="en-US" b="0" i="0" dirty="0">
                <a:solidFill>
                  <a:srgbClr val="333333"/>
                </a:solidFill>
                <a:effectLst/>
                <a:latin typeface="verdana" panose="020B0604030504040204" pitchFamily="34" charset="0"/>
              </a:rPr>
              <a:t> and </a:t>
            </a:r>
            <a:r>
              <a:rPr lang="en-US" b="0" i="1" dirty="0" err="1">
                <a:solidFill>
                  <a:srgbClr val="0000FF"/>
                </a:solidFill>
                <a:effectLst/>
                <a:latin typeface="verdana" panose="020B0604030504040204" pitchFamily="34" charset="0"/>
              </a:rPr>
              <a:t>AddDbContextPool</a:t>
            </a:r>
            <a:r>
              <a:rPr lang="en-US" b="0" i="1" dirty="0">
                <a:solidFill>
                  <a:srgbClr val="0000FF"/>
                </a:solidFill>
                <a:effectLst/>
                <a:latin typeface="verdana" panose="020B0604030504040204" pitchFamily="34" charset="0"/>
              </a:rPr>
              <a:t>()</a:t>
            </a:r>
            <a:r>
              <a:rPr lang="en-US" b="0" i="0" dirty="0">
                <a:solidFill>
                  <a:srgbClr val="333333"/>
                </a:solidFill>
                <a:effectLst/>
                <a:latin typeface="verdana" panose="020B0604030504040204" pitchFamily="34" charset="0"/>
              </a:rPr>
              <a:t> methods is, </a:t>
            </a:r>
            <a:r>
              <a:rPr lang="en-US" b="0" i="1" dirty="0" err="1">
                <a:solidFill>
                  <a:srgbClr val="0000FF"/>
                </a:solidFill>
                <a:effectLst/>
                <a:latin typeface="verdana" panose="020B0604030504040204" pitchFamily="34" charset="0"/>
              </a:rPr>
              <a:t>AddDbContextPool</a:t>
            </a:r>
            <a:r>
              <a:rPr lang="en-US" b="0" i="1" dirty="0">
                <a:solidFill>
                  <a:srgbClr val="0000FF"/>
                </a:solidFill>
                <a:effectLst/>
                <a:latin typeface="verdana" panose="020B0604030504040204" pitchFamily="34" charset="0"/>
              </a:rPr>
              <a:t>() </a:t>
            </a:r>
            <a:r>
              <a:rPr lang="en-US" b="0" i="0" dirty="0">
                <a:solidFill>
                  <a:srgbClr val="333333"/>
                </a:solidFill>
                <a:effectLst/>
                <a:latin typeface="verdana" panose="020B0604030504040204" pitchFamily="34" charset="0"/>
              </a:rPr>
              <a:t>method provides </a:t>
            </a:r>
            <a:r>
              <a:rPr lang="en-US" b="0" i="0" dirty="0" err="1">
                <a:solidFill>
                  <a:srgbClr val="3D85C6"/>
                </a:solidFill>
                <a:effectLst/>
                <a:latin typeface="verdana" panose="020B0604030504040204" pitchFamily="34" charset="0"/>
              </a:rPr>
              <a:t>DbContext</a:t>
            </a:r>
            <a:r>
              <a:rPr lang="en-US" b="0" i="0" dirty="0">
                <a:solidFill>
                  <a:srgbClr val="3D85C6"/>
                </a:solidFill>
                <a:effectLst/>
                <a:latin typeface="verdana" panose="020B0604030504040204" pitchFamily="34" charset="0"/>
              </a:rPr>
              <a:t> </a:t>
            </a:r>
            <a:r>
              <a:rPr lang="en-US" b="0" i="0" dirty="0">
                <a:solidFill>
                  <a:srgbClr val="333333"/>
                </a:solidFill>
                <a:effectLst/>
                <a:latin typeface="verdana" panose="020B0604030504040204" pitchFamily="34" charset="0"/>
              </a:rPr>
              <a:t>pooling.</a:t>
            </a:r>
          </a:p>
          <a:p>
            <a:pPr algn="just" fontAlgn="base">
              <a:spcBef>
                <a:spcPts val="600"/>
              </a:spcBef>
              <a:spcAft>
                <a:spcPts val="600"/>
              </a:spcAft>
              <a:buFont typeface="Arial" panose="020B0604020202020204" pitchFamily="34" charset="0"/>
              <a:buChar char="•"/>
            </a:pPr>
            <a:endParaRPr lang="en-US" b="0" i="0" dirty="0">
              <a:solidFill>
                <a:srgbClr val="333333"/>
              </a:solidFill>
              <a:effectLst/>
              <a:latin typeface="Poppins" panose="020B0502040204020203" pitchFamily="2" charset="0"/>
            </a:endParaRPr>
          </a:p>
          <a:p>
            <a:pPr algn="just" fontAlgn="base">
              <a:spcBef>
                <a:spcPts val="600"/>
              </a:spcBef>
              <a:spcAft>
                <a:spcPts val="600"/>
              </a:spcAft>
              <a:buFont typeface="Arial" panose="020B0604020202020204" pitchFamily="34" charset="0"/>
              <a:buChar char="•"/>
            </a:pPr>
            <a:r>
              <a:rPr lang="en-US" b="0" i="0" dirty="0">
                <a:solidFill>
                  <a:srgbClr val="333333"/>
                </a:solidFill>
                <a:effectLst/>
                <a:latin typeface="verdana" panose="020B0604030504040204" pitchFamily="34" charset="0"/>
              </a:rPr>
              <a:t>With </a:t>
            </a:r>
            <a:r>
              <a:rPr lang="en-US" b="0" i="0" dirty="0" err="1">
                <a:solidFill>
                  <a:srgbClr val="3D85C6"/>
                </a:solidFill>
                <a:effectLst/>
                <a:latin typeface="verdana" panose="020B0604030504040204" pitchFamily="34" charset="0"/>
              </a:rPr>
              <a:t>DbContext</a:t>
            </a:r>
            <a:r>
              <a:rPr lang="en-US" b="0" i="0" dirty="0">
                <a:solidFill>
                  <a:srgbClr val="3D85C6"/>
                </a:solidFill>
                <a:effectLst/>
                <a:latin typeface="verdana" panose="020B0604030504040204" pitchFamily="34" charset="0"/>
              </a:rPr>
              <a:t> </a:t>
            </a:r>
            <a:r>
              <a:rPr lang="en-US" b="0" i="0" dirty="0">
                <a:solidFill>
                  <a:srgbClr val="333333"/>
                </a:solidFill>
                <a:effectLst/>
                <a:latin typeface="verdana" panose="020B0604030504040204" pitchFamily="34" charset="0"/>
              </a:rPr>
              <a:t>pooling, an instance from the </a:t>
            </a:r>
            <a:r>
              <a:rPr lang="en-US" b="0" i="0" dirty="0" err="1">
                <a:solidFill>
                  <a:srgbClr val="3D85C6"/>
                </a:solidFill>
                <a:effectLst/>
                <a:latin typeface="verdana" panose="020B0604030504040204" pitchFamily="34" charset="0"/>
              </a:rPr>
              <a:t>DbContext</a:t>
            </a:r>
            <a:r>
              <a:rPr lang="en-US" b="0" i="0" dirty="0">
                <a:solidFill>
                  <a:srgbClr val="3D85C6"/>
                </a:solidFill>
                <a:effectLst/>
                <a:latin typeface="verdana" panose="020B0604030504040204" pitchFamily="34" charset="0"/>
              </a:rPr>
              <a:t> </a:t>
            </a:r>
            <a:r>
              <a:rPr lang="en-US" b="0" i="0" dirty="0">
                <a:solidFill>
                  <a:srgbClr val="333333"/>
                </a:solidFill>
                <a:effectLst/>
                <a:latin typeface="verdana" panose="020B0604030504040204" pitchFamily="34" charset="0"/>
              </a:rPr>
              <a:t>pool is provided if available, rather than creating a new instance.</a:t>
            </a:r>
          </a:p>
          <a:p>
            <a:pPr algn="just" fontAlgn="base">
              <a:spcBef>
                <a:spcPts val="600"/>
              </a:spcBef>
              <a:spcAft>
                <a:spcPts val="600"/>
              </a:spcAft>
              <a:buFont typeface="Arial" panose="020B0604020202020204" pitchFamily="34" charset="0"/>
              <a:buChar char="•"/>
            </a:pPr>
            <a:endParaRPr lang="en-US" b="0" i="0" dirty="0">
              <a:solidFill>
                <a:srgbClr val="333333"/>
              </a:solidFill>
              <a:effectLst/>
              <a:latin typeface="Poppins" panose="020B0502040204020203" pitchFamily="2" charset="0"/>
            </a:endParaRPr>
          </a:p>
          <a:p>
            <a:pPr algn="just" fontAlgn="base">
              <a:spcBef>
                <a:spcPts val="600"/>
              </a:spcBef>
              <a:spcAft>
                <a:spcPts val="600"/>
              </a:spcAft>
              <a:buFont typeface="Arial" panose="020B0604020202020204" pitchFamily="34" charset="0"/>
              <a:buChar char="•"/>
            </a:pPr>
            <a:r>
              <a:rPr lang="en-US" b="0" i="0" dirty="0" err="1">
                <a:solidFill>
                  <a:srgbClr val="3D85C6"/>
                </a:solidFill>
                <a:effectLst/>
                <a:latin typeface="verdana" panose="020B0604030504040204" pitchFamily="34" charset="0"/>
              </a:rPr>
              <a:t>DbContext</a:t>
            </a:r>
            <a:r>
              <a:rPr lang="en-US" b="0" i="0" dirty="0">
                <a:solidFill>
                  <a:srgbClr val="3D85C6"/>
                </a:solidFill>
                <a:effectLst/>
                <a:latin typeface="verdana" panose="020B0604030504040204" pitchFamily="34" charset="0"/>
              </a:rPr>
              <a:t> </a:t>
            </a:r>
            <a:r>
              <a:rPr lang="en-US" b="0" i="0" dirty="0">
                <a:solidFill>
                  <a:srgbClr val="333333"/>
                </a:solidFill>
                <a:effectLst/>
                <a:latin typeface="verdana" panose="020B0604030504040204" pitchFamily="34" charset="0"/>
              </a:rPr>
              <a:t>pooling is conceptually similar to how connection pooling works in ADO.NET.</a:t>
            </a:r>
          </a:p>
          <a:p>
            <a:pPr algn="just" fontAlgn="base">
              <a:spcBef>
                <a:spcPts val="600"/>
              </a:spcBef>
              <a:spcAft>
                <a:spcPts val="600"/>
              </a:spcAft>
              <a:buFont typeface="Arial" panose="020B0604020202020204" pitchFamily="34" charset="0"/>
              <a:buChar char="•"/>
            </a:pPr>
            <a:endParaRPr lang="en-US" b="0" i="0" dirty="0">
              <a:solidFill>
                <a:srgbClr val="333333"/>
              </a:solidFill>
              <a:effectLst/>
              <a:latin typeface="Poppins" panose="020B0502040204020203" pitchFamily="2" charset="0"/>
            </a:endParaRPr>
          </a:p>
          <a:p>
            <a:pPr algn="just" fontAlgn="base">
              <a:spcBef>
                <a:spcPts val="600"/>
              </a:spcBef>
              <a:spcAft>
                <a:spcPts val="600"/>
              </a:spcAft>
              <a:buFont typeface="Arial" panose="020B0604020202020204" pitchFamily="34" charset="0"/>
              <a:buChar char="•"/>
            </a:pPr>
            <a:r>
              <a:rPr lang="en-US" b="0" i="0" dirty="0">
                <a:solidFill>
                  <a:srgbClr val="333333"/>
                </a:solidFill>
                <a:effectLst/>
                <a:latin typeface="verdana" panose="020B0604030504040204" pitchFamily="34" charset="0"/>
              </a:rPr>
              <a:t>From a performance standpoint </a:t>
            </a:r>
            <a:r>
              <a:rPr lang="en-US" b="0" i="1" dirty="0" err="1">
                <a:solidFill>
                  <a:srgbClr val="0000FF"/>
                </a:solidFill>
                <a:effectLst/>
                <a:latin typeface="verdana" panose="020B0604030504040204" pitchFamily="34" charset="0"/>
              </a:rPr>
              <a:t>AddDbContextPool</a:t>
            </a:r>
            <a:r>
              <a:rPr lang="en-US" b="0" i="1" dirty="0">
                <a:solidFill>
                  <a:srgbClr val="0000FF"/>
                </a:solidFill>
                <a:effectLst/>
                <a:latin typeface="verdana" panose="020B0604030504040204" pitchFamily="34" charset="0"/>
              </a:rPr>
              <a:t>()</a:t>
            </a:r>
            <a:r>
              <a:rPr lang="en-US" b="0" i="0" dirty="0">
                <a:solidFill>
                  <a:srgbClr val="333333"/>
                </a:solidFill>
                <a:effectLst/>
                <a:latin typeface="verdana" panose="020B0604030504040204" pitchFamily="34" charset="0"/>
              </a:rPr>
              <a:t> method is better over </a:t>
            </a:r>
            <a:r>
              <a:rPr lang="en-US" b="0" i="1" dirty="0" err="1">
                <a:solidFill>
                  <a:srgbClr val="0000FF"/>
                </a:solidFill>
                <a:effectLst/>
                <a:latin typeface="verdana" panose="020B0604030504040204" pitchFamily="34" charset="0"/>
              </a:rPr>
              <a:t>AddDbContext</a:t>
            </a:r>
            <a:r>
              <a:rPr lang="en-US" b="0" i="1" dirty="0">
                <a:solidFill>
                  <a:srgbClr val="0000FF"/>
                </a:solidFill>
                <a:effectLst/>
                <a:latin typeface="verdana" panose="020B0604030504040204" pitchFamily="34" charset="0"/>
              </a:rPr>
              <a:t>() </a:t>
            </a:r>
            <a:r>
              <a:rPr lang="en-US" b="0" i="0" dirty="0">
                <a:solidFill>
                  <a:srgbClr val="333333"/>
                </a:solidFill>
                <a:effectLst/>
                <a:latin typeface="verdana" panose="020B0604030504040204" pitchFamily="34" charset="0"/>
              </a:rPr>
              <a:t>method.</a:t>
            </a:r>
            <a:endParaRPr lang="en-US" b="0" i="0" dirty="0">
              <a:solidFill>
                <a:srgbClr val="333333"/>
              </a:solidFill>
              <a:effectLst/>
              <a:latin typeface="Poppins" panose="020B0502040204020203" pitchFamily="2" charset="0"/>
            </a:endParaRPr>
          </a:p>
        </p:txBody>
      </p:sp>
    </p:spTree>
    <p:extLst>
      <p:ext uri="{BB962C8B-B14F-4D97-AF65-F5344CB8AC3E}">
        <p14:creationId xmlns:p14="http://schemas.microsoft.com/office/powerpoint/2010/main" val="2975326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01606BF-2FEB-4807-81BC-95391C095AC2}"/>
              </a:ext>
            </a:extLst>
          </p:cNvPr>
          <p:cNvSpPr txBox="1"/>
          <p:nvPr/>
        </p:nvSpPr>
        <p:spPr>
          <a:xfrm>
            <a:off x="235974" y="806246"/>
            <a:ext cx="11130116" cy="3139321"/>
          </a:xfrm>
          <a:prstGeom prst="rect">
            <a:avLst/>
          </a:prstGeom>
          <a:noFill/>
        </p:spPr>
        <p:txBody>
          <a:bodyPr wrap="square">
            <a:spAutoFit/>
          </a:bodyPr>
          <a:lstStyle/>
          <a:p>
            <a:pPr marL="285750" indent="-285750">
              <a:buFont typeface="Arial" panose="020B0604020202020204" pitchFamily="34" charset="0"/>
              <a:buChar char="•"/>
            </a:pPr>
            <a:r>
              <a:rPr lang="en-US" dirty="0" err="1"/>
              <a:t>DbContext</a:t>
            </a:r>
            <a:r>
              <a:rPr lang="en-US" dirty="0"/>
              <a:t> is not thread-safe. So you cannot reuse the same </a:t>
            </a:r>
            <a:r>
              <a:rPr lang="en-US" dirty="0" err="1"/>
              <a:t>DbContext</a:t>
            </a:r>
            <a:r>
              <a:rPr lang="en-US" dirty="0"/>
              <a:t> object for multiple queries at the same time (weird things happen). The usual solution for this has been to just create a new </a:t>
            </a:r>
            <a:r>
              <a:rPr lang="en-US" dirty="0" err="1"/>
              <a:t>DbContext</a:t>
            </a:r>
            <a:r>
              <a:rPr lang="en-US" dirty="0"/>
              <a:t> object each time you need one. That's what </a:t>
            </a:r>
            <a:r>
              <a:rPr lang="en-US" dirty="0" err="1"/>
              <a:t>AddDbContext</a:t>
            </a:r>
            <a:r>
              <a:rPr lang="en-US" dirty="0"/>
              <a:t> does.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However, there is nothing wrong with reusing a </a:t>
            </a:r>
            <a:r>
              <a:rPr lang="en-US" dirty="0" err="1"/>
              <a:t>DbContext</a:t>
            </a:r>
            <a:r>
              <a:rPr lang="en-US" dirty="0"/>
              <a:t> object after a previous query has already completed. That's what </a:t>
            </a:r>
            <a:r>
              <a:rPr lang="en-US" dirty="0" err="1"/>
              <a:t>AddDbContextPool</a:t>
            </a:r>
            <a:r>
              <a:rPr lang="en-US" dirty="0"/>
              <a:t> does. It keeps multiple </a:t>
            </a:r>
            <a:r>
              <a:rPr lang="en-US" dirty="0" err="1"/>
              <a:t>DbContext</a:t>
            </a:r>
            <a:r>
              <a:rPr lang="en-US" dirty="0"/>
              <a:t> objects alive and gives you an unused one rather than creating a new one each time.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Which one you use is up to you. Both will work. Pooling has some performance gains. However the documentation warns that if you use any private properties in your </a:t>
            </a:r>
            <a:r>
              <a:rPr lang="en-US" dirty="0" err="1"/>
              <a:t>DbContext</a:t>
            </a:r>
            <a:r>
              <a:rPr lang="en-US" dirty="0"/>
              <a:t> class that should not be shared between queries, then you should not use it. I imagine that's pretty rare though, so pooling should be appropriate in most cases.`</a:t>
            </a:r>
            <a:endParaRPr lang="en-IN" dirty="0"/>
          </a:p>
        </p:txBody>
      </p:sp>
      <p:sp>
        <p:nvSpPr>
          <p:cNvPr id="2" name="Thought Bubble: Cloud 1">
            <a:extLst>
              <a:ext uri="{FF2B5EF4-FFF2-40B4-BE49-F238E27FC236}">
                <a16:creationId xmlns:a16="http://schemas.microsoft.com/office/drawing/2014/main" id="{5BC6F735-06AD-4D28-A951-94A0DD199CA8}"/>
              </a:ext>
            </a:extLst>
          </p:cNvPr>
          <p:cNvSpPr/>
          <p:nvPr/>
        </p:nvSpPr>
        <p:spPr>
          <a:xfrm>
            <a:off x="3136490" y="4473677"/>
            <a:ext cx="3175820" cy="2143433"/>
          </a:xfrm>
          <a:prstGeom prst="cloudCallou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aphicFrame>
        <p:nvGraphicFramePr>
          <p:cNvPr id="3" name="Table 3">
            <a:extLst>
              <a:ext uri="{FF2B5EF4-FFF2-40B4-BE49-F238E27FC236}">
                <a16:creationId xmlns:a16="http://schemas.microsoft.com/office/drawing/2014/main" id="{87394A9E-6294-4DC8-B8E4-238B25474933}"/>
              </a:ext>
            </a:extLst>
          </p:cNvPr>
          <p:cNvGraphicFramePr>
            <a:graphicFrameLocks noGrp="1"/>
          </p:cNvGraphicFramePr>
          <p:nvPr>
            <p:extLst>
              <p:ext uri="{D42A27DB-BD31-4B8C-83A1-F6EECF244321}">
                <p14:modId xmlns:p14="http://schemas.microsoft.com/office/powerpoint/2010/main" val="357796315"/>
              </p:ext>
            </p:extLst>
          </p:nvPr>
        </p:nvGraphicFramePr>
        <p:xfrm>
          <a:off x="2779249" y="5545393"/>
          <a:ext cx="7928080" cy="640080"/>
        </p:xfrm>
        <a:graphic>
          <a:graphicData uri="http://schemas.openxmlformats.org/drawingml/2006/table">
            <a:tbl>
              <a:tblPr firstRow="1" bandRow="1">
                <a:tableStyleId>{5C22544A-7EE6-4342-B048-85BDC9FD1C3A}</a:tableStyleId>
              </a:tblPr>
              <a:tblGrid>
                <a:gridCol w="1982020">
                  <a:extLst>
                    <a:ext uri="{9D8B030D-6E8A-4147-A177-3AD203B41FA5}">
                      <a16:colId xmlns:a16="http://schemas.microsoft.com/office/drawing/2014/main" val="2282759044"/>
                    </a:ext>
                  </a:extLst>
                </a:gridCol>
                <a:gridCol w="1982020">
                  <a:extLst>
                    <a:ext uri="{9D8B030D-6E8A-4147-A177-3AD203B41FA5}">
                      <a16:colId xmlns:a16="http://schemas.microsoft.com/office/drawing/2014/main" val="685087561"/>
                    </a:ext>
                  </a:extLst>
                </a:gridCol>
                <a:gridCol w="1982020">
                  <a:extLst>
                    <a:ext uri="{9D8B030D-6E8A-4147-A177-3AD203B41FA5}">
                      <a16:colId xmlns:a16="http://schemas.microsoft.com/office/drawing/2014/main" val="1540298259"/>
                    </a:ext>
                  </a:extLst>
                </a:gridCol>
                <a:gridCol w="1982020">
                  <a:extLst>
                    <a:ext uri="{9D8B030D-6E8A-4147-A177-3AD203B41FA5}">
                      <a16:colId xmlns:a16="http://schemas.microsoft.com/office/drawing/2014/main" val="1066026862"/>
                    </a:ext>
                  </a:extLst>
                </a:gridCol>
              </a:tblGrid>
              <a:tr h="370840">
                <a:tc>
                  <a:txBody>
                    <a:bodyPr/>
                    <a:lstStyle/>
                    <a:p>
                      <a:r>
                        <a:rPr lang="en-IN" dirty="0"/>
                        <a:t>new </a:t>
                      </a:r>
                      <a:r>
                        <a:rPr lang="en-IN" dirty="0" err="1"/>
                        <a:t>DbContext</a:t>
                      </a:r>
                      <a:r>
                        <a:rPr lang="en-IN"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new </a:t>
                      </a:r>
                      <a:r>
                        <a:rPr lang="en-IN" dirty="0" err="1"/>
                        <a:t>DbContext</a:t>
                      </a:r>
                      <a:r>
                        <a:rPr lang="en-IN"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new </a:t>
                      </a:r>
                      <a:r>
                        <a:rPr lang="en-IN" dirty="0" err="1"/>
                        <a:t>DbContext</a:t>
                      </a:r>
                      <a:r>
                        <a:rPr lang="en-IN" dirty="0"/>
                        <a:t>()</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new </a:t>
                      </a:r>
                      <a:r>
                        <a:rPr lang="en-IN" dirty="0" err="1"/>
                        <a:t>DbContext</a:t>
                      </a:r>
                      <a:r>
                        <a:rPr lang="en-IN" dirty="0"/>
                        <a:t>()</a:t>
                      </a:r>
                    </a:p>
                    <a:p>
                      <a:endParaRPr lang="en-IN" dirty="0"/>
                    </a:p>
                  </a:txBody>
                  <a:tcPr/>
                </a:tc>
                <a:extLst>
                  <a:ext uri="{0D108BD9-81ED-4DB2-BD59-A6C34878D82A}">
                    <a16:rowId xmlns:a16="http://schemas.microsoft.com/office/drawing/2014/main" val="198589752"/>
                  </a:ext>
                </a:extLst>
              </a:tr>
            </a:tbl>
          </a:graphicData>
        </a:graphic>
      </p:graphicFrame>
      <p:sp>
        <p:nvSpPr>
          <p:cNvPr id="4" name="Rectangle 3">
            <a:extLst>
              <a:ext uri="{FF2B5EF4-FFF2-40B4-BE49-F238E27FC236}">
                <a16:creationId xmlns:a16="http://schemas.microsoft.com/office/drawing/2014/main" id="{A01FCFF3-1DFA-4C2F-B12B-20497BEECD66}"/>
              </a:ext>
            </a:extLst>
          </p:cNvPr>
          <p:cNvSpPr/>
          <p:nvPr/>
        </p:nvSpPr>
        <p:spPr>
          <a:xfrm>
            <a:off x="6941574" y="4267200"/>
            <a:ext cx="845574"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Task</a:t>
            </a:r>
          </a:p>
        </p:txBody>
      </p:sp>
      <p:sp>
        <p:nvSpPr>
          <p:cNvPr id="6" name="Rectangle 5">
            <a:extLst>
              <a:ext uri="{FF2B5EF4-FFF2-40B4-BE49-F238E27FC236}">
                <a16:creationId xmlns:a16="http://schemas.microsoft.com/office/drawing/2014/main" id="{460A5788-DF10-49B3-9A21-4C3CB59ED40C}"/>
              </a:ext>
            </a:extLst>
          </p:cNvPr>
          <p:cNvSpPr/>
          <p:nvPr/>
        </p:nvSpPr>
        <p:spPr>
          <a:xfrm>
            <a:off x="8298425" y="4199239"/>
            <a:ext cx="845574"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Task</a:t>
            </a:r>
          </a:p>
        </p:txBody>
      </p:sp>
      <p:cxnSp>
        <p:nvCxnSpPr>
          <p:cNvPr id="8" name="Straight Arrow Connector 7">
            <a:extLst>
              <a:ext uri="{FF2B5EF4-FFF2-40B4-BE49-F238E27FC236}">
                <a16:creationId xmlns:a16="http://schemas.microsoft.com/office/drawing/2014/main" id="{8D2C7EAA-C0A9-425F-932E-1280060F685F}"/>
              </a:ext>
            </a:extLst>
          </p:cNvPr>
          <p:cNvCxnSpPr/>
          <p:nvPr/>
        </p:nvCxnSpPr>
        <p:spPr>
          <a:xfrm flipV="1">
            <a:off x="3991897" y="4689495"/>
            <a:ext cx="2677654" cy="855898"/>
          </a:xfrm>
          <a:prstGeom prst="straightConnector1">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0" name="Straight Arrow Connector 9">
            <a:extLst>
              <a:ext uri="{FF2B5EF4-FFF2-40B4-BE49-F238E27FC236}">
                <a16:creationId xmlns:a16="http://schemas.microsoft.com/office/drawing/2014/main" id="{1800EEAA-0190-42A9-B9DF-04C8E5CC375E}"/>
              </a:ext>
            </a:extLst>
          </p:cNvPr>
          <p:cNvCxnSpPr>
            <a:cxnSpLocks/>
          </p:cNvCxnSpPr>
          <p:nvPr/>
        </p:nvCxnSpPr>
        <p:spPr>
          <a:xfrm flipV="1">
            <a:off x="6312310" y="4975183"/>
            <a:ext cx="2018889" cy="5022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D6AC45F6-4B8B-4149-AFCF-0E25D60A01BF}"/>
              </a:ext>
            </a:extLst>
          </p:cNvPr>
          <p:cNvSpPr/>
          <p:nvPr/>
        </p:nvSpPr>
        <p:spPr>
          <a:xfrm>
            <a:off x="9861755" y="4153637"/>
            <a:ext cx="845574" cy="64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Task</a:t>
            </a:r>
          </a:p>
        </p:txBody>
      </p:sp>
      <p:cxnSp>
        <p:nvCxnSpPr>
          <p:cNvPr id="12" name="Straight Arrow Connector 11">
            <a:extLst>
              <a:ext uri="{FF2B5EF4-FFF2-40B4-BE49-F238E27FC236}">
                <a16:creationId xmlns:a16="http://schemas.microsoft.com/office/drawing/2014/main" id="{9F023E41-4819-44C8-B1A8-E494F7593EC8}"/>
              </a:ext>
            </a:extLst>
          </p:cNvPr>
          <p:cNvCxnSpPr/>
          <p:nvPr/>
        </p:nvCxnSpPr>
        <p:spPr>
          <a:xfrm flipV="1">
            <a:off x="8491795" y="4907220"/>
            <a:ext cx="1369960" cy="5702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1579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1CF82B7-22BA-4BA9-9919-E18EC272929C}"/>
              </a:ext>
            </a:extLst>
          </p:cNvPr>
          <p:cNvSpPr>
            <a:spLocks noChangeArrowheads="1"/>
          </p:cNvSpPr>
          <p:nvPr/>
        </p:nvSpPr>
        <p:spPr bwMode="auto">
          <a:xfrm>
            <a:off x="98322" y="685672"/>
            <a:ext cx="11425085" cy="60100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348" tIns="-6348" rIns="-6348" bIns="-634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171717"/>
                </a:solidFill>
                <a:effectLst/>
                <a:latin typeface="SFMono-Regular"/>
                <a:cs typeface="Segoe UI" panose="020B0502040204020203" pitchFamily="34" charset="0"/>
              </a:rPr>
              <a:t>AddDbContextPool</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enables pooling of </a:t>
            </a:r>
            <a:r>
              <a:rPr kumimoji="0" lang="en-US" altLang="en-US" sz="1000" b="0" i="0" u="none" strike="noStrike" cap="none" normalizeH="0" baseline="0" dirty="0" err="1">
                <a:ln>
                  <a:noFill/>
                </a:ln>
                <a:solidFill>
                  <a:srgbClr val="171717"/>
                </a:solidFill>
                <a:effectLst/>
                <a:latin typeface="SFMono-Regular"/>
                <a:cs typeface="Segoe UI" panose="020B0502040204020203" pitchFamily="34" charset="0"/>
              </a:rPr>
              <a:t>DbContext</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instances. Context pooling can increase throughput in high-scale scenarios such as web servers by reusing context instances, rather than creating new instances for each request.</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The typical pattern in an ASP.NET Core app using EF Core involves registering a custom </a:t>
            </a:r>
            <a:r>
              <a:rPr kumimoji="0" lang="en-US" altLang="en-US" sz="1400" b="0" i="0" u="none" strike="noStrike" cap="none" normalizeH="0" baseline="0" dirty="0" err="1">
                <a:ln>
                  <a:noFill/>
                </a:ln>
                <a:solidFill>
                  <a:srgbClr val="171717"/>
                </a:solidFill>
                <a:effectLst/>
                <a:latin typeface="Segoe UI" panose="020B0502040204020203" pitchFamily="34" charset="0"/>
                <a:cs typeface="Segoe UI" panose="020B0502040204020203" pitchFamily="34" charset="0"/>
                <a:hlinkClick r:id="rId2"/>
              </a:rPr>
              <a:t>DbContext</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type into the </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3"/>
              </a:rPr>
              <a:t>dependency injection</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container and obtaining instances of that type through constructor parameters in controllers or Razor Pages. Using constructor injection, a new context instance is created for each request.</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err="1">
                <a:ln>
                  <a:noFill/>
                </a:ln>
                <a:solidFill>
                  <a:srgbClr val="171717"/>
                </a:solidFill>
                <a:effectLst/>
                <a:latin typeface="Segoe UI" panose="020B0502040204020203" pitchFamily="34" charset="0"/>
                <a:cs typeface="Segoe UI" panose="020B0502040204020203" pitchFamily="34" charset="0"/>
                <a:hlinkClick r:id="rId4"/>
              </a:rPr>
              <a:t>AddDbContextPool</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enables a pool of reusable context instances. To use context pooling, use the </a:t>
            </a:r>
            <a:r>
              <a:rPr kumimoji="0" lang="en-US" altLang="en-US" sz="1000" b="0" i="0" u="none" strike="noStrike" cap="none" normalizeH="0" baseline="0" dirty="0" err="1">
                <a:ln>
                  <a:noFill/>
                </a:ln>
                <a:solidFill>
                  <a:srgbClr val="171717"/>
                </a:solidFill>
                <a:effectLst/>
                <a:latin typeface="SFMono-Regular"/>
                <a:cs typeface="Segoe UI" panose="020B0502040204020203" pitchFamily="34" charset="0"/>
              </a:rPr>
              <a:t>AddDbContextPool</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method instead of </a:t>
            </a:r>
            <a:r>
              <a:rPr kumimoji="0" lang="en-US" altLang="en-US" sz="1000" b="0" i="0" u="none" strike="noStrike" cap="none" normalizeH="0" baseline="0" dirty="0" err="1">
                <a:ln>
                  <a:noFill/>
                </a:ln>
                <a:solidFill>
                  <a:srgbClr val="171717"/>
                </a:solidFill>
                <a:effectLst/>
                <a:latin typeface="SFMono-Regular"/>
                <a:cs typeface="Segoe UI" panose="020B0502040204020203" pitchFamily="34" charset="0"/>
              </a:rPr>
              <a:t>AddDbContext</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during service registration:</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C#</a:t>
            </a:r>
            <a:endParaRPr kumimoji="0" lang="en-US" altLang="en-US" sz="1050" b="0" i="0" u="none" strike="noStrike" cap="none" normalizeH="0" baseline="0" dirty="0">
              <a:ln>
                <a:noFill/>
              </a:ln>
              <a:solidFill>
                <a:srgbClr val="171717"/>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err="1">
                <a:ln>
                  <a:noFill/>
                </a:ln>
                <a:solidFill>
                  <a:srgbClr val="171717"/>
                </a:solidFill>
                <a:effectLst/>
                <a:latin typeface="SFMono-Regular"/>
              </a:rPr>
              <a:t>services.AddDbContextPool</a:t>
            </a:r>
            <a:r>
              <a:rPr kumimoji="0" lang="en-US" altLang="en-US" sz="1050" b="0" i="0" u="none" strike="noStrike" cap="none" normalizeH="0" baseline="0" dirty="0">
                <a:ln>
                  <a:noFill/>
                </a:ln>
                <a:solidFill>
                  <a:srgbClr val="171717"/>
                </a:solidFill>
                <a:effectLst/>
                <a:latin typeface="SFMono-Regular"/>
              </a:rPr>
              <a:t>&lt;</a:t>
            </a:r>
            <a:r>
              <a:rPr kumimoji="0" lang="en-US" altLang="en-US" sz="1050" b="0" i="0" u="none" strike="noStrike" cap="none" normalizeH="0" baseline="0" dirty="0" err="1">
                <a:ln>
                  <a:noFill/>
                </a:ln>
                <a:solidFill>
                  <a:srgbClr val="171717"/>
                </a:solidFill>
                <a:effectLst/>
                <a:latin typeface="SFMono-Regular"/>
              </a:rPr>
              <a:t>BloggingContext</a:t>
            </a:r>
            <a:r>
              <a:rPr kumimoji="0" lang="en-US" altLang="en-US" sz="1050" b="0" i="0" u="none" strike="noStrike" cap="none" normalizeH="0" baseline="0" dirty="0">
                <a:ln>
                  <a:noFill/>
                </a:ln>
                <a:solidFill>
                  <a:srgbClr val="171717"/>
                </a:solidFill>
                <a:effectLst/>
                <a:latin typeface="SFMono-Regular"/>
              </a:rPr>
              <a:t>&gt;( options =&gt; </a:t>
            </a:r>
            <a:r>
              <a:rPr kumimoji="0" lang="en-US" altLang="en-US" sz="1050" b="0" i="0" u="none" strike="noStrike" cap="none" normalizeH="0" baseline="0" dirty="0" err="1">
                <a:ln>
                  <a:noFill/>
                </a:ln>
                <a:solidFill>
                  <a:srgbClr val="171717"/>
                </a:solidFill>
                <a:effectLst/>
                <a:latin typeface="SFMono-Regular"/>
              </a:rPr>
              <a:t>options.UseSqlServer</a:t>
            </a:r>
            <a:r>
              <a:rPr kumimoji="0" lang="en-US" altLang="en-US" sz="1050" b="0" i="0" u="none" strike="noStrike" cap="none" normalizeH="0" baseline="0" dirty="0">
                <a:ln>
                  <a:noFill/>
                </a:ln>
                <a:solidFill>
                  <a:srgbClr val="171717"/>
                </a:solidFill>
                <a:effectLst/>
                <a:latin typeface="SFMono-Regular"/>
              </a:rPr>
              <a:t>(</a:t>
            </a:r>
            <a:r>
              <a:rPr kumimoji="0" lang="en-US" altLang="en-US" sz="1050" b="0" i="0" u="none" strike="noStrike" cap="none" normalizeH="0" baseline="0" dirty="0" err="1">
                <a:ln>
                  <a:noFill/>
                </a:ln>
                <a:solidFill>
                  <a:srgbClr val="171717"/>
                </a:solidFill>
                <a:effectLst/>
                <a:latin typeface="SFMono-Regular"/>
              </a:rPr>
              <a:t>connectionString</a:t>
            </a:r>
            <a:r>
              <a:rPr kumimoji="0" lang="en-US" altLang="en-US" sz="1050" b="0" i="0" u="none" strike="noStrike" cap="none" normalizeH="0" baseline="0" dirty="0">
                <a:ln>
                  <a:noFill/>
                </a:ln>
                <a:solidFill>
                  <a:srgbClr val="171717"/>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When </a:t>
            </a:r>
            <a:r>
              <a:rPr kumimoji="0" lang="en-US" altLang="en-US" sz="1000" b="0" i="0" u="none" strike="noStrike" cap="none" normalizeH="0" baseline="0" dirty="0" err="1">
                <a:ln>
                  <a:noFill/>
                </a:ln>
                <a:solidFill>
                  <a:srgbClr val="171717"/>
                </a:solidFill>
                <a:effectLst/>
                <a:latin typeface="SFMono-Regular"/>
                <a:cs typeface="Segoe UI" panose="020B0502040204020203" pitchFamily="34" charset="0"/>
              </a:rPr>
              <a:t>AddDbContextPool</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is used, at the time a context instance is requested, EF first checks if there is an instance available in the pool. Once the request processing finalizes, any state on the instance is reset and the instance is itself returned to the pool.</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This is conceptually similar to how connection pooling operates in ADO.NET providers and has the advantage of saving some of the cost of initialization of the context instance.</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The </a:t>
            </a:r>
            <a:r>
              <a:rPr kumimoji="0" lang="en-US" altLang="en-US" sz="1000" b="0" i="0" u="none" strike="noStrike" cap="none" normalizeH="0" baseline="0" dirty="0" err="1">
                <a:ln>
                  <a:noFill/>
                </a:ln>
                <a:solidFill>
                  <a:srgbClr val="171717"/>
                </a:solidFill>
                <a:effectLst/>
                <a:latin typeface="SFMono-Regular"/>
                <a:cs typeface="Segoe UI" panose="020B0502040204020203" pitchFamily="34" charset="0"/>
              </a:rPr>
              <a:t>poolSize</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parameter of </a:t>
            </a:r>
            <a:r>
              <a:rPr kumimoji="0" lang="en-US" altLang="en-US" sz="1400" b="0" i="0" u="none" strike="noStrike" cap="none" normalizeH="0" baseline="0" dirty="0" err="1">
                <a:ln>
                  <a:noFill/>
                </a:ln>
                <a:solidFill>
                  <a:srgbClr val="171717"/>
                </a:solidFill>
                <a:effectLst/>
                <a:latin typeface="Segoe UI" panose="020B0502040204020203" pitchFamily="34" charset="0"/>
                <a:cs typeface="Segoe UI" panose="020B0502040204020203" pitchFamily="34" charset="0"/>
                <a:hlinkClick r:id="rId4"/>
              </a:rPr>
              <a:t>AddDbContextPool</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sets the maximum number of instances retained by the pool (defaults to 1024 in EF Core 6.0, and to 128 in previous versions). Once </a:t>
            </a:r>
            <a:r>
              <a:rPr kumimoji="0" lang="en-US" altLang="en-US" sz="1000" b="0" i="0" u="none" strike="noStrike" cap="none" normalizeH="0" baseline="0" dirty="0" err="1">
                <a:ln>
                  <a:noFill/>
                </a:ln>
                <a:solidFill>
                  <a:srgbClr val="171717"/>
                </a:solidFill>
                <a:effectLst/>
                <a:latin typeface="SFMono-Regular"/>
                <a:cs typeface="Segoe UI" panose="020B0502040204020203" pitchFamily="34" charset="0"/>
              </a:rPr>
              <a:t>poolSize</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is exceeded, new context instances are not cached and EF falls back to the non-pooling behavior of creating instances on demand.</a:t>
            </a:r>
            <a:endParaRPr kumimoji="0" lang="en-US" altLang="en-US" sz="1000" b="1"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Limitations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Apps should be profiled and tested to show that context initialization is a significant cost.</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rgbClr val="171717"/>
                </a:solidFill>
                <a:effectLst/>
                <a:latin typeface="SFMono-Regular"/>
                <a:cs typeface="Segoe UI" panose="020B0502040204020203" pitchFamily="34" charset="0"/>
              </a:rPr>
              <a:t>AddDbContextPool</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has a few limitations on what can be done in the </a:t>
            </a:r>
            <a:r>
              <a:rPr kumimoji="0" lang="en-US" altLang="en-US" sz="1000" b="0" i="0" u="none" strike="noStrike" cap="none" normalizeH="0" baseline="0" dirty="0" err="1">
                <a:ln>
                  <a:noFill/>
                </a:ln>
                <a:solidFill>
                  <a:srgbClr val="171717"/>
                </a:solidFill>
                <a:effectLst/>
                <a:latin typeface="SFMono-Regular"/>
                <a:cs typeface="Segoe UI" panose="020B0502040204020203" pitchFamily="34" charset="0"/>
              </a:rPr>
              <a:t>OnConfiguring</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method of the context.</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Warning</a:t>
            </a:r>
            <a:endPar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Avoid using context pooling in apps that maintain state. For example, private fields in the context that shouldn't be shared across requests. EF Core only resets the state that it is aware of before adding a context instance to the pool.</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Context pooling works by reusing the same context instance across requests. This means that it's effectively registered as a </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5"/>
              </a:rPr>
              <a:t>Singleton</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in terms of the instance itself so that it's able to persist.</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Context pooling is intended for scenarios where the context configuration, which includes services resolved, is fixed between requests. For cases where </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5"/>
              </a:rPr>
              <a:t>Scoped</a:t>
            </a:r>
            <a:r>
              <a:rPr kumimoji="0" lang="en-US" altLang="en-US" sz="14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services are required, or configuration needs to be changed, don't use pooling. The performance gain from pooling is usually negligible except in highly optimized scenarios.</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D40CF634-D5E2-49AF-AE8B-54FFCEAC5D27}"/>
              </a:ext>
            </a:extLst>
          </p:cNvPr>
          <p:cNvSpPr txBox="1"/>
          <p:nvPr/>
        </p:nvSpPr>
        <p:spPr>
          <a:xfrm>
            <a:off x="2549013" y="83478"/>
            <a:ext cx="6179574"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rgbClr val="171717"/>
                </a:solidFill>
                <a:effectLst/>
                <a:latin typeface="Segoe UI" panose="020B0502040204020203" pitchFamily="34" charset="0"/>
                <a:cs typeface="Segoe UI" panose="020B0502040204020203" pitchFamily="34" charset="0"/>
              </a:rPr>
              <a:t>DbContext</a:t>
            </a:r>
            <a:r>
              <a:rPr kumimoji="0" lang="en-US" altLang="en-US" sz="1800" b="1"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pooling AS per MSDN</a:t>
            </a:r>
          </a:p>
        </p:txBody>
      </p:sp>
    </p:spTree>
    <p:extLst>
      <p:ext uri="{BB962C8B-B14F-4D97-AF65-F5344CB8AC3E}">
        <p14:creationId xmlns:p14="http://schemas.microsoft.com/office/powerpoint/2010/main" val="2924019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972</TotalTime>
  <Words>2092</Words>
  <Application>Microsoft Office PowerPoint</Application>
  <PresentationFormat>Widescreen</PresentationFormat>
  <Paragraphs>93</Paragraphs>
  <Slides>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-apple-system</vt:lpstr>
      <vt:lpstr>Arial</vt:lpstr>
      <vt:lpstr>Arial</vt:lpstr>
      <vt:lpstr>Calibri</vt:lpstr>
      <vt:lpstr>Calibri Light</vt:lpstr>
      <vt:lpstr>Poppins</vt:lpstr>
      <vt:lpstr>Segoe UI</vt:lpstr>
      <vt:lpstr>SFMono-Regular</vt:lpstr>
      <vt:lpstr>verdana</vt:lpstr>
      <vt:lpstr>Office Theme</vt:lpstr>
      <vt:lpstr>PowerPoint Presentation</vt:lpstr>
      <vt:lpstr>Difference between AddMvc() and AddMvcCore() methods.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vidyanidhi school</cp:lastModifiedBy>
  <cp:revision>14</cp:revision>
  <dcterms:created xsi:type="dcterms:W3CDTF">2021-09-28T04:43:56Z</dcterms:created>
  <dcterms:modified xsi:type="dcterms:W3CDTF">2023-11-09T16:25:40Z</dcterms:modified>
</cp:coreProperties>
</file>