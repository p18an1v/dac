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D8ED6-6BF4-4F71-B2AE-0295DD6C97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138D55-86DA-4F8A-82FF-393F1EACAB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D40B60-8048-40FA-B301-8850E9964870}"/>
              </a:ext>
            </a:extLst>
          </p:cNvPr>
          <p:cNvSpPr>
            <a:spLocks noGrp="1"/>
          </p:cNvSpPr>
          <p:nvPr>
            <p:ph type="dt" sz="half" idx="10"/>
          </p:nvPr>
        </p:nvSpPr>
        <p:spPr/>
        <p:txBody>
          <a:bodyPr/>
          <a:lstStyle/>
          <a:p>
            <a:fld id="{DE424C83-43CB-4DDC-B891-A9D0BC68E9C7}" type="datetimeFigureOut">
              <a:rPr lang="en-IN" smtClean="0"/>
              <a:t>20-04-2025</a:t>
            </a:fld>
            <a:endParaRPr lang="en-IN"/>
          </a:p>
        </p:txBody>
      </p:sp>
      <p:sp>
        <p:nvSpPr>
          <p:cNvPr id="5" name="Footer Placeholder 4">
            <a:extLst>
              <a:ext uri="{FF2B5EF4-FFF2-40B4-BE49-F238E27FC236}">
                <a16:creationId xmlns:a16="http://schemas.microsoft.com/office/drawing/2014/main" id="{2275297A-7B06-4842-9BA5-D43F100C90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2CCD98-6EA3-4E81-893F-D6DFD980CEF0}"/>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3243637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9FDDC-376C-4667-86FE-711CF88910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E3203AE-1AAF-4C41-86D1-33A1321ABF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30166B-0A35-4AD7-B9FC-E7AE6309037D}"/>
              </a:ext>
            </a:extLst>
          </p:cNvPr>
          <p:cNvSpPr>
            <a:spLocks noGrp="1"/>
          </p:cNvSpPr>
          <p:nvPr>
            <p:ph type="dt" sz="half" idx="10"/>
          </p:nvPr>
        </p:nvSpPr>
        <p:spPr/>
        <p:txBody>
          <a:bodyPr/>
          <a:lstStyle/>
          <a:p>
            <a:fld id="{DE424C83-43CB-4DDC-B891-A9D0BC68E9C7}" type="datetimeFigureOut">
              <a:rPr lang="en-IN" smtClean="0"/>
              <a:t>20-04-2025</a:t>
            </a:fld>
            <a:endParaRPr lang="en-IN"/>
          </a:p>
        </p:txBody>
      </p:sp>
      <p:sp>
        <p:nvSpPr>
          <p:cNvPr id="5" name="Footer Placeholder 4">
            <a:extLst>
              <a:ext uri="{FF2B5EF4-FFF2-40B4-BE49-F238E27FC236}">
                <a16:creationId xmlns:a16="http://schemas.microsoft.com/office/drawing/2014/main" id="{5323FE17-0085-4AA0-86EC-E554A289AB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EDD2EB-B55B-416F-9396-9523E3407793}"/>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572090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FB8F7-994A-46BC-86D2-D8A17084CB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3D714C-B001-4660-9101-6B1B04603B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33187F-8E29-450F-A4F2-F8A4F9FCE911}"/>
              </a:ext>
            </a:extLst>
          </p:cNvPr>
          <p:cNvSpPr>
            <a:spLocks noGrp="1"/>
          </p:cNvSpPr>
          <p:nvPr>
            <p:ph type="dt" sz="half" idx="10"/>
          </p:nvPr>
        </p:nvSpPr>
        <p:spPr/>
        <p:txBody>
          <a:bodyPr/>
          <a:lstStyle/>
          <a:p>
            <a:fld id="{DE424C83-43CB-4DDC-B891-A9D0BC68E9C7}" type="datetimeFigureOut">
              <a:rPr lang="en-IN" smtClean="0"/>
              <a:t>20-04-2025</a:t>
            </a:fld>
            <a:endParaRPr lang="en-IN"/>
          </a:p>
        </p:txBody>
      </p:sp>
      <p:sp>
        <p:nvSpPr>
          <p:cNvPr id="5" name="Footer Placeholder 4">
            <a:extLst>
              <a:ext uri="{FF2B5EF4-FFF2-40B4-BE49-F238E27FC236}">
                <a16:creationId xmlns:a16="http://schemas.microsoft.com/office/drawing/2014/main" id="{28C3A47A-A6AC-47C3-B7AD-28D4E73DA9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265991-C913-456B-AF5D-6326AFE19701}"/>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955845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53E1B-96D0-4B11-86A5-82AD80EE76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17474D-44F8-4844-B3ED-55818C4CE4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1EB59F-A427-4113-8187-CB28A9B669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592A07-EDDA-4EF1-95AA-31D0FD448C8B}"/>
              </a:ext>
            </a:extLst>
          </p:cNvPr>
          <p:cNvSpPr>
            <a:spLocks noGrp="1"/>
          </p:cNvSpPr>
          <p:nvPr>
            <p:ph type="dt" sz="half" idx="10"/>
          </p:nvPr>
        </p:nvSpPr>
        <p:spPr/>
        <p:txBody>
          <a:bodyPr/>
          <a:lstStyle/>
          <a:p>
            <a:fld id="{DE424C83-43CB-4DDC-B891-A9D0BC68E9C7}" type="datetimeFigureOut">
              <a:rPr lang="en-IN" smtClean="0"/>
              <a:t>20-04-2025</a:t>
            </a:fld>
            <a:endParaRPr lang="en-IN"/>
          </a:p>
        </p:txBody>
      </p:sp>
      <p:sp>
        <p:nvSpPr>
          <p:cNvPr id="6" name="Footer Placeholder 5">
            <a:extLst>
              <a:ext uri="{FF2B5EF4-FFF2-40B4-BE49-F238E27FC236}">
                <a16:creationId xmlns:a16="http://schemas.microsoft.com/office/drawing/2014/main" id="{2D6F3FF4-9D82-4FAE-9B4A-2142F5F814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0C187E-8CE8-4E44-8BBA-D231E6947603}"/>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3042639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009F5-121C-43FF-AD85-768C1AEC73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406E2E-E110-4A14-ADCA-617CCDB3D0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CAE95B-48CF-4917-8A9F-977C56799A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B67CD57-3CC1-4D7B-8D5E-BFCB02C49D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9A833-8FC9-45A0-8ED5-2F1FB4EB30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5A3DB9-5D67-4DAD-A6CD-555149686F1E}"/>
              </a:ext>
            </a:extLst>
          </p:cNvPr>
          <p:cNvSpPr>
            <a:spLocks noGrp="1"/>
          </p:cNvSpPr>
          <p:nvPr>
            <p:ph type="dt" sz="half" idx="10"/>
          </p:nvPr>
        </p:nvSpPr>
        <p:spPr/>
        <p:txBody>
          <a:bodyPr/>
          <a:lstStyle/>
          <a:p>
            <a:fld id="{DE424C83-43CB-4DDC-B891-A9D0BC68E9C7}" type="datetimeFigureOut">
              <a:rPr lang="en-IN" smtClean="0"/>
              <a:t>20-04-2025</a:t>
            </a:fld>
            <a:endParaRPr lang="en-IN"/>
          </a:p>
        </p:txBody>
      </p:sp>
      <p:sp>
        <p:nvSpPr>
          <p:cNvPr id="8" name="Footer Placeholder 7">
            <a:extLst>
              <a:ext uri="{FF2B5EF4-FFF2-40B4-BE49-F238E27FC236}">
                <a16:creationId xmlns:a16="http://schemas.microsoft.com/office/drawing/2014/main" id="{88EDA8AF-5CA2-46ED-A02C-3F4D00C9493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F9E5B8-095C-407A-8F18-8A379909E670}"/>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4099634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38208-C872-49D8-992C-BAD38FD4C6B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18B0DB-55E8-4DCE-B7D9-11E88CA72BB1}"/>
              </a:ext>
            </a:extLst>
          </p:cNvPr>
          <p:cNvSpPr>
            <a:spLocks noGrp="1"/>
          </p:cNvSpPr>
          <p:nvPr>
            <p:ph type="dt" sz="half" idx="10"/>
          </p:nvPr>
        </p:nvSpPr>
        <p:spPr/>
        <p:txBody>
          <a:bodyPr/>
          <a:lstStyle/>
          <a:p>
            <a:fld id="{DE424C83-43CB-4DDC-B891-A9D0BC68E9C7}" type="datetimeFigureOut">
              <a:rPr lang="en-IN" smtClean="0"/>
              <a:t>20-04-2025</a:t>
            </a:fld>
            <a:endParaRPr lang="en-IN"/>
          </a:p>
        </p:txBody>
      </p:sp>
      <p:sp>
        <p:nvSpPr>
          <p:cNvPr id="4" name="Footer Placeholder 3">
            <a:extLst>
              <a:ext uri="{FF2B5EF4-FFF2-40B4-BE49-F238E27FC236}">
                <a16:creationId xmlns:a16="http://schemas.microsoft.com/office/drawing/2014/main" id="{9174F24C-33DE-4AEB-A090-5F6DA9F9FF4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92AA9C-97EB-4786-86E9-8F1961AFC9E6}"/>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2293221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0FF32B-176D-4351-BFDF-C69604DD9B5B}"/>
              </a:ext>
            </a:extLst>
          </p:cNvPr>
          <p:cNvSpPr>
            <a:spLocks noGrp="1"/>
          </p:cNvSpPr>
          <p:nvPr>
            <p:ph type="dt" sz="half" idx="10"/>
          </p:nvPr>
        </p:nvSpPr>
        <p:spPr/>
        <p:txBody>
          <a:bodyPr/>
          <a:lstStyle/>
          <a:p>
            <a:fld id="{DE424C83-43CB-4DDC-B891-A9D0BC68E9C7}" type="datetimeFigureOut">
              <a:rPr lang="en-IN" smtClean="0"/>
              <a:t>20-04-2025</a:t>
            </a:fld>
            <a:endParaRPr lang="en-IN"/>
          </a:p>
        </p:txBody>
      </p:sp>
      <p:sp>
        <p:nvSpPr>
          <p:cNvPr id="3" name="Footer Placeholder 2">
            <a:extLst>
              <a:ext uri="{FF2B5EF4-FFF2-40B4-BE49-F238E27FC236}">
                <a16:creationId xmlns:a16="http://schemas.microsoft.com/office/drawing/2014/main" id="{62B831EB-D936-4D37-8988-23EA8DD7077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82233A7-5290-4172-99AE-D543808E6F88}"/>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2510973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925C4-33C8-4D5E-AC2F-361BF40C83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0EA3BD-A1D8-4C67-8391-90A43C17B8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65EE712-3C0B-4D5E-BE4D-65F53D6554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656686-5792-4AC7-A877-DA69C1EC25BA}"/>
              </a:ext>
            </a:extLst>
          </p:cNvPr>
          <p:cNvSpPr>
            <a:spLocks noGrp="1"/>
          </p:cNvSpPr>
          <p:nvPr>
            <p:ph type="dt" sz="half" idx="10"/>
          </p:nvPr>
        </p:nvSpPr>
        <p:spPr/>
        <p:txBody>
          <a:bodyPr/>
          <a:lstStyle/>
          <a:p>
            <a:fld id="{DE424C83-43CB-4DDC-B891-A9D0BC68E9C7}" type="datetimeFigureOut">
              <a:rPr lang="en-IN" smtClean="0"/>
              <a:t>20-04-2025</a:t>
            </a:fld>
            <a:endParaRPr lang="en-IN"/>
          </a:p>
        </p:txBody>
      </p:sp>
      <p:sp>
        <p:nvSpPr>
          <p:cNvPr id="6" name="Footer Placeholder 5">
            <a:extLst>
              <a:ext uri="{FF2B5EF4-FFF2-40B4-BE49-F238E27FC236}">
                <a16:creationId xmlns:a16="http://schemas.microsoft.com/office/drawing/2014/main" id="{F3DD1E84-934A-4A8F-BA47-DFB73D72B0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EE688D-24F5-407F-8EFC-CCC2FD767C84}"/>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2873574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9F609-A4B7-4EC7-ACF3-2C57755FE9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0DBB19-F4C5-4ACA-9513-D1FE2B716F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11C6DDF-1F3A-4A86-B233-ABBD3D2768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731518-263A-42CB-A21F-98B285DA110A}"/>
              </a:ext>
            </a:extLst>
          </p:cNvPr>
          <p:cNvSpPr>
            <a:spLocks noGrp="1"/>
          </p:cNvSpPr>
          <p:nvPr>
            <p:ph type="dt" sz="half" idx="10"/>
          </p:nvPr>
        </p:nvSpPr>
        <p:spPr/>
        <p:txBody>
          <a:bodyPr/>
          <a:lstStyle/>
          <a:p>
            <a:fld id="{DE424C83-43CB-4DDC-B891-A9D0BC68E9C7}" type="datetimeFigureOut">
              <a:rPr lang="en-IN" smtClean="0"/>
              <a:t>20-04-2025</a:t>
            </a:fld>
            <a:endParaRPr lang="en-IN"/>
          </a:p>
        </p:txBody>
      </p:sp>
      <p:sp>
        <p:nvSpPr>
          <p:cNvPr id="6" name="Footer Placeholder 5">
            <a:extLst>
              <a:ext uri="{FF2B5EF4-FFF2-40B4-BE49-F238E27FC236}">
                <a16:creationId xmlns:a16="http://schemas.microsoft.com/office/drawing/2014/main" id="{2161AFC1-887F-4798-BA31-9422F709A7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5507E3-C903-43F9-986D-2D7133A2A01E}"/>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915618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C2646-9E1B-44F1-A96F-036E775BE10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D429FE-5401-4268-AA8A-9A2CAD49B7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85B3BC-38FF-4286-9754-719A10FC5C16}"/>
              </a:ext>
            </a:extLst>
          </p:cNvPr>
          <p:cNvSpPr>
            <a:spLocks noGrp="1"/>
          </p:cNvSpPr>
          <p:nvPr>
            <p:ph type="dt" sz="half" idx="10"/>
          </p:nvPr>
        </p:nvSpPr>
        <p:spPr/>
        <p:txBody>
          <a:bodyPr/>
          <a:lstStyle/>
          <a:p>
            <a:fld id="{DE424C83-43CB-4DDC-B891-A9D0BC68E9C7}" type="datetimeFigureOut">
              <a:rPr lang="en-IN" smtClean="0"/>
              <a:t>20-04-2025</a:t>
            </a:fld>
            <a:endParaRPr lang="en-IN"/>
          </a:p>
        </p:txBody>
      </p:sp>
      <p:sp>
        <p:nvSpPr>
          <p:cNvPr id="5" name="Footer Placeholder 4">
            <a:extLst>
              <a:ext uri="{FF2B5EF4-FFF2-40B4-BE49-F238E27FC236}">
                <a16:creationId xmlns:a16="http://schemas.microsoft.com/office/drawing/2014/main" id="{D5B2EA68-1BA9-4C59-8B97-A6E4C76FDB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43DF16-4011-45D1-9F38-EAF9B13C0431}"/>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3212699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08655B-5F20-4008-89ED-D8F328F88F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28A2F9-229C-4EA2-B421-9AA5ADD916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76E533-F120-44FC-B183-BBC58CDC7045}"/>
              </a:ext>
            </a:extLst>
          </p:cNvPr>
          <p:cNvSpPr>
            <a:spLocks noGrp="1"/>
          </p:cNvSpPr>
          <p:nvPr>
            <p:ph type="dt" sz="half" idx="10"/>
          </p:nvPr>
        </p:nvSpPr>
        <p:spPr/>
        <p:txBody>
          <a:bodyPr/>
          <a:lstStyle/>
          <a:p>
            <a:fld id="{DE424C83-43CB-4DDC-B891-A9D0BC68E9C7}" type="datetimeFigureOut">
              <a:rPr lang="en-IN" smtClean="0"/>
              <a:t>20-04-2025</a:t>
            </a:fld>
            <a:endParaRPr lang="en-IN"/>
          </a:p>
        </p:txBody>
      </p:sp>
      <p:sp>
        <p:nvSpPr>
          <p:cNvPr id="5" name="Footer Placeholder 4">
            <a:extLst>
              <a:ext uri="{FF2B5EF4-FFF2-40B4-BE49-F238E27FC236}">
                <a16:creationId xmlns:a16="http://schemas.microsoft.com/office/drawing/2014/main" id="{9D7AF34D-7DE9-4A2A-B72A-D9C835FC9A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5E9A9A-3987-4384-B6DD-284A8A7E6406}"/>
              </a:ext>
            </a:extLst>
          </p:cNvPr>
          <p:cNvSpPr>
            <a:spLocks noGrp="1"/>
          </p:cNvSpPr>
          <p:nvPr>
            <p:ph type="sldNum" sz="quarter" idx="12"/>
          </p:nvPr>
        </p:nvSpPr>
        <p:spPr/>
        <p:txBody>
          <a:bodyPr/>
          <a:lstStyle/>
          <a:p>
            <a:fld id="{4A01D63B-E9CE-41E1-A9D8-18541CE98C74}" type="slidenum">
              <a:rPr lang="en-IN" smtClean="0"/>
              <a:t>‹#›</a:t>
            </a:fld>
            <a:endParaRPr lang="en-IN"/>
          </a:p>
        </p:txBody>
      </p:sp>
    </p:spTree>
    <p:extLst>
      <p:ext uri="{BB962C8B-B14F-4D97-AF65-F5344CB8AC3E}">
        <p14:creationId xmlns:p14="http://schemas.microsoft.com/office/powerpoint/2010/main" val="3401088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363780-561B-4A64-981F-7F96852E9B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2B993E-8710-48EF-A8AD-DD18DC72F4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E10DF1-2387-4BCF-9545-B6433E5AE1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424C83-43CB-4DDC-B891-A9D0BC68E9C7}" type="datetimeFigureOut">
              <a:rPr lang="en-IN" smtClean="0"/>
              <a:t>20-04-2025</a:t>
            </a:fld>
            <a:endParaRPr lang="en-IN"/>
          </a:p>
        </p:txBody>
      </p:sp>
      <p:sp>
        <p:nvSpPr>
          <p:cNvPr id="5" name="Footer Placeholder 4">
            <a:extLst>
              <a:ext uri="{FF2B5EF4-FFF2-40B4-BE49-F238E27FC236}">
                <a16:creationId xmlns:a16="http://schemas.microsoft.com/office/drawing/2014/main" id="{0493A5C3-4A9A-4A39-9F5C-0B9CDC6B96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0022F62-1305-4CBB-B46E-7BBE09E7A7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01D63B-E9CE-41E1-A9D8-18541CE98C74}" type="slidenum">
              <a:rPr lang="en-IN" smtClean="0"/>
              <a:t>‹#›</a:t>
            </a:fld>
            <a:endParaRPr lang="en-IN"/>
          </a:p>
        </p:txBody>
      </p:sp>
    </p:spTree>
    <p:extLst>
      <p:ext uri="{BB962C8B-B14F-4D97-AF65-F5344CB8AC3E}">
        <p14:creationId xmlns:p14="http://schemas.microsoft.com/office/powerpoint/2010/main" val="3885184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93D953B-A6A3-421C-9FD9-9209D18BF498}"/>
              </a:ext>
            </a:extLst>
          </p:cNvPr>
          <p:cNvSpPr txBox="1"/>
          <p:nvPr/>
        </p:nvSpPr>
        <p:spPr>
          <a:xfrm>
            <a:off x="1489586" y="120640"/>
            <a:ext cx="7767483"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Understanding the need for ASP.NET Core Dependency Injection</a:t>
            </a:r>
            <a:endParaRPr lang="en-US" b="0" i="0" dirty="0">
              <a:solidFill>
                <a:srgbClr val="3A3A3A"/>
              </a:solidFill>
              <a:effectLst/>
              <a:latin typeface="-apple-system"/>
            </a:endParaRPr>
          </a:p>
        </p:txBody>
      </p:sp>
      <p:sp>
        <p:nvSpPr>
          <p:cNvPr id="9" name="TextBox 8">
            <a:extLst>
              <a:ext uri="{FF2B5EF4-FFF2-40B4-BE49-F238E27FC236}">
                <a16:creationId xmlns:a16="http://schemas.microsoft.com/office/drawing/2014/main" id="{B3CC5094-1651-40C1-8EB4-879FA8B06BC6}"/>
              </a:ext>
            </a:extLst>
          </p:cNvPr>
          <p:cNvSpPr txBox="1"/>
          <p:nvPr/>
        </p:nvSpPr>
        <p:spPr>
          <a:xfrm>
            <a:off x="216310" y="836571"/>
            <a:ext cx="11788877" cy="2031325"/>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Let us understand the need for Dependency Injection in ASP.NET Core Application with an example. First, create a new ASP.NET Core Application with the name “</a:t>
            </a:r>
            <a:r>
              <a:rPr lang="en-US" b="1" i="0" dirty="0" err="1">
                <a:solidFill>
                  <a:srgbClr val="000000"/>
                </a:solidFill>
                <a:effectLst/>
                <a:latin typeface="arial" panose="020B0604020202020204" pitchFamily="34" charset="0"/>
              </a:rPr>
              <a:t>FirstCoreMVCWebApplication</a:t>
            </a:r>
            <a:r>
              <a:rPr lang="en-US" b="0" i="0" dirty="0">
                <a:solidFill>
                  <a:srgbClr val="000000"/>
                </a:solidFill>
                <a:effectLst/>
                <a:latin typeface="arial" panose="020B0604020202020204" pitchFamily="34" charset="0"/>
              </a:rPr>
              <a:t>” with Empty project template.</a:t>
            </a:r>
            <a:endParaRPr lang="en-US" b="0" i="0" dirty="0">
              <a:solidFill>
                <a:srgbClr val="212529"/>
              </a:solidFill>
              <a:effectLst/>
              <a:latin typeface="-apple-system"/>
            </a:endParaRPr>
          </a:p>
          <a:p>
            <a:pPr algn="just" fontAlgn="base"/>
            <a:r>
              <a:rPr lang="en-US" b="1" i="0" dirty="0">
                <a:solidFill>
                  <a:srgbClr val="000000"/>
                </a:solidFill>
                <a:effectLst/>
                <a:latin typeface="arial" panose="020B0604020202020204" pitchFamily="34" charset="0"/>
              </a:rPr>
              <a:t>Adding Models:</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Once you created the Project with the Empty Project template, then let’s add our models to our application. To do so, first create a folder with the name </a:t>
            </a:r>
            <a:r>
              <a:rPr lang="en-US" b="1" i="0" dirty="0">
                <a:solidFill>
                  <a:srgbClr val="000000"/>
                </a:solidFill>
                <a:effectLst/>
                <a:latin typeface="arial" panose="020B0604020202020204" pitchFamily="34" charset="0"/>
              </a:rPr>
              <a:t>Models</a:t>
            </a:r>
            <a:r>
              <a:rPr lang="en-US" b="0" i="0" dirty="0">
                <a:solidFill>
                  <a:srgbClr val="000000"/>
                </a:solidFill>
                <a:effectLst/>
                <a:latin typeface="arial" panose="020B0604020202020204" pitchFamily="34" charset="0"/>
              </a:rPr>
              <a:t>. Within the Models folder, let us add a class file with the name </a:t>
            </a:r>
            <a:r>
              <a:rPr lang="en-US" b="1" i="0" dirty="0" err="1">
                <a:solidFill>
                  <a:srgbClr val="000000"/>
                </a:solidFill>
                <a:effectLst/>
                <a:latin typeface="arial" panose="020B0604020202020204" pitchFamily="34" charset="0"/>
              </a:rPr>
              <a:t>Student.cs</a:t>
            </a:r>
            <a:r>
              <a:rPr lang="en-US" b="0" i="0" dirty="0">
                <a:solidFill>
                  <a:srgbClr val="000000"/>
                </a:solidFill>
                <a:effectLst/>
                <a:latin typeface="arial" panose="020B0604020202020204" pitchFamily="34" charset="0"/>
              </a:rPr>
              <a:t> and this Student class is going to be our model for this application. Then open the </a:t>
            </a:r>
            <a:r>
              <a:rPr lang="en-US" b="1" i="0" dirty="0" err="1">
                <a:solidFill>
                  <a:srgbClr val="000000"/>
                </a:solidFill>
                <a:effectLst/>
                <a:latin typeface="arial" panose="020B0604020202020204" pitchFamily="34" charset="0"/>
              </a:rPr>
              <a:t>Student.cs</a:t>
            </a:r>
            <a:r>
              <a:rPr lang="en-US" b="0" i="0" dirty="0">
                <a:solidFill>
                  <a:srgbClr val="000000"/>
                </a:solidFill>
                <a:effectLst/>
                <a:latin typeface="arial" panose="020B0604020202020204" pitchFamily="34" charset="0"/>
              </a:rPr>
              <a:t> class file and copy and paste the following code in it.</a:t>
            </a:r>
            <a:endParaRPr lang="en-US" b="0" i="0" dirty="0">
              <a:solidFill>
                <a:srgbClr val="212529"/>
              </a:solidFill>
              <a:effectLst/>
              <a:latin typeface="-apple-system"/>
            </a:endParaRPr>
          </a:p>
        </p:txBody>
      </p:sp>
      <p:sp>
        <p:nvSpPr>
          <p:cNvPr id="11" name="TextBox 10">
            <a:extLst>
              <a:ext uri="{FF2B5EF4-FFF2-40B4-BE49-F238E27FC236}">
                <a16:creationId xmlns:a16="http://schemas.microsoft.com/office/drawing/2014/main" id="{5C14D4DB-CFE9-4DD1-86D2-9DE5FE26DAB4}"/>
              </a:ext>
            </a:extLst>
          </p:cNvPr>
          <p:cNvSpPr txBox="1"/>
          <p:nvPr/>
        </p:nvSpPr>
        <p:spPr>
          <a:xfrm>
            <a:off x="1061336" y="3237732"/>
            <a:ext cx="6096000" cy="2585323"/>
          </a:xfrm>
          <a:prstGeom prst="rect">
            <a:avLst/>
          </a:prstGeom>
          <a:solidFill>
            <a:schemeClr val="tx1"/>
          </a:solidFill>
        </p:spPr>
        <p:txBody>
          <a:bodyPr wrap="square">
            <a:spAutoFit/>
          </a:bodyPr>
          <a:lstStyle/>
          <a:p>
            <a:pPr algn="l" fontAlgn="base"/>
            <a:r>
              <a:rPr lang="en-IN" b="1" i="0" dirty="0">
                <a:solidFill>
                  <a:srgbClr val="D171DD"/>
                </a:solidFill>
                <a:effectLst/>
                <a:latin typeface="inherit"/>
              </a:rPr>
              <a:t>namespace </a:t>
            </a:r>
            <a:r>
              <a:rPr lang="en-IN" b="0" i="1" dirty="0" err="1">
                <a:solidFill>
                  <a:srgbClr val="4284AE"/>
                </a:solidFill>
                <a:effectLst/>
                <a:latin typeface="inherit"/>
              </a:rPr>
              <a:t>FirstCoreMVCWebApplication.Models</a:t>
            </a:r>
            <a:r>
              <a:rPr lang="en-IN" b="1" i="0" dirty="0">
                <a:solidFill>
                  <a:srgbClr val="6B7C8B"/>
                </a:solidFill>
                <a:effectLst/>
                <a:latin typeface="inherit"/>
              </a:rPr>
              <a:t>{</a:t>
            </a:r>
            <a:endParaRPr lang="en-IN" b="0" i="0" dirty="0">
              <a:solidFill>
                <a:srgbClr val="596174"/>
              </a:solidFill>
              <a:effectLst/>
              <a:latin typeface="Inconsolata" pitchFamily="2"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a:t>
            </a:r>
            <a:r>
              <a:rPr lang="en-IN" b="1" i="0" dirty="0">
                <a:solidFill>
                  <a:srgbClr val="D171DD"/>
                </a:solidFill>
                <a:effectLst/>
                <a:latin typeface="inherit"/>
              </a:rPr>
              <a:t>class</a:t>
            </a:r>
            <a:r>
              <a:rPr lang="en-IN" b="0" i="0" dirty="0">
                <a:solidFill>
                  <a:srgbClr val="CFD5E0"/>
                </a:solidFill>
                <a:effectLst/>
                <a:latin typeface="inherit"/>
              </a:rPr>
              <a:t> Student</a:t>
            </a:r>
            <a:r>
              <a:rPr lang="en-IN" b="1" i="0" dirty="0">
                <a:solidFill>
                  <a:srgbClr val="6B7C8B"/>
                </a:solidFill>
                <a:effectLst/>
                <a:latin typeface="inherit"/>
              </a:rPr>
              <a:t>{</a:t>
            </a:r>
            <a:endParaRPr lang="en-IN" b="0" i="0" dirty="0">
              <a:solidFill>
                <a:srgbClr val="596174"/>
              </a:solidFill>
              <a:effectLst/>
              <a:latin typeface="Inconsolata" pitchFamily="2"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a:t>
            </a:r>
            <a:r>
              <a:rPr lang="en-IN" b="1" i="0" dirty="0">
                <a:solidFill>
                  <a:srgbClr val="D171DD"/>
                </a:solidFill>
                <a:effectLst/>
                <a:latin typeface="inherit"/>
              </a:rPr>
              <a:t>int</a:t>
            </a:r>
            <a:r>
              <a:rPr lang="en-IN" b="0" i="0" dirty="0">
                <a:solidFill>
                  <a:srgbClr val="CFD5E0"/>
                </a:solidFill>
                <a:effectLst/>
                <a:latin typeface="inherit"/>
              </a:rPr>
              <a:t> </a:t>
            </a:r>
            <a:r>
              <a:rPr lang="en-IN" b="0" i="0" dirty="0" err="1">
                <a:solidFill>
                  <a:srgbClr val="CFD5E0"/>
                </a:solidFill>
                <a:effectLst/>
                <a:latin typeface="inherit"/>
              </a:rPr>
              <a:t>StudentId</a:t>
            </a:r>
            <a:r>
              <a:rPr lang="en-IN" b="0" i="0" dirty="0">
                <a:solidFill>
                  <a:srgbClr val="CFD5E0"/>
                </a:solidFill>
                <a:effectLst/>
                <a:latin typeface="inherit"/>
              </a:rPr>
              <a:t> </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D171DD"/>
                </a:solidFill>
                <a:effectLst/>
                <a:latin typeface="inherit"/>
              </a:rPr>
              <a:t>get</a:t>
            </a:r>
            <a:r>
              <a:rPr lang="en-IN" b="0" i="0" dirty="0">
                <a:solidFill>
                  <a:srgbClr val="CFD5E0"/>
                </a:solidFill>
                <a:effectLst/>
                <a:latin typeface="inherit"/>
              </a:rPr>
              <a:t>; </a:t>
            </a:r>
            <a:r>
              <a:rPr lang="en-IN" b="1" i="0" dirty="0">
                <a:solidFill>
                  <a:srgbClr val="D171DD"/>
                </a:solidFill>
                <a:effectLst/>
                <a:latin typeface="inherit"/>
              </a:rPr>
              <a:t>set</a:t>
            </a:r>
            <a:r>
              <a:rPr lang="en-IN" b="0" i="0" dirty="0">
                <a:solidFill>
                  <a:srgbClr val="CFD5E0"/>
                </a:solidFill>
                <a:effectLst/>
                <a:latin typeface="inherit"/>
              </a:rPr>
              <a:t>; </a:t>
            </a:r>
            <a:r>
              <a:rPr lang="en-IN" b="1" i="0" dirty="0">
                <a:solidFill>
                  <a:srgbClr val="6B7C8B"/>
                </a:solidFill>
                <a:effectLst/>
                <a:latin typeface="inherit"/>
              </a:rPr>
              <a:t>}</a:t>
            </a:r>
            <a:endParaRPr lang="en-IN" b="0" i="0" dirty="0">
              <a:solidFill>
                <a:srgbClr val="596174"/>
              </a:solidFill>
              <a:effectLst/>
              <a:latin typeface="Inconsolata" pitchFamily="2"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string Name </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D171DD"/>
                </a:solidFill>
                <a:effectLst/>
                <a:latin typeface="inherit"/>
              </a:rPr>
              <a:t>get</a:t>
            </a:r>
            <a:r>
              <a:rPr lang="en-IN" b="0" i="0" dirty="0">
                <a:solidFill>
                  <a:srgbClr val="CFD5E0"/>
                </a:solidFill>
                <a:effectLst/>
                <a:latin typeface="inherit"/>
              </a:rPr>
              <a:t>; </a:t>
            </a:r>
            <a:r>
              <a:rPr lang="en-IN" b="1" i="0" dirty="0">
                <a:solidFill>
                  <a:srgbClr val="D171DD"/>
                </a:solidFill>
                <a:effectLst/>
                <a:latin typeface="inherit"/>
              </a:rPr>
              <a:t>set</a:t>
            </a:r>
            <a:r>
              <a:rPr lang="en-IN" b="0" i="0" dirty="0">
                <a:solidFill>
                  <a:srgbClr val="CFD5E0"/>
                </a:solidFill>
                <a:effectLst/>
                <a:latin typeface="inherit"/>
              </a:rPr>
              <a:t>; </a:t>
            </a:r>
            <a:r>
              <a:rPr lang="en-IN" b="1" i="0" dirty="0">
                <a:solidFill>
                  <a:srgbClr val="6B7C8B"/>
                </a:solidFill>
                <a:effectLst/>
                <a:latin typeface="inherit"/>
              </a:rPr>
              <a:t>}</a:t>
            </a:r>
            <a:endParaRPr lang="en-IN" b="0" i="0" dirty="0">
              <a:solidFill>
                <a:srgbClr val="596174"/>
              </a:solidFill>
              <a:effectLst/>
              <a:latin typeface="Inconsolata" pitchFamily="2"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string Branch </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D171DD"/>
                </a:solidFill>
                <a:effectLst/>
                <a:latin typeface="inherit"/>
              </a:rPr>
              <a:t>get</a:t>
            </a:r>
            <a:r>
              <a:rPr lang="en-IN" b="0" i="0" dirty="0">
                <a:solidFill>
                  <a:srgbClr val="CFD5E0"/>
                </a:solidFill>
                <a:effectLst/>
                <a:latin typeface="inherit"/>
              </a:rPr>
              <a:t>; </a:t>
            </a:r>
            <a:r>
              <a:rPr lang="en-IN" b="1" i="0" dirty="0">
                <a:solidFill>
                  <a:srgbClr val="D171DD"/>
                </a:solidFill>
                <a:effectLst/>
                <a:latin typeface="inherit"/>
              </a:rPr>
              <a:t>set</a:t>
            </a:r>
            <a:r>
              <a:rPr lang="en-IN" b="0" i="0" dirty="0">
                <a:solidFill>
                  <a:srgbClr val="CFD5E0"/>
                </a:solidFill>
                <a:effectLst/>
                <a:latin typeface="inherit"/>
              </a:rPr>
              <a:t>; </a:t>
            </a:r>
            <a:r>
              <a:rPr lang="en-IN" b="1" i="0" dirty="0">
                <a:solidFill>
                  <a:srgbClr val="6B7C8B"/>
                </a:solidFill>
                <a:effectLst/>
                <a:latin typeface="inherit"/>
              </a:rPr>
              <a:t>}</a:t>
            </a:r>
            <a:endParaRPr lang="en-IN" b="0" i="0" dirty="0">
              <a:solidFill>
                <a:srgbClr val="596174"/>
              </a:solidFill>
              <a:effectLst/>
              <a:latin typeface="Inconsolata" pitchFamily="2"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string Section </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D171DD"/>
                </a:solidFill>
                <a:effectLst/>
                <a:latin typeface="inherit"/>
              </a:rPr>
              <a:t>get</a:t>
            </a:r>
            <a:r>
              <a:rPr lang="en-IN" b="0" i="0" dirty="0">
                <a:solidFill>
                  <a:srgbClr val="CFD5E0"/>
                </a:solidFill>
                <a:effectLst/>
                <a:latin typeface="inherit"/>
              </a:rPr>
              <a:t>; </a:t>
            </a:r>
            <a:r>
              <a:rPr lang="en-IN" b="1" i="0" dirty="0">
                <a:solidFill>
                  <a:srgbClr val="D171DD"/>
                </a:solidFill>
                <a:effectLst/>
                <a:latin typeface="inherit"/>
              </a:rPr>
              <a:t>set</a:t>
            </a:r>
            <a:r>
              <a:rPr lang="en-IN" b="0" i="0" dirty="0">
                <a:solidFill>
                  <a:srgbClr val="CFD5E0"/>
                </a:solidFill>
                <a:effectLst/>
                <a:latin typeface="inherit"/>
              </a:rPr>
              <a:t>; </a:t>
            </a:r>
            <a:r>
              <a:rPr lang="en-IN" b="1" i="0" dirty="0">
                <a:solidFill>
                  <a:srgbClr val="6B7C8B"/>
                </a:solidFill>
                <a:effectLst/>
                <a:latin typeface="inherit"/>
              </a:rPr>
              <a:t>}</a:t>
            </a:r>
            <a:endParaRPr lang="en-IN" b="0" i="0" dirty="0">
              <a:solidFill>
                <a:srgbClr val="596174"/>
              </a:solidFill>
              <a:effectLst/>
              <a:latin typeface="Inconsolata" pitchFamily="2"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string Gender </a:t>
            </a:r>
            <a:r>
              <a:rPr lang="en-IN" b="1" i="0" dirty="0">
                <a:solidFill>
                  <a:srgbClr val="6B7C8B"/>
                </a:solidFill>
                <a:effectLst/>
                <a:latin typeface="inherit"/>
              </a:rPr>
              <a:t>{</a:t>
            </a:r>
            <a:r>
              <a:rPr lang="en-IN" b="0" i="0" dirty="0">
                <a:solidFill>
                  <a:srgbClr val="CFD5E0"/>
                </a:solidFill>
                <a:effectLst/>
                <a:latin typeface="inherit"/>
              </a:rPr>
              <a:t> </a:t>
            </a:r>
            <a:r>
              <a:rPr lang="en-IN" b="1" i="0" dirty="0">
                <a:solidFill>
                  <a:srgbClr val="D171DD"/>
                </a:solidFill>
                <a:effectLst/>
                <a:latin typeface="inherit"/>
              </a:rPr>
              <a:t>get</a:t>
            </a:r>
            <a:r>
              <a:rPr lang="en-IN" b="0" i="0" dirty="0">
                <a:solidFill>
                  <a:srgbClr val="CFD5E0"/>
                </a:solidFill>
                <a:effectLst/>
                <a:latin typeface="inherit"/>
              </a:rPr>
              <a:t>; </a:t>
            </a:r>
            <a:r>
              <a:rPr lang="en-IN" b="1" i="0" dirty="0">
                <a:solidFill>
                  <a:srgbClr val="D171DD"/>
                </a:solidFill>
                <a:effectLst/>
                <a:latin typeface="inherit"/>
              </a:rPr>
              <a:t>set</a:t>
            </a:r>
            <a:r>
              <a:rPr lang="en-IN" b="0" i="0" dirty="0">
                <a:solidFill>
                  <a:srgbClr val="CFD5E0"/>
                </a:solidFill>
                <a:effectLst/>
                <a:latin typeface="inherit"/>
              </a:rPr>
              <a:t>; </a:t>
            </a:r>
            <a:r>
              <a:rPr lang="en-IN" b="1" i="0" dirty="0">
                <a:solidFill>
                  <a:srgbClr val="6B7C8B"/>
                </a:solidFill>
                <a:effectLst/>
                <a:latin typeface="inherit"/>
              </a:rPr>
              <a:t>}</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   }</a:t>
            </a:r>
            <a:endParaRPr lang="en-IN" b="0" i="0" dirty="0">
              <a:solidFill>
                <a:srgbClr val="596174"/>
              </a:solidFill>
              <a:effectLst/>
              <a:latin typeface="Inconsolata" pitchFamily="2"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2" charset="0"/>
            </a:endParaRPr>
          </a:p>
        </p:txBody>
      </p:sp>
    </p:spTree>
    <p:extLst>
      <p:ext uri="{BB962C8B-B14F-4D97-AF65-F5344CB8AC3E}">
        <p14:creationId xmlns:p14="http://schemas.microsoft.com/office/powerpoint/2010/main" val="3621517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1448BD-0DA9-47B3-888E-62BB24A1B70B}"/>
              </a:ext>
            </a:extLst>
          </p:cNvPr>
          <p:cNvSpPr txBox="1"/>
          <p:nvPr/>
        </p:nvSpPr>
        <p:spPr>
          <a:xfrm>
            <a:off x="535858" y="0"/>
            <a:ext cx="11120284" cy="1107996"/>
          </a:xfrm>
          <a:prstGeom prst="rect">
            <a:avLst/>
          </a:prstGeom>
          <a:noFill/>
        </p:spPr>
        <p:txBody>
          <a:bodyPr wrap="square">
            <a:spAutoFit/>
          </a:bodyPr>
          <a:lstStyle/>
          <a:p>
            <a:pPr algn="ctr" fontAlgn="base"/>
            <a:r>
              <a:rPr lang="en-US" b="1" i="0" dirty="0">
                <a:solidFill>
                  <a:srgbClr val="000000"/>
                </a:solidFill>
                <a:effectLst/>
                <a:latin typeface="arial" panose="020B0604020202020204" pitchFamily="34" charset="0"/>
              </a:rPr>
              <a:t>C</a:t>
            </a:r>
            <a:r>
              <a:rPr lang="en-US" i="0" dirty="0">
                <a:solidFill>
                  <a:srgbClr val="000000"/>
                </a:solidFill>
                <a:effectLst/>
                <a:latin typeface="arial" panose="020B0604020202020204" pitchFamily="34" charset="0"/>
              </a:rPr>
              <a:t>re</a:t>
            </a:r>
            <a:r>
              <a:rPr lang="en-US" b="1" i="0" dirty="0">
                <a:solidFill>
                  <a:srgbClr val="000000"/>
                </a:solidFill>
                <a:effectLst/>
                <a:latin typeface="arial" panose="020B0604020202020204" pitchFamily="34" charset="0"/>
              </a:rPr>
              <a:t>ating Service Interface:</a:t>
            </a:r>
            <a:endParaRPr lang="en-US" b="0" i="0" dirty="0">
              <a:solidFill>
                <a:srgbClr val="3A3A3A"/>
              </a:solidFill>
              <a:effectLst/>
              <a:latin typeface="-apple-system"/>
            </a:endParaRPr>
          </a:p>
          <a:p>
            <a:pPr algn="just" fontAlgn="base"/>
            <a:r>
              <a:rPr lang="en-US" sz="1600" b="0" i="0" dirty="0">
                <a:solidFill>
                  <a:srgbClr val="000000"/>
                </a:solidFill>
                <a:effectLst/>
                <a:latin typeface="arial" panose="020B0604020202020204" pitchFamily="34" charset="0"/>
              </a:rPr>
              <a:t>Then create an interface with the name </a:t>
            </a:r>
            <a:r>
              <a:rPr lang="en-US" sz="1600" b="1" i="0" dirty="0" err="1">
                <a:solidFill>
                  <a:srgbClr val="000000"/>
                </a:solidFill>
                <a:effectLst/>
                <a:latin typeface="arial" panose="020B0604020202020204" pitchFamily="34" charset="0"/>
              </a:rPr>
              <a:t>IStudentRepository.cs</a:t>
            </a:r>
            <a:r>
              <a:rPr lang="en-US" sz="1600" b="1" i="0" dirty="0">
                <a:solidFill>
                  <a:srgbClr val="000000"/>
                </a:solidFill>
                <a:effectLst/>
                <a:latin typeface="arial" panose="020B0604020202020204" pitchFamily="34" charset="0"/>
              </a:rPr>
              <a:t> </a:t>
            </a:r>
            <a:r>
              <a:rPr lang="en-US" sz="1600" b="0" i="0" dirty="0">
                <a:solidFill>
                  <a:srgbClr val="000000"/>
                </a:solidFill>
                <a:effectLst/>
                <a:latin typeface="arial" panose="020B0604020202020204" pitchFamily="34" charset="0"/>
              </a:rPr>
              <a:t>within the Models folder. This interface is going to declare the list of methods that we can perform on the student data. So, open </a:t>
            </a:r>
            <a:r>
              <a:rPr lang="en-US" sz="1600" b="0" i="0" dirty="0" err="1">
                <a:solidFill>
                  <a:srgbClr val="000000"/>
                </a:solidFill>
                <a:effectLst/>
                <a:latin typeface="arial" panose="020B0604020202020204" pitchFamily="34" charset="0"/>
              </a:rPr>
              <a:t>IStudentRepository.cs</a:t>
            </a:r>
            <a:r>
              <a:rPr lang="en-US" sz="1600" b="0" i="0" dirty="0">
                <a:solidFill>
                  <a:srgbClr val="000000"/>
                </a:solidFill>
                <a:effectLst/>
                <a:latin typeface="arial" panose="020B0604020202020204" pitchFamily="34" charset="0"/>
              </a:rPr>
              <a:t> and then copy and paste the following code in it.</a:t>
            </a:r>
            <a:endParaRPr lang="en-US" sz="1600" b="0" i="0" dirty="0">
              <a:solidFill>
                <a:srgbClr val="212529"/>
              </a:solidFill>
              <a:effectLst/>
              <a:latin typeface="-apple-system"/>
            </a:endParaRPr>
          </a:p>
        </p:txBody>
      </p:sp>
      <p:sp>
        <p:nvSpPr>
          <p:cNvPr id="7" name="TextBox 6">
            <a:extLst>
              <a:ext uri="{FF2B5EF4-FFF2-40B4-BE49-F238E27FC236}">
                <a16:creationId xmlns:a16="http://schemas.microsoft.com/office/drawing/2014/main" id="{8F9CB1F3-69F4-4B07-A524-316B9ADD6630}"/>
              </a:ext>
            </a:extLst>
          </p:cNvPr>
          <p:cNvSpPr txBox="1"/>
          <p:nvPr/>
        </p:nvSpPr>
        <p:spPr>
          <a:xfrm>
            <a:off x="147484" y="1115682"/>
            <a:ext cx="4857135" cy="2339102"/>
          </a:xfrm>
          <a:prstGeom prst="rect">
            <a:avLst/>
          </a:prstGeom>
          <a:solidFill>
            <a:schemeClr val="tx1"/>
          </a:solidFill>
        </p:spPr>
        <p:txBody>
          <a:bodyPr wrap="square">
            <a:spAutoFit/>
          </a:bodyPr>
          <a:lstStyle/>
          <a:p>
            <a:pPr algn="l" fontAlgn="base"/>
            <a:r>
              <a:rPr lang="en-IN" sz="1600" b="1" i="0" dirty="0">
                <a:solidFill>
                  <a:srgbClr val="D171DD"/>
                </a:solidFill>
                <a:effectLst/>
                <a:latin typeface="inherit"/>
              </a:rPr>
              <a:t>using </a:t>
            </a:r>
            <a:r>
              <a:rPr lang="en-IN" sz="1600" b="0" i="1" dirty="0" err="1">
                <a:solidFill>
                  <a:srgbClr val="4284AE"/>
                </a:solidFill>
                <a:effectLst/>
                <a:latin typeface="inherit"/>
              </a:rPr>
              <a:t>System.Collections.Generic</a:t>
            </a:r>
            <a:r>
              <a:rPr lang="en-IN" sz="1600" b="0" i="1" dirty="0">
                <a:solidFill>
                  <a:srgbClr val="4284AE"/>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D171DD"/>
                </a:solidFill>
                <a:effectLst/>
                <a:latin typeface="inherit"/>
              </a:rPr>
              <a:t>namespace </a:t>
            </a:r>
            <a:r>
              <a:rPr lang="en-IN" sz="1600" b="0" i="1" dirty="0" err="1">
                <a:solidFill>
                  <a:srgbClr val="4284AE"/>
                </a:solidFill>
                <a:effectLst/>
                <a:latin typeface="inherit"/>
              </a:rPr>
              <a:t>FirstCoreMVCWebApplication.Models</a:t>
            </a:r>
            <a:endParaRPr lang="en-IN" sz="1600" b="0" i="0" dirty="0">
              <a:solidFill>
                <a:srgbClr val="596174"/>
              </a:solidFill>
              <a:effectLst/>
              <a:latin typeface="Inconsolata" pitchFamily="1" charset="0"/>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D171DD"/>
                </a:solidFill>
                <a:effectLst/>
                <a:latin typeface="inherit"/>
              </a:rPr>
              <a:t>public</a:t>
            </a:r>
            <a:r>
              <a:rPr lang="en-IN" sz="1600" b="0" i="0" dirty="0">
                <a:solidFill>
                  <a:srgbClr val="CFD5E0"/>
                </a:solidFill>
                <a:effectLst/>
                <a:latin typeface="inherit"/>
              </a:rPr>
              <a:t> </a:t>
            </a:r>
            <a:r>
              <a:rPr lang="en-IN" sz="1600" b="1" i="0" dirty="0">
                <a:solidFill>
                  <a:srgbClr val="D171DD"/>
                </a:solidFill>
                <a:effectLst/>
                <a:latin typeface="inherit"/>
              </a:rPr>
              <a:t>interface</a:t>
            </a:r>
            <a:r>
              <a:rPr lang="en-IN" sz="1600" b="0" i="0" dirty="0">
                <a:solidFill>
                  <a:srgbClr val="CFD5E0"/>
                </a:solidFill>
                <a:effectLst/>
                <a:latin typeface="inherit"/>
              </a:rPr>
              <a:t> </a:t>
            </a:r>
            <a:r>
              <a:rPr lang="en-IN" sz="1600" b="0" i="0" dirty="0" err="1">
                <a:solidFill>
                  <a:srgbClr val="CFD5E0"/>
                </a:solidFill>
                <a:effectLst/>
                <a:latin typeface="inherit"/>
              </a:rPr>
              <a:t>IStudentRepository</a:t>
            </a:r>
            <a:endParaRPr lang="en-IN" sz="1600" b="0" i="0" dirty="0">
              <a:solidFill>
                <a:srgbClr val="596174"/>
              </a:solidFill>
              <a:effectLst/>
              <a:latin typeface="Inconsolata" pitchFamily="1" charset="0"/>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pitchFamily="1" charset="0"/>
            </a:endParaRPr>
          </a:p>
          <a:p>
            <a:pPr algn="l" fontAlgn="base"/>
            <a:r>
              <a:rPr lang="en-IN" sz="1600" b="0" i="0" dirty="0">
                <a:solidFill>
                  <a:srgbClr val="CFD5E0"/>
                </a:solidFill>
                <a:effectLst/>
                <a:latin typeface="inherit"/>
              </a:rPr>
              <a:t>Student </a:t>
            </a:r>
            <a:r>
              <a:rPr lang="en-IN" sz="1600" b="0" i="0" dirty="0" err="1">
                <a:solidFill>
                  <a:srgbClr val="4284AE"/>
                </a:solidFill>
                <a:effectLst/>
                <a:latin typeface="inherit"/>
              </a:rPr>
              <a:t>GetStudentById</a:t>
            </a:r>
            <a:r>
              <a:rPr lang="en-IN" sz="1600" b="1" i="0" dirty="0">
                <a:solidFill>
                  <a:srgbClr val="6B7C8B"/>
                </a:solidFill>
                <a:effectLst/>
                <a:latin typeface="inherit"/>
              </a:rPr>
              <a:t>(</a:t>
            </a:r>
            <a:r>
              <a:rPr lang="en-IN" sz="1600" b="1" i="0" dirty="0">
                <a:solidFill>
                  <a:srgbClr val="D171DD"/>
                </a:solidFill>
                <a:effectLst/>
                <a:latin typeface="inherit"/>
              </a:rPr>
              <a:t>int</a:t>
            </a:r>
            <a:r>
              <a:rPr lang="en-IN" sz="1600" b="0" i="0" dirty="0">
                <a:solidFill>
                  <a:srgbClr val="CFD5E0"/>
                </a:solidFill>
                <a:effectLst/>
                <a:latin typeface="inherit"/>
              </a:rPr>
              <a:t> </a:t>
            </a:r>
            <a:r>
              <a:rPr lang="en-IN" sz="1600" b="0" i="0" dirty="0" err="1">
                <a:solidFill>
                  <a:srgbClr val="CFD5E0"/>
                </a:solidFill>
                <a:effectLst/>
                <a:latin typeface="inherit"/>
              </a:rPr>
              <a:t>StudentId</a:t>
            </a:r>
            <a:r>
              <a:rPr lang="en-IN" sz="1600" b="1" i="0" dirty="0">
                <a:solidFill>
                  <a:srgbClr val="6B7C8B"/>
                </a:solidFill>
                <a:effectLst/>
                <a:latin typeface="inherit"/>
              </a:rPr>
              <a:t>)</a:t>
            </a:r>
            <a:r>
              <a:rPr lang="en-IN" sz="1600" b="0" i="0" dirty="0">
                <a:solidFill>
                  <a:srgbClr val="CFD5E0"/>
                </a:solidFill>
                <a:effectLst/>
                <a:latin typeface="inherit"/>
              </a:rPr>
              <a:t>;</a:t>
            </a:r>
            <a:endParaRPr lang="en-IN" sz="1600" b="0" i="0" dirty="0">
              <a:solidFill>
                <a:srgbClr val="596174"/>
              </a:solidFill>
              <a:effectLst/>
              <a:latin typeface="Inconsolata" pitchFamily="1" charset="0"/>
            </a:endParaRPr>
          </a:p>
          <a:p>
            <a:pPr algn="l" fontAlgn="base"/>
            <a:r>
              <a:rPr lang="en-IN" sz="1600" b="0" i="0" dirty="0">
                <a:solidFill>
                  <a:srgbClr val="CFD5E0"/>
                </a:solidFill>
                <a:effectLst/>
                <a:latin typeface="inherit"/>
              </a:rPr>
              <a:t>List</a:t>
            </a:r>
            <a:r>
              <a:rPr lang="en-IN" sz="1600" b="1" i="0" dirty="0">
                <a:solidFill>
                  <a:srgbClr val="6B7C8B"/>
                </a:solidFill>
                <a:effectLst/>
                <a:latin typeface="inherit"/>
              </a:rPr>
              <a:t>&lt;</a:t>
            </a:r>
            <a:r>
              <a:rPr lang="en-IN" sz="1600" b="0" i="0" dirty="0">
                <a:solidFill>
                  <a:srgbClr val="CFD5E0"/>
                </a:solidFill>
                <a:effectLst/>
                <a:latin typeface="inherit"/>
              </a:rPr>
              <a:t>Student</a:t>
            </a:r>
            <a:r>
              <a:rPr lang="en-IN" sz="1600" b="1" i="0" dirty="0">
                <a:solidFill>
                  <a:srgbClr val="6B7C8B"/>
                </a:solidFill>
                <a:effectLst/>
                <a:latin typeface="inherit"/>
              </a:rPr>
              <a:t>&gt;</a:t>
            </a:r>
            <a:r>
              <a:rPr lang="en-IN" sz="1600" b="0" i="0" dirty="0">
                <a:solidFill>
                  <a:srgbClr val="CFD5E0"/>
                </a:solidFill>
                <a:effectLst/>
                <a:latin typeface="inherit"/>
              </a:rPr>
              <a:t> </a:t>
            </a:r>
            <a:r>
              <a:rPr lang="en-IN" sz="1600" b="0" i="0" dirty="0" err="1">
                <a:solidFill>
                  <a:srgbClr val="4284AE"/>
                </a:solidFill>
                <a:effectLst/>
                <a:latin typeface="inherit"/>
              </a:rPr>
              <a:t>GetAllStudent</a:t>
            </a:r>
            <a:r>
              <a:rPr lang="en-IN" sz="1600" b="1" i="0" dirty="0">
                <a:solidFill>
                  <a:srgbClr val="6B7C8B"/>
                </a:solidFill>
                <a:effectLst/>
                <a:latin typeface="inherit"/>
              </a:rPr>
              <a:t>()</a:t>
            </a:r>
            <a:r>
              <a:rPr lang="en-IN" sz="1600" b="0" i="0" dirty="0">
                <a:solidFill>
                  <a:srgbClr val="CFD5E0"/>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6B7C8B"/>
                </a:solidFill>
                <a:effectLst/>
                <a:latin typeface="inherit"/>
              </a:rPr>
              <a:t>      }</a:t>
            </a:r>
            <a:endParaRPr lang="en-IN" sz="1600" b="0" i="0" dirty="0">
              <a:solidFill>
                <a:srgbClr val="596174"/>
              </a:solidFill>
              <a:effectLst/>
              <a:latin typeface="Inconsolata" pitchFamily="1" charset="0"/>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pitchFamily="1" charset="0"/>
            </a:endParaRPr>
          </a:p>
        </p:txBody>
      </p:sp>
      <p:sp>
        <p:nvSpPr>
          <p:cNvPr id="9" name="TextBox 8">
            <a:extLst>
              <a:ext uri="{FF2B5EF4-FFF2-40B4-BE49-F238E27FC236}">
                <a16:creationId xmlns:a16="http://schemas.microsoft.com/office/drawing/2014/main" id="{B590DB37-D4A9-407D-AE84-FFB57FD1ED91}"/>
              </a:ext>
            </a:extLst>
          </p:cNvPr>
          <p:cNvSpPr txBox="1"/>
          <p:nvPr/>
        </p:nvSpPr>
        <p:spPr>
          <a:xfrm>
            <a:off x="5560142" y="869962"/>
            <a:ext cx="6096000" cy="1877437"/>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Creating Service Implementation:</a:t>
            </a:r>
            <a:endParaRPr lang="en-US" b="0" i="0" dirty="0">
              <a:solidFill>
                <a:srgbClr val="3A3A3A"/>
              </a:solidFill>
              <a:effectLst/>
              <a:latin typeface="-apple-system"/>
            </a:endParaRPr>
          </a:p>
          <a:p>
            <a:pPr algn="just" fontAlgn="base"/>
            <a:r>
              <a:rPr lang="en-US" sz="1600" b="0" i="0" dirty="0">
                <a:solidFill>
                  <a:srgbClr val="000000"/>
                </a:solidFill>
                <a:effectLst/>
                <a:latin typeface="arial" panose="020B0604020202020204" pitchFamily="34" charset="0"/>
              </a:rPr>
              <a:t>Create a class file with the name </a:t>
            </a:r>
            <a:r>
              <a:rPr lang="en-US" sz="1600" b="1" i="0" dirty="0" err="1">
                <a:solidFill>
                  <a:srgbClr val="000000"/>
                </a:solidFill>
                <a:effectLst/>
                <a:latin typeface="arial" panose="020B0604020202020204" pitchFamily="34" charset="0"/>
              </a:rPr>
              <a:t>TestStudentRepository.cs</a:t>
            </a:r>
            <a:r>
              <a:rPr lang="en-US" sz="1600" b="0" i="0" dirty="0">
                <a:solidFill>
                  <a:srgbClr val="000000"/>
                </a:solidFill>
                <a:effectLst/>
                <a:latin typeface="arial" panose="020B0604020202020204" pitchFamily="34" charset="0"/>
              </a:rPr>
              <a:t> within the same Models folder. Then open the </a:t>
            </a:r>
            <a:r>
              <a:rPr lang="en-US" sz="1600" b="0" i="0" dirty="0" err="1">
                <a:solidFill>
                  <a:srgbClr val="000000"/>
                </a:solidFill>
                <a:effectLst/>
                <a:latin typeface="arial" panose="020B0604020202020204" pitchFamily="34" charset="0"/>
              </a:rPr>
              <a:t>TestStudentRepository.cs</a:t>
            </a:r>
            <a:r>
              <a:rPr lang="en-US" sz="1600" b="0" i="0" dirty="0">
                <a:solidFill>
                  <a:srgbClr val="000000"/>
                </a:solidFill>
                <a:effectLst/>
                <a:latin typeface="arial" panose="020B0604020202020204" pitchFamily="34" charset="0"/>
              </a:rPr>
              <a:t> file and copy-paste the following code in it. This class implements the </a:t>
            </a:r>
            <a:r>
              <a:rPr lang="en-US" sz="1600" b="1" i="0" dirty="0" err="1">
                <a:solidFill>
                  <a:srgbClr val="000000"/>
                </a:solidFill>
                <a:effectLst/>
                <a:latin typeface="arial" panose="020B0604020202020204" pitchFamily="34" charset="0"/>
              </a:rPr>
              <a:t>IStudentRepository</a:t>
            </a:r>
            <a:r>
              <a:rPr lang="en-US" sz="1600" b="1" i="0" dirty="0">
                <a:solidFill>
                  <a:srgbClr val="000000"/>
                </a:solidFill>
                <a:effectLst/>
                <a:latin typeface="arial" panose="020B0604020202020204" pitchFamily="34" charset="0"/>
              </a:rPr>
              <a:t> </a:t>
            </a:r>
            <a:r>
              <a:rPr lang="en-US" sz="1600" b="0" i="0" dirty="0">
                <a:solidFill>
                  <a:srgbClr val="000000"/>
                </a:solidFill>
                <a:effectLst/>
                <a:latin typeface="arial" panose="020B0604020202020204" pitchFamily="34" charset="0"/>
              </a:rPr>
              <a:t>interface by providing the implementation of the two methods declared in that interface</a:t>
            </a:r>
            <a:r>
              <a:rPr lang="en-US" b="0" i="0" dirty="0">
                <a:solidFill>
                  <a:srgbClr val="000000"/>
                </a:solidFill>
                <a:effectLst/>
                <a:latin typeface="arial" panose="020B0604020202020204" pitchFamily="34" charset="0"/>
              </a:rPr>
              <a:t>.</a:t>
            </a:r>
            <a:endParaRPr lang="en-US" b="0" i="0" dirty="0">
              <a:solidFill>
                <a:srgbClr val="212529"/>
              </a:solidFill>
              <a:effectLst/>
              <a:latin typeface="-apple-system"/>
            </a:endParaRPr>
          </a:p>
        </p:txBody>
      </p:sp>
      <p:sp>
        <p:nvSpPr>
          <p:cNvPr id="11" name="TextBox 10">
            <a:extLst>
              <a:ext uri="{FF2B5EF4-FFF2-40B4-BE49-F238E27FC236}">
                <a16:creationId xmlns:a16="http://schemas.microsoft.com/office/drawing/2014/main" id="{FF401DE8-2688-4642-9C7D-3B83DCC573CA}"/>
              </a:ext>
            </a:extLst>
          </p:cNvPr>
          <p:cNvSpPr txBox="1"/>
          <p:nvPr/>
        </p:nvSpPr>
        <p:spPr>
          <a:xfrm>
            <a:off x="1759974" y="2896114"/>
            <a:ext cx="11120284" cy="4185761"/>
          </a:xfrm>
          <a:prstGeom prst="rect">
            <a:avLst/>
          </a:prstGeom>
          <a:solidFill>
            <a:schemeClr val="tx1"/>
          </a:solidFill>
        </p:spPr>
        <p:txBody>
          <a:bodyPr wrap="square">
            <a:spAutoFit/>
          </a:bodyPr>
          <a:lstStyle/>
          <a:p>
            <a:pPr algn="l" fontAlgn="base"/>
            <a:r>
              <a:rPr lang="en-IN" sz="1400" b="1" i="0" dirty="0">
                <a:solidFill>
                  <a:srgbClr val="D171DD"/>
                </a:solidFill>
                <a:effectLst/>
                <a:latin typeface="inherit"/>
              </a:rPr>
              <a:t>using </a:t>
            </a:r>
            <a:r>
              <a:rPr lang="en-IN" sz="1400" b="0" i="1" dirty="0" err="1">
                <a:solidFill>
                  <a:srgbClr val="4284AE"/>
                </a:solidFill>
                <a:effectLst/>
                <a:latin typeface="inherit"/>
              </a:rPr>
              <a:t>System.Collections.Generic</a:t>
            </a:r>
            <a:r>
              <a:rPr lang="en-IN" sz="1400" b="0" i="1" dirty="0">
                <a:solidFill>
                  <a:srgbClr val="4284AE"/>
                </a:solidFill>
                <a:effectLst/>
                <a:latin typeface="inherit"/>
              </a:rPr>
              <a:t>;</a:t>
            </a:r>
            <a:endParaRPr lang="en-IN" sz="1400" b="0" i="0" dirty="0">
              <a:solidFill>
                <a:srgbClr val="596174"/>
              </a:solidFill>
              <a:effectLst/>
              <a:latin typeface="Inconsolata" pitchFamily="1" charset="0"/>
            </a:endParaRPr>
          </a:p>
          <a:p>
            <a:pPr algn="l" fontAlgn="base"/>
            <a:r>
              <a:rPr lang="en-IN" sz="1400" b="1" i="0" dirty="0">
                <a:solidFill>
                  <a:srgbClr val="D171DD"/>
                </a:solidFill>
                <a:effectLst/>
                <a:latin typeface="inherit"/>
              </a:rPr>
              <a:t>using </a:t>
            </a:r>
            <a:r>
              <a:rPr lang="en-IN" sz="1400" b="0" i="1" dirty="0" err="1">
                <a:solidFill>
                  <a:srgbClr val="4284AE"/>
                </a:solidFill>
                <a:effectLst/>
                <a:latin typeface="inherit"/>
              </a:rPr>
              <a:t>System.Linq</a:t>
            </a:r>
            <a:r>
              <a:rPr lang="en-IN" sz="1400" b="0" i="1" dirty="0">
                <a:solidFill>
                  <a:srgbClr val="4284AE"/>
                </a:solidFill>
                <a:effectLst/>
                <a:latin typeface="inherit"/>
              </a:rPr>
              <a:t>;</a:t>
            </a:r>
            <a:endParaRPr lang="en-IN" sz="1400" b="0" i="0" dirty="0">
              <a:solidFill>
                <a:srgbClr val="596174"/>
              </a:solidFill>
              <a:effectLst/>
              <a:latin typeface="Inconsolata" pitchFamily="1" charset="0"/>
            </a:endParaRPr>
          </a:p>
          <a:p>
            <a:pPr algn="l" fontAlgn="base"/>
            <a:r>
              <a:rPr lang="en-IN" sz="1400" b="1" i="0" dirty="0">
                <a:solidFill>
                  <a:srgbClr val="D171DD"/>
                </a:solidFill>
                <a:effectLst/>
                <a:latin typeface="inherit"/>
              </a:rPr>
              <a:t>namespace </a:t>
            </a:r>
            <a:r>
              <a:rPr lang="en-IN" sz="1400" b="0" i="1" dirty="0" err="1">
                <a:solidFill>
                  <a:srgbClr val="4284AE"/>
                </a:solidFill>
                <a:effectLst/>
                <a:latin typeface="inherit"/>
              </a:rPr>
              <a:t>FirstCoreMVCWebApplication.Models</a:t>
            </a:r>
            <a:r>
              <a:rPr lang="en-IN" sz="1400" b="0" i="1" dirty="0">
                <a:solidFill>
                  <a:srgbClr val="4284AE"/>
                </a:solidFill>
                <a:effectLst/>
                <a:latin typeface="inherit"/>
              </a:rPr>
              <a:t> </a:t>
            </a:r>
          </a:p>
          <a:p>
            <a:pPr algn="l" fontAlgn="base"/>
            <a:r>
              <a:rPr lang="en-IN" sz="1400" b="0" i="1" dirty="0">
                <a:solidFill>
                  <a:srgbClr val="4284AE"/>
                </a:solidFill>
                <a:effectLst/>
                <a:latin typeface="inherit"/>
              </a:rPr>
              <a:t> </a:t>
            </a:r>
            <a:r>
              <a:rPr lang="en-IN" sz="1400" b="1" i="0" dirty="0">
                <a:solidFill>
                  <a:srgbClr val="6B7C8B"/>
                </a:solidFill>
                <a:effectLst/>
                <a:latin typeface="inherit"/>
              </a:rPr>
              <a:t>{</a:t>
            </a:r>
            <a:endParaRPr lang="en-IN" sz="1400" b="0" i="0" dirty="0">
              <a:solidFill>
                <a:srgbClr val="596174"/>
              </a:solidFill>
              <a:effectLst/>
              <a:latin typeface="Inconsolata" pitchFamily="1" charset="0"/>
            </a:endParaRPr>
          </a:p>
          <a:p>
            <a:pPr algn="l" fontAlgn="base"/>
            <a:r>
              <a:rPr lang="en-IN" sz="1400" b="1" i="0" dirty="0">
                <a:solidFill>
                  <a:srgbClr val="D171DD"/>
                </a:solidFill>
                <a:effectLst/>
                <a:latin typeface="inherit"/>
              </a:rPr>
              <a:t>public</a:t>
            </a:r>
            <a:r>
              <a:rPr lang="en-IN" sz="1400" b="0" i="0" dirty="0">
                <a:solidFill>
                  <a:srgbClr val="CFD5E0"/>
                </a:solidFill>
                <a:effectLst/>
                <a:latin typeface="inherit"/>
              </a:rPr>
              <a:t> </a:t>
            </a:r>
            <a:r>
              <a:rPr lang="en-IN" sz="1400" b="1" i="0" dirty="0">
                <a:solidFill>
                  <a:srgbClr val="D171DD"/>
                </a:solidFill>
                <a:effectLst/>
                <a:latin typeface="inherit"/>
              </a:rPr>
              <a:t>class</a:t>
            </a:r>
            <a:r>
              <a:rPr lang="en-IN" sz="1400" b="0" i="0" dirty="0">
                <a:solidFill>
                  <a:srgbClr val="CFD5E0"/>
                </a:solidFill>
                <a:effectLst/>
                <a:latin typeface="inherit"/>
              </a:rPr>
              <a:t> </a:t>
            </a:r>
            <a:r>
              <a:rPr lang="en-IN" sz="1400" b="0" i="0" dirty="0" err="1">
                <a:solidFill>
                  <a:srgbClr val="CFD5E0"/>
                </a:solidFill>
                <a:effectLst/>
                <a:latin typeface="inherit"/>
              </a:rPr>
              <a:t>TestStudentRepository</a:t>
            </a:r>
            <a:r>
              <a:rPr lang="en-IN" sz="1400" b="0" i="0" dirty="0">
                <a:solidFill>
                  <a:srgbClr val="CFD5E0"/>
                </a:solidFill>
                <a:effectLst/>
                <a:latin typeface="inherit"/>
              </a:rPr>
              <a:t> : </a:t>
            </a:r>
            <a:r>
              <a:rPr lang="en-IN" sz="1400" b="0" i="0" dirty="0" err="1">
                <a:solidFill>
                  <a:srgbClr val="CFD5E0"/>
                </a:solidFill>
                <a:effectLst/>
                <a:latin typeface="inherit"/>
              </a:rPr>
              <a:t>IStudentRepository</a:t>
            </a:r>
            <a:endParaRPr lang="en-IN" sz="1400" b="0" i="0" dirty="0">
              <a:solidFill>
                <a:srgbClr val="CFD5E0"/>
              </a:solidFill>
              <a:effectLst/>
              <a:latin typeface="inherit"/>
            </a:endParaRPr>
          </a:p>
          <a:p>
            <a:pPr algn="l" fontAlgn="base"/>
            <a:r>
              <a:rPr lang="en-IN" sz="1400" b="1" i="0" dirty="0">
                <a:solidFill>
                  <a:srgbClr val="6B7C8B"/>
                </a:solidFill>
                <a:effectLst/>
                <a:latin typeface="inherit"/>
              </a:rPr>
              <a:t>{</a:t>
            </a:r>
            <a:endParaRPr lang="en-IN" sz="1400" b="0" i="0" dirty="0">
              <a:solidFill>
                <a:srgbClr val="596174"/>
              </a:solidFill>
              <a:effectLst/>
              <a:latin typeface="Inconsolata" pitchFamily="1" charset="0"/>
            </a:endParaRPr>
          </a:p>
          <a:p>
            <a:pPr algn="l" fontAlgn="base"/>
            <a:r>
              <a:rPr lang="en-IN" sz="1400" b="1" i="0" dirty="0">
                <a:solidFill>
                  <a:srgbClr val="D171DD"/>
                </a:solidFill>
                <a:effectLst/>
                <a:latin typeface="inherit"/>
              </a:rPr>
              <a:t>public</a:t>
            </a:r>
            <a:r>
              <a:rPr lang="en-IN" sz="1400" b="0" i="0" dirty="0">
                <a:solidFill>
                  <a:srgbClr val="CFD5E0"/>
                </a:solidFill>
                <a:effectLst/>
                <a:latin typeface="inherit"/>
              </a:rPr>
              <a:t> List</a:t>
            </a:r>
            <a:r>
              <a:rPr lang="en-IN" sz="1400" b="1" i="0" dirty="0">
                <a:solidFill>
                  <a:srgbClr val="6B7C8B"/>
                </a:solidFill>
                <a:effectLst/>
                <a:latin typeface="inherit"/>
              </a:rPr>
              <a:t>&lt;</a:t>
            </a:r>
            <a:r>
              <a:rPr lang="en-IN" sz="1400" b="0" i="0" dirty="0">
                <a:solidFill>
                  <a:srgbClr val="CFD5E0"/>
                </a:solidFill>
                <a:effectLst/>
                <a:latin typeface="inherit"/>
              </a:rPr>
              <a:t>Student</a:t>
            </a:r>
            <a:r>
              <a:rPr lang="en-IN" sz="1400" b="1" i="0" dirty="0">
                <a:solidFill>
                  <a:srgbClr val="6B7C8B"/>
                </a:solidFill>
                <a:effectLst/>
                <a:latin typeface="inherit"/>
              </a:rPr>
              <a:t>&gt;</a:t>
            </a:r>
            <a:r>
              <a:rPr lang="en-IN" sz="1400" b="0" i="0" dirty="0">
                <a:solidFill>
                  <a:srgbClr val="CFD5E0"/>
                </a:solidFill>
                <a:effectLst/>
                <a:latin typeface="inherit"/>
              </a:rPr>
              <a:t> </a:t>
            </a:r>
            <a:r>
              <a:rPr lang="en-IN" sz="1400" b="0" i="0" dirty="0" err="1">
                <a:solidFill>
                  <a:srgbClr val="4284AE"/>
                </a:solidFill>
                <a:effectLst/>
                <a:latin typeface="inherit"/>
              </a:rPr>
              <a:t>DataSource</a:t>
            </a:r>
            <a:r>
              <a:rPr lang="en-IN" sz="1400" b="1" i="0" dirty="0">
                <a:solidFill>
                  <a:srgbClr val="6B7C8B"/>
                </a:solidFill>
                <a:effectLst/>
                <a:latin typeface="inherit"/>
              </a:rPr>
              <a:t>() {</a:t>
            </a:r>
            <a:endParaRPr lang="en-IN" sz="1400" b="0" i="0" dirty="0">
              <a:solidFill>
                <a:srgbClr val="596174"/>
              </a:solidFill>
              <a:effectLst/>
              <a:latin typeface="Inconsolata" pitchFamily="1" charset="0"/>
            </a:endParaRPr>
          </a:p>
          <a:p>
            <a:pPr algn="l" fontAlgn="base"/>
            <a:r>
              <a:rPr lang="en-IN" sz="1400" b="1" i="0" dirty="0">
                <a:solidFill>
                  <a:srgbClr val="D171DD"/>
                </a:solidFill>
                <a:effectLst/>
                <a:latin typeface="inherit"/>
              </a:rPr>
              <a:t>return</a:t>
            </a:r>
            <a:r>
              <a:rPr lang="en-IN" sz="1400" b="0" i="0" dirty="0">
                <a:solidFill>
                  <a:srgbClr val="CFD5E0"/>
                </a:solidFill>
                <a:effectLst/>
                <a:latin typeface="inherit"/>
              </a:rPr>
              <a:t> </a:t>
            </a:r>
            <a:r>
              <a:rPr lang="en-IN" sz="1400" b="0" i="0" dirty="0">
                <a:solidFill>
                  <a:srgbClr val="4284AE"/>
                </a:solidFill>
                <a:effectLst/>
                <a:latin typeface="inherit"/>
              </a:rPr>
              <a:t>new</a:t>
            </a:r>
            <a:r>
              <a:rPr lang="en-IN" sz="1400" b="0" i="0" dirty="0">
                <a:solidFill>
                  <a:srgbClr val="CFD5E0"/>
                </a:solidFill>
                <a:effectLst/>
                <a:latin typeface="inherit"/>
              </a:rPr>
              <a:t> List</a:t>
            </a:r>
            <a:r>
              <a:rPr lang="en-IN" sz="1400" b="1" i="0" dirty="0">
                <a:solidFill>
                  <a:srgbClr val="6B7C8B"/>
                </a:solidFill>
                <a:effectLst/>
                <a:latin typeface="inherit"/>
              </a:rPr>
              <a:t>&lt;</a:t>
            </a:r>
            <a:r>
              <a:rPr lang="en-IN" sz="1400" b="0" i="0" dirty="0">
                <a:solidFill>
                  <a:srgbClr val="CFD5E0"/>
                </a:solidFill>
                <a:effectLst/>
                <a:latin typeface="inherit"/>
              </a:rPr>
              <a:t>Student</a:t>
            </a:r>
            <a:r>
              <a:rPr lang="en-IN" sz="1400" b="1" i="0" dirty="0">
                <a:solidFill>
                  <a:srgbClr val="6B7C8B"/>
                </a:solidFill>
                <a:effectLst/>
                <a:latin typeface="inherit"/>
              </a:rPr>
              <a:t>&gt;(){</a:t>
            </a:r>
            <a:endParaRPr lang="en-IN" sz="1400" b="0" i="0" dirty="0">
              <a:solidFill>
                <a:srgbClr val="596174"/>
              </a:solidFill>
              <a:effectLst/>
              <a:latin typeface="Inconsolata" pitchFamily="1" charset="0"/>
            </a:endParaRPr>
          </a:p>
          <a:p>
            <a:pPr algn="l" fontAlgn="base"/>
            <a:r>
              <a:rPr lang="en-IN" sz="1400" b="0" i="0" dirty="0">
                <a:solidFill>
                  <a:srgbClr val="4284AE"/>
                </a:solidFill>
                <a:effectLst/>
                <a:latin typeface="inherit"/>
              </a:rPr>
              <a:t>new</a:t>
            </a:r>
            <a:r>
              <a:rPr lang="en-IN" sz="1400" b="0" i="0" dirty="0">
                <a:solidFill>
                  <a:srgbClr val="CFD5E0"/>
                </a:solidFill>
                <a:effectLst/>
                <a:latin typeface="inherit"/>
              </a:rPr>
              <a:t> </a:t>
            </a:r>
            <a:r>
              <a:rPr lang="en-IN" sz="1400" b="0" i="0" dirty="0">
                <a:solidFill>
                  <a:srgbClr val="4284AE"/>
                </a:solidFill>
                <a:effectLst/>
                <a:latin typeface="inherit"/>
              </a:rPr>
              <a:t>Student</a:t>
            </a:r>
            <a:r>
              <a:rPr lang="en-IN" sz="1400" b="1" i="0" dirty="0">
                <a:solidFill>
                  <a:srgbClr val="6B7C8B"/>
                </a:solidFill>
                <a:effectLst/>
                <a:latin typeface="inherit"/>
              </a:rPr>
              <a:t>()</a:t>
            </a:r>
            <a:r>
              <a:rPr lang="en-IN" sz="1400" b="0" i="0" dirty="0">
                <a:solidFill>
                  <a:srgbClr val="CFD5E0"/>
                </a:solidFill>
                <a:effectLst/>
                <a:latin typeface="inherit"/>
              </a:rPr>
              <a:t> </a:t>
            </a:r>
            <a:r>
              <a:rPr lang="en-IN" sz="1400" b="1" i="0" dirty="0">
                <a:solidFill>
                  <a:srgbClr val="6B7C8B"/>
                </a:solidFill>
                <a:effectLst/>
                <a:latin typeface="inherit"/>
              </a:rPr>
              <a:t>{</a:t>
            </a:r>
            <a:r>
              <a:rPr lang="en-IN" sz="1400" b="0" i="0" dirty="0">
                <a:solidFill>
                  <a:srgbClr val="CFD5E0"/>
                </a:solidFill>
                <a:effectLst/>
                <a:latin typeface="inherit"/>
              </a:rPr>
              <a:t> </a:t>
            </a:r>
            <a:r>
              <a:rPr lang="en-IN" sz="1400" b="0" i="0" dirty="0" err="1">
                <a:solidFill>
                  <a:srgbClr val="CFD5E0"/>
                </a:solidFill>
                <a:effectLst/>
                <a:latin typeface="inherit"/>
              </a:rPr>
              <a:t>StudentId</a:t>
            </a:r>
            <a:r>
              <a:rPr lang="en-IN" sz="1400" b="0" i="0" dirty="0">
                <a:solidFill>
                  <a:srgbClr val="CFD5E0"/>
                </a:solidFill>
                <a:effectLst/>
                <a:latin typeface="inherit"/>
              </a:rPr>
              <a:t> = </a:t>
            </a:r>
            <a:r>
              <a:rPr lang="en-IN" sz="1400" b="0" i="0" dirty="0">
                <a:solidFill>
                  <a:srgbClr val="D19A66"/>
                </a:solidFill>
                <a:effectLst/>
                <a:latin typeface="inherit"/>
              </a:rPr>
              <a:t>101</a:t>
            </a:r>
            <a:r>
              <a:rPr lang="en-IN" sz="1400" b="0" i="0" dirty="0">
                <a:solidFill>
                  <a:srgbClr val="CFD5E0"/>
                </a:solidFill>
                <a:effectLst/>
                <a:latin typeface="inherit"/>
              </a:rPr>
              <a:t>, Name = </a:t>
            </a:r>
            <a:r>
              <a:rPr lang="en-IN" sz="1400" b="0" i="0" dirty="0">
                <a:solidFill>
                  <a:srgbClr val="7CC379"/>
                </a:solidFill>
                <a:effectLst/>
                <a:latin typeface="inherit"/>
              </a:rPr>
              <a:t>"James"</a:t>
            </a:r>
            <a:r>
              <a:rPr lang="en-IN" sz="1400" b="0" i="0" dirty="0">
                <a:solidFill>
                  <a:srgbClr val="CFD5E0"/>
                </a:solidFill>
                <a:effectLst/>
                <a:latin typeface="inherit"/>
              </a:rPr>
              <a:t>, Branch = </a:t>
            </a:r>
            <a:r>
              <a:rPr lang="en-IN" sz="1400" b="0" i="0" dirty="0">
                <a:solidFill>
                  <a:srgbClr val="7CC379"/>
                </a:solidFill>
                <a:effectLst/>
                <a:latin typeface="inherit"/>
              </a:rPr>
              <a:t>"CSE"</a:t>
            </a:r>
            <a:r>
              <a:rPr lang="en-IN" sz="1400" b="0" i="0" dirty="0">
                <a:solidFill>
                  <a:srgbClr val="CFD5E0"/>
                </a:solidFill>
                <a:effectLst/>
                <a:latin typeface="inherit"/>
              </a:rPr>
              <a:t>, Section = </a:t>
            </a:r>
            <a:r>
              <a:rPr lang="en-IN" sz="1400" b="0" i="0" dirty="0">
                <a:solidFill>
                  <a:srgbClr val="7CC379"/>
                </a:solidFill>
                <a:effectLst/>
                <a:latin typeface="inherit"/>
              </a:rPr>
              <a:t>"A"</a:t>
            </a:r>
            <a:r>
              <a:rPr lang="en-IN" sz="1400" b="0" i="0" dirty="0">
                <a:solidFill>
                  <a:srgbClr val="CFD5E0"/>
                </a:solidFill>
                <a:effectLst/>
                <a:latin typeface="inherit"/>
              </a:rPr>
              <a:t>, Gender = </a:t>
            </a:r>
            <a:r>
              <a:rPr lang="en-IN" sz="1400" b="0" i="0" dirty="0">
                <a:solidFill>
                  <a:srgbClr val="7CC379"/>
                </a:solidFill>
                <a:effectLst/>
                <a:latin typeface="inherit"/>
              </a:rPr>
              <a:t>"Male"</a:t>
            </a:r>
            <a:r>
              <a:rPr lang="en-IN" sz="1400" b="0" i="0" dirty="0">
                <a:solidFill>
                  <a:srgbClr val="CFD5E0"/>
                </a:solidFill>
                <a:effectLst/>
                <a:latin typeface="inherit"/>
              </a:rPr>
              <a:t> </a:t>
            </a:r>
            <a:r>
              <a:rPr lang="en-IN" sz="1400" b="1" i="0" dirty="0">
                <a:solidFill>
                  <a:srgbClr val="6B7C8B"/>
                </a:solidFill>
                <a:effectLst/>
                <a:latin typeface="inherit"/>
              </a:rPr>
              <a:t>}</a:t>
            </a:r>
            <a:r>
              <a:rPr lang="en-IN" sz="1400" b="0" i="0" dirty="0">
                <a:solidFill>
                  <a:srgbClr val="CFD5E0"/>
                </a:solidFill>
                <a:effectLst/>
                <a:latin typeface="inherit"/>
              </a:rPr>
              <a:t>,</a:t>
            </a:r>
            <a:endParaRPr lang="en-IN" sz="1400" b="0" i="0" dirty="0">
              <a:solidFill>
                <a:srgbClr val="596174"/>
              </a:solidFill>
              <a:effectLst/>
              <a:latin typeface="Inconsolata" pitchFamily="1" charset="0"/>
            </a:endParaRPr>
          </a:p>
          <a:p>
            <a:pPr algn="l" fontAlgn="base"/>
            <a:r>
              <a:rPr lang="en-IN" sz="1400" b="0" i="0" dirty="0">
                <a:solidFill>
                  <a:srgbClr val="4284AE"/>
                </a:solidFill>
                <a:effectLst/>
                <a:latin typeface="inherit"/>
              </a:rPr>
              <a:t>new</a:t>
            </a:r>
            <a:r>
              <a:rPr lang="en-IN" sz="1400" b="0" i="0" dirty="0">
                <a:solidFill>
                  <a:srgbClr val="CFD5E0"/>
                </a:solidFill>
                <a:effectLst/>
                <a:latin typeface="inherit"/>
              </a:rPr>
              <a:t> </a:t>
            </a:r>
            <a:r>
              <a:rPr lang="en-IN" sz="1400" b="0" i="0" dirty="0">
                <a:solidFill>
                  <a:srgbClr val="4284AE"/>
                </a:solidFill>
                <a:effectLst/>
                <a:latin typeface="inherit"/>
              </a:rPr>
              <a:t>Student</a:t>
            </a:r>
            <a:r>
              <a:rPr lang="en-IN" sz="1400" b="1" i="0" dirty="0">
                <a:solidFill>
                  <a:srgbClr val="6B7C8B"/>
                </a:solidFill>
                <a:effectLst/>
                <a:latin typeface="inherit"/>
              </a:rPr>
              <a:t>()</a:t>
            </a:r>
            <a:r>
              <a:rPr lang="en-IN" sz="1400" b="0" i="0" dirty="0">
                <a:solidFill>
                  <a:srgbClr val="CFD5E0"/>
                </a:solidFill>
                <a:effectLst/>
                <a:latin typeface="inherit"/>
              </a:rPr>
              <a:t> </a:t>
            </a:r>
            <a:r>
              <a:rPr lang="en-IN" sz="1400" b="1" i="0" dirty="0">
                <a:solidFill>
                  <a:srgbClr val="6B7C8B"/>
                </a:solidFill>
                <a:effectLst/>
                <a:latin typeface="inherit"/>
              </a:rPr>
              <a:t>{</a:t>
            </a:r>
            <a:r>
              <a:rPr lang="en-IN" sz="1400" b="0" i="0" dirty="0">
                <a:solidFill>
                  <a:srgbClr val="CFD5E0"/>
                </a:solidFill>
                <a:effectLst/>
                <a:latin typeface="inherit"/>
              </a:rPr>
              <a:t> </a:t>
            </a:r>
            <a:r>
              <a:rPr lang="en-IN" sz="1400" b="0" i="0" dirty="0" err="1">
                <a:solidFill>
                  <a:srgbClr val="CFD5E0"/>
                </a:solidFill>
                <a:effectLst/>
                <a:latin typeface="inherit"/>
              </a:rPr>
              <a:t>StudentId</a:t>
            </a:r>
            <a:r>
              <a:rPr lang="en-IN" sz="1400" b="0" i="0" dirty="0">
                <a:solidFill>
                  <a:srgbClr val="CFD5E0"/>
                </a:solidFill>
                <a:effectLst/>
                <a:latin typeface="inherit"/>
              </a:rPr>
              <a:t> = </a:t>
            </a:r>
            <a:r>
              <a:rPr lang="en-IN" sz="1400" b="0" i="0" dirty="0">
                <a:solidFill>
                  <a:srgbClr val="D19A66"/>
                </a:solidFill>
                <a:effectLst/>
                <a:latin typeface="inherit"/>
              </a:rPr>
              <a:t>102</a:t>
            </a:r>
            <a:r>
              <a:rPr lang="en-IN" sz="1400" b="0" i="0" dirty="0">
                <a:solidFill>
                  <a:srgbClr val="CFD5E0"/>
                </a:solidFill>
                <a:effectLst/>
                <a:latin typeface="inherit"/>
              </a:rPr>
              <a:t>, Name = </a:t>
            </a:r>
            <a:r>
              <a:rPr lang="en-IN" sz="1400" b="0" i="0" dirty="0">
                <a:solidFill>
                  <a:srgbClr val="7CC379"/>
                </a:solidFill>
                <a:effectLst/>
                <a:latin typeface="inherit"/>
              </a:rPr>
              <a:t>"Smith"</a:t>
            </a:r>
            <a:r>
              <a:rPr lang="en-IN" sz="1400" b="0" i="0" dirty="0">
                <a:solidFill>
                  <a:srgbClr val="CFD5E0"/>
                </a:solidFill>
                <a:effectLst/>
                <a:latin typeface="inherit"/>
              </a:rPr>
              <a:t>, Branch = </a:t>
            </a:r>
            <a:r>
              <a:rPr lang="en-IN" sz="1400" b="0" i="0" dirty="0">
                <a:solidFill>
                  <a:srgbClr val="7CC379"/>
                </a:solidFill>
                <a:effectLst/>
                <a:latin typeface="inherit"/>
              </a:rPr>
              <a:t>"ETC"</a:t>
            </a:r>
            <a:r>
              <a:rPr lang="en-IN" sz="1400" b="0" i="0" dirty="0">
                <a:solidFill>
                  <a:srgbClr val="CFD5E0"/>
                </a:solidFill>
                <a:effectLst/>
                <a:latin typeface="inherit"/>
              </a:rPr>
              <a:t>, Section = </a:t>
            </a:r>
            <a:r>
              <a:rPr lang="en-IN" sz="1400" b="0" i="0" dirty="0">
                <a:solidFill>
                  <a:srgbClr val="7CC379"/>
                </a:solidFill>
                <a:effectLst/>
                <a:latin typeface="inherit"/>
              </a:rPr>
              <a:t>"B"</a:t>
            </a:r>
            <a:r>
              <a:rPr lang="en-IN" sz="1400" b="0" i="0" dirty="0">
                <a:solidFill>
                  <a:srgbClr val="CFD5E0"/>
                </a:solidFill>
                <a:effectLst/>
                <a:latin typeface="inherit"/>
              </a:rPr>
              <a:t>, Gender = </a:t>
            </a:r>
            <a:r>
              <a:rPr lang="en-IN" sz="1400" b="0" i="0" dirty="0">
                <a:solidFill>
                  <a:srgbClr val="7CC379"/>
                </a:solidFill>
                <a:effectLst/>
                <a:latin typeface="inherit"/>
              </a:rPr>
              <a:t>"Male"</a:t>
            </a:r>
            <a:r>
              <a:rPr lang="en-IN" sz="1400" b="0" i="0" dirty="0">
                <a:solidFill>
                  <a:srgbClr val="CFD5E0"/>
                </a:solidFill>
                <a:effectLst/>
                <a:latin typeface="inherit"/>
              </a:rPr>
              <a:t> </a:t>
            </a:r>
            <a:r>
              <a:rPr lang="en-IN" sz="1400" b="1" i="0" dirty="0">
                <a:solidFill>
                  <a:srgbClr val="6B7C8B"/>
                </a:solidFill>
                <a:effectLst/>
                <a:latin typeface="inherit"/>
              </a:rPr>
              <a:t>}</a:t>
            </a:r>
            <a:r>
              <a:rPr lang="en-IN" sz="1400" b="0" i="0" dirty="0">
                <a:solidFill>
                  <a:srgbClr val="CFD5E0"/>
                </a:solidFill>
                <a:effectLst/>
                <a:latin typeface="inherit"/>
              </a:rPr>
              <a:t>,</a:t>
            </a:r>
            <a:endParaRPr lang="en-IN" sz="1400" b="0" i="0" dirty="0">
              <a:solidFill>
                <a:srgbClr val="596174"/>
              </a:solidFill>
              <a:effectLst/>
              <a:latin typeface="Inconsolata" pitchFamily="1" charset="0"/>
            </a:endParaRPr>
          </a:p>
          <a:p>
            <a:pPr algn="l" fontAlgn="base"/>
            <a:r>
              <a:rPr lang="en-IN" sz="1400" b="0" i="0" dirty="0">
                <a:solidFill>
                  <a:srgbClr val="4284AE"/>
                </a:solidFill>
                <a:effectLst/>
                <a:latin typeface="inherit"/>
              </a:rPr>
              <a:t>new</a:t>
            </a:r>
            <a:r>
              <a:rPr lang="en-IN" sz="1400" b="0" i="0" dirty="0">
                <a:solidFill>
                  <a:srgbClr val="CFD5E0"/>
                </a:solidFill>
                <a:effectLst/>
                <a:latin typeface="inherit"/>
              </a:rPr>
              <a:t> </a:t>
            </a:r>
            <a:r>
              <a:rPr lang="en-IN" sz="1400" b="0" i="0" dirty="0">
                <a:solidFill>
                  <a:srgbClr val="4284AE"/>
                </a:solidFill>
                <a:effectLst/>
                <a:latin typeface="inherit"/>
              </a:rPr>
              <a:t>Student</a:t>
            </a:r>
            <a:r>
              <a:rPr lang="en-IN" sz="1400" b="1" i="0" dirty="0">
                <a:solidFill>
                  <a:srgbClr val="6B7C8B"/>
                </a:solidFill>
                <a:effectLst/>
                <a:latin typeface="inherit"/>
              </a:rPr>
              <a:t>()</a:t>
            </a:r>
            <a:r>
              <a:rPr lang="en-IN" sz="1400" b="0" i="0" dirty="0">
                <a:solidFill>
                  <a:srgbClr val="CFD5E0"/>
                </a:solidFill>
                <a:effectLst/>
                <a:latin typeface="inherit"/>
              </a:rPr>
              <a:t> </a:t>
            </a:r>
            <a:r>
              <a:rPr lang="en-IN" sz="1400" b="1" i="0" dirty="0">
                <a:solidFill>
                  <a:srgbClr val="6B7C8B"/>
                </a:solidFill>
                <a:effectLst/>
                <a:latin typeface="inherit"/>
              </a:rPr>
              <a:t>{</a:t>
            </a:r>
            <a:r>
              <a:rPr lang="en-IN" sz="1400" b="0" i="0" dirty="0">
                <a:solidFill>
                  <a:srgbClr val="CFD5E0"/>
                </a:solidFill>
                <a:effectLst/>
                <a:latin typeface="inherit"/>
              </a:rPr>
              <a:t> </a:t>
            </a:r>
            <a:r>
              <a:rPr lang="en-IN" sz="1400" b="0" i="0" dirty="0" err="1">
                <a:solidFill>
                  <a:srgbClr val="CFD5E0"/>
                </a:solidFill>
                <a:effectLst/>
                <a:latin typeface="inherit"/>
              </a:rPr>
              <a:t>StudentId</a:t>
            </a:r>
            <a:r>
              <a:rPr lang="en-IN" sz="1400" b="0" i="0" dirty="0">
                <a:solidFill>
                  <a:srgbClr val="CFD5E0"/>
                </a:solidFill>
                <a:effectLst/>
                <a:latin typeface="inherit"/>
              </a:rPr>
              <a:t> = </a:t>
            </a:r>
            <a:r>
              <a:rPr lang="en-IN" sz="1400" b="0" i="0" dirty="0">
                <a:solidFill>
                  <a:srgbClr val="D19A66"/>
                </a:solidFill>
                <a:effectLst/>
                <a:latin typeface="inherit"/>
              </a:rPr>
              <a:t>103</a:t>
            </a:r>
            <a:r>
              <a:rPr lang="en-IN" sz="1400" b="0" i="0" dirty="0">
                <a:solidFill>
                  <a:srgbClr val="CFD5E0"/>
                </a:solidFill>
                <a:effectLst/>
                <a:latin typeface="inherit"/>
              </a:rPr>
              <a:t>, Name = </a:t>
            </a:r>
            <a:r>
              <a:rPr lang="en-IN" sz="1400" b="0" i="0" dirty="0">
                <a:solidFill>
                  <a:srgbClr val="7CC379"/>
                </a:solidFill>
                <a:effectLst/>
                <a:latin typeface="inherit"/>
              </a:rPr>
              <a:t>"David"</a:t>
            </a:r>
            <a:r>
              <a:rPr lang="en-IN" sz="1400" b="0" i="0" dirty="0">
                <a:solidFill>
                  <a:srgbClr val="CFD5E0"/>
                </a:solidFill>
                <a:effectLst/>
                <a:latin typeface="inherit"/>
              </a:rPr>
              <a:t>, Branch = </a:t>
            </a:r>
            <a:r>
              <a:rPr lang="en-IN" sz="1400" b="0" i="0" dirty="0">
                <a:solidFill>
                  <a:srgbClr val="7CC379"/>
                </a:solidFill>
                <a:effectLst/>
                <a:latin typeface="inherit"/>
              </a:rPr>
              <a:t>"CSE"</a:t>
            </a:r>
            <a:r>
              <a:rPr lang="en-IN" sz="1400" b="0" i="0" dirty="0">
                <a:solidFill>
                  <a:srgbClr val="CFD5E0"/>
                </a:solidFill>
                <a:effectLst/>
                <a:latin typeface="inherit"/>
              </a:rPr>
              <a:t>, Section = </a:t>
            </a:r>
            <a:r>
              <a:rPr lang="en-IN" sz="1400" b="0" i="0" dirty="0">
                <a:solidFill>
                  <a:srgbClr val="7CC379"/>
                </a:solidFill>
                <a:effectLst/>
                <a:latin typeface="inherit"/>
              </a:rPr>
              <a:t>"A"</a:t>
            </a:r>
            <a:r>
              <a:rPr lang="en-IN" sz="1400" b="0" i="0" dirty="0">
                <a:solidFill>
                  <a:srgbClr val="CFD5E0"/>
                </a:solidFill>
                <a:effectLst/>
                <a:latin typeface="inherit"/>
              </a:rPr>
              <a:t>, Gender = </a:t>
            </a:r>
            <a:r>
              <a:rPr lang="en-IN" sz="1400" b="0" i="0" dirty="0">
                <a:solidFill>
                  <a:srgbClr val="7CC379"/>
                </a:solidFill>
                <a:effectLst/>
                <a:latin typeface="inherit"/>
              </a:rPr>
              <a:t>"Male"</a:t>
            </a:r>
            <a:r>
              <a:rPr lang="en-IN" sz="1400" b="0" i="0" dirty="0">
                <a:solidFill>
                  <a:srgbClr val="CFD5E0"/>
                </a:solidFill>
                <a:effectLst/>
                <a:latin typeface="inherit"/>
              </a:rPr>
              <a:t> </a:t>
            </a:r>
            <a:r>
              <a:rPr lang="en-IN" sz="1400" b="1" i="0" dirty="0">
                <a:solidFill>
                  <a:srgbClr val="6B7C8B"/>
                </a:solidFill>
                <a:effectLst/>
                <a:latin typeface="inherit"/>
              </a:rPr>
              <a:t>}</a:t>
            </a:r>
            <a:r>
              <a:rPr lang="en-IN" sz="1400" b="0" i="0" dirty="0">
                <a:solidFill>
                  <a:srgbClr val="CFD5E0"/>
                </a:solidFill>
                <a:effectLst/>
                <a:latin typeface="inherit"/>
              </a:rPr>
              <a:t>,</a:t>
            </a:r>
            <a:endParaRPr lang="en-IN" sz="1400" b="0" i="0" dirty="0">
              <a:solidFill>
                <a:srgbClr val="596174"/>
              </a:solidFill>
              <a:effectLst/>
              <a:latin typeface="Inconsolata" pitchFamily="1" charset="0"/>
            </a:endParaRPr>
          </a:p>
          <a:p>
            <a:pPr algn="l" fontAlgn="base"/>
            <a:r>
              <a:rPr lang="en-IN" sz="1400" b="0" i="0" dirty="0">
                <a:solidFill>
                  <a:srgbClr val="4284AE"/>
                </a:solidFill>
                <a:effectLst/>
                <a:latin typeface="inherit"/>
              </a:rPr>
              <a:t>new</a:t>
            </a:r>
            <a:r>
              <a:rPr lang="en-IN" sz="1400" b="0" i="0" dirty="0">
                <a:solidFill>
                  <a:srgbClr val="CFD5E0"/>
                </a:solidFill>
                <a:effectLst/>
                <a:latin typeface="inherit"/>
              </a:rPr>
              <a:t> </a:t>
            </a:r>
            <a:r>
              <a:rPr lang="en-IN" sz="1400" b="0" i="0" dirty="0">
                <a:solidFill>
                  <a:srgbClr val="4284AE"/>
                </a:solidFill>
                <a:effectLst/>
                <a:latin typeface="inherit"/>
              </a:rPr>
              <a:t>Student</a:t>
            </a:r>
            <a:r>
              <a:rPr lang="en-IN" sz="1400" b="1" i="0" dirty="0">
                <a:solidFill>
                  <a:srgbClr val="6B7C8B"/>
                </a:solidFill>
                <a:effectLst/>
                <a:latin typeface="inherit"/>
              </a:rPr>
              <a:t>()</a:t>
            </a:r>
            <a:r>
              <a:rPr lang="en-IN" sz="1400" b="0" i="0" dirty="0">
                <a:solidFill>
                  <a:srgbClr val="CFD5E0"/>
                </a:solidFill>
                <a:effectLst/>
                <a:latin typeface="inherit"/>
              </a:rPr>
              <a:t> </a:t>
            </a:r>
            <a:r>
              <a:rPr lang="en-IN" sz="1400" b="1" i="0" dirty="0">
                <a:solidFill>
                  <a:srgbClr val="6B7C8B"/>
                </a:solidFill>
                <a:effectLst/>
                <a:latin typeface="inherit"/>
              </a:rPr>
              <a:t>{</a:t>
            </a:r>
            <a:r>
              <a:rPr lang="en-IN" sz="1400" b="0" i="0" dirty="0">
                <a:solidFill>
                  <a:srgbClr val="CFD5E0"/>
                </a:solidFill>
                <a:effectLst/>
                <a:latin typeface="inherit"/>
              </a:rPr>
              <a:t> </a:t>
            </a:r>
            <a:r>
              <a:rPr lang="en-IN" sz="1400" b="0" i="0" dirty="0" err="1">
                <a:solidFill>
                  <a:srgbClr val="CFD5E0"/>
                </a:solidFill>
                <a:effectLst/>
                <a:latin typeface="inherit"/>
              </a:rPr>
              <a:t>StudentId</a:t>
            </a:r>
            <a:r>
              <a:rPr lang="en-IN" sz="1400" b="0" i="0" dirty="0">
                <a:solidFill>
                  <a:srgbClr val="CFD5E0"/>
                </a:solidFill>
                <a:effectLst/>
                <a:latin typeface="inherit"/>
              </a:rPr>
              <a:t> = </a:t>
            </a:r>
            <a:r>
              <a:rPr lang="en-IN" sz="1400" b="0" i="0" dirty="0">
                <a:solidFill>
                  <a:srgbClr val="D19A66"/>
                </a:solidFill>
                <a:effectLst/>
                <a:latin typeface="inherit"/>
              </a:rPr>
              <a:t>104</a:t>
            </a:r>
            <a:r>
              <a:rPr lang="en-IN" sz="1400" b="0" i="0" dirty="0">
                <a:solidFill>
                  <a:srgbClr val="CFD5E0"/>
                </a:solidFill>
                <a:effectLst/>
                <a:latin typeface="inherit"/>
              </a:rPr>
              <a:t>, Name = </a:t>
            </a:r>
            <a:r>
              <a:rPr lang="en-IN" sz="1400" b="0" i="0" dirty="0">
                <a:solidFill>
                  <a:srgbClr val="7CC379"/>
                </a:solidFill>
                <a:effectLst/>
                <a:latin typeface="inherit"/>
              </a:rPr>
              <a:t>"Sara"</a:t>
            </a:r>
            <a:r>
              <a:rPr lang="en-IN" sz="1400" b="0" i="0" dirty="0">
                <a:solidFill>
                  <a:srgbClr val="CFD5E0"/>
                </a:solidFill>
                <a:effectLst/>
                <a:latin typeface="inherit"/>
              </a:rPr>
              <a:t>, Branch = </a:t>
            </a:r>
            <a:r>
              <a:rPr lang="en-IN" sz="1400" b="0" i="0" dirty="0">
                <a:solidFill>
                  <a:srgbClr val="7CC379"/>
                </a:solidFill>
                <a:effectLst/>
                <a:latin typeface="inherit"/>
              </a:rPr>
              <a:t>"CSE"</a:t>
            </a:r>
            <a:r>
              <a:rPr lang="en-IN" sz="1400" b="0" i="0" dirty="0">
                <a:solidFill>
                  <a:srgbClr val="CFD5E0"/>
                </a:solidFill>
                <a:effectLst/>
                <a:latin typeface="inherit"/>
              </a:rPr>
              <a:t>, Section = </a:t>
            </a:r>
            <a:r>
              <a:rPr lang="en-IN" sz="1400" b="0" i="0" dirty="0">
                <a:solidFill>
                  <a:srgbClr val="7CC379"/>
                </a:solidFill>
                <a:effectLst/>
                <a:latin typeface="inherit"/>
              </a:rPr>
              <a:t>"A"</a:t>
            </a:r>
            <a:r>
              <a:rPr lang="en-IN" sz="1400" b="0" i="0" dirty="0">
                <a:solidFill>
                  <a:srgbClr val="CFD5E0"/>
                </a:solidFill>
                <a:effectLst/>
                <a:latin typeface="inherit"/>
              </a:rPr>
              <a:t>, Gender = </a:t>
            </a:r>
            <a:r>
              <a:rPr lang="en-IN" sz="1400" b="0" i="0" dirty="0">
                <a:solidFill>
                  <a:srgbClr val="7CC379"/>
                </a:solidFill>
                <a:effectLst/>
                <a:latin typeface="inherit"/>
              </a:rPr>
              <a:t>"Female"</a:t>
            </a:r>
            <a:r>
              <a:rPr lang="en-IN" sz="1400" b="0" i="0" dirty="0">
                <a:solidFill>
                  <a:srgbClr val="CFD5E0"/>
                </a:solidFill>
                <a:effectLst/>
                <a:latin typeface="inherit"/>
              </a:rPr>
              <a:t> </a:t>
            </a:r>
            <a:r>
              <a:rPr lang="en-IN" sz="1400" b="1" i="0" dirty="0">
                <a:solidFill>
                  <a:srgbClr val="6B7C8B"/>
                </a:solidFill>
                <a:effectLst/>
                <a:latin typeface="inherit"/>
              </a:rPr>
              <a:t>}</a:t>
            </a:r>
            <a:r>
              <a:rPr lang="en-IN" sz="1400" b="0" i="0" dirty="0">
                <a:solidFill>
                  <a:srgbClr val="CFD5E0"/>
                </a:solidFill>
                <a:effectLst/>
                <a:latin typeface="inherit"/>
              </a:rPr>
              <a:t>,</a:t>
            </a:r>
            <a:endParaRPr lang="en-IN" sz="1400" b="0" i="0" dirty="0">
              <a:solidFill>
                <a:srgbClr val="596174"/>
              </a:solidFill>
              <a:effectLst/>
              <a:latin typeface="Inconsolata" pitchFamily="1" charset="0"/>
            </a:endParaRPr>
          </a:p>
          <a:p>
            <a:pPr algn="l" fontAlgn="base"/>
            <a:r>
              <a:rPr lang="en-IN" sz="1400" b="0" i="0" dirty="0">
                <a:solidFill>
                  <a:srgbClr val="4284AE"/>
                </a:solidFill>
                <a:effectLst/>
                <a:latin typeface="inherit"/>
              </a:rPr>
              <a:t>new</a:t>
            </a:r>
            <a:r>
              <a:rPr lang="en-IN" sz="1400" b="0" i="0" dirty="0">
                <a:solidFill>
                  <a:srgbClr val="CFD5E0"/>
                </a:solidFill>
                <a:effectLst/>
                <a:latin typeface="inherit"/>
              </a:rPr>
              <a:t> </a:t>
            </a:r>
            <a:r>
              <a:rPr lang="en-IN" sz="1400" b="0" i="0" dirty="0">
                <a:solidFill>
                  <a:srgbClr val="4284AE"/>
                </a:solidFill>
                <a:effectLst/>
                <a:latin typeface="inherit"/>
              </a:rPr>
              <a:t>Student</a:t>
            </a:r>
            <a:r>
              <a:rPr lang="en-IN" sz="1400" b="1" i="0" dirty="0">
                <a:solidFill>
                  <a:srgbClr val="6B7C8B"/>
                </a:solidFill>
                <a:effectLst/>
                <a:latin typeface="inherit"/>
              </a:rPr>
              <a:t>()</a:t>
            </a:r>
            <a:r>
              <a:rPr lang="en-IN" sz="1400" b="0" i="0" dirty="0">
                <a:solidFill>
                  <a:srgbClr val="CFD5E0"/>
                </a:solidFill>
                <a:effectLst/>
                <a:latin typeface="inherit"/>
              </a:rPr>
              <a:t> </a:t>
            </a:r>
            <a:r>
              <a:rPr lang="en-IN" sz="1400" b="1" i="0" dirty="0">
                <a:solidFill>
                  <a:srgbClr val="6B7C8B"/>
                </a:solidFill>
                <a:effectLst/>
                <a:latin typeface="inherit"/>
              </a:rPr>
              <a:t>{</a:t>
            </a:r>
            <a:r>
              <a:rPr lang="en-IN" sz="1400" b="0" i="0" dirty="0">
                <a:solidFill>
                  <a:srgbClr val="CFD5E0"/>
                </a:solidFill>
                <a:effectLst/>
                <a:latin typeface="inherit"/>
              </a:rPr>
              <a:t> </a:t>
            </a:r>
            <a:r>
              <a:rPr lang="en-IN" sz="1400" b="0" i="0" dirty="0" err="1">
                <a:solidFill>
                  <a:srgbClr val="CFD5E0"/>
                </a:solidFill>
                <a:effectLst/>
                <a:latin typeface="inherit"/>
              </a:rPr>
              <a:t>StudentId</a:t>
            </a:r>
            <a:r>
              <a:rPr lang="en-IN" sz="1400" b="0" i="0" dirty="0">
                <a:solidFill>
                  <a:srgbClr val="CFD5E0"/>
                </a:solidFill>
                <a:effectLst/>
                <a:latin typeface="inherit"/>
              </a:rPr>
              <a:t> = </a:t>
            </a:r>
            <a:r>
              <a:rPr lang="en-IN" sz="1400" b="0" i="0" dirty="0">
                <a:solidFill>
                  <a:srgbClr val="D19A66"/>
                </a:solidFill>
                <a:effectLst/>
                <a:latin typeface="inherit"/>
              </a:rPr>
              <a:t>105</a:t>
            </a:r>
            <a:r>
              <a:rPr lang="en-IN" sz="1400" b="0" i="0" dirty="0">
                <a:solidFill>
                  <a:srgbClr val="CFD5E0"/>
                </a:solidFill>
                <a:effectLst/>
                <a:latin typeface="inherit"/>
              </a:rPr>
              <a:t>, Name = </a:t>
            </a:r>
            <a:r>
              <a:rPr lang="en-IN" sz="1400" b="0" i="0" dirty="0">
                <a:solidFill>
                  <a:srgbClr val="7CC379"/>
                </a:solidFill>
                <a:effectLst/>
                <a:latin typeface="inherit"/>
              </a:rPr>
              <a:t>"Pam"</a:t>
            </a:r>
            <a:r>
              <a:rPr lang="en-IN" sz="1400" b="0" i="0" dirty="0">
                <a:solidFill>
                  <a:srgbClr val="CFD5E0"/>
                </a:solidFill>
                <a:effectLst/>
                <a:latin typeface="inherit"/>
              </a:rPr>
              <a:t>, Branch = </a:t>
            </a:r>
            <a:r>
              <a:rPr lang="en-IN" sz="1400" b="0" i="0" dirty="0">
                <a:solidFill>
                  <a:srgbClr val="7CC379"/>
                </a:solidFill>
                <a:effectLst/>
                <a:latin typeface="inherit"/>
              </a:rPr>
              <a:t>"ETC"</a:t>
            </a:r>
            <a:r>
              <a:rPr lang="en-IN" sz="1400" b="0" i="0" dirty="0">
                <a:solidFill>
                  <a:srgbClr val="CFD5E0"/>
                </a:solidFill>
                <a:effectLst/>
                <a:latin typeface="inherit"/>
              </a:rPr>
              <a:t>, Section = </a:t>
            </a:r>
            <a:r>
              <a:rPr lang="en-IN" sz="1400" b="0" i="0" dirty="0">
                <a:solidFill>
                  <a:srgbClr val="7CC379"/>
                </a:solidFill>
                <a:effectLst/>
                <a:latin typeface="inherit"/>
              </a:rPr>
              <a:t>"B"</a:t>
            </a:r>
            <a:r>
              <a:rPr lang="en-IN" sz="1400" b="0" i="0" dirty="0">
                <a:solidFill>
                  <a:srgbClr val="CFD5E0"/>
                </a:solidFill>
                <a:effectLst/>
                <a:latin typeface="inherit"/>
              </a:rPr>
              <a:t>, Gender = </a:t>
            </a:r>
            <a:r>
              <a:rPr lang="en-IN" sz="1400" b="0" i="0" dirty="0">
                <a:solidFill>
                  <a:srgbClr val="7CC379"/>
                </a:solidFill>
                <a:effectLst/>
                <a:latin typeface="inherit"/>
              </a:rPr>
              <a:t>"Female"</a:t>
            </a:r>
            <a:r>
              <a:rPr lang="en-IN" sz="1400" b="0" i="0" dirty="0">
                <a:solidFill>
                  <a:srgbClr val="CFD5E0"/>
                </a:solidFill>
                <a:effectLst/>
                <a:latin typeface="inherit"/>
              </a:rPr>
              <a:t> </a:t>
            </a:r>
            <a:r>
              <a:rPr lang="en-IN" sz="1400" b="1" i="0" dirty="0">
                <a:solidFill>
                  <a:srgbClr val="6B7C8B"/>
                </a:solidFill>
                <a:effectLst/>
                <a:latin typeface="inherit"/>
              </a:rPr>
              <a:t>} }</a:t>
            </a:r>
            <a:r>
              <a:rPr lang="en-IN" sz="1400" b="0" i="0" dirty="0">
                <a:solidFill>
                  <a:srgbClr val="CFD5E0"/>
                </a:solidFill>
                <a:effectLst/>
                <a:latin typeface="inherit"/>
              </a:rPr>
              <a:t>;</a:t>
            </a:r>
            <a:endParaRPr lang="en-IN" sz="1400" b="0" i="0" dirty="0">
              <a:solidFill>
                <a:srgbClr val="596174"/>
              </a:solidFill>
              <a:effectLst/>
              <a:latin typeface="Inconsolata" pitchFamily="1" charset="0"/>
            </a:endParaRPr>
          </a:p>
          <a:p>
            <a:pPr algn="l" fontAlgn="base"/>
            <a:r>
              <a:rPr lang="en-IN" sz="1400" b="1" i="0" dirty="0">
                <a:solidFill>
                  <a:srgbClr val="6B7C8B"/>
                </a:solidFill>
                <a:effectLst/>
                <a:latin typeface="inherit"/>
              </a:rPr>
              <a:t>}</a:t>
            </a:r>
            <a:endParaRPr lang="en-IN" sz="1400" b="0" i="0" dirty="0">
              <a:solidFill>
                <a:srgbClr val="596174"/>
              </a:solidFill>
              <a:effectLst/>
              <a:latin typeface="Inconsolata" pitchFamily="1" charset="0"/>
            </a:endParaRPr>
          </a:p>
          <a:p>
            <a:pPr algn="l" fontAlgn="base"/>
            <a:r>
              <a:rPr lang="en-IN" sz="1400" b="1" i="0" dirty="0">
                <a:solidFill>
                  <a:srgbClr val="D171DD"/>
                </a:solidFill>
                <a:effectLst/>
                <a:latin typeface="inherit"/>
              </a:rPr>
              <a:t>public</a:t>
            </a:r>
            <a:r>
              <a:rPr lang="en-IN" sz="1400" b="0" i="0" dirty="0">
                <a:solidFill>
                  <a:srgbClr val="CFD5E0"/>
                </a:solidFill>
                <a:effectLst/>
                <a:latin typeface="inherit"/>
              </a:rPr>
              <a:t> Student </a:t>
            </a:r>
            <a:r>
              <a:rPr lang="en-IN" sz="1400" b="0" i="0" dirty="0" err="1">
                <a:solidFill>
                  <a:srgbClr val="4284AE"/>
                </a:solidFill>
                <a:effectLst/>
                <a:latin typeface="inherit"/>
              </a:rPr>
              <a:t>GetStudentById</a:t>
            </a:r>
            <a:r>
              <a:rPr lang="en-IN" sz="1400" b="1" i="0" dirty="0">
                <a:solidFill>
                  <a:srgbClr val="6B7C8B"/>
                </a:solidFill>
                <a:effectLst/>
                <a:latin typeface="inherit"/>
              </a:rPr>
              <a:t>(</a:t>
            </a:r>
            <a:r>
              <a:rPr lang="en-IN" sz="1400" b="1" i="0" dirty="0">
                <a:solidFill>
                  <a:srgbClr val="D171DD"/>
                </a:solidFill>
                <a:effectLst/>
                <a:latin typeface="inherit"/>
              </a:rPr>
              <a:t>int</a:t>
            </a:r>
            <a:r>
              <a:rPr lang="en-IN" sz="1400" b="0" i="0" dirty="0">
                <a:solidFill>
                  <a:srgbClr val="CFD5E0"/>
                </a:solidFill>
                <a:effectLst/>
                <a:latin typeface="inherit"/>
              </a:rPr>
              <a:t> </a:t>
            </a:r>
            <a:r>
              <a:rPr lang="en-IN" sz="1400" b="0" i="0" dirty="0" err="1">
                <a:solidFill>
                  <a:srgbClr val="CFD5E0"/>
                </a:solidFill>
                <a:effectLst/>
                <a:latin typeface="inherit"/>
              </a:rPr>
              <a:t>StudentId</a:t>
            </a:r>
            <a:r>
              <a:rPr lang="en-IN" sz="1400" b="1" i="0" dirty="0">
                <a:solidFill>
                  <a:srgbClr val="6B7C8B"/>
                </a:solidFill>
                <a:effectLst/>
                <a:latin typeface="inherit"/>
              </a:rPr>
              <a:t>)  {   </a:t>
            </a:r>
          </a:p>
          <a:p>
            <a:pPr algn="l" fontAlgn="base"/>
            <a:r>
              <a:rPr lang="en-IN" sz="1400" b="1" dirty="0">
                <a:solidFill>
                  <a:srgbClr val="6B7C8B"/>
                </a:solidFill>
                <a:latin typeface="inherit"/>
              </a:rPr>
              <a:t>               </a:t>
            </a:r>
            <a:r>
              <a:rPr lang="en-IN" sz="1400" b="1" i="0" dirty="0">
                <a:solidFill>
                  <a:srgbClr val="D171DD"/>
                </a:solidFill>
                <a:effectLst/>
                <a:latin typeface="inherit"/>
              </a:rPr>
              <a:t>return</a:t>
            </a:r>
            <a:r>
              <a:rPr lang="en-IN" sz="1400" b="0" i="0" dirty="0">
                <a:solidFill>
                  <a:srgbClr val="CFD5E0"/>
                </a:solidFill>
                <a:effectLst/>
                <a:latin typeface="inherit"/>
              </a:rPr>
              <a:t> </a:t>
            </a:r>
            <a:r>
              <a:rPr lang="en-IN" sz="1400" b="0" i="0" dirty="0" err="1">
                <a:solidFill>
                  <a:srgbClr val="4284AE"/>
                </a:solidFill>
                <a:effectLst/>
                <a:latin typeface="inherit"/>
              </a:rPr>
              <a:t>DataSource</a:t>
            </a:r>
            <a:r>
              <a:rPr lang="en-IN" sz="1400" b="1" i="0" dirty="0">
                <a:solidFill>
                  <a:srgbClr val="6B7C8B"/>
                </a:solidFill>
                <a:effectLst/>
                <a:latin typeface="inherit"/>
              </a:rPr>
              <a:t>()</a:t>
            </a:r>
            <a:r>
              <a:rPr lang="en-IN" sz="1400" b="0" i="0" dirty="0">
                <a:solidFill>
                  <a:srgbClr val="CFD5E0"/>
                </a:solidFill>
                <a:effectLst/>
                <a:latin typeface="inherit"/>
              </a:rPr>
              <a:t>.</a:t>
            </a:r>
            <a:r>
              <a:rPr lang="en-IN" sz="1400" b="0" i="0" dirty="0" err="1">
                <a:solidFill>
                  <a:srgbClr val="4284AE"/>
                </a:solidFill>
                <a:effectLst/>
                <a:latin typeface="inherit"/>
              </a:rPr>
              <a:t>FirstOrDefault</a:t>
            </a:r>
            <a:r>
              <a:rPr lang="en-IN" sz="1400" b="1" i="0" dirty="0">
                <a:solidFill>
                  <a:srgbClr val="6B7C8B"/>
                </a:solidFill>
                <a:effectLst/>
                <a:latin typeface="inherit"/>
              </a:rPr>
              <a:t>(</a:t>
            </a:r>
            <a:r>
              <a:rPr lang="en-IN" sz="1400" b="0" i="0" dirty="0">
                <a:solidFill>
                  <a:srgbClr val="CFD5E0"/>
                </a:solidFill>
                <a:effectLst/>
                <a:latin typeface="inherit"/>
              </a:rPr>
              <a:t>e =</a:t>
            </a:r>
            <a:r>
              <a:rPr lang="en-IN" sz="1400" b="1" i="0" dirty="0">
                <a:solidFill>
                  <a:srgbClr val="6B7C8B"/>
                </a:solidFill>
                <a:effectLst/>
                <a:latin typeface="inherit"/>
              </a:rPr>
              <a:t>&gt;</a:t>
            </a:r>
            <a:r>
              <a:rPr lang="en-IN" sz="1400" b="0" i="0" dirty="0">
                <a:solidFill>
                  <a:srgbClr val="CFD5E0"/>
                </a:solidFill>
                <a:effectLst/>
                <a:latin typeface="inherit"/>
              </a:rPr>
              <a:t> </a:t>
            </a:r>
            <a:r>
              <a:rPr lang="en-IN" sz="1400" b="0" i="0" dirty="0" err="1">
                <a:solidFill>
                  <a:srgbClr val="CFD5E0"/>
                </a:solidFill>
                <a:effectLst/>
                <a:latin typeface="inherit"/>
              </a:rPr>
              <a:t>e.</a:t>
            </a:r>
            <a:r>
              <a:rPr lang="en-IN" sz="1400" b="0" i="0" dirty="0" err="1">
                <a:solidFill>
                  <a:srgbClr val="4284AE"/>
                </a:solidFill>
                <a:effectLst/>
                <a:latin typeface="inherit"/>
              </a:rPr>
              <a:t>StudentId</a:t>
            </a:r>
            <a:r>
              <a:rPr lang="en-IN" sz="1400" b="0" i="0" dirty="0">
                <a:solidFill>
                  <a:srgbClr val="CFD5E0"/>
                </a:solidFill>
                <a:effectLst/>
                <a:latin typeface="inherit"/>
              </a:rPr>
              <a:t> == </a:t>
            </a:r>
            <a:r>
              <a:rPr lang="en-IN" sz="1400" b="0" i="0" dirty="0" err="1">
                <a:solidFill>
                  <a:srgbClr val="CFD5E0"/>
                </a:solidFill>
                <a:effectLst/>
                <a:latin typeface="inherit"/>
              </a:rPr>
              <a:t>StudentId</a:t>
            </a:r>
            <a:r>
              <a:rPr lang="en-IN" sz="1400" b="0" i="0" dirty="0">
                <a:solidFill>
                  <a:srgbClr val="CFD5E0"/>
                </a:solidFill>
                <a:effectLst/>
                <a:latin typeface="inherit"/>
              </a:rPr>
              <a:t> </a:t>
            </a:r>
            <a:r>
              <a:rPr lang="en-IN" sz="1400" b="1" i="0" dirty="0">
                <a:solidFill>
                  <a:srgbClr val="6B7C8B"/>
                </a:solidFill>
                <a:effectLst/>
                <a:latin typeface="inherit"/>
              </a:rPr>
              <a:t>)   </a:t>
            </a:r>
          </a:p>
          <a:p>
            <a:pPr algn="l" fontAlgn="base"/>
            <a:r>
              <a:rPr lang="en-IN" sz="1400" b="1" dirty="0">
                <a:solidFill>
                  <a:srgbClr val="6B7C8B"/>
                </a:solidFill>
                <a:latin typeface="inherit"/>
              </a:rPr>
              <a:t>     </a:t>
            </a:r>
            <a:r>
              <a:rPr lang="en-IN" sz="1400" b="1" i="0" dirty="0">
                <a:solidFill>
                  <a:srgbClr val="6B7C8B"/>
                </a:solidFill>
                <a:effectLst/>
                <a:latin typeface="inherit"/>
              </a:rPr>
              <a:t>}</a:t>
            </a:r>
            <a:endParaRPr lang="en-IN" sz="1400" b="0" i="0" dirty="0">
              <a:solidFill>
                <a:srgbClr val="596174"/>
              </a:solidFill>
              <a:effectLst/>
              <a:latin typeface="Inconsolata" pitchFamily="1" charset="0"/>
            </a:endParaRPr>
          </a:p>
          <a:p>
            <a:pPr algn="l" fontAlgn="base"/>
            <a:r>
              <a:rPr lang="en-IN" sz="1400" b="1" i="0" dirty="0">
                <a:solidFill>
                  <a:srgbClr val="D171DD"/>
                </a:solidFill>
                <a:effectLst/>
                <a:latin typeface="inherit"/>
              </a:rPr>
              <a:t>public</a:t>
            </a:r>
            <a:r>
              <a:rPr lang="en-IN" sz="1400" b="0" i="0" dirty="0">
                <a:solidFill>
                  <a:srgbClr val="CFD5E0"/>
                </a:solidFill>
                <a:effectLst/>
                <a:latin typeface="inherit"/>
              </a:rPr>
              <a:t> List</a:t>
            </a:r>
            <a:r>
              <a:rPr lang="en-IN" sz="1400" b="1" i="0" dirty="0">
                <a:solidFill>
                  <a:srgbClr val="6B7C8B"/>
                </a:solidFill>
                <a:effectLst/>
                <a:latin typeface="inherit"/>
              </a:rPr>
              <a:t>&lt;</a:t>
            </a:r>
            <a:r>
              <a:rPr lang="en-IN" sz="1400" b="0" i="0" dirty="0">
                <a:solidFill>
                  <a:srgbClr val="CFD5E0"/>
                </a:solidFill>
                <a:effectLst/>
                <a:latin typeface="inherit"/>
              </a:rPr>
              <a:t>Student</a:t>
            </a:r>
            <a:r>
              <a:rPr lang="en-IN" sz="1400" b="1" i="0" dirty="0">
                <a:solidFill>
                  <a:srgbClr val="6B7C8B"/>
                </a:solidFill>
                <a:effectLst/>
                <a:latin typeface="inherit"/>
              </a:rPr>
              <a:t>&gt;</a:t>
            </a:r>
            <a:r>
              <a:rPr lang="en-IN" sz="1400" b="0" i="0" dirty="0">
                <a:solidFill>
                  <a:srgbClr val="CFD5E0"/>
                </a:solidFill>
                <a:effectLst/>
                <a:latin typeface="inherit"/>
              </a:rPr>
              <a:t> </a:t>
            </a:r>
            <a:r>
              <a:rPr lang="en-IN" sz="1400" b="0" i="0" dirty="0" err="1">
                <a:solidFill>
                  <a:srgbClr val="4284AE"/>
                </a:solidFill>
                <a:effectLst/>
                <a:latin typeface="inherit"/>
              </a:rPr>
              <a:t>GetAllStudent</a:t>
            </a:r>
            <a:r>
              <a:rPr lang="en-IN" sz="1400" b="1" i="0" dirty="0">
                <a:solidFill>
                  <a:srgbClr val="6B7C8B"/>
                </a:solidFill>
                <a:effectLst/>
                <a:latin typeface="inherit"/>
              </a:rPr>
              <a:t>(){  </a:t>
            </a:r>
            <a:r>
              <a:rPr lang="en-IN" sz="1400" b="1" i="0" dirty="0">
                <a:solidFill>
                  <a:srgbClr val="D171DD"/>
                </a:solidFill>
                <a:effectLst/>
                <a:latin typeface="inherit"/>
              </a:rPr>
              <a:t>return</a:t>
            </a:r>
            <a:r>
              <a:rPr lang="en-IN" sz="1400" b="0" i="0" dirty="0">
                <a:solidFill>
                  <a:srgbClr val="CFD5E0"/>
                </a:solidFill>
                <a:effectLst/>
                <a:latin typeface="inherit"/>
              </a:rPr>
              <a:t> </a:t>
            </a:r>
            <a:r>
              <a:rPr lang="en-IN" sz="1400" b="0" i="0" dirty="0" err="1">
                <a:solidFill>
                  <a:srgbClr val="4284AE"/>
                </a:solidFill>
                <a:effectLst/>
                <a:latin typeface="inherit"/>
              </a:rPr>
              <a:t>DataSource</a:t>
            </a:r>
            <a:r>
              <a:rPr lang="en-IN" sz="1400" b="1" i="0" dirty="0">
                <a:solidFill>
                  <a:srgbClr val="6B7C8B"/>
                </a:solidFill>
                <a:effectLst/>
                <a:latin typeface="inherit"/>
              </a:rPr>
              <a:t>()</a:t>
            </a:r>
            <a:r>
              <a:rPr lang="en-IN" sz="1400" b="0" i="0" dirty="0">
                <a:solidFill>
                  <a:srgbClr val="CFD5E0"/>
                </a:solidFill>
                <a:effectLst/>
                <a:latin typeface="inherit"/>
              </a:rPr>
              <a:t>;  </a:t>
            </a:r>
            <a:r>
              <a:rPr lang="en-IN" sz="1400" b="1" i="0" dirty="0">
                <a:solidFill>
                  <a:srgbClr val="6B7C8B"/>
                </a:solidFill>
                <a:effectLst/>
                <a:latin typeface="inherit"/>
              </a:rPr>
              <a:t>}</a:t>
            </a:r>
            <a:endParaRPr lang="en-IN" sz="1400" b="0" i="0" dirty="0">
              <a:solidFill>
                <a:srgbClr val="596174"/>
              </a:solidFill>
              <a:effectLst/>
              <a:latin typeface="Inconsolata" pitchFamily="1" charset="0"/>
            </a:endParaRPr>
          </a:p>
          <a:p>
            <a:pPr algn="l" fontAlgn="base"/>
            <a:r>
              <a:rPr lang="en-IN" sz="1400" b="1" i="0" dirty="0">
                <a:solidFill>
                  <a:srgbClr val="6B7C8B"/>
                </a:solidFill>
                <a:effectLst/>
                <a:latin typeface="inherit"/>
              </a:rPr>
              <a:t>} }</a:t>
            </a:r>
            <a:endParaRPr lang="en-IN" sz="1400" b="0" i="0" dirty="0">
              <a:solidFill>
                <a:srgbClr val="596174"/>
              </a:solidFill>
              <a:effectLst/>
              <a:latin typeface="Inconsolata" pitchFamily="1" charset="0"/>
            </a:endParaRPr>
          </a:p>
        </p:txBody>
      </p:sp>
    </p:spTree>
    <p:extLst>
      <p:ext uri="{BB962C8B-B14F-4D97-AF65-F5344CB8AC3E}">
        <p14:creationId xmlns:p14="http://schemas.microsoft.com/office/powerpoint/2010/main" val="3570263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4F9672-9169-494A-8A5F-28123F3B6783}"/>
              </a:ext>
            </a:extLst>
          </p:cNvPr>
          <p:cNvSpPr txBox="1"/>
          <p:nvPr/>
        </p:nvSpPr>
        <p:spPr>
          <a:xfrm>
            <a:off x="0" y="0"/>
            <a:ext cx="4699819" cy="2862322"/>
          </a:xfrm>
          <a:prstGeom prst="rect">
            <a:avLst/>
          </a:prstGeom>
          <a:noFill/>
        </p:spPr>
        <p:txBody>
          <a:bodyPr wrap="square">
            <a:spAutoFit/>
          </a:bodyPr>
          <a:lstStyle/>
          <a:p>
            <a:pPr algn="just" fontAlgn="base"/>
            <a:r>
              <a:rPr lang="en-US" b="1" i="0" dirty="0" err="1">
                <a:solidFill>
                  <a:srgbClr val="000000"/>
                </a:solidFill>
                <a:effectLst/>
                <a:latin typeface="arial" panose="020B0604020202020204" pitchFamily="34" charset="0"/>
              </a:rPr>
              <a:t>Program.cs</a:t>
            </a:r>
            <a:r>
              <a:rPr lang="en-US" b="1" i="0" dirty="0">
                <a:solidFill>
                  <a:srgbClr val="000000"/>
                </a:solidFill>
                <a:effectLst/>
                <a:latin typeface="arial" panose="020B0604020202020204" pitchFamily="34" charset="0"/>
              </a:rPr>
              <a:t>:</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the Startup class initially, we need to do two things. First, we need to configure the required MVC service to the IoC Container, and then we need to add the MVC Middleware to the request processing pipeline. So, modify the Startup class as shown below.</a:t>
            </a:r>
            <a:endParaRPr lang="en-US" b="0" i="0" dirty="0">
              <a:solidFill>
                <a:srgbClr val="212529"/>
              </a:solidFill>
              <a:effectLst/>
              <a:latin typeface="-apple-system"/>
            </a:endParaRPr>
          </a:p>
          <a:p>
            <a:br>
              <a:rPr lang="en-US" b="0" i="0" dirty="0">
                <a:solidFill>
                  <a:srgbClr val="596174"/>
                </a:solidFill>
                <a:effectLst/>
                <a:latin typeface="Inconsolata" pitchFamily="1" charset="0"/>
              </a:rPr>
            </a:br>
            <a:endParaRPr lang="en-IN" dirty="0"/>
          </a:p>
        </p:txBody>
      </p:sp>
      <p:sp>
        <p:nvSpPr>
          <p:cNvPr id="2" name="Rectangle 1"/>
          <p:cNvSpPr/>
          <p:nvPr/>
        </p:nvSpPr>
        <p:spPr>
          <a:xfrm>
            <a:off x="4950691" y="0"/>
            <a:ext cx="6096000" cy="5770811"/>
          </a:xfrm>
          <a:prstGeom prst="rect">
            <a:avLst/>
          </a:prstGeom>
        </p:spPr>
        <p:txBody>
          <a:bodyPr>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WebMVC01.Models;</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WebMVC01</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builder = </a:t>
            </a:r>
            <a:r>
              <a:rPr lang="en-IN" sz="900" dirty="0" err="1">
                <a:solidFill>
                  <a:srgbClr val="000000"/>
                </a:solidFill>
                <a:latin typeface="Cascadia Mono" panose="020B0609020000020004" pitchFamily="49" charset="0"/>
              </a:rPr>
              <a:t>WebApplication.CreateBuilder</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args</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Add services to the container.</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t>
            </a:r>
            <a:r>
              <a:rPr lang="en-IN" sz="900" dirty="0" err="1">
                <a:solidFill>
                  <a:srgbClr val="000000"/>
                </a:solidFill>
                <a:highlight>
                  <a:srgbClr val="FFFF00"/>
                </a:highlight>
                <a:latin typeface="Cascadia Mono" panose="020B0609020000020004" pitchFamily="49" charset="0"/>
              </a:rPr>
              <a:t>.AddControllersWithViews</a:t>
            </a:r>
            <a:r>
              <a:rPr lang="en-IN" sz="900" dirty="0">
                <a:solidFill>
                  <a:srgbClr val="000000"/>
                </a:solidFill>
                <a:highlight>
                  <a:srgbClr val="FFFF00"/>
                </a:highlight>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services = </a:t>
            </a:r>
            <a:r>
              <a:rPr lang="en-IN" sz="900" dirty="0" err="1">
                <a:solidFill>
                  <a:srgbClr val="000000"/>
                </a:solidFill>
                <a:latin typeface="Cascadia Mono" panose="020B0609020000020004" pitchFamily="49" charset="0"/>
              </a:rPr>
              <a:t>builder.Services</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	</a:t>
            </a:r>
          </a:p>
          <a:p>
            <a:r>
              <a:rPr lang="en-IN" sz="900" dirty="0">
                <a:solidFill>
                  <a:srgbClr val="0000FF"/>
                </a:solidFill>
                <a:latin typeface="Cascadia Mono" panose="020B0609020000020004" pitchFamily="49" charset="0"/>
              </a:rPr>
              <a:t>	</a:t>
            </a:r>
            <a:r>
              <a:rPr lang="en-IN" sz="900" dirty="0" err="1">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app = </a:t>
            </a:r>
            <a:r>
              <a:rPr lang="en-IN" sz="900" dirty="0" err="1">
                <a:solidFill>
                  <a:srgbClr val="000000"/>
                </a:solidFill>
                <a:latin typeface="Cascadia Mono" panose="020B0609020000020004" pitchFamily="49" charset="0"/>
              </a:rPr>
              <a:t>builder.Build</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Configure the HTTP request pipeline.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app.Environment.IsDevelopment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app.UseExceptionHandler</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"/Home/Error"</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The default HSTS value is 30 days. You may want to change this for production scenarios, see https://aka.ms/aspnetcore-hsts.</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app.UseHsts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app.UseHttpsRedirection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app.UseStaticFiles</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app.UseRouting</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app.UseAuthorization</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app.MapControllerRoute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name: </a:t>
            </a:r>
            <a:r>
              <a:rPr lang="en-IN" sz="900" dirty="0">
                <a:solidFill>
                  <a:srgbClr val="A31515"/>
                </a:solidFill>
                <a:latin typeface="Cascadia Mono" panose="020B0609020000020004" pitchFamily="49" charset="0"/>
              </a:rPr>
              <a:t>"default"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pattern: </a:t>
            </a:r>
            <a:r>
              <a:rPr lang="en-IN" sz="900" dirty="0">
                <a:solidFill>
                  <a:srgbClr val="A31515"/>
                </a:solidFill>
                <a:latin typeface="Cascadia Mono" panose="020B0609020000020004" pitchFamily="49" charset="0"/>
              </a:rPr>
              <a:t>"{controller=Home}/{action=Index}/{id?}"</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app.Run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Tree>
    <p:extLst>
      <p:ext uri="{BB962C8B-B14F-4D97-AF65-F5344CB8AC3E}">
        <p14:creationId xmlns:p14="http://schemas.microsoft.com/office/powerpoint/2010/main" val="3742644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59DB95-BFA6-4269-891D-95F32ABD0328}"/>
              </a:ext>
            </a:extLst>
          </p:cNvPr>
          <p:cNvSpPr txBox="1"/>
          <p:nvPr/>
        </p:nvSpPr>
        <p:spPr>
          <a:xfrm>
            <a:off x="0" y="0"/>
            <a:ext cx="11444747" cy="1200329"/>
          </a:xfrm>
          <a:prstGeom prst="rect">
            <a:avLst/>
          </a:prstGeom>
          <a:noFill/>
        </p:spPr>
        <p:txBody>
          <a:bodyPr wrap="square">
            <a:spAutoFit/>
          </a:bodyPr>
          <a:lstStyle/>
          <a:p>
            <a:pPr algn="ctr" fontAlgn="base"/>
            <a:r>
              <a:rPr lang="en-US" b="1" i="0" dirty="0">
                <a:solidFill>
                  <a:srgbClr val="000000"/>
                </a:solidFill>
                <a:effectLst/>
                <a:latin typeface="arial" panose="020B0604020202020204" pitchFamily="34" charset="0"/>
              </a:rPr>
              <a:t>Without Dependency Injection:</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Create a folder with the name Controllers in your project. Then add a class file with the name </a:t>
            </a:r>
            <a:r>
              <a:rPr lang="en-US" b="1" i="0" dirty="0" err="1">
                <a:solidFill>
                  <a:srgbClr val="000000"/>
                </a:solidFill>
                <a:effectLst/>
                <a:latin typeface="arial" panose="020B0604020202020204" pitchFamily="34" charset="0"/>
              </a:rPr>
              <a:t>HomeController.cs</a:t>
            </a:r>
            <a:r>
              <a:rPr lang="en-US" b="0" i="0" dirty="0">
                <a:solidFill>
                  <a:srgbClr val="000000"/>
                </a:solidFill>
                <a:effectLst/>
                <a:latin typeface="arial" panose="020B0604020202020204" pitchFamily="34" charset="0"/>
              </a:rPr>
              <a:t> within the Controllers folder. Then open the </a:t>
            </a:r>
            <a:r>
              <a:rPr lang="en-US" b="1" i="0" dirty="0" err="1">
                <a:solidFill>
                  <a:srgbClr val="000000"/>
                </a:solidFill>
                <a:effectLst/>
                <a:latin typeface="arial" panose="020B0604020202020204" pitchFamily="34" charset="0"/>
              </a:rPr>
              <a:t>HomeController.cs</a:t>
            </a:r>
            <a:r>
              <a:rPr lang="en-US" b="0" i="0" dirty="0">
                <a:solidFill>
                  <a:srgbClr val="000000"/>
                </a:solidFill>
                <a:effectLst/>
                <a:latin typeface="arial" panose="020B0604020202020204" pitchFamily="34" charset="0"/>
              </a:rPr>
              <a:t> file and copy-paste the following code in it.</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6FD2627E-BCF9-499C-9B59-AA2F5E78B828}"/>
              </a:ext>
            </a:extLst>
          </p:cNvPr>
          <p:cNvSpPr txBox="1"/>
          <p:nvPr/>
        </p:nvSpPr>
        <p:spPr>
          <a:xfrm>
            <a:off x="224726" y="1303400"/>
            <a:ext cx="6929284" cy="5632311"/>
          </a:xfrm>
          <a:prstGeom prst="rect">
            <a:avLst/>
          </a:prstGeom>
          <a:solidFill>
            <a:schemeClr val="tx1"/>
          </a:solidFill>
        </p:spPr>
        <p:txBody>
          <a:bodyPr wrap="square">
            <a:spAutoFit/>
          </a:bodyPr>
          <a:lstStyle/>
          <a:p>
            <a:pPr algn="l" fontAlgn="base"/>
            <a:r>
              <a:rPr lang="en-IN" b="1" i="0" dirty="0">
                <a:solidFill>
                  <a:srgbClr val="D171DD"/>
                </a:solidFill>
                <a:effectLst/>
                <a:latin typeface="inherit"/>
              </a:rPr>
              <a:t>using </a:t>
            </a:r>
            <a:r>
              <a:rPr lang="en-IN" b="0" i="1" dirty="0" err="1">
                <a:solidFill>
                  <a:srgbClr val="4284AE"/>
                </a:solidFill>
                <a:effectLst/>
                <a:latin typeface="inherit"/>
              </a:rPr>
              <a:t>FirstCoreMVCWebApplication.Models</a:t>
            </a:r>
            <a:r>
              <a:rPr lang="en-IN" b="0" i="1" dirty="0">
                <a:solidFill>
                  <a:srgbClr val="4284AE"/>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using </a:t>
            </a:r>
            <a:r>
              <a:rPr lang="en-IN" b="0" i="1" dirty="0" err="1">
                <a:solidFill>
                  <a:srgbClr val="4284AE"/>
                </a:solidFill>
                <a:effectLst/>
                <a:latin typeface="inherit"/>
              </a:rPr>
              <a:t>Microsoft.AspNetCore.Mvc</a:t>
            </a:r>
            <a:r>
              <a:rPr lang="en-IN" b="0" i="1" dirty="0">
                <a:solidFill>
                  <a:srgbClr val="4284AE"/>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using </a:t>
            </a:r>
            <a:r>
              <a:rPr lang="en-IN" b="0" i="1" dirty="0" err="1">
                <a:solidFill>
                  <a:srgbClr val="4284AE"/>
                </a:solidFill>
                <a:effectLst/>
                <a:latin typeface="inherit"/>
              </a:rPr>
              <a:t>System.Collections.Generic</a:t>
            </a:r>
            <a:r>
              <a:rPr lang="en-IN" b="0" i="1" dirty="0">
                <a:solidFill>
                  <a:srgbClr val="4284AE"/>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namespace </a:t>
            </a:r>
            <a:r>
              <a:rPr lang="en-IN" b="0" i="1" dirty="0" err="1">
                <a:solidFill>
                  <a:srgbClr val="4284AE"/>
                </a:solidFill>
                <a:effectLst/>
                <a:latin typeface="inherit"/>
              </a:rPr>
              <a:t>FirstCoreMVCWebApplication.Controllers</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a:t>
            </a:r>
            <a:r>
              <a:rPr lang="en-IN" b="1" i="0" dirty="0">
                <a:solidFill>
                  <a:srgbClr val="D171DD"/>
                </a:solidFill>
                <a:effectLst/>
                <a:latin typeface="inherit"/>
              </a:rPr>
              <a:t>class</a:t>
            </a:r>
            <a:r>
              <a:rPr lang="en-IN" b="0" i="0" dirty="0">
                <a:solidFill>
                  <a:srgbClr val="CFD5E0"/>
                </a:solidFill>
                <a:effectLst/>
                <a:latin typeface="inherit"/>
              </a:rPr>
              <a:t> </a:t>
            </a:r>
            <a:r>
              <a:rPr lang="en-IN" b="0" i="0" dirty="0" err="1">
                <a:solidFill>
                  <a:srgbClr val="CFD5E0"/>
                </a:solidFill>
                <a:effectLst/>
                <a:latin typeface="inherit"/>
              </a:rPr>
              <a:t>HomeController</a:t>
            </a:r>
            <a:r>
              <a:rPr lang="en-IN" b="0" i="0" dirty="0">
                <a:solidFill>
                  <a:srgbClr val="CFD5E0"/>
                </a:solidFill>
                <a:effectLst/>
                <a:latin typeface="inherit"/>
              </a:rPr>
              <a:t> : Controller</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a:t>
            </a:r>
            <a:r>
              <a:rPr lang="en-IN" b="0" i="0" dirty="0" err="1">
                <a:solidFill>
                  <a:srgbClr val="CFD5E0"/>
                </a:solidFill>
                <a:effectLst/>
                <a:latin typeface="inherit"/>
              </a:rPr>
              <a:t>JsonResult</a:t>
            </a:r>
            <a:r>
              <a:rPr lang="en-IN" b="0" i="0" dirty="0">
                <a:solidFill>
                  <a:srgbClr val="CFD5E0"/>
                </a:solidFill>
                <a:effectLst/>
                <a:latin typeface="inherit"/>
              </a:rPr>
              <a:t> </a:t>
            </a:r>
            <a:r>
              <a:rPr lang="en-IN" b="0" i="0" dirty="0">
                <a:solidFill>
                  <a:srgbClr val="4284AE"/>
                </a:solidFill>
                <a:effectLst/>
                <a:latin typeface="inherit"/>
              </a:rPr>
              <a:t>Index</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TestStudentRepository</a:t>
            </a:r>
            <a:r>
              <a:rPr lang="en-IN" b="0" i="0" dirty="0">
                <a:solidFill>
                  <a:srgbClr val="CFD5E0"/>
                </a:solidFill>
                <a:effectLst/>
                <a:latin typeface="inherit"/>
              </a:rPr>
              <a:t> repository = </a:t>
            </a:r>
            <a:r>
              <a:rPr lang="en-IN" b="0" i="0" dirty="0">
                <a:solidFill>
                  <a:srgbClr val="4284AE"/>
                </a:solidFill>
                <a:effectLst/>
                <a:latin typeface="inherit"/>
              </a:rPr>
              <a:t>new</a:t>
            </a:r>
            <a:r>
              <a:rPr lang="en-IN" b="0" i="0" dirty="0">
                <a:solidFill>
                  <a:srgbClr val="CFD5E0"/>
                </a:solidFill>
                <a:effectLst/>
                <a:latin typeface="inherit"/>
              </a:rPr>
              <a:t> </a:t>
            </a:r>
            <a:r>
              <a:rPr lang="en-IN" b="0" i="0" dirty="0" err="1">
                <a:solidFill>
                  <a:srgbClr val="4284AE"/>
                </a:solidFill>
                <a:effectLst/>
                <a:latin typeface="inherit"/>
              </a:rPr>
              <a:t>TestStudentRepository</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List</a:t>
            </a:r>
            <a:r>
              <a:rPr lang="en-IN" b="1" i="0" dirty="0">
                <a:solidFill>
                  <a:srgbClr val="6B7C8B"/>
                </a:solidFill>
                <a:effectLst/>
                <a:latin typeface="inherit"/>
              </a:rPr>
              <a:t>&lt;</a:t>
            </a:r>
            <a:r>
              <a:rPr lang="en-IN" b="0" i="0" dirty="0">
                <a:solidFill>
                  <a:srgbClr val="CFD5E0"/>
                </a:solidFill>
                <a:effectLst/>
                <a:latin typeface="inherit"/>
              </a:rPr>
              <a:t>Student</a:t>
            </a:r>
            <a:r>
              <a:rPr lang="en-IN" b="1" i="0" dirty="0">
                <a:solidFill>
                  <a:srgbClr val="6B7C8B"/>
                </a:solidFill>
                <a:effectLst/>
                <a:latin typeface="inherit"/>
              </a:rPr>
              <a:t>&gt;</a:t>
            </a:r>
            <a:r>
              <a:rPr lang="en-IN" b="0" i="0" dirty="0">
                <a:solidFill>
                  <a:srgbClr val="CFD5E0"/>
                </a:solidFill>
                <a:effectLst/>
                <a:latin typeface="inherit"/>
              </a:rPr>
              <a:t> </a:t>
            </a:r>
            <a:r>
              <a:rPr lang="en-IN" b="0" i="0" dirty="0" err="1">
                <a:solidFill>
                  <a:srgbClr val="CFD5E0"/>
                </a:solidFill>
                <a:effectLst/>
                <a:latin typeface="inherit"/>
              </a:rPr>
              <a:t>allStudentDetails</a:t>
            </a:r>
            <a:r>
              <a:rPr lang="en-IN" b="0" i="0" dirty="0">
                <a:solidFill>
                  <a:srgbClr val="CFD5E0"/>
                </a:solidFill>
                <a:effectLst/>
                <a:latin typeface="inherit"/>
              </a:rPr>
              <a:t> = </a:t>
            </a:r>
            <a:r>
              <a:rPr lang="en-IN" b="0" i="0" dirty="0" err="1">
                <a:solidFill>
                  <a:srgbClr val="CFD5E0"/>
                </a:solidFill>
                <a:effectLst/>
                <a:latin typeface="inherit"/>
              </a:rPr>
              <a:t>repository.</a:t>
            </a:r>
            <a:r>
              <a:rPr lang="en-IN" b="0" i="0" dirty="0" err="1">
                <a:solidFill>
                  <a:srgbClr val="4284AE"/>
                </a:solidFill>
                <a:effectLst/>
                <a:latin typeface="inherit"/>
              </a:rPr>
              <a:t>GetAllStudent</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return</a:t>
            </a:r>
            <a:r>
              <a:rPr lang="en-IN" b="0" i="0" dirty="0">
                <a:solidFill>
                  <a:srgbClr val="CFD5E0"/>
                </a:solidFill>
                <a:effectLst/>
                <a:latin typeface="inherit"/>
              </a:rPr>
              <a:t> </a:t>
            </a:r>
            <a:r>
              <a:rPr lang="en-IN" b="0" i="0" dirty="0">
                <a:solidFill>
                  <a:srgbClr val="4284AE"/>
                </a:solidFill>
                <a:effectLst/>
                <a:latin typeface="inherit"/>
              </a:rPr>
              <a:t>Json</a:t>
            </a:r>
            <a:r>
              <a:rPr lang="en-IN" b="1" i="0" dirty="0">
                <a:solidFill>
                  <a:srgbClr val="6B7C8B"/>
                </a:solidFill>
                <a:effectLst/>
                <a:latin typeface="inherit"/>
              </a:rPr>
              <a:t>(</a:t>
            </a:r>
            <a:r>
              <a:rPr lang="en-IN" b="0" i="0" dirty="0" err="1">
                <a:solidFill>
                  <a:srgbClr val="CFD5E0"/>
                </a:solidFill>
                <a:effectLst/>
                <a:latin typeface="inherit"/>
              </a:rPr>
              <a:t>allStudentDetails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a:t>
            </a:r>
            <a:r>
              <a:rPr lang="en-IN" b="0" i="0" dirty="0" err="1">
                <a:solidFill>
                  <a:srgbClr val="CFD5E0"/>
                </a:solidFill>
                <a:effectLst/>
                <a:latin typeface="inherit"/>
              </a:rPr>
              <a:t>JsonResult</a:t>
            </a:r>
            <a:r>
              <a:rPr lang="en-IN" b="0" i="0" dirty="0">
                <a:solidFill>
                  <a:srgbClr val="CFD5E0"/>
                </a:solidFill>
                <a:effectLst/>
                <a:latin typeface="inherit"/>
              </a:rPr>
              <a:t> </a:t>
            </a:r>
            <a:r>
              <a:rPr lang="en-IN" b="0" i="0" dirty="0" err="1">
                <a:solidFill>
                  <a:srgbClr val="4284AE"/>
                </a:solidFill>
                <a:effectLst/>
                <a:latin typeface="inherit"/>
              </a:rPr>
              <a:t>GetStudentDetails</a:t>
            </a:r>
            <a:r>
              <a:rPr lang="en-IN" b="1" i="0" dirty="0">
                <a:solidFill>
                  <a:srgbClr val="6B7C8B"/>
                </a:solidFill>
                <a:effectLst/>
                <a:latin typeface="inherit"/>
              </a:rPr>
              <a:t>(</a:t>
            </a:r>
            <a:r>
              <a:rPr lang="en-IN" b="1" i="0" dirty="0">
                <a:solidFill>
                  <a:srgbClr val="D171DD"/>
                </a:solidFill>
                <a:effectLst/>
                <a:latin typeface="inherit"/>
              </a:rPr>
              <a:t>int</a:t>
            </a:r>
            <a:r>
              <a:rPr lang="en-IN" b="0" i="0" dirty="0">
                <a:solidFill>
                  <a:srgbClr val="CFD5E0"/>
                </a:solidFill>
                <a:effectLst/>
                <a:latin typeface="inherit"/>
              </a:rPr>
              <a:t> Id</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TestStudentRepository</a:t>
            </a:r>
            <a:r>
              <a:rPr lang="en-IN" b="0" i="0" dirty="0">
                <a:solidFill>
                  <a:srgbClr val="CFD5E0"/>
                </a:solidFill>
                <a:effectLst/>
                <a:latin typeface="inherit"/>
              </a:rPr>
              <a:t> repository = </a:t>
            </a:r>
            <a:r>
              <a:rPr lang="en-IN" b="0" i="0" dirty="0">
                <a:solidFill>
                  <a:srgbClr val="4284AE"/>
                </a:solidFill>
                <a:effectLst/>
                <a:latin typeface="inherit"/>
              </a:rPr>
              <a:t>new</a:t>
            </a:r>
            <a:r>
              <a:rPr lang="en-IN" b="0" i="0" dirty="0">
                <a:solidFill>
                  <a:srgbClr val="CFD5E0"/>
                </a:solidFill>
                <a:effectLst/>
                <a:latin typeface="inherit"/>
              </a:rPr>
              <a:t> </a:t>
            </a:r>
            <a:r>
              <a:rPr lang="en-IN" b="0" i="0" dirty="0" err="1">
                <a:solidFill>
                  <a:srgbClr val="4284AE"/>
                </a:solidFill>
                <a:effectLst/>
                <a:latin typeface="inherit"/>
              </a:rPr>
              <a:t>TestStudentRepository</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Student </a:t>
            </a:r>
            <a:r>
              <a:rPr lang="en-IN" b="0" i="0" dirty="0" err="1">
                <a:solidFill>
                  <a:srgbClr val="CFD5E0"/>
                </a:solidFill>
                <a:effectLst/>
                <a:latin typeface="inherit"/>
              </a:rPr>
              <a:t>studentDetails</a:t>
            </a:r>
            <a:r>
              <a:rPr lang="en-IN" b="0" i="0" dirty="0">
                <a:solidFill>
                  <a:srgbClr val="CFD5E0"/>
                </a:solidFill>
                <a:effectLst/>
                <a:latin typeface="inherit"/>
              </a:rPr>
              <a:t> = </a:t>
            </a:r>
            <a:r>
              <a:rPr lang="en-IN" b="0" i="0" dirty="0" err="1">
                <a:solidFill>
                  <a:srgbClr val="CFD5E0"/>
                </a:solidFill>
                <a:effectLst/>
                <a:latin typeface="inherit"/>
              </a:rPr>
              <a:t>repository.</a:t>
            </a:r>
            <a:r>
              <a:rPr lang="en-IN" b="0" i="0" dirty="0" err="1">
                <a:solidFill>
                  <a:srgbClr val="4284AE"/>
                </a:solidFill>
                <a:effectLst/>
                <a:latin typeface="inherit"/>
              </a:rPr>
              <a:t>GetStudentById</a:t>
            </a:r>
            <a:r>
              <a:rPr lang="en-IN" b="1" i="0" dirty="0">
                <a:solidFill>
                  <a:srgbClr val="6B7C8B"/>
                </a:solidFill>
                <a:effectLst/>
                <a:latin typeface="inherit"/>
              </a:rPr>
              <a:t>(</a:t>
            </a:r>
            <a:r>
              <a:rPr lang="en-IN" b="0" i="0" dirty="0">
                <a:solidFill>
                  <a:srgbClr val="CFD5E0"/>
                </a:solidFill>
                <a:effectLst/>
                <a:latin typeface="inherit"/>
              </a:rPr>
              <a:t>Id</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return</a:t>
            </a:r>
            <a:r>
              <a:rPr lang="en-IN" b="0" i="0" dirty="0">
                <a:solidFill>
                  <a:srgbClr val="CFD5E0"/>
                </a:solidFill>
                <a:effectLst/>
                <a:latin typeface="inherit"/>
              </a:rPr>
              <a:t> </a:t>
            </a:r>
            <a:r>
              <a:rPr lang="en-IN" b="0" i="0" dirty="0">
                <a:solidFill>
                  <a:srgbClr val="4284AE"/>
                </a:solidFill>
                <a:effectLst/>
                <a:latin typeface="inherit"/>
              </a:rPr>
              <a:t>Json</a:t>
            </a:r>
            <a:r>
              <a:rPr lang="en-IN" b="1" i="0" dirty="0">
                <a:solidFill>
                  <a:srgbClr val="6B7C8B"/>
                </a:solidFill>
                <a:effectLst/>
                <a:latin typeface="inherit"/>
              </a:rPr>
              <a:t>(</a:t>
            </a:r>
            <a:r>
              <a:rPr lang="en-IN" b="0" i="0" dirty="0" err="1">
                <a:solidFill>
                  <a:srgbClr val="CFD5E0"/>
                </a:solidFill>
                <a:effectLst/>
                <a:latin typeface="inherit"/>
              </a:rPr>
              <a:t>studentDetails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  }</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
        <p:nvSpPr>
          <p:cNvPr id="9" name="TextBox 8">
            <a:extLst>
              <a:ext uri="{FF2B5EF4-FFF2-40B4-BE49-F238E27FC236}">
                <a16:creationId xmlns:a16="http://schemas.microsoft.com/office/drawing/2014/main" id="{583C2B1F-56D1-4A42-A3F6-FD6C291BE225}"/>
              </a:ext>
            </a:extLst>
          </p:cNvPr>
          <p:cNvSpPr txBox="1"/>
          <p:nvPr/>
        </p:nvSpPr>
        <p:spPr>
          <a:xfrm>
            <a:off x="7305964" y="961469"/>
            <a:ext cx="4785254" cy="2308324"/>
          </a:xfrm>
          <a:prstGeom prst="rect">
            <a:avLst/>
          </a:prstGeom>
          <a:noFill/>
        </p:spPr>
        <p:txBody>
          <a:bodyPr wrap="square">
            <a:spAutoFit/>
          </a:bodyPr>
          <a:lstStyle/>
          <a:p>
            <a:r>
              <a:rPr lang="en-US" b="0" i="0" dirty="0">
                <a:solidFill>
                  <a:srgbClr val="000000"/>
                </a:solidFill>
                <a:effectLst/>
                <a:latin typeface="arial" panose="020B0604020202020204" pitchFamily="34" charset="0"/>
              </a:rPr>
              <a:t>With the above changes in place, now run the application and check the above two methods and it should work as expected. Let us first understand what is the problem in the above implementation and how we can overcome this by using the dependency injection design pattern in the ASP.NET Core application.</a:t>
            </a:r>
            <a:endParaRPr lang="en-IN" dirty="0"/>
          </a:p>
        </p:txBody>
      </p:sp>
      <p:sp>
        <p:nvSpPr>
          <p:cNvPr id="11" name="TextBox 10">
            <a:extLst>
              <a:ext uri="{FF2B5EF4-FFF2-40B4-BE49-F238E27FC236}">
                <a16:creationId xmlns:a16="http://schemas.microsoft.com/office/drawing/2014/main" id="{AE875C4D-FCC5-4EBA-BC72-7DF0A9B3F14C}"/>
              </a:ext>
            </a:extLst>
          </p:cNvPr>
          <p:cNvSpPr txBox="1"/>
          <p:nvPr/>
        </p:nvSpPr>
        <p:spPr>
          <a:xfrm>
            <a:off x="7453745" y="3648854"/>
            <a:ext cx="4637473" cy="286232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What is Dependency Injection (DI) Design Pattern?</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The Dependency Injection a process of injecting the object of a class into a class that depends on it. The Dependency Injection is the most commonly used design pattern nowadays to remove the dependencies between the objects that allow us to develop loosely coupled software components.</a:t>
            </a:r>
            <a:endParaRPr lang="en-US" b="0" i="0" dirty="0">
              <a:solidFill>
                <a:srgbClr val="212529"/>
              </a:solidFill>
              <a:effectLst/>
              <a:latin typeface="-apple-system"/>
            </a:endParaRPr>
          </a:p>
        </p:txBody>
      </p:sp>
    </p:spTree>
    <p:extLst>
      <p:ext uri="{BB962C8B-B14F-4D97-AF65-F5344CB8AC3E}">
        <p14:creationId xmlns:p14="http://schemas.microsoft.com/office/powerpoint/2010/main" val="2368101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CA0D80-A465-4938-8187-0C2D696CAAF5}"/>
              </a:ext>
            </a:extLst>
          </p:cNvPr>
          <p:cNvSpPr txBox="1"/>
          <p:nvPr/>
        </p:nvSpPr>
        <p:spPr>
          <a:xfrm>
            <a:off x="1022555" y="204385"/>
            <a:ext cx="10766321" cy="1200329"/>
          </a:xfrm>
          <a:prstGeom prst="rect">
            <a:avLst/>
          </a:prstGeom>
          <a:noFill/>
        </p:spPr>
        <p:txBody>
          <a:bodyPr wrap="square">
            <a:spAutoFit/>
          </a:bodyPr>
          <a:lstStyle/>
          <a:p>
            <a:pPr algn="ctr" fontAlgn="base"/>
            <a:r>
              <a:rPr lang="en-US" b="1" i="0" dirty="0">
                <a:solidFill>
                  <a:srgbClr val="000000"/>
                </a:solidFill>
                <a:effectLst/>
                <a:latin typeface="arial" panose="020B0604020202020204" pitchFamily="34" charset="0"/>
              </a:rPr>
              <a:t>Dependency Injection in ASP.NET Core:</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The ASP.NET Core Framework is designed from scratch to support inbuilt support for Dependency Injection. The ASP.NET Core Framework injects objects of dependency classes through constructor or method by using a built-in IoC (Inversion of Control) container.</a:t>
            </a:r>
            <a:endParaRPr lang="en-US" b="0" i="0" dirty="0">
              <a:solidFill>
                <a:srgbClr val="212529"/>
              </a:solidFill>
              <a:effectLst/>
              <a:latin typeface="-apple-system"/>
            </a:endParaRPr>
          </a:p>
        </p:txBody>
      </p:sp>
      <p:pic>
        <p:nvPicPr>
          <p:cNvPr id="1026" name="Picture 2" descr=".NET Core Dependency Injection">
            <a:extLst>
              <a:ext uri="{FF2B5EF4-FFF2-40B4-BE49-F238E27FC236}">
                <a16:creationId xmlns:a16="http://schemas.microsoft.com/office/drawing/2014/main" id="{E11FD8FF-8F26-44AE-98DB-54F3FB723B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9862" y="1404714"/>
            <a:ext cx="4438650" cy="2286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1728EC-0119-43EB-89D2-A615A431547D}"/>
              </a:ext>
            </a:extLst>
          </p:cNvPr>
          <p:cNvSpPr txBox="1"/>
          <p:nvPr/>
        </p:nvSpPr>
        <p:spPr>
          <a:xfrm>
            <a:off x="-1" y="4050891"/>
            <a:ext cx="11985523" cy="2031325"/>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ASP.NET Core framework contains simple out-of-the-box IoC containers which do not have as many features as other third party IoC containers such as Unity, </a:t>
            </a:r>
            <a:r>
              <a:rPr lang="en-US" b="0" i="0" dirty="0" err="1">
                <a:solidFill>
                  <a:srgbClr val="000000"/>
                </a:solidFill>
                <a:effectLst/>
                <a:latin typeface="arial" panose="020B0604020202020204" pitchFamily="34" charset="0"/>
              </a:rPr>
              <a:t>StructureMap</a:t>
            </a:r>
            <a:r>
              <a:rPr lang="en-US" b="0" i="0" dirty="0">
                <a:solidFill>
                  <a:srgbClr val="000000"/>
                </a:solidFill>
                <a:effectLst/>
                <a:latin typeface="arial" panose="020B0604020202020204" pitchFamily="34" charset="0"/>
              </a:rPr>
              <a:t>, Castle Windsor, </a:t>
            </a:r>
            <a:r>
              <a:rPr lang="en-US" b="0" i="0" dirty="0" err="1">
                <a:solidFill>
                  <a:srgbClr val="000000"/>
                </a:solidFill>
                <a:effectLst/>
                <a:latin typeface="arial" panose="020B0604020202020204" pitchFamily="34" charset="0"/>
              </a:rPr>
              <a:t>Ninject</a:t>
            </a:r>
            <a:r>
              <a:rPr lang="en-US" b="0" i="0" dirty="0">
                <a:solidFill>
                  <a:srgbClr val="000000"/>
                </a:solidFill>
                <a:effectLst/>
                <a:latin typeface="arial" panose="020B0604020202020204" pitchFamily="34" charset="0"/>
              </a:rPr>
              <a:t>, etc. If you want more features such as auto-registration, scanning, interceptors, or decorators then you may replace the built-in IoC container with a third-party container.</a:t>
            </a:r>
          </a:p>
          <a:p>
            <a:pPr algn="just" fontAlgn="base"/>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The built-in container is represented by </a:t>
            </a:r>
            <a:r>
              <a:rPr lang="en-US" b="0" i="0" dirty="0" err="1">
                <a:solidFill>
                  <a:srgbClr val="000000"/>
                </a:solidFill>
                <a:effectLst/>
                <a:latin typeface="arial" panose="020B0604020202020204" pitchFamily="34" charset="0"/>
              </a:rPr>
              <a:t>IServiceCollection</a:t>
            </a:r>
            <a:r>
              <a:rPr lang="en-US" b="0" i="0" dirty="0">
                <a:solidFill>
                  <a:srgbClr val="000000"/>
                </a:solidFill>
                <a:effectLst/>
                <a:latin typeface="arial" panose="020B0604020202020204" pitchFamily="34" charset="0"/>
              </a:rPr>
              <a:t> implementation that supports constructor injection by default. The types (classes) managed by built-in IoC containers are called services.</a:t>
            </a:r>
            <a:endParaRPr lang="en-US" b="0" i="0" dirty="0">
              <a:solidFill>
                <a:srgbClr val="212529"/>
              </a:solidFill>
              <a:effectLst/>
              <a:latin typeface="-apple-system"/>
            </a:endParaRPr>
          </a:p>
        </p:txBody>
      </p:sp>
    </p:spTree>
    <p:extLst>
      <p:ext uri="{BB962C8B-B14F-4D97-AF65-F5344CB8AC3E}">
        <p14:creationId xmlns:p14="http://schemas.microsoft.com/office/powerpoint/2010/main" val="2196189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EF68BC-B957-40A4-A611-5A7FCC74E439}"/>
              </a:ext>
            </a:extLst>
          </p:cNvPr>
          <p:cNvSpPr txBox="1"/>
          <p:nvPr/>
        </p:nvSpPr>
        <p:spPr>
          <a:xfrm>
            <a:off x="294967" y="110808"/>
            <a:ext cx="11700387" cy="2308324"/>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Types of Services in ASP.NET Core:</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There are two types of services in ASP.NET Core. They are as follows:</a:t>
            </a:r>
            <a:endParaRPr lang="en-US" b="0" i="0" dirty="0">
              <a:solidFill>
                <a:srgbClr val="212529"/>
              </a:solidFill>
              <a:effectLst/>
              <a:latin typeface="-apple-system"/>
            </a:endParaRPr>
          </a:p>
          <a:p>
            <a:pPr algn="just" fontAlgn="base">
              <a:buFont typeface="+mj-lt"/>
              <a:buAutoNum type="arabicPeriod"/>
            </a:pPr>
            <a:r>
              <a:rPr lang="en-US" b="1" i="0" dirty="0">
                <a:solidFill>
                  <a:srgbClr val="000000"/>
                </a:solidFill>
                <a:effectLst/>
                <a:latin typeface="arial" panose="020B0604020202020204" pitchFamily="34" charset="0"/>
              </a:rPr>
              <a:t>Framework Services:</a:t>
            </a:r>
            <a:r>
              <a:rPr lang="en-US" b="0" i="0" dirty="0">
                <a:solidFill>
                  <a:srgbClr val="000000"/>
                </a:solidFill>
                <a:effectLst/>
                <a:latin typeface="arial" panose="020B0604020202020204" pitchFamily="34" charset="0"/>
              </a:rPr>
              <a:t> Services that are a part of the ASP.NET Core framework such as </a:t>
            </a:r>
            <a:r>
              <a:rPr lang="en-US" b="0" i="0" dirty="0" err="1">
                <a:solidFill>
                  <a:srgbClr val="000000"/>
                </a:solidFill>
                <a:effectLst/>
                <a:latin typeface="arial" panose="020B0604020202020204" pitchFamily="34" charset="0"/>
              </a:rPr>
              <a:t>IApplicationBuilder</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IHostingEnvironment</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ILoggerFactory</a:t>
            </a:r>
            <a:r>
              <a:rPr lang="en-US" b="0" i="0" dirty="0">
                <a:solidFill>
                  <a:srgbClr val="000000"/>
                </a:solidFill>
                <a:effectLst/>
                <a:latin typeface="arial" panose="020B0604020202020204" pitchFamily="34" charset="0"/>
              </a:rPr>
              <a:t>, etc.</a:t>
            </a:r>
            <a:endParaRPr lang="en-US" b="0" i="0" dirty="0">
              <a:solidFill>
                <a:srgbClr val="212529"/>
              </a:solidFill>
              <a:effectLst/>
              <a:latin typeface="-apple-system"/>
            </a:endParaRPr>
          </a:p>
          <a:p>
            <a:pPr algn="just" fontAlgn="base">
              <a:buFont typeface="+mj-lt"/>
              <a:buAutoNum type="arabicPeriod"/>
            </a:pPr>
            <a:r>
              <a:rPr lang="en-US" b="1" i="0" dirty="0">
                <a:solidFill>
                  <a:srgbClr val="000000"/>
                </a:solidFill>
                <a:effectLst/>
                <a:latin typeface="arial" panose="020B0604020202020204" pitchFamily="34" charset="0"/>
              </a:rPr>
              <a:t>Application Services:</a:t>
            </a:r>
            <a:r>
              <a:rPr lang="en-US" b="0" i="0" dirty="0">
                <a:solidFill>
                  <a:srgbClr val="000000"/>
                </a:solidFill>
                <a:effectLst/>
                <a:latin typeface="arial" panose="020B0604020202020204" pitchFamily="34" charset="0"/>
              </a:rPr>
              <a:t> The services (custom types or classes) which you as a programmer create for your application.</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In order to let the IoC container automatically inject our application services, we first need to register them with the IoC container.</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9B16B2AD-931F-4773-BCEE-995472D8B770}"/>
              </a:ext>
            </a:extLst>
          </p:cNvPr>
          <p:cNvSpPr txBox="1"/>
          <p:nvPr/>
        </p:nvSpPr>
        <p:spPr>
          <a:xfrm>
            <a:off x="442450" y="2690336"/>
            <a:ext cx="11552903"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register a Service with ASP.NET Core Dependency Injection Container?</a:t>
            </a:r>
          </a:p>
        </p:txBody>
      </p:sp>
      <p:sp>
        <p:nvSpPr>
          <p:cNvPr id="12" name="TextBox 11">
            <a:extLst>
              <a:ext uri="{FF2B5EF4-FFF2-40B4-BE49-F238E27FC236}">
                <a16:creationId xmlns:a16="http://schemas.microsoft.com/office/drawing/2014/main" id="{075F8DD2-AE2B-47A6-B5B2-D7981C7AFD5A}"/>
              </a:ext>
            </a:extLst>
          </p:cNvPr>
          <p:cNvSpPr txBox="1"/>
          <p:nvPr/>
        </p:nvSpPr>
        <p:spPr>
          <a:xfrm>
            <a:off x="506360" y="3765588"/>
            <a:ext cx="11277600" cy="1477328"/>
          </a:xfrm>
          <a:prstGeom prst="rect">
            <a:avLst/>
          </a:prstGeom>
          <a:noFill/>
        </p:spPr>
        <p:txBody>
          <a:bodyPr wrap="square">
            <a:spAutoFit/>
          </a:bodyPr>
          <a:lstStyle/>
          <a:p>
            <a:r>
              <a:rPr lang="en-US" b="0" i="0" dirty="0">
                <a:solidFill>
                  <a:srgbClr val="000000"/>
                </a:solidFill>
                <a:effectLst/>
                <a:latin typeface="arial" panose="020B0604020202020204" pitchFamily="34" charset="0"/>
              </a:rPr>
              <a:t>Before we discuss how to register a service with the Dependency Injection Container, it is important to understand the lifetime of service. When a class receives the dependency object through dependency injection, then whether the instance it receives is unique to that instance of the class or not depends on the </a:t>
            </a:r>
            <a:r>
              <a:rPr lang="en-US" b="1" i="0" dirty="0">
                <a:solidFill>
                  <a:srgbClr val="000000"/>
                </a:solidFill>
                <a:effectLst/>
                <a:latin typeface="arial" panose="020B0604020202020204" pitchFamily="34" charset="0"/>
              </a:rPr>
              <a:t>lifetime of the service</a:t>
            </a:r>
            <a:r>
              <a:rPr lang="en-US" b="0" i="0" dirty="0">
                <a:solidFill>
                  <a:srgbClr val="000000"/>
                </a:solidFill>
                <a:effectLst/>
                <a:latin typeface="arial" panose="020B0604020202020204" pitchFamily="34" charset="0"/>
              </a:rPr>
              <a:t>. Setting the lifetime of the dependency object determines how many times the dependency object needs to be created.</a:t>
            </a:r>
            <a:endParaRPr lang="en-IN" dirty="0"/>
          </a:p>
        </p:txBody>
      </p:sp>
    </p:spTree>
    <p:extLst>
      <p:ext uri="{BB962C8B-B14F-4D97-AF65-F5344CB8AC3E}">
        <p14:creationId xmlns:p14="http://schemas.microsoft.com/office/powerpoint/2010/main" val="3635998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C2426D-1C0A-42BF-98D1-E7C09354CB2C}"/>
              </a:ext>
            </a:extLst>
          </p:cNvPr>
          <p:cNvSpPr txBox="1"/>
          <p:nvPr/>
        </p:nvSpPr>
        <p:spPr>
          <a:xfrm>
            <a:off x="580104" y="95383"/>
            <a:ext cx="10943302" cy="1477328"/>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What are the different methods ASP.NET Core Provides to register a service with Dependency Injection Contains?</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The ASP.NET core provides 3 methods to register a service with the ASP.NET Core Dependency Injection container as follows. The method that we use to register a service will determine the lifetime of that service.</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6D9F0458-E8EF-4633-B767-74E39D359316}"/>
              </a:ext>
            </a:extLst>
          </p:cNvPr>
          <p:cNvSpPr txBox="1"/>
          <p:nvPr/>
        </p:nvSpPr>
        <p:spPr>
          <a:xfrm>
            <a:off x="452283" y="1740761"/>
            <a:ext cx="2064775" cy="923330"/>
          </a:xfrm>
          <a:prstGeom prst="rect">
            <a:avLst/>
          </a:prstGeom>
          <a:noFill/>
        </p:spPr>
        <p:txBody>
          <a:bodyPr wrap="square">
            <a:spAutoFit/>
          </a:bodyPr>
          <a:lstStyle/>
          <a:p>
            <a:pPr algn="just" fontAlgn="base">
              <a:buFont typeface="+mj-lt"/>
              <a:buAutoNum type="arabicPeriod"/>
            </a:pPr>
            <a:r>
              <a:rPr lang="en-IN" b="1" i="0" dirty="0">
                <a:solidFill>
                  <a:srgbClr val="0000FF"/>
                </a:solidFill>
                <a:effectLst/>
                <a:latin typeface="arial" panose="020B0604020202020204" pitchFamily="34" charset="0"/>
              </a:rPr>
              <a:t>Singleton</a:t>
            </a:r>
            <a:endParaRPr lang="en-IN" b="0" i="0" dirty="0">
              <a:solidFill>
                <a:srgbClr val="212529"/>
              </a:solidFill>
              <a:effectLst/>
              <a:latin typeface="-apple-system"/>
            </a:endParaRPr>
          </a:p>
          <a:p>
            <a:pPr algn="just" fontAlgn="base">
              <a:buFont typeface="+mj-lt"/>
              <a:buAutoNum type="arabicPeriod"/>
            </a:pPr>
            <a:r>
              <a:rPr lang="en-IN" b="1" i="0" dirty="0">
                <a:solidFill>
                  <a:srgbClr val="0000FF"/>
                </a:solidFill>
                <a:effectLst/>
                <a:latin typeface="arial" panose="020B0604020202020204" pitchFamily="34" charset="0"/>
              </a:rPr>
              <a:t>Transient</a:t>
            </a:r>
            <a:endParaRPr lang="en-IN" b="0" i="0" dirty="0">
              <a:solidFill>
                <a:srgbClr val="212529"/>
              </a:solidFill>
              <a:effectLst/>
              <a:latin typeface="-apple-system"/>
            </a:endParaRPr>
          </a:p>
          <a:p>
            <a:pPr algn="just" fontAlgn="base">
              <a:buFont typeface="+mj-lt"/>
              <a:buAutoNum type="arabicPeriod"/>
            </a:pPr>
            <a:r>
              <a:rPr lang="en-IN" b="1" i="0" dirty="0">
                <a:solidFill>
                  <a:srgbClr val="0000FF"/>
                </a:solidFill>
                <a:effectLst/>
                <a:latin typeface="arial" panose="020B0604020202020204" pitchFamily="34" charset="0"/>
              </a:rPr>
              <a:t>Scoped</a:t>
            </a:r>
            <a:endParaRPr lang="en-IN" b="0" i="0" dirty="0">
              <a:solidFill>
                <a:srgbClr val="212529"/>
              </a:solidFill>
              <a:effectLst/>
              <a:latin typeface="-apple-system"/>
            </a:endParaRPr>
          </a:p>
        </p:txBody>
      </p:sp>
      <p:sp>
        <p:nvSpPr>
          <p:cNvPr id="9" name="TextBox 8">
            <a:extLst>
              <a:ext uri="{FF2B5EF4-FFF2-40B4-BE49-F238E27FC236}">
                <a16:creationId xmlns:a16="http://schemas.microsoft.com/office/drawing/2014/main" id="{FCE70722-2B46-499D-A98C-B96E0FE195E6}"/>
              </a:ext>
            </a:extLst>
          </p:cNvPr>
          <p:cNvSpPr txBox="1"/>
          <p:nvPr/>
        </p:nvSpPr>
        <p:spPr>
          <a:xfrm>
            <a:off x="353961" y="2664091"/>
            <a:ext cx="11503741" cy="2308324"/>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Singleton:</a:t>
            </a:r>
            <a:r>
              <a:rPr lang="en-US" b="0" i="0" dirty="0">
                <a:solidFill>
                  <a:srgbClr val="000000"/>
                </a:solidFill>
                <a:effectLst/>
                <a:latin typeface="arial" panose="020B0604020202020204" pitchFamily="34" charset="0"/>
              </a:rPr>
              <a:t> In this case, the IoC container will create and share a single instance of a service object throughout the application’s lifetime.</a:t>
            </a:r>
            <a:endParaRPr lang="en-US" b="0" i="0" dirty="0">
              <a:solidFill>
                <a:srgbClr val="212529"/>
              </a:solidFill>
              <a:effectLst/>
              <a:latin typeface="-apple-system"/>
            </a:endParaRPr>
          </a:p>
          <a:p>
            <a:pPr algn="just" fontAlgn="base"/>
            <a:r>
              <a:rPr lang="en-US" b="1" i="0" dirty="0">
                <a:solidFill>
                  <a:srgbClr val="000000"/>
                </a:solidFill>
                <a:effectLst/>
                <a:latin typeface="arial" panose="020B0604020202020204" pitchFamily="34" charset="0"/>
              </a:rPr>
              <a:t>Transient:</a:t>
            </a:r>
            <a:r>
              <a:rPr lang="en-US" b="0" i="0" dirty="0">
                <a:solidFill>
                  <a:srgbClr val="000000"/>
                </a:solidFill>
                <a:effectLst/>
                <a:latin typeface="arial" panose="020B0604020202020204" pitchFamily="34" charset="0"/>
              </a:rPr>
              <a:t> In this case, the IoC container will create a new instance of the specified service type every time you ask for it.</a:t>
            </a:r>
            <a:endParaRPr lang="en-US" b="0" i="0" dirty="0">
              <a:solidFill>
                <a:srgbClr val="212529"/>
              </a:solidFill>
              <a:effectLst/>
              <a:latin typeface="-apple-system"/>
            </a:endParaRPr>
          </a:p>
          <a:p>
            <a:pPr algn="just" fontAlgn="base"/>
            <a:r>
              <a:rPr lang="en-US" b="1" i="0" dirty="0">
                <a:solidFill>
                  <a:srgbClr val="000000"/>
                </a:solidFill>
                <a:effectLst/>
                <a:latin typeface="arial" panose="020B0604020202020204" pitchFamily="34" charset="0"/>
              </a:rPr>
              <a:t>Scoped:</a:t>
            </a:r>
            <a:r>
              <a:rPr lang="en-US" b="0" i="0" dirty="0">
                <a:solidFill>
                  <a:srgbClr val="000000"/>
                </a:solidFill>
                <a:effectLst/>
                <a:latin typeface="arial" panose="020B0604020202020204" pitchFamily="34" charset="0"/>
              </a:rPr>
              <a:t> In this case, the IoC container will create an instance of the specified service type once per request and will be shared in a single request.</a:t>
            </a:r>
            <a:endParaRPr lang="en-US" b="0" i="0" dirty="0">
              <a:solidFill>
                <a:srgbClr val="212529"/>
              </a:solidFill>
              <a:effectLst/>
              <a:latin typeface="-apple-system"/>
            </a:endParaRPr>
          </a:p>
          <a:p>
            <a:pPr algn="just" fontAlgn="base"/>
            <a:r>
              <a:rPr lang="en-US" b="1" i="0" dirty="0">
                <a:solidFill>
                  <a:srgbClr val="000000"/>
                </a:solidFill>
                <a:effectLst/>
                <a:latin typeface="arial" panose="020B0604020202020204" pitchFamily="34" charset="0"/>
              </a:rPr>
              <a:t>Note:</a:t>
            </a:r>
            <a:r>
              <a:rPr lang="en-US" b="0" i="0" dirty="0">
                <a:solidFill>
                  <a:srgbClr val="000000"/>
                </a:solidFill>
                <a:effectLst/>
                <a:latin typeface="arial" panose="020B0604020202020204" pitchFamily="34" charset="0"/>
              </a:rPr>
              <a:t> The Built-in IoC container manages the lifetime of a registered service. It automatically disposes of a service instance based on the specified lifetime.</a:t>
            </a:r>
            <a:endParaRPr lang="en-US" b="0" i="0" dirty="0">
              <a:solidFill>
                <a:srgbClr val="212529"/>
              </a:solidFill>
              <a:effectLst/>
              <a:latin typeface="-apple-system"/>
            </a:endParaRPr>
          </a:p>
        </p:txBody>
      </p:sp>
    </p:spTree>
    <p:extLst>
      <p:ext uri="{BB962C8B-B14F-4D97-AF65-F5344CB8AC3E}">
        <p14:creationId xmlns:p14="http://schemas.microsoft.com/office/powerpoint/2010/main" val="467847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C751AF0-16A7-4C19-BB8C-52E1846581CF}"/>
              </a:ext>
            </a:extLst>
          </p:cNvPr>
          <p:cNvSpPr txBox="1"/>
          <p:nvPr/>
        </p:nvSpPr>
        <p:spPr>
          <a:xfrm>
            <a:off x="186813" y="0"/>
            <a:ext cx="11651225" cy="646331"/>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Registering the </a:t>
            </a:r>
            <a:r>
              <a:rPr lang="en-US" b="1" i="0" dirty="0" err="1">
                <a:solidFill>
                  <a:srgbClr val="000000"/>
                </a:solidFill>
                <a:effectLst/>
                <a:latin typeface="arial" panose="020B0604020202020204" pitchFamily="34" charset="0"/>
              </a:rPr>
              <a:t>TestStudentRepository</a:t>
            </a:r>
            <a:r>
              <a:rPr lang="en-US" b="1" i="0" dirty="0">
                <a:solidFill>
                  <a:srgbClr val="000000"/>
                </a:solidFill>
                <a:effectLst/>
                <a:latin typeface="arial" panose="020B0604020202020204" pitchFamily="34" charset="0"/>
              </a:rPr>
              <a:t> with ASP.NET Core Dependency Injection </a:t>
            </a:r>
          </a:p>
          <a:p>
            <a:pPr algn="just" fontAlgn="base"/>
            <a:r>
              <a:rPr lang="en-US" b="0" i="0" dirty="0">
                <a:solidFill>
                  <a:srgbClr val="000000"/>
                </a:solidFill>
                <a:effectLst/>
                <a:latin typeface="arial" panose="020B0604020202020204" pitchFamily="34" charset="0"/>
              </a:rPr>
              <a:t>The following code shows how to register a service with different lifetimes:</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B7DF118B-A86E-47FD-B401-9705BDE30C0C}"/>
              </a:ext>
            </a:extLst>
          </p:cNvPr>
          <p:cNvSpPr txBox="1"/>
          <p:nvPr/>
        </p:nvSpPr>
        <p:spPr>
          <a:xfrm>
            <a:off x="186813" y="572348"/>
            <a:ext cx="11356258" cy="6186309"/>
          </a:xfrm>
          <a:prstGeom prst="rect">
            <a:avLst/>
          </a:prstGeom>
          <a:solidFill>
            <a:schemeClr val="tx1"/>
          </a:solidFill>
        </p:spPr>
        <p:txBody>
          <a:bodyPr wrap="square">
            <a:spAutoFit/>
          </a:bodyPr>
          <a:lstStyle/>
          <a:p>
            <a:pPr algn="l" fontAlgn="base"/>
            <a:endParaRPr lang="en-IN" b="0" i="0" dirty="0">
              <a:solidFill>
                <a:schemeClr val="bg1"/>
              </a:solidFill>
              <a:effectLst/>
              <a:latin typeface="inherit"/>
            </a:endParaRPr>
          </a:p>
          <a:p>
            <a:r>
              <a:rPr lang="en-IN" dirty="0">
                <a:solidFill>
                  <a:schemeClr val="bg1"/>
                </a:solidFill>
              </a:rPr>
              <a:t> public class Program</a:t>
            </a:r>
          </a:p>
          <a:p>
            <a:r>
              <a:rPr lang="en-IN" dirty="0">
                <a:solidFill>
                  <a:schemeClr val="bg1"/>
                </a:solidFill>
              </a:rPr>
              <a:t>    {</a:t>
            </a:r>
          </a:p>
          <a:p>
            <a:r>
              <a:rPr lang="en-US" dirty="0">
                <a:solidFill>
                  <a:schemeClr val="bg1"/>
                </a:solidFill>
              </a:rPr>
              <a:t>        public static void Main(string[] </a:t>
            </a:r>
            <a:r>
              <a:rPr lang="en-US" dirty="0" err="1">
                <a:solidFill>
                  <a:schemeClr val="bg1"/>
                </a:solidFill>
              </a:rPr>
              <a:t>args</a:t>
            </a:r>
            <a:r>
              <a:rPr lang="en-US" dirty="0">
                <a:solidFill>
                  <a:schemeClr val="bg1"/>
                </a:solidFill>
              </a:rPr>
              <a:t>)</a:t>
            </a:r>
          </a:p>
          <a:p>
            <a:r>
              <a:rPr lang="en-IN" dirty="0">
                <a:solidFill>
                  <a:schemeClr val="bg1"/>
                </a:solidFill>
              </a:rPr>
              <a:t>        {</a:t>
            </a:r>
          </a:p>
          <a:p>
            <a:r>
              <a:rPr lang="en-IN" dirty="0">
                <a:solidFill>
                  <a:schemeClr val="bg1"/>
                </a:solidFill>
              </a:rPr>
              <a:t>            </a:t>
            </a:r>
            <a:r>
              <a:rPr lang="en-IN" dirty="0" err="1">
                <a:solidFill>
                  <a:schemeClr val="bg1"/>
                </a:solidFill>
              </a:rPr>
              <a:t>var</a:t>
            </a:r>
            <a:r>
              <a:rPr lang="en-IN" dirty="0">
                <a:solidFill>
                  <a:schemeClr val="bg1"/>
                </a:solidFill>
              </a:rPr>
              <a:t> builder = </a:t>
            </a:r>
            <a:r>
              <a:rPr lang="en-IN" dirty="0" err="1">
                <a:solidFill>
                  <a:schemeClr val="bg1"/>
                </a:solidFill>
              </a:rPr>
              <a:t>WebApplication.CreateBuilder</a:t>
            </a:r>
            <a:r>
              <a:rPr lang="en-IN" dirty="0">
                <a:solidFill>
                  <a:schemeClr val="bg1"/>
                </a:solidFill>
              </a:rPr>
              <a:t>(</a:t>
            </a:r>
            <a:r>
              <a:rPr lang="en-IN" dirty="0" err="1">
                <a:solidFill>
                  <a:schemeClr val="bg1"/>
                </a:solidFill>
              </a:rPr>
              <a:t>args</a:t>
            </a:r>
            <a:r>
              <a:rPr lang="en-IN" dirty="0">
                <a:solidFill>
                  <a:schemeClr val="bg1"/>
                </a:solidFill>
              </a:rPr>
              <a:t>);</a:t>
            </a:r>
          </a:p>
          <a:p>
            <a:endParaRPr lang="en-IN" dirty="0">
              <a:solidFill>
                <a:schemeClr val="bg1"/>
              </a:solidFill>
            </a:endParaRPr>
          </a:p>
          <a:p>
            <a:r>
              <a:rPr lang="en-US" dirty="0">
                <a:solidFill>
                  <a:schemeClr val="bg1"/>
                </a:solidFill>
              </a:rPr>
              <a:t>            // Add services to the container.</a:t>
            </a:r>
          </a:p>
          <a:p>
            <a:r>
              <a:rPr lang="en-IN" dirty="0">
                <a:solidFill>
                  <a:schemeClr val="bg1"/>
                </a:solidFill>
              </a:rPr>
              <a:t>          </a:t>
            </a:r>
          </a:p>
          <a:p>
            <a:r>
              <a:rPr lang="en-IN" dirty="0">
                <a:solidFill>
                  <a:schemeClr val="bg1"/>
                </a:solidFill>
              </a:rPr>
              <a:t>            </a:t>
            </a:r>
            <a:r>
              <a:rPr lang="en-IN" dirty="0" err="1">
                <a:solidFill>
                  <a:schemeClr val="bg1"/>
                </a:solidFill>
              </a:rPr>
              <a:t>builder.Services.AddControllersWithViews</a:t>
            </a:r>
            <a:r>
              <a:rPr lang="en-IN" dirty="0">
                <a:solidFill>
                  <a:schemeClr val="bg1"/>
                </a:solidFill>
              </a:rPr>
              <a:t>();</a:t>
            </a:r>
          </a:p>
          <a:p>
            <a:r>
              <a:rPr lang="en-IN" dirty="0">
                <a:solidFill>
                  <a:schemeClr val="bg1"/>
                </a:solidFill>
              </a:rPr>
              <a:t>            </a:t>
            </a:r>
            <a:r>
              <a:rPr lang="en-IN" dirty="0" err="1">
                <a:solidFill>
                  <a:schemeClr val="bg1"/>
                </a:solidFill>
              </a:rPr>
              <a:t>var</a:t>
            </a:r>
            <a:r>
              <a:rPr lang="en-IN" dirty="0">
                <a:solidFill>
                  <a:schemeClr val="bg1"/>
                </a:solidFill>
              </a:rPr>
              <a:t> services = </a:t>
            </a:r>
            <a:r>
              <a:rPr lang="en-IN" dirty="0" err="1">
                <a:solidFill>
                  <a:schemeClr val="bg1"/>
                </a:solidFill>
              </a:rPr>
              <a:t>builder.Services</a:t>
            </a:r>
            <a:r>
              <a:rPr lang="en-IN" dirty="0">
                <a:solidFill>
                  <a:schemeClr val="bg1"/>
                </a:solidFill>
              </a:rPr>
              <a:t>;</a:t>
            </a:r>
            <a:endParaRPr lang="en-IN" dirty="0">
              <a:solidFill>
                <a:schemeClr val="bg1"/>
              </a:solidFill>
              <a:latin typeface="inherit"/>
            </a:endParaRPr>
          </a:p>
          <a:p>
            <a:pPr algn="l" fontAlgn="base"/>
            <a:endParaRPr lang="en-IN" b="0" i="0" dirty="0">
              <a:solidFill>
                <a:srgbClr val="6B7C8B"/>
              </a:solidFill>
              <a:effectLst/>
              <a:latin typeface="inherit"/>
            </a:endParaRPr>
          </a:p>
          <a:p>
            <a:pPr algn="l" fontAlgn="base"/>
            <a:r>
              <a:rPr lang="en-IN" b="0" i="0" dirty="0">
                <a:solidFill>
                  <a:srgbClr val="6B7C8B"/>
                </a:solidFill>
                <a:effectLst/>
                <a:latin typeface="inherit"/>
              </a:rPr>
              <a:t>//Application Service</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services.</a:t>
            </a:r>
            <a:r>
              <a:rPr lang="en-IN" b="0" i="0" dirty="0" err="1">
                <a:solidFill>
                  <a:srgbClr val="4284AE"/>
                </a:solidFill>
                <a:effectLst/>
                <a:latin typeface="inherit"/>
              </a:rPr>
              <a:t>Add</a:t>
            </a:r>
            <a:r>
              <a:rPr lang="en-IN" b="1" i="0" dirty="0">
                <a:solidFill>
                  <a:srgbClr val="6B7C8B"/>
                </a:solidFill>
                <a:effectLst/>
                <a:latin typeface="inherit"/>
              </a:rPr>
              <a:t>(</a:t>
            </a:r>
            <a:r>
              <a:rPr lang="en-IN" b="0" i="0" dirty="0">
                <a:solidFill>
                  <a:srgbClr val="4284AE"/>
                </a:solidFill>
                <a:effectLst/>
                <a:latin typeface="inherit"/>
              </a:rPr>
              <a:t>new</a:t>
            </a:r>
            <a:r>
              <a:rPr lang="en-IN" b="0" i="0" dirty="0">
                <a:solidFill>
                  <a:srgbClr val="CFD5E0"/>
                </a:solidFill>
                <a:effectLst/>
                <a:latin typeface="inherit"/>
              </a:rPr>
              <a:t> </a:t>
            </a:r>
            <a:r>
              <a:rPr lang="en-IN" b="0" i="0" dirty="0" err="1">
                <a:solidFill>
                  <a:srgbClr val="4284AE"/>
                </a:solidFill>
                <a:effectLst/>
                <a:latin typeface="inherit"/>
              </a:rPr>
              <a:t>ServiceDescriptor</a:t>
            </a:r>
            <a:r>
              <a:rPr lang="en-IN" b="1" i="0" dirty="0">
                <a:solidFill>
                  <a:srgbClr val="6B7C8B"/>
                </a:solidFill>
                <a:effectLst/>
                <a:latin typeface="inherit"/>
              </a:rPr>
              <a:t>(</a:t>
            </a:r>
            <a:r>
              <a:rPr lang="en-IN" b="0" i="0" dirty="0" err="1">
                <a:solidFill>
                  <a:srgbClr val="4284AE"/>
                </a:solidFill>
                <a:effectLst/>
                <a:latin typeface="inherit"/>
              </a:rPr>
              <a:t>typeof</a:t>
            </a:r>
            <a:r>
              <a:rPr lang="en-IN" b="1" i="0" dirty="0">
                <a:solidFill>
                  <a:srgbClr val="6B7C8B"/>
                </a:solidFill>
                <a:effectLst/>
                <a:latin typeface="inherit"/>
              </a:rPr>
              <a:t>(</a:t>
            </a:r>
            <a:r>
              <a:rPr lang="en-IN" b="0" i="0" dirty="0" err="1">
                <a:solidFill>
                  <a:srgbClr val="CFD5E0"/>
                </a:solidFill>
                <a:effectLst/>
                <a:latin typeface="inherit"/>
              </a:rPr>
              <a:t>IStudentRepository</a:t>
            </a:r>
            <a:r>
              <a:rPr lang="en-IN" b="1" i="0" dirty="0">
                <a:solidFill>
                  <a:srgbClr val="6B7C8B"/>
                </a:solidFill>
                <a:effectLst/>
                <a:latin typeface="inherit"/>
              </a:rPr>
              <a:t>)</a:t>
            </a:r>
            <a:r>
              <a:rPr lang="en-IN" b="0" i="0" dirty="0">
                <a:solidFill>
                  <a:srgbClr val="CFD5E0"/>
                </a:solidFill>
                <a:effectLst/>
                <a:latin typeface="inherit"/>
              </a:rPr>
              <a:t>, </a:t>
            </a:r>
            <a:r>
              <a:rPr lang="en-IN" b="0" i="0" dirty="0">
                <a:solidFill>
                  <a:srgbClr val="4284AE"/>
                </a:solidFill>
                <a:effectLst/>
                <a:latin typeface="inherit"/>
              </a:rPr>
              <a:t>new</a:t>
            </a:r>
            <a:r>
              <a:rPr lang="en-IN" b="0" i="0" dirty="0">
                <a:solidFill>
                  <a:srgbClr val="CFD5E0"/>
                </a:solidFill>
                <a:effectLst/>
                <a:latin typeface="inherit"/>
              </a:rPr>
              <a:t> </a:t>
            </a:r>
            <a:r>
              <a:rPr lang="en-IN" b="0" i="0" dirty="0" err="1">
                <a:solidFill>
                  <a:srgbClr val="4284AE"/>
                </a:solidFill>
                <a:effectLst/>
                <a:latin typeface="inherit"/>
              </a:rPr>
              <a:t>TestStudentRepository</a:t>
            </a:r>
            <a:r>
              <a:rPr lang="en-IN" b="1" i="0" dirty="0">
                <a:solidFill>
                  <a:srgbClr val="6B7C8B"/>
                </a:solidFill>
                <a:effectLst/>
                <a:latin typeface="inherit"/>
              </a:rPr>
              <a:t>()))</a:t>
            </a:r>
            <a:r>
              <a:rPr lang="en-IN" b="0" i="0" dirty="0">
                <a:solidFill>
                  <a:srgbClr val="CFD5E0"/>
                </a:solidFill>
                <a:effectLst/>
                <a:latin typeface="inherit"/>
              </a:rPr>
              <a:t>;</a:t>
            </a:r>
            <a:r>
              <a:rPr lang="en-IN" b="0" i="0" dirty="0">
                <a:solidFill>
                  <a:srgbClr val="6B7C8B"/>
                </a:solidFill>
                <a:effectLst/>
                <a:latin typeface="inherit"/>
              </a:rPr>
              <a:t> // by default singleton</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services.</a:t>
            </a:r>
            <a:r>
              <a:rPr lang="en-IN" b="0" i="0" dirty="0" err="1">
                <a:solidFill>
                  <a:srgbClr val="4284AE"/>
                </a:solidFill>
                <a:effectLst/>
                <a:latin typeface="inherit"/>
              </a:rPr>
              <a:t>Add</a:t>
            </a:r>
            <a:r>
              <a:rPr lang="en-IN" b="1" i="0" dirty="0">
                <a:solidFill>
                  <a:srgbClr val="6B7C8B"/>
                </a:solidFill>
                <a:effectLst/>
                <a:latin typeface="inherit"/>
              </a:rPr>
              <a:t>(</a:t>
            </a:r>
            <a:r>
              <a:rPr lang="en-IN" b="0" i="0" dirty="0">
                <a:solidFill>
                  <a:srgbClr val="4284AE"/>
                </a:solidFill>
                <a:effectLst/>
                <a:latin typeface="inherit"/>
              </a:rPr>
              <a:t>new</a:t>
            </a:r>
            <a:r>
              <a:rPr lang="en-IN" b="0" i="0" dirty="0">
                <a:solidFill>
                  <a:srgbClr val="CFD5E0"/>
                </a:solidFill>
                <a:effectLst/>
                <a:latin typeface="inherit"/>
              </a:rPr>
              <a:t> </a:t>
            </a:r>
            <a:r>
              <a:rPr lang="en-IN" b="0" i="0" dirty="0" err="1">
                <a:solidFill>
                  <a:srgbClr val="4284AE"/>
                </a:solidFill>
                <a:effectLst/>
                <a:latin typeface="inherit"/>
              </a:rPr>
              <a:t>ServiceDescriptor</a:t>
            </a:r>
            <a:r>
              <a:rPr lang="en-IN" b="1" i="0" dirty="0">
                <a:solidFill>
                  <a:srgbClr val="6B7C8B"/>
                </a:solidFill>
                <a:effectLst/>
                <a:latin typeface="inherit"/>
              </a:rPr>
              <a:t>(</a:t>
            </a:r>
            <a:r>
              <a:rPr lang="en-IN" b="0" i="0" dirty="0" err="1">
                <a:solidFill>
                  <a:srgbClr val="4284AE"/>
                </a:solidFill>
                <a:effectLst/>
                <a:latin typeface="inherit"/>
              </a:rPr>
              <a:t>typeof</a:t>
            </a:r>
            <a:r>
              <a:rPr lang="en-IN" b="1" i="0" dirty="0">
                <a:solidFill>
                  <a:srgbClr val="6B7C8B"/>
                </a:solidFill>
                <a:effectLst/>
                <a:latin typeface="inherit"/>
              </a:rPr>
              <a:t>(</a:t>
            </a:r>
            <a:r>
              <a:rPr lang="en-IN" b="0" i="0" dirty="0" err="1">
                <a:solidFill>
                  <a:srgbClr val="CFD5E0"/>
                </a:solidFill>
                <a:effectLst/>
                <a:latin typeface="inherit"/>
              </a:rPr>
              <a:t>IStudentRepository</a:t>
            </a:r>
            <a:r>
              <a:rPr lang="en-IN" b="1" i="0" dirty="0">
                <a:solidFill>
                  <a:srgbClr val="6B7C8B"/>
                </a:solidFill>
                <a:effectLst/>
                <a:latin typeface="inherit"/>
              </a:rPr>
              <a:t>)</a:t>
            </a:r>
            <a:r>
              <a:rPr lang="en-IN" b="0" i="0" dirty="0">
                <a:solidFill>
                  <a:srgbClr val="CFD5E0"/>
                </a:solidFill>
                <a:effectLst/>
                <a:latin typeface="inherit"/>
              </a:rPr>
              <a:t>, </a:t>
            </a:r>
            <a:r>
              <a:rPr lang="en-IN" b="0" i="0" dirty="0" err="1">
                <a:solidFill>
                  <a:srgbClr val="4284AE"/>
                </a:solidFill>
                <a:effectLst/>
                <a:latin typeface="inherit"/>
              </a:rPr>
              <a:t>typeof</a:t>
            </a:r>
            <a:r>
              <a:rPr lang="en-IN" b="1" i="0" dirty="0">
                <a:solidFill>
                  <a:srgbClr val="6B7C8B"/>
                </a:solidFill>
                <a:effectLst/>
                <a:latin typeface="inherit"/>
              </a:rPr>
              <a:t>(</a:t>
            </a:r>
            <a:r>
              <a:rPr lang="en-IN" b="0" i="0" dirty="0" err="1">
                <a:solidFill>
                  <a:srgbClr val="CFD5E0"/>
                </a:solidFill>
                <a:effectLst/>
                <a:latin typeface="inherit"/>
              </a:rPr>
              <a:t>TestStudentRepository</a:t>
            </a:r>
            <a:r>
              <a:rPr lang="en-IN" b="1" i="0" dirty="0">
                <a:solidFill>
                  <a:srgbClr val="6B7C8B"/>
                </a:solidFill>
                <a:effectLst/>
                <a:latin typeface="inherit"/>
              </a:rPr>
              <a:t>)</a:t>
            </a:r>
            <a:r>
              <a:rPr lang="en-IN" b="0" i="0" dirty="0">
                <a:solidFill>
                  <a:srgbClr val="CFD5E0"/>
                </a:solidFill>
                <a:effectLst/>
                <a:latin typeface="inherit"/>
              </a:rPr>
              <a:t>, </a:t>
            </a:r>
            <a:r>
              <a:rPr lang="en-IN" b="0" i="0" dirty="0" err="1">
                <a:solidFill>
                  <a:srgbClr val="CFD5E0"/>
                </a:solidFill>
                <a:effectLst/>
                <a:latin typeface="inherit"/>
              </a:rPr>
              <a:t>ServiceLifetime.</a:t>
            </a:r>
            <a:r>
              <a:rPr lang="en-IN" b="0" i="0" dirty="0" err="1">
                <a:solidFill>
                  <a:srgbClr val="4284AE"/>
                </a:solidFill>
                <a:effectLst/>
                <a:latin typeface="inherit"/>
              </a:rPr>
              <a:t>Singleton</a:t>
            </a:r>
            <a:r>
              <a:rPr lang="en-IN" b="1" i="0" dirty="0">
                <a:solidFill>
                  <a:srgbClr val="6B7C8B"/>
                </a:solidFill>
                <a:effectLst/>
                <a:latin typeface="inherit"/>
              </a:rPr>
              <a:t>))</a:t>
            </a:r>
            <a:r>
              <a:rPr lang="en-IN" b="0" i="0" dirty="0">
                <a:solidFill>
                  <a:srgbClr val="CFD5E0"/>
                </a:solidFill>
                <a:effectLst/>
                <a:latin typeface="inherit"/>
              </a:rPr>
              <a:t>;</a:t>
            </a:r>
            <a:r>
              <a:rPr lang="en-IN" b="0" i="0" dirty="0">
                <a:solidFill>
                  <a:srgbClr val="6B7C8B"/>
                </a:solidFill>
                <a:effectLst/>
                <a:latin typeface="inherit"/>
              </a:rPr>
              <a:t> // singleton</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services.</a:t>
            </a:r>
            <a:r>
              <a:rPr lang="en-IN" b="0" i="0" dirty="0" err="1">
                <a:solidFill>
                  <a:srgbClr val="4284AE"/>
                </a:solidFill>
                <a:effectLst/>
                <a:latin typeface="inherit"/>
              </a:rPr>
              <a:t>Add</a:t>
            </a:r>
            <a:r>
              <a:rPr lang="en-IN" b="1" i="0" dirty="0">
                <a:solidFill>
                  <a:srgbClr val="6B7C8B"/>
                </a:solidFill>
                <a:effectLst/>
                <a:latin typeface="inherit"/>
              </a:rPr>
              <a:t>(</a:t>
            </a:r>
            <a:r>
              <a:rPr lang="en-IN" b="0" i="0" dirty="0">
                <a:solidFill>
                  <a:srgbClr val="4284AE"/>
                </a:solidFill>
                <a:effectLst/>
                <a:latin typeface="inherit"/>
              </a:rPr>
              <a:t>new</a:t>
            </a:r>
            <a:r>
              <a:rPr lang="en-IN" b="0" i="0" dirty="0">
                <a:solidFill>
                  <a:srgbClr val="CFD5E0"/>
                </a:solidFill>
                <a:effectLst/>
                <a:latin typeface="inherit"/>
              </a:rPr>
              <a:t> </a:t>
            </a:r>
            <a:r>
              <a:rPr lang="en-IN" b="0" i="0" dirty="0" err="1">
                <a:solidFill>
                  <a:srgbClr val="4284AE"/>
                </a:solidFill>
                <a:effectLst/>
                <a:latin typeface="inherit"/>
              </a:rPr>
              <a:t>ServiceDescriptor</a:t>
            </a:r>
            <a:r>
              <a:rPr lang="en-IN" b="1" i="0" dirty="0">
                <a:solidFill>
                  <a:srgbClr val="6B7C8B"/>
                </a:solidFill>
                <a:effectLst/>
                <a:latin typeface="inherit"/>
              </a:rPr>
              <a:t>(</a:t>
            </a:r>
            <a:r>
              <a:rPr lang="en-IN" b="0" i="0" dirty="0" err="1">
                <a:solidFill>
                  <a:srgbClr val="4284AE"/>
                </a:solidFill>
                <a:effectLst/>
                <a:latin typeface="inherit"/>
              </a:rPr>
              <a:t>typeof</a:t>
            </a:r>
            <a:r>
              <a:rPr lang="en-IN" b="1" i="0" dirty="0">
                <a:solidFill>
                  <a:srgbClr val="6B7C8B"/>
                </a:solidFill>
                <a:effectLst/>
                <a:latin typeface="inherit"/>
              </a:rPr>
              <a:t>(</a:t>
            </a:r>
            <a:r>
              <a:rPr lang="en-IN" b="0" i="0" dirty="0" err="1">
                <a:solidFill>
                  <a:srgbClr val="CFD5E0"/>
                </a:solidFill>
                <a:effectLst/>
                <a:latin typeface="inherit"/>
              </a:rPr>
              <a:t>IStudentRepository</a:t>
            </a:r>
            <a:r>
              <a:rPr lang="en-IN" b="1" i="0" dirty="0">
                <a:solidFill>
                  <a:srgbClr val="6B7C8B"/>
                </a:solidFill>
                <a:effectLst/>
                <a:latin typeface="inherit"/>
              </a:rPr>
              <a:t>)</a:t>
            </a:r>
            <a:r>
              <a:rPr lang="en-IN" b="0" i="0" dirty="0">
                <a:solidFill>
                  <a:srgbClr val="CFD5E0"/>
                </a:solidFill>
                <a:effectLst/>
                <a:latin typeface="inherit"/>
              </a:rPr>
              <a:t>, </a:t>
            </a:r>
            <a:r>
              <a:rPr lang="en-IN" b="0" i="0" dirty="0" err="1">
                <a:solidFill>
                  <a:srgbClr val="4284AE"/>
                </a:solidFill>
                <a:effectLst/>
                <a:latin typeface="inherit"/>
              </a:rPr>
              <a:t>typeof</a:t>
            </a:r>
            <a:r>
              <a:rPr lang="en-IN" b="1" i="0" dirty="0">
                <a:solidFill>
                  <a:srgbClr val="6B7C8B"/>
                </a:solidFill>
                <a:effectLst/>
                <a:latin typeface="inherit"/>
              </a:rPr>
              <a:t>(</a:t>
            </a:r>
            <a:r>
              <a:rPr lang="en-IN" b="0" i="0" dirty="0" err="1">
                <a:solidFill>
                  <a:srgbClr val="CFD5E0"/>
                </a:solidFill>
                <a:effectLst/>
                <a:latin typeface="inherit"/>
              </a:rPr>
              <a:t>TestStudentRepository</a:t>
            </a:r>
            <a:r>
              <a:rPr lang="en-IN" b="1" i="0" dirty="0">
                <a:solidFill>
                  <a:srgbClr val="6B7C8B"/>
                </a:solidFill>
                <a:effectLst/>
                <a:latin typeface="inherit"/>
              </a:rPr>
              <a:t>)</a:t>
            </a:r>
            <a:r>
              <a:rPr lang="en-IN" b="0" i="0" dirty="0">
                <a:solidFill>
                  <a:srgbClr val="CFD5E0"/>
                </a:solidFill>
                <a:effectLst/>
                <a:latin typeface="inherit"/>
              </a:rPr>
              <a:t>, </a:t>
            </a:r>
            <a:r>
              <a:rPr lang="en-IN" b="0" i="0" dirty="0" err="1">
                <a:solidFill>
                  <a:srgbClr val="CFD5E0"/>
                </a:solidFill>
                <a:effectLst/>
                <a:latin typeface="inherit"/>
              </a:rPr>
              <a:t>ServiceLifetime.</a:t>
            </a:r>
            <a:r>
              <a:rPr lang="en-IN" b="0" i="0" dirty="0" err="1">
                <a:solidFill>
                  <a:srgbClr val="4284AE"/>
                </a:solidFill>
                <a:effectLst/>
                <a:latin typeface="inherit"/>
              </a:rPr>
              <a:t>Transient</a:t>
            </a:r>
            <a:r>
              <a:rPr lang="en-IN" b="1" i="0" dirty="0">
                <a:solidFill>
                  <a:srgbClr val="6B7C8B"/>
                </a:solidFill>
                <a:effectLst/>
                <a:latin typeface="inherit"/>
              </a:rPr>
              <a:t>))</a:t>
            </a:r>
            <a:r>
              <a:rPr lang="en-IN" b="0" i="0" dirty="0">
                <a:solidFill>
                  <a:srgbClr val="CFD5E0"/>
                </a:solidFill>
                <a:effectLst/>
                <a:latin typeface="inherit"/>
              </a:rPr>
              <a:t>;</a:t>
            </a:r>
            <a:r>
              <a:rPr lang="en-IN" b="0" i="0" dirty="0">
                <a:solidFill>
                  <a:srgbClr val="6B7C8B"/>
                </a:solidFill>
                <a:effectLst/>
                <a:latin typeface="inherit"/>
              </a:rPr>
              <a:t> // Transient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services.</a:t>
            </a:r>
            <a:r>
              <a:rPr lang="en-IN" b="0" i="0" dirty="0" err="1">
                <a:solidFill>
                  <a:srgbClr val="4284AE"/>
                </a:solidFill>
                <a:effectLst/>
                <a:latin typeface="inherit"/>
              </a:rPr>
              <a:t>Add</a:t>
            </a:r>
            <a:r>
              <a:rPr lang="en-IN" b="1" i="0" dirty="0">
                <a:solidFill>
                  <a:srgbClr val="6B7C8B"/>
                </a:solidFill>
                <a:effectLst/>
                <a:latin typeface="inherit"/>
              </a:rPr>
              <a:t>(</a:t>
            </a:r>
            <a:r>
              <a:rPr lang="en-IN" b="0" i="0" dirty="0">
                <a:solidFill>
                  <a:srgbClr val="4284AE"/>
                </a:solidFill>
                <a:effectLst/>
                <a:latin typeface="inherit"/>
              </a:rPr>
              <a:t>new</a:t>
            </a:r>
            <a:r>
              <a:rPr lang="en-IN" b="0" i="0" dirty="0">
                <a:solidFill>
                  <a:srgbClr val="CFD5E0"/>
                </a:solidFill>
                <a:effectLst/>
                <a:latin typeface="inherit"/>
              </a:rPr>
              <a:t> </a:t>
            </a:r>
            <a:r>
              <a:rPr lang="en-IN" b="0" i="0" dirty="0" err="1">
                <a:solidFill>
                  <a:srgbClr val="4284AE"/>
                </a:solidFill>
                <a:effectLst/>
                <a:latin typeface="inherit"/>
              </a:rPr>
              <a:t>ServiceDescriptor</a:t>
            </a:r>
            <a:r>
              <a:rPr lang="en-IN" b="1" i="0" dirty="0">
                <a:solidFill>
                  <a:srgbClr val="6B7C8B"/>
                </a:solidFill>
                <a:effectLst/>
                <a:latin typeface="inherit"/>
              </a:rPr>
              <a:t>(</a:t>
            </a:r>
            <a:r>
              <a:rPr lang="en-IN" b="0" i="0" dirty="0" err="1">
                <a:solidFill>
                  <a:srgbClr val="4284AE"/>
                </a:solidFill>
                <a:effectLst/>
                <a:latin typeface="inherit"/>
              </a:rPr>
              <a:t>typeof</a:t>
            </a:r>
            <a:r>
              <a:rPr lang="en-IN" b="1" i="0" dirty="0">
                <a:solidFill>
                  <a:srgbClr val="6B7C8B"/>
                </a:solidFill>
                <a:effectLst/>
                <a:latin typeface="inherit"/>
              </a:rPr>
              <a:t>(</a:t>
            </a:r>
            <a:r>
              <a:rPr lang="en-IN" b="0" i="0" dirty="0" err="1">
                <a:solidFill>
                  <a:srgbClr val="CFD5E0"/>
                </a:solidFill>
                <a:effectLst/>
                <a:latin typeface="inherit"/>
              </a:rPr>
              <a:t>IStudentRepository</a:t>
            </a:r>
            <a:r>
              <a:rPr lang="en-IN" b="1" i="0" dirty="0">
                <a:solidFill>
                  <a:srgbClr val="6B7C8B"/>
                </a:solidFill>
                <a:effectLst/>
                <a:latin typeface="inherit"/>
              </a:rPr>
              <a:t>)</a:t>
            </a:r>
            <a:r>
              <a:rPr lang="en-IN" b="0" i="0" dirty="0">
                <a:solidFill>
                  <a:srgbClr val="CFD5E0"/>
                </a:solidFill>
                <a:effectLst/>
                <a:latin typeface="inherit"/>
              </a:rPr>
              <a:t>, </a:t>
            </a:r>
            <a:r>
              <a:rPr lang="en-IN" b="0" i="0" dirty="0" err="1">
                <a:solidFill>
                  <a:srgbClr val="4284AE"/>
                </a:solidFill>
                <a:effectLst/>
                <a:latin typeface="inherit"/>
              </a:rPr>
              <a:t>typeof</a:t>
            </a:r>
            <a:r>
              <a:rPr lang="en-IN" b="1" i="0" dirty="0">
                <a:solidFill>
                  <a:srgbClr val="6B7C8B"/>
                </a:solidFill>
                <a:effectLst/>
                <a:latin typeface="inherit"/>
              </a:rPr>
              <a:t>(</a:t>
            </a:r>
            <a:r>
              <a:rPr lang="en-IN" b="0" i="0" dirty="0" err="1">
                <a:solidFill>
                  <a:srgbClr val="CFD5E0"/>
                </a:solidFill>
                <a:effectLst/>
                <a:latin typeface="inherit"/>
              </a:rPr>
              <a:t>TestStudentRepository</a:t>
            </a:r>
            <a:r>
              <a:rPr lang="en-IN" b="1" i="0" dirty="0">
                <a:solidFill>
                  <a:srgbClr val="6B7C8B"/>
                </a:solidFill>
                <a:effectLst/>
                <a:latin typeface="inherit"/>
              </a:rPr>
              <a:t>)</a:t>
            </a:r>
            <a:r>
              <a:rPr lang="en-IN" b="0" i="0" dirty="0">
                <a:solidFill>
                  <a:srgbClr val="CFD5E0"/>
                </a:solidFill>
                <a:effectLst/>
                <a:latin typeface="inherit"/>
              </a:rPr>
              <a:t>, </a:t>
            </a:r>
            <a:r>
              <a:rPr lang="en-IN" b="0" i="0" dirty="0" err="1">
                <a:solidFill>
                  <a:srgbClr val="CFD5E0"/>
                </a:solidFill>
                <a:effectLst/>
                <a:latin typeface="inherit"/>
              </a:rPr>
              <a:t>ServiceLifetime.</a:t>
            </a:r>
            <a:r>
              <a:rPr lang="en-IN" b="0" i="0" dirty="0" err="1">
                <a:solidFill>
                  <a:srgbClr val="4284AE"/>
                </a:solidFill>
                <a:effectLst/>
                <a:latin typeface="inherit"/>
              </a:rPr>
              <a:t>Scoped</a:t>
            </a:r>
            <a:r>
              <a:rPr lang="en-IN" b="1" i="0" dirty="0">
                <a:solidFill>
                  <a:srgbClr val="6B7C8B"/>
                </a:solidFill>
                <a:effectLst/>
                <a:latin typeface="inherit"/>
              </a:rPr>
              <a:t>))</a:t>
            </a:r>
            <a:r>
              <a:rPr lang="en-IN" b="0" i="0" dirty="0">
                <a:solidFill>
                  <a:srgbClr val="CFD5E0"/>
                </a:solidFill>
                <a:effectLst/>
                <a:latin typeface="inherit"/>
              </a:rPr>
              <a:t>; </a:t>
            </a:r>
            <a:r>
              <a:rPr lang="en-IN" b="0" i="0" dirty="0">
                <a:solidFill>
                  <a:srgbClr val="6B7C8B"/>
                </a:solidFill>
                <a:effectLst/>
                <a:latin typeface="inherit"/>
              </a:rPr>
              <a:t>// Scoped</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Tree>
    <p:extLst>
      <p:ext uri="{BB962C8B-B14F-4D97-AF65-F5344CB8AC3E}">
        <p14:creationId xmlns:p14="http://schemas.microsoft.com/office/powerpoint/2010/main" val="1428543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FC5FE0E-9B32-44D2-B27E-9227C9D52A1F}"/>
              </a:ext>
            </a:extLst>
          </p:cNvPr>
          <p:cNvSpPr txBox="1"/>
          <p:nvPr/>
        </p:nvSpPr>
        <p:spPr>
          <a:xfrm>
            <a:off x="491613" y="388656"/>
            <a:ext cx="11075076" cy="1754326"/>
          </a:xfrm>
          <a:prstGeom prst="rect">
            <a:avLst/>
          </a:prstGeom>
          <a:noFill/>
        </p:spPr>
        <p:txBody>
          <a:bodyPr wrap="square">
            <a:spAutoFit/>
          </a:bodyPr>
          <a:lstStyle/>
          <a:p>
            <a:pPr algn="ctr" fontAlgn="base"/>
            <a:r>
              <a:rPr lang="en-US" b="1" i="0" dirty="0">
                <a:solidFill>
                  <a:srgbClr val="000000"/>
                </a:solidFill>
                <a:effectLst/>
                <a:latin typeface="arial" panose="020B0604020202020204" pitchFamily="34" charset="0"/>
              </a:rPr>
              <a:t>Extension Methods for Registration</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ASP.NET Core framework includes extension methods for each types of lifetime; </a:t>
            </a:r>
            <a:r>
              <a:rPr lang="en-US" b="0" i="0" dirty="0" err="1">
                <a:solidFill>
                  <a:srgbClr val="000000"/>
                </a:solidFill>
                <a:effectLst/>
                <a:latin typeface="arial" panose="020B0604020202020204" pitchFamily="34" charset="0"/>
              </a:rPr>
              <a:t>AddSingleton</a:t>
            </a:r>
            <a:r>
              <a:rPr lang="en-US" b="0" i="0" dirty="0">
                <a:solidFill>
                  <a:srgbClr val="000000"/>
                </a:solidFill>
                <a:effectLst/>
                <a:latin typeface="arial" panose="020B0604020202020204" pitchFamily="34" charset="0"/>
              </a:rPr>
              <a:t>(), </a:t>
            </a:r>
            <a:r>
              <a:rPr lang="en-US" b="0" i="0" dirty="0" err="1">
                <a:solidFill>
                  <a:srgbClr val="000000"/>
                </a:solidFill>
                <a:effectLst/>
                <a:latin typeface="arial" panose="020B0604020202020204" pitchFamily="34" charset="0"/>
              </a:rPr>
              <a:t>AddTransient</a:t>
            </a:r>
            <a:r>
              <a:rPr lang="en-US" b="0" i="0" dirty="0">
                <a:solidFill>
                  <a:srgbClr val="000000"/>
                </a:solidFill>
                <a:effectLst/>
                <a:latin typeface="arial" panose="020B0604020202020204" pitchFamily="34" charset="0"/>
              </a:rPr>
              <a:t>() and </a:t>
            </a:r>
            <a:r>
              <a:rPr lang="en-US" b="0" i="0" dirty="0" err="1">
                <a:solidFill>
                  <a:srgbClr val="000000"/>
                </a:solidFill>
                <a:effectLst/>
                <a:latin typeface="arial" panose="020B0604020202020204" pitchFamily="34" charset="0"/>
              </a:rPr>
              <a:t>AddScoped</a:t>
            </a:r>
            <a:r>
              <a:rPr lang="en-US" b="0" i="0" dirty="0">
                <a:solidFill>
                  <a:srgbClr val="000000"/>
                </a:solidFill>
                <a:effectLst/>
                <a:latin typeface="arial" panose="020B0604020202020204" pitchFamily="34" charset="0"/>
              </a:rPr>
              <a:t>() methods for singleton, transient and scoped lifetime respectively. The following example shows the ways of registering types (service) using extension methods.</a:t>
            </a:r>
            <a:endParaRPr lang="en-US" b="0" i="0" dirty="0">
              <a:solidFill>
                <a:srgbClr val="212529"/>
              </a:solidFill>
              <a:effectLst/>
              <a:latin typeface="-apple-system"/>
            </a:endParaRPr>
          </a:p>
          <a:p>
            <a:br>
              <a:rPr lang="en-US" b="0" i="0" dirty="0">
                <a:solidFill>
                  <a:srgbClr val="596174"/>
                </a:solidFill>
                <a:effectLst/>
                <a:latin typeface="Inconsolata" pitchFamily="1" charset="0"/>
              </a:rPr>
            </a:br>
            <a:endParaRPr lang="en-IN" dirty="0"/>
          </a:p>
        </p:txBody>
      </p:sp>
      <p:sp>
        <p:nvSpPr>
          <p:cNvPr id="7" name="TextBox 6">
            <a:extLst>
              <a:ext uri="{FF2B5EF4-FFF2-40B4-BE49-F238E27FC236}">
                <a16:creationId xmlns:a16="http://schemas.microsoft.com/office/drawing/2014/main" id="{A321B467-295B-4B91-B28B-511E2A73A351}"/>
              </a:ext>
            </a:extLst>
          </p:cNvPr>
          <p:cNvSpPr txBox="1"/>
          <p:nvPr/>
        </p:nvSpPr>
        <p:spPr>
          <a:xfrm>
            <a:off x="245806" y="2003347"/>
            <a:ext cx="10500852" cy="2585323"/>
          </a:xfrm>
          <a:prstGeom prst="rect">
            <a:avLst/>
          </a:prstGeom>
          <a:solidFill>
            <a:schemeClr val="tx1"/>
          </a:solidFill>
        </p:spPr>
        <p:txBody>
          <a:bodyPr wrap="square">
            <a:spAutoFit/>
          </a:bodyPr>
          <a:lstStyle/>
          <a:p>
            <a:pPr algn="l" fontAlgn="base"/>
            <a:r>
              <a:rPr lang="en-IN" b="1" i="0" dirty="0">
                <a:solidFill>
                  <a:srgbClr val="D171DD"/>
                </a:solidFill>
                <a:effectLst/>
                <a:latin typeface="inherit"/>
              </a:rPr>
              <a:t>public</a:t>
            </a:r>
            <a:r>
              <a:rPr lang="en-IN" b="0" i="0" dirty="0">
                <a:solidFill>
                  <a:srgbClr val="CFD5E0"/>
                </a:solidFill>
                <a:effectLst/>
                <a:latin typeface="inherit"/>
              </a:rPr>
              <a:t> </a:t>
            </a:r>
            <a:r>
              <a:rPr lang="en-IN" b="1" i="0" dirty="0">
                <a:solidFill>
                  <a:srgbClr val="D171DD"/>
                </a:solidFill>
                <a:effectLst/>
                <a:latin typeface="inherit"/>
              </a:rPr>
              <a:t>void</a:t>
            </a:r>
            <a:r>
              <a:rPr lang="en-IN" b="0" i="0" dirty="0">
                <a:solidFill>
                  <a:srgbClr val="CFD5E0"/>
                </a:solidFill>
                <a:effectLst/>
                <a:latin typeface="inherit"/>
              </a:rPr>
              <a:t> </a:t>
            </a:r>
            <a:r>
              <a:rPr lang="en-IN" b="0" i="0" dirty="0" err="1">
                <a:solidFill>
                  <a:srgbClr val="4284AE"/>
                </a:solidFill>
                <a:effectLst/>
                <a:latin typeface="inherit"/>
              </a:rPr>
              <a:t>ConfigureServices</a:t>
            </a:r>
            <a:r>
              <a:rPr lang="en-IN" b="1" i="0" dirty="0">
                <a:solidFill>
                  <a:srgbClr val="6B7C8B"/>
                </a:solidFill>
                <a:effectLst/>
                <a:latin typeface="inherit"/>
              </a:rPr>
              <a:t>(</a:t>
            </a:r>
            <a:r>
              <a:rPr lang="en-IN" b="0" i="0" dirty="0" err="1">
                <a:solidFill>
                  <a:srgbClr val="CFD5E0"/>
                </a:solidFill>
                <a:effectLst/>
                <a:latin typeface="inherit"/>
              </a:rPr>
              <a:t>IServiceCollection</a:t>
            </a:r>
            <a:r>
              <a:rPr lang="en-IN" b="0" i="0" dirty="0">
                <a:solidFill>
                  <a:srgbClr val="CFD5E0"/>
                </a:solidFill>
                <a:effectLst/>
                <a:latin typeface="inherit"/>
              </a:rPr>
              <a:t> services</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6B7C8B"/>
                </a:solidFill>
                <a:effectLst/>
                <a:latin typeface="inherit"/>
              </a:rPr>
              <a:t>//Adding MVC Service. Framework Service</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services.</a:t>
            </a:r>
            <a:r>
              <a:rPr lang="en-IN" b="0" i="0" dirty="0" err="1">
                <a:solidFill>
                  <a:srgbClr val="4284AE"/>
                </a:solidFill>
                <a:effectLst/>
                <a:latin typeface="inherit"/>
              </a:rPr>
              <a:t>AddControllersWithViews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6B7C8B"/>
                </a:solidFill>
                <a:effectLst/>
                <a:latin typeface="inherit"/>
              </a:rPr>
              <a:t>//Application Service</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services.</a:t>
            </a:r>
            <a:r>
              <a:rPr lang="en-IN" b="0" i="0" dirty="0" err="1">
                <a:solidFill>
                  <a:srgbClr val="4284AE"/>
                </a:solidFill>
                <a:effectLst/>
                <a:latin typeface="inherit"/>
              </a:rPr>
              <a:t>AddSingleton</a:t>
            </a:r>
            <a:r>
              <a:rPr lang="en-IN" b="1" i="0" dirty="0">
                <a:solidFill>
                  <a:srgbClr val="6B7C8B"/>
                </a:solidFill>
                <a:effectLst/>
                <a:latin typeface="inherit"/>
              </a:rPr>
              <a:t>&lt;</a:t>
            </a:r>
            <a:r>
              <a:rPr lang="en-IN" b="0" i="0" dirty="0" err="1">
                <a:solidFill>
                  <a:srgbClr val="CFD5E0"/>
                </a:solidFill>
                <a:effectLst/>
                <a:latin typeface="inherit"/>
              </a:rPr>
              <a:t>IStudentRepository</a:t>
            </a:r>
            <a:r>
              <a:rPr lang="en-IN" b="0" i="0" dirty="0">
                <a:solidFill>
                  <a:srgbClr val="CFD5E0"/>
                </a:solidFill>
                <a:effectLst/>
                <a:latin typeface="inherit"/>
              </a:rPr>
              <a:t>, </a:t>
            </a:r>
            <a:r>
              <a:rPr lang="en-IN" b="0" i="0" dirty="0" err="1">
                <a:solidFill>
                  <a:srgbClr val="CFD5E0"/>
                </a:solidFill>
                <a:effectLst/>
                <a:latin typeface="inherit"/>
              </a:rPr>
              <a:t>TestStudentRepository</a:t>
            </a:r>
            <a:r>
              <a:rPr lang="en-IN" b="1" i="0" dirty="0">
                <a:solidFill>
                  <a:srgbClr val="6B7C8B"/>
                </a:solidFill>
                <a:effectLst/>
                <a:latin typeface="inherit"/>
              </a:rPr>
              <a:t>&gt;()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services.</a:t>
            </a:r>
            <a:r>
              <a:rPr lang="en-IN" b="0" i="0" dirty="0" err="1">
                <a:solidFill>
                  <a:srgbClr val="4284AE"/>
                </a:solidFill>
                <a:effectLst/>
                <a:latin typeface="inherit"/>
              </a:rPr>
              <a:t>AddTransient</a:t>
            </a:r>
            <a:r>
              <a:rPr lang="en-IN" b="1" i="0" dirty="0">
                <a:solidFill>
                  <a:srgbClr val="6B7C8B"/>
                </a:solidFill>
                <a:effectLst/>
                <a:latin typeface="inherit"/>
              </a:rPr>
              <a:t>&lt;</a:t>
            </a:r>
            <a:r>
              <a:rPr lang="en-IN" b="0" i="0" dirty="0" err="1">
                <a:solidFill>
                  <a:srgbClr val="CFD5E0"/>
                </a:solidFill>
                <a:effectLst/>
                <a:latin typeface="inherit"/>
              </a:rPr>
              <a:t>IStudentRepository</a:t>
            </a:r>
            <a:r>
              <a:rPr lang="en-IN" b="0" i="0" dirty="0">
                <a:solidFill>
                  <a:srgbClr val="CFD5E0"/>
                </a:solidFill>
                <a:effectLst/>
                <a:latin typeface="inherit"/>
              </a:rPr>
              <a:t>, </a:t>
            </a:r>
            <a:r>
              <a:rPr lang="en-IN" b="0" i="0" dirty="0" err="1">
                <a:solidFill>
                  <a:srgbClr val="CFD5E0"/>
                </a:solidFill>
                <a:effectLst/>
                <a:latin typeface="inherit"/>
              </a:rPr>
              <a:t>TestStudentRepository</a:t>
            </a:r>
            <a:r>
              <a:rPr lang="en-IN" b="1" i="0" dirty="0">
                <a:solidFill>
                  <a:srgbClr val="6B7C8B"/>
                </a:solidFill>
                <a:effectLst/>
                <a:latin typeface="inherit"/>
              </a:rPr>
              <a:t>&gt;()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services.</a:t>
            </a:r>
            <a:r>
              <a:rPr lang="en-IN" b="0" i="0" dirty="0" err="1">
                <a:solidFill>
                  <a:srgbClr val="4284AE"/>
                </a:solidFill>
                <a:effectLst/>
                <a:latin typeface="inherit"/>
              </a:rPr>
              <a:t>AddScoped</a:t>
            </a:r>
            <a:r>
              <a:rPr lang="en-IN" b="1" i="0" dirty="0">
                <a:solidFill>
                  <a:srgbClr val="6B7C8B"/>
                </a:solidFill>
                <a:effectLst/>
                <a:latin typeface="inherit"/>
              </a:rPr>
              <a:t>&lt;</a:t>
            </a:r>
            <a:r>
              <a:rPr lang="en-IN" b="0" i="0" dirty="0" err="1">
                <a:solidFill>
                  <a:srgbClr val="CFD5E0"/>
                </a:solidFill>
                <a:effectLst/>
                <a:latin typeface="inherit"/>
              </a:rPr>
              <a:t>IStudentRepository</a:t>
            </a:r>
            <a:r>
              <a:rPr lang="en-IN" b="0" i="0" dirty="0">
                <a:solidFill>
                  <a:srgbClr val="CFD5E0"/>
                </a:solidFill>
                <a:effectLst/>
                <a:latin typeface="inherit"/>
              </a:rPr>
              <a:t>, </a:t>
            </a:r>
            <a:r>
              <a:rPr lang="en-IN" b="0" i="0" dirty="0" err="1">
                <a:solidFill>
                  <a:srgbClr val="CFD5E0"/>
                </a:solidFill>
                <a:effectLst/>
                <a:latin typeface="inherit"/>
              </a:rPr>
              <a:t>TestStudentRepository</a:t>
            </a:r>
            <a:r>
              <a:rPr lang="en-IN" b="1" i="0" dirty="0">
                <a:solidFill>
                  <a:srgbClr val="6B7C8B"/>
                </a:solidFill>
                <a:effectLst/>
                <a:latin typeface="inherit"/>
              </a:rPr>
              <a:t>&gt;()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Tree>
    <p:extLst>
      <p:ext uri="{BB962C8B-B14F-4D97-AF65-F5344CB8AC3E}">
        <p14:creationId xmlns:p14="http://schemas.microsoft.com/office/powerpoint/2010/main" val="4286903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2D52A4-77CB-458B-ADC6-243D75436FC2}"/>
              </a:ext>
            </a:extLst>
          </p:cNvPr>
          <p:cNvSpPr txBox="1"/>
          <p:nvPr/>
        </p:nvSpPr>
        <p:spPr>
          <a:xfrm>
            <a:off x="186813" y="0"/>
            <a:ext cx="11710220"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So, let us use the Single Instance of the service in this example. So, modify the Service method of the Startup class as shown below. Which method you want to use to register your application service to the built-in IoC Container is your personal preference. I am going to use the following.</a:t>
            </a:r>
            <a:endParaRPr lang="en-IN" dirty="0"/>
          </a:p>
        </p:txBody>
      </p:sp>
      <p:sp>
        <p:nvSpPr>
          <p:cNvPr id="7" name="TextBox 6">
            <a:extLst>
              <a:ext uri="{FF2B5EF4-FFF2-40B4-BE49-F238E27FC236}">
                <a16:creationId xmlns:a16="http://schemas.microsoft.com/office/drawing/2014/main" id="{07CA51D8-6907-4E87-9AE0-1B8A4FE0656E}"/>
              </a:ext>
            </a:extLst>
          </p:cNvPr>
          <p:cNvSpPr txBox="1"/>
          <p:nvPr/>
        </p:nvSpPr>
        <p:spPr>
          <a:xfrm>
            <a:off x="1" y="1397675"/>
            <a:ext cx="6096000" cy="2308324"/>
          </a:xfrm>
          <a:prstGeom prst="rect">
            <a:avLst/>
          </a:prstGeom>
          <a:solidFill>
            <a:schemeClr val="tx1"/>
          </a:solidFill>
        </p:spPr>
        <p:txBody>
          <a:bodyPr wrap="square">
            <a:spAutoFit/>
          </a:bodyPr>
          <a:lstStyle/>
          <a:p>
            <a:pPr algn="l" fontAlgn="base"/>
            <a:r>
              <a:rPr lang="en-IN" b="1" i="0" dirty="0">
                <a:solidFill>
                  <a:srgbClr val="D171DD"/>
                </a:solidFill>
                <a:effectLst/>
                <a:latin typeface="inherit"/>
              </a:rPr>
              <a:t>public</a:t>
            </a:r>
            <a:r>
              <a:rPr lang="en-IN" b="0" i="0" dirty="0">
                <a:solidFill>
                  <a:srgbClr val="CFD5E0"/>
                </a:solidFill>
                <a:effectLst/>
                <a:latin typeface="inherit"/>
              </a:rPr>
              <a:t> </a:t>
            </a:r>
            <a:r>
              <a:rPr lang="en-IN" b="1" i="0" dirty="0">
                <a:solidFill>
                  <a:srgbClr val="D171DD"/>
                </a:solidFill>
                <a:effectLst/>
                <a:latin typeface="inherit"/>
              </a:rPr>
              <a:t>void</a:t>
            </a:r>
            <a:r>
              <a:rPr lang="en-IN" b="0" i="0" dirty="0">
                <a:solidFill>
                  <a:srgbClr val="CFD5E0"/>
                </a:solidFill>
                <a:effectLst/>
                <a:latin typeface="inherit"/>
              </a:rPr>
              <a:t> </a:t>
            </a:r>
            <a:r>
              <a:rPr lang="en-IN" b="0" i="0" dirty="0" err="1">
                <a:solidFill>
                  <a:srgbClr val="4284AE"/>
                </a:solidFill>
                <a:effectLst/>
                <a:latin typeface="inherit"/>
              </a:rPr>
              <a:t>ConfigureServices</a:t>
            </a:r>
            <a:r>
              <a:rPr lang="en-IN" b="1" i="0" dirty="0">
                <a:solidFill>
                  <a:srgbClr val="6B7C8B"/>
                </a:solidFill>
                <a:effectLst/>
                <a:latin typeface="inherit"/>
              </a:rPr>
              <a:t>(</a:t>
            </a:r>
            <a:r>
              <a:rPr lang="en-IN" b="0" i="0" dirty="0" err="1">
                <a:solidFill>
                  <a:srgbClr val="CFD5E0"/>
                </a:solidFill>
                <a:effectLst/>
                <a:latin typeface="inherit"/>
              </a:rPr>
              <a:t>IServiceCollection</a:t>
            </a:r>
            <a:r>
              <a:rPr lang="en-IN" b="0" i="0" dirty="0">
                <a:solidFill>
                  <a:srgbClr val="CFD5E0"/>
                </a:solidFill>
                <a:effectLst/>
                <a:latin typeface="inherit"/>
              </a:rPr>
              <a:t> services</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6B7C8B"/>
                </a:solidFill>
                <a:effectLst/>
                <a:latin typeface="inherit"/>
              </a:rPr>
              <a:t>//Adding MVC Service. Framework Service</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services.</a:t>
            </a:r>
            <a:r>
              <a:rPr lang="en-IN" b="0" i="0" dirty="0" err="1">
                <a:solidFill>
                  <a:srgbClr val="4284AE"/>
                </a:solidFill>
                <a:effectLst/>
                <a:latin typeface="inherit"/>
              </a:rPr>
              <a:t>AddControllersWithViews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6B7C8B"/>
                </a:solidFill>
                <a:effectLst/>
                <a:latin typeface="inherit"/>
              </a:rPr>
              <a:t>//Application Service</a:t>
            </a:r>
            <a:endParaRPr lang="en-IN" b="0" i="0" dirty="0">
              <a:solidFill>
                <a:srgbClr val="596174"/>
              </a:solidFill>
              <a:effectLst/>
              <a:latin typeface="Inconsolata" pitchFamily="1" charset="0"/>
            </a:endParaRPr>
          </a:p>
          <a:p>
            <a:pPr algn="l" fontAlgn="base"/>
            <a:r>
              <a:rPr lang="en-IN" b="0" i="0" dirty="0" err="1">
                <a:solidFill>
                  <a:srgbClr val="CFD5E0"/>
                </a:solidFill>
                <a:effectLst/>
                <a:latin typeface="inherit"/>
              </a:rPr>
              <a:t>services.</a:t>
            </a:r>
            <a:r>
              <a:rPr lang="en-IN" b="0" i="0" dirty="0" err="1">
                <a:solidFill>
                  <a:srgbClr val="4284AE"/>
                </a:solidFill>
                <a:effectLst/>
                <a:latin typeface="inherit"/>
              </a:rPr>
              <a:t>AddSingleton</a:t>
            </a:r>
            <a:r>
              <a:rPr lang="en-IN" b="1" i="0" dirty="0">
                <a:solidFill>
                  <a:srgbClr val="6B7C8B"/>
                </a:solidFill>
                <a:effectLst/>
                <a:latin typeface="inherit"/>
              </a:rPr>
              <a:t>&lt;</a:t>
            </a:r>
            <a:r>
              <a:rPr lang="en-IN" b="0" i="0" dirty="0" err="1">
                <a:solidFill>
                  <a:srgbClr val="CFD5E0"/>
                </a:solidFill>
                <a:effectLst/>
                <a:latin typeface="inherit"/>
              </a:rPr>
              <a:t>IStudentRepository</a:t>
            </a:r>
            <a:r>
              <a:rPr lang="en-IN" b="0" i="0" dirty="0">
                <a:solidFill>
                  <a:srgbClr val="CFD5E0"/>
                </a:solidFill>
                <a:effectLst/>
                <a:latin typeface="inherit"/>
              </a:rPr>
              <a:t>, </a:t>
            </a:r>
            <a:r>
              <a:rPr lang="en-IN" b="0" i="0" dirty="0" err="1">
                <a:solidFill>
                  <a:srgbClr val="CFD5E0"/>
                </a:solidFill>
                <a:effectLst/>
                <a:latin typeface="inherit"/>
              </a:rPr>
              <a:t>TestStudentRepository</a:t>
            </a:r>
            <a:r>
              <a:rPr lang="en-IN" b="1" i="0" dirty="0">
                <a:solidFill>
                  <a:srgbClr val="6B7C8B"/>
                </a:solidFill>
                <a:effectLst/>
                <a:latin typeface="inherit"/>
              </a:rPr>
              <a:t>&gt;()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
        <p:nvSpPr>
          <p:cNvPr id="9" name="TextBox 8">
            <a:extLst>
              <a:ext uri="{FF2B5EF4-FFF2-40B4-BE49-F238E27FC236}">
                <a16:creationId xmlns:a16="http://schemas.microsoft.com/office/drawing/2014/main" id="{A615B4FC-6657-461C-AAC7-A0D26363EC6B}"/>
              </a:ext>
            </a:extLst>
          </p:cNvPr>
          <p:cNvSpPr txBox="1"/>
          <p:nvPr/>
        </p:nvSpPr>
        <p:spPr>
          <a:xfrm>
            <a:off x="-54077" y="3705999"/>
            <a:ext cx="6096000" cy="2031325"/>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Constructor Injection in ASP.NET Core MVC Application</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Once we register the service, the IoC container automatically performs constructor injection if a service type is included as a parameter in a constructor. Let us modify the </a:t>
            </a:r>
            <a:r>
              <a:rPr lang="en-US" b="0" i="0" dirty="0" err="1">
                <a:solidFill>
                  <a:srgbClr val="000000"/>
                </a:solidFill>
                <a:effectLst/>
                <a:latin typeface="arial" panose="020B0604020202020204" pitchFamily="34" charset="0"/>
              </a:rPr>
              <a:t>HomeController</a:t>
            </a:r>
            <a:r>
              <a:rPr lang="en-US" b="0" i="0" dirty="0">
                <a:solidFill>
                  <a:srgbClr val="000000"/>
                </a:solidFill>
                <a:effectLst/>
                <a:latin typeface="arial" panose="020B0604020202020204" pitchFamily="34" charset="0"/>
              </a:rPr>
              <a:t> as shown below to use the Constructor dependency injection</a:t>
            </a:r>
            <a:endParaRPr lang="en-US" b="0" i="0" dirty="0">
              <a:solidFill>
                <a:srgbClr val="212529"/>
              </a:solidFill>
              <a:effectLst/>
              <a:latin typeface="-apple-system"/>
            </a:endParaRPr>
          </a:p>
        </p:txBody>
      </p:sp>
      <p:sp>
        <p:nvSpPr>
          <p:cNvPr id="11" name="TextBox 10">
            <a:extLst>
              <a:ext uri="{FF2B5EF4-FFF2-40B4-BE49-F238E27FC236}">
                <a16:creationId xmlns:a16="http://schemas.microsoft.com/office/drawing/2014/main" id="{1F3473CC-E82C-4268-BE46-3F28203423AE}"/>
              </a:ext>
            </a:extLst>
          </p:cNvPr>
          <p:cNvSpPr txBox="1"/>
          <p:nvPr/>
        </p:nvSpPr>
        <p:spPr>
          <a:xfrm>
            <a:off x="6272981" y="1147380"/>
            <a:ext cx="6096000" cy="5755422"/>
          </a:xfrm>
          <a:prstGeom prst="rect">
            <a:avLst/>
          </a:prstGeom>
          <a:solidFill>
            <a:schemeClr val="tx1"/>
          </a:solidFill>
        </p:spPr>
        <p:txBody>
          <a:bodyPr wrap="square">
            <a:spAutoFit/>
          </a:bodyPr>
          <a:lstStyle/>
          <a:p>
            <a:pPr algn="l" fontAlgn="base"/>
            <a:r>
              <a:rPr lang="en-IN" sz="1600" b="1" i="0" dirty="0">
                <a:solidFill>
                  <a:srgbClr val="D171DD"/>
                </a:solidFill>
                <a:effectLst/>
                <a:latin typeface="inherit"/>
              </a:rPr>
              <a:t>using </a:t>
            </a:r>
            <a:r>
              <a:rPr lang="en-IN" sz="1600" b="0" i="1" dirty="0" err="1">
                <a:solidFill>
                  <a:srgbClr val="4284AE"/>
                </a:solidFill>
                <a:effectLst/>
                <a:latin typeface="inherit"/>
              </a:rPr>
              <a:t>FirstCoreMVCWebApplication.Models</a:t>
            </a:r>
            <a:r>
              <a:rPr lang="en-IN" sz="1600" b="0" i="1" dirty="0">
                <a:solidFill>
                  <a:srgbClr val="4284AE"/>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D171DD"/>
                </a:solidFill>
                <a:effectLst/>
                <a:latin typeface="inherit"/>
              </a:rPr>
              <a:t>using </a:t>
            </a:r>
            <a:r>
              <a:rPr lang="en-IN" sz="1600" b="0" i="1" dirty="0" err="1">
                <a:solidFill>
                  <a:srgbClr val="4284AE"/>
                </a:solidFill>
                <a:effectLst/>
                <a:latin typeface="inherit"/>
              </a:rPr>
              <a:t>Microsoft.AspNetCore.Mvc</a:t>
            </a:r>
            <a:r>
              <a:rPr lang="en-IN" sz="1600" b="0" i="1" dirty="0">
                <a:solidFill>
                  <a:srgbClr val="4284AE"/>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D171DD"/>
                </a:solidFill>
                <a:effectLst/>
                <a:latin typeface="inherit"/>
              </a:rPr>
              <a:t>using </a:t>
            </a:r>
            <a:r>
              <a:rPr lang="en-IN" sz="1600" b="0" i="1" dirty="0" err="1">
                <a:solidFill>
                  <a:srgbClr val="4284AE"/>
                </a:solidFill>
                <a:effectLst/>
                <a:latin typeface="inherit"/>
              </a:rPr>
              <a:t>System.Collections.Generic</a:t>
            </a:r>
            <a:r>
              <a:rPr lang="en-IN" sz="1600" b="0" i="1" dirty="0">
                <a:solidFill>
                  <a:srgbClr val="4284AE"/>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D171DD"/>
                </a:solidFill>
                <a:effectLst/>
                <a:latin typeface="inherit"/>
              </a:rPr>
              <a:t>namespace </a:t>
            </a:r>
            <a:r>
              <a:rPr lang="en-IN" sz="1600" b="0" i="1" dirty="0" err="1">
                <a:solidFill>
                  <a:srgbClr val="4284AE"/>
                </a:solidFill>
                <a:effectLst/>
                <a:latin typeface="inherit"/>
              </a:rPr>
              <a:t>FirstCoreMVCWebApplication.Controllers</a:t>
            </a:r>
            <a:endParaRPr lang="en-IN" sz="1600" b="0" i="0" dirty="0">
              <a:solidFill>
                <a:srgbClr val="596174"/>
              </a:solidFill>
              <a:effectLst/>
              <a:latin typeface="Inconsolata" pitchFamily="1" charset="0"/>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D171DD"/>
                </a:solidFill>
                <a:effectLst/>
                <a:latin typeface="inherit"/>
              </a:rPr>
              <a:t>public</a:t>
            </a:r>
            <a:r>
              <a:rPr lang="en-IN" sz="1600" b="0" i="0" dirty="0">
                <a:solidFill>
                  <a:srgbClr val="CFD5E0"/>
                </a:solidFill>
                <a:effectLst/>
                <a:latin typeface="inherit"/>
              </a:rPr>
              <a:t> </a:t>
            </a:r>
            <a:r>
              <a:rPr lang="en-IN" sz="1600" b="1" i="0" dirty="0">
                <a:solidFill>
                  <a:srgbClr val="D171DD"/>
                </a:solidFill>
                <a:effectLst/>
                <a:latin typeface="inherit"/>
              </a:rPr>
              <a:t>class</a:t>
            </a:r>
            <a:r>
              <a:rPr lang="en-IN" sz="1600" b="0" i="0" dirty="0">
                <a:solidFill>
                  <a:srgbClr val="CFD5E0"/>
                </a:solidFill>
                <a:effectLst/>
                <a:latin typeface="inherit"/>
              </a:rPr>
              <a:t> </a:t>
            </a:r>
            <a:r>
              <a:rPr lang="en-IN" sz="1600" b="0" i="0" dirty="0" err="1">
                <a:solidFill>
                  <a:srgbClr val="CFD5E0"/>
                </a:solidFill>
                <a:effectLst/>
                <a:latin typeface="inherit"/>
              </a:rPr>
              <a:t>HomeController</a:t>
            </a:r>
            <a:r>
              <a:rPr lang="en-IN" sz="1600" b="0" i="0" dirty="0">
                <a:solidFill>
                  <a:srgbClr val="CFD5E0"/>
                </a:solidFill>
                <a:effectLst/>
                <a:latin typeface="inherit"/>
              </a:rPr>
              <a:t> : Controller</a:t>
            </a:r>
            <a:endParaRPr lang="en-IN" sz="1600" b="0" i="0" dirty="0">
              <a:solidFill>
                <a:srgbClr val="596174"/>
              </a:solidFill>
              <a:effectLst/>
              <a:latin typeface="Inconsolata" pitchFamily="1" charset="0"/>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pitchFamily="1" charset="0"/>
            </a:endParaRPr>
          </a:p>
          <a:p>
            <a:pPr algn="l" fontAlgn="base"/>
            <a:r>
              <a:rPr lang="en-IN" sz="1600" b="0" i="0" dirty="0">
                <a:solidFill>
                  <a:srgbClr val="6B7C8B"/>
                </a:solidFill>
                <a:effectLst/>
                <a:latin typeface="inherit"/>
              </a:rPr>
              <a:t>//Create a reference variable of </a:t>
            </a:r>
            <a:r>
              <a:rPr lang="en-IN" sz="1600" b="0" i="0" dirty="0" err="1">
                <a:solidFill>
                  <a:srgbClr val="6B7C8B"/>
                </a:solidFill>
                <a:effectLst/>
                <a:latin typeface="inherit"/>
              </a:rPr>
              <a:t>IStudentRepository</a:t>
            </a:r>
            <a:endParaRPr lang="en-IN" sz="1600" b="0" i="0" dirty="0">
              <a:solidFill>
                <a:srgbClr val="596174"/>
              </a:solidFill>
              <a:effectLst/>
              <a:latin typeface="Inconsolata" pitchFamily="1" charset="0"/>
            </a:endParaRPr>
          </a:p>
          <a:p>
            <a:pPr algn="l" fontAlgn="base"/>
            <a:r>
              <a:rPr lang="en-IN" sz="1600" b="1" i="0" dirty="0">
                <a:solidFill>
                  <a:srgbClr val="D171DD"/>
                </a:solidFill>
                <a:effectLst/>
                <a:latin typeface="inherit"/>
              </a:rPr>
              <a:t>private</a:t>
            </a:r>
            <a:r>
              <a:rPr lang="en-IN" sz="1600" b="0" i="0" dirty="0">
                <a:solidFill>
                  <a:srgbClr val="CFD5E0"/>
                </a:solidFill>
                <a:effectLst/>
                <a:latin typeface="inherit"/>
              </a:rPr>
              <a:t> </a:t>
            </a:r>
            <a:r>
              <a:rPr lang="en-IN" sz="1600" b="1" i="0" dirty="0" err="1">
                <a:solidFill>
                  <a:srgbClr val="D171DD"/>
                </a:solidFill>
                <a:effectLst/>
                <a:latin typeface="inherit"/>
              </a:rPr>
              <a:t>readonly</a:t>
            </a:r>
            <a:r>
              <a:rPr lang="en-IN" sz="1600" b="0" i="0" dirty="0">
                <a:solidFill>
                  <a:srgbClr val="CFD5E0"/>
                </a:solidFill>
                <a:effectLst/>
                <a:latin typeface="inherit"/>
              </a:rPr>
              <a:t> </a:t>
            </a:r>
            <a:r>
              <a:rPr lang="en-IN" sz="1600" b="0" i="0" dirty="0" err="1">
                <a:solidFill>
                  <a:srgbClr val="CFD5E0"/>
                </a:solidFill>
                <a:effectLst/>
                <a:latin typeface="inherit"/>
              </a:rPr>
              <a:t>IStudentRepository</a:t>
            </a:r>
            <a:r>
              <a:rPr lang="en-IN" sz="1600" b="0" i="0" dirty="0">
                <a:solidFill>
                  <a:srgbClr val="CFD5E0"/>
                </a:solidFill>
                <a:effectLst/>
                <a:latin typeface="inherit"/>
              </a:rPr>
              <a:t> _repository = </a:t>
            </a:r>
            <a:r>
              <a:rPr lang="en-IN" sz="1600" b="1" i="0" dirty="0">
                <a:solidFill>
                  <a:srgbClr val="D171DD"/>
                </a:solidFill>
                <a:effectLst/>
                <a:latin typeface="inherit"/>
              </a:rPr>
              <a:t>null</a:t>
            </a:r>
            <a:r>
              <a:rPr lang="en-IN" sz="1600" b="0" i="0" dirty="0">
                <a:solidFill>
                  <a:srgbClr val="CFD5E0"/>
                </a:solidFill>
                <a:effectLst/>
                <a:latin typeface="inherit"/>
              </a:rPr>
              <a:t>;</a:t>
            </a:r>
            <a:endParaRPr lang="en-IN" sz="1600" b="0" i="0" dirty="0">
              <a:solidFill>
                <a:srgbClr val="596174"/>
              </a:solidFill>
              <a:effectLst/>
              <a:latin typeface="Inconsolata" pitchFamily="1" charset="0"/>
            </a:endParaRPr>
          </a:p>
          <a:p>
            <a:pPr algn="l" fontAlgn="base"/>
            <a:r>
              <a:rPr lang="en-IN" sz="1600" b="0" i="0" dirty="0">
                <a:solidFill>
                  <a:srgbClr val="6B7C8B"/>
                </a:solidFill>
                <a:effectLst/>
                <a:latin typeface="inherit"/>
              </a:rPr>
              <a:t>//Initialize the variable through constructor</a:t>
            </a:r>
            <a:endParaRPr lang="en-IN" sz="1600" b="0" i="0" dirty="0">
              <a:solidFill>
                <a:srgbClr val="596174"/>
              </a:solidFill>
              <a:effectLst/>
              <a:latin typeface="Inconsolata" pitchFamily="1" charset="0"/>
            </a:endParaRPr>
          </a:p>
          <a:p>
            <a:pPr algn="l" fontAlgn="base"/>
            <a:r>
              <a:rPr lang="en-IN" sz="1600" b="1" i="0" dirty="0">
                <a:solidFill>
                  <a:srgbClr val="D171DD"/>
                </a:solidFill>
                <a:effectLst/>
                <a:latin typeface="inherit"/>
              </a:rPr>
              <a:t>public</a:t>
            </a:r>
            <a:r>
              <a:rPr lang="en-IN" sz="1600" b="0" i="0" dirty="0">
                <a:solidFill>
                  <a:srgbClr val="CFD5E0"/>
                </a:solidFill>
                <a:effectLst/>
                <a:latin typeface="inherit"/>
              </a:rPr>
              <a:t> </a:t>
            </a:r>
            <a:r>
              <a:rPr lang="en-IN" sz="1600" b="0" i="0" dirty="0" err="1">
                <a:solidFill>
                  <a:srgbClr val="4284AE"/>
                </a:solidFill>
                <a:effectLst/>
                <a:latin typeface="inherit"/>
              </a:rPr>
              <a:t>HomeController</a:t>
            </a:r>
            <a:r>
              <a:rPr lang="en-IN" sz="1600" b="1" i="0" dirty="0">
                <a:solidFill>
                  <a:srgbClr val="6B7C8B"/>
                </a:solidFill>
                <a:effectLst/>
                <a:latin typeface="inherit"/>
              </a:rPr>
              <a:t>(</a:t>
            </a:r>
            <a:r>
              <a:rPr lang="en-IN" sz="1600" b="0" i="0" dirty="0" err="1">
                <a:solidFill>
                  <a:srgbClr val="CFD5E0"/>
                </a:solidFill>
                <a:effectLst/>
                <a:latin typeface="inherit"/>
              </a:rPr>
              <a:t>IStudentRepository</a:t>
            </a:r>
            <a:r>
              <a:rPr lang="en-IN" sz="1600" b="0" i="0" dirty="0">
                <a:solidFill>
                  <a:srgbClr val="CFD5E0"/>
                </a:solidFill>
                <a:effectLst/>
                <a:latin typeface="inherit"/>
              </a:rPr>
              <a:t> repository</a:t>
            </a:r>
            <a:r>
              <a:rPr lang="en-IN" sz="1600" b="1" i="0" dirty="0">
                <a:solidFill>
                  <a:srgbClr val="6B7C8B"/>
                </a:solidFill>
                <a:effectLst/>
                <a:latin typeface="inherit"/>
              </a:rPr>
              <a:t>) {</a:t>
            </a:r>
            <a:endParaRPr lang="en-IN" sz="1600" b="0" i="0" dirty="0">
              <a:solidFill>
                <a:srgbClr val="596174"/>
              </a:solidFill>
              <a:effectLst/>
              <a:latin typeface="Inconsolata" pitchFamily="1" charset="0"/>
            </a:endParaRPr>
          </a:p>
          <a:p>
            <a:pPr algn="l" fontAlgn="base"/>
            <a:r>
              <a:rPr lang="en-IN" sz="1600" b="0" i="0" dirty="0">
                <a:solidFill>
                  <a:srgbClr val="CFD5E0"/>
                </a:solidFill>
                <a:effectLst/>
                <a:latin typeface="inherit"/>
              </a:rPr>
              <a:t>_repository = repository;</a:t>
            </a:r>
            <a:endParaRPr lang="en-IN" sz="1600" b="0" i="0" dirty="0">
              <a:solidFill>
                <a:srgbClr val="596174"/>
              </a:solidFill>
              <a:effectLst/>
              <a:latin typeface="Inconsolata" pitchFamily="1" charset="0"/>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D171DD"/>
                </a:solidFill>
                <a:effectLst/>
                <a:latin typeface="inherit"/>
              </a:rPr>
              <a:t>public</a:t>
            </a:r>
            <a:r>
              <a:rPr lang="en-IN" sz="1600" b="0" i="0" dirty="0">
                <a:solidFill>
                  <a:srgbClr val="CFD5E0"/>
                </a:solidFill>
                <a:effectLst/>
                <a:latin typeface="inherit"/>
              </a:rPr>
              <a:t> </a:t>
            </a:r>
            <a:r>
              <a:rPr lang="en-IN" sz="1600" b="0" i="0" dirty="0" err="1">
                <a:solidFill>
                  <a:srgbClr val="CFD5E0"/>
                </a:solidFill>
                <a:effectLst/>
                <a:latin typeface="inherit"/>
              </a:rPr>
              <a:t>JsonResult</a:t>
            </a:r>
            <a:r>
              <a:rPr lang="en-IN" sz="1600" b="0" i="0" dirty="0">
                <a:solidFill>
                  <a:srgbClr val="CFD5E0"/>
                </a:solidFill>
                <a:effectLst/>
                <a:latin typeface="inherit"/>
              </a:rPr>
              <a:t> </a:t>
            </a:r>
            <a:r>
              <a:rPr lang="en-IN" sz="1600" b="0" i="0" dirty="0">
                <a:solidFill>
                  <a:srgbClr val="4284AE"/>
                </a:solidFill>
                <a:effectLst/>
                <a:latin typeface="inherit"/>
              </a:rPr>
              <a:t>Index</a:t>
            </a:r>
            <a:r>
              <a:rPr lang="en-IN" sz="1600" b="1" i="0" dirty="0">
                <a:solidFill>
                  <a:srgbClr val="6B7C8B"/>
                </a:solidFill>
                <a:effectLst/>
                <a:latin typeface="inherit"/>
              </a:rPr>
              <a:t>() {</a:t>
            </a:r>
            <a:endParaRPr lang="en-IN" sz="1600" b="0" i="0" dirty="0">
              <a:solidFill>
                <a:srgbClr val="596174"/>
              </a:solidFill>
              <a:effectLst/>
              <a:latin typeface="Inconsolata" pitchFamily="1" charset="0"/>
            </a:endParaRPr>
          </a:p>
          <a:p>
            <a:pPr algn="l" fontAlgn="base"/>
            <a:r>
              <a:rPr lang="en-IN" sz="1600" b="0" i="0" dirty="0">
                <a:solidFill>
                  <a:srgbClr val="CFD5E0"/>
                </a:solidFill>
                <a:effectLst/>
                <a:latin typeface="inherit"/>
              </a:rPr>
              <a:t>List</a:t>
            </a:r>
            <a:r>
              <a:rPr lang="en-IN" sz="1600" b="1" i="0" dirty="0">
                <a:solidFill>
                  <a:srgbClr val="6B7C8B"/>
                </a:solidFill>
                <a:effectLst/>
                <a:latin typeface="inherit"/>
              </a:rPr>
              <a:t>&lt;</a:t>
            </a:r>
            <a:r>
              <a:rPr lang="en-IN" sz="1600" b="0" i="0" dirty="0">
                <a:solidFill>
                  <a:srgbClr val="CFD5E0"/>
                </a:solidFill>
                <a:effectLst/>
                <a:latin typeface="inherit"/>
              </a:rPr>
              <a:t>Student</a:t>
            </a:r>
            <a:r>
              <a:rPr lang="en-IN" sz="1600" b="1" i="0" dirty="0">
                <a:solidFill>
                  <a:srgbClr val="6B7C8B"/>
                </a:solidFill>
                <a:effectLst/>
                <a:latin typeface="inherit"/>
              </a:rPr>
              <a:t>&gt;</a:t>
            </a:r>
            <a:r>
              <a:rPr lang="en-IN" sz="1600" b="0" i="0" dirty="0">
                <a:solidFill>
                  <a:srgbClr val="CFD5E0"/>
                </a:solidFill>
                <a:effectLst/>
                <a:latin typeface="inherit"/>
              </a:rPr>
              <a:t> </a:t>
            </a:r>
            <a:r>
              <a:rPr lang="en-IN" sz="1600" b="0" i="0" dirty="0" err="1">
                <a:solidFill>
                  <a:srgbClr val="CFD5E0"/>
                </a:solidFill>
                <a:effectLst/>
                <a:latin typeface="inherit"/>
              </a:rPr>
              <a:t>allStudentDetails</a:t>
            </a:r>
            <a:r>
              <a:rPr lang="en-IN" sz="1600" b="0" i="0" dirty="0">
                <a:solidFill>
                  <a:srgbClr val="CFD5E0"/>
                </a:solidFill>
                <a:effectLst/>
                <a:latin typeface="inherit"/>
              </a:rPr>
              <a:t> = _</a:t>
            </a:r>
            <a:r>
              <a:rPr lang="en-IN" sz="1600" b="0" i="0" dirty="0" err="1">
                <a:solidFill>
                  <a:srgbClr val="CFD5E0"/>
                </a:solidFill>
                <a:effectLst/>
                <a:latin typeface="inherit"/>
              </a:rPr>
              <a:t>repository.</a:t>
            </a:r>
            <a:r>
              <a:rPr lang="en-IN" sz="1600" b="0" i="0" dirty="0" err="1">
                <a:solidFill>
                  <a:srgbClr val="4284AE"/>
                </a:solidFill>
                <a:effectLst/>
                <a:latin typeface="inherit"/>
              </a:rPr>
              <a:t>GetAllStudent</a:t>
            </a:r>
            <a:r>
              <a:rPr lang="en-IN" sz="1600" b="1" i="0" dirty="0">
                <a:solidFill>
                  <a:srgbClr val="6B7C8B"/>
                </a:solidFill>
                <a:effectLst/>
                <a:latin typeface="inherit"/>
              </a:rPr>
              <a:t>()</a:t>
            </a:r>
            <a:r>
              <a:rPr lang="en-IN" sz="1600" b="0" i="0" dirty="0">
                <a:solidFill>
                  <a:srgbClr val="CFD5E0"/>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D171DD"/>
                </a:solidFill>
                <a:effectLst/>
                <a:latin typeface="inherit"/>
              </a:rPr>
              <a:t>return</a:t>
            </a:r>
            <a:r>
              <a:rPr lang="en-IN" sz="1600" b="0" i="0" dirty="0">
                <a:solidFill>
                  <a:srgbClr val="CFD5E0"/>
                </a:solidFill>
                <a:effectLst/>
                <a:latin typeface="inherit"/>
              </a:rPr>
              <a:t> </a:t>
            </a:r>
            <a:r>
              <a:rPr lang="en-IN" sz="1600" b="0" i="0" dirty="0">
                <a:solidFill>
                  <a:srgbClr val="4284AE"/>
                </a:solidFill>
                <a:effectLst/>
                <a:latin typeface="inherit"/>
              </a:rPr>
              <a:t>Json</a:t>
            </a:r>
            <a:r>
              <a:rPr lang="en-IN" sz="1600" b="1" i="0" dirty="0">
                <a:solidFill>
                  <a:srgbClr val="6B7C8B"/>
                </a:solidFill>
                <a:effectLst/>
                <a:latin typeface="inherit"/>
              </a:rPr>
              <a:t>(</a:t>
            </a:r>
            <a:r>
              <a:rPr lang="en-IN" sz="1600" b="0" i="0" dirty="0" err="1">
                <a:solidFill>
                  <a:srgbClr val="CFD5E0"/>
                </a:solidFill>
                <a:effectLst/>
                <a:latin typeface="inherit"/>
              </a:rPr>
              <a:t>allStudentDetails</a:t>
            </a:r>
            <a:r>
              <a:rPr lang="en-IN" sz="1600" b="1" i="0" dirty="0">
                <a:solidFill>
                  <a:srgbClr val="6B7C8B"/>
                </a:solidFill>
                <a:effectLst/>
                <a:latin typeface="inherit"/>
              </a:rPr>
              <a:t>)</a:t>
            </a:r>
            <a:r>
              <a:rPr lang="en-IN" sz="1600" b="0" i="0" dirty="0">
                <a:solidFill>
                  <a:srgbClr val="CFD5E0"/>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D171DD"/>
                </a:solidFill>
                <a:effectLst/>
                <a:latin typeface="inherit"/>
              </a:rPr>
              <a:t>public</a:t>
            </a:r>
            <a:r>
              <a:rPr lang="en-IN" sz="1600" b="0" i="0" dirty="0">
                <a:solidFill>
                  <a:srgbClr val="CFD5E0"/>
                </a:solidFill>
                <a:effectLst/>
                <a:latin typeface="inherit"/>
              </a:rPr>
              <a:t> </a:t>
            </a:r>
            <a:r>
              <a:rPr lang="en-IN" sz="1600" b="0" i="0" dirty="0" err="1">
                <a:solidFill>
                  <a:srgbClr val="CFD5E0"/>
                </a:solidFill>
                <a:effectLst/>
                <a:latin typeface="inherit"/>
              </a:rPr>
              <a:t>JsonResult</a:t>
            </a:r>
            <a:r>
              <a:rPr lang="en-IN" sz="1600" b="0" i="0" dirty="0">
                <a:solidFill>
                  <a:srgbClr val="CFD5E0"/>
                </a:solidFill>
                <a:effectLst/>
                <a:latin typeface="inherit"/>
              </a:rPr>
              <a:t> </a:t>
            </a:r>
            <a:r>
              <a:rPr lang="en-IN" sz="1600" b="0" i="0" dirty="0" err="1">
                <a:solidFill>
                  <a:srgbClr val="4284AE"/>
                </a:solidFill>
                <a:effectLst/>
                <a:latin typeface="inherit"/>
              </a:rPr>
              <a:t>GetStudentDetails</a:t>
            </a:r>
            <a:r>
              <a:rPr lang="en-IN" sz="1600" b="1" i="0" dirty="0">
                <a:solidFill>
                  <a:srgbClr val="6B7C8B"/>
                </a:solidFill>
                <a:effectLst/>
                <a:latin typeface="inherit"/>
              </a:rPr>
              <a:t>(</a:t>
            </a:r>
            <a:r>
              <a:rPr lang="en-IN" sz="1600" b="1" i="0" dirty="0">
                <a:solidFill>
                  <a:srgbClr val="D171DD"/>
                </a:solidFill>
                <a:effectLst/>
                <a:latin typeface="inherit"/>
              </a:rPr>
              <a:t>int</a:t>
            </a:r>
            <a:r>
              <a:rPr lang="en-IN" sz="1600" b="0" i="0" dirty="0">
                <a:solidFill>
                  <a:srgbClr val="CFD5E0"/>
                </a:solidFill>
                <a:effectLst/>
                <a:latin typeface="inherit"/>
              </a:rPr>
              <a:t> Id</a:t>
            </a:r>
            <a:r>
              <a:rPr lang="en-IN" sz="1600" b="1" i="0" dirty="0">
                <a:solidFill>
                  <a:srgbClr val="6B7C8B"/>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pitchFamily="1" charset="0"/>
            </a:endParaRPr>
          </a:p>
          <a:p>
            <a:pPr algn="l" fontAlgn="base"/>
            <a:r>
              <a:rPr lang="en-IN" sz="1600" b="0" i="0" dirty="0">
                <a:solidFill>
                  <a:srgbClr val="CFD5E0"/>
                </a:solidFill>
                <a:effectLst/>
                <a:latin typeface="inherit"/>
              </a:rPr>
              <a:t>Student </a:t>
            </a:r>
            <a:r>
              <a:rPr lang="en-IN" sz="1600" b="0" i="0" dirty="0" err="1">
                <a:solidFill>
                  <a:srgbClr val="CFD5E0"/>
                </a:solidFill>
                <a:effectLst/>
                <a:latin typeface="inherit"/>
              </a:rPr>
              <a:t>studentDetails</a:t>
            </a:r>
            <a:r>
              <a:rPr lang="en-IN" sz="1600" b="0" i="0" dirty="0">
                <a:solidFill>
                  <a:srgbClr val="CFD5E0"/>
                </a:solidFill>
                <a:effectLst/>
                <a:latin typeface="inherit"/>
              </a:rPr>
              <a:t> = _</a:t>
            </a:r>
            <a:r>
              <a:rPr lang="en-IN" sz="1600" b="0" i="0" dirty="0" err="1">
                <a:solidFill>
                  <a:srgbClr val="CFD5E0"/>
                </a:solidFill>
                <a:effectLst/>
                <a:latin typeface="inherit"/>
              </a:rPr>
              <a:t>repository.</a:t>
            </a:r>
            <a:r>
              <a:rPr lang="en-IN" sz="1600" b="0" i="0" dirty="0" err="1">
                <a:solidFill>
                  <a:srgbClr val="4284AE"/>
                </a:solidFill>
                <a:effectLst/>
                <a:latin typeface="inherit"/>
              </a:rPr>
              <a:t>GetStudentById</a:t>
            </a:r>
            <a:r>
              <a:rPr lang="en-IN" sz="1600" b="1" i="0" dirty="0">
                <a:solidFill>
                  <a:srgbClr val="6B7C8B"/>
                </a:solidFill>
                <a:effectLst/>
                <a:latin typeface="inherit"/>
              </a:rPr>
              <a:t>(</a:t>
            </a:r>
            <a:r>
              <a:rPr lang="en-IN" sz="1600" b="0" i="0" dirty="0">
                <a:solidFill>
                  <a:srgbClr val="CFD5E0"/>
                </a:solidFill>
                <a:effectLst/>
                <a:latin typeface="inherit"/>
              </a:rPr>
              <a:t>Id</a:t>
            </a:r>
            <a:r>
              <a:rPr lang="en-IN" sz="1600" b="1" i="0" dirty="0">
                <a:solidFill>
                  <a:srgbClr val="6B7C8B"/>
                </a:solidFill>
                <a:effectLst/>
                <a:latin typeface="inherit"/>
              </a:rPr>
              <a:t>)</a:t>
            </a:r>
            <a:r>
              <a:rPr lang="en-IN" sz="1600" b="0" i="0" dirty="0">
                <a:solidFill>
                  <a:srgbClr val="CFD5E0"/>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D171DD"/>
                </a:solidFill>
                <a:effectLst/>
                <a:latin typeface="inherit"/>
              </a:rPr>
              <a:t>return</a:t>
            </a:r>
            <a:r>
              <a:rPr lang="en-IN" sz="1600" b="0" i="0" dirty="0">
                <a:solidFill>
                  <a:srgbClr val="CFD5E0"/>
                </a:solidFill>
                <a:effectLst/>
                <a:latin typeface="inherit"/>
              </a:rPr>
              <a:t> </a:t>
            </a:r>
            <a:r>
              <a:rPr lang="en-IN" sz="1600" b="0" i="0" dirty="0">
                <a:solidFill>
                  <a:srgbClr val="4284AE"/>
                </a:solidFill>
                <a:effectLst/>
                <a:latin typeface="inherit"/>
              </a:rPr>
              <a:t>Json</a:t>
            </a:r>
            <a:r>
              <a:rPr lang="en-IN" sz="1600" b="1" i="0" dirty="0">
                <a:solidFill>
                  <a:srgbClr val="6B7C8B"/>
                </a:solidFill>
                <a:effectLst/>
                <a:latin typeface="inherit"/>
              </a:rPr>
              <a:t>(</a:t>
            </a:r>
            <a:r>
              <a:rPr lang="en-IN" sz="1600" b="0" i="0" dirty="0" err="1">
                <a:solidFill>
                  <a:srgbClr val="CFD5E0"/>
                </a:solidFill>
                <a:effectLst/>
                <a:latin typeface="inherit"/>
              </a:rPr>
              <a:t>studentDetails</a:t>
            </a:r>
            <a:r>
              <a:rPr lang="en-IN" sz="1600" b="1" i="0" dirty="0">
                <a:solidFill>
                  <a:srgbClr val="6B7C8B"/>
                </a:solidFill>
                <a:effectLst/>
                <a:latin typeface="inherit"/>
              </a:rPr>
              <a:t>)</a:t>
            </a:r>
            <a:r>
              <a:rPr lang="en-IN" sz="1600" b="0" i="0" dirty="0">
                <a:solidFill>
                  <a:srgbClr val="CFD5E0"/>
                </a:solidFill>
                <a:effectLst/>
                <a:latin typeface="inherit"/>
              </a:rPr>
              <a:t>; </a:t>
            </a:r>
            <a:r>
              <a:rPr lang="en-IN" sz="1600" b="1" i="0" dirty="0">
                <a:solidFill>
                  <a:srgbClr val="6B7C8B"/>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pitchFamily="1" charset="0"/>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pitchFamily="1" charset="0"/>
            </a:endParaRPr>
          </a:p>
        </p:txBody>
      </p:sp>
    </p:spTree>
    <p:extLst>
      <p:ext uri="{BB962C8B-B14F-4D97-AF65-F5344CB8AC3E}">
        <p14:creationId xmlns:p14="http://schemas.microsoft.com/office/powerpoint/2010/main" val="3590661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51B58C-4122-4459-A835-1841889FAC59}"/>
              </a:ext>
            </a:extLst>
          </p:cNvPr>
          <p:cNvSpPr txBox="1"/>
          <p:nvPr/>
        </p:nvSpPr>
        <p:spPr>
          <a:xfrm>
            <a:off x="0" y="0"/>
            <a:ext cx="6096000" cy="4524315"/>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Code Explanation:</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the above example, the IoC container will automatically pass an instance of the </a:t>
            </a:r>
            <a:r>
              <a:rPr lang="en-US" b="1" i="0" dirty="0" err="1">
                <a:solidFill>
                  <a:srgbClr val="000000"/>
                </a:solidFill>
                <a:effectLst/>
                <a:latin typeface="arial" panose="020B0604020202020204" pitchFamily="34" charset="0"/>
              </a:rPr>
              <a:t>TestStudentRepository</a:t>
            </a:r>
            <a:r>
              <a:rPr lang="en-US" b="0" i="0" dirty="0">
                <a:solidFill>
                  <a:srgbClr val="000000"/>
                </a:solidFill>
                <a:effectLst/>
                <a:latin typeface="arial" panose="020B0604020202020204" pitchFamily="34" charset="0"/>
              </a:rPr>
              <a:t> to the constructor of </a:t>
            </a:r>
            <a:r>
              <a:rPr lang="en-US" b="0" i="0" dirty="0" err="1">
                <a:solidFill>
                  <a:srgbClr val="000000"/>
                </a:solidFill>
                <a:effectLst/>
                <a:latin typeface="arial" panose="020B0604020202020204" pitchFamily="34" charset="0"/>
              </a:rPr>
              <a:t>HomeController</a:t>
            </a:r>
            <a:r>
              <a:rPr lang="en-US" b="0" i="0" dirty="0">
                <a:solidFill>
                  <a:srgbClr val="000000"/>
                </a:solidFill>
                <a:effectLst/>
                <a:latin typeface="arial" panose="020B0604020202020204" pitchFamily="34" charset="0"/>
              </a:rPr>
              <a:t>. We don’t need to do anything else. An IoC container will create and dispose of an instance of the </a:t>
            </a:r>
            <a:r>
              <a:rPr lang="en-US" b="1" i="0" dirty="0" err="1">
                <a:solidFill>
                  <a:srgbClr val="000000"/>
                </a:solidFill>
                <a:effectLst/>
                <a:latin typeface="arial" panose="020B0604020202020204" pitchFamily="34" charset="0"/>
              </a:rPr>
              <a:t>IStudentRepository</a:t>
            </a:r>
            <a:r>
              <a:rPr lang="en-US" b="1" i="0" dirty="0">
                <a:solidFill>
                  <a:srgbClr val="000000"/>
                </a:solidFill>
                <a:effectLst/>
                <a:latin typeface="arial" panose="020B0604020202020204" pitchFamily="34" charset="0"/>
              </a:rPr>
              <a:t> </a:t>
            </a:r>
            <a:r>
              <a:rPr lang="en-US" b="0" i="0" dirty="0">
                <a:solidFill>
                  <a:srgbClr val="000000"/>
                </a:solidFill>
                <a:effectLst/>
                <a:latin typeface="arial" panose="020B0604020202020204" pitchFamily="34" charset="0"/>
              </a:rPr>
              <a:t>based on the registered lifetime. As we are injecting the dependency object through a constructor, it is called as constructor dependency injection.</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We created the _</a:t>
            </a:r>
            <a:r>
              <a:rPr lang="en-US" b="1" i="0" dirty="0">
                <a:solidFill>
                  <a:srgbClr val="000000"/>
                </a:solidFill>
                <a:effectLst/>
                <a:latin typeface="arial" panose="020B0604020202020204" pitchFamily="34" charset="0"/>
              </a:rPr>
              <a:t> repository </a:t>
            </a:r>
            <a:r>
              <a:rPr lang="en-US" b="0" i="0" dirty="0">
                <a:solidFill>
                  <a:srgbClr val="000000"/>
                </a:solidFill>
                <a:effectLst/>
                <a:latin typeface="arial" panose="020B0604020202020204" pitchFamily="34" charset="0"/>
              </a:rPr>
              <a:t>variable as read-only which will ensure that once we injected the dependency object then that value can never be changed.</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At this point, run the application and you should get the output as expected as shown in the below image.</a:t>
            </a:r>
            <a:endParaRPr lang="en-US" b="0" i="0" dirty="0">
              <a:solidFill>
                <a:srgbClr val="212529"/>
              </a:solidFill>
              <a:effectLst/>
              <a:latin typeface="-apple-system"/>
            </a:endParaRPr>
          </a:p>
          <a:p>
            <a:br>
              <a:rPr lang="en-US" dirty="0"/>
            </a:br>
            <a:endParaRPr lang="en-IN" dirty="0"/>
          </a:p>
        </p:txBody>
      </p:sp>
      <p:pic>
        <p:nvPicPr>
          <p:cNvPr id="3074" name="Picture 2" descr="ASP.NET Core Dependency Injection">
            <a:extLst>
              <a:ext uri="{FF2B5EF4-FFF2-40B4-BE49-F238E27FC236}">
                <a16:creationId xmlns:a16="http://schemas.microsoft.com/office/drawing/2014/main" id="{BF5BFE8D-406B-48D3-B40E-4368B2072C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641" y="4067329"/>
            <a:ext cx="7096125" cy="2085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7386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DE92AA1-2FEB-4387-B6E0-5508E8834A35}"/>
              </a:ext>
            </a:extLst>
          </p:cNvPr>
          <p:cNvSpPr txBox="1"/>
          <p:nvPr/>
        </p:nvSpPr>
        <p:spPr>
          <a:xfrm>
            <a:off x="363794" y="429843"/>
            <a:ext cx="11484077" cy="646331"/>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Sometimes we may only need a dependency service type in a single action method. For this, use the </a:t>
            </a:r>
            <a:r>
              <a:rPr lang="en-US" b="1" i="0" dirty="0">
                <a:solidFill>
                  <a:srgbClr val="000000"/>
                </a:solidFill>
                <a:effectLst/>
                <a:latin typeface="arial" panose="020B0604020202020204" pitchFamily="34" charset="0"/>
              </a:rPr>
              <a:t>[</a:t>
            </a:r>
            <a:r>
              <a:rPr lang="en-US" b="1" i="0" dirty="0" err="1">
                <a:solidFill>
                  <a:srgbClr val="000000"/>
                </a:solidFill>
                <a:effectLst/>
                <a:latin typeface="arial" panose="020B0604020202020204" pitchFamily="34" charset="0"/>
              </a:rPr>
              <a:t>FromServices</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attribute with the service type parameter in the method.</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575BFE5D-361F-43DA-8CF2-77C87BC06F34}"/>
              </a:ext>
            </a:extLst>
          </p:cNvPr>
          <p:cNvSpPr txBox="1"/>
          <p:nvPr/>
        </p:nvSpPr>
        <p:spPr>
          <a:xfrm>
            <a:off x="222396" y="1447790"/>
            <a:ext cx="6096000" cy="5078313"/>
          </a:xfrm>
          <a:prstGeom prst="rect">
            <a:avLst/>
          </a:prstGeom>
          <a:solidFill>
            <a:schemeClr val="tx1"/>
          </a:solidFill>
        </p:spPr>
        <p:txBody>
          <a:bodyPr wrap="square">
            <a:spAutoFit/>
          </a:bodyPr>
          <a:lstStyle/>
          <a:p>
            <a:pPr algn="l" fontAlgn="base"/>
            <a:r>
              <a:rPr lang="en-IN" b="1" i="0" dirty="0">
                <a:solidFill>
                  <a:srgbClr val="D171DD"/>
                </a:solidFill>
                <a:effectLst/>
                <a:latin typeface="inherit"/>
              </a:rPr>
              <a:t>using </a:t>
            </a:r>
            <a:r>
              <a:rPr lang="en-IN" b="0" i="1" dirty="0" err="1">
                <a:solidFill>
                  <a:srgbClr val="4284AE"/>
                </a:solidFill>
                <a:effectLst/>
                <a:latin typeface="inherit"/>
              </a:rPr>
              <a:t>FirstCoreMVCWebApplication.Models</a:t>
            </a:r>
            <a:r>
              <a:rPr lang="en-IN" b="0" i="1" dirty="0">
                <a:solidFill>
                  <a:srgbClr val="4284AE"/>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using </a:t>
            </a:r>
            <a:r>
              <a:rPr lang="en-IN" b="0" i="1" dirty="0" err="1">
                <a:solidFill>
                  <a:srgbClr val="4284AE"/>
                </a:solidFill>
                <a:effectLst/>
                <a:latin typeface="inherit"/>
              </a:rPr>
              <a:t>Microsoft.AspNetCore.Mvc</a:t>
            </a:r>
            <a:r>
              <a:rPr lang="en-IN" b="0" i="1" dirty="0">
                <a:solidFill>
                  <a:srgbClr val="4284AE"/>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using </a:t>
            </a:r>
            <a:r>
              <a:rPr lang="en-IN" b="0" i="1" dirty="0" err="1">
                <a:solidFill>
                  <a:srgbClr val="4284AE"/>
                </a:solidFill>
                <a:effectLst/>
                <a:latin typeface="inherit"/>
              </a:rPr>
              <a:t>System.Collections.Generic</a:t>
            </a:r>
            <a:r>
              <a:rPr lang="en-IN" b="0" i="1" dirty="0">
                <a:solidFill>
                  <a:srgbClr val="4284AE"/>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namespace </a:t>
            </a:r>
            <a:r>
              <a:rPr lang="en-IN" b="0" i="1" dirty="0" err="1">
                <a:solidFill>
                  <a:srgbClr val="4284AE"/>
                </a:solidFill>
                <a:effectLst/>
                <a:latin typeface="inherit"/>
              </a:rPr>
              <a:t>FirstCoreMVCWebApplication.Controllers</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a:t>
            </a:r>
            <a:r>
              <a:rPr lang="en-IN" b="1" i="0" dirty="0">
                <a:solidFill>
                  <a:srgbClr val="D171DD"/>
                </a:solidFill>
                <a:effectLst/>
                <a:latin typeface="inherit"/>
              </a:rPr>
              <a:t>class</a:t>
            </a:r>
            <a:r>
              <a:rPr lang="en-IN" b="0" i="0" dirty="0">
                <a:solidFill>
                  <a:srgbClr val="CFD5E0"/>
                </a:solidFill>
                <a:effectLst/>
                <a:latin typeface="inherit"/>
              </a:rPr>
              <a:t> </a:t>
            </a:r>
            <a:r>
              <a:rPr lang="en-IN" b="0" i="0" dirty="0" err="1">
                <a:solidFill>
                  <a:srgbClr val="CFD5E0"/>
                </a:solidFill>
                <a:effectLst/>
                <a:latin typeface="inherit"/>
              </a:rPr>
              <a:t>HomeController</a:t>
            </a:r>
            <a:r>
              <a:rPr lang="en-IN" b="0" i="0" dirty="0">
                <a:solidFill>
                  <a:srgbClr val="CFD5E0"/>
                </a:solidFill>
                <a:effectLst/>
                <a:latin typeface="inherit"/>
              </a:rPr>
              <a:t> : Controller</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a:t>
            </a:r>
            <a:r>
              <a:rPr lang="en-IN" b="0" i="0" dirty="0" err="1">
                <a:solidFill>
                  <a:srgbClr val="4284AE"/>
                </a:solidFill>
                <a:effectLst/>
                <a:latin typeface="inherit"/>
              </a:rPr>
              <a:t>HomeController</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public</a:t>
            </a:r>
            <a:r>
              <a:rPr lang="en-IN" b="0" i="0" dirty="0">
                <a:solidFill>
                  <a:srgbClr val="CFD5E0"/>
                </a:solidFill>
                <a:effectLst/>
                <a:latin typeface="inherit"/>
              </a:rPr>
              <a:t> </a:t>
            </a:r>
            <a:r>
              <a:rPr lang="en-IN" b="0" i="0" dirty="0" err="1">
                <a:solidFill>
                  <a:srgbClr val="CFD5E0"/>
                </a:solidFill>
                <a:effectLst/>
                <a:latin typeface="inherit"/>
              </a:rPr>
              <a:t>JsonResult</a:t>
            </a:r>
            <a:r>
              <a:rPr lang="en-IN" b="0" i="0" dirty="0">
                <a:solidFill>
                  <a:srgbClr val="CFD5E0"/>
                </a:solidFill>
                <a:effectLst/>
                <a:latin typeface="inherit"/>
              </a:rPr>
              <a:t> </a:t>
            </a:r>
            <a:r>
              <a:rPr lang="en-IN" b="0" i="0" dirty="0">
                <a:solidFill>
                  <a:srgbClr val="4284AE"/>
                </a:solidFill>
                <a:effectLst/>
                <a:latin typeface="inherit"/>
              </a:rPr>
              <a:t>Index</a:t>
            </a:r>
            <a:r>
              <a:rPr lang="en-IN" b="1" i="0" dirty="0">
                <a:solidFill>
                  <a:srgbClr val="6B7C8B"/>
                </a:solidFill>
                <a:effectLst/>
                <a:latin typeface="inherit"/>
              </a:rPr>
              <a:t>(</a:t>
            </a:r>
            <a:r>
              <a:rPr lang="en-IN" b="1" i="0" dirty="0">
                <a:solidFill>
                  <a:srgbClr val="FF0000"/>
                </a:solidFill>
                <a:effectLst/>
                <a:latin typeface="inherit"/>
              </a:rPr>
              <a:t>[</a:t>
            </a:r>
            <a:r>
              <a:rPr lang="en-IN" b="0" i="0" dirty="0" err="1">
                <a:solidFill>
                  <a:srgbClr val="CFD5E0"/>
                </a:solidFill>
                <a:effectLst/>
                <a:highlight>
                  <a:srgbClr val="FF00FF"/>
                </a:highlight>
                <a:latin typeface="inherit"/>
              </a:rPr>
              <a:t>FromServices</a:t>
            </a:r>
            <a:r>
              <a:rPr lang="en-IN" b="1" i="0" dirty="0">
                <a:solidFill>
                  <a:srgbClr val="FF0000"/>
                </a:solidFill>
                <a:effectLst/>
                <a:latin typeface="inherit"/>
              </a:rPr>
              <a:t>]</a:t>
            </a:r>
            <a:r>
              <a:rPr lang="en-IN" b="0" i="0" dirty="0">
                <a:solidFill>
                  <a:srgbClr val="CFD5E0"/>
                </a:solidFill>
                <a:effectLst/>
                <a:latin typeface="inherit"/>
              </a:rPr>
              <a:t> </a:t>
            </a:r>
            <a:r>
              <a:rPr lang="en-IN" b="0" i="0" dirty="0" err="1">
                <a:solidFill>
                  <a:srgbClr val="CFD5E0"/>
                </a:solidFill>
                <a:effectLst/>
                <a:latin typeface="inherit"/>
              </a:rPr>
              <a:t>IStudentRepository</a:t>
            </a:r>
            <a:r>
              <a:rPr lang="en-IN" b="0" i="0" dirty="0">
                <a:solidFill>
                  <a:srgbClr val="CFD5E0"/>
                </a:solidFill>
                <a:effectLst/>
                <a:latin typeface="inherit"/>
              </a:rPr>
              <a:t> repository</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List</a:t>
            </a:r>
            <a:r>
              <a:rPr lang="en-IN" b="1" i="0" dirty="0">
                <a:solidFill>
                  <a:srgbClr val="6B7C8B"/>
                </a:solidFill>
                <a:effectLst/>
                <a:latin typeface="inherit"/>
              </a:rPr>
              <a:t>&lt;</a:t>
            </a:r>
            <a:r>
              <a:rPr lang="en-IN" b="0" i="0" dirty="0">
                <a:solidFill>
                  <a:srgbClr val="CFD5E0"/>
                </a:solidFill>
                <a:effectLst/>
                <a:latin typeface="inherit"/>
              </a:rPr>
              <a:t>Student</a:t>
            </a:r>
            <a:r>
              <a:rPr lang="en-IN" b="1" i="0" dirty="0">
                <a:solidFill>
                  <a:srgbClr val="6B7C8B"/>
                </a:solidFill>
                <a:effectLst/>
                <a:latin typeface="inherit"/>
              </a:rPr>
              <a:t>&gt;</a:t>
            </a:r>
            <a:r>
              <a:rPr lang="en-IN" b="0" i="0" dirty="0">
                <a:solidFill>
                  <a:srgbClr val="CFD5E0"/>
                </a:solidFill>
                <a:effectLst/>
                <a:latin typeface="inherit"/>
              </a:rPr>
              <a:t> </a:t>
            </a:r>
            <a:r>
              <a:rPr lang="en-IN" b="0" i="0" dirty="0" err="1">
                <a:solidFill>
                  <a:srgbClr val="CFD5E0"/>
                </a:solidFill>
                <a:effectLst/>
                <a:latin typeface="inherit"/>
              </a:rPr>
              <a:t>allStudentDetails</a:t>
            </a:r>
            <a:r>
              <a:rPr lang="en-IN" b="0" i="0" dirty="0">
                <a:solidFill>
                  <a:srgbClr val="CFD5E0"/>
                </a:solidFill>
                <a:effectLst/>
                <a:latin typeface="inherit"/>
              </a:rPr>
              <a:t> = </a:t>
            </a:r>
            <a:r>
              <a:rPr lang="en-IN" b="0" i="0" dirty="0" err="1">
                <a:solidFill>
                  <a:srgbClr val="CFD5E0"/>
                </a:solidFill>
                <a:effectLst/>
                <a:latin typeface="inherit"/>
              </a:rPr>
              <a:t>repository.</a:t>
            </a:r>
            <a:r>
              <a:rPr lang="en-IN" b="0" i="0" dirty="0" err="1">
                <a:solidFill>
                  <a:srgbClr val="4284AE"/>
                </a:solidFill>
                <a:effectLst/>
                <a:latin typeface="inherit"/>
              </a:rPr>
              <a:t>GetAllStudent</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return</a:t>
            </a:r>
            <a:r>
              <a:rPr lang="en-IN" b="0" i="0" dirty="0">
                <a:solidFill>
                  <a:srgbClr val="CFD5E0"/>
                </a:solidFill>
                <a:effectLst/>
                <a:latin typeface="inherit"/>
              </a:rPr>
              <a:t> </a:t>
            </a:r>
            <a:r>
              <a:rPr lang="en-IN" b="0" i="0" dirty="0">
                <a:solidFill>
                  <a:srgbClr val="4284AE"/>
                </a:solidFill>
                <a:effectLst/>
                <a:latin typeface="inherit"/>
              </a:rPr>
              <a:t>Json</a:t>
            </a:r>
            <a:r>
              <a:rPr lang="en-IN" b="1" i="0" dirty="0">
                <a:solidFill>
                  <a:srgbClr val="6B7C8B"/>
                </a:solidFill>
                <a:effectLst/>
                <a:latin typeface="inherit"/>
              </a:rPr>
              <a:t>(</a:t>
            </a:r>
            <a:r>
              <a:rPr lang="en-IN" b="0" i="0" dirty="0" err="1">
                <a:solidFill>
                  <a:srgbClr val="CFD5E0"/>
                </a:solidFill>
                <a:effectLst/>
                <a:latin typeface="inherit"/>
              </a:rPr>
              <a:t>allStudentDetails</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
        <p:nvSpPr>
          <p:cNvPr id="9" name="TextBox 8">
            <a:extLst>
              <a:ext uri="{FF2B5EF4-FFF2-40B4-BE49-F238E27FC236}">
                <a16:creationId xmlns:a16="http://schemas.microsoft.com/office/drawing/2014/main" id="{AC781557-0101-4728-82E9-E9F0E11B3C5A}"/>
              </a:ext>
            </a:extLst>
          </p:cNvPr>
          <p:cNvSpPr txBox="1"/>
          <p:nvPr/>
        </p:nvSpPr>
        <p:spPr>
          <a:xfrm>
            <a:off x="6430297" y="1343573"/>
            <a:ext cx="5270090" cy="1200329"/>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Run the application and you will get the expected output as shown below.</a:t>
            </a:r>
            <a:endParaRPr lang="en-US" b="0" i="0" dirty="0">
              <a:solidFill>
                <a:srgbClr val="212529"/>
              </a:solidFill>
              <a:effectLst/>
              <a:latin typeface="-apple-system"/>
            </a:endParaRPr>
          </a:p>
          <a:p>
            <a:br>
              <a:rPr lang="en-US" dirty="0"/>
            </a:br>
            <a:endParaRPr lang="en-IN" dirty="0"/>
          </a:p>
        </p:txBody>
      </p:sp>
      <p:pic>
        <p:nvPicPr>
          <p:cNvPr id="4098" name="Picture 2" descr="Dependency Injection in .NET Core">
            <a:extLst>
              <a:ext uri="{FF2B5EF4-FFF2-40B4-BE49-F238E27FC236}">
                <a16:creationId xmlns:a16="http://schemas.microsoft.com/office/drawing/2014/main" id="{5655DFBF-9F16-4C50-940C-D504787FE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114" y="2005452"/>
            <a:ext cx="5886757" cy="173047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416B028-19E6-EAD6-F03A-BC330CCE7D39}"/>
              </a:ext>
            </a:extLst>
          </p:cNvPr>
          <p:cNvSpPr txBox="1"/>
          <p:nvPr/>
        </p:nvSpPr>
        <p:spPr>
          <a:xfrm>
            <a:off x="2912286" y="57224"/>
            <a:ext cx="609765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just" fontAlgn="base"/>
            <a:r>
              <a:rPr lang="en-US" b="1" i="0" dirty="0">
                <a:solidFill>
                  <a:srgbClr val="000000"/>
                </a:solidFill>
                <a:effectLst/>
                <a:latin typeface="arial" panose="020B0604020202020204" pitchFamily="34" charset="0"/>
              </a:rPr>
              <a:t>Action Method Injection in ASP.NET Core Application</a:t>
            </a:r>
            <a:endParaRPr lang="en-US" b="0" i="0" dirty="0">
              <a:solidFill>
                <a:srgbClr val="3A3A3A"/>
              </a:solidFill>
              <a:effectLst/>
              <a:latin typeface="-apple-system"/>
            </a:endParaRPr>
          </a:p>
        </p:txBody>
      </p:sp>
    </p:spTree>
    <p:extLst>
      <p:ext uri="{BB962C8B-B14F-4D97-AF65-F5344CB8AC3E}">
        <p14:creationId xmlns:p14="http://schemas.microsoft.com/office/powerpoint/2010/main" val="3182170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D5D9D5A-DAC4-A228-2E9D-2240B9DF8664}"/>
              </a:ext>
            </a:extLst>
          </p:cNvPr>
          <p:cNvSpPr txBox="1"/>
          <p:nvPr/>
        </p:nvSpPr>
        <p:spPr>
          <a:xfrm>
            <a:off x="143934" y="143933"/>
            <a:ext cx="6841066" cy="5909310"/>
          </a:xfrm>
          <a:prstGeom prst="rect">
            <a:avLst/>
          </a:prstGeom>
          <a:noFill/>
        </p:spPr>
        <p:txBody>
          <a:bodyPr wrap="square">
            <a:spAutoFit/>
          </a:bodyPr>
          <a:lstStyle/>
          <a:p>
            <a:r>
              <a:rPr lang="en-IN" sz="1400" dirty="0">
                <a:solidFill>
                  <a:srgbClr val="0000FF"/>
                </a:solidFill>
                <a:highlight>
                  <a:srgbClr val="FFFFFF"/>
                </a:highlight>
                <a:latin typeface="Cascadia Mono" panose="020B0609020000020004" pitchFamily="49" charset="0"/>
              </a:rPr>
              <a:t>public</a:t>
            </a:r>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class</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StudentController</a:t>
            </a:r>
            <a:r>
              <a:rPr lang="en-IN" sz="1400" dirty="0">
                <a:solidFill>
                  <a:srgbClr val="000000"/>
                </a:solidFill>
                <a:highlight>
                  <a:srgbClr val="FFFFFF"/>
                </a:highlight>
                <a:latin typeface="Cascadia Mono" panose="020B0609020000020004" pitchFamily="49" charset="0"/>
              </a:rPr>
              <a:t> : </a:t>
            </a:r>
            <a:r>
              <a:rPr lang="en-IN" sz="1400" dirty="0">
                <a:solidFill>
                  <a:srgbClr val="2B91AF"/>
                </a:solidFill>
                <a:highlight>
                  <a:srgbClr val="FFFFFF"/>
                </a:highlight>
                <a:latin typeface="Cascadia Mono" panose="020B0609020000020004" pitchFamily="49" charset="0"/>
              </a:rPr>
              <a:t>Controller</a:t>
            </a:r>
          </a:p>
          <a:p>
            <a:r>
              <a:rPr lang="en-IN" sz="1400" dirty="0">
                <a:solidFill>
                  <a:srgbClr val="000000"/>
                </a:solidFill>
                <a:highlight>
                  <a:srgbClr val="FFFFFF"/>
                </a:highlight>
                <a:latin typeface="Cascadia Mono" panose="020B0609020000020004" pitchFamily="49" charset="0"/>
              </a:rPr>
              <a:t>{</a:t>
            </a:r>
          </a:p>
          <a:p>
            <a:r>
              <a:rPr lang="en-US" sz="1400" dirty="0">
                <a:solidFill>
                  <a:srgbClr val="000000"/>
                </a:solidFill>
                <a:highlight>
                  <a:srgbClr val="FFFFFF"/>
                </a:highlight>
                <a:latin typeface="Cascadia Mono" panose="020B0609020000020004" pitchFamily="49" charset="0"/>
              </a:rPr>
              <a:t>    </a:t>
            </a:r>
            <a:r>
              <a:rPr lang="en-US" sz="1400" dirty="0">
                <a:solidFill>
                  <a:srgbClr val="008000"/>
                </a:solidFill>
                <a:highlight>
                  <a:srgbClr val="FFFFFF"/>
                </a:highlight>
                <a:latin typeface="Cascadia Mono" panose="020B0609020000020004" pitchFamily="49" charset="0"/>
              </a:rPr>
              <a:t>//Create a reference variable of </a:t>
            </a:r>
            <a:r>
              <a:rPr lang="en-US" sz="1400" dirty="0" err="1">
                <a:solidFill>
                  <a:srgbClr val="008000"/>
                </a:solidFill>
                <a:highlight>
                  <a:srgbClr val="FFFFFF"/>
                </a:highlight>
                <a:latin typeface="Cascadia Mono" panose="020B0609020000020004" pitchFamily="49" charset="0"/>
              </a:rPr>
              <a:t>IStudentRepository</a:t>
            </a:r>
            <a:endParaRPr lang="en-US" sz="1400" dirty="0">
              <a:solidFill>
                <a:srgbClr val="008000"/>
              </a:solidFill>
              <a:highlight>
                <a:srgbClr val="FFFFFF"/>
              </a:highlight>
              <a:latin typeface="Cascadia Mono" panose="020B0609020000020004" pitchFamily="49" charset="0"/>
            </a:endParaRP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private</a:t>
            </a:r>
            <a:r>
              <a:rPr lang="en-US" sz="1400" dirty="0">
                <a:solidFill>
                  <a:srgbClr val="000000"/>
                </a:solidFill>
                <a:highlight>
                  <a:srgbClr val="FFFFFF"/>
                </a:highlight>
                <a:latin typeface="Cascadia Mono" panose="020B0609020000020004" pitchFamily="49" charset="0"/>
              </a:rPr>
              <a:t> </a:t>
            </a:r>
            <a:r>
              <a:rPr lang="en-US" sz="1400" dirty="0" err="1">
                <a:solidFill>
                  <a:srgbClr val="0000FF"/>
                </a:solidFill>
                <a:highlight>
                  <a:srgbClr val="FFFFFF"/>
                </a:highlight>
                <a:latin typeface="Cascadia Mono" panose="020B0609020000020004" pitchFamily="49" charset="0"/>
              </a:rPr>
              <a:t>readonly</a:t>
            </a:r>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IStudentRepository</a:t>
            </a:r>
            <a:r>
              <a:rPr lang="en-US" sz="1400" dirty="0">
                <a:solidFill>
                  <a:srgbClr val="000000"/>
                </a:solidFill>
                <a:highlight>
                  <a:srgbClr val="FFFFFF"/>
                </a:highlight>
                <a:latin typeface="Cascadia Mono" panose="020B0609020000020004" pitchFamily="49" charset="0"/>
              </a:rPr>
              <a:t> _repository = </a:t>
            </a:r>
            <a:r>
              <a:rPr lang="en-US" sz="1400" dirty="0">
                <a:solidFill>
                  <a:srgbClr val="0000FF"/>
                </a:solidFill>
                <a:highlight>
                  <a:srgbClr val="FFFFFF"/>
                </a:highlight>
                <a:latin typeface="Cascadia Mono" panose="020B0609020000020004" pitchFamily="49" charset="0"/>
              </a:rPr>
              <a:t>null</a:t>
            </a:r>
            <a:r>
              <a:rPr lang="en-US" sz="1400" dirty="0">
                <a:solidFill>
                  <a:srgbClr val="000000"/>
                </a:solidFill>
                <a:highlight>
                  <a:srgbClr val="FFFFFF"/>
                </a:highlight>
                <a:latin typeface="Cascadia Mono" panose="020B0609020000020004" pitchFamily="49" charset="0"/>
              </a:rPr>
              <a:t>;</a:t>
            </a:r>
          </a:p>
          <a:p>
            <a:r>
              <a:rPr lang="en-US" sz="1400" dirty="0">
                <a:solidFill>
                  <a:srgbClr val="000000"/>
                </a:solidFill>
                <a:highlight>
                  <a:srgbClr val="FFFFFF"/>
                </a:highlight>
                <a:latin typeface="Cascadia Mono" panose="020B0609020000020004" pitchFamily="49" charset="0"/>
              </a:rPr>
              <a:t>    </a:t>
            </a:r>
            <a:r>
              <a:rPr lang="en-US" sz="1400" dirty="0">
                <a:solidFill>
                  <a:srgbClr val="008000"/>
                </a:solidFill>
                <a:highlight>
                  <a:srgbClr val="FFFFFF"/>
                </a:highlight>
                <a:latin typeface="Cascadia Mono" panose="020B0609020000020004" pitchFamily="49" charset="0"/>
              </a:rPr>
              <a:t>//Initialize the variable through constructor</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public</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StudentController</a:t>
            </a:r>
            <a:r>
              <a:rPr lang="en-IN" sz="1400" dirty="0">
                <a:solidFill>
                  <a:srgbClr val="000000"/>
                </a:solidFill>
                <a:highlight>
                  <a:srgbClr val="FFFFFF"/>
                </a:highlight>
                <a:latin typeface="Cascadia Mono" panose="020B0609020000020004" pitchFamily="49" charset="0"/>
              </a:rPr>
              <a:t>(</a:t>
            </a:r>
            <a:r>
              <a:rPr lang="en-IN" sz="1400" dirty="0" err="1">
                <a:solidFill>
                  <a:srgbClr val="2B91AF"/>
                </a:solidFill>
                <a:highlight>
                  <a:srgbClr val="FFFFFF"/>
                </a:highlight>
                <a:latin typeface="Cascadia Mono" panose="020B0609020000020004" pitchFamily="49" charset="0"/>
              </a:rPr>
              <a:t>IStudentRepository</a:t>
            </a:r>
            <a:r>
              <a:rPr lang="en-IN" sz="1400" dirty="0">
                <a:solidFill>
                  <a:srgbClr val="000000"/>
                </a:solidFill>
                <a:highlight>
                  <a:srgbClr val="FFFFFF"/>
                </a:highlight>
                <a:latin typeface="Cascadia Mono" panose="020B0609020000020004" pitchFamily="49" charset="0"/>
              </a:rPr>
              <a:t> repository)</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_repository = repository;</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public</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JsonResult</a:t>
            </a:r>
            <a:r>
              <a:rPr lang="en-IN" sz="1400" dirty="0">
                <a:solidFill>
                  <a:srgbClr val="000000"/>
                </a:solidFill>
                <a:highlight>
                  <a:srgbClr val="FFFFFF"/>
                </a:highlight>
                <a:latin typeface="Cascadia Mono" panose="020B0609020000020004" pitchFamily="49" charset="0"/>
              </a:rPr>
              <a:t> Index()</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List</a:t>
            </a:r>
            <a:r>
              <a:rPr lang="en-IN" sz="1400" dirty="0">
                <a:solidFill>
                  <a:srgbClr val="000000"/>
                </a:solidFill>
                <a:highlight>
                  <a:srgbClr val="FFFFFF"/>
                </a:highlight>
                <a:latin typeface="Cascadia Mono" panose="020B0609020000020004" pitchFamily="49" charset="0"/>
              </a:rPr>
              <a:t>&lt;</a:t>
            </a:r>
            <a:r>
              <a:rPr lang="en-IN" sz="1400" dirty="0">
                <a:solidFill>
                  <a:srgbClr val="2B91AF"/>
                </a:solidFill>
                <a:highlight>
                  <a:srgbClr val="FFFFFF"/>
                </a:highlight>
                <a:latin typeface="Cascadia Mono" panose="020B0609020000020004" pitchFamily="49" charset="0"/>
              </a:rPr>
              <a:t>Student</a:t>
            </a:r>
            <a:r>
              <a:rPr lang="en-IN" sz="1400" dirty="0">
                <a:solidFill>
                  <a:srgbClr val="000000"/>
                </a:solidFill>
                <a:highlight>
                  <a:srgbClr val="FFFFFF"/>
                </a:highlight>
                <a:latin typeface="Cascadia Mono" panose="020B0609020000020004" pitchFamily="49" charset="0"/>
              </a:rPr>
              <a:t>&gt; </a:t>
            </a:r>
            <a:r>
              <a:rPr lang="en-IN" sz="1400" dirty="0" err="1">
                <a:solidFill>
                  <a:srgbClr val="000000"/>
                </a:solidFill>
                <a:highlight>
                  <a:srgbClr val="FFFFFF"/>
                </a:highlight>
                <a:latin typeface="Cascadia Mono" panose="020B0609020000020004" pitchFamily="49" charset="0"/>
              </a:rPr>
              <a:t>allStudentDetails</a:t>
            </a:r>
            <a:r>
              <a:rPr lang="en-IN" sz="1400" dirty="0">
                <a:solidFill>
                  <a:srgbClr val="000000"/>
                </a:solidFill>
                <a:highlight>
                  <a:srgbClr val="FFFFFF"/>
                </a:highlight>
                <a:latin typeface="Cascadia Mono" panose="020B0609020000020004" pitchFamily="49" charset="0"/>
              </a:rPr>
              <a:t> = _</a:t>
            </a:r>
            <a:r>
              <a:rPr lang="en-IN" sz="1400" dirty="0" err="1">
                <a:solidFill>
                  <a:srgbClr val="000000"/>
                </a:solidFill>
                <a:highlight>
                  <a:srgbClr val="FFFFFF"/>
                </a:highlight>
                <a:latin typeface="Cascadia Mono" panose="020B0609020000020004" pitchFamily="49" charset="0"/>
              </a:rPr>
              <a:t>repository.GetAllStudent</a:t>
            </a:r>
            <a:r>
              <a:rPr lang="en-IN"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return</a:t>
            </a:r>
            <a:r>
              <a:rPr lang="en-IN" sz="1400" dirty="0">
                <a:solidFill>
                  <a:srgbClr val="000000"/>
                </a:solidFill>
                <a:highlight>
                  <a:srgbClr val="FFFFFF"/>
                </a:highlight>
                <a:latin typeface="Cascadia Mono" panose="020B0609020000020004" pitchFamily="49" charset="0"/>
              </a:rPr>
              <a:t> Json(</a:t>
            </a:r>
            <a:r>
              <a:rPr lang="en-IN" sz="1400" dirty="0" err="1">
                <a:solidFill>
                  <a:srgbClr val="000000"/>
                </a:solidFill>
                <a:highlight>
                  <a:srgbClr val="FFFFFF"/>
                </a:highlight>
                <a:latin typeface="Cascadia Mono" panose="020B0609020000020004" pitchFamily="49" charset="0"/>
              </a:rPr>
              <a:t>allStudentDetails</a:t>
            </a:r>
            <a:r>
              <a:rPr lang="en-IN"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a:t>
            </a:r>
          </a:p>
          <a:p>
            <a:endParaRPr lang="en-IN" sz="1400" dirty="0">
              <a:solidFill>
                <a:srgbClr val="000000"/>
              </a:solidFill>
              <a:highlight>
                <a:srgbClr val="FFFFFF"/>
              </a:highlight>
              <a:latin typeface="Cascadia Mono" panose="020B0609020000020004" pitchFamily="49" charset="0"/>
            </a:endParaRP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public</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ActionResult</a:t>
            </a:r>
            <a:r>
              <a:rPr lang="en-IN" sz="1400" dirty="0">
                <a:solidFill>
                  <a:srgbClr val="000000"/>
                </a:solidFill>
                <a:highlight>
                  <a:srgbClr val="FFFFFF"/>
                </a:highlight>
                <a:latin typeface="Cascadia Mono" panose="020B0609020000020004" pitchFamily="49" charset="0"/>
              </a:rPr>
              <a:t> </a:t>
            </a:r>
            <a:r>
              <a:rPr lang="en-IN" sz="1400" dirty="0" err="1">
                <a:solidFill>
                  <a:srgbClr val="000000"/>
                </a:solidFill>
                <a:highlight>
                  <a:srgbClr val="FFFFFF"/>
                </a:highlight>
                <a:latin typeface="Cascadia Mono" panose="020B0609020000020004" pitchFamily="49" charset="0"/>
              </a:rPr>
              <a:t>Liststudent</a:t>
            </a:r>
            <a:r>
              <a:rPr lang="en-IN"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return</a:t>
            </a:r>
            <a:r>
              <a:rPr lang="en-IN" sz="1400" dirty="0">
                <a:solidFill>
                  <a:srgbClr val="000000"/>
                </a:solidFill>
                <a:highlight>
                  <a:srgbClr val="FFFFFF"/>
                </a:highlight>
                <a:latin typeface="Cascadia Mono" panose="020B0609020000020004" pitchFamily="49" charset="0"/>
              </a:rPr>
              <a:t> View();</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public</a:t>
            </a:r>
            <a:r>
              <a:rPr lang="en-IN" sz="1400" dirty="0">
                <a:solidFill>
                  <a:srgbClr val="000000"/>
                </a:solidFill>
                <a:highlight>
                  <a:srgbClr val="FFFFFF"/>
                </a:highlight>
                <a:latin typeface="Cascadia Mono" panose="020B0609020000020004" pitchFamily="49" charset="0"/>
              </a:rPr>
              <a:t> </a:t>
            </a:r>
            <a:r>
              <a:rPr lang="en-IN" sz="1400" dirty="0" err="1">
                <a:solidFill>
                  <a:srgbClr val="2B91AF"/>
                </a:solidFill>
                <a:highlight>
                  <a:srgbClr val="FFFFFF"/>
                </a:highlight>
                <a:latin typeface="Cascadia Mono" panose="020B0609020000020004" pitchFamily="49" charset="0"/>
              </a:rPr>
              <a:t>JsonResult</a:t>
            </a:r>
            <a:r>
              <a:rPr lang="en-IN" sz="1400" dirty="0">
                <a:solidFill>
                  <a:srgbClr val="000000"/>
                </a:solidFill>
                <a:highlight>
                  <a:srgbClr val="FFFFFF"/>
                </a:highlight>
                <a:latin typeface="Cascadia Mono" panose="020B0609020000020004" pitchFamily="49" charset="0"/>
              </a:rPr>
              <a:t> </a:t>
            </a:r>
            <a:r>
              <a:rPr lang="en-IN" sz="1400" dirty="0" err="1">
                <a:solidFill>
                  <a:srgbClr val="000000"/>
                </a:solidFill>
                <a:highlight>
                  <a:srgbClr val="FFFFFF"/>
                </a:highlight>
                <a:latin typeface="Cascadia Mono" panose="020B0609020000020004" pitchFamily="49" charset="0"/>
              </a:rPr>
              <a:t>GetStudentDetails</a:t>
            </a:r>
            <a:r>
              <a:rPr lang="en-IN" sz="1400" dirty="0">
                <a:solidFill>
                  <a:srgbClr val="000000"/>
                </a:solidFill>
                <a:highlight>
                  <a:srgbClr val="FFFFFF"/>
                </a:highlight>
                <a:latin typeface="Cascadia Mono" panose="020B0609020000020004" pitchFamily="49" charset="0"/>
              </a:rPr>
              <a:t>(</a:t>
            </a:r>
            <a:r>
              <a:rPr lang="en-IN" sz="1400" dirty="0">
                <a:solidFill>
                  <a:srgbClr val="0000FF"/>
                </a:solidFill>
                <a:highlight>
                  <a:srgbClr val="FFFFFF"/>
                </a:highlight>
                <a:latin typeface="Cascadia Mono" panose="020B0609020000020004" pitchFamily="49" charset="0"/>
              </a:rPr>
              <a:t>int</a:t>
            </a:r>
            <a:r>
              <a:rPr lang="en-IN" sz="1400" dirty="0">
                <a:solidFill>
                  <a:srgbClr val="000000"/>
                </a:solidFill>
                <a:highlight>
                  <a:srgbClr val="FFFFFF"/>
                </a:highlight>
                <a:latin typeface="Cascadia Mono" panose="020B0609020000020004" pitchFamily="49" charset="0"/>
              </a:rPr>
              <a:t> Id)</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        </a:t>
            </a:r>
            <a:r>
              <a:rPr lang="en-IN" sz="1400" dirty="0">
                <a:solidFill>
                  <a:srgbClr val="2B91AF"/>
                </a:solidFill>
                <a:highlight>
                  <a:srgbClr val="FFFFFF"/>
                </a:highlight>
                <a:latin typeface="Cascadia Mono" panose="020B0609020000020004" pitchFamily="49" charset="0"/>
              </a:rPr>
              <a:t>Student</a:t>
            </a:r>
            <a:r>
              <a:rPr lang="en-IN" sz="1400" dirty="0">
                <a:solidFill>
                  <a:srgbClr val="000000"/>
                </a:solidFill>
                <a:highlight>
                  <a:srgbClr val="FFFFFF"/>
                </a:highlight>
                <a:latin typeface="Cascadia Mono" panose="020B0609020000020004" pitchFamily="49" charset="0"/>
              </a:rPr>
              <a:t> </a:t>
            </a:r>
            <a:r>
              <a:rPr lang="en-IN" sz="1400" dirty="0" err="1">
                <a:solidFill>
                  <a:srgbClr val="000000"/>
                </a:solidFill>
                <a:highlight>
                  <a:srgbClr val="FFFFFF"/>
                </a:highlight>
                <a:latin typeface="Cascadia Mono" panose="020B0609020000020004" pitchFamily="49" charset="0"/>
              </a:rPr>
              <a:t>studentDetails</a:t>
            </a:r>
            <a:r>
              <a:rPr lang="en-IN" sz="1400" dirty="0">
                <a:solidFill>
                  <a:srgbClr val="000000"/>
                </a:solidFill>
                <a:highlight>
                  <a:srgbClr val="FFFFFF"/>
                </a:highlight>
                <a:latin typeface="Cascadia Mono" panose="020B0609020000020004" pitchFamily="49" charset="0"/>
              </a:rPr>
              <a:t> = _</a:t>
            </a:r>
            <a:r>
              <a:rPr lang="en-IN" sz="1400" dirty="0" err="1">
                <a:solidFill>
                  <a:srgbClr val="000000"/>
                </a:solidFill>
                <a:highlight>
                  <a:srgbClr val="FFFFFF"/>
                </a:highlight>
                <a:latin typeface="Cascadia Mono" panose="020B0609020000020004" pitchFamily="49" charset="0"/>
              </a:rPr>
              <a:t>repository.GetStudentById</a:t>
            </a:r>
            <a:r>
              <a:rPr lang="en-IN" sz="1400" dirty="0">
                <a:solidFill>
                  <a:srgbClr val="000000"/>
                </a:solidFill>
                <a:highlight>
                  <a:srgbClr val="FFFFFF"/>
                </a:highlight>
                <a:latin typeface="Cascadia Mono" panose="020B0609020000020004" pitchFamily="49" charset="0"/>
              </a:rPr>
              <a:t>(Id);</a:t>
            </a:r>
          </a:p>
          <a:p>
            <a:r>
              <a:rPr lang="en-IN" sz="1400" dirty="0">
                <a:solidFill>
                  <a:srgbClr val="000000"/>
                </a:solidFill>
                <a:highlight>
                  <a:srgbClr val="FFFFFF"/>
                </a:highlight>
                <a:latin typeface="Cascadia Mono" panose="020B0609020000020004" pitchFamily="49" charset="0"/>
              </a:rPr>
              <a:t>        </a:t>
            </a:r>
            <a:r>
              <a:rPr lang="en-IN" sz="1400" dirty="0">
                <a:solidFill>
                  <a:srgbClr val="0000FF"/>
                </a:solidFill>
                <a:highlight>
                  <a:srgbClr val="FFFFFF"/>
                </a:highlight>
                <a:latin typeface="Cascadia Mono" panose="020B0609020000020004" pitchFamily="49" charset="0"/>
              </a:rPr>
              <a:t>return</a:t>
            </a:r>
            <a:r>
              <a:rPr lang="en-IN" sz="1400" dirty="0">
                <a:solidFill>
                  <a:srgbClr val="000000"/>
                </a:solidFill>
                <a:highlight>
                  <a:srgbClr val="FFFFFF"/>
                </a:highlight>
                <a:latin typeface="Cascadia Mono" panose="020B0609020000020004" pitchFamily="49" charset="0"/>
              </a:rPr>
              <a:t> Json(</a:t>
            </a:r>
            <a:r>
              <a:rPr lang="en-IN" sz="1400" dirty="0" err="1">
                <a:solidFill>
                  <a:srgbClr val="000000"/>
                </a:solidFill>
                <a:highlight>
                  <a:srgbClr val="FFFFFF"/>
                </a:highlight>
                <a:latin typeface="Cascadia Mono" panose="020B0609020000020004" pitchFamily="49" charset="0"/>
              </a:rPr>
              <a:t>studentDetails</a:t>
            </a:r>
            <a:r>
              <a:rPr lang="en-IN" sz="1400" dirty="0">
                <a:solidFill>
                  <a:srgbClr val="000000"/>
                </a:solidFill>
                <a:highlight>
                  <a:srgbClr val="FFFFFF"/>
                </a:highlight>
                <a:latin typeface="Cascadia Mono" panose="020B0609020000020004" pitchFamily="49" charset="0"/>
              </a:rPr>
              <a:t>);</a:t>
            </a:r>
          </a:p>
          <a:p>
            <a:r>
              <a:rPr lang="en-IN" sz="1400" dirty="0">
                <a:solidFill>
                  <a:srgbClr val="000000"/>
                </a:solidFill>
                <a:highlight>
                  <a:srgbClr val="FFFFFF"/>
                </a:highlight>
                <a:latin typeface="Cascadia Mono" panose="020B0609020000020004" pitchFamily="49" charset="0"/>
              </a:rPr>
              <a:t>    }</a:t>
            </a:r>
          </a:p>
          <a:p>
            <a:r>
              <a:rPr lang="en-IN" sz="1400" dirty="0">
                <a:solidFill>
                  <a:srgbClr val="000000"/>
                </a:solidFill>
                <a:highlight>
                  <a:srgbClr val="FFFFFF"/>
                </a:highlight>
                <a:latin typeface="Cascadia Mono" panose="020B0609020000020004" pitchFamily="49" charset="0"/>
              </a:rPr>
              <a:t>}</a:t>
            </a:r>
            <a:endParaRPr lang="en-IN" sz="1400" dirty="0"/>
          </a:p>
        </p:txBody>
      </p:sp>
      <p:sp>
        <p:nvSpPr>
          <p:cNvPr id="9" name="TextBox 8">
            <a:extLst>
              <a:ext uri="{FF2B5EF4-FFF2-40B4-BE49-F238E27FC236}">
                <a16:creationId xmlns:a16="http://schemas.microsoft.com/office/drawing/2014/main" id="{61F4260A-E46D-D0E5-A3E7-40A64FF19D27}"/>
              </a:ext>
            </a:extLst>
          </p:cNvPr>
          <p:cNvSpPr txBox="1"/>
          <p:nvPr/>
        </p:nvSpPr>
        <p:spPr>
          <a:xfrm>
            <a:off x="5952066" y="2175639"/>
            <a:ext cx="6096000" cy="286232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800" dirty="0">
                <a:solidFill>
                  <a:srgbClr val="000000"/>
                </a:solidFill>
                <a:highlight>
                  <a:srgbClr val="FFFF00"/>
                </a:highlight>
                <a:latin typeface="Cascadia Mono" panose="020B0609020000020004" pitchFamily="49" charset="0"/>
              </a:rPr>
              <a:t>@inject </a:t>
            </a:r>
            <a:r>
              <a:rPr lang="en-IN" sz="1800" dirty="0" err="1">
                <a:solidFill>
                  <a:srgbClr val="2B91AF"/>
                </a:solidFill>
                <a:highlight>
                  <a:srgbClr val="FFFF00"/>
                </a:highlight>
                <a:latin typeface="Cascadia Mono" panose="020B0609020000020004" pitchFamily="49" charset="0"/>
              </a:rPr>
              <a:t>IStudentRepository</a:t>
            </a:r>
            <a:r>
              <a:rPr lang="en-IN" sz="1800" dirty="0">
                <a:solidFill>
                  <a:srgbClr val="000000"/>
                </a:solidFill>
                <a:highlight>
                  <a:srgbClr val="FFFF00"/>
                </a:highlight>
                <a:latin typeface="Cascadia Mono" panose="020B0609020000020004" pitchFamily="49" charset="0"/>
              </a:rPr>
              <a:t> rep;</a:t>
            </a:r>
          </a:p>
          <a:p>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List</a:t>
            </a:r>
            <a:r>
              <a:rPr lang="en-IN" sz="1800" dirty="0">
                <a:solidFill>
                  <a:srgbClr val="000000"/>
                </a:solidFill>
                <a:highlight>
                  <a:srgbClr val="FFFFFF"/>
                </a:highlight>
                <a:latin typeface="Cascadia Mono" panose="020B0609020000020004" pitchFamily="49" charset="0"/>
              </a:rPr>
              <a:t>&lt;</a:t>
            </a:r>
            <a:r>
              <a:rPr lang="en-IN" sz="1800" dirty="0">
                <a:solidFill>
                  <a:srgbClr val="2B91AF"/>
                </a:solidFill>
                <a:highlight>
                  <a:srgbClr val="FFFFFF"/>
                </a:highlight>
                <a:latin typeface="Cascadia Mono" panose="020B0609020000020004" pitchFamily="49" charset="0"/>
              </a:rPr>
              <a:t>Student</a:t>
            </a:r>
            <a:r>
              <a:rPr lang="en-IN" sz="1800" dirty="0">
                <a:solidFill>
                  <a:srgbClr val="000000"/>
                </a:solidFill>
                <a:highlight>
                  <a:srgbClr val="FFFFFF"/>
                </a:highlight>
                <a:latin typeface="Cascadia Mono" panose="020B0609020000020004" pitchFamily="49" charset="0"/>
              </a:rPr>
              <a:t>&gt;</a:t>
            </a:r>
            <a:r>
              <a:rPr lang="en-IN" sz="1800" dirty="0" err="1">
                <a:solidFill>
                  <a:srgbClr val="000000"/>
                </a:solidFill>
                <a:highlight>
                  <a:srgbClr val="FFFFFF"/>
                </a:highlight>
                <a:latin typeface="Cascadia Mono" panose="020B0609020000020004" pitchFamily="49" charset="0"/>
              </a:rPr>
              <a:t>stu</a:t>
            </a:r>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rep.GetAllStudent</a:t>
            </a:r>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foreach</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var</a:t>
            </a:r>
            <a:r>
              <a:rPr lang="en-IN" sz="1800" dirty="0">
                <a:solidFill>
                  <a:srgbClr val="000000"/>
                </a:solidFill>
                <a:highlight>
                  <a:srgbClr val="FFFFFF"/>
                </a:highlight>
                <a:latin typeface="Cascadia Mono" panose="020B0609020000020004" pitchFamily="49" charset="0"/>
              </a:rPr>
              <a:t> s </a:t>
            </a:r>
            <a:r>
              <a:rPr lang="en-IN" sz="1800" dirty="0">
                <a:solidFill>
                  <a:srgbClr val="0000FF"/>
                </a:solidFill>
                <a:highlight>
                  <a:srgbClr val="FFFFFF"/>
                </a:highlight>
                <a:latin typeface="Cascadia Mono" panose="020B0609020000020004" pitchFamily="49" charset="0"/>
              </a:rPr>
              <a:t>in</a:t>
            </a:r>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stu</a:t>
            </a:r>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p>
          <a:p>
            <a:r>
              <a:rPr lang="pt-BR" sz="1800" dirty="0">
                <a:solidFill>
                  <a:srgbClr val="000000"/>
                </a:solidFill>
                <a:highlight>
                  <a:srgbClr val="FFFFFF"/>
                </a:highlight>
                <a:latin typeface="Cascadia Mono" panose="020B0609020000020004" pitchFamily="49" charset="0"/>
              </a:rPr>
              <a:t>        </a:t>
            </a:r>
            <a:r>
              <a:rPr lang="pt-BR" sz="1800" dirty="0">
                <a:solidFill>
                  <a:srgbClr val="0000FF"/>
                </a:solidFill>
                <a:highlight>
                  <a:srgbClr val="FFFFFF"/>
                </a:highlight>
                <a:latin typeface="Cascadia Mono" panose="020B0609020000020004" pitchFamily="49" charset="0"/>
              </a:rPr>
              <a:t>&lt;</a:t>
            </a:r>
            <a:r>
              <a:rPr lang="pt-BR" sz="1800" dirty="0">
                <a:solidFill>
                  <a:srgbClr val="800000"/>
                </a:solidFill>
                <a:highlight>
                  <a:srgbClr val="FFFFFF"/>
                </a:highlight>
                <a:latin typeface="Cascadia Mono" panose="020B0609020000020004" pitchFamily="49" charset="0"/>
              </a:rPr>
              <a:t>H2</a:t>
            </a:r>
            <a:r>
              <a:rPr lang="pt-BR" sz="1800" dirty="0">
                <a:solidFill>
                  <a:srgbClr val="0000FF"/>
                </a:solidFill>
                <a:highlight>
                  <a:srgbClr val="FFFFFF"/>
                </a:highlight>
                <a:latin typeface="Cascadia Mono" panose="020B0609020000020004" pitchFamily="49" charset="0"/>
              </a:rPr>
              <a:t>&gt;</a:t>
            </a:r>
            <a:r>
              <a:rPr lang="pt-BR" sz="1800" dirty="0">
                <a:solidFill>
                  <a:srgbClr val="000000"/>
                </a:solidFill>
                <a:highlight>
                  <a:srgbClr val="FFFFFF"/>
                </a:highlight>
                <a:latin typeface="Cascadia Mono" panose="020B0609020000020004" pitchFamily="49" charset="0"/>
              </a:rPr>
              <a:t>@s.Name         @s.Gender         @s.Branch </a:t>
            </a:r>
            <a:r>
              <a:rPr lang="pt-BR" sz="1800" dirty="0">
                <a:solidFill>
                  <a:srgbClr val="0000FF"/>
                </a:solidFill>
                <a:highlight>
                  <a:srgbClr val="FFFFFF"/>
                </a:highlight>
                <a:latin typeface="Cascadia Mono" panose="020B0609020000020004" pitchFamily="49" charset="0"/>
              </a:rPr>
              <a:t>&lt;/</a:t>
            </a:r>
            <a:r>
              <a:rPr lang="pt-BR" sz="1800" dirty="0">
                <a:solidFill>
                  <a:srgbClr val="800000"/>
                </a:solidFill>
                <a:highlight>
                  <a:srgbClr val="FFFFFF"/>
                </a:highlight>
                <a:latin typeface="Cascadia Mono" panose="020B0609020000020004" pitchFamily="49" charset="0"/>
              </a:rPr>
              <a:t>h2</a:t>
            </a:r>
            <a:r>
              <a:rPr lang="pt-BR" sz="1800" dirty="0">
                <a:solidFill>
                  <a:srgbClr val="0000FF"/>
                </a:solidFill>
                <a:highlight>
                  <a:srgbClr val="FFFFFF"/>
                </a:highlight>
                <a:latin typeface="Cascadia Mono" panose="020B0609020000020004" pitchFamily="49" charset="0"/>
              </a:rPr>
              <a:t>&gt;</a:t>
            </a:r>
            <a:endParaRPr lang="pt-BR" sz="1800" dirty="0">
              <a:solidFill>
                <a:srgbClr val="000000"/>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    }</a:t>
            </a:r>
          </a:p>
          <a:p>
            <a:endParaRPr lang="en-IN" sz="1800" dirty="0">
              <a:solidFill>
                <a:srgbClr val="000000"/>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a:t>
            </a:r>
            <a:endParaRPr lang="en-IN" dirty="0"/>
          </a:p>
        </p:txBody>
      </p:sp>
      <p:cxnSp>
        <p:nvCxnSpPr>
          <p:cNvPr id="11" name="Straight Arrow Connector 10">
            <a:extLst>
              <a:ext uri="{FF2B5EF4-FFF2-40B4-BE49-F238E27FC236}">
                <a16:creationId xmlns:a16="http://schemas.microsoft.com/office/drawing/2014/main" id="{28B4C68B-63F6-2E86-1A86-F9F247B54B60}"/>
              </a:ext>
            </a:extLst>
          </p:cNvPr>
          <p:cNvCxnSpPr/>
          <p:nvPr/>
        </p:nvCxnSpPr>
        <p:spPr>
          <a:xfrm flipV="1">
            <a:off x="3225800" y="3429000"/>
            <a:ext cx="3022600" cy="618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2319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4B64413-C45A-4CF2-A80D-EDFE69B532C0}"/>
              </a:ext>
            </a:extLst>
          </p:cNvPr>
          <p:cNvSpPr txBox="1"/>
          <p:nvPr/>
        </p:nvSpPr>
        <p:spPr>
          <a:xfrm>
            <a:off x="412954" y="187428"/>
            <a:ext cx="11307098" cy="4524315"/>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When to use what?</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real-time applications, you need to register the components such as application-wide configuration as Singleton. The Database access classes like Entity Framework contexts are recommended to be registered as Scoped so that the connection can be re-used. If you want to run anything in parallel then it is better to register the component as Transient.</a:t>
            </a:r>
            <a:endParaRPr lang="en-US" b="0" i="0" dirty="0">
              <a:solidFill>
                <a:srgbClr val="212529"/>
              </a:solidFill>
              <a:effectLst/>
              <a:latin typeface="-apple-system"/>
            </a:endParaRPr>
          </a:p>
          <a:p>
            <a:pPr algn="just" fontAlgn="base"/>
            <a:r>
              <a:rPr lang="en-US" b="1" i="0" dirty="0">
                <a:solidFill>
                  <a:srgbClr val="000000"/>
                </a:solidFill>
                <a:effectLst/>
                <a:latin typeface="arial" panose="020B0604020202020204" pitchFamily="34" charset="0"/>
              </a:rPr>
              <a:t>So, in short:</a:t>
            </a:r>
            <a:endParaRPr lang="en-US" b="0" i="0" dirty="0">
              <a:solidFill>
                <a:srgbClr val="3A3A3A"/>
              </a:solidFill>
              <a:effectLst/>
              <a:latin typeface="-apple-system"/>
            </a:endParaRPr>
          </a:p>
          <a:p>
            <a:pPr algn="just" fontAlgn="base"/>
            <a:r>
              <a:rPr lang="en-US" b="1" i="0" dirty="0" err="1">
                <a:solidFill>
                  <a:srgbClr val="000000"/>
                </a:solidFill>
                <a:effectLst/>
                <a:latin typeface="arial" panose="020B0604020202020204" pitchFamily="34" charset="0"/>
              </a:rPr>
              <a:t>AddSingleton</a:t>
            </a:r>
            <a:r>
              <a:rPr lang="en-US" b="1" i="0" dirty="0">
                <a:solidFill>
                  <a:srgbClr val="000000"/>
                </a:solidFill>
                <a:effectLst/>
                <a:latin typeface="arial" panose="020B0604020202020204" pitchFamily="34" charset="0"/>
              </a:rPr>
              <a:t>(): </a:t>
            </a:r>
            <a:r>
              <a:rPr lang="en-US" b="0" i="0" dirty="0">
                <a:solidFill>
                  <a:srgbClr val="000000"/>
                </a:solidFill>
                <a:effectLst/>
                <a:latin typeface="arial" panose="020B0604020202020204" pitchFamily="34" charset="0"/>
              </a:rPr>
              <a:t>When we use the </a:t>
            </a:r>
            <a:r>
              <a:rPr lang="en-US" b="0" i="0" dirty="0" err="1">
                <a:solidFill>
                  <a:srgbClr val="000000"/>
                </a:solidFill>
                <a:effectLst/>
                <a:latin typeface="arial" panose="020B0604020202020204" pitchFamily="34" charset="0"/>
              </a:rPr>
              <a:t>AddSingleton</a:t>
            </a:r>
            <a:r>
              <a:rPr lang="en-US" b="0" i="0" dirty="0">
                <a:solidFill>
                  <a:srgbClr val="000000"/>
                </a:solidFill>
                <a:effectLst/>
                <a:latin typeface="arial" panose="020B0604020202020204" pitchFamily="34" charset="0"/>
              </a:rPr>
              <a:t>() method to register a service, then it will create a singleton service. It means a single instance of that service is created and that singleton instance is shared among all the components of the application that require it. That singleton service is created when we requested for the first time.</a:t>
            </a:r>
            <a:endParaRPr lang="en-US" b="0" i="0" dirty="0">
              <a:solidFill>
                <a:srgbClr val="212529"/>
              </a:solidFill>
              <a:effectLst/>
              <a:latin typeface="-apple-system"/>
            </a:endParaRPr>
          </a:p>
          <a:p>
            <a:pPr algn="just" fontAlgn="base"/>
            <a:r>
              <a:rPr lang="en-US" b="1" i="0" dirty="0" err="1">
                <a:solidFill>
                  <a:srgbClr val="000000"/>
                </a:solidFill>
                <a:effectLst/>
                <a:latin typeface="arial" panose="020B0604020202020204" pitchFamily="34" charset="0"/>
              </a:rPr>
              <a:t>AddScoped</a:t>
            </a:r>
            <a:r>
              <a:rPr lang="en-US" b="1" i="0" dirty="0">
                <a:solidFill>
                  <a:srgbClr val="000000"/>
                </a:solidFill>
                <a:effectLst/>
                <a:latin typeface="arial" panose="020B0604020202020204" pitchFamily="34" charset="0"/>
              </a:rPr>
              <a:t>(): </a:t>
            </a:r>
            <a:r>
              <a:rPr lang="en-US" b="0" i="0" dirty="0">
                <a:solidFill>
                  <a:srgbClr val="000000"/>
                </a:solidFill>
                <a:effectLst/>
                <a:latin typeface="arial" panose="020B0604020202020204" pitchFamily="34" charset="0"/>
              </a:rPr>
              <a:t>Scoped means instance per request. When we use the </a:t>
            </a:r>
            <a:r>
              <a:rPr lang="en-US" b="0" i="0" dirty="0" err="1">
                <a:solidFill>
                  <a:srgbClr val="000000"/>
                </a:solidFill>
                <a:effectLst/>
                <a:latin typeface="arial" panose="020B0604020202020204" pitchFamily="34" charset="0"/>
              </a:rPr>
              <a:t>AddScoped</a:t>
            </a:r>
            <a:r>
              <a:rPr lang="en-US" b="0" i="0" dirty="0">
                <a:solidFill>
                  <a:srgbClr val="000000"/>
                </a:solidFill>
                <a:effectLst/>
                <a:latin typeface="arial" panose="020B0604020202020204" pitchFamily="34" charset="0"/>
              </a:rPr>
              <a:t>() method to register a service, then it will create a Scoped service. It means, an instance of the service is created </a:t>
            </a:r>
            <a:r>
              <a:rPr lang="en-US" b="1" i="0" dirty="0">
                <a:solidFill>
                  <a:srgbClr val="000000"/>
                </a:solidFill>
                <a:effectLst/>
                <a:latin typeface="arial" panose="020B0604020202020204" pitchFamily="34" charset="0"/>
              </a:rPr>
              <a:t>once per each HTTP request and uses that instance in other calls of the same request.</a:t>
            </a:r>
            <a:endParaRPr lang="en-US" b="1" i="0" dirty="0">
              <a:solidFill>
                <a:srgbClr val="212529"/>
              </a:solidFill>
              <a:effectLst/>
              <a:latin typeface="-apple-system"/>
            </a:endParaRPr>
          </a:p>
          <a:p>
            <a:pPr algn="just" fontAlgn="base"/>
            <a:r>
              <a:rPr lang="en-US" b="1" i="0" dirty="0" err="1">
                <a:solidFill>
                  <a:srgbClr val="000000"/>
                </a:solidFill>
                <a:effectLst/>
                <a:latin typeface="arial" panose="020B0604020202020204" pitchFamily="34" charset="0"/>
              </a:rPr>
              <a:t>AddTransient</a:t>
            </a:r>
            <a:r>
              <a:rPr lang="en-US" b="1" i="0" dirty="0">
                <a:solidFill>
                  <a:srgbClr val="000000"/>
                </a:solidFill>
                <a:effectLst/>
                <a:latin typeface="arial" panose="020B0604020202020204" pitchFamily="34" charset="0"/>
              </a:rPr>
              <a:t>(): </a:t>
            </a:r>
            <a:r>
              <a:rPr lang="en-US" b="0" i="0" dirty="0">
                <a:solidFill>
                  <a:srgbClr val="000000"/>
                </a:solidFill>
                <a:effectLst/>
                <a:latin typeface="arial" panose="020B0604020202020204" pitchFamily="34" charset="0"/>
              </a:rPr>
              <a:t>When we use the </a:t>
            </a:r>
            <a:r>
              <a:rPr lang="en-US" b="0" i="0" dirty="0" err="1">
                <a:solidFill>
                  <a:srgbClr val="000000"/>
                </a:solidFill>
                <a:effectLst/>
                <a:latin typeface="arial" panose="020B0604020202020204" pitchFamily="34" charset="0"/>
              </a:rPr>
              <a:t>AddTransient</a:t>
            </a:r>
            <a:r>
              <a:rPr lang="en-US" b="0" i="0" dirty="0">
                <a:solidFill>
                  <a:srgbClr val="000000"/>
                </a:solidFill>
                <a:effectLst/>
                <a:latin typeface="arial" panose="020B0604020202020204" pitchFamily="34" charset="0"/>
              </a:rPr>
              <a:t>() method to register a service, then it will create a Transient service. It means a new instance of the specified service is created each time when it is requested and they are never shared.</a:t>
            </a:r>
            <a:endParaRPr lang="en-US" b="0" i="0" dirty="0">
              <a:solidFill>
                <a:srgbClr val="212529"/>
              </a:solidFill>
              <a:effectLst/>
              <a:latin typeface="-apple-system"/>
            </a:endParaRPr>
          </a:p>
        </p:txBody>
      </p:sp>
      <p:sp>
        <p:nvSpPr>
          <p:cNvPr id="7" name="TextBox 6">
            <a:extLst>
              <a:ext uri="{FF2B5EF4-FFF2-40B4-BE49-F238E27FC236}">
                <a16:creationId xmlns:a16="http://schemas.microsoft.com/office/drawing/2014/main" id="{F12835D7-AD18-4BB0-A02C-97D8DC8E6069}"/>
              </a:ext>
            </a:extLst>
          </p:cNvPr>
          <p:cNvSpPr txBox="1"/>
          <p:nvPr/>
        </p:nvSpPr>
        <p:spPr>
          <a:xfrm>
            <a:off x="157316" y="4916246"/>
            <a:ext cx="11651226" cy="923330"/>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What are the advantages of using ASP.NET Core Dependency Injection?</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The ASP.NET Core Dependency Injection allows us to develop loosely coupled software components. Using the ASP.NET Core Dependency Injection, it is very easy to swap with a different implementation of a component.</a:t>
            </a:r>
            <a:endParaRPr lang="en-US" b="0" i="0" dirty="0">
              <a:solidFill>
                <a:srgbClr val="212529"/>
              </a:solidFill>
              <a:effectLst/>
              <a:latin typeface="-apple-system"/>
            </a:endParaRPr>
          </a:p>
        </p:txBody>
      </p:sp>
    </p:spTree>
    <p:extLst>
      <p:ext uri="{BB962C8B-B14F-4D97-AF65-F5344CB8AC3E}">
        <p14:creationId xmlns:p14="http://schemas.microsoft.com/office/powerpoint/2010/main" val="12364610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TotalTime>
  <Words>2750</Words>
  <Application>Microsoft Office PowerPoint</Application>
  <PresentationFormat>Widescreen</PresentationFormat>
  <Paragraphs>267</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-apple-system</vt:lpstr>
      <vt:lpstr>arial</vt:lpstr>
      <vt:lpstr>arial</vt:lpstr>
      <vt:lpstr>Calibri</vt:lpstr>
      <vt:lpstr>Calibri Light</vt:lpstr>
      <vt:lpstr>Cascadia Mono</vt:lpstr>
      <vt:lpstr>Inconsolata</vt:lpstr>
      <vt:lpstr>inherit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27</cp:revision>
  <dcterms:created xsi:type="dcterms:W3CDTF">2021-10-13T14:18:09Z</dcterms:created>
  <dcterms:modified xsi:type="dcterms:W3CDTF">2025-04-20T04:48:06Z</dcterms:modified>
</cp:coreProperties>
</file>