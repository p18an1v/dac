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8ED6-6BF4-4F71-B2AE-0295DD6C97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138D55-86DA-4F8A-82FF-393F1EACA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D40B60-8048-40FA-B301-8850E9964870}"/>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5" name="Footer Placeholder 4">
            <a:extLst>
              <a:ext uri="{FF2B5EF4-FFF2-40B4-BE49-F238E27FC236}">
                <a16:creationId xmlns:a16="http://schemas.microsoft.com/office/drawing/2014/main" id="{2275297A-7B06-4842-9BA5-D43F100C90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2CCD98-6EA3-4E81-893F-D6DFD980CEF0}"/>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24363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FDDC-376C-4667-86FE-711CF88910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3203AE-1AAF-4C41-86D1-33A1321ABF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30166B-0A35-4AD7-B9FC-E7AE6309037D}"/>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5" name="Footer Placeholder 4">
            <a:extLst>
              <a:ext uri="{FF2B5EF4-FFF2-40B4-BE49-F238E27FC236}">
                <a16:creationId xmlns:a16="http://schemas.microsoft.com/office/drawing/2014/main" id="{5323FE17-0085-4AA0-86EC-E554A289AB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DD2EB-B55B-416F-9396-9523E3407793}"/>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572090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FB8F7-994A-46BC-86D2-D8A17084CB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3D714C-B001-4660-9101-6B1B0460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33187F-8E29-450F-A4F2-F8A4F9FCE911}"/>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5" name="Footer Placeholder 4">
            <a:extLst>
              <a:ext uri="{FF2B5EF4-FFF2-40B4-BE49-F238E27FC236}">
                <a16:creationId xmlns:a16="http://schemas.microsoft.com/office/drawing/2014/main" id="{28C3A47A-A6AC-47C3-B7AD-28D4E73DA9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265991-C913-456B-AF5D-6326AFE19701}"/>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955845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3E1B-96D0-4B11-86A5-82AD80EE76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17474D-44F8-4844-B3ED-55818C4CE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1EB59F-A427-4113-8187-CB28A9B669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592A07-EDDA-4EF1-95AA-31D0FD448C8B}"/>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6" name="Footer Placeholder 5">
            <a:extLst>
              <a:ext uri="{FF2B5EF4-FFF2-40B4-BE49-F238E27FC236}">
                <a16:creationId xmlns:a16="http://schemas.microsoft.com/office/drawing/2014/main" id="{2D6F3FF4-9D82-4FAE-9B4A-2142F5F814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0C187E-8CE8-4E44-8BBA-D231E6947603}"/>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04263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009F5-121C-43FF-AD85-768C1AEC73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406E2E-E110-4A14-ADCA-617CCDB3D0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CAE95B-48CF-4917-8A9F-977C56799A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67CD57-3CC1-4D7B-8D5E-BFCB02C49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9A833-8FC9-45A0-8ED5-2F1FB4EB30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5A3DB9-5D67-4DAD-A6CD-555149686F1E}"/>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8" name="Footer Placeholder 7">
            <a:extLst>
              <a:ext uri="{FF2B5EF4-FFF2-40B4-BE49-F238E27FC236}">
                <a16:creationId xmlns:a16="http://schemas.microsoft.com/office/drawing/2014/main" id="{88EDA8AF-5CA2-46ED-A02C-3F4D00C949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F9E5B8-095C-407A-8F18-8A379909E670}"/>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409963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8208-C872-49D8-992C-BAD38FD4C6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18B0DB-55E8-4DCE-B7D9-11E88CA72BB1}"/>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4" name="Footer Placeholder 3">
            <a:extLst>
              <a:ext uri="{FF2B5EF4-FFF2-40B4-BE49-F238E27FC236}">
                <a16:creationId xmlns:a16="http://schemas.microsoft.com/office/drawing/2014/main" id="{9174F24C-33DE-4AEB-A090-5F6DA9F9FF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92AA9C-97EB-4786-86E9-8F1961AFC9E6}"/>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229322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0FF32B-176D-4351-BFDF-C69604DD9B5B}"/>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3" name="Footer Placeholder 2">
            <a:extLst>
              <a:ext uri="{FF2B5EF4-FFF2-40B4-BE49-F238E27FC236}">
                <a16:creationId xmlns:a16="http://schemas.microsoft.com/office/drawing/2014/main" id="{62B831EB-D936-4D37-8988-23EA8DD707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2233A7-5290-4172-99AE-D543808E6F88}"/>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2510973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925C4-33C8-4D5E-AC2F-361BF40C83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EA3BD-A1D8-4C67-8391-90A43C17B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5EE712-3C0B-4D5E-BE4D-65F53D6554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56686-5792-4AC7-A877-DA69C1EC25BA}"/>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6" name="Footer Placeholder 5">
            <a:extLst>
              <a:ext uri="{FF2B5EF4-FFF2-40B4-BE49-F238E27FC236}">
                <a16:creationId xmlns:a16="http://schemas.microsoft.com/office/drawing/2014/main" id="{F3DD1E84-934A-4A8F-BA47-DFB73D72B0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EE688D-24F5-407F-8EFC-CCC2FD767C84}"/>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2873574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F609-A4B7-4EC7-ACF3-2C57755FE9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0DBB19-F4C5-4ACA-9513-D1FE2B716F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1C6DDF-1F3A-4A86-B233-ABBD3D2768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31518-263A-42CB-A21F-98B285DA110A}"/>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6" name="Footer Placeholder 5">
            <a:extLst>
              <a:ext uri="{FF2B5EF4-FFF2-40B4-BE49-F238E27FC236}">
                <a16:creationId xmlns:a16="http://schemas.microsoft.com/office/drawing/2014/main" id="{2161AFC1-887F-4798-BA31-9422F709A7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5507E3-C903-43F9-986D-2D7133A2A01E}"/>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915618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C2646-9E1B-44F1-A96F-036E775BE1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D429FE-5401-4268-AA8A-9A2CAD49B7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85B3BC-38FF-4286-9754-719A10FC5C16}"/>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5" name="Footer Placeholder 4">
            <a:extLst>
              <a:ext uri="{FF2B5EF4-FFF2-40B4-BE49-F238E27FC236}">
                <a16:creationId xmlns:a16="http://schemas.microsoft.com/office/drawing/2014/main" id="{D5B2EA68-1BA9-4C59-8B97-A6E4C76FDB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43DF16-4011-45D1-9F38-EAF9B13C0431}"/>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21269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08655B-5F20-4008-89ED-D8F328F88F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28A2F9-229C-4EA2-B421-9AA5ADD91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6E533-F120-44FC-B183-BBC58CDC7045}"/>
              </a:ext>
            </a:extLst>
          </p:cNvPr>
          <p:cNvSpPr>
            <a:spLocks noGrp="1"/>
          </p:cNvSpPr>
          <p:nvPr>
            <p:ph type="dt" sz="half" idx="10"/>
          </p:nvPr>
        </p:nvSpPr>
        <p:spPr/>
        <p:txBody>
          <a:bodyPr/>
          <a:lstStyle/>
          <a:p>
            <a:fld id="{DE424C83-43CB-4DDC-B891-A9D0BC68E9C7}" type="datetimeFigureOut">
              <a:rPr lang="en-IN" smtClean="0"/>
              <a:t>02-09-2025</a:t>
            </a:fld>
            <a:endParaRPr lang="en-IN"/>
          </a:p>
        </p:txBody>
      </p:sp>
      <p:sp>
        <p:nvSpPr>
          <p:cNvPr id="5" name="Footer Placeholder 4">
            <a:extLst>
              <a:ext uri="{FF2B5EF4-FFF2-40B4-BE49-F238E27FC236}">
                <a16:creationId xmlns:a16="http://schemas.microsoft.com/office/drawing/2014/main" id="{9D7AF34D-7DE9-4A2A-B72A-D9C835FC9A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9A9A-3987-4384-B6DD-284A8A7E6406}"/>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40108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363780-561B-4A64-981F-7F96852E9B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2B993E-8710-48EF-A8AD-DD18DC72F4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E10DF1-2387-4BCF-9545-B6433E5AE1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24C83-43CB-4DDC-B891-A9D0BC68E9C7}" type="datetimeFigureOut">
              <a:rPr lang="en-IN" smtClean="0"/>
              <a:t>02-09-2025</a:t>
            </a:fld>
            <a:endParaRPr lang="en-IN"/>
          </a:p>
        </p:txBody>
      </p:sp>
      <p:sp>
        <p:nvSpPr>
          <p:cNvPr id="5" name="Footer Placeholder 4">
            <a:extLst>
              <a:ext uri="{FF2B5EF4-FFF2-40B4-BE49-F238E27FC236}">
                <a16:creationId xmlns:a16="http://schemas.microsoft.com/office/drawing/2014/main" id="{0493A5C3-4A9A-4A39-9F5C-0B9CDC6B9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022F62-1305-4CBB-B46E-7BBE09E7A7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01D63B-E9CE-41E1-A9D8-18541CE98C74}" type="slidenum">
              <a:rPr lang="en-IN" smtClean="0"/>
              <a:t>‹#›</a:t>
            </a:fld>
            <a:endParaRPr lang="en-IN"/>
          </a:p>
        </p:txBody>
      </p:sp>
    </p:spTree>
    <p:extLst>
      <p:ext uri="{BB962C8B-B14F-4D97-AF65-F5344CB8AC3E}">
        <p14:creationId xmlns:p14="http://schemas.microsoft.com/office/powerpoint/2010/main" val="3885184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27331B-0E79-A0E7-1041-A621C669B6A5}"/>
              </a:ext>
            </a:extLst>
          </p:cNvPr>
          <p:cNvSpPr txBox="1"/>
          <p:nvPr/>
        </p:nvSpPr>
        <p:spPr>
          <a:xfrm>
            <a:off x="152400" y="270933"/>
            <a:ext cx="11938000" cy="5463034"/>
          </a:xfrm>
          <a:prstGeom prst="rect">
            <a:avLst/>
          </a:prstGeom>
          <a:noFill/>
        </p:spPr>
        <p:txBody>
          <a:bodyPr wrap="square">
            <a:spAutoFit/>
          </a:bodyPr>
          <a:lstStyle/>
          <a:p>
            <a:pPr algn="just" fontAlgn="base">
              <a:spcAft>
                <a:spcPts val="1500"/>
              </a:spcAft>
              <a:buNone/>
            </a:pPr>
            <a:r>
              <a:rPr lang="en-US" b="1" i="0" dirty="0">
                <a:solidFill>
                  <a:srgbClr val="000000"/>
                </a:solidFill>
                <a:effectLst/>
                <a:latin typeface="arial" panose="020B0604020202020204" pitchFamily="34" charset="0"/>
              </a:rPr>
              <a:t>Design Principle:</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Design principles are provided with some high-level guidelines or you can say mechanisms to make the software designs more understandable, flexible as well as maintainable. They (i.e. Design Principles) do not provide any implementation and also they are not bound to any programming languages. So, you can use design principles irrespective of the Programming Languages. Example: SOLID (SRP, OCP, LSP, ISP, DIP) Design Principles.</a:t>
            </a: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For example, the Single Responsibility Principle (SRP) states that a class should have only one reason to change. This is the high-level statement that we need to keep in mind while designing the classes for our application. The SRP does not provide any specific implementation steps but it’s up to us how we implement the Single Responsibility Principle in our application.</a:t>
            </a:r>
            <a:endParaRPr lang="en-US" b="0" i="0" dirty="0">
              <a:solidFill>
                <a:srgbClr val="3A3A3A"/>
              </a:solidFill>
              <a:effectLst/>
              <a:latin typeface="-apple-system"/>
            </a:endParaRPr>
          </a:p>
          <a:p>
            <a:pPr algn="just" fontAlgn="base">
              <a:spcAft>
                <a:spcPts val="1500"/>
              </a:spcAft>
              <a:buNone/>
            </a:pPr>
            <a:r>
              <a:rPr lang="en-US" b="1" i="0" dirty="0">
                <a:solidFill>
                  <a:srgbClr val="000000"/>
                </a:solidFill>
                <a:effectLst/>
                <a:latin typeface="arial" panose="020B0604020202020204" pitchFamily="34" charset="0"/>
              </a:rPr>
              <a:t>Design Pattern:</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Design patterns are reusable solutions to the problems that we encounter in our day-to-day programming. They are basically used to solve the problems of object generation and integration. For example, if you want to create a class that can have only one instance for the entire application then you can use the Singleton design pattern which ensures that a class has only one instance for the entire application and provides a global point of access to it. There are so many design patterns that are tested by others and are safe to follow. For example. Gang of Four Design Patterns: Abstract Factory, Factory, Singleton, etc.</a:t>
            </a:r>
            <a:endParaRPr lang="en-US" b="0" i="0" dirty="0">
              <a:solidFill>
                <a:srgbClr val="3A3A3A"/>
              </a:solidFill>
              <a:effectLst/>
              <a:latin typeface="-apple-system"/>
            </a:endParaRPr>
          </a:p>
          <a:p>
            <a:pPr>
              <a:buNone/>
            </a:pPr>
            <a:br>
              <a:rPr lang="en-US" b="0" i="0" dirty="0">
                <a:solidFill>
                  <a:srgbClr val="3A3A3A"/>
                </a:solidFill>
                <a:effectLst/>
                <a:latin typeface="-apple-system"/>
              </a:rPr>
            </a:br>
            <a:endParaRPr lang="en-IN" dirty="0"/>
          </a:p>
        </p:txBody>
      </p:sp>
    </p:spTree>
    <p:extLst>
      <p:ext uri="{BB962C8B-B14F-4D97-AF65-F5344CB8AC3E}">
        <p14:creationId xmlns:p14="http://schemas.microsoft.com/office/powerpoint/2010/main" val="362151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37A1EC-7C1E-730F-758B-7216E72627AE}"/>
              </a:ext>
            </a:extLst>
          </p:cNvPr>
          <p:cNvSpPr txBox="1"/>
          <p:nvPr/>
        </p:nvSpPr>
        <p:spPr>
          <a:xfrm>
            <a:off x="330200" y="0"/>
            <a:ext cx="11734800" cy="1477328"/>
          </a:xfrm>
          <a:prstGeom prst="rect">
            <a:avLst/>
          </a:prstGeom>
          <a:noFill/>
        </p:spPr>
        <p:txBody>
          <a:bodyPr wrap="square">
            <a:spAutoFit/>
          </a:bodyPr>
          <a:lstStyle/>
          <a:p>
            <a:r>
              <a:rPr lang="en-US" b="1" i="0" dirty="0">
                <a:solidFill>
                  <a:srgbClr val="000000"/>
                </a:solidFill>
                <a:effectLst/>
                <a:latin typeface="arial" panose="020B0604020202020204" pitchFamily="34" charset="0"/>
              </a:rPr>
              <a:t>IoC</a:t>
            </a:r>
            <a:r>
              <a:rPr lang="en-US" b="0" i="0" dirty="0">
                <a:solidFill>
                  <a:srgbClr val="000000"/>
                </a:solidFill>
                <a:effectLst/>
                <a:latin typeface="arial" panose="020B0604020202020204" pitchFamily="34" charset="0"/>
              </a:rPr>
              <a:t> (Inversion of Control), </a:t>
            </a:r>
          </a:p>
          <a:p>
            <a:r>
              <a:rPr lang="en-US" b="1" i="0" dirty="0">
                <a:solidFill>
                  <a:srgbClr val="000000"/>
                </a:solidFill>
                <a:effectLst/>
                <a:latin typeface="arial" panose="020B0604020202020204" pitchFamily="34" charset="0"/>
              </a:rPr>
              <a:t>DIP</a:t>
            </a:r>
            <a:r>
              <a:rPr lang="en-US" b="0" i="0" dirty="0">
                <a:solidFill>
                  <a:srgbClr val="000000"/>
                </a:solidFill>
                <a:effectLst/>
                <a:latin typeface="arial" panose="020B0604020202020204" pitchFamily="34" charset="0"/>
              </a:rPr>
              <a:t> (Dependency Inversion Principle), </a:t>
            </a:r>
          </a:p>
          <a:p>
            <a:r>
              <a:rPr lang="en-US" b="1" i="0" dirty="0">
                <a:solidFill>
                  <a:srgbClr val="000000"/>
                </a:solidFill>
                <a:effectLst/>
                <a:latin typeface="arial" panose="020B0604020202020204" pitchFamily="34" charset="0"/>
              </a:rPr>
              <a:t>DI</a:t>
            </a:r>
            <a:r>
              <a:rPr lang="en-US" b="0" i="0" dirty="0">
                <a:solidFill>
                  <a:srgbClr val="000000"/>
                </a:solidFill>
                <a:effectLst/>
                <a:latin typeface="arial" panose="020B0604020202020204" pitchFamily="34" charset="0"/>
              </a:rPr>
              <a:t> (Dependency Injection) Design pattern, and </a:t>
            </a:r>
          </a:p>
          <a:p>
            <a:r>
              <a:rPr lang="en-US" b="1" i="0" dirty="0">
                <a:solidFill>
                  <a:srgbClr val="000000"/>
                </a:solidFill>
                <a:effectLst/>
                <a:latin typeface="arial" panose="020B0604020202020204" pitchFamily="34" charset="0"/>
              </a:rPr>
              <a:t>IoC Containers</a:t>
            </a:r>
            <a:r>
              <a:rPr lang="en-US" b="0" i="0" dirty="0">
                <a:solidFill>
                  <a:srgbClr val="000000"/>
                </a:solidFill>
                <a:effectLst/>
                <a:latin typeface="arial" panose="020B0604020202020204" pitchFamily="34" charset="0"/>
              </a:rPr>
              <a:t>. </a:t>
            </a:r>
          </a:p>
          <a:p>
            <a:r>
              <a:rPr lang="en-US" b="0" i="0" dirty="0">
                <a:solidFill>
                  <a:srgbClr val="000000"/>
                </a:solidFill>
                <a:effectLst/>
                <a:latin typeface="arial" panose="020B0604020202020204" pitchFamily="34" charset="0"/>
              </a:rPr>
              <a:t>The following diagram gives you a clear idea of whether they are principles or patterns or frameworks.</a:t>
            </a:r>
            <a:endParaRPr lang="en-IN" dirty="0"/>
          </a:p>
        </p:txBody>
      </p:sp>
      <p:pic>
        <p:nvPicPr>
          <p:cNvPr id="1026" name="Picture 2" descr="Difference between Design Principle and Design Pattern and IoC Containers in C#">
            <a:extLst>
              <a:ext uri="{FF2B5EF4-FFF2-40B4-BE49-F238E27FC236}">
                <a16:creationId xmlns:a16="http://schemas.microsoft.com/office/drawing/2014/main" id="{703E5430-95C5-192F-FD78-E6692080E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67" y="1960563"/>
            <a:ext cx="784860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741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8DDB26-2968-6205-DAE3-DE04BC19A678}"/>
              </a:ext>
            </a:extLst>
          </p:cNvPr>
          <p:cNvSpPr txBox="1"/>
          <p:nvPr/>
        </p:nvSpPr>
        <p:spPr>
          <a:xfrm>
            <a:off x="211666" y="127000"/>
            <a:ext cx="11980333" cy="6186309"/>
          </a:xfrm>
          <a:prstGeom prst="rect">
            <a:avLst/>
          </a:prstGeom>
          <a:noFill/>
        </p:spPr>
        <p:txBody>
          <a:bodyPr wrap="square">
            <a:spAutoFit/>
          </a:bodyPr>
          <a:lstStyle/>
          <a:p>
            <a:r>
              <a:rPr lang="en-US" dirty="0"/>
              <a:t>Inversion of Control (IoC) in C#:</a:t>
            </a:r>
          </a:p>
          <a:p>
            <a:r>
              <a:rPr lang="en-US" dirty="0"/>
              <a:t>The main objective of Inversion of Control (IoC) in C# is to remove the dependencies (remove tight coupling) between the objects of an application which makes the application more decoupled and maintainable.</a:t>
            </a:r>
          </a:p>
          <a:p>
            <a:endParaRPr lang="en-US" dirty="0"/>
          </a:p>
          <a:p>
            <a:r>
              <a:rPr lang="en-US" dirty="0"/>
              <a:t>The IoC Design Principle suggests the inversion of various types of controls in object-oriented design to achieve loose coupling between the application classes. Here, control means any extra responsibilities a class has other than its main or fundamental responsibility. For example, control over the flow of an application, control over the dependent object creation, etc.</a:t>
            </a:r>
          </a:p>
          <a:p>
            <a:endParaRPr lang="en-US" dirty="0"/>
          </a:p>
          <a:p>
            <a:endParaRPr lang="en-US" dirty="0"/>
          </a:p>
          <a:p>
            <a:r>
              <a:rPr lang="en-US" dirty="0"/>
              <a:t>Let’s say you have a “repository” class, and that the repository class is responsible for giving data to you from a data source. The repository class could establish a connection to the data source by itself without anyone else’s input. But, consider the situation, what if it is allowed you to pass the connection details about the data source through the repository class constructor?</a:t>
            </a:r>
          </a:p>
          <a:p>
            <a:endParaRPr lang="en-US" dirty="0"/>
          </a:p>
          <a:p>
            <a:r>
              <a:rPr lang="en-US" dirty="0"/>
              <a:t>By allowing the caller to provide the connection details through a class constructor, we have actually decoupled the data source connection dependency from the repository class, allowing any data source to work with the repository, not the one which the repository specifies. Here, we have inverted the control by handing the responsibility of creating the connection details about the data source from the repository class to the caller class.</a:t>
            </a:r>
          </a:p>
          <a:p>
            <a:endParaRPr lang="en-US" dirty="0"/>
          </a:p>
          <a:p>
            <a:r>
              <a:rPr lang="en-US" dirty="0"/>
              <a:t>Martin Fowler recommends using the term “Dependency Injection” to describe this type of Inversion of Control since Inversion of Control is a principle, it can be utilized more comprehensively than simply injecting dependencies in a constructor method. I am going to discuss IoC in detail in the next article.</a:t>
            </a:r>
            <a:endParaRPr lang="en-IN" dirty="0"/>
          </a:p>
        </p:txBody>
      </p:sp>
    </p:spTree>
    <p:extLst>
      <p:ext uri="{BB962C8B-B14F-4D97-AF65-F5344CB8AC3E}">
        <p14:creationId xmlns:p14="http://schemas.microsoft.com/office/powerpoint/2010/main" val="1926811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F89CAF-AAC7-A244-2CB6-176484C1C54B}"/>
              </a:ext>
            </a:extLst>
          </p:cNvPr>
          <p:cNvSpPr txBox="1"/>
          <p:nvPr/>
        </p:nvSpPr>
        <p:spPr>
          <a:xfrm>
            <a:off x="0" y="0"/>
            <a:ext cx="12344400" cy="2777683"/>
          </a:xfrm>
          <a:prstGeom prst="rect">
            <a:avLst/>
          </a:prstGeom>
          <a:noFill/>
        </p:spPr>
        <p:txBody>
          <a:bodyPr wrap="square">
            <a:spAutoFit/>
          </a:bodyPr>
          <a:lstStyle/>
          <a:p>
            <a:pPr algn="just" fontAlgn="base">
              <a:spcAft>
                <a:spcPts val="1500"/>
              </a:spcAft>
              <a:buNone/>
            </a:pPr>
            <a:r>
              <a:rPr lang="en-US" b="1" i="0" dirty="0">
                <a:solidFill>
                  <a:srgbClr val="000000"/>
                </a:solidFill>
                <a:effectLst/>
                <a:latin typeface="arial" panose="020B0604020202020204" pitchFamily="34" charset="0"/>
              </a:rPr>
              <a:t>Understanding the Dependency Inversion Principle in C#:</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a:t>
            </a:r>
            <a:r>
              <a:rPr lang="en-US" b="1" i="0" u="none" strike="noStrike" dirty="0">
                <a:solidFill>
                  <a:srgbClr val="0274BE"/>
                </a:solidFill>
                <a:effectLst/>
                <a:latin typeface="arial" panose="020B0604020202020204" pitchFamily="34" charset="0"/>
              </a:rPr>
              <a:t>Dependency Inversion Principle in C#</a:t>
            </a:r>
            <a:r>
              <a:rPr lang="en-US" b="0" i="0" dirty="0">
                <a:solidFill>
                  <a:srgbClr val="000000"/>
                </a:solidFill>
                <a:effectLst/>
                <a:latin typeface="arial" panose="020B0604020202020204" pitchFamily="34" charset="0"/>
              </a:rPr>
              <a:t> also helps us to achieve loose coupling between the classes. It is highly recommended to use both DIP and IoC together in order to achieve loose coupling between the classes. The DIP (DIP) states that high-level modules/classes should not depend upon low-level modules/classes. Both should depend upon abstractions. Secondly, abstractions should not depend upon details. Details should depend upon abstractions.</a:t>
            </a: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We need to keep the High-level module and Low-level module as loosely coupled as possible. When a class knows about the design and implementation of another class, it raises the risk that if we do any changes to one class will break the other class. So we must keep these high-level and low-level modules/classes loosely coupled as much as possible. To do that, we need to make both of them dependent on abstractions instead of knowing each other.</a:t>
            </a:r>
            <a:endParaRPr lang="en-US" b="0" i="0" dirty="0">
              <a:solidFill>
                <a:srgbClr val="3A3A3A"/>
              </a:solidFill>
              <a:effectLst/>
              <a:latin typeface="-apple-system"/>
            </a:endParaRPr>
          </a:p>
        </p:txBody>
      </p:sp>
    </p:spTree>
    <p:extLst>
      <p:ext uri="{BB962C8B-B14F-4D97-AF65-F5344CB8AC3E}">
        <p14:creationId xmlns:p14="http://schemas.microsoft.com/office/powerpoint/2010/main" val="4052707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5DA93A-D0DF-495F-9DF6-EC9E9548EC9B}"/>
              </a:ext>
            </a:extLst>
          </p:cNvPr>
          <p:cNvSpPr txBox="1"/>
          <p:nvPr/>
        </p:nvSpPr>
        <p:spPr>
          <a:xfrm>
            <a:off x="0" y="-93133"/>
            <a:ext cx="11878734" cy="4632037"/>
          </a:xfrm>
          <a:prstGeom prst="rect">
            <a:avLst/>
          </a:prstGeom>
          <a:noFill/>
        </p:spPr>
        <p:txBody>
          <a:bodyPr wrap="square">
            <a:spAutoFit/>
          </a:bodyPr>
          <a:lstStyle/>
          <a:p>
            <a:pPr algn="just" fontAlgn="base">
              <a:spcAft>
                <a:spcPts val="1500"/>
              </a:spcAft>
              <a:buNone/>
            </a:pPr>
            <a:r>
              <a:rPr lang="en-US" b="1" i="0" dirty="0">
                <a:solidFill>
                  <a:srgbClr val="000000"/>
                </a:solidFill>
                <a:effectLst/>
                <a:latin typeface="arial" panose="020B0604020202020204" pitchFamily="34" charset="0"/>
              </a:rPr>
              <a:t>Understanding the Dependency Injection Design Pattern in C#:</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a:t>
            </a:r>
            <a:r>
              <a:rPr lang="en-US" b="1" i="0" u="none" strike="noStrike" dirty="0">
                <a:solidFill>
                  <a:srgbClr val="0274BE"/>
                </a:solidFill>
                <a:effectLst/>
                <a:latin typeface="arial" panose="020B0604020202020204" pitchFamily="34" charset="0"/>
              </a:rPr>
              <a:t>Dependency Injection (DI) Design Pattern</a:t>
            </a:r>
            <a:r>
              <a:rPr lang="en-US" b="0" i="0" dirty="0">
                <a:solidFill>
                  <a:srgbClr val="000000"/>
                </a:solidFill>
                <a:effectLst/>
                <a:latin typeface="arial" panose="020B0604020202020204" pitchFamily="34" charset="0"/>
              </a:rPr>
              <a:t> is a software design pattern that allows us to develop loosely coupled code by inverting the creation of dependent objects. Dependency Injection is a great way to reduce the tight coupling between software components. DI also enables us to better manage future changes and other complexity in our software.</a:t>
            </a:r>
            <a:endParaRPr lang="en-US" b="0" i="0" dirty="0">
              <a:solidFill>
                <a:srgbClr val="3A3A3A"/>
              </a:solidFill>
              <a:effectLst/>
              <a:latin typeface="-apple-system"/>
            </a:endParaRPr>
          </a:p>
          <a:p>
            <a:pPr algn="just" fontAlgn="base">
              <a:spcAft>
                <a:spcPts val="1500"/>
              </a:spcAft>
              <a:buNone/>
            </a:pPr>
            <a:r>
              <a:rPr lang="en-US" b="1" i="0" dirty="0">
                <a:solidFill>
                  <a:srgbClr val="000000"/>
                </a:solidFill>
                <a:effectLst/>
                <a:latin typeface="arial" panose="020B0604020202020204" pitchFamily="34" charset="0"/>
              </a:rPr>
              <a:t>IoC Containers in C#:</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IoC Container is a great framework to create dependencies and inject them automatically whenever required throughout the application so that we as software programmers don’t have to put additional time and effort into it. It automatically creates the necessary objects based on the request and also automatically injects them whenever required. DI Container helps us to manage dependencies within the application in a straightforward and simple way.</a:t>
            </a: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There are different IoC Containers available for .NET such as </a:t>
            </a:r>
            <a:r>
              <a:rPr lang="en-US" b="1" i="0" u="none" strike="noStrike" dirty="0">
                <a:solidFill>
                  <a:srgbClr val="0274BE"/>
                </a:solidFill>
                <a:effectLst/>
                <a:latin typeface="arial" panose="020B0604020202020204" pitchFamily="34" charset="0"/>
              </a:rPr>
              <a:t>Unity</a:t>
            </a:r>
            <a:r>
              <a:rPr lang="en-US" b="0" i="0" dirty="0">
                <a:solidFill>
                  <a:srgbClr val="000000"/>
                </a:solidFill>
                <a:effectLst/>
                <a:latin typeface="arial" panose="020B0604020202020204" pitchFamily="34" charset="0"/>
              </a:rPr>
              <a:t>, Ninject, </a:t>
            </a:r>
            <a:r>
              <a:rPr lang="en-US" b="0" i="0" dirty="0" err="1">
                <a:solidFill>
                  <a:srgbClr val="000000"/>
                </a:solidFill>
                <a:effectLst/>
                <a:latin typeface="arial" panose="020B0604020202020204" pitchFamily="34" charset="0"/>
              </a:rPr>
              <a:t>StructureMap</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Autofac</a:t>
            </a:r>
            <a:r>
              <a:rPr lang="en-US" b="0" i="0" dirty="0">
                <a:solidFill>
                  <a:srgbClr val="000000"/>
                </a:solidFill>
                <a:effectLst/>
                <a:latin typeface="arial" panose="020B0604020202020204" pitchFamily="34" charset="0"/>
              </a:rPr>
              <a:t>, etc. </a:t>
            </a:r>
          </a:p>
          <a:p>
            <a:pPr algn="just" fontAlgn="base">
              <a:buNone/>
            </a:pP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We can’t accomplish loosely coupled classes by just utilizing IoC in C#. Along with IoC we additionally need to utilize DIP, DI, and IoC containers to achieve loosely coupled. The following diagram illustrates how we are going to achieve loosely coupled design</a:t>
            </a:r>
            <a:endParaRPr lang="en-US" b="0" i="0" dirty="0">
              <a:solidFill>
                <a:srgbClr val="3A3A3A"/>
              </a:solidFill>
              <a:effectLst/>
              <a:latin typeface="-apple-system"/>
            </a:endParaRPr>
          </a:p>
        </p:txBody>
      </p:sp>
      <p:pic>
        <p:nvPicPr>
          <p:cNvPr id="2050" name="Picture 2" descr="Inversion of Control in C#">
            <a:extLst>
              <a:ext uri="{FF2B5EF4-FFF2-40B4-BE49-F238E27FC236}">
                <a16:creationId xmlns:a16="http://schemas.microsoft.com/office/drawing/2014/main" id="{CB801358-EAAC-394F-BD32-9438AA5B56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1650" y="4364962"/>
            <a:ext cx="6415616" cy="2651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146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1012</Words>
  <Application>Microsoft Office PowerPoint</Application>
  <PresentationFormat>Widescreen</PresentationFormat>
  <Paragraphs>32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-apple-system</vt:lpstr>
      <vt:lpstr>Arial</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28</cp:revision>
  <dcterms:created xsi:type="dcterms:W3CDTF">2021-10-13T14:18:09Z</dcterms:created>
  <dcterms:modified xsi:type="dcterms:W3CDTF">2025-09-02T06:58:30Z</dcterms:modified>
</cp:coreProperties>
</file>