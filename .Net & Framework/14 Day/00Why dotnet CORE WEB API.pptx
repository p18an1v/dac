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0" r:id="rId2"/>
    <p:sldId id="264" r:id="rId3"/>
    <p:sldId id="261" r:id="rId4"/>
    <p:sldId id="265" r:id="rId5"/>
    <p:sldId id="266" r:id="rId6"/>
    <p:sldId id="267" r:id="rId7"/>
    <p:sldId id="262" r:id="rId8"/>
    <p:sldId id="268" r:id="rId9"/>
    <p:sldId id="270" r:id="rId10"/>
    <p:sldId id="269" r:id="rId11"/>
    <p:sldId id="271" r:id="rId12"/>
    <p:sldId id="272" r:id="rId13"/>
    <p:sldId id="274" r:id="rId14"/>
    <p:sldId id="275" r:id="rId15"/>
    <p:sldId id="276" r:id="rId16"/>
    <p:sldId id="277"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riram Mantri vidyanidhi infotech academy" initials="SMvia" lastIdx="1" clrIdx="0">
    <p:extLst>
      <p:ext uri="{19B8F6BF-5375-455C-9EA6-DF929625EA0E}">
        <p15:presenceInfo xmlns:p15="http://schemas.microsoft.com/office/powerpoint/2012/main" userId="51cb69a88b7242c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0" d="100"/>
          <a:sy n="90" d="100"/>
        </p:scale>
        <p:origin x="1234" y="2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6D2B0-4A09-4077-A16F-47EF53C7B9AB}"/>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F999B8F7-FB15-4E52-99EA-D5C8DA45F0CB}"/>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92A00E3-0B9B-461E-8769-6733F6B06C82}"/>
              </a:ext>
            </a:extLst>
          </p:cNvPr>
          <p:cNvSpPr>
            <a:spLocks noGrp="1"/>
          </p:cNvSpPr>
          <p:nvPr>
            <p:ph type="dt" sz="half" idx="10"/>
          </p:nvPr>
        </p:nvSpPr>
        <p:spPr/>
        <p:txBody>
          <a:bodyPr/>
          <a:lstStyle/>
          <a:p>
            <a:fld id="{CA63E55B-20EA-41BC-BD1C-971839B344EB}" type="datetimeFigureOut">
              <a:rPr lang="en-US" smtClean="0"/>
              <a:t>11/18/2025</a:t>
            </a:fld>
            <a:endParaRPr lang="en-US"/>
          </a:p>
        </p:txBody>
      </p:sp>
      <p:sp>
        <p:nvSpPr>
          <p:cNvPr id="5" name="Footer Placeholder 4">
            <a:extLst>
              <a:ext uri="{FF2B5EF4-FFF2-40B4-BE49-F238E27FC236}">
                <a16:creationId xmlns:a16="http://schemas.microsoft.com/office/drawing/2014/main" id="{EB2DB9E8-792D-48AB-B5DC-6339AF8C50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AE14BD-A444-4EE6-9F1F-9FDA24758213}"/>
              </a:ext>
            </a:extLst>
          </p:cNvPr>
          <p:cNvSpPr>
            <a:spLocks noGrp="1"/>
          </p:cNvSpPr>
          <p:nvPr>
            <p:ph type="sldNum" sz="quarter" idx="12"/>
          </p:nvPr>
        </p:nvSpPr>
        <p:spPr/>
        <p:txBody>
          <a:bodyPr/>
          <a:lstStyle/>
          <a:p>
            <a:fld id="{4D6E2103-0152-4525-945D-993C97345546}" type="slidenum">
              <a:rPr lang="en-US" smtClean="0"/>
              <a:t>‹#›</a:t>
            </a:fld>
            <a:endParaRPr lang="en-US"/>
          </a:p>
        </p:txBody>
      </p:sp>
      <p:sp>
        <p:nvSpPr>
          <p:cNvPr id="8" name="Rectangle 7">
            <a:extLst>
              <a:ext uri="{FF2B5EF4-FFF2-40B4-BE49-F238E27FC236}">
                <a16:creationId xmlns:a16="http://schemas.microsoft.com/office/drawing/2014/main" id="{BABFEB1C-F450-428A-83D7-340C83DC860D}"/>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690290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9AC40-2D59-4D63-A85F-88A1B05AB556}"/>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85236B28-72B5-448B-9EB7-D6B17A3D6163}"/>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62D14418-9775-4183-8BED-2D31C2F1878C}"/>
              </a:ext>
            </a:extLst>
          </p:cNvPr>
          <p:cNvSpPr>
            <a:spLocks noGrp="1"/>
          </p:cNvSpPr>
          <p:nvPr>
            <p:ph type="dt" sz="half" idx="10"/>
          </p:nvPr>
        </p:nvSpPr>
        <p:spPr/>
        <p:txBody>
          <a:bodyPr/>
          <a:lstStyle/>
          <a:p>
            <a:fld id="{CA63E55B-20EA-41BC-BD1C-971839B344EB}" type="datetimeFigureOut">
              <a:rPr lang="en-US" smtClean="0"/>
              <a:t>11/18/2025</a:t>
            </a:fld>
            <a:endParaRPr lang="en-US"/>
          </a:p>
        </p:txBody>
      </p:sp>
      <p:sp>
        <p:nvSpPr>
          <p:cNvPr id="5" name="Footer Placeholder 4">
            <a:extLst>
              <a:ext uri="{FF2B5EF4-FFF2-40B4-BE49-F238E27FC236}">
                <a16:creationId xmlns:a16="http://schemas.microsoft.com/office/drawing/2014/main" id="{8AB95571-159D-4E16-9442-1A64A5950E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78B35A-86EE-4F1D-B326-E2422DD54D04}"/>
              </a:ext>
            </a:extLst>
          </p:cNvPr>
          <p:cNvSpPr>
            <a:spLocks noGrp="1"/>
          </p:cNvSpPr>
          <p:nvPr>
            <p:ph type="sldNum" sz="quarter" idx="12"/>
          </p:nvPr>
        </p:nvSpPr>
        <p:spPr/>
        <p:txBody>
          <a:bodyPr/>
          <a:lstStyle/>
          <a:p>
            <a:fld id="{4D6E2103-0152-4525-945D-993C97345546}" type="slidenum">
              <a:rPr lang="en-US" smtClean="0"/>
              <a:t>‹#›</a:t>
            </a:fld>
            <a:endParaRPr lang="en-US"/>
          </a:p>
        </p:txBody>
      </p:sp>
      <p:pic>
        <p:nvPicPr>
          <p:cNvPr id="8" name="Picture 7">
            <a:extLst>
              <a:ext uri="{FF2B5EF4-FFF2-40B4-BE49-F238E27FC236}">
                <a16:creationId xmlns:a16="http://schemas.microsoft.com/office/drawing/2014/main" id="{EFFFF0A3-15C6-4568-91D3-BE507A6C528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6200" y="-76200"/>
            <a:ext cx="1282699" cy="857534"/>
          </a:xfrm>
          <a:prstGeom prst="rect">
            <a:avLst/>
          </a:prstGeom>
        </p:spPr>
      </p:pic>
      <p:sp>
        <p:nvSpPr>
          <p:cNvPr id="10" name="Rectangle 9">
            <a:extLst>
              <a:ext uri="{FF2B5EF4-FFF2-40B4-BE49-F238E27FC236}">
                <a16:creationId xmlns:a16="http://schemas.microsoft.com/office/drawing/2014/main" id="{B441817B-44DC-4B7A-A4C7-D59F40D65C9C}"/>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2382042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B270A-6F8F-4629-BAF7-7FD05F1541E8}"/>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7F87B2F-F56F-4E5D-9CBE-9507142DA187}"/>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206FFD-1B08-439C-A38C-0E7806B715BD}"/>
              </a:ext>
            </a:extLst>
          </p:cNvPr>
          <p:cNvSpPr>
            <a:spLocks noGrp="1"/>
          </p:cNvSpPr>
          <p:nvPr>
            <p:ph type="dt" sz="half" idx="10"/>
          </p:nvPr>
        </p:nvSpPr>
        <p:spPr/>
        <p:txBody>
          <a:bodyPr/>
          <a:lstStyle/>
          <a:p>
            <a:fld id="{CA63E55B-20EA-41BC-BD1C-971839B344EB}" type="datetimeFigureOut">
              <a:rPr lang="en-US" smtClean="0"/>
              <a:t>11/18/2025</a:t>
            </a:fld>
            <a:endParaRPr lang="en-US"/>
          </a:p>
        </p:txBody>
      </p:sp>
      <p:sp>
        <p:nvSpPr>
          <p:cNvPr id="5" name="Footer Placeholder 4">
            <a:extLst>
              <a:ext uri="{FF2B5EF4-FFF2-40B4-BE49-F238E27FC236}">
                <a16:creationId xmlns:a16="http://schemas.microsoft.com/office/drawing/2014/main" id="{4674952C-2D91-4955-807D-D44B144062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5896C4-BDA4-4F8B-B0CB-A3F2D6DF2912}"/>
              </a:ext>
            </a:extLst>
          </p:cNvPr>
          <p:cNvSpPr>
            <a:spLocks noGrp="1"/>
          </p:cNvSpPr>
          <p:nvPr>
            <p:ph type="sldNum" sz="quarter" idx="12"/>
          </p:nvPr>
        </p:nvSpPr>
        <p:spPr/>
        <p:txBody>
          <a:bodyPr/>
          <a:lstStyle/>
          <a:p>
            <a:fld id="{4D6E2103-0152-4525-945D-993C97345546}" type="slidenum">
              <a:rPr lang="en-US" smtClean="0"/>
              <a:t>‹#›</a:t>
            </a:fld>
            <a:endParaRPr lang="en-US"/>
          </a:p>
        </p:txBody>
      </p:sp>
      <p:sp>
        <p:nvSpPr>
          <p:cNvPr id="10" name="Rectangle 9">
            <a:extLst>
              <a:ext uri="{FF2B5EF4-FFF2-40B4-BE49-F238E27FC236}">
                <a16:creationId xmlns:a16="http://schemas.microsoft.com/office/drawing/2014/main" id="{2C19E40E-1E09-4FBD-93DB-5D61896E4676}"/>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401806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53CCB-2FA4-4084-BD4F-FA292A024F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9E53C5E-BCDC-4D34-9F70-040FD30B4319}"/>
              </a:ext>
            </a:extLst>
          </p:cNvPr>
          <p:cNvSpPr>
            <a:spLocks noGrp="1"/>
          </p:cNvSpPr>
          <p:nvPr>
            <p:ph sz="half" idx="1"/>
          </p:nvPr>
        </p:nvSpPr>
        <p:spPr>
          <a:xfrm>
            <a:off x="628650" y="1825625"/>
            <a:ext cx="38862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a:extLst>
              <a:ext uri="{FF2B5EF4-FFF2-40B4-BE49-F238E27FC236}">
                <a16:creationId xmlns:a16="http://schemas.microsoft.com/office/drawing/2014/main" id="{F84DEE8A-AA47-4E02-ACE2-30603FDF4642}"/>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A2DF106-7445-4B25-88A6-F8375332AE0D}"/>
              </a:ext>
            </a:extLst>
          </p:cNvPr>
          <p:cNvSpPr>
            <a:spLocks noGrp="1"/>
          </p:cNvSpPr>
          <p:nvPr>
            <p:ph type="dt" sz="half" idx="10"/>
          </p:nvPr>
        </p:nvSpPr>
        <p:spPr/>
        <p:txBody>
          <a:bodyPr/>
          <a:lstStyle/>
          <a:p>
            <a:fld id="{CA63E55B-20EA-41BC-BD1C-971839B344EB}" type="datetimeFigureOut">
              <a:rPr lang="en-US" smtClean="0"/>
              <a:t>11/18/2025</a:t>
            </a:fld>
            <a:endParaRPr lang="en-US"/>
          </a:p>
        </p:txBody>
      </p:sp>
      <p:sp>
        <p:nvSpPr>
          <p:cNvPr id="6" name="Footer Placeholder 5">
            <a:extLst>
              <a:ext uri="{FF2B5EF4-FFF2-40B4-BE49-F238E27FC236}">
                <a16:creationId xmlns:a16="http://schemas.microsoft.com/office/drawing/2014/main" id="{A886E2C9-014B-4C9D-865C-277DE17797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D34B14-67D2-4200-A9A1-E02FB5F859D0}"/>
              </a:ext>
            </a:extLst>
          </p:cNvPr>
          <p:cNvSpPr>
            <a:spLocks noGrp="1"/>
          </p:cNvSpPr>
          <p:nvPr>
            <p:ph type="sldNum" sz="quarter" idx="12"/>
          </p:nvPr>
        </p:nvSpPr>
        <p:spPr/>
        <p:txBody>
          <a:bodyPr/>
          <a:lstStyle/>
          <a:p>
            <a:fld id="{4D6E2103-0152-4525-945D-993C97345546}" type="slidenum">
              <a:rPr lang="en-US" smtClean="0"/>
              <a:t>‹#›</a:t>
            </a:fld>
            <a:endParaRPr lang="en-US"/>
          </a:p>
        </p:txBody>
      </p:sp>
      <p:sp>
        <p:nvSpPr>
          <p:cNvPr id="11" name="Rectangle 10">
            <a:extLst>
              <a:ext uri="{FF2B5EF4-FFF2-40B4-BE49-F238E27FC236}">
                <a16:creationId xmlns:a16="http://schemas.microsoft.com/office/drawing/2014/main" id="{632970CB-1007-426F-8BAF-20E17DC48EBB}"/>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42761711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03A8-E3C2-4521-BAB0-EEA84642CD60}"/>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305B118-C53A-4E78-BEC8-3F4EAA240CA0}"/>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16045913-94E8-4A79-8EF4-F9C118ED014D}"/>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D531397-8C84-4B9B-B5B8-CEEEFC58857E}"/>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4FDF4B68-3FC3-4FB2-A053-7B0FCDAFFEAC}"/>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958C094-6BBF-4769-B9C8-0267561CC4F6}"/>
              </a:ext>
            </a:extLst>
          </p:cNvPr>
          <p:cNvSpPr>
            <a:spLocks noGrp="1"/>
          </p:cNvSpPr>
          <p:nvPr>
            <p:ph type="dt" sz="half" idx="10"/>
          </p:nvPr>
        </p:nvSpPr>
        <p:spPr/>
        <p:txBody>
          <a:bodyPr/>
          <a:lstStyle/>
          <a:p>
            <a:fld id="{CA63E55B-20EA-41BC-BD1C-971839B344EB}" type="datetimeFigureOut">
              <a:rPr lang="en-US" smtClean="0"/>
              <a:t>11/18/2025</a:t>
            </a:fld>
            <a:endParaRPr lang="en-US"/>
          </a:p>
        </p:txBody>
      </p:sp>
      <p:sp>
        <p:nvSpPr>
          <p:cNvPr id="8" name="Footer Placeholder 7">
            <a:extLst>
              <a:ext uri="{FF2B5EF4-FFF2-40B4-BE49-F238E27FC236}">
                <a16:creationId xmlns:a16="http://schemas.microsoft.com/office/drawing/2014/main" id="{F65B6ED7-A64A-4564-A7BC-AF2199FEF3D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5FDBFF9-C2DC-47A6-A290-9D0B53D2A49B}"/>
              </a:ext>
            </a:extLst>
          </p:cNvPr>
          <p:cNvSpPr>
            <a:spLocks noGrp="1"/>
          </p:cNvSpPr>
          <p:nvPr>
            <p:ph type="sldNum" sz="quarter" idx="12"/>
          </p:nvPr>
        </p:nvSpPr>
        <p:spPr/>
        <p:txBody>
          <a:bodyPr/>
          <a:lstStyle/>
          <a:p>
            <a:fld id="{4D6E2103-0152-4525-945D-993C97345546}" type="slidenum">
              <a:rPr lang="en-US" smtClean="0"/>
              <a:t>‹#›</a:t>
            </a:fld>
            <a:endParaRPr lang="en-US"/>
          </a:p>
        </p:txBody>
      </p:sp>
      <p:pic>
        <p:nvPicPr>
          <p:cNvPr id="11" name="Picture 10">
            <a:extLst>
              <a:ext uri="{FF2B5EF4-FFF2-40B4-BE49-F238E27FC236}">
                <a16:creationId xmlns:a16="http://schemas.microsoft.com/office/drawing/2014/main" id="{F44B7B4C-9242-41F9-9EFA-37803263D96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82699" cy="857534"/>
          </a:xfrm>
          <a:prstGeom prst="rect">
            <a:avLst/>
          </a:prstGeom>
        </p:spPr>
      </p:pic>
      <p:sp>
        <p:nvSpPr>
          <p:cNvPr id="13" name="Rectangle 12">
            <a:extLst>
              <a:ext uri="{FF2B5EF4-FFF2-40B4-BE49-F238E27FC236}">
                <a16:creationId xmlns:a16="http://schemas.microsoft.com/office/drawing/2014/main" id="{5ADFB1EB-EA8A-4B40-B65B-E5F97A5BDEA6}"/>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671716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18B92-803A-43F1-96E0-15B5A9CB286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F67875B-CA21-4A34-815A-AC8E46B65D10}"/>
              </a:ext>
            </a:extLst>
          </p:cNvPr>
          <p:cNvSpPr>
            <a:spLocks noGrp="1"/>
          </p:cNvSpPr>
          <p:nvPr>
            <p:ph type="dt" sz="half" idx="10"/>
          </p:nvPr>
        </p:nvSpPr>
        <p:spPr/>
        <p:txBody>
          <a:bodyPr/>
          <a:lstStyle/>
          <a:p>
            <a:fld id="{CA63E55B-20EA-41BC-BD1C-971839B344EB}" type="datetimeFigureOut">
              <a:rPr lang="en-US" smtClean="0"/>
              <a:t>11/18/2025</a:t>
            </a:fld>
            <a:endParaRPr lang="en-US"/>
          </a:p>
        </p:txBody>
      </p:sp>
      <p:sp>
        <p:nvSpPr>
          <p:cNvPr id="4" name="Footer Placeholder 3">
            <a:extLst>
              <a:ext uri="{FF2B5EF4-FFF2-40B4-BE49-F238E27FC236}">
                <a16:creationId xmlns:a16="http://schemas.microsoft.com/office/drawing/2014/main" id="{22051392-43F0-4389-8EE8-963F90F1AC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99F3021-3732-4E7B-B105-8D53733AED62}"/>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2959284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105B1C-D14F-4038-92D6-2AD4B375CE08}"/>
              </a:ext>
            </a:extLst>
          </p:cNvPr>
          <p:cNvSpPr>
            <a:spLocks noGrp="1"/>
          </p:cNvSpPr>
          <p:nvPr>
            <p:ph type="dt" sz="half" idx="10"/>
          </p:nvPr>
        </p:nvSpPr>
        <p:spPr/>
        <p:txBody>
          <a:bodyPr/>
          <a:lstStyle/>
          <a:p>
            <a:fld id="{CA63E55B-20EA-41BC-BD1C-971839B344EB}" type="datetimeFigureOut">
              <a:rPr lang="en-US" smtClean="0"/>
              <a:t>11/18/2025</a:t>
            </a:fld>
            <a:endParaRPr lang="en-US"/>
          </a:p>
        </p:txBody>
      </p:sp>
      <p:sp>
        <p:nvSpPr>
          <p:cNvPr id="3" name="Footer Placeholder 2">
            <a:extLst>
              <a:ext uri="{FF2B5EF4-FFF2-40B4-BE49-F238E27FC236}">
                <a16:creationId xmlns:a16="http://schemas.microsoft.com/office/drawing/2014/main" id="{8439ADE9-7ED1-44FE-9A63-2DF37671EAE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4E109B7-7EF5-44C2-8821-DFB5084812E5}"/>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4073322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8C241-CE34-485A-B25B-5B17F6196392}"/>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86EDE76-2F56-4722-A19F-90CF92396944}"/>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792879C-E670-44C6-B777-E4CC693E3AD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2F925B6-8CF3-455D-B73D-119D0B4E441A}"/>
              </a:ext>
            </a:extLst>
          </p:cNvPr>
          <p:cNvSpPr>
            <a:spLocks noGrp="1"/>
          </p:cNvSpPr>
          <p:nvPr>
            <p:ph type="dt" sz="half" idx="10"/>
          </p:nvPr>
        </p:nvSpPr>
        <p:spPr/>
        <p:txBody>
          <a:bodyPr/>
          <a:lstStyle/>
          <a:p>
            <a:fld id="{CA63E55B-20EA-41BC-BD1C-971839B344EB}" type="datetimeFigureOut">
              <a:rPr lang="en-US" smtClean="0"/>
              <a:t>11/18/2025</a:t>
            </a:fld>
            <a:endParaRPr lang="en-US"/>
          </a:p>
        </p:txBody>
      </p:sp>
      <p:sp>
        <p:nvSpPr>
          <p:cNvPr id="6" name="Footer Placeholder 5">
            <a:extLst>
              <a:ext uri="{FF2B5EF4-FFF2-40B4-BE49-F238E27FC236}">
                <a16:creationId xmlns:a16="http://schemas.microsoft.com/office/drawing/2014/main" id="{DC7BEC62-2B2D-47D8-814E-CEB11FBDE0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4B180D-9A69-407A-B767-849DC3F09309}"/>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2303496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2B198-AFEA-40C2-BE37-C68CFDF483DD}"/>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A7B8C5B-9A98-470A-8110-499A6518DD56}"/>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F09FA6F1-1813-4B57-B473-833646D2E82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B4D1A94-0748-4E41-9D2F-C83D9F732710}"/>
              </a:ext>
            </a:extLst>
          </p:cNvPr>
          <p:cNvSpPr>
            <a:spLocks noGrp="1"/>
          </p:cNvSpPr>
          <p:nvPr>
            <p:ph type="dt" sz="half" idx="10"/>
          </p:nvPr>
        </p:nvSpPr>
        <p:spPr/>
        <p:txBody>
          <a:bodyPr/>
          <a:lstStyle/>
          <a:p>
            <a:fld id="{CA63E55B-20EA-41BC-BD1C-971839B344EB}" type="datetimeFigureOut">
              <a:rPr lang="en-US" smtClean="0"/>
              <a:t>11/18/2025</a:t>
            </a:fld>
            <a:endParaRPr lang="en-US"/>
          </a:p>
        </p:txBody>
      </p:sp>
      <p:sp>
        <p:nvSpPr>
          <p:cNvPr id="6" name="Footer Placeholder 5">
            <a:extLst>
              <a:ext uri="{FF2B5EF4-FFF2-40B4-BE49-F238E27FC236}">
                <a16:creationId xmlns:a16="http://schemas.microsoft.com/office/drawing/2014/main" id="{34FA210D-43D8-47ED-9949-2CED61B4BA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342B31-3A2B-4E1F-B426-BCF9E3DD68BE}"/>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2008349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A8523-61C0-453B-8977-7E823EDCC31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DB0E370-F9F6-4D63-86BA-0C0C7ABB2E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7AF5E7-A24A-4D4F-9251-D3C3CD538475}"/>
              </a:ext>
            </a:extLst>
          </p:cNvPr>
          <p:cNvSpPr>
            <a:spLocks noGrp="1"/>
          </p:cNvSpPr>
          <p:nvPr>
            <p:ph type="dt" sz="half" idx="10"/>
          </p:nvPr>
        </p:nvSpPr>
        <p:spPr/>
        <p:txBody>
          <a:bodyPr/>
          <a:lstStyle/>
          <a:p>
            <a:fld id="{CA63E55B-20EA-41BC-BD1C-971839B344EB}" type="datetimeFigureOut">
              <a:rPr lang="en-US" smtClean="0"/>
              <a:t>11/18/2025</a:t>
            </a:fld>
            <a:endParaRPr lang="en-US"/>
          </a:p>
        </p:txBody>
      </p:sp>
      <p:sp>
        <p:nvSpPr>
          <p:cNvPr id="5" name="Footer Placeholder 4">
            <a:extLst>
              <a:ext uri="{FF2B5EF4-FFF2-40B4-BE49-F238E27FC236}">
                <a16:creationId xmlns:a16="http://schemas.microsoft.com/office/drawing/2014/main" id="{A5469C26-5F35-4403-BB25-270B7A428F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C1B4A1-1332-4B3D-9570-914A118EEFE5}"/>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2761785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866256-29E0-4FB4-B70D-23F0615B4331}"/>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E49EE83-F08B-4085-92DD-887191E74932}"/>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C09255-745E-47C1-A734-54C4277C6AAF}"/>
              </a:ext>
            </a:extLst>
          </p:cNvPr>
          <p:cNvSpPr>
            <a:spLocks noGrp="1"/>
          </p:cNvSpPr>
          <p:nvPr>
            <p:ph type="dt" sz="half" idx="10"/>
          </p:nvPr>
        </p:nvSpPr>
        <p:spPr/>
        <p:txBody>
          <a:bodyPr/>
          <a:lstStyle/>
          <a:p>
            <a:fld id="{CA63E55B-20EA-41BC-BD1C-971839B344EB}" type="datetimeFigureOut">
              <a:rPr lang="en-US" smtClean="0"/>
              <a:t>11/18/2025</a:t>
            </a:fld>
            <a:endParaRPr lang="en-US"/>
          </a:p>
        </p:txBody>
      </p:sp>
      <p:sp>
        <p:nvSpPr>
          <p:cNvPr id="5" name="Footer Placeholder 4">
            <a:extLst>
              <a:ext uri="{FF2B5EF4-FFF2-40B4-BE49-F238E27FC236}">
                <a16:creationId xmlns:a16="http://schemas.microsoft.com/office/drawing/2014/main" id="{6FEE1911-73E7-44C4-8A47-7A3E73020D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76C518-9C28-479C-BDDC-CCEAD9D83CC2}"/>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3317666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A40FBA-4B31-4400-8703-448B6BB92946}"/>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A55A2560-6694-4066-9BBE-CDBCA9527119}"/>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CE10E3E-5C9C-477B-9737-59527A0399B4}"/>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A63E55B-20EA-41BC-BD1C-971839B344EB}" type="datetimeFigureOut">
              <a:rPr lang="en-US" smtClean="0"/>
              <a:t>11/18/2025</a:t>
            </a:fld>
            <a:endParaRPr lang="en-US"/>
          </a:p>
        </p:txBody>
      </p:sp>
      <p:sp>
        <p:nvSpPr>
          <p:cNvPr id="5" name="Footer Placeholder 4">
            <a:extLst>
              <a:ext uri="{FF2B5EF4-FFF2-40B4-BE49-F238E27FC236}">
                <a16:creationId xmlns:a16="http://schemas.microsoft.com/office/drawing/2014/main" id="{3D5B4180-7DA2-4E7A-9EAC-CB2B7A99B58B}"/>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85689F4-61E0-46DF-9DC0-37CC35E22E28}"/>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D6E2103-0152-4525-945D-993C97345546}" type="slidenum">
              <a:rPr lang="en-US" smtClean="0"/>
              <a:t>‹#›</a:t>
            </a:fld>
            <a:endParaRPr lang="en-US"/>
          </a:p>
        </p:txBody>
      </p:sp>
      <p:pic>
        <p:nvPicPr>
          <p:cNvPr id="8" name="Picture 7">
            <a:extLst>
              <a:ext uri="{FF2B5EF4-FFF2-40B4-BE49-F238E27FC236}">
                <a16:creationId xmlns:a16="http://schemas.microsoft.com/office/drawing/2014/main" id="{662FD64A-3AB0-4FC1-8ED4-0FDB131B238A}"/>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200" y="-76200"/>
            <a:ext cx="1282699" cy="857534"/>
          </a:xfrm>
          <a:prstGeom prst="rect">
            <a:avLst/>
          </a:prstGeom>
        </p:spPr>
      </p:pic>
      <p:sp>
        <p:nvSpPr>
          <p:cNvPr id="10" name="Rectangle 9">
            <a:extLst>
              <a:ext uri="{FF2B5EF4-FFF2-40B4-BE49-F238E27FC236}">
                <a16:creationId xmlns:a16="http://schemas.microsoft.com/office/drawing/2014/main" id="{877C570F-9E57-4117-ADC2-587B1CB76B7C}"/>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7007844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hyperlink" Target="https://github.com/dotnet/sdk" TargetMode="External"/><Relationship Id="rId13" Type="http://schemas.openxmlformats.org/officeDocument/2006/relationships/hyperlink" Target="https://docs.microsoft.com/en-us/dotnet/standard/net-standard" TargetMode="External"/><Relationship Id="rId3" Type="http://schemas.openxmlformats.org/officeDocument/2006/relationships/hyperlink" Target="https://github.com/dotnet/runtime/blob/master/LICENSE.TXT" TargetMode="External"/><Relationship Id="rId7" Type="http://schemas.openxmlformats.org/officeDocument/2006/relationships/hyperlink" Target="https://github.com/dotnet/runtime" TargetMode="External"/><Relationship Id="rId12" Type="http://schemas.openxmlformats.org/officeDocument/2006/relationships/hyperlink" Target="https://docs.microsoft.com/en-us/dotnet/core/docker/introduction" TargetMode="External"/><Relationship Id="rId2" Type="http://schemas.openxmlformats.org/officeDocument/2006/relationships/hyperlink" Target="https://dotnet.microsoft.com/platform/open-source" TargetMode="External"/><Relationship Id="rId1" Type="http://schemas.openxmlformats.org/officeDocument/2006/relationships/slideLayout" Target="../slideLayouts/slideLayout2.xml"/><Relationship Id="rId6" Type="http://schemas.openxmlformats.org/officeDocument/2006/relationships/hyperlink" Target="https://github.com/dotnet/roslyn" TargetMode="External"/><Relationship Id="rId11" Type="http://schemas.openxmlformats.org/officeDocument/2006/relationships/hyperlink" Target="https://www.tutorialsteacher.com/core/net-core-command-line-interface" TargetMode="External"/><Relationship Id="rId5" Type="http://schemas.openxmlformats.org/officeDocument/2006/relationships/hyperlink" Target="https://dotnetfoundation.org/" TargetMode="External"/><Relationship Id="rId10" Type="http://schemas.openxmlformats.org/officeDocument/2006/relationships/hyperlink" Target="https://www.nuget.org/packages/Microsoft.NETCore.App" TargetMode="External"/><Relationship Id="rId4" Type="http://schemas.openxmlformats.org/officeDocument/2006/relationships/hyperlink" Target="https://www.apache.org/licenses/LICENSE-2.0" TargetMode="External"/><Relationship Id="rId9" Type="http://schemas.openxmlformats.org/officeDocument/2006/relationships/hyperlink" Target="https://github.com/dotnet/aspnetcor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dotnet.microsoft.com/download"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dotnet.microsoft.com/download"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228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533400" y="4038600"/>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903E9-EB1A-4850-99E2-1B32BE5DE9E9}"/>
              </a:ext>
            </a:extLst>
          </p:cNvPr>
          <p:cNvSpPr>
            <a:spLocks noGrp="1"/>
          </p:cNvSpPr>
          <p:nvPr>
            <p:ph type="title"/>
          </p:nvPr>
        </p:nvSpPr>
        <p:spPr/>
        <p:txBody>
          <a:bodyPr/>
          <a:lstStyle/>
          <a:p>
            <a:r>
              <a:rPr lang="en-US" dirty="0"/>
              <a:t>Why .NET Core?</a:t>
            </a:r>
            <a:br>
              <a:rPr lang="en-US" dirty="0"/>
            </a:br>
            <a:endParaRPr lang="en-IN" dirty="0"/>
          </a:p>
        </p:txBody>
      </p:sp>
      <p:sp>
        <p:nvSpPr>
          <p:cNvPr id="3" name="Content Placeholder 2">
            <a:extLst>
              <a:ext uri="{FF2B5EF4-FFF2-40B4-BE49-F238E27FC236}">
                <a16:creationId xmlns:a16="http://schemas.microsoft.com/office/drawing/2014/main" id="{69F6315A-BD3B-4331-86DB-5010A2EBC5D2}"/>
              </a:ext>
            </a:extLst>
          </p:cNvPr>
          <p:cNvSpPr>
            <a:spLocks noGrp="1"/>
          </p:cNvSpPr>
          <p:nvPr>
            <p:ph idx="1"/>
          </p:nvPr>
        </p:nvSpPr>
        <p:spPr>
          <a:xfrm>
            <a:off x="381000" y="1447800"/>
            <a:ext cx="8229600" cy="4876800"/>
          </a:xfrm>
        </p:spPr>
        <p:txBody>
          <a:bodyPr>
            <a:normAutofit/>
          </a:bodyPr>
          <a:lstStyle/>
          <a:p>
            <a:r>
              <a:rPr lang="en-US" dirty="0"/>
              <a:t>There are some limitations with the .NET Framework. For example, it only runs on the Windows platform. Also, you need to use different .NET APIs for different Windows devices such as Windows Desktop, Windows Store, Windows Phone, and Web applications. In addition to this, the .NET Framework is a machine-wide framework. Any changes made to it affect all applications taking a dependency on it. Learn more about the motivation behind .NET Core here.</a:t>
            </a:r>
          </a:p>
          <a:p>
            <a:endParaRPr lang="en-US" dirty="0"/>
          </a:p>
          <a:p>
            <a:r>
              <a:rPr lang="en-US" dirty="0"/>
              <a:t>Today, it's common to have an application that runs across devices; a backend on the web server, admin front-end on windows desktop, web, and mobile apps for consumers. So, there is a need for a single framework that works everywhere. So, considering this, Microsoft created .NET Core. The main objective of .NET Core is to make .NET Framework open-source, cross-platform compatible that can be used in a wide variety of verticals, from the data center to touch-based devices.</a:t>
            </a:r>
            <a:endParaRPr lang="en-IN" dirty="0"/>
          </a:p>
        </p:txBody>
      </p:sp>
    </p:spTree>
    <p:extLst>
      <p:ext uri="{BB962C8B-B14F-4D97-AF65-F5344CB8AC3E}">
        <p14:creationId xmlns:p14="http://schemas.microsoft.com/office/powerpoint/2010/main" val="1844289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DEA7D-4932-4A69-BD8A-F807E46FAB72}"/>
              </a:ext>
            </a:extLst>
          </p:cNvPr>
          <p:cNvSpPr>
            <a:spLocks noGrp="1"/>
          </p:cNvSpPr>
          <p:nvPr>
            <p:ph type="title"/>
          </p:nvPr>
        </p:nvSpPr>
        <p:spPr>
          <a:xfrm>
            <a:off x="1555955" y="-152400"/>
            <a:ext cx="7588045" cy="683495"/>
          </a:xfrm>
        </p:spPr>
        <p:txBody>
          <a:bodyPr/>
          <a:lstStyle/>
          <a:p>
            <a:r>
              <a:rPr lang="en-IN" dirty="0"/>
              <a:t>NET Core Characteristics</a:t>
            </a:r>
          </a:p>
        </p:txBody>
      </p:sp>
      <p:sp>
        <p:nvSpPr>
          <p:cNvPr id="3" name="Content Placeholder 2">
            <a:extLst>
              <a:ext uri="{FF2B5EF4-FFF2-40B4-BE49-F238E27FC236}">
                <a16:creationId xmlns:a16="http://schemas.microsoft.com/office/drawing/2014/main" id="{D2DF847C-CDBB-4B31-81CF-CDDA1FF31748}"/>
              </a:ext>
            </a:extLst>
          </p:cNvPr>
          <p:cNvSpPr>
            <a:spLocks noGrp="1"/>
          </p:cNvSpPr>
          <p:nvPr>
            <p:ph idx="1"/>
          </p:nvPr>
        </p:nvSpPr>
        <p:spPr>
          <a:xfrm>
            <a:off x="152400" y="762000"/>
            <a:ext cx="8991600" cy="5943600"/>
          </a:xfrm>
        </p:spPr>
        <p:txBody>
          <a:bodyPr>
            <a:noAutofit/>
          </a:bodyPr>
          <a:lstStyle/>
          <a:p>
            <a:r>
              <a:rPr lang="en-US" sz="1400" b="1" dirty="0"/>
              <a:t>Open-source Framework:</a:t>
            </a:r>
            <a:r>
              <a:rPr lang="en-US" sz="1400" dirty="0"/>
              <a:t> .NET Core is an </a:t>
            </a:r>
            <a:r>
              <a:rPr lang="en-US" sz="1400" dirty="0">
                <a:hlinkClick r:id="rId2"/>
              </a:rPr>
              <a:t>open-source framework</a:t>
            </a:r>
            <a:r>
              <a:rPr lang="en-US" sz="1400" dirty="0"/>
              <a:t> maintained by Microsoft and available on GitHub under </a:t>
            </a:r>
            <a:r>
              <a:rPr lang="en-US" sz="1400" dirty="0">
                <a:hlinkClick r:id="rId3"/>
              </a:rPr>
              <a:t>MIT</a:t>
            </a:r>
            <a:r>
              <a:rPr lang="en-US" sz="1400" dirty="0"/>
              <a:t> and </a:t>
            </a:r>
            <a:r>
              <a:rPr lang="en-US" sz="1400" dirty="0">
                <a:hlinkClick r:id="rId4"/>
              </a:rPr>
              <a:t>Apache 2</a:t>
            </a:r>
            <a:r>
              <a:rPr lang="en-US" sz="1400" dirty="0"/>
              <a:t> licenses. It is a </a:t>
            </a:r>
            <a:r>
              <a:rPr lang="en-US" sz="1400" dirty="0">
                <a:hlinkClick r:id="rId5"/>
              </a:rPr>
              <a:t>.NET Foundation project</a:t>
            </a:r>
            <a:r>
              <a:rPr lang="en-US" sz="1400" dirty="0"/>
              <a:t>.</a:t>
            </a:r>
          </a:p>
          <a:p>
            <a:r>
              <a:rPr lang="en-US" sz="1400" dirty="0"/>
              <a:t>You can view, download, or contribute to the source code using the following GitHub repositories:</a:t>
            </a:r>
          </a:p>
          <a:p>
            <a:r>
              <a:rPr lang="en-US" sz="1400" dirty="0"/>
              <a:t>Language compiler platform Roslyn: </a:t>
            </a:r>
            <a:r>
              <a:rPr lang="en-US" sz="1400" dirty="0">
                <a:hlinkClick r:id="rId6"/>
              </a:rPr>
              <a:t>https://github.com/dotnet/roslyn</a:t>
            </a:r>
            <a:endParaRPr lang="en-US" sz="1400" dirty="0"/>
          </a:p>
          <a:p>
            <a:r>
              <a:rPr lang="en-US" sz="1400" dirty="0"/>
              <a:t>.NET Core runtime: </a:t>
            </a:r>
            <a:r>
              <a:rPr lang="en-US" sz="1400" dirty="0">
                <a:hlinkClick r:id="rId7"/>
              </a:rPr>
              <a:t>https://github.com/dotnet/runtime</a:t>
            </a:r>
            <a:endParaRPr lang="en-US" sz="1400" dirty="0"/>
          </a:p>
          <a:p>
            <a:r>
              <a:rPr lang="en-US" sz="1400" dirty="0"/>
              <a:t>.NET Core SDK repository. </a:t>
            </a:r>
            <a:r>
              <a:rPr lang="en-US" sz="1400" dirty="0">
                <a:hlinkClick r:id="rId8"/>
              </a:rPr>
              <a:t>https://github.com/dotnet/sdk</a:t>
            </a:r>
            <a:endParaRPr lang="en-US" sz="1400" dirty="0"/>
          </a:p>
          <a:p>
            <a:r>
              <a:rPr lang="en-US" sz="1400" dirty="0"/>
              <a:t>ASP.NET Core repository. </a:t>
            </a:r>
            <a:r>
              <a:rPr lang="en-US" sz="1400" dirty="0">
                <a:hlinkClick r:id="rId9"/>
              </a:rPr>
              <a:t>https://github.com/dotnet/aspnetcore</a:t>
            </a:r>
            <a:endParaRPr lang="en-US" sz="1400" dirty="0"/>
          </a:p>
          <a:p>
            <a:r>
              <a:rPr lang="en-US" sz="1400" b="1" dirty="0"/>
              <a:t>Cross-platform:</a:t>
            </a:r>
            <a:r>
              <a:rPr lang="en-US" sz="1400" dirty="0"/>
              <a:t> .NET Core runs on Windows, macOS, and Linux operating systems. There are different runtime for each operating system that executes the code and generates the same output.</a:t>
            </a:r>
          </a:p>
          <a:p>
            <a:r>
              <a:rPr lang="en-US" sz="1400" b="1" dirty="0"/>
              <a:t>Consistent across Architectures:</a:t>
            </a:r>
            <a:r>
              <a:rPr lang="en-US" sz="1400" dirty="0"/>
              <a:t> Execute the code with the same behavior in different instruction set architectures, including x64, x86, and ARM.</a:t>
            </a:r>
          </a:p>
          <a:p>
            <a:r>
              <a:rPr lang="en-US" sz="1400" b="1" dirty="0"/>
              <a:t>Wide-range of Applications:</a:t>
            </a:r>
            <a:r>
              <a:rPr lang="en-US" sz="1400" dirty="0"/>
              <a:t> Various types of applications can be developed and run on .NET Core platform such as mobile, desktop, web, cloud, IoT, machine learning, microservices, game, etc.</a:t>
            </a:r>
          </a:p>
          <a:p>
            <a:r>
              <a:rPr lang="en-US" sz="1400" b="1" dirty="0"/>
              <a:t>Supports Multiple Languages:</a:t>
            </a:r>
            <a:r>
              <a:rPr lang="en-US" sz="1400" dirty="0"/>
              <a:t> You can use C#, F#, and Visual Basic programming languages to develop .NET Core applications. You can use your favorite IDE, including Visual Studio 2017/2019, Visual Studio Code, Sublime Text, Vim, etc.</a:t>
            </a:r>
          </a:p>
          <a:p>
            <a:r>
              <a:rPr lang="en-US" sz="1400" b="1" dirty="0"/>
              <a:t>Modular Architecture:</a:t>
            </a:r>
            <a:r>
              <a:rPr lang="en-US" sz="1400" dirty="0"/>
              <a:t> .NET Core supports modular architecture approach using NuGet packages. There are different NuGet packages for various features that can be added to the .NET Core project as needed. Even the .NET Core library is provided as a NuGet package. The NuGet package for the default .NET Core application model is </a:t>
            </a:r>
            <a:r>
              <a:rPr lang="en-US" sz="1400" dirty="0" err="1">
                <a:hlinkClick r:id="rId10"/>
              </a:rPr>
              <a:t>Microsoft.NETCore.App</a:t>
            </a:r>
            <a:r>
              <a:rPr lang="en-US" sz="1400" dirty="0"/>
              <a:t>.</a:t>
            </a:r>
          </a:p>
          <a:p>
            <a:r>
              <a:rPr lang="en-US" sz="1400" dirty="0"/>
              <a:t>This way, it reduces the memory footprint, speeds up the performance, and easy to maintain.</a:t>
            </a:r>
          </a:p>
          <a:p>
            <a:r>
              <a:rPr lang="en-US" sz="1400" b="1" dirty="0"/>
              <a:t>CLI Tools:</a:t>
            </a:r>
            <a:r>
              <a:rPr lang="en-US" sz="1400" dirty="0"/>
              <a:t> .NET Core includes </a:t>
            </a:r>
            <a:r>
              <a:rPr lang="en-US" sz="1400" dirty="0">
                <a:hlinkClick r:id="rId11"/>
              </a:rPr>
              <a:t>CLI tools</a:t>
            </a:r>
            <a:r>
              <a:rPr lang="en-US" sz="1400" dirty="0"/>
              <a:t> (Command-line interface) for development and continuous-integration.</a:t>
            </a:r>
          </a:p>
          <a:p>
            <a:r>
              <a:rPr lang="en-US" sz="1400" b="1" dirty="0"/>
              <a:t>Flexible Deployment:</a:t>
            </a:r>
            <a:r>
              <a:rPr lang="en-US" sz="1400" dirty="0"/>
              <a:t> .NET Core application can be deployed user-wide or system-wide or with </a:t>
            </a:r>
            <a:r>
              <a:rPr lang="en-US" sz="1400" dirty="0">
                <a:hlinkClick r:id="rId12"/>
              </a:rPr>
              <a:t>Docker Containers</a:t>
            </a:r>
            <a:r>
              <a:rPr lang="en-US" sz="1400" dirty="0"/>
              <a:t>.</a:t>
            </a:r>
          </a:p>
          <a:p>
            <a:r>
              <a:rPr lang="en-US" sz="1400" b="1" dirty="0"/>
              <a:t>Compatibility:</a:t>
            </a:r>
            <a:r>
              <a:rPr lang="en-US" sz="1400" dirty="0"/>
              <a:t> Compatible with .NET Framework and Mono APIs by using </a:t>
            </a:r>
            <a:r>
              <a:rPr lang="en-US" sz="1400" dirty="0">
                <a:hlinkClick r:id="rId13"/>
              </a:rPr>
              <a:t>.NET Standard specification</a:t>
            </a:r>
            <a:r>
              <a:rPr lang="en-US" sz="1400" dirty="0"/>
              <a:t>.</a:t>
            </a:r>
          </a:p>
          <a:p>
            <a:br>
              <a:rPr lang="en-US" sz="1400" dirty="0"/>
            </a:br>
            <a:endParaRPr lang="en-IN" sz="1400" dirty="0"/>
          </a:p>
        </p:txBody>
      </p:sp>
    </p:spTree>
    <p:extLst>
      <p:ext uri="{BB962C8B-B14F-4D97-AF65-F5344CB8AC3E}">
        <p14:creationId xmlns:p14="http://schemas.microsoft.com/office/powerpoint/2010/main" val="42259231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94C48357-3B3D-4336-9165-1D409A118FF6}"/>
              </a:ext>
            </a:extLst>
          </p:cNvPr>
          <p:cNvGraphicFramePr>
            <a:graphicFrameLocks noGrp="1"/>
          </p:cNvGraphicFramePr>
          <p:nvPr>
            <p:ph idx="1"/>
            <p:extLst>
              <p:ext uri="{D42A27DB-BD31-4B8C-83A1-F6EECF244321}">
                <p14:modId xmlns:p14="http://schemas.microsoft.com/office/powerpoint/2010/main" val="1434820595"/>
              </p:ext>
            </p:extLst>
          </p:nvPr>
        </p:nvGraphicFramePr>
        <p:xfrm>
          <a:off x="609600" y="990600"/>
          <a:ext cx="6327650" cy="2103120"/>
        </p:xfrm>
        <a:graphic>
          <a:graphicData uri="http://schemas.openxmlformats.org/drawingml/2006/table">
            <a:tbl>
              <a:tblPr/>
              <a:tblGrid>
                <a:gridCol w="1265530">
                  <a:extLst>
                    <a:ext uri="{9D8B030D-6E8A-4147-A177-3AD203B41FA5}">
                      <a16:colId xmlns:a16="http://schemas.microsoft.com/office/drawing/2014/main" val="3873094832"/>
                    </a:ext>
                  </a:extLst>
                </a:gridCol>
                <a:gridCol w="1265530">
                  <a:extLst>
                    <a:ext uri="{9D8B030D-6E8A-4147-A177-3AD203B41FA5}">
                      <a16:colId xmlns:a16="http://schemas.microsoft.com/office/drawing/2014/main" val="4041917331"/>
                    </a:ext>
                  </a:extLst>
                </a:gridCol>
                <a:gridCol w="1265530">
                  <a:extLst>
                    <a:ext uri="{9D8B030D-6E8A-4147-A177-3AD203B41FA5}">
                      <a16:colId xmlns:a16="http://schemas.microsoft.com/office/drawing/2014/main" val="300993394"/>
                    </a:ext>
                  </a:extLst>
                </a:gridCol>
                <a:gridCol w="1265530">
                  <a:extLst>
                    <a:ext uri="{9D8B030D-6E8A-4147-A177-3AD203B41FA5}">
                      <a16:colId xmlns:a16="http://schemas.microsoft.com/office/drawing/2014/main" val="1860155116"/>
                    </a:ext>
                  </a:extLst>
                </a:gridCol>
                <a:gridCol w="1265530">
                  <a:extLst>
                    <a:ext uri="{9D8B030D-6E8A-4147-A177-3AD203B41FA5}">
                      <a16:colId xmlns:a16="http://schemas.microsoft.com/office/drawing/2014/main" val="3461568745"/>
                    </a:ext>
                  </a:extLst>
                </a:gridCol>
              </a:tblGrid>
              <a:tr h="0">
                <a:tc>
                  <a:txBody>
                    <a:bodyPr/>
                    <a:lstStyle/>
                    <a:p>
                      <a:pPr algn="l" fontAlgn="b"/>
                      <a:r>
                        <a:rPr lang="en-IN" b="0">
                          <a:solidFill>
                            <a:srgbClr val="FFFFFF"/>
                          </a:solidFill>
                          <a:effectLst/>
                        </a:rPr>
                        <a:t>Version</a:t>
                      </a:r>
                    </a:p>
                  </a:txBody>
                  <a:tcPr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63A9E0"/>
                    </a:solidFill>
                  </a:tcPr>
                </a:tc>
                <a:tc>
                  <a:txBody>
                    <a:bodyPr/>
                    <a:lstStyle/>
                    <a:p>
                      <a:pPr algn="l" fontAlgn="b"/>
                      <a:r>
                        <a:rPr lang="en-IN" b="0">
                          <a:solidFill>
                            <a:srgbClr val="FFFFFF"/>
                          </a:solidFill>
                          <a:effectLst/>
                        </a:rPr>
                        <a:t>Latest Version</a:t>
                      </a:r>
                    </a:p>
                  </a:txBody>
                  <a:tcPr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63A9E0"/>
                    </a:solidFill>
                  </a:tcPr>
                </a:tc>
                <a:tc>
                  <a:txBody>
                    <a:bodyPr/>
                    <a:lstStyle/>
                    <a:p>
                      <a:pPr algn="l" fontAlgn="b"/>
                      <a:r>
                        <a:rPr lang="en-IN" b="0">
                          <a:solidFill>
                            <a:srgbClr val="FFFFFF"/>
                          </a:solidFill>
                          <a:effectLst/>
                        </a:rPr>
                        <a:t>Visual Studio</a:t>
                      </a:r>
                    </a:p>
                  </a:txBody>
                  <a:tcPr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63A9E0"/>
                    </a:solidFill>
                  </a:tcPr>
                </a:tc>
                <a:tc>
                  <a:txBody>
                    <a:bodyPr/>
                    <a:lstStyle/>
                    <a:p>
                      <a:pPr algn="l" fontAlgn="b"/>
                      <a:r>
                        <a:rPr lang="en-IN" b="0">
                          <a:solidFill>
                            <a:srgbClr val="FFFFFF"/>
                          </a:solidFill>
                          <a:effectLst/>
                        </a:rPr>
                        <a:t>Release Date</a:t>
                      </a:r>
                    </a:p>
                  </a:txBody>
                  <a:tcPr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63A9E0"/>
                    </a:solidFill>
                  </a:tcPr>
                </a:tc>
                <a:tc>
                  <a:txBody>
                    <a:bodyPr/>
                    <a:lstStyle/>
                    <a:p>
                      <a:pPr algn="l" fontAlgn="b"/>
                      <a:r>
                        <a:rPr lang="en-IN" b="0">
                          <a:solidFill>
                            <a:srgbClr val="FFFFFF"/>
                          </a:solidFill>
                          <a:effectLst/>
                        </a:rPr>
                        <a:t>End of Support</a:t>
                      </a:r>
                    </a:p>
                  </a:txBody>
                  <a:tcPr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63A9E0"/>
                    </a:solidFill>
                  </a:tcPr>
                </a:tc>
                <a:extLst>
                  <a:ext uri="{0D108BD9-81ED-4DB2-BD59-A6C34878D82A}">
                    <a16:rowId xmlns:a16="http://schemas.microsoft.com/office/drawing/2014/main" val="111676"/>
                  </a:ext>
                </a:extLst>
              </a:tr>
              <a:tr h="0">
                <a:tc>
                  <a:txBody>
                    <a:bodyPr/>
                    <a:lstStyle/>
                    <a:p>
                      <a:pPr fontAlgn="t"/>
                      <a:r>
                        <a:rPr lang="en-IN" dirty="0">
                          <a:solidFill>
                            <a:srgbClr val="414141"/>
                          </a:solidFill>
                          <a:effectLst/>
                        </a:rPr>
                        <a:t>.NET 5</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a:solidFill>
                            <a:srgbClr val="414141"/>
                          </a:solidFill>
                          <a:effectLst/>
                        </a:rPr>
                        <a:t>Preview 1</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a:solidFill>
                            <a:srgbClr val="414141"/>
                          </a:solidFill>
                          <a:effectLst/>
                        </a:rPr>
                        <a:t>VS 2019</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a:solidFill>
                            <a:srgbClr val="414141"/>
                          </a:solidFill>
                          <a:effectLst/>
                        </a:rPr>
                        <a:t>16th March, 2020</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endParaRPr lang="en-IN" dirty="0">
                        <a:solidFill>
                          <a:srgbClr val="414141"/>
                        </a:solidFill>
                        <a:effectLst/>
                      </a:endParaRP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532134957"/>
                  </a:ext>
                </a:extLst>
              </a:tr>
              <a:tr h="0">
                <a:tc>
                  <a:txBody>
                    <a:bodyPr/>
                    <a:lstStyle/>
                    <a:p>
                      <a:pPr fontAlgn="t"/>
                      <a:r>
                        <a:rPr lang="en-IN">
                          <a:solidFill>
                            <a:srgbClr val="414141"/>
                          </a:solidFill>
                          <a:effectLst/>
                        </a:rPr>
                        <a:t>.NET Core 3.x - latest</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a:solidFill>
                            <a:srgbClr val="414141"/>
                          </a:solidFill>
                          <a:effectLst/>
                        </a:rPr>
                        <a:t>3.1.3</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a:solidFill>
                            <a:srgbClr val="414141"/>
                          </a:solidFill>
                          <a:effectLst/>
                        </a:rPr>
                        <a:t>VS 209</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a:solidFill>
                            <a:srgbClr val="414141"/>
                          </a:solidFill>
                          <a:effectLst/>
                        </a:rPr>
                        <a:t>24th March, 2020</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a:solidFill>
                            <a:srgbClr val="414141"/>
                          </a:solidFill>
                          <a:effectLst/>
                        </a:rPr>
                        <a:t>12th March, 2022</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2818432073"/>
                  </a:ext>
                </a:extLst>
              </a:tr>
              <a:tr h="0">
                <a:tc>
                  <a:txBody>
                    <a:bodyPr/>
                    <a:lstStyle/>
                    <a:p>
                      <a:pPr fontAlgn="t"/>
                      <a:r>
                        <a:rPr lang="en-IN">
                          <a:solidFill>
                            <a:srgbClr val="414141"/>
                          </a:solidFill>
                          <a:effectLst/>
                        </a:rPr>
                        <a:t>.NET Core 2.x</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a:solidFill>
                            <a:srgbClr val="414141"/>
                          </a:solidFill>
                          <a:effectLst/>
                        </a:rPr>
                        <a:t>2.1.17</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a:solidFill>
                            <a:srgbClr val="414141"/>
                          </a:solidFill>
                          <a:effectLst/>
                        </a:rPr>
                        <a:t>VS 2017, 2019</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a:solidFill>
                            <a:srgbClr val="414141"/>
                          </a:solidFill>
                          <a:effectLst/>
                        </a:rPr>
                        <a:t>24th March, 2020</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a:solidFill>
                            <a:srgbClr val="414141"/>
                          </a:solidFill>
                          <a:effectLst/>
                        </a:rPr>
                        <a:t>21st August, 2021</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430077054"/>
                  </a:ext>
                </a:extLst>
              </a:tr>
              <a:tr h="0">
                <a:tc>
                  <a:txBody>
                    <a:bodyPr/>
                    <a:lstStyle/>
                    <a:p>
                      <a:pPr fontAlgn="t"/>
                      <a:r>
                        <a:rPr lang="en-IN">
                          <a:solidFill>
                            <a:srgbClr val="414141"/>
                          </a:solidFill>
                          <a:effectLst/>
                        </a:rPr>
                        <a:t>.NET Core 1.x</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a:solidFill>
                            <a:srgbClr val="414141"/>
                          </a:solidFill>
                          <a:effectLst/>
                        </a:rPr>
                        <a:t>1.1.13</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a:solidFill>
                            <a:srgbClr val="414141"/>
                          </a:solidFill>
                          <a:effectLst/>
                        </a:rPr>
                        <a:t>VS 2017</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a:solidFill>
                            <a:srgbClr val="414141"/>
                          </a:solidFill>
                          <a:effectLst/>
                        </a:rPr>
                        <a:t>14th May, 2019</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dirty="0">
                          <a:solidFill>
                            <a:srgbClr val="414141"/>
                          </a:solidFill>
                          <a:effectLst/>
                        </a:rPr>
                        <a:t>27th May, 2019</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3680316209"/>
                  </a:ext>
                </a:extLst>
              </a:tr>
            </a:tbl>
          </a:graphicData>
        </a:graphic>
      </p:graphicFrame>
      <p:sp>
        <p:nvSpPr>
          <p:cNvPr id="9" name="TextBox 8">
            <a:extLst>
              <a:ext uri="{FF2B5EF4-FFF2-40B4-BE49-F238E27FC236}">
                <a16:creationId xmlns:a16="http://schemas.microsoft.com/office/drawing/2014/main" id="{8ADBFDA8-E9F9-4544-949D-B207245F3A54}"/>
              </a:ext>
            </a:extLst>
          </p:cNvPr>
          <p:cNvSpPr txBox="1"/>
          <p:nvPr/>
        </p:nvSpPr>
        <p:spPr>
          <a:xfrm>
            <a:off x="228600" y="3559076"/>
            <a:ext cx="8153400" cy="1477328"/>
          </a:xfrm>
          <a:prstGeom prst="rect">
            <a:avLst/>
          </a:prstGeom>
          <a:noFill/>
        </p:spPr>
        <p:txBody>
          <a:bodyPr wrap="square">
            <a:spAutoFit/>
          </a:bodyPr>
          <a:lstStyle/>
          <a:p>
            <a:r>
              <a:rPr lang="en-US" dirty="0"/>
              <a:t>Both, .NET 3.1, and .NET Core 2.1 will have long term support.</a:t>
            </a:r>
          </a:p>
          <a:p>
            <a:endParaRPr lang="en-US" dirty="0"/>
          </a:p>
          <a:p>
            <a:r>
              <a:rPr lang="en-US" dirty="0"/>
              <a:t>.NET Core 3.x applications only run on .NET Core Framework.</a:t>
            </a:r>
          </a:p>
          <a:p>
            <a:endParaRPr lang="en-US" dirty="0"/>
          </a:p>
          <a:p>
            <a:r>
              <a:rPr lang="en-US" dirty="0"/>
              <a:t>.NET Core 2.x applications run on .NET Core as well as .NET Framework.</a:t>
            </a:r>
            <a:endParaRPr lang="en-IN" dirty="0"/>
          </a:p>
        </p:txBody>
      </p:sp>
    </p:spTree>
    <p:extLst>
      <p:ext uri="{BB962C8B-B14F-4D97-AF65-F5344CB8AC3E}">
        <p14:creationId xmlns:p14="http://schemas.microsoft.com/office/powerpoint/2010/main" val="3572754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1355544F-704C-4215-971D-5AE009DF6D58}"/>
              </a:ext>
            </a:extLst>
          </p:cNvPr>
          <p:cNvSpPr>
            <a:spLocks noChangeArrowheads="1"/>
          </p:cNvSpPr>
          <p:nvPr/>
        </p:nvSpPr>
        <p:spPr bwMode="auto">
          <a:xfrm>
            <a:off x="762000" y="594658"/>
            <a:ext cx="7848600" cy="269304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181717"/>
                </a:solidFill>
                <a:effectLst/>
                <a:latin typeface="Segoe UI" panose="020B0502040204020203" pitchFamily="34" charset="0"/>
                <a:cs typeface="Segoe UI" panose="020B0502040204020203" pitchFamily="34" charset="0"/>
              </a:rPr>
              <a:t>NET Core Composition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181717"/>
                </a:solidFill>
                <a:effectLst/>
                <a:latin typeface="Verdana" panose="020B0604030504040204" pitchFamily="34" charset="0"/>
              </a:rPr>
              <a:t>The .NET Core Framework composed of the following parts: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rgbClr val="181717"/>
              </a:solidFill>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.NET Core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181717"/>
                </a:solidFill>
                <a:effectLst/>
                <a:latin typeface="Verdana" panose="020B0604030504040204" pitchFamily="34" charset="0"/>
              </a:rPr>
              <a:t>CLI Tools: A set of tooling for development and deployment.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181717"/>
                </a:solidFill>
                <a:effectLst/>
                <a:latin typeface="Verdana" panose="020B0604030504040204" pitchFamily="34" charset="0"/>
              </a:rPr>
              <a:t>Roslyn: Language </a:t>
            </a:r>
            <a:r>
              <a:rPr kumimoji="0" lang="en-US" altLang="en-US" sz="1600" b="0" i="0" u="none" strike="noStrike" cap="none" normalizeH="0" baseline="0" dirty="0" err="1">
                <a:ln>
                  <a:noFill/>
                </a:ln>
                <a:solidFill>
                  <a:srgbClr val="181717"/>
                </a:solidFill>
                <a:effectLst/>
                <a:latin typeface="Verdana" panose="020B0604030504040204" pitchFamily="34" charset="0"/>
              </a:rPr>
              <a:t>cmpiler</a:t>
            </a:r>
            <a:r>
              <a:rPr kumimoji="0" lang="en-US" altLang="en-US" sz="1600" b="0" i="0" u="none" strike="noStrike" cap="none" normalizeH="0" baseline="0" dirty="0">
                <a:ln>
                  <a:noFill/>
                </a:ln>
                <a:solidFill>
                  <a:srgbClr val="181717"/>
                </a:solidFill>
                <a:effectLst/>
                <a:latin typeface="Verdana" panose="020B0604030504040204" pitchFamily="34" charset="0"/>
              </a:rPr>
              <a:t> for C# and Visual Basic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rgbClr val="181717"/>
                </a:solidFill>
                <a:effectLst/>
                <a:latin typeface="Verdana" panose="020B0604030504040204" pitchFamily="34" charset="0"/>
              </a:rPr>
              <a:t>CoreFX</a:t>
            </a:r>
            <a:r>
              <a:rPr kumimoji="0" lang="en-US" altLang="en-US" sz="1600" b="0" i="0" u="none" strike="noStrike" cap="none" normalizeH="0" baseline="0" dirty="0">
                <a:ln>
                  <a:noFill/>
                </a:ln>
                <a:solidFill>
                  <a:srgbClr val="181717"/>
                </a:solidFill>
                <a:effectLst/>
                <a:latin typeface="Verdana" panose="020B0604030504040204" pitchFamily="34" charset="0"/>
              </a:rPr>
              <a:t>: Set of framework libraries.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rgbClr val="181717"/>
                </a:solidFill>
                <a:effectLst/>
                <a:latin typeface="Verdana" panose="020B0604030504040204" pitchFamily="34" charset="0"/>
              </a:rPr>
              <a:t>CoreCLR</a:t>
            </a:r>
            <a:r>
              <a:rPr kumimoji="0" lang="en-US" altLang="en-US" sz="1600" b="0" i="0" u="none" strike="noStrike" cap="none" normalizeH="0" baseline="0" dirty="0">
                <a:ln>
                  <a:noFill/>
                </a:ln>
                <a:solidFill>
                  <a:srgbClr val="181717"/>
                </a:solidFill>
                <a:effectLst/>
                <a:latin typeface="Verdana" panose="020B0604030504040204" pitchFamily="34" charset="0"/>
              </a:rPr>
              <a:t>: A JIT based CLR (Command Language Runtime).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FAF2E8DA-E316-412F-A936-F5B3AFAB467F}"/>
              </a:ext>
            </a:extLst>
          </p:cNvPr>
          <p:cNvPicPr>
            <a:picLocks noChangeAspect="1"/>
          </p:cNvPicPr>
          <p:nvPr/>
        </p:nvPicPr>
        <p:blipFill>
          <a:blip r:embed="rId2"/>
          <a:stretch>
            <a:fillRect/>
          </a:stretch>
        </p:blipFill>
        <p:spPr>
          <a:xfrm>
            <a:off x="5514975" y="3468798"/>
            <a:ext cx="3095625" cy="2794544"/>
          </a:xfrm>
          <a:prstGeom prst="rect">
            <a:avLst/>
          </a:prstGeom>
        </p:spPr>
      </p:pic>
    </p:spTree>
    <p:extLst>
      <p:ext uri="{BB962C8B-B14F-4D97-AF65-F5344CB8AC3E}">
        <p14:creationId xmlns:p14="http://schemas.microsoft.com/office/powerpoint/2010/main" val="3215731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163B00-9237-4B85-9B69-27393D1AFE7C}"/>
              </a:ext>
            </a:extLst>
          </p:cNvPr>
          <p:cNvSpPr>
            <a:spLocks noGrp="1"/>
          </p:cNvSpPr>
          <p:nvPr>
            <p:ph idx="1"/>
          </p:nvPr>
        </p:nvSpPr>
        <p:spPr>
          <a:xfrm>
            <a:off x="152400" y="152400"/>
            <a:ext cx="8763000" cy="6629400"/>
          </a:xfrm>
        </p:spPr>
        <p:txBody>
          <a:bodyPr>
            <a:normAutofit fontScale="70000" lnSpcReduction="20000"/>
          </a:bodyPr>
          <a:lstStyle/>
          <a:p>
            <a:pPr marL="0" indent="0">
              <a:buNone/>
            </a:pPr>
            <a:r>
              <a:rPr lang="en-US" dirty="0"/>
              <a:t>		</a:t>
            </a:r>
          </a:p>
          <a:p>
            <a:pPr marL="0" indent="0">
              <a:buNone/>
            </a:pPr>
            <a:r>
              <a:rPr lang="en-US" dirty="0"/>
              <a:t>		.NET Core can be installed in two ways: By installing Visual Studio 2017/2019 or by installing .		NET Core Runtime or SDK.</a:t>
            </a:r>
          </a:p>
          <a:p>
            <a:pPr marL="0" indent="0">
              <a:buNone/>
            </a:pPr>
            <a:endParaRPr lang="en-US" dirty="0"/>
          </a:p>
          <a:p>
            <a:pPr marL="0" indent="0">
              <a:buNone/>
            </a:pPr>
            <a:r>
              <a:rPr lang="en-US" dirty="0"/>
              <a:t>.NET Core installer already contains ASP.NET Core libraries, so there is no separate installer for ASP.NET Core.</a:t>
            </a:r>
          </a:p>
          <a:p>
            <a:pPr marL="0" indent="0">
              <a:buNone/>
            </a:pPr>
            <a:endParaRPr lang="en-US" dirty="0"/>
          </a:p>
          <a:p>
            <a:pPr marL="0" indent="0">
              <a:buNone/>
            </a:pPr>
            <a:r>
              <a:rPr lang="en-US" dirty="0"/>
              <a:t>Install Visual Studio</a:t>
            </a:r>
          </a:p>
          <a:p>
            <a:pPr marL="0" indent="0">
              <a:buNone/>
            </a:pPr>
            <a:r>
              <a:rPr lang="en-US" dirty="0"/>
              <a:t>Currently, .NET Core 2.1 and .NET Core 3.1 is having long term support. Visual Studio 2017 supports .NET Core 2.1, whereas Visual Studio 2019 supports both the versions.</a:t>
            </a:r>
          </a:p>
          <a:p>
            <a:pPr marL="0" indent="0">
              <a:buNone/>
            </a:pPr>
            <a:endParaRPr lang="en-US" dirty="0"/>
          </a:p>
          <a:p>
            <a:pPr marL="0" indent="0">
              <a:buNone/>
            </a:pPr>
            <a:r>
              <a:rPr lang="en-US" dirty="0"/>
              <a:t>You can use your favorite IDE, such as Visual Studio, Visual Studio Code, Sublime Text, etc. to develop, restore, build, and run .NET Core application. Here, we will use Visual Studio 2019.</a:t>
            </a:r>
          </a:p>
          <a:p>
            <a:pPr marL="0" indent="0">
              <a:buNone/>
            </a:pPr>
            <a:endParaRPr lang="en-US" dirty="0"/>
          </a:p>
          <a:p>
            <a:pPr marL="0" indent="0">
              <a:buNone/>
            </a:pPr>
            <a:r>
              <a:rPr lang="en-US" dirty="0"/>
              <a:t>If you </a:t>
            </a:r>
            <a:r>
              <a:rPr lang="en-US" dirty="0" err="1"/>
              <a:t>dont</a:t>
            </a:r>
            <a:r>
              <a:rPr lang="en-US" dirty="0"/>
              <a:t> have Visual Studio on your development PC, then it is recommended to install the latest Visual Studio 2019. If you already have either Visual Studio 2017 or 2019, then you already have installed .NET Core 2.1.</a:t>
            </a:r>
          </a:p>
          <a:p>
            <a:pPr marL="0" indent="0">
              <a:buNone/>
            </a:pPr>
            <a:endParaRPr lang="en-US" dirty="0"/>
          </a:p>
          <a:p>
            <a:pPr marL="0" indent="0">
              <a:buNone/>
            </a:pPr>
            <a:r>
              <a:rPr lang="en-US" dirty="0"/>
              <a:t>Download and install Visual Studio 2019 based on your OS from here. Select the appropriate edition as per your license. The community edition is free for students, open-source contributors, and individuals.</a:t>
            </a:r>
          </a:p>
          <a:p>
            <a:pPr marL="0" indent="0">
              <a:buNone/>
            </a:pPr>
            <a:endParaRPr lang="en-US" dirty="0"/>
          </a:p>
          <a:p>
            <a:pPr marL="0" indent="0">
              <a:buNone/>
            </a:pPr>
            <a:r>
              <a:rPr lang="en-US" dirty="0"/>
              <a:t>During installation, select ".NET Core cross-platform development" workload. This will install .NET Core 2.1. However, you need to install .NET Core 3.1 SDK separately.</a:t>
            </a:r>
          </a:p>
          <a:p>
            <a:pPr marL="0" indent="0">
              <a:buNone/>
            </a:pPr>
            <a:r>
              <a:rPr lang="en-US" dirty="0"/>
              <a:t>Once installed, you can verify it by opening a command prompt (or terminal in Mac) and type dotnet --version and press Enter. This will display the installed version and usage information, as shown below.</a:t>
            </a:r>
          </a:p>
          <a:p>
            <a:pPr marL="0" indent="0">
              <a:buNone/>
            </a:pPr>
            <a:endParaRPr lang="en-US" dirty="0"/>
          </a:p>
          <a:p>
            <a:pPr marL="0" indent="0">
              <a:buNone/>
            </a:pPr>
            <a:r>
              <a:rPr lang="en-US" dirty="0"/>
              <a:t>C:\Users\dev&gt;dotnet --version</a:t>
            </a:r>
          </a:p>
          <a:p>
            <a:pPr marL="0" indent="0">
              <a:buNone/>
            </a:pPr>
            <a:r>
              <a:rPr lang="en-US" dirty="0"/>
              <a:t>2.1.805</a:t>
            </a:r>
            <a:endParaRPr lang="en-IN" dirty="0"/>
          </a:p>
        </p:txBody>
      </p:sp>
    </p:spTree>
    <p:extLst>
      <p:ext uri="{BB962C8B-B14F-4D97-AF65-F5344CB8AC3E}">
        <p14:creationId xmlns:p14="http://schemas.microsoft.com/office/powerpoint/2010/main" val="2270033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17EF6-9F6A-4610-8509-DCA23F2E6721}"/>
              </a:ext>
            </a:extLst>
          </p:cNvPr>
          <p:cNvSpPr>
            <a:spLocks noGrp="1"/>
          </p:cNvSpPr>
          <p:nvPr>
            <p:ph type="title"/>
          </p:nvPr>
        </p:nvSpPr>
        <p:spPr>
          <a:xfrm>
            <a:off x="1143000" y="365127"/>
            <a:ext cx="7372350" cy="396874"/>
          </a:xfrm>
        </p:spPr>
        <p:txBody>
          <a:bodyPr>
            <a:normAutofit fontScale="90000"/>
          </a:bodyPr>
          <a:lstStyle/>
          <a:p>
            <a:r>
              <a:rPr lang="en-IN" dirty="0"/>
              <a:t>Software Required</a:t>
            </a:r>
          </a:p>
        </p:txBody>
      </p:sp>
      <p:sp>
        <p:nvSpPr>
          <p:cNvPr id="3" name="Content Placeholder 2">
            <a:extLst>
              <a:ext uri="{FF2B5EF4-FFF2-40B4-BE49-F238E27FC236}">
                <a16:creationId xmlns:a16="http://schemas.microsoft.com/office/drawing/2014/main" id="{D3604A01-2CC3-4E3D-8A03-FD36FBA583C8}"/>
              </a:ext>
            </a:extLst>
          </p:cNvPr>
          <p:cNvSpPr>
            <a:spLocks noGrp="1"/>
          </p:cNvSpPr>
          <p:nvPr>
            <p:ph idx="1"/>
          </p:nvPr>
        </p:nvSpPr>
        <p:spPr>
          <a:xfrm>
            <a:off x="304800" y="990600"/>
            <a:ext cx="8210550" cy="5186363"/>
          </a:xfrm>
        </p:spPr>
        <p:txBody>
          <a:bodyPr>
            <a:normAutofit fontScale="92500" lnSpcReduction="10000"/>
          </a:bodyPr>
          <a:lstStyle/>
          <a:p>
            <a:pPr marL="0" indent="0" algn="l">
              <a:buNone/>
            </a:pPr>
            <a:r>
              <a:rPr lang="en-US" i="0" dirty="0">
                <a:solidFill>
                  <a:srgbClr val="333333"/>
                </a:solidFill>
                <a:effectLst/>
                <a:latin typeface="arial" panose="020B0604020202020204" pitchFamily="34" charset="0"/>
              </a:rPr>
              <a:t>There are 2 software that we need to install for </a:t>
            </a:r>
            <a:r>
              <a:rPr lang="en-US" i="0" dirty="0" err="1">
                <a:solidFill>
                  <a:srgbClr val="333333"/>
                </a:solidFill>
                <a:effectLst/>
                <a:latin typeface="arial" panose="020B0604020202020204" pitchFamily="34" charset="0"/>
              </a:rPr>
              <a:t>.net</a:t>
            </a:r>
            <a:r>
              <a:rPr lang="en-US" i="0" dirty="0">
                <a:solidFill>
                  <a:srgbClr val="333333"/>
                </a:solidFill>
                <a:effectLst/>
                <a:latin typeface="arial" panose="020B0604020202020204" pitchFamily="34" charset="0"/>
              </a:rPr>
              <a:t> core application development.</a:t>
            </a:r>
            <a:br>
              <a:rPr lang="en-US" dirty="0"/>
            </a:br>
            <a:endParaRPr lang="en-US" dirty="0">
              <a:solidFill>
                <a:srgbClr val="333333"/>
              </a:solidFill>
              <a:latin typeface="arial" panose="020B0604020202020204" pitchFamily="34" charset="0"/>
            </a:endParaRPr>
          </a:p>
          <a:p>
            <a:pPr marL="0" indent="0" algn="l">
              <a:buNone/>
            </a:pPr>
            <a:r>
              <a:rPr lang="en-US" i="0" dirty="0">
                <a:solidFill>
                  <a:srgbClr val="333333"/>
                </a:solidFill>
                <a:effectLst/>
                <a:latin typeface="arial" panose="020B0604020202020204" pitchFamily="34" charset="0"/>
              </a:rPr>
              <a:t> Editor</a:t>
            </a:r>
            <a:endParaRPr lang="en-US" i="0" dirty="0">
              <a:solidFill>
                <a:srgbClr val="333333"/>
              </a:solidFill>
              <a:effectLst/>
              <a:latin typeface="Arial" panose="020B0604020202020204" pitchFamily="34" charset="0"/>
            </a:endParaRPr>
          </a:p>
          <a:p>
            <a:pPr marL="0" indent="0" algn="l">
              <a:buNone/>
            </a:pPr>
            <a:r>
              <a:rPr lang="en-US" i="0" dirty="0">
                <a:solidFill>
                  <a:srgbClr val="333333"/>
                </a:solidFill>
                <a:effectLst/>
                <a:latin typeface="arial" panose="020B0604020202020204" pitchFamily="34" charset="0"/>
              </a:rPr>
              <a:t>.NET Core SDK (Software Development Kit)</a:t>
            </a:r>
            <a:endParaRPr lang="en-US" i="0" dirty="0">
              <a:solidFill>
                <a:srgbClr val="333333"/>
              </a:solidFill>
              <a:effectLst/>
              <a:latin typeface="Arial" panose="020B0604020202020204" pitchFamily="34" charset="0"/>
            </a:endParaRPr>
          </a:p>
          <a:p>
            <a:pPr marL="0" indent="0">
              <a:buNone/>
            </a:pPr>
            <a:endParaRPr lang="en-IN" dirty="0"/>
          </a:p>
          <a:p>
            <a:pPr algn="l">
              <a:buFont typeface="Arial" panose="020B0604020202020204" pitchFamily="34" charset="0"/>
              <a:buChar char="•"/>
            </a:pPr>
            <a:r>
              <a:rPr lang="en-US" b="1" i="0" dirty="0">
                <a:solidFill>
                  <a:srgbClr val="333333"/>
                </a:solidFill>
                <a:effectLst/>
                <a:latin typeface="arial" panose="020B0604020202020204" pitchFamily="34" charset="0"/>
              </a:rPr>
              <a:t>Download and install .NET Core SDK </a:t>
            </a:r>
            <a:br>
              <a:rPr lang="en-US" dirty="0"/>
            </a:br>
            <a:r>
              <a:rPr lang="en-US" b="0" i="0" dirty="0">
                <a:solidFill>
                  <a:srgbClr val="333333"/>
                </a:solidFill>
                <a:effectLst/>
                <a:latin typeface="arial" panose="020B0604020202020204" pitchFamily="34" charset="0"/>
              </a:rPr>
              <a:t>Navigate to </a:t>
            </a:r>
            <a:r>
              <a:rPr lang="en-US" b="0" i="0" u="none" strike="noStrike" dirty="0">
                <a:solidFill>
                  <a:srgbClr val="992211"/>
                </a:solidFill>
                <a:effectLst/>
                <a:latin typeface="arial" panose="020B0604020202020204" pitchFamily="34" charset="0"/>
                <a:hlinkClick r:id="rId2"/>
              </a:rPr>
              <a:t>https://dotnet.microsoft.com/download</a:t>
            </a:r>
            <a:endParaRPr lang="en-US" b="0" i="0" dirty="0">
              <a:solidFill>
                <a:srgbClr val="333333"/>
              </a:solidFill>
              <a:effectLst/>
              <a:latin typeface="Arial" panose="020B0604020202020204" pitchFamily="34" charset="0"/>
            </a:endParaRPr>
          </a:p>
          <a:p>
            <a:pPr algn="l">
              <a:buFont typeface="Arial" panose="020B0604020202020204" pitchFamily="34" charset="0"/>
              <a:buChar char="•"/>
            </a:pPr>
            <a:r>
              <a:rPr lang="en-US" b="0" i="0" dirty="0">
                <a:solidFill>
                  <a:srgbClr val="333333"/>
                </a:solidFill>
                <a:effectLst/>
                <a:latin typeface="arial" panose="020B0604020202020204" pitchFamily="34" charset="0"/>
              </a:rPr>
              <a:t>Depending on the operating system you have, download and install the SDK.</a:t>
            </a:r>
            <a:endParaRPr lang="en-US" b="0" i="0" dirty="0">
              <a:solidFill>
                <a:srgbClr val="333333"/>
              </a:solidFill>
              <a:effectLst/>
              <a:latin typeface="Arial" panose="020B0604020202020204" pitchFamily="34" charset="0"/>
            </a:endParaRPr>
          </a:p>
          <a:p>
            <a:pPr algn="l">
              <a:buFont typeface="Arial" panose="020B0604020202020204" pitchFamily="34" charset="0"/>
              <a:buChar char="•"/>
            </a:pPr>
            <a:r>
              <a:rPr lang="en-US" b="0" i="0" dirty="0">
                <a:solidFill>
                  <a:srgbClr val="333333"/>
                </a:solidFill>
                <a:effectLst/>
                <a:latin typeface="arial" panose="020B0604020202020204" pitchFamily="34" charset="0"/>
              </a:rPr>
              <a:t>The SDK includes everything you need to build and run .NET core applications.</a:t>
            </a:r>
            <a:endParaRPr lang="en-US" b="0" i="0" dirty="0">
              <a:solidFill>
                <a:srgbClr val="333333"/>
              </a:solidFill>
              <a:effectLst/>
              <a:latin typeface="Arial" panose="020B0604020202020204" pitchFamily="34" charset="0"/>
            </a:endParaRPr>
          </a:p>
          <a:p>
            <a:pPr algn="l">
              <a:buFont typeface="Arial" panose="020B0604020202020204" pitchFamily="34" charset="0"/>
              <a:buChar char="•"/>
            </a:pPr>
            <a:r>
              <a:rPr lang="en-US" b="0" i="0" dirty="0">
                <a:solidFill>
                  <a:srgbClr val="333333"/>
                </a:solidFill>
                <a:effectLst/>
                <a:latin typeface="arial" panose="020B0604020202020204" pitchFamily="34" charset="0"/>
              </a:rPr>
              <a:t>The </a:t>
            </a:r>
            <a:r>
              <a:rPr lang="en-US" b="0" i="0" dirty="0">
                <a:solidFill>
                  <a:srgbClr val="0000FF"/>
                </a:solidFill>
                <a:effectLst/>
                <a:latin typeface="arial" panose="020B0604020202020204" pitchFamily="34" charset="0"/>
              </a:rPr>
              <a:t>.NET Core Runtime</a:t>
            </a:r>
            <a:r>
              <a:rPr lang="en-US" b="0" i="0" dirty="0">
                <a:solidFill>
                  <a:srgbClr val="333333"/>
                </a:solidFill>
                <a:effectLst/>
                <a:latin typeface="arial" panose="020B0604020202020204" pitchFamily="34" charset="0"/>
              </a:rPr>
              <a:t> is already included in the SDK. So, if you have installed the SDK, there is no need to install </a:t>
            </a:r>
            <a:r>
              <a:rPr lang="en-US" b="0" i="0" dirty="0">
                <a:solidFill>
                  <a:srgbClr val="0000FF"/>
                </a:solidFill>
                <a:effectLst/>
                <a:latin typeface="arial" panose="020B0604020202020204" pitchFamily="34" charset="0"/>
              </a:rPr>
              <a:t>.NET Core Runtime </a:t>
            </a:r>
            <a:endParaRPr lang="en-US" b="0" i="0" dirty="0">
              <a:solidFill>
                <a:srgbClr val="333333"/>
              </a:solidFill>
              <a:effectLst/>
              <a:latin typeface="Arial" panose="020B0604020202020204" pitchFamily="34" charset="0"/>
            </a:endParaRPr>
          </a:p>
          <a:p>
            <a:pPr algn="l">
              <a:buFont typeface="Arial" panose="020B0604020202020204" pitchFamily="34" charset="0"/>
              <a:buChar char="•"/>
            </a:pPr>
            <a:r>
              <a:rPr lang="en-US" b="0" i="0" dirty="0">
                <a:solidFill>
                  <a:srgbClr val="333333"/>
                </a:solidFill>
                <a:effectLst/>
                <a:latin typeface="arial" panose="020B0604020202020204" pitchFamily="34" charset="0"/>
              </a:rPr>
              <a:t>The .NET Core Runtime includes just the resources required to run existing .NET Core applications.</a:t>
            </a:r>
            <a:endParaRPr lang="en-US" b="0" i="0" dirty="0">
              <a:solidFill>
                <a:srgbClr val="333333"/>
              </a:solidFill>
              <a:effectLst/>
              <a:latin typeface="Arial" panose="020B0604020202020204" pitchFamily="34" charset="0"/>
            </a:endParaRPr>
          </a:p>
          <a:p>
            <a:br>
              <a:rPr lang="en-US" b="0" i="0" dirty="0">
                <a:solidFill>
                  <a:srgbClr val="333333"/>
                </a:solidFill>
                <a:effectLst/>
                <a:latin typeface="arial" panose="020B0604020202020204" pitchFamily="34" charset="0"/>
              </a:rPr>
            </a:br>
            <a:endParaRPr lang="en-IN" dirty="0"/>
          </a:p>
        </p:txBody>
      </p:sp>
    </p:spTree>
    <p:extLst>
      <p:ext uri="{BB962C8B-B14F-4D97-AF65-F5344CB8AC3E}">
        <p14:creationId xmlns:p14="http://schemas.microsoft.com/office/powerpoint/2010/main" val="3471240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3E9E99-AB61-48C4-A9A2-89D3F6B689A3}"/>
              </a:ext>
            </a:extLst>
          </p:cNvPr>
          <p:cNvSpPr>
            <a:spLocks noGrp="1"/>
          </p:cNvSpPr>
          <p:nvPr>
            <p:ph idx="1"/>
          </p:nvPr>
        </p:nvSpPr>
        <p:spPr>
          <a:xfrm>
            <a:off x="304800" y="838200"/>
            <a:ext cx="8210550" cy="5338763"/>
          </a:xfrm>
        </p:spPr>
        <p:txBody>
          <a:bodyPr>
            <a:normAutofit fontScale="92500" lnSpcReduction="10000"/>
          </a:bodyPr>
          <a:lstStyle/>
          <a:p>
            <a:pPr algn="just"/>
            <a:r>
              <a:rPr lang="en-US" dirty="0"/>
              <a:t>Install .NET Core 3.x</a:t>
            </a:r>
          </a:p>
          <a:p>
            <a:pPr algn="just"/>
            <a:r>
              <a:rPr lang="en-US" dirty="0"/>
              <a:t>As you have seen, Visual Studio 2019 installer includes .NET Core 2.1 but not .NET Core 3.x. You need to install it separately.</a:t>
            </a:r>
          </a:p>
          <a:p>
            <a:pPr algn="just"/>
            <a:r>
              <a:rPr lang="en-US" dirty="0"/>
              <a:t>To download the latest version of .NET Core, go to </a:t>
            </a:r>
            <a:r>
              <a:rPr lang="en-US" dirty="0">
                <a:hlinkClick r:id="rId2">
                  <a:extLst>
                    <a:ext uri="{A12FA001-AC4F-418D-AE19-62706E023703}">
                      <ahyp:hlinkClr xmlns:ahyp="http://schemas.microsoft.com/office/drawing/2018/hyperlinkcolor" val="tx"/>
                    </a:ext>
                  </a:extLst>
                </a:hlinkClick>
              </a:rPr>
              <a:t>https://dotnet.microsoft.com/download</a:t>
            </a:r>
            <a:r>
              <a:rPr lang="en-US" dirty="0"/>
              <a:t> and select the platform you are using.</a:t>
            </a:r>
          </a:p>
          <a:p>
            <a:pPr marL="0" indent="0">
              <a:buNone/>
            </a:pPr>
            <a:r>
              <a:rPr lang="en-US" dirty="0"/>
              <a:t>As you can see above, .NET Core Runtime and .NET Core SDK are different things. .NET Core Runtime is only used to run .NET Core application, whereas .NET Core SDK includes tools and libraries to develop .NET Core applications. To set up a development environment, we need to install .NET Core SDK for the platform we use for development such as Windows, Linux, or Mac. Here we will install .NET Core SDK because we are preparing a development environment for building .NET Core applications. If you are aiming to run .NET Core application, then install .NET Core Runtime on your server or cloud or client desktop.</a:t>
            </a:r>
          </a:p>
          <a:p>
            <a:pPr marL="0" indent="0">
              <a:buNone/>
            </a:pPr>
            <a:endParaRPr lang="en-US" dirty="0"/>
          </a:p>
          <a:p>
            <a:pPr marL="0" indent="0">
              <a:buNone/>
            </a:pPr>
            <a:r>
              <a:rPr lang="en-US" dirty="0"/>
              <a:t>Click on the Download .NET Core SDK button to download the latest version of .NET Core SDK installer. It will download .NET Core 3.1 SDK as of this writing.</a:t>
            </a:r>
          </a:p>
          <a:p>
            <a:pPr marL="0" indent="0">
              <a:buNone/>
            </a:pPr>
            <a:endParaRPr lang="en-US" dirty="0"/>
          </a:p>
          <a:p>
            <a:pPr marL="0" indent="0">
              <a:buNone/>
            </a:pPr>
            <a:r>
              <a:rPr lang="en-US" dirty="0"/>
              <a:t>After downloading the installer, click on it to start the installation.</a:t>
            </a:r>
            <a:endParaRPr lang="en-IN" dirty="0"/>
          </a:p>
        </p:txBody>
      </p:sp>
    </p:spTree>
    <p:extLst>
      <p:ext uri="{BB962C8B-B14F-4D97-AF65-F5344CB8AC3E}">
        <p14:creationId xmlns:p14="http://schemas.microsoft.com/office/powerpoint/2010/main" val="1921410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EFCE57-1EA2-40B2-928B-3CC4436B17D1}"/>
              </a:ext>
            </a:extLst>
          </p:cNvPr>
          <p:cNvSpPr>
            <a:spLocks noGrp="1"/>
          </p:cNvSpPr>
          <p:nvPr>
            <p:ph idx="1"/>
          </p:nvPr>
        </p:nvSpPr>
        <p:spPr>
          <a:xfrm>
            <a:off x="228600" y="762000"/>
            <a:ext cx="8286750" cy="5414963"/>
          </a:xfrm>
        </p:spPr>
        <p:txBody>
          <a:bodyPr/>
          <a:lstStyle/>
          <a:p>
            <a:pPr marL="0" indent="0">
              <a:buNone/>
            </a:pPr>
            <a:r>
              <a:rPr lang="en-IN" dirty="0"/>
              <a:t>Start new project </a:t>
            </a:r>
          </a:p>
        </p:txBody>
      </p:sp>
      <p:pic>
        <p:nvPicPr>
          <p:cNvPr id="5" name="Picture 4">
            <a:extLst>
              <a:ext uri="{FF2B5EF4-FFF2-40B4-BE49-F238E27FC236}">
                <a16:creationId xmlns:a16="http://schemas.microsoft.com/office/drawing/2014/main" id="{E57C43DE-0B82-408D-B44C-8C18E0CD12B3}"/>
              </a:ext>
            </a:extLst>
          </p:cNvPr>
          <p:cNvPicPr>
            <a:picLocks noChangeAspect="1"/>
          </p:cNvPicPr>
          <p:nvPr/>
        </p:nvPicPr>
        <p:blipFill>
          <a:blip r:embed="rId2"/>
          <a:stretch>
            <a:fillRect/>
          </a:stretch>
        </p:blipFill>
        <p:spPr>
          <a:xfrm>
            <a:off x="0" y="1295400"/>
            <a:ext cx="9144000" cy="5143500"/>
          </a:xfrm>
          <a:prstGeom prst="rect">
            <a:avLst/>
          </a:prstGeom>
        </p:spPr>
      </p:pic>
    </p:spTree>
    <p:extLst>
      <p:ext uri="{BB962C8B-B14F-4D97-AF65-F5344CB8AC3E}">
        <p14:creationId xmlns:p14="http://schemas.microsoft.com/office/powerpoint/2010/main" val="2506018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D7ECA5A-F393-473F-B159-0DEB7E9161E5}"/>
              </a:ext>
            </a:extLst>
          </p:cNvPr>
          <p:cNvPicPr>
            <a:picLocks noGrp="1" noChangeAspect="1"/>
          </p:cNvPicPr>
          <p:nvPr>
            <p:ph idx="1"/>
          </p:nvPr>
        </p:nvPicPr>
        <p:blipFill>
          <a:blip r:embed="rId2"/>
          <a:stretch>
            <a:fillRect/>
          </a:stretch>
        </p:blipFill>
        <p:spPr>
          <a:xfrm>
            <a:off x="704144" y="1600200"/>
            <a:ext cx="8136468" cy="4576763"/>
          </a:xfrm>
        </p:spPr>
      </p:pic>
    </p:spTree>
    <p:extLst>
      <p:ext uri="{BB962C8B-B14F-4D97-AF65-F5344CB8AC3E}">
        <p14:creationId xmlns:p14="http://schemas.microsoft.com/office/powerpoint/2010/main" val="4813967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292380F-4BCC-4557-97BE-91CD3EF95DAB}"/>
              </a:ext>
            </a:extLst>
          </p:cNvPr>
          <p:cNvPicPr>
            <a:picLocks noGrp="1" noChangeAspect="1"/>
          </p:cNvPicPr>
          <p:nvPr>
            <p:ph idx="1"/>
          </p:nvPr>
        </p:nvPicPr>
        <p:blipFill>
          <a:blip r:embed="rId2"/>
          <a:stretch>
            <a:fillRect/>
          </a:stretch>
        </p:blipFill>
        <p:spPr>
          <a:xfrm>
            <a:off x="628650" y="1251347"/>
            <a:ext cx="7886700" cy="4436268"/>
          </a:xfrm>
        </p:spPr>
      </p:pic>
    </p:spTree>
    <p:extLst>
      <p:ext uri="{BB962C8B-B14F-4D97-AF65-F5344CB8AC3E}">
        <p14:creationId xmlns:p14="http://schemas.microsoft.com/office/powerpoint/2010/main" val="12803305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ABF71-6FA1-4D01-BBD3-03ED5415C231}"/>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0E26347E-C0FA-4D63-8FCA-93611A923F5C}"/>
              </a:ext>
            </a:extLst>
          </p:cNvPr>
          <p:cNvPicPr>
            <a:picLocks noGrp="1" noChangeAspect="1"/>
          </p:cNvPicPr>
          <p:nvPr>
            <p:ph idx="1"/>
          </p:nvPr>
        </p:nvPicPr>
        <p:blipFill>
          <a:blip r:embed="rId2"/>
          <a:stretch>
            <a:fillRect/>
          </a:stretch>
        </p:blipFill>
        <p:spPr>
          <a:xfrm>
            <a:off x="704144" y="1825625"/>
            <a:ext cx="7735712" cy="4351338"/>
          </a:xfrm>
        </p:spPr>
      </p:pic>
    </p:spTree>
    <p:extLst>
      <p:ext uri="{BB962C8B-B14F-4D97-AF65-F5344CB8AC3E}">
        <p14:creationId xmlns:p14="http://schemas.microsoft.com/office/powerpoint/2010/main" val="2812341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2218FB-6842-4F62-BCA0-6D7A252106BA}"/>
              </a:ext>
            </a:extLst>
          </p:cNvPr>
          <p:cNvSpPr>
            <a:spLocks noGrp="1"/>
          </p:cNvSpPr>
          <p:nvPr>
            <p:ph idx="1"/>
          </p:nvPr>
        </p:nvSpPr>
        <p:spPr>
          <a:xfrm>
            <a:off x="152400" y="457200"/>
            <a:ext cx="8534400" cy="6172200"/>
          </a:xfrm>
        </p:spPr>
        <p:txBody>
          <a:bodyPr>
            <a:noAutofit/>
          </a:bodyPr>
          <a:lstStyle/>
          <a:p>
            <a:r>
              <a:rPr lang="en-US" sz="1600" dirty="0"/>
              <a:t>Well, the important point to keep in mind is that, an asp.net core application initially starts as a console application and the Main() method in </a:t>
            </a:r>
            <a:r>
              <a:rPr lang="en-US" sz="1600" dirty="0" err="1"/>
              <a:t>Program.cs</a:t>
            </a:r>
            <a:r>
              <a:rPr lang="en-US" sz="1600" dirty="0"/>
              <a:t> file is the entry point. </a:t>
            </a:r>
          </a:p>
          <a:p>
            <a:r>
              <a:rPr lang="en-US" sz="1600" dirty="0"/>
              <a:t>So, when the runtime executes our application it looks for this Main() method and this where the execution starts.</a:t>
            </a:r>
          </a:p>
          <a:p>
            <a:r>
              <a:rPr lang="en-US" sz="1600" dirty="0"/>
              <a:t>This Main() method configures asp.net core and starts it and at that point it becomes an asp.net core web application.</a:t>
            </a:r>
          </a:p>
          <a:p>
            <a:endParaRPr lang="en-US" sz="1600" dirty="0"/>
          </a:p>
          <a:p>
            <a:r>
              <a:rPr lang="en-US" sz="1600" dirty="0"/>
              <a:t>So, if you take a look at the Main() method, it calls </a:t>
            </a:r>
            <a:r>
              <a:rPr lang="en-US" sz="1600" dirty="0" err="1"/>
              <a:t>CreateWebHostBuilder</a:t>
            </a:r>
            <a:r>
              <a:rPr lang="en-US" sz="1600" dirty="0"/>
              <a:t>() method passing it the command line arguments.</a:t>
            </a:r>
          </a:p>
          <a:p>
            <a:r>
              <a:rPr lang="en-US" sz="1600" dirty="0"/>
              <a:t>As you can see, </a:t>
            </a:r>
            <a:r>
              <a:rPr lang="en-US" sz="1600" dirty="0" err="1"/>
              <a:t>CreateWebHostBuilder</a:t>
            </a:r>
            <a:r>
              <a:rPr lang="en-US" sz="1600" dirty="0"/>
              <a:t>() method returns an object that implements </a:t>
            </a:r>
            <a:r>
              <a:rPr lang="en-US" sz="1600" dirty="0" err="1"/>
              <a:t>IWebHostBuilder</a:t>
            </a:r>
            <a:r>
              <a:rPr lang="en-US" sz="1600" dirty="0"/>
              <a:t>.</a:t>
            </a:r>
          </a:p>
          <a:p>
            <a:r>
              <a:rPr lang="en-US" sz="1600" dirty="0"/>
              <a:t>On this object, Build() method is called which builds a web host that hosts our asp.net core web application.</a:t>
            </a:r>
          </a:p>
          <a:p>
            <a:endParaRPr lang="en-US" sz="1600" dirty="0"/>
          </a:p>
          <a:p>
            <a:r>
              <a:rPr lang="en-US" sz="1600" dirty="0"/>
              <a:t>On the web host Run() method is called, which runs the web application and it begins listening for incoming HTTP requests.</a:t>
            </a:r>
          </a:p>
          <a:p>
            <a:r>
              <a:rPr lang="en-US" sz="1600" dirty="0" err="1"/>
              <a:t>CreateWebHostBuilder</a:t>
            </a:r>
            <a:r>
              <a:rPr lang="en-US" sz="1600" dirty="0"/>
              <a:t>() method calls </a:t>
            </a:r>
            <a:r>
              <a:rPr lang="en-US" sz="1600" dirty="0" err="1"/>
              <a:t>CreateDefaultBuilder</a:t>
            </a:r>
            <a:r>
              <a:rPr lang="en-US" sz="1600" dirty="0"/>
              <a:t>() static method of the </a:t>
            </a:r>
            <a:r>
              <a:rPr lang="en-US" sz="1600" dirty="0" err="1"/>
              <a:t>WebHost</a:t>
            </a:r>
            <a:r>
              <a:rPr lang="en-US" sz="1600" dirty="0"/>
              <a:t> class.</a:t>
            </a:r>
          </a:p>
          <a:p>
            <a:r>
              <a:rPr lang="en-US" sz="1600" dirty="0" err="1"/>
              <a:t>CreateDefaultBuilder</a:t>
            </a:r>
            <a:r>
              <a:rPr lang="en-US" sz="1600" dirty="0"/>
              <a:t>() method creates a web host with pre-configured defaults. </a:t>
            </a:r>
            <a:r>
              <a:rPr lang="en-US" sz="1600" dirty="0" err="1"/>
              <a:t>CreateDefaultBuilder</a:t>
            </a:r>
            <a:r>
              <a:rPr lang="en-US" sz="1600" dirty="0"/>
              <a:t>() method does several things to create a web host. We will discuss all that the </a:t>
            </a:r>
            <a:r>
              <a:rPr lang="en-US" sz="1600" dirty="0" err="1"/>
              <a:t>CreateDefaultBuilder</a:t>
            </a:r>
            <a:r>
              <a:rPr lang="en-US" sz="1600" dirty="0"/>
              <a:t>() method does in detail in our next video. For now, just understand that the </a:t>
            </a:r>
            <a:r>
              <a:rPr lang="en-US" sz="1600" dirty="0" err="1"/>
              <a:t>CreateDefaultBuilder</a:t>
            </a:r>
            <a:r>
              <a:rPr lang="en-US" sz="1600" dirty="0"/>
              <a:t>() method sets up a web host with certain defaults.</a:t>
            </a:r>
          </a:p>
          <a:p>
            <a:r>
              <a:rPr lang="en-US" sz="1600" dirty="0"/>
              <a:t>As part of setting up a web host, Startup class is also configured using the </a:t>
            </a:r>
            <a:r>
              <a:rPr lang="en-US" sz="1600" dirty="0" err="1"/>
              <a:t>UseStartup</a:t>
            </a:r>
            <a:r>
              <a:rPr lang="en-US" sz="1600" dirty="0"/>
              <a:t>() extension method of </a:t>
            </a:r>
            <a:r>
              <a:rPr lang="en-US" sz="1600" dirty="0" err="1"/>
              <a:t>IWebHostBuilder</a:t>
            </a:r>
            <a:r>
              <a:rPr lang="en-US" sz="1600" dirty="0"/>
              <a:t> class. If you are new to the concept of extension methods, please check out the following video.</a:t>
            </a:r>
            <a:endParaRPr lang="en-IN" sz="1600" dirty="0"/>
          </a:p>
        </p:txBody>
      </p:sp>
    </p:spTree>
    <p:extLst>
      <p:ext uri="{BB962C8B-B14F-4D97-AF65-F5344CB8AC3E}">
        <p14:creationId xmlns:p14="http://schemas.microsoft.com/office/powerpoint/2010/main" val="36349554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DD2DBE-6487-4B39-8152-085D14A7AFFE}"/>
              </a:ext>
            </a:extLst>
          </p:cNvPr>
          <p:cNvSpPr>
            <a:spLocks noGrp="1"/>
          </p:cNvSpPr>
          <p:nvPr>
            <p:ph idx="1"/>
          </p:nvPr>
        </p:nvSpPr>
        <p:spPr>
          <a:xfrm>
            <a:off x="1991032" y="0"/>
            <a:ext cx="7162800" cy="6681019"/>
          </a:xfrm>
        </p:spPr>
        <p:txBody>
          <a:bodyPr>
            <a:noAutofit/>
          </a:bodyPr>
          <a:lstStyle/>
          <a:p>
            <a:pPr marL="0" indent="0">
              <a:buNone/>
            </a:pPr>
            <a:r>
              <a:rPr lang="en-IN" sz="1200" dirty="0">
                <a:solidFill>
                  <a:srgbClr val="0000FF"/>
                </a:solidFill>
                <a:latin typeface="Consolas" panose="020B0609020204030204" pitchFamily="49" charset="0"/>
              </a:rPr>
              <a:t>using</a:t>
            </a:r>
            <a:r>
              <a:rPr lang="en-IN" sz="1200" dirty="0">
                <a:solidFill>
                  <a:srgbClr val="000000"/>
                </a:solidFill>
                <a:latin typeface="Consolas" panose="020B0609020204030204" pitchFamily="49" charset="0"/>
              </a:rPr>
              <a:t> System;</a:t>
            </a:r>
          </a:p>
          <a:p>
            <a:pPr marL="0" indent="0">
              <a:buNone/>
            </a:pPr>
            <a:r>
              <a:rPr lang="en-IN" sz="1200" dirty="0">
                <a:solidFill>
                  <a:srgbClr val="0000FF"/>
                </a:solidFill>
                <a:latin typeface="Consolas" panose="020B0609020204030204" pitchFamily="49" charset="0"/>
              </a:rPr>
              <a:t>using</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System.Collections.Generic</a:t>
            </a:r>
            <a:r>
              <a:rPr lang="en-IN" sz="1200" dirty="0">
                <a:solidFill>
                  <a:srgbClr val="000000"/>
                </a:solidFill>
                <a:latin typeface="Consolas" panose="020B0609020204030204" pitchFamily="49" charset="0"/>
              </a:rPr>
              <a:t>;</a:t>
            </a:r>
          </a:p>
          <a:p>
            <a:pPr marL="0" indent="0">
              <a:buNone/>
            </a:pPr>
            <a:r>
              <a:rPr lang="en-IN" sz="1200" dirty="0">
                <a:solidFill>
                  <a:srgbClr val="0000FF"/>
                </a:solidFill>
                <a:latin typeface="Consolas" panose="020B0609020204030204" pitchFamily="49" charset="0"/>
              </a:rPr>
              <a:t>using</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System.Linq</a:t>
            </a:r>
            <a:r>
              <a:rPr lang="en-IN" sz="1200" dirty="0">
                <a:solidFill>
                  <a:srgbClr val="000000"/>
                </a:solidFill>
                <a:latin typeface="Consolas" panose="020B0609020204030204" pitchFamily="49" charset="0"/>
              </a:rPr>
              <a:t>;</a:t>
            </a:r>
          </a:p>
          <a:p>
            <a:pPr marL="0" indent="0">
              <a:buNone/>
            </a:pPr>
            <a:r>
              <a:rPr lang="en-IN" sz="1200" dirty="0">
                <a:solidFill>
                  <a:srgbClr val="0000FF"/>
                </a:solidFill>
                <a:latin typeface="Consolas" panose="020B0609020204030204" pitchFamily="49" charset="0"/>
              </a:rPr>
              <a:t>using</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Microsoft.AspNetCore.Mvc</a:t>
            </a:r>
            <a:r>
              <a:rPr lang="en-IN" sz="1200" dirty="0">
                <a:solidFill>
                  <a:srgbClr val="000000"/>
                </a:solidFill>
                <a:latin typeface="Consolas" panose="020B0609020204030204" pitchFamily="49" charset="0"/>
              </a:rPr>
              <a:t>;</a:t>
            </a:r>
          </a:p>
          <a:p>
            <a:pPr marL="0" indent="0">
              <a:buNone/>
            </a:pPr>
            <a:r>
              <a:rPr lang="en-IN" sz="1200" dirty="0">
                <a:solidFill>
                  <a:srgbClr val="0000FF"/>
                </a:solidFill>
                <a:latin typeface="Consolas" panose="020B0609020204030204" pitchFamily="49" charset="0"/>
              </a:rPr>
              <a:t>using</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Microsoft.Extensions.Logging</a:t>
            </a:r>
            <a:r>
              <a:rPr lang="en-IN" sz="1200" dirty="0">
                <a:solidFill>
                  <a:srgbClr val="000000"/>
                </a:solidFill>
                <a:latin typeface="Consolas" panose="020B0609020204030204" pitchFamily="49" charset="0"/>
              </a:rPr>
              <a:t>;</a:t>
            </a:r>
          </a:p>
          <a:p>
            <a:pPr marL="0" indent="0">
              <a:buNone/>
            </a:pPr>
            <a:r>
              <a:rPr lang="en-IN" sz="1200" dirty="0">
                <a:solidFill>
                  <a:srgbClr val="0000FF"/>
                </a:solidFill>
                <a:latin typeface="Consolas" panose="020B0609020204030204" pitchFamily="49" charset="0"/>
              </a:rPr>
              <a:t>namespace</a:t>
            </a:r>
            <a:r>
              <a:rPr lang="en-IN" sz="1200" dirty="0">
                <a:solidFill>
                  <a:srgbClr val="000000"/>
                </a:solidFill>
                <a:latin typeface="Consolas" panose="020B0609020204030204" pitchFamily="49" charset="0"/>
              </a:rPr>
              <a:t> WebApplication2.Controllers</a:t>
            </a:r>
          </a:p>
          <a:p>
            <a:pPr marL="0" indent="0">
              <a:buNone/>
            </a:pPr>
            <a:r>
              <a:rPr lang="en-IN" sz="1200" dirty="0">
                <a:solidFill>
                  <a:srgbClr val="000000"/>
                </a:solidFill>
                <a:latin typeface="Consolas" panose="020B0609020204030204" pitchFamily="49" charset="0"/>
              </a:rPr>
              <a:t>{</a:t>
            </a:r>
          </a:p>
          <a:p>
            <a:pPr marL="0" indent="0">
              <a:buNone/>
            </a:pP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ApiController</a:t>
            </a:r>
            <a:r>
              <a:rPr lang="en-IN" sz="1200" dirty="0">
                <a:solidFill>
                  <a:srgbClr val="000000"/>
                </a:solidFill>
                <a:latin typeface="Consolas" panose="020B0609020204030204" pitchFamily="49" charset="0"/>
              </a:rPr>
              <a:t>]</a:t>
            </a:r>
          </a:p>
          <a:p>
            <a:pPr marL="0" indent="0">
              <a:buNone/>
            </a:pPr>
            <a:r>
              <a:rPr lang="en-IN" sz="1200" dirty="0">
                <a:solidFill>
                  <a:srgbClr val="000000"/>
                </a:solidFill>
                <a:latin typeface="Consolas" panose="020B0609020204030204" pitchFamily="49" charset="0"/>
              </a:rPr>
              <a:t>    [Route(</a:t>
            </a:r>
            <a:r>
              <a:rPr lang="en-IN" sz="1200" dirty="0">
                <a:solidFill>
                  <a:srgbClr val="A31515"/>
                </a:solidFill>
                <a:latin typeface="Consolas" panose="020B0609020204030204" pitchFamily="49" charset="0"/>
              </a:rPr>
              <a:t>"[controller]"</a:t>
            </a:r>
            <a:r>
              <a:rPr lang="en-IN" sz="1200" dirty="0">
                <a:solidFill>
                  <a:srgbClr val="000000"/>
                </a:solidFill>
                <a:latin typeface="Consolas" panose="020B0609020204030204" pitchFamily="49" charset="0"/>
              </a:rPr>
              <a:t>)]</a:t>
            </a:r>
          </a:p>
          <a:p>
            <a:pPr marL="0" indent="0">
              <a:buNone/>
            </a:pPr>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public</a:t>
            </a:r>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class</a:t>
            </a:r>
            <a:r>
              <a:rPr lang="en-IN" sz="1200" dirty="0">
                <a:solidFill>
                  <a:srgbClr val="000000"/>
                </a:solidFill>
                <a:latin typeface="Consolas" panose="020B0609020204030204" pitchFamily="49" charset="0"/>
              </a:rPr>
              <a:t> </a:t>
            </a:r>
            <a:r>
              <a:rPr lang="en-IN" sz="1200" dirty="0" err="1">
                <a:solidFill>
                  <a:srgbClr val="2B91AF"/>
                </a:solidFill>
                <a:latin typeface="Consolas" panose="020B0609020204030204" pitchFamily="49" charset="0"/>
              </a:rPr>
              <a:t>WeatherForecastController</a:t>
            </a:r>
            <a:r>
              <a:rPr lang="en-IN" sz="1200" dirty="0">
                <a:solidFill>
                  <a:srgbClr val="000000"/>
                </a:solidFill>
                <a:latin typeface="Consolas" panose="020B0609020204030204" pitchFamily="49" charset="0"/>
              </a:rPr>
              <a:t> : </a:t>
            </a:r>
            <a:r>
              <a:rPr lang="en-IN" sz="1200" dirty="0" err="1">
                <a:solidFill>
                  <a:srgbClr val="000000"/>
                </a:solidFill>
                <a:latin typeface="Consolas" panose="020B0609020204030204" pitchFamily="49" charset="0"/>
              </a:rPr>
              <a:t>ControllerBase</a:t>
            </a:r>
            <a:endParaRPr lang="en-IN" sz="1200" dirty="0">
              <a:solidFill>
                <a:srgbClr val="000000"/>
              </a:solidFill>
              <a:latin typeface="Consolas" panose="020B0609020204030204" pitchFamily="49" charset="0"/>
            </a:endParaRPr>
          </a:p>
          <a:p>
            <a:pPr marL="0" indent="0">
              <a:buNone/>
            </a:pPr>
            <a:r>
              <a:rPr lang="en-IN" sz="1200" dirty="0">
                <a:solidFill>
                  <a:srgbClr val="000000"/>
                </a:solidFill>
                <a:latin typeface="Consolas" panose="020B0609020204030204" pitchFamily="49" charset="0"/>
              </a:rPr>
              <a:t>    {</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private</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static</a:t>
            </a:r>
            <a:r>
              <a:rPr lang="en-US" sz="1200" dirty="0">
                <a:solidFill>
                  <a:srgbClr val="000000"/>
                </a:solidFill>
                <a:latin typeface="Consolas" panose="020B0609020204030204" pitchFamily="49" charset="0"/>
              </a:rPr>
              <a:t> </a:t>
            </a:r>
            <a:r>
              <a:rPr lang="en-US" sz="1200" dirty="0" err="1">
                <a:solidFill>
                  <a:srgbClr val="0000FF"/>
                </a:solidFill>
                <a:latin typeface="Consolas" panose="020B0609020204030204" pitchFamily="49" charset="0"/>
              </a:rPr>
              <a:t>readonly</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string</a:t>
            </a:r>
            <a:r>
              <a:rPr lang="en-US" sz="1200" dirty="0">
                <a:solidFill>
                  <a:srgbClr val="000000"/>
                </a:solidFill>
                <a:latin typeface="Consolas" panose="020B0609020204030204" pitchFamily="49" charset="0"/>
              </a:rPr>
              <a:t>[] Summaries = </a:t>
            </a:r>
            <a:r>
              <a:rPr lang="en-US" sz="1200" dirty="0">
                <a:solidFill>
                  <a:srgbClr val="0000FF"/>
                </a:solidFill>
                <a:latin typeface="Consolas" panose="020B0609020204030204" pitchFamily="49" charset="0"/>
              </a:rPr>
              <a:t>new</a:t>
            </a:r>
            <a:r>
              <a:rPr lang="en-US" sz="1200" dirty="0">
                <a:solidFill>
                  <a:srgbClr val="000000"/>
                </a:solidFill>
                <a:latin typeface="Consolas" panose="020B0609020204030204" pitchFamily="49" charset="0"/>
              </a:rPr>
              <a:t>[]</a:t>
            </a:r>
          </a:p>
          <a:p>
            <a:pPr marL="0" indent="0">
              <a:buNone/>
            </a:pPr>
            <a:r>
              <a:rPr lang="en-IN" sz="1200" dirty="0">
                <a:solidFill>
                  <a:srgbClr val="000000"/>
                </a:solidFill>
                <a:latin typeface="Consolas" panose="020B0609020204030204" pitchFamily="49" charset="0"/>
              </a:rPr>
              <a:t>        {</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"Freezing"</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"Bracing"</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"Chilly"</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"Cool"</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"Mild"</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"Warm"</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"Balmy"</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"Hot"</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"Sweltering"</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"Scorching"</a:t>
            </a:r>
            <a:endParaRPr lang="en-US" sz="1200" dirty="0">
              <a:solidFill>
                <a:srgbClr val="000000"/>
              </a:solidFill>
              <a:latin typeface="Consolas" panose="020B0609020204030204" pitchFamily="49" charset="0"/>
            </a:endParaRPr>
          </a:p>
          <a:p>
            <a:pPr marL="0" indent="0">
              <a:buNone/>
            </a:pPr>
            <a:r>
              <a:rPr lang="en-IN" sz="1200" dirty="0">
                <a:solidFill>
                  <a:srgbClr val="000000"/>
                </a:solidFill>
                <a:latin typeface="Consolas" panose="020B0609020204030204" pitchFamily="49" charset="0"/>
              </a:rPr>
              <a:t>        };</a:t>
            </a:r>
          </a:p>
          <a:p>
            <a:pPr marL="0" indent="0">
              <a:buNone/>
            </a:pP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private</a:t>
            </a:r>
            <a:r>
              <a:rPr lang="en-US" sz="1200" dirty="0">
                <a:solidFill>
                  <a:srgbClr val="000000"/>
                </a:solidFill>
                <a:latin typeface="Consolas" panose="020B0609020204030204" pitchFamily="49" charset="0"/>
              </a:rPr>
              <a:t> </a:t>
            </a:r>
            <a:r>
              <a:rPr lang="en-US" sz="1200" dirty="0" err="1">
                <a:solidFill>
                  <a:srgbClr val="0000FF"/>
                </a:solidFill>
                <a:latin typeface="Consolas" panose="020B0609020204030204" pitchFamily="49" charset="0"/>
              </a:rPr>
              <a:t>readonly</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ILogger</a:t>
            </a:r>
            <a:r>
              <a:rPr lang="en-US" sz="1200" dirty="0">
                <a:solidFill>
                  <a:srgbClr val="000000"/>
                </a:solidFill>
                <a:latin typeface="Consolas" panose="020B0609020204030204" pitchFamily="49" charset="0"/>
              </a:rPr>
              <a:t>&lt;</a:t>
            </a:r>
            <a:r>
              <a:rPr lang="en-US" sz="1200" dirty="0" err="1">
                <a:solidFill>
                  <a:srgbClr val="000000"/>
                </a:solidFill>
                <a:latin typeface="Consolas" panose="020B0609020204030204" pitchFamily="49" charset="0"/>
              </a:rPr>
              <a:t>WeatherForecastController</a:t>
            </a:r>
            <a:r>
              <a:rPr lang="en-US" sz="1200" dirty="0">
                <a:solidFill>
                  <a:srgbClr val="000000"/>
                </a:solidFill>
                <a:latin typeface="Consolas" panose="020B0609020204030204" pitchFamily="49" charset="0"/>
              </a:rPr>
              <a:t>&gt; _logger;</a:t>
            </a:r>
          </a:p>
          <a:p>
            <a:pPr marL="0" indent="0">
              <a:buNone/>
            </a:pP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public</a:t>
            </a:r>
            <a:r>
              <a:rPr lang="en-US" sz="1200" dirty="0">
                <a:solidFill>
                  <a:srgbClr val="000000"/>
                </a:solidFill>
                <a:latin typeface="Consolas" panose="020B0609020204030204" pitchFamily="49" charset="0"/>
              </a:rPr>
              <a:t> </a:t>
            </a:r>
            <a:r>
              <a:rPr lang="en-US" sz="1200" dirty="0" err="1">
                <a:solidFill>
                  <a:srgbClr val="2B91AF"/>
                </a:solidFill>
                <a:latin typeface="Consolas" panose="020B0609020204030204" pitchFamily="49" charset="0"/>
              </a:rPr>
              <a:t>WeatherForecastController</a:t>
            </a:r>
            <a:r>
              <a:rPr lang="en-US" sz="1200" dirty="0">
                <a:solidFill>
                  <a:srgbClr val="000000"/>
                </a:solidFill>
                <a:latin typeface="Consolas" panose="020B0609020204030204" pitchFamily="49" charset="0"/>
              </a:rPr>
              <a:t>(</a:t>
            </a:r>
            <a:r>
              <a:rPr lang="en-US" sz="1200" dirty="0" err="1">
                <a:solidFill>
                  <a:srgbClr val="000000"/>
                </a:solidFill>
                <a:latin typeface="Consolas" panose="020B0609020204030204" pitchFamily="49" charset="0"/>
              </a:rPr>
              <a:t>ILogger</a:t>
            </a:r>
            <a:r>
              <a:rPr lang="en-US" sz="1200" dirty="0">
                <a:solidFill>
                  <a:srgbClr val="000000"/>
                </a:solidFill>
                <a:latin typeface="Consolas" panose="020B0609020204030204" pitchFamily="49" charset="0"/>
              </a:rPr>
              <a:t>&lt;</a:t>
            </a:r>
            <a:r>
              <a:rPr lang="en-US" sz="1200" dirty="0" err="1">
                <a:solidFill>
                  <a:srgbClr val="000000"/>
                </a:solidFill>
                <a:latin typeface="Consolas" panose="020B0609020204030204" pitchFamily="49" charset="0"/>
              </a:rPr>
              <a:t>WeatherForecastController</a:t>
            </a:r>
            <a:r>
              <a:rPr lang="en-US" sz="1200" dirty="0">
                <a:solidFill>
                  <a:srgbClr val="000000"/>
                </a:solidFill>
                <a:latin typeface="Consolas" panose="020B0609020204030204" pitchFamily="49" charset="0"/>
              </a:rPr>
              <a:t>&gt; logger)</a:t>
            </a:r>
          </a:p>
          <a:p>
            <a:pPr marL="0" indent="0">
              <a:buNone/>
            </a:pPr>
            <a:r>
              <a:rPr lang="en-IN" sz="1200" dirty="0">
                <a:solidFill>
                  <a:srgbClr val="000000"/>
                </a:solidFill>
                <a:latin typeface="Consolas" panose="020B0609020204030204" pitchFamily="49" charset="0"/>
              </a:rPr>
              <a:t>        {            _logger = logger;        }</a:t>
            </a:r>
          </a:p>
          <a:p>
            <a:pPr marL="0" indent="0">
              <a:buNone/>
            </a:pP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HttpGet</a:t>
            </a:r>
            <a:r>
              <a:rPr lang="en-IN" sz="1200" dirty="0">
                <a:solidFill>
                  <a:srgbClr val="000000"/>
                </a:solidFill>
                <a:latin typeface="Consolas" panose="020B0609020204030204" pitchFamily="49" charset="0"/>
              </a:rPr>
              <a:t>]</a:t>
            </a:r>
          </a:p>
          <a:p>
            <a:pPr marL="0" indent="0">
              <a:buNone/>
            </a:pPr>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public</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IEnumerable</a:t>
            </a:r>
            <a:r>
              <a:rPr lang="en-IN" sz="1200" dirty="0">
                <a:solidFill>
                  <a:srgbClr val="000000"/>
                </a:solidFill>
                <a:latin typeface="Consolas" panose="020B0609020204030204" pitchFamily="49" charset="0"/>
              </a:rPr>
              <a:t>&lt;</a:t>
            </a:r>
            <a:r>
              <a:rPr lang="en-IN" sz="1200" dirty="0" err="1">
                <a:solidFill>
                  <a:srgbClr val="000000"/>
                </a:solidFill>
                <a:latin typeface="Consolas" panose="020B0609020204030204" pitchFamily="49" charset="0"/>
              </a:rPr>
              <a:t>WeatherForecast</a:t>
            </a:r>
            <a:r>
              <a:rPr lang="en-IN" sz="1200" dirty="0">
                <a:solidFill>
                  <a:srgbClr val="000000"/>
                </a:solidFill>
                <a:latin typeface="Consolas" panose="020B0609020204030204" pitchFamily="49" charset="0"/>
              </a:rPr>
              <a:t>&gt; Get()</a:t>
            </a:r>
          </a:p>
          <a:p>
            <a:pPr marL="0" indent="0">
              <a:buNone/>
            </a:pPr>
            <a:r>
              <a:rPr lang="en-IN" sz="1200" dirty="0">
                <a:solidFill>
                  <a:srgbClr val="000000"/>
                </a:solidFill>
                <a:latin typeface="Consolas" panose="020B0609020204030204" pitchFamily="49" charset="0"/>
              </a:rPr>
              <a:t>        {      </a:t>
            </a:r>
            <a:r>
              <a:rPr lang="en-IN" sz="1200" dirty="0">
                <a:solidFill>
                  <a:srgbClr val="0000FF"/>
                </a:solidFill>
                <a:latin typeface="Consolas" panose="020B0609020204030204" pitchFamily="49" charset="0"/>
              </a:rPr>
              <a:t>var</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rng</a:t>
            </a:r>
            <a:r>
              <a:rPr lang="en-IN" sz="1200" dirty="0">
                <a:solidFill>
                  <a:srgbClr val="000000"/>
                </a:solidFill>
                <a:latin typeface="Consolas" panose="020B0609020204030204" pitchFamily="49" charset="0"/>
              </a:rPr>
              <a:t> = </a:t>
            </a:r>
            <a:r>
              <a:rPr lang="en-IN" sz="1200" dirty="0">
                <a:solidFill>
                  <a:srgbClr val="0000FF"/>
                </a:solidFill>
                <a:latin typeface="Consolas" panose="020B0609020204030204" pitchFamily="49" charset="0"/>
              </a:rPr>
              <a:t>new</a:t>
            </a:r>
            <a:r>
              <a:rPr lang="en-IN" sz="1200" dirty="0">
                <a:solidFill>
                  <a:srgbClr val="000000"/>
                </a:solidFill>
                <a:latin typeface="Consolas" panose="020B0609020204030204" pitchFamily="49" charset="0"/>
              </a:rPr>
              <a:t> Random();</a:t>
            </a:r>
          </a:p>
          <a:p>
            <a:pPr marL="0" indent="0">
              <a:buNone/>
            </a:pP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return</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Enumerable.Range</a:t>
            </a:r>
            <a:r>
              <a:rPr lang="en-US" sz="1200" dirty="0">
                <a:solidFill>
                  <a:srgbClr val="000000"/>
                </a:solidFill>
                <a:latin typeface="Consolas" panose="020B0609020204030204" pitchFamily="49" charset="0"/>
              </a:rPr>
              <a:t>(1, 5).Select(index =&gt; </a:t>
            </a:r>
            <a:r>
              <a:rPr lang="en-US" sz="1200" dirty="0">
                <a:solidFill>
                  <a:srgbClr val="0000FF"/>
                </a:solidFill>
                <a:latin typeface="Consolas" panose="020B0609020204030204" pitchFamily="49" charset="0"/>
              </a:rPr>
              <a:t>new</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WeatherForecast</a:t>
            </a:r>
            <a:endParaRPr lang="en-US" sz="1200" dirty="0">
              <a:solidFill>
                <a:srgbClr val="000000"/>
              </a:solidFill>
              <a:latin typeface="Consolas" panose="020B0609020204030204" pitchFamily="49" charset="0"/>
            </a:endParaRPr>
          </a:p>
          <a:p>
            <a:pPr marL="0" indent="0">
              <a:buNone/>
            </a:pPr>
            <a:r>
              <a:rPr lang="en-IN" sz="1200" dirty="0">
                <a:solidFill>
                  <a:srgbClr val="000000"/>
                </a:solidFill>
                <a:latin typeface="Consolas" panose="020B0609020204030204" pitchFamily="49" charset="0"/>
              </a:rPr>
              <a:t>            {</a:t>
            </a:r>
            <a:r>
              <a:rPr lang="en-US" sz="1200" dirty="0">
                <a:solidFill>
                  <a:srgbClr val="000000"/>
                </a:solidFill>
                <a:latin typeface="Consolas" panose="020B0609020204030204" pitchFamily="49" charset="0"/>
              </a:rPr>
              <a:t>           Date = </a:t>
            </a:r>
            <a:r>
              <a:rPr lang="en-US" sz="1200" dirty="0" err="1">
                <a:solidFill>
                  <a:srgbClr val="000000"/>
                </a:solidFill>
                <a:latin typeface="Consolas" panose="020B0609020204030204" pitchFamily="49" charset="0"/>
              </a:rPr>
              <a:t>DateTime.Now.AddDays</a:t>
            </a:r>
            <a:r>
              <a:rPr lang="en-US" sz="1200" dirty="0">
                <a:solidFill>
                  <a:srgbClr val="000000"/>
                </a:solidFill>
                <a:latin typeface="Consolas" panose="020B0609020204030204" pitchFamily="49" charset="0"/>
              </a:rPr>
              <a:t>(index),</a:t>
            </a:r>
          </a:p>
          <a:p>
            <a:pPr marL="0" indent="0">
              <a:buNone/>
            </a:pP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TemperatureC</a:t>
            </a:r>
            <a:r>
              <a:rPr lang="en-US" sz="1200" dirty="0">
                <a:solidFill>
                  <a:srgbClr val="000000"/>
                </a:solidFill>
                <a:latin typeface="Consolas" panose="020B0609020204030204" pitchFamily="49" charset="0"/>
              </a:rPr>
              <a:t> = </a:t>
            </a:r>
            <a:r>
              <a:rPr lang="en-US" sz="1200" dirty="0" err="1">
                <a:solidFill>
                  <a:srgbClr val="000000"/>
                </a:solidFill>
                <a:latin typeface="Consolas" panose="020B0609020204030204" pitchFamily="49" charset="0"/>
              </a:rPr>
              <a:t>rng.Next</a:t>
            </a:r>
            <a:r>
              <a:rPr lang="en-US" sz="1200" dirty="0">
                <a:solidFill>
                  <a:srgbClr val="000000"/>
                </a:solidFill>
                <a:latin typeface="Consolas" panose="020B0609020204030204" pitchFamily="49" charset="0"/>
              </a:rPr>
              <a:t>(-20, 55),</a:t>
            </a:r>
          </a:p>
          <a:p>
            <a:pPr marL="0" indent="0">
              <a:buNone/>
            </a:pPr>
            <a:r>
              <a:rPr lang="en-US" sz="1200" dirty="0">
                <a:solidFill>
                  <a:srgbClr val="000000"/>
                </a:solidFill>
                <a:latin typeface="Consolas" panose="020B0609020204030204" pitchFamily="49" charset="0"/>
              </a:rPr>
              <a:t>                Summary = Summaries[</a:t>
            </a:r>
            <a:r>
              <a:rPr lang="en-US" sz="1200" dirty="0" err="1">
                <a:solidFill>
                  <a:srgbClr val="000000"/>
                </a:solidFill>
                <a:latin typeface="Consolas" panose="020B0609020204030204" pitchFamily="49" charset="0"/>
              </a:rPr>
              <a:t>rng.Next</a:t>
            </a:r>
            <a:r>
              <a:rPr lang="en-US" sz="1200" dirty="0">
                <a:solidFill>
                  <a:srgbClr val="000000"/>
                </a:solidFill>
                <a:latin typeface="Consolas" panose="020B0609020204030204" pitchFamily="49" charset="0"/>
              </a:rPr>
              <a:t>(</a:t>
            </a:r>
            <a:r>
              <a:rPr lang="en-US" sz="1200" dirty="0" err="1">
                <a:solidFill>
                  <a:srgbClr val="000000"/>
                </a:solidFill>
                <a:latin typeface="Consolas" panose="020B0609020204030204" pitchFamily="49" charset="0"/>
              </a:rPr>
              <a:t>Summaries.Length</a:t>
            </a:r>
            <a:r>
              <a:rPr lang="en-US" sz="1200" dirty="0">
                <a:solidFill>
                  <a:srgbClr val="000000"/>
                </a:solidFill>
                <a:latin typeface="Consolas" panose="020B0609020204030204" pitchFamily="49" charset="0"/>
              </a:rPr>
              <a:t>)]</a:t>
            </a:r>
          </a:p>
          <a:p>
            <a:pPr marL="0" indent="0">
              <a:buNone/>
            </a:pPr>
            <a:r>
              <a:rPr lang="en-IN" sz="1200" dirty="0">
                <a:solidFill>
                  <a:srgbClr val="000000"/>
                </a:solidFill>
                <a:latin typeface="Consolas" panose="020B0609020204030204" pitchFamily="49" charset="0"/>
              </a:rPr>
              <a:t>            })   .</a:t>
            </a:r>
            <a:r>
              <a:rPr lang="en-IN" sz="1200" dirty="0" err="1">
                <a:solidFill>
                  <a:srgbClr val="000000"/>
                </a:solidFill>
                <a:latin typeface="Consolas" panose="020B0609020204030204" pitchFamily="49" charset="0"/>
              </a:rPr>
              <a:t>ToArray</a:t>
            </a:r>
            <a:r>
              <a:rPr lang="en-IN" sz="1200" dirty="0">
                <a:solidFill>
                  <a:srgbClr val="000000"/>
                </a:solidFill>
                <a:latin typeface="Consolas" panose="020B0609020204030204" pitchFamily="49" charset="0"/>
              </a:rPr>
              <a:t>();</a:t>
            </a:r>
          </a:p>
          <a:p>
            <a:pPr marL="0" indent="0">
              <a:buNone/>
            </a:pPr>
            <a:r>
              <a:rPr lang="en-IN" sz="1200" dirty="0">
                <a:solidFill>
                  <a:srgbClr val="000000"/>
                </a:solidFill>
                <a:latin typeface="Consolas" panose="020B0609020204030204" pitchFamily="49" charset="0"/>
              </a:rPr>
              <a:t>        }</a:t>
            </a:r>
          </a:p>
          <a:p>
            <a:pPr marL="0" indent="0">
              <a:buNone/>
            </a:pPr>
            <a:r>
              <a:rPr lang="en-IN" sz="1200" dirty="0">
                <a:solidFill>
                  <a:srgbClr val="000000"/>
                </a:solidFill>
                <a:latin typeface="Consolas" panose="020B0609020204030204" pitchFamily="49" charset="0"/>
              </a:rPr>
              <a:t>    }</a:t>
            </a:r>
          </a:p>
          <a:p>
            <a:pPr marL="0" indent="0">
              <a:buNone/>
            </a:pPr>
            <a:r>
              <a:rPr lang="en-IN" sz="1200" dirty="0">
                <a:solidFill>
                  <a:srgbClr val="000000"/>
                </a:solidFill>
                <a:latin typeface="Consolas" panose="020B0609020204030204" pitchFamily="49" charset="0"/>
              </a:rPr>
              <a:t>}</a:t>
            </a:r>
          </a:p>
          <a:p>
            <a:pPr marL="0" indent="0">
              <a:buNone/>
            </a:pPr>
            <a:endParaRPr lang="en-IN" sz="1200" dirty="0"/>
          </a:p>
        </p:txBody>
      </p:sp>
    </p:spTree>
    <p:extLst>
      <p:ext uri="{BB962C8B-B14F-4D97-AF65-F5344CB8AC3E}">
        <p14:creationId xmlns:p14="http://schemas.microsoft.com/office/powerpoint/2010/main" val="15040050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515877-60FF-4492-A2A9-2C4BFE8CD680}"/>
              </a:ext>
            </a:extLst>
          </p:cNvPr>
          <p:cNvSpPr>
            <a:spLocks noGrp="1"/>
          </p:cNvSpPr>
          <p:nvPr>
            <p:ph idx="1"/>
          </p:nvPr>
        </p:nvSpPr>
        <p:spPr>
          <a:xfrm>
            <a:off x="152400" y="914400"/>
            <a:ext cx="7981950" cy="5795963"/>
          </a:xfrm>
        </p:spPr>
        <p:txBody>
          <a:bodyPr/>
          <a:lstStyle/>
          <a:p>
            <a:r>
              <a:rPr lang="en-US" dirty="0"/>
              <a:t>The controller class and its method define the endpoint and its behavior. The [</a:t>
            </a:r>
            <a:r>
              <a:rPr lang="en-US" dirty="0">
                <a:solidFill>
                  <a:schemeClr val="accent5"/>
                </a:solidFill>
              </a:rPr>
              <a:t>Route</a:t>
            </a:r>
            <a:r>
              <a:rPr lang="en-US" dirty="0"/>
              <a:t>] and [</a:t>
            </a:r>
            <a:r>
              <a:rPr lang="en-US" dirty="0" err="1">
                <a:solidFill>
                  <a:schemeClr val="accent5"/>
                </a:solidFill>
              </a:rPr>
              <a:t>HttpGet</a:t>
            </a:r>
            <a:r>
              <a:rPr lang="en-US" dirty="0"/>
              <a:t>] attributes tell ASP.NET to route an HTTP GET method request to the path /</a:t>
            </a:r>
            <a:r>
              <a:rPr lang="en-US" dirty="0" err="1"/>
              <a:t>weathterforecast</a:t>
            </a:r>
            <a:r>
              <a:rPr lang="en-US" dirty="0"/>
              <a:t> to the Get() method for processing, which returns an </a:t>
            </a:r>
            <a:r>
              <a:rPr lang="en-US" dirty="0" err="1"/>
              <a:t>IEnumerable</a:t>
            </a:r>
            <a:r>
              <a:rPr lang="en-US" dirty="0"/>
              <a:t>&lt;</a:t>
            </a:r>
            <a:r>
              <a:rPr lang="en-US" dirty="0" err="1"/>
              <a:t>WeatherForecast</a:t>
            </a:r>
            <a:r>
              <a:rPr lang="en-US" dirty="0"/>
              <a:t>&gt;. As we saw in our first run, that return value gets converted into a JSON array, the response we saw in the browser.</a:t>
            </a:r>
          </a:p>
          <a:p>
            <a:r>
              <a:rPr lang="en-US" dirty="0"/>
              <a:t>Out of the box, ASP.NET Core 3.1 uses the new </a:t>
            </a:r>
            <a:r>
              <a:rPr lang="en-US" dirty="0" err="1"/>
              <a:t>System.Text.Json.JsonSerializer</a:t>
            </a:r>
            <a:r>
              <a:rPr lang="en-US" dirty="0"/>
              <a:t> to convert C# objects to (and from) JSON, instead of the long-time mainstay Json.NET (or </a:t>
            </a:r>
            <a:r>
              <a:rPr lang="en-US" dirty="0" err="1"/>
              <a:t>Newtonsoft.Json</a:t>
            </a:r>
            <a:r>
              <a:rPr lang="en-US" dirty="0"/>
              <a:t>). From a performance and dependency perspective, </a:t>
            </a:r>
            <a:r>
              <a:rPr lang="en-US" dirty="0" err="1"/>
              <a:t>System.Text.Json</a:t>
            </a:r>
            <a:r>
              <a:rPr lang="en-US" dirty="0"/>
              <a:t> was a major foundation of .NET Core 3.1 and its integration with ASP.NET Core 3.1. We’ll learn more on how to use the new serialization later.</a:t>
            </a:r>
            <a:endParaRPr lang="en-IN" dirty="0"/>
          </a:p>
        </p:txBody>
      </p:sp>
    </p:spTree>
    <p:extLst>
      <p:ext uri="{BB962C8B-B14F-4D97-AF65-F5344CB8AC3E}">
        <p14:creationId xmlns:p14="http://schemas.microsoft.com/office/powerpoint/2010/main" val="12258152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C935C3-98F7-4794-9046-96D466C06E3B}"/>
              </a:ext>
            </a:extLst>
          </p:cNvPr>
          <p:cNvSpPr>
            <a:spLocks noGrp="1"/>
          </p:cNvSpPr>
          <p:nvPr>
            <p:ph idx="1"/>
          </p:nvPr>
        </p:nvSpPr>
        <p:spPr>
          <a:xfrm>
            <a:off x="381000" y="838200"/>
            <a:ext cx="8134350" cy="5338763"/>
          </a:xfrm>
        </p:spPr>
        <p:txBody>
          <a:bodyPr/>
          <a:lstStyle/>
          <a:p>
            <a:pPr marL="0" indent="0">
              <a:buNone/>
            </a:pPr>
            <a:r>
              <a:rPr lang="en-US" dirty="0"/>
              <a:t>The </a:t>
            </a:r>
            <a:r>
              <a:rPr lang="en-US" dirty="0" err="1"/>
              <a:t>ConfigureServices</a:t>
            </a:r>
            <a:r>
              <a:rPr lang="en-US" dirty="0"/>
              <a:t>() method is where you do service registration with the </a:t>
            </a:r>
            <a:r>
              <a:rPr lang="en-US" dirty="0" err="1"/>
              <a:t>IServiceCollection</a:t>
            </a:r>
            <a:r>
              <a:rPr lang="en-US" dirty="0"/>
              <a:t> (think dependency injection root). </a:t>
            </a:r>
          </a:p>
          <a:p>
            <a:pPr marL="0" indent="0">
              <a:buNone/>
            </a:pPr>
            <a:endParaRPr lang="en-US" dirty="0"/>
          </a:p>
          <a:p>
            <a:pPr marL="0" indent="0">
              <a:buNone/>
            </a:pPr>
            <a:r>
              <a:rPr lang="en-US" dirty="0" err="1"/>
              <a:t>AddControllers</a:t>
            </a:r>
            <a:r>
              <a:rPr lang="en-US" dirty="0"/>
              <a:t>() is the Web API middleware which will register all the controllers (classes derived from </a:t>
            </a:r>
            <a:r>
              <a:rPr lang="en-US" dirty="0" err="1"/>
              <a:t>ControllerBase</a:t>
            </a:r>
            <a:r>
              <a:rPr lang="en-US" dirty="0"/>
              <a:t>).</a:t>
            </a:r>
          </a:p>
          <a:p>
            <a:pPr marL="0" indent="0">
              <a:buNone/>
            </a:pPr>
            <a:r>
              <a:rPr lang="en-US" dirty="0"/>
              <a:t>NOTE: </a:t>
            </a:r>
            <a:r>
              <a:rPr lang="en-US" dirty="0" err="1"/>
              <a:t>AddControllers</a:t>
            </a:r>
            <a:r>
              <a:rPr lang="en-US" dirty="0"/>
              <a:t>() is the lighter weight Web API version of MVC’s </a:t>
            </a:r>
            <a:r>
              <a:rPr lang="en-US" dirty="0" err="1"/>
              <a:t>AddControllersWithViews</a:t>
            </a:r>
            <a:r>
              <a:rPr lang="en-US" dirty="0"/>
              <a:t>() or </a:t>
            </a:r>
            <a:r>
              <a:rPr lang="en-US" dirty="0" err="1"/>
              <a:t>AddRazorPages</a:t>
            </a:r>
            <a:r>
              <a:rPr lang="en-US" dirty="0"/>
              <a:t>() or </a:t>
            </a:r>
            <a:r>
              <a:rPr lang="en-US" dirty="0" err="1"/>
              <a:t>AddMvc</a:t>
            </a:r>
            <a:r>
              <a:rPr lang="en-US" dirty="0"/>
              <a:t>() in that it does not register services used for views and pages, which would be useful for a user-facing ASP.NET Core MVC web </a:t>
            </a:r>
            <a:r>
              <a:rPr lang="en-US"/>
              <a:t>application.</a:t>
            </a:r>
          </a:p>
          <a:p>
            <a:pPr marL="0" indent="0">
              <a:buNone/>
            </a:pPr>
            <a:endParaRPr lang="en-US" dirty="0"/>
          </a:p>
          <a:p>
            <a:pPr marL="0" indent="0">
              <a:buNone/>
            </a:pPr>
            <a:r>
              <a:rPr lang="en-US" dirty="0" err="1"/>
              <a:t>UseRouting</a:t>
            </a:r>
            <a:r>
              <a:rPr lang="en-US" dirty="0"/>
              <a:t>() and </a:t>
            </a:r>
            <a:r>
              <a:rPr lang="en-US" dirty="0" err="1"/>
              <a:t>UseEndpoints</a:t>
            </a:r>
            <a:r>
              <a:rPr lang="en-US" dirty="0"/>
              <a:t>() are the key configuration elements that add to ASP.NET’s middleware pipeline decision points for routing (as defined by attributes like [Route()] and [</a:t>
            </a:r>
            <a:r>
              <a:rPr lang="en-US" dirty="0" err="1"/>
              <a:t>HttpGet</a:t>
            </a:r>
            <a:r>
              <a:rPr lang="en-US" dirty="0"/>
              <a:t>] we saw in the controller class).</a:t>
            </a:r>
            <a:endParaRPr lang="en-IN" dirty="0"/>
          </a:p>
        </p:txBody>
      </p:sp>
    </p:spTree>
    <p:extLst>
      <p:ext uri="{BB962C8B-B14F-4D97-AF65-F5344CB8AC3E}">
        <p14:creationId xmlns:p14="http://schemas.microsoft.com/office/powerpoint/2010/main" val="8150205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297</TotalTime>
  <Words>2264</Words>
  <Application>Microsoft Office PowerPoint</Application>
  <PresentationFormat>On-screen Show (4:3)</PresentationFormat>
  <Paragraphs>150</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Arial</vt:lpstr>
      <vt:lpstr>Cambria</vt:lpstr>
      <vt:lpstr>Consolas</vt:lpstr>
      <vt:lpstr>Garamond</vt:lpstr>
      <vt:lpstr>Segoe UI</vt:lpstr>
      <vt:lpstr>Verdana</vt:lpstr>
      <vt:lpstr>Office Theme</vt:lpstr>
      <vt:lpstr>PowerPoint Presentation</vt:lpstr>
      <vt:lpstr>Why .NET Core? </vt:lpstr>
      <vt:lpstr>NET Core Characteristics</vt:lpstr>
      <vt:lpstr>PowerPoint Presentation</vt:lpstr>
      <vt:lpstr>PowerPoint Presentation</vt:lpstr>
      <vt:lpstr>PowerPoint Presentation</vt:lpstr>
      <vt:lpstr>Software Required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University at Buffalo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.NET</dc:title>
  <dc:creator>Theory</dc:creator>
  <cp:lastModifiedBy>sriram mantri vidyanidhi infotech academy</cp:lastModifiedBy>
  <cp:revision>54</cp:revision>
  <dcterms:created xsi:type="dcterms:W3CDTF">2012-07-28T05:50:39Z</dcterms:created>
  <dcterms:modified xsi:type="dcterms:W3CDTF">2025-11-18T08:46:39Z</dcterms:modified>
</cp:coreProperties>
</file>