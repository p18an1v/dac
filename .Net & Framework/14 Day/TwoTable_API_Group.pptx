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69" r:id="rId3"/>
    <p:sldId id="260" r:id="rId4"/>
    <p:sldId id="264" r:id="rId5"/>
    <p:sldId id="265" r:id="rId6"/>
    <p:sldId id="266" r:id="rId7"/>
    <p:sldId id="267" r:id="rId8"/>
    <p:sldId id="268" r:id="rId9"/>
    <p:sldId id="261" r:id="rId10"/>
    <p:sldId id="256" r:id="rId11"/>
    <p:sldId id="270" r:id="rId12"/>
    <p:sldId id="257" r:id="rId13"/>
    <p:sldId id="259" r:id="rId14"/>
    <p:sldId id="262" r:id="rId15"/>
    <p:sldId id="25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04A9DB1-B8B7-48F1-84F9-EA6DC88A4E94}"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252214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4A9DB1-B8B7-48F1-84F9-EA6DC88A4E94}"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373261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4A9DB1-B8B7-48F1-84F9-EA6DC88A4E94}"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1671500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04A9DB1-B8B7-48F1-84F9-EA6DC88A4E94}"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162398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04A9DB1-B8B7-48F1-84F9-EA6DC88A4E94}" type="datetimeFigureOut">
              <a:rPr lang="en-IN" smtClean="0"/>
              <a:t>21-11-2025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883066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04A9DB1-B8B7-48F1-84F9-EA6DC88A4E94}" type="datetimeFigureOut">
              <a:rPr lang="en-IN" smtClean="0"/>
              <a:t>21-11-2025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408602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4A9DB1-B8B7-48F1-84F9-EA6DC88A4E94}" type="datetimeFigureOut">
              <a:rPr lang="en-IN" smtClean="0"/>
              <a:t>21-11-2025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2517687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4A9DB1-B8B7-48F1-84F9-EA6DC88A4E94}"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3245560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4A9DB1-B8B7-48F1-84F9-EA6DC88A4E94}"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1637876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4A9DB1-B8B7-48F1-84F9-EA6DC88A4E94}"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203599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04A9DB1-B8B7-48F1-84F9-EA6DC88A4E94}"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9C7E64-3AAC-4F5D-B078-8034ADB92930}" type="slidenum">
              <a:rPr lang="en-IN" smtClean="0"/>
              <a:t>‹#›</a:t>
            </a:fld>
            <a:endParaRPr lang="en-IN"/>
          </a:p>
        </p:txBody>
      </p:sp>
    </p:spTree>
    <p:extLst>
      <p:ext uri="{BB962C8B-B14F-4D97-AF65-F5344CB8AC3E}">
        <p14:creationId xmlns:p14="http://schemas.microsoft.com/office/powerpoint/2010/main" val="1131152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4A9DB1-B8B7-48F1-84F9-EA6DC88A4E94}" type="datetimeFigureOut">
              <a:rPr lang="en-IN" smtClean="0"/>
              <a:t>21-11-2025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9C7E64-3AAC-4F5D-B078-8034ADB92930}" type="slidenum">
              <a:rPr lang="en-IN" smtClean="0"/>
              <a:t>‹#›</a:t>
            </a:fld>
            <a:endParaRPr lang="en-IN"/>
          </a:p>
        </p:txBody>
      </p:sp>
    </p:spTree>
    <p:extLst>
      <p:ext uri="{BB962C8B-B14F-4D97-AF65-F5344CB8AC3E}">
        <p14:creationId xmlns:p14="http://schemas.microsoft.com/office/powerpoint/2010/main" val="1292365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7DF3E4-4357-2E96-FA41-A41F8127E07A}"/>
              </a:ext>
            </a:extLst>
          </p:cNvPr>
          <p:cNvSpPr txBox="1"/>
          <p:nvPr/>
        </p:nvSpPr>
        <p:spPr>
          <a:xfrm>
            <a:off x="94268" y="179110"/>
            <a:ext cx="5222449" cy="369332"/>
          </a:xfrm>
          <a:prstGeom prst="rect">
            <a:avLst/>
          </a:prstGeom>
          <a:noFill/>
        </p:spPr>
        <p:txBody>
          <a:bodyPr wrap="square" rtlCol="0">
            <a:spAutoFit/>
          </a:bodyPr>
          <a:lstStyle/>
          <a:p>
            <a:pPr algn="ctr"/>
            <a:r>
              <a:rPr lang="en-US" b="1" dirty="0"/>
              <a:t>What is repository design pattern</a:t>
            </a:r>
            <a:endParaRPr lang="en-IN" b="1" dirty="0"/>
          </a:p>
        </p:txBody>
      </p:sp>
      <p:sp>
        <p:nvSpPr>
          <p:cNvPr id="5" name="Rectangle 1">
            <a:extLst>
              <a:ext uri="{FF2B5EF4-FFF2-40B4-BE49-F238E27FC236}">
                <a16:creationId xmlns:a16="http://schemas.microsoft.com/office/drawing/2014/main" id="{30E4C36A-E0FA-082F-82EC-63C8242349D9}"/>
              </a:ext>
            </a:extLst>
          </p:cNvPr>
          <p:cNvSpPr>
            <a:spLocks noChangeArrowheads="1"/>
          </p:cNvSpPr>
          <p:nvPr/>
        </p:nvSpPr>
        <p:spPr bwMode="auto">
          <a:xfrm>
            <a:off x="94267" y="941563"/>
            <a:ext cx="5797485" cy="984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4"/>
                </a:solidFill>
                <a:effectLst/>
                <a:cs typeface="Arial" panose="020B0604020202020204" pitchFamily="34" charset="0"/>
              </a:rPr>
              <a:t>   </a:t>
            </a:r>
            <a:r>
              <a:rPr kumimoji="0" lang="en-US" altLang="en-US" b="0" i="0" u="none" strike="noStrike" cap="none" normalizeH="0" baseline="0" dirty="0">
                <a:ln>
                  <a:noFill/>
                </a:ln>
                <a:solidFill>
                  <a:srgbClr val="4D5156"/>
                </a:solidFill>
                <a:effectLst/>
                <a:latin typeface="Google Sans"/>
                <a:cs typeface="Arial" panose="020B0604020202020204" pitchFamily="34" charset="0"/>
              </a:rPr>
              <a:t>The Repository pattern is </a:t>
            </a:r>
            <a:r>
              <a:rPr kumimoji="0" lang="en-US" altLang="en-US" b="0" i="0" u="none" strike="noStrike" cap="none" normalizeH="0" baseline="0" dirty="0">
                <a:ln>
                  <a:noFill/>
                </a:ln>
                <a:solidFill>
                  <a:srgbClr val="040C28"/>
                </a:solidFill>
                <a:effectLst/>
                <a:latin typeface="Google Sans"/>
                <a:cs typeface="Arial" panose="020B0604020202020204" pitchFamily="34" charset="0"/>
              </a:rPr>
              <a:t>a Domain-Driven Design pattern intended to keep</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40C28"/>
                </a:solidFill>
                <a:effectLst/>
                <a:latin typeface="Google Sans"/>
                <a:cs typeface="Arial" panose="020B0604020202020204" pitchFamily="34" charset="0"/>
              </a:rPr>
              <a:t> persistence concerns outside of the system's domain mode</a:t>
            </a:r>
            <a:endParaRPr kumimoji="0" lang="en-US" altLang="en-US" sz="14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CB7C35A3-8D8D-670C-A3F9-62C46C522A8B}"/>
              </a:ext>
            </a:extLst>
          </p:cNvPr>
          <p:cNvPicPr>
            <a:picLocks noChangeAspect="1"/>
          </p:cNvPicPr>
          <p:nvPr/>
        </p:nvPicPr>
        <p:blipFill>
          <a:blip r:embed="rId2"/>
          <a:stretch>
            <a:fillRect/>
          </a:stretch>
        </p:blipFill>
        <p:spPr>
          <a:xfrm>
            <a:off x="5891752" y="1433981"/>
            <a:ext cx="6037163" cy="4636302"/>
          </a:xfrm>
          <a:prstGeom prst="rect">
            <a:avLst/>
          </a:prstGeom>
        </p:spPr>
      </p:pic>
      <p:sp>
        <p:nvSpPr>
          <p:cNvPr id="8" name="TextBox 7">
            <a:extLst>
              <a:ext uri="{FF2B5EF4-FFF2-40B4-BE49-F238E27FC236}">
                <a16:creationId xmlns:a16="http://schemas.microsoft.com/office/drawing/2014/main" id="{3A270397-B9C6-7C19-9F25-F2828BDCFD68}"/>
              </a:ext>
            </a:extLst>
          </p:cNvPr>
          <p:cNvSpPr txBox="1"/>
          <p:nvPr/>
        </p:nvSpPr>
        <p:spPr>
          <a:xfrm>
            <a:off x="247454" y="2604423"/>
            <a:ext cx="5178105" cy="2585323"/>
          </a:xfrm>
          <a:prstGeom prst="rect">
            <a:avLst/>
          </a:prstGeom>
          <a:noFill/>
        </p:spPr>
        <p:txBody>
          <a:bodyPr wrap="square">
            <a:spAutoFit/>
          </a:bodyPr>
          <a:lstStyle/>
          <a:p>
            <a:pPr algn="l"/>
            <a:r>
              <a:rPr lang="en-US" b="1" i="0" dirty="0">
                <a:solidFill>
                  <a:srgbClr val="202124"/>
                </a:solidFill>
                <a:effectLst/>
                <a:latin typeface="Google Sans"/>
              </a:rPr>
              <a:t>What is the function of repository pattern?</a:t>
            </a:r>
          </a:p>
          <a:p>
            <a:pPr algn="l"/>
            <a:endParaRPr lang="en-US" b="1" i="0" dirty="0">
              <a:solidFill>
                <a:srgbClr val="202124"/>
              </a:solidFill>
              <a:effectLst/>
              <a:latin typeface="arial" panose="020B0604020202020204" pitchFamily="34" charset="0"/>
            </a:endParaRPr>
          </a:p>
          <a:p>
            <a:pPr algn="l"/>
            <a:r>
              <a:rPr lang="en-US" b="0" i="0" dirty="0">
                <a:solidFill>
                  <a:srgbClr val="4D5156"/>
                </a:solidFill>
                <a:effectLst/>
                <a:latin typeface="Google Sans"/>
              </a:rPr>
              <a:t>The repository pattern is a design pattern that </a:t>
            </a:r>
            <a:r>
              <a:rPr lang="en-US" b="0" i="0" dirty="0">
                <a:solidFill>
                  <a:srgbClr val="040C28"/>
                </a:solidFill>
                <a:effectLst/>
                <a:latin typeface="Google Sans"/>
              </a:rPr>
              <a:t>isolates the data layer from the rest of the app</a:t>
            </a:r>
            <a:r>
              <a:rPr lang="en-US" b="0" i="0" dirty="0">
                <a:solidFill>
                  <a:srgbClr val="4D5156"/>
                </a:solidFill>
                <a:effectLst/>
                <a:latin typeface="Google Sans"/>
              </a:rPr>
              <a:t>. </a:t>
            </a:r>
          </a:p>
          <a:p>
            <a:pPr algn="l"/>
            <a:endParaRPr lang="en-US" dirty="0">
              <a:solidFill>
                <a:srgbClr val="4D5156"/>
              </a:solidFill>
              <a:latin typeface="Google Sans"/>
            </a:endParaRPr>
          </a:p>
          <a:p>
            <a:pPr algn="l"/>
            <a:r>
              <a:rPr lang="en-US" b="0" i="0" dirty="0">
                <a:solidFill>
                  <a:srgbClr val="4D5156"/>
                </a:solidFill>
                <a:effectLst/>
                <a:latin typeface="Google Sans"/>
              </a:rPr>
              <a:t>The data layer refers to the part of your app, separate from the UI, that handles the app's data and business logic, exposing consistent APIs for the rest of your app to access this data.</a:t>
            </a:r>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474668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7BF01-4EBB-9D71-A0AC-EBE19B90204E}"/>
              </a:ext>
            </a:extLst>
          </p:cNvPr>
          <p:cNvSpPr>
            <a:spLocks noGrp="1"/>
          </p:cNvSpPr>
          <p:nvPr>
            <p:ph idx="1"/>
          </p:nvPr>
        </p:nvSpPr>
        <p:spPr>
          <a:xfrm>
            <a:off x="575733" y="1944159"/>
            <a:ext cx="10515600" cy="4351338"/>
          </a:xfrm>
        </p:spPr>
        <p:txBody>
          <a:bodyPr/>
          <a:lstStyle/>
          <a:p>
            <a:r>
              <a:rPr lang="en-IN" dirty="0" err="1"/>
              <a:t>Microsoft.EntityFrameworkCore</a:t>
            </a:r>
            <a:endParaRPr lang="en-IN" dirty="0"/>
          </a:p>
          <a:p>
            <a:endParaRPr lang="en-IN" dirty="0"/>
          </a:p>
          <a:p>
            <a:endParaRPr lang="en-IN" dirty="0"/>
          </a:p>
          <a:p>
            <a:r>
              <a:rPr lang="en-IN" dirty="0" err="1"/>
              <a:t>Microsoft.EntityFrameworkCore.SqlServer</a:t>
            </a:r>
            <a:endParaRPr lang="en-IN" dirty="0"/>
          </a:p>
        </p:txBody>
      </p:sp>
    </p:spTree>
    <p:extLst>
      <p:ext uri="{BB962C8B-B14F-4D97-AF65-F5344CB8AC3E}">
        <p14:creationId xmlns:p14="http://schemas.microsoft.com/office/powerpoint/2010/main" val="110195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FF1228-F41E-5DAF-B5DF-874C39F25FE1}"/>
              </a:ext>
            </a:extLst>
          </p:cNvPr>
          <p:cNvSpPr txBox="1"/>
          <p:nvPr/>
        </p:nvSpPr>
        <p:spPr>
          <a:xfrm>
            <a:off x="2679700" y="-22749"/>
            <a:ext cx="683260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IN" sz="2800" dirty="0"/>
              <a:t>Emp Dept</a:t>
            </a:r>
          </a:p>
        </p:txBody>
      </p:sp>
      <p:sp>
        <p:nvSpPr>
          <p:cNvPr id="4" name="TextBox 3">
            <a:extLst>
              <a:ext uri="{FF2B5EF4-FFF2-40B4-BE49-F238E27FC236}">
                <a16:creationId xmlns:a16="http://schemas.microsoft.com/office/drawing/2014/main" id="{7AF383EB-A9F8-7BBB-6B8A-31501B157D58}"/>
              </a:ext>
            </a:extLst>
          </p:cNvPr>
          <p:cNvSpPr txBox="1"/>
          <p:nvPr/>
        </p:nvSpPr>
        <p:spPr>
          <a:xfrm>
            <a:off x="118534" y="112861"/>
            <a:ext cx="5571067" cy="3754874"/>
          </a:xfrm>
          <a:prstGeom prst="rect">
            <a:avLst/>
          </a:prstGeom>
          <a:noFill/>
        </p:spPr>
        <p:txBody>
          <a:bodyPr wrap="square">
            <a:spAutoFit/>
          </a:bodyPr>
          <a:lstStyle/>
          <a:p>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class</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Employee</a:t>
            </a:r>
          </a:p>
          <a:p>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Id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Required</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DisplayName</a:t>
            </a:r>
            <a:r>
              <a:rPr lang="en-IN" sz="1400" dirty="0">
                <a:solidFill>
                  <a:srgbClr val="000000"/>
                </a:solidFill>
                <a:highlight>
                  <a:srgbClr val="FFFFFF"/>
                </a:highlight>
                <a:latin typeface="Cascadia Mono" panose="020B0609020000020004" pitchFamily="49" charset="0"/>
              </a:rPr>
              <a:t>(</a:t>
            </a:r>
            <a:r>
              <a:rPr lang="en-IN" sz="1400" dirty="0">
                <a:solidFill>
                  <a:srgbClr val="A31515"/>
                </a:solidFill>
                <a:highlight>
                  <a:srgbClr val="FFFFFF"/>
                </a:highlight>
                <a:latin typeface="Cascadia Mono" panose="020B0609020000020004" pitchFamily="49" charset="0"/>
              </a:rPr>
              <a:t>"Employee Name"</a:t>
            </a:r>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string</a:t>
            </a:r>
            <a:r>
              <a:rPr lang="en-US" sz="1400" dirty="0">
                <a:solidFill>
                  <a:srgbClr val="000000"/>
                </a:solidFill>
                <a:highlight>
                  <a:srgbClr val="FFFFFF"/>
                </a:highlight>
                <a:latin typeface="Cascadia Mono" panose="020B0609020000020004" pitchFamily="49" charset="0"/>
              </a:rPr>
              <a:t>? Name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Required</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DataType</a:t>
            </a:r>
            <a:r>
              <a:rPr lang="en-IN" sz="1400" dirty="0">
                <a:solidFill>
                  <a:srgbClr val="000000"/>
                </a:solidFill>
                <a:highlight>
                  <a:srgbClr val="FFFFFF"/>
                </a:highlight>
                <a:latin typeface="Cascadia Mono" panose="020B0609020000020004" pitchFamily="49" charset="0"/>
              </a:rPr>
              <a:t>(</a:t>
            </a:r>
            <a:r>
              <a:rPr lang="en-IN" sz="1400" dirty="0" err="1">
                <a:solidFill>
                  <a:srgbClr val="2B91AF"/>
                </a:solidFill>
                <a:highlight>
                  <a:srgbClr val="FFFFFF"/>
                </a:highlight>
                <a:latin typeface="Cascadia Mono" panose="020B0609020000020004" pitchFamily="49" charset="0"/>
              </a:rPr>
              <a:t>DataType</a:t>
            </a:r>
            <a:r>
              <a:rPr lang="en-IN" sz="1400" dirty="0" err="1">
                <a:solidFill>
                  <a:srgbClr val="000000"/>
                </a:solidFill>
                <a:highlight>
                  <a:srgbClr val="FFFFFF"/>
                </a:highlight>
                <a:latin typeface="Cascadia Mono" panose="020B0609020000020004" pitchFamily="49" charset="0"/>
              </a:rPr>
              <a:t>.EmailAddress</a:t>
            </a:r>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string</a:t>
            </a:r>
            <a:r>
              <a:rPr lang="en-US" sz="1400" dirty="0">
                <a:solidFill>
                  <a:srgbClr val="000000"/>
                </a:solidFill>
                <a:highlight>
                  <a:srgbClr val="FFFFFF"/>
                </a:highlight>
                <a:latin typeface="Cascadia Mono" panose="020B0609020000020004" pitchFamily="49" charset="0"/>
              </a:rPr>
              <a:t>? Email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DisplayName</a:t>
            </a:r>
            <a:r>
              <a:rPr lang="en-IN" sz="1400" dirty="0">
                <a:solidFill>
                  <a:srgbClr val="000000"/>
                </a:solidFill>
                <a:highlight>
                  <a:srgbClr val="FFFFFF"/>
                </a:highlight>
                <a:latin typeface="Cascadia Mono" panose="020B0609020000020004" pitchFamily="49" charset="0"/>
              </a:rPr>
              <a:t>(</a:t>
            </a:r>
            <a:r>
              <a:rPr lang="en-IN" sz="1400" dirty="0">
                <a:solidFill>
                  <a:srgbClr val="A31515"/>
                </a:solidFill>
                <a:highlight>
                  <a:srgbClr val="FFFFFF"/>
                </a:highlight>
                <a:latin typeface="Cascadia Mono" panose="020B0609020000020004" pitchFamily="49" charset="0"/>
              </a:rPr>
              <a:t>"Department Id"</a:t>
            </a:r>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DepartmentId</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JsonIgnore</a:t>
            </a:r>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Department</a:t>
            </a:r>
            <a:r>
              <a:rPr lang="en-US" sz="1400" dirty="0">
                <a:solidFill>
                  <a:srgbClr val="000000"/>
                </a:solidFill>
                <a:highlight>
                  <a:srgbClr val="FFFFFF"/>
                </a:highlight>
                <a:latin typeface="Cascadia Mono" panose="020B0609020000020004" pitchFamily="49" charset="0"/>
              </a:rPr>
              <a:t>? Department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a:t>
            </a:r>
            <a:endParaRPr lang="en-IN" sz="1400" dirty="0"/>
          </a:p>
        </p:txBody>
      </p:sp>
      <p:sp>
        <p:nvSpPr>
          <p:cNvPr id="6" name="TextBox 5">
            <a:extLst>
              <a:ext uri="{FF2B5EF4-FFF2-40B4-BE49-F238E27FC236}">
                <a16:creationId xmlns:a16="http://schemas.microsoft.com/office/drawing/2014/main" id="{C9139361-856C-2ED5-49C9-0AF9D7E4148B}"/>
              </a:ext>
            </a:extLst>
          </p:cNvPr>
          <p:cNvSpPr txBox="1"/>
          <p:nvPr/>
        </p:nvSpPr>
        <p:spPr>
          <a:xfrm>
            <a:off x="5494868" y="453998"/>
            <a:ext cx="6163732" cy="2585323"/>
          </a:xfrm>
          <a:prstGeom prst="rect">
            <a:avLst/>
          </a:prstGeom>
          <a:noFill/>
        </p:spPr>
        <p:txBody>
          <a:bodyPr wrap="square">
            <a:spAutoFit/>
          </a:bodyPr>
          <a:lstStyle/>
          <a:p>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Department</a:t>
            </a:r>
          </a:p>
          <a:p>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Id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Name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Employee</a:t>
            </a:r>
            <a:r>
              <a:rPr lang="en-US" sz="1800" dirty="0">
                <a:solidFill>
                  <a:srgbClr val="000000"/>
                </a:solidFill>
                <a:highlight>
                  <a:srgbClr val="FFFFFF"/>
                </a:highlight>
                <a:latin typeface="Cascadia Mono" panose="020B0609020000020004" pitchFamily="49" charset="0"/>
              </a:rPr>
              <a:t>&gt;? Employees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endParaRPr lang="en-IN" dirty="0"/>
          </a:p>
        </p:txBody>
      </p:sp>
      <p:sp>
        <p:nvSpPr>
          <p:cNvPr id="8" name="TextBox 7">
            <a:extLst>
              <a:ext uri="{FF2B5EF4-FFF2-40B4-BE49-F238E27FC236}">
                <a16:creationId xmlns:a16="http://schemas.microsoft.com/office/drawing/2014/main" id="{D9D50FDB-4694-C030-56BE-7A64582DEDB8}"/>
              </a:ext>
            </a:extLst>
          </p:cNvPr>
          <p:cNvSpPr txBox="1"/>
          <p:nvPr/>
        </p:nvSpPr>
        <p:spPr>
          <a:xfrm>
            <a:off x="355599" y="3634013"/>
            <a:ext cx="11836401" cy="3139321"/>
          </a:xfrm>
          <a:prstGeom prst="rect">
            <a:avLst/>
          </a:prstGeom>
          <a:noFill/>
        </p:spPr>
        <p:txBody>
          <a:bodyPr wrap="square">
            <a:spAutoFit/>
          </a:bodyPr>
          <a:lstStyle/>
          <a:p>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AppdbContextRepository</a:t>
            </a:r>
            <a:r>
              <a:rPr lang="en-IN" sz="1800" dirty="0" err="1">
                <a:solidFill>
                  <a:srgbClr val="000000"/>
                </a:solidFill>
                <a:highlight>
                  <a:srgbClr val="FFFFFF"/>
                </a:highlight>
                <a:latin typeface="Cascadia Mono" panose="020B0609020000020004" pitchFamily="49" charset="0"/>
              </a:rPr>
              <a:t>:</a:t>
            </a:r>
            <a:r>
              <a:rPr lang="en-IN" sz="1800" dirty="0" err="1">
                <a:solidFill>
                  <a:srgbClr val="2B91AF"/>
                </a:solidFill>
                <a:highlight>
                  <a:srgbClr val="FFFFFF"/>
                </a:highlight>
                <a:latin typeface="Cascadia Mono" panose="020B0609020000020004" pitchFamily="49" charset="0"/>
              </a:rPr>
              <a:t>DbContext</a:t>
            </a:r>
            <a:endParaRPr lang="en-IN" sz="1800" dirty="0">
              <a:solidFill>
                <a:srgbClr val="2B91AF"/>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AppdbContextRepository</a:t>
            </a:r>
            <a:r>
              <a:rPr lang="en-IN" sz="1800" dirty="0">
                <a:solidFill>
                  <a:srgbClr val="000000"/>
                </a:solidFill>
                <a:highlight>
                  <a:srgbClr val="FFFFFF"/>
                </a:highlight>
                <a:latin typeface="Cascadia Mono" panose="020B0609020000020004" pitchFamily="49" charset="0"/>
              </a:rPr>
              <a:t>(</a:t>
            </a:r>
            <a:r>
              <a:rPr lang="en-IN" sz="1800" dirty="0" err="1">
                <a:solidFill>
                  <a:srgbClr val="2B91AF"/>
                </a:solidFill>
                <a:highlight>
                  <a:srgbClr val="FFFFFF"/>
                </a:highlight>
                <a:latin typeface="Cascadia Mono" panose="020B0609020000020004" pitchFamily="49" charset="0"/>
              </a:rPr>
              <a:t>DbContextOptions</a:t>
            </a:r>
            <a:r>
              <a:rPr lang="en-IN" sz="1800" dirty="0">
                <a:solidFill>
                  <a:srgbClr val="000000"/>
                </a:solidFill>
                <a:highlight>
                  <a:srgbClr val="FFFFFF"/>
                </a:highlight>
                <a:latin typeface="Cascadia Mono" panose="020B0609020000020004" pitchFamily="49" charset="0"/>
              </a:rPr>
              <a:t>&lt;</a:t>
            </a:r>
            <a:r>
              <a:rPr lang="en-IN" sz="1800" dirty="0" err="1">
                <a:solidFill>
                  <a:srgbClr val="2B91AF"/>
                </a:solidFill>
                <a:highlight>
                  <a:srgbClr val="FFFFFF"/>
                </a:highlight>
                <a:latin typeface="Cascadia Mono" panose="020B0609020000020004" pitchFamily="49" charset="0"/>
              </a:rPr>
              <a:t>AppdbContextRepository</a:t>
            </a:r>
            <a:r>
              <a:rPr lang="en-IN" sz="1800" dirty="0">
                <a:solidFill>
                  <a:srgbClr val="000000"/>
                </a:solidFill>
                <a:highlight>
                  <a:srgbClr val="FFFFFF"/>
                </a:highlight>
                <a:latin typeface="Cascadia Mono" panose="020B0609020000020004" pitchFamily="49" charset="0"/>
              </a:rPr>
              <a:t>&gt; options)</a:t>
            </a:r>
          </a:p>
          <a:p>
            <a:r>
              <a:rPr lang="en-IN" sz="1800" dirty="0">
                <a:solidFill>
                  <a:srgbClr val="000000"/>
                </a:solidFill>
                <a:highlight>
                  <a:srgbClr val="FFFFFF"/>
                </a:highlight>
                <a:latin typeface="Cascadia Mono" panose="020B0609020000020004" pitchFamily="49" charset="0"/>
              </a:rPr>
              <a:t>         : </a:t>
            </a:r>
            <a:r>
              <a:rPr lang="en-IN" sz="1800" dirty="0">
                <a:solidFill>
                  <a:srgbClr val="0000FF"/>
                </a:solidFill>
                <a:highlight>
                  <a:srgbClr val="FFFFFF"/>
                </a:highlight>
                <a:latin typeface="Cascadia Mono" panose="020B0609020000020004" pitchFamily="49" charset="0"/>
              </a:rPr>
              <a:t>base</a:t>
            </a:r>
            <a:r>
              <a:rPr lang="en-IN" sz="1800" dirty="0">
                <a:solidFill>
                  <a:srgbClr val="000000"/>
                </a:solidFill>
                <a:highlight>
                  <a:srgbClr val="FFFFFF"/>
                </a:highlight>
                <a:latin typeface="Cascadia Mono" panose="020B0609020000020004" pitchFamily="49" charset="0"/>
              </a:rPr>
              <a:t>(options)</a:t>
            </a: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p>
          <a:p>
            <a:endParaRPr lang="en-IN"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DbSet</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Employee</a:t>
            </a:r>
            <a:r>
              <a:rPr lang="en-US" sz="1800" dirty="0">
                <a:solidFill>
                  <a:srgbClr val="000000"/>
                </a:solidFill>
                <a:highlight>
                  <a:srgbClr val="FFFFFF"/>
                </a:highlight>
                <a:latin typeface="Cascadia Mono" panose="020B0609020000020004" pitchFamily="49" charset="0"/>
              </a:rPr>
              <a:t>&gt; Employee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DbSet</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Department</a:t>
            </a:r>
            <a:r>
              <a:rPr lang="en-US" sz="1800" dirty="0">
                <a:solidFill>
                  <a:srgbClr val="000000"/>
                </a:solidFill>
                <a:highlight>
                  <a:srgbClr val="FFFFFF"/>
                </a:highlight>
                <a:latin typeface="Cascadia Mono" panose="020B0609020000020004" pitchFamily="49" charset="0"/>
              </a:rPr>
              <a:t>&gt; Department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3849775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8436B9-E8B9-E8DC-D164-37B5C51B962E}"/>
              </a:ext>
            </a:extLst>
          </p:cNvPr>
          <p:cNvSpPr txBox="1"/>
          <p:nvPr/>
        </p:nvSpPr>
        <p:spPr>
          <a:xfrm>
            <a:off x="1989666" y="566678"/>
            <a:ext cx="6688667" cy="2862322"/>
          </a:xfrm>
          <a:prstGeom prst="rect">
            <a:avLst/>
          </a:prstGeom>
          <a:noFill/>
        </p:spPr>
        <p:txBody>
          <a:bodyPr wrap="square">
            <a:spAutoFit/>
          </a:bodyPr>
          <a:lstStyle/>
          <a:p>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interface</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IEmployeeService</a:t>
            </a:r>
            <a:endParaRPr lang="en-IN" sz="1800" dirty="0">
              <a:solidFill>
                <a:srgbClr val="2B91AF"/>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GetEmployee</a:t>
            </a:r>
            <a:r>
              <a:rPr lang="en-IN" sz="1800" dirty="0">
                <a:solidFill>
                  <a:srgbClr val="000000"/>
                </a:solidFill>
                <a:highlight>
                  <a:srgbClr val="FFFFFF"/>
                </a:highlight>
                <a:latin typeface="Cascadia Mono" panose="020B0609020000020004" pitchFamily="49" charset="0"/>
              </a:rPr>
              <a:t>(</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Id);</a:t>
            </a:r>
          </a:p>
          <a:p>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IEnumerable</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&gt; </a:t>
            </a:r>
            <a:r>
              <a:rPr lang="en-IN" sz="1800" dirty="0" err="1">
                <a:solidFill>
                  <a:srgbClr val="000000"/>
                </a:solidFill>
                <a:highlight>
                  <a:srgbClr val="FFFFFF"/>
                </a:highlight>
                <a:latin typeface="Cascadia Mono" panose="020B0609020000020004" pitchFamily="49" charset="0"/>
              </a:rPr>
              <a:t>GetAllEmployee</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Add(</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employee);</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Update(</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employeeChanges</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Delete(</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Id);</a:t>
            </a:r>
          </a:p>
          <a:p>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IEnumerable</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Department</a:t>
            </a:r>
            <a:r>
              <a:rPr lang="en-IN" sz="1800" dirty="0">
                <a:solidFill>
                  <a:srgbClr val="000000"/>
                </a:solidFill>
                <a:highlight>
                  <a:srgbClr val="FFFFFF"/>
                </a:highlight>
                <a:latin typeface="Cascadia Mono" panose="020B0609020000020004" pitchFamily="49" charset="0"/>
              </a:rPr>
              <a:t>&gt; </a:t>
            </a:r>
            <a:r>
              <a:rPr lang="en-IN" sz="1800" dirty="0" err="1">
                <a:solidFill>
                  <a:srgbClr val="000000"/>
                </a:solidFill>
                <a:highlight>
                  <a:srgbClr val="FFFFFF"/>
                </a:highlight>
                <a:latin typeface="Cascadia Mono" panose="020B0609020000020004" pitchFamily="49" charset="0"/>
              </a:rPr>
              <a:t>GetAllDepartment</a:t>
            </a:r>
            <a:r>
              <a:rPr lang="en-IN" sz="1800" dirty="0">
                <a:solidFill>
                  <a:srgbClr val="000000"/>
                </a:solidFill>
                <a:highlight>
                  <a:srgbClr val="FFFFFF"/>
                </a:highlight>
                <a:latin typeface="Cascadia Mono" panose="020B0609020000020004" pitchFamily="49" charset="0"/>
              </a:rPr>
              <a:t>();</a:t>
            </a:r>
          </a:p>
          <a:p>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3663130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F7E153-DC90-E689-55E2-8259FC3B2566}"/>
              </a:ext>
            </a:extLst>
          </p:cNvPr>
          <p:cNvSpPr txBox="1"/>
          <p:nvPr/>
        </p:nvSpPr>
        <p:spPr>
          <a:xfrm>
            <a:off x="0" y="178140"/>
            <a:ext cx="6096000" cy="276999"/>
          </a:xfrm>
          <a:prstGeom prst="rect">
            <a:avLst/>
          </a:prstGeom>
          <a:noFill/>
        </p:spPr>
        <p:txBody>
          <a:bodyPr wrap="square">
            <a:spAutoFit/>
          </a:bodyPr>
          <a:lstStyle/>
          <a:p>
            <a:endParaRPr lang="en-IN" sz="1200" dirty="0">
              <a:solidFill>
                <a:srgbClr val="000000"/>
              </a:solidFill>
              <a:highlight>
                <a:srgbClr val="FFFFFF"/>
              </a:highlight>
              <a:latin typeface="Cascadia Mono" panose="020B0609020000020004" pitchFamily="49" charset="0"/>
            </a:endParaRPr>
          </a:p>
        </p:txBody>
      </p:sp>
      <p:sp>
        <p:nvSpPr>
          <p:cNvPr id="3" name="TextBox 2">
            <a:extLst>
              <a:ext uri="{FF2B5EF4-FFF2-40B4-BE49-F238E27FC236}">
                <a16:creationId xmlns:a16="http://schemas.microsoft.com/office/drawing/2014/main" id="{6DF0088B-9B8E-2EE1-C29F-A81834EC314D}"/>
              </a:ext>
            </a:extLst>
          </p:cNvPr>
          <p:cNvSpPr txBox="1"/>
          <p:nvPr/>
        </p:nvSpPr>
        <p:spPr>
          <a:xfrm>
            <a:off x="186266" y="0"/>
            <a:ext cx="6096000" cy="7363554"/>
          </a:xfrm>
          <a:prstGeom prst="rect">
            <a:avLst/>
          </a:prstGeom>
          <a:noFill/>
        </p:spPr>
        <p:txBody>
          <a:bodyPr wrap="square">
            <a:spAutoFit/>
          </a:bodyPr>
          <a:lstStyle/>
          <a:p>
            <a:r>
              <a:rPr lang="en-US" sz="1050" dirty="0">
                <a:solidFill>
                  <a:srgbClr val="0000FF"/>
                </a:solidFill>
                <a:highlight>
                  <a:srgbClr val="FFFFFF"/>
                </a:highlight>
                <a:latin typeface="Cascadia Mono" panose="020B0609020000020004" pitchFamily="49" charset="0"/>
              </a:rPr>
              <a:t>using</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API_Two_Table.Models</a:t>
            </a:r>
            <a:r>
              <a:rPr lang="en-US" sz="1050" dirty="0">
                <a:solidFill>
                  <a:srgbClr val="000000"/>
                </a:solidFill>
                <a:highlight>
                  <a:srgbClr val="FFFFFF"/>
                </a:highlight>
                <a:latin typeface="Cascadia Mono" panose="020B0609020000020004" pitchFamily="49" charset="0"/>
              </a:rPr>
              <a:t>;</a:t>
            </a:r>
          </a:p>
          <a:p>
            <a:r>
              <a:rPr lang="en-US" sz="1050" dirty="0">
                <a:solidFill>
                  <a:srgbClr val="0000FF"/>
                </a:solidFill>
                <a:highlight>
                  <a:srgbClr val="FFFFFF"/>
                </a:highlight>
                <a:latin typeface="Cascadia Mono" panose="020B0609020000020004" pitchFamily="49" charset="0"/>
              </a:rPr>
              <a:t>using</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API_Two_Table.Repository</a:t>
            </a:r>
            <a:r>
              <a:rPr lang="en-US" sz="1050" dirty="0">
                <a:solidFill>
                  <a:srgbClr val="000000"/>
                </a:solidFill>
                <a:highlight>
                  <a:srgbClr val="FFFFFF"/>
                </a:highlight>
                <a:latin typeface="Cascadia Mono" panose="020B0609020000020004" pitchFamily="49" charset="0"/>
              </a:rPr>
              <a:t>;</a:t>
            </a:r>
          </a:p>
          <a:p>
            <a:r>
              <a:rPr lang="en-IN" sz="1050" dirty="0">
                <a:solidFill>
                  <a:srgbClr val="0000FF"/>
                </a:solidFill>
                <a:highlight>
                  <a:srgbClr val="FFFFFF"/>
                </a:highlight>
                <a:latin typeface="Cascadia Mono" panose="020B0609020000020004" pitchFamily="49" charset="0"/>
              </a:rPr>
              <a:t>using</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Microsoft.EntityFrameworkCore</a:t>
            </a:r>
            <a:r>
              <a:rPr lang="en-IN"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FF"/>
                </a:solidFill>
                <a:highlight>
                  <a:srgbClr val="FFFFFF"/>
                </a:highlight>
                <a:latin typeface="Cascadia Mono" panose="020B0609020000020004" pitchFamily="49" charset="0"/>
              </a:rPr>
              <a:t>namespace</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API_Two_Table.Services</a:t>
            </a:r>
            <a:endParaRPr lang="en-US"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class</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SqlEmployeeService</a:t>
            </a:r>
            <a:r>
              <a:rPr lang="en-IN" sz="1050" dirty="0">
                <a:solidFill>
                  <a:srgbClr val="000000"/>
                </a:solidFill>
                <a:highlight>
                  <a:srgbClr val="FFFFFF"/>
                </a:highlight>
                <a:latin typeface="Cascadia Mono" panose="020B0609020000020004" pitchFamily="49" charset="0"/>
              </a:rPr>
              <a:t> : </a:t>
            </a:r>
            <a:r>
              <a:rPr lang="en-IN" sz="1050" dirty="0" err="1">
                <a:solidFill>
                  <a:srgbClr val="000000"/>
                </a:solidFill>
                <a:highlight>
                  <a:srgbClr val="FFFFFF"/>
                </a:highlight>
                <a:latin typeface="Cascadia Mono" panose="020B0609020000020004" pitchFamily="49" charset="0"/>
              </a:rPr>
              <a:t>IEmployeeService</a:t>
            </a:r>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private</a:t>
            </a:r>
            <a:r>
              <a:rPr lang="en-IN" sz="1050" dirty="0">
                <a:solidFill>
                  <a:srgbClr val="000000"/>
                </a:solidFill>
                <a:highlight>
                  <a:srgbClr val="FFFFFF"/>
                </a:highlight>
                <a:latin typeface="Cascadia Mono" panose="020B0609020000020004" pitchFamily="49" charset="0"/>
              </a:rPr>
              <a:t> </a:t>
            </a:r>
            <a:r>
              <a:rPr lang="en-IN" sz="1050" dirty="0" err="1">
                <a:solidFill>
                  <a:srgbClr val="0000FF"/>
                </a:solidFill>
                <a:highlight>
                  <a:srgbClr val="FFFFFF"/>
                </a:highlight>
                <a:latin typeface="Cascadia Mono" panose="020B0609020000020004" pitchFamily="49" charset="0"/>
              </a:rPr>
              <a:t>readonly</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AppdbContextRepository</a:t>
            </a:r>
            <a:r>
              <a:rPr lang="en-IN" sz="1050" dirty="0">
                <a:solidFill>
                  <a:srgbClr val="000000"/>
                </a:solidFill>
                <a:highlight>
                  <a:srgbClr val="FFFFFF"/>
                </a:highlight>
                <a:latin typeface="Cascadia Mono" panose="020B0609020000020004" pitchFamily="49" charset="0"/>
              </a:rPr>
              <a:t> context;</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SqlEmployeeService</a:t>
            </a:r>
            <a:r>
              <a:rPr lang="en-IN" sz="1050" dirty="0">
                <a:solidFill>
                  <a:srgbClr val="000000"/>
                </a:solidFill>
                <a:highlight>
                  <a:srgbClr val="FFFFFF"/>
                </a:highlight>
                <a:latin typeface="Cascadia Mono" panose="020B0609020000020004" pitchFamily="49" charset="0"/>
              </a:rPr>
              <a:t>(</a:t>
            </a:r>
            <a:r>
              <a:rPr lang="en-IN" sz="1050" dirty="0" err="1">
                <a:solidFill>
                  <a:srgbClr val="000000"/>
                </a:solidFill>
                <a:highlight>
                  <a:srgbClr val="FFFFFF"/>
                </a:highlight>
                <a:latin typeface="Cascadia Mono" panose="020B0609020000020004" pitchFamily="49" charset="0"/>
              </a:rPr>
              <a:t>AppdbContextRepository</a:t>
            </a:r>
            <a:r>
              <a:rPr lang="en-IN" sz="1050" dirty="0">
                <a:solidFill>
                  <a:srgbClr val="000000"/>
                </a:solidFill>
                <a:highlight>
                  <a:srgbClr val="FFFFFF"/>
                </a:highlight>
                <a:latin typeface="Cascadia Mono" panose="020B0609020000020004" pitchFamily="49" charset="0"/>
              </a:rPr>
              <a:t> context)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FF"/>
                </a:solidFill>
                <a:highlight>
                  <a:srgbClr val="FFFFFF"/>
                </a:highlight>
                <a:latin typeface="Cascadia Mono" panose="020B0609020000020004" pitchFamily="49" charset="0"/>
              </a:rPr>
              <a:t>this</a:t>
            </a:r>
            <a:r>
              <a:rPr lang="en-IN" sz="1050" dirty="0" err="1">
                <a:solidFill>
                  <a:srgbClr val="000000"/>
                </a:solidFill>
                <a:highlight>
                  <a:srgbClr val="FFFFFF"/>
                </a:highlight>
                <a:latin typeface="Cascadia Mono" panose="020B0609020000020004" pitchFamily="49" charset="0"/>
              </a:rPr>
              <a:t>.context</a:t>
            </a:r>
            <a:r>
              <a:rPr lang="en-IN" sz="1050" dirty="0">
                <a:solidFill>
                  <a:srgbClr val="000000"/>
                </a:solidFill>
                <a:highlight>
                  <a:srgbClr val="FFFFFF"/>
                </a:highlight>
                <a:latin typeface="Cascadia Mono" panose="020B0609020000020004" pitchFamily="49" charset="0"/>
              </a:rPr>
              <a:t> = context;</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Employee Add(Employee employee)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context.Employee.Add</a:t>
            </a:r>
            <a:r>
              <a:rPr lang="en-IN" sz="1050" dirty="0">
                <a:solidFill>
                  <a:srgbClr val="000000"/>
                </a:solidFill>
                <a:highlight>
                  <a:srgbClr val="FFFFFF"/>
                </a:highlight>
                <a:latin typeface="Cascadia Mono" panose="020B0609020000020004" pitchFamily="49" charset="0"/>
              </a:rPr>
              <a:t>(employee);</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context.SaveChanges</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Employee? Delete(</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Id)</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Employee? employee = </a:t>
            </a:r>
            <a:r>
              <a:rPr lang="en-US" sz="1050" dirty="0" err="1">
                <a:solidFill>
                  <a:srgbClr val="000000"/>
                </a:solidFill>
                <a:highlight>
                  <a:srgbClr val="FFFFFF"/>
                </a:highlight>
                <a:latin typeface="Cascadia Mono" panose="020B0609020000020004" pitchFamily="49" charset="0"/>
              </a:rPr>
              <a:t>context.Employee.Find</a:t>
            </a:r>
            <a:r>
              <a:rPr lang="en-US" sz="1050" dirty="0">
                <a:solidFill>
                  <a:srgbClr val="000000"/>
                </a:solidFill>
                <a:highlight>
                  <a:srgbClr val="FFFFFF"/>
                </a:highlight>
                <a:latin typeface="Cascadia Mono" panose="020B0609020000020004" pitchFamily="49" charset="0"/>
              </a:rPr>
              <a:t>(Id);</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if</a:t>
            </a:r>
            <a:r>
              <a:rPr lang="en-IN" sz="1050" dirty="0">
                <a:solidFill>
                  <a:srgbClr val="000000"/>
                </a:solidFill>
                <a:highlight>
                  <a:srgbClr val="FFFFFF"/>
                </a:highlight>
                <a:latin typeface="Cascadia Mono" panose="020B0609020000020004" pitchFamily="49" charset="0"/>
              </a:rPr>
              <a:t> (employee != </a:t>
            </a:r>
            <a:r>
              <a:rPr lang="en-IN" sz="1050" dirty="0">
                <a:solidFill>
                  <a:srgbClr val="0000FF"/>
                </a:solidFill>
                <a:highlight>
                  <a:srgbClr val="FFFFFF"/>
                </a:highlight>
                <a:latin typeface="Cascadia Mono" panose="020B0609020000020004" pitchFamily="49" charset="0"/>
              </a:rPr>
              <a:t>null</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context.Employee.Remove</a:t>
            </a:r>
            <a:r>
              <a:rPr lang="en-IN" sz="1050" dirty="0">
                <a:solidFill>
                  <a:srgbClr val="000000"/>
                </a:solidFill>
                <a:highlight>
                  <a:srgbClr val="FFFFFF"/>
                </a:highlight>
                <a:latin typeface="Cascadia Mono" panose="020B0609020000020004" pitchFamily="49" charset="0"/>
              </a:rPr>
              <a:t>(employee);</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context.SaveChanges</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IEnumerable</a:t>
            </a:r>
            <a:r>
              <a:rPr lang="en-IN" sz="1050" dirty="0">
                <a:solidFill>
                  <a:srgbClr val="000000"/>
                </a:solidFill>
                <a:highlight>
                  <a:srgbClr val="FFFFFF"/>
                </a:highlight>
                <a:latin typeface="Cascadia Mono" panose="020B0609020000020004" pitchFamily="49" charset="0"/>
              </a:rPr>
              <a:t>&lt;Department&gt; </a:t>
            </a:r>
            <a:r>
              <a:rPr lang="en-IN" sz="1050" dirty="0" err="1">
                <a:solidFill>
                  <a:srgbClr val="000000"/>
                </a:solidFill>
                <a:highlight>
                  <a:srgbClr val="FFFFFF"/>
                </a:highlight>
                <a:latin typeface="Cascadia Mono" panose="020B0609020000020004" pitchFamily="49" charset="0"/>
              </a:rPr>
              <a:t>GetAllDepartment</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context.Department</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IEnumerable</a:t>
            </a:r>
            <a:r>
              <a:rPr lang="en-IN" sz="1050" dirty="0">
                <a:solidFill>
                  <a:srgbClr val="000000"/>
                </a:solidFill>
                <a:highlight>
                  <a:srgbClr val="FFFFFF"/>
                </a:highlight>
                <a:latin typeface="Cascadia Mono" panose="020B0609020000020004" pitchFamily="49" charset="0"/>
              </a:rPr>
              <a:t>&lt;Employee&gt; </a:t>
            </a:r>
            <a:r>
              <a:rPr lang="en-IN" sz="1050" dirty="0" err="1">
                <a:solidFill>
                  <a:srgbClr val="000000"/>
                </a:solidFill>
                <a:highlight>
                  <a:srgbClr val="FFFFFF"/>
                </a:highlight>
                <a:latin typeface="Cascadia Mono" panose="020B0609020000020004" pitchFamily="49" charset="0"/>
              </a:rPr>
              <a:t>GetAllEmployee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return</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context.Employee.Include</a:t>
            </a:r>
            <a:r>
              <a:rPr lang="en-US" sz="1050" dirty="0">
                <a:solidFill>
                  <a:srgbClr val="000000"/>
                </a:solidFill>
                <a:highlight>
                  <a:srgbClr val="FFFFFF"/>
                </a:highlight>
                <a:latin typeface="Cascadia Mono" panose="020B0609020000020004" pitchFamily="49" charset="0"/>
              </a:rPr>
              <a:t>(</a:t>
            </a:r>
            <a:r>
              <a:rPr lang="en-US" sz="1050" dirty="0" err="1">
                <a:solidFill>
                  <a:srgbClr val="000000"/>
                </a:solidFill>
                <a:highlight>
                  <a:srgbClr val="FFFFFF"/>
                </a:highlight>
                <a:latin typeface="Cascadia Mono" panose="020B0609020000020004" pitchFamily="49" charset="0"/>
              </a:rPr>
              <a:t>dpt</a:t>
            </a:r>
            <a:r>
              <a:rPr lang="en-US" sz="1050" dirty="0">
                <a:solidFill>
                  <a:srgbClr val="000000"/>
                </a:solidFill>
                <a:highlight>
                  <a:srgbClr val="FFFFFF"/>
                </a:highlight>
                <a:latin typeface="Cascadia Mono" panose="020B0609020000020004" pitchFamily="49" charset="0"/>
              </a:rPr>
              <a:t> =&gt; </a:t>
            </a:r>
            <a:r>
              <a:rPr lang="en-US" sz="1050" dirty="0" err="1">
                <a:solidFill>
                  <a:srgbClr val="000000"/>
                </a:solidFill>
                <a:highlight>
                  <a:srgbClr val="FFFFFF"/>
                </a:highlight>
                <a:latin typeface="Cascadia Mono" panose="020B0609020000020004" pitchFamily="49" charset="0"/>
              </a:rPr>
              <a:t>dpt.Department</a:t>
            </a:r>
            <a:r>
              <a:rPr lang="en-US" sz="1050" dirty="0">
                <a:solidFill>
                  <a:srgbClr val="000000"/>
                </a:solidFill>
                <a:highlight>
                  <a:srgbClr val="FFFFFF"/>
                </a:highlight>
                <a:latin typeface="Cascadia Mono" panose="020B0609020000020004" pitchFamily="49" charset="0"/>
              </a:rPr>
              <a:t>).</a:t>
            </a:r>
            <a:r>
              <a:rPr lang="en-US" sz="1050" dirty="0" err="1">
                <a:solidFill>
                  <a:srgbClr val="000000"/>
                </a:solidFill>
                <a:highlight>
                  <a:srgbClr val="FFFFFF"/>
                </a:highlight>
                <a:latin typeface="Cascadia Mono" panose="020B0609020000020004" pitchFamily="49" charset="0"/>
              </a:rPr>
              <a:t>ToList</a:t>
            </a:r>
            <a:r>
              <a:rPr lang="en-US"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Employee? </a:t>
            </a:r>
            <a:r>
              <a:rPr lang="en-US" sz="1050" dirty="0" err="1">
                <a:solidFill>
                  <a:srgbClr val="000000"/>
                </a:solidFill>
                <a:highlight>
                  <a:srgbClr val="FFFFFF"/>
                </a:highlight>
                <a:latin typeface="Cascadia Mono" panose="020B0609020000020004" pitchFamily="49" charset="0"/>
              </a:rPr>
              <a:t>GetEmployee</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Id)</a:t>
            </a:r>
          </a:p>
          <a:p>
            <a:r>
              <a:rPr lang="en-IN" sz="1050" dirty="0">
                <a:solidFill>
                  <a:srgbClr val="000000"/>
                </a:solidFill>
                <a:highlight>
                  <a:srgbClr val="FFFFFF"/>
                </a:highlight>
                <a:latin typeface="Cascadia Mono" panose="020B0609020000020004" pitchFamily="49" charset="0"/>
              </a:rPr>
              <a:t>        {</a:t>
            </a:r>
            <a:r>
              <a:rPr lang="en-IN" sz="1050" dirty="0">
                <a:solidFill>
                  <a:srgbClr val="008000"/>
                </a:solidFill>
                <a:highlight>
                  <a:srgbClr val="FFFFFF"/>
                </a:highlight>
                <a:latin typeface="Cascadia Mono" panose="020B0609020000020004" pitchFamily="49" charset="0"/>
              </a:rPr>
              <a:t>//</a:t>
            </a:r>
            <a:r>
              <a:rPr lang="en-IN" sz="1050" dirty="0" err="1">
                <a:solidFill>
                  <a:srgbClr val="008000"/>
                </a:solidFill>
                <a:highlight>
                  <a:srgbClr val="FFFFFF"/>
                </a:highlight>
                <a:latin typeface="Cascadia Mono" panose="020B0609020000020004" pitchFamily="49" charset="0"/>
              </a:rPr>
              <a:t>context.Employee.Find</a:t>
            </a:r>
            <a:r>
              <a:rPr lang="en-IN" sz="1050" dirty="0">
                <a:solidFill>
                  <a:srgbClr val="008000"/>
                </a:solidFill>
                <a:highlight>
                  <a:srgbClr val="FFFFFF"/>
                </a:highlight>
                <a:latin typeface="Cascadia Mono" panose="020B0609020000020004" pitchFamily="49" charset="0"/>
              </a:rPr>
              <a:t>(Id);</a:t>
            </a:r>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Employee e = </a:t>
            </a:r>
            <a:r>
              <a:rPr lang="en-US" sz="1050" dirty="0" err="1">
                <a:solidFill>
                  <a:srgbClr val="000000"/>
                </a:solidFill>
                <a:highlight>
                  <a:srgbClr val="FFFFFF"/>
                </a:highlight>
                <a:latin typeface="Cascadia Mono" panose="020B0609020000020004" pitchFamily="49" charset="0"/>
              </a:rPr>
              <a:t>context.Employee.FirstOrDefault</a:t>
            </a:r>
            <a:r>
              <a:rPr lang="en-US" sz="1050" dirty="0">
                <a:solidFill>
                  <a:srgbClr val="000000"/>
                </a:solidFill>
                <a:highlight>
                  <a:srgbClr val="FFFFFF"/>
                </a:highlight>
                <a:latin typeface="Cascadia Mono" panose="020B0609020000020004" pitchFamily="49" charset="0"/>
              </a:rPr>
              <a:t>(m =&gt; </a:t>
            </a:r>
            <a:r>
              <a:rPr lang="en-US" sz="1050" dirty="0" err="1">
                <a:solidFill>
                  <a:srgbClr val="000000"/>
                </a:solidFill>
                <a:highlight>
                  <a:srgbClr val="FFFFFF"/>
                </a:highlight>
                <a:latin typeface="Cascadia Mono" panose="020B0609020000020004" pitchFamily="49" charset="0"/>
              </a:rPr>
              <a:t>m.Id</a:t>
            </a:r>
            <a:r>
              <a:rPr lang="en-US" sz="1050" dirty="0">
                <a:solidFill>
                  <a:srgbClr val="000000"/>
                </a:solidFill>
                <a:highlight>
                  <a:srgbClr val="FFFFFF"/>
                </a:highlight>
                <a:latin typeface="Cascadia Mono" panose="020B0609020000020004" pitchFamily="49" charset="0"/>
              </a:rPr>
              <a:t> == Id);</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p:txBody>
      </p:sp>
      <p:sp>
        <p:nvSpPr>
          <p:cNvPr id="6" name="TextBox 5">
            <a:extLst>
              <a:ext uri="{FF2B5EF4-FFF2-40B4-BE49-F238E27FC236}">
                <a16:creationId xmlns:a16="http://schemas.microsoft.com/office/drawing/2014/main" id="{02746507-07DE-93A8-E2FA-BE0E1DDEF248}"/>
              </a:ext>
            </a:extLst>
          </p:cNvPr>
          <p:cNvSpPr txBox="1"/>
          <p:nvPr/>
        </p:nvSpPr>
        <p:spPr>
          <a:xfrm>
            <a:off x="5909734" y="1269578"/>
            <a:ext cx="6096000" cy="22929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Employee Update(Employee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employeeChanges</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Employee e1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context.Employee.FirstOrDefault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(m =&gt;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m.Id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employeeChanges.Id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context.Entry</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(e1).State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EntityState.Detached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context.Update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employeeChanges</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context.SaveChanges</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employeeChanges</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endParaRPr lang="en-IN" sz="2800" dirty="0"/>
          </a:p>
        </p:txBody>
      </p:sp>
    </p:spTree>
    <p:extLst>
      <p:ext uri="{BB962C8B-B14F-4D97-AF65-F5344CB8AC3E}">
        <p14:creationId xmlns:p14="http://schemas.microsoft.com/office/powerpoint/2010/main" val="843155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239E3D-00E0-2530-78C0-364DBF0643E9}"/>
              </a:ext>
            </a:extLst>
          </p:cNvPr>
          <p:cNvSpPr txBox="1"/>
          <p:nvPr/>
        </p:nvSpPr>
        <p:spPr>
          <a:xfrm>
            <a:off x="0" y="0"/>
            <a:ext cx="6239933" cy="6186309"/>
          </a:xfrm>
          <a:prstGeom prst="rect">
            <a:avLst/>
          </a:prstGeom>
          <a:noFill/>
        </p:spPr>
        <p:txBody>
          <a:bodyPr wrap="square">
            <a:spAutoFit/>
          </a:bodyPr>
          <a:lstStyle/>
          <a:p>
            <a:r>
              <a:rPr lang="en-US" sz="1100" dirty="0">
                <a:solidFill>
                  <a:srgbClr val="0000FF"/>
                </a:solidFill>
                <a:highlight>
                  <a:srgbClr val="FFFFFF"/>
                </a:highlight>
                <a:latin typeface="Cascadia Mono" panose="020B0609020000020004" pitchFamily="49" charset="0"/>
              </a:rPr>
              <a:t>using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API_Two_Table.Models</a:t>
            </a:r>
            <a:r>
              <a:rPr lang="en-US" sz="1100" dirty="0">
                <a:solidFill>
                  <a:srgbClr val="000000"/>
                </a:solidFill>
                <a:highlight>
                  <a:srgbClr val="FFFFFF"/>
                </a:highlight>
                <a:latin typeface="Cascadia Mono" panose="020B0609020000020004" pitchFamily="49" charset="0"/>
              </a:rPr>
              <a:t>;</a:t>
            </a:r>
          </a:p>
          <a:p>
            <a:r>
              <a:rPr lang="en-US" sz="1100" dirty="0">
                <a:solidFill>
                  <a:srgbClr val="0000FF"/>
                </a:solidFill>
                <a:highlight>
                  <a:srgbClr val="FFFFFF"/>
                </a:highlight>
                <a:latin typeface="Cascadia Mono" panose="020B0609020000020004" pitchFamily="49" charset="0"/>
              </a:rPr>
              <a:t>using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API_Two_Table.Services</a:t>
            </a:r>
            <a:r>
              <a:rPr lang="en-US" sz="1100" dirty="0">
                <a:solidFill>
                  <a:srgbClr val="000000"/>
                </a:solidFill>
                <a:highlight>
                  <a:srgbClr val="FFFFFF"/>
                </a:highlight>
                <a:latin typeface="Cascadia Mono" panose="020B0609020000020004" pitchFamily="49" charset="0"/>
              </a:rPr>
              <a:t>;</a:t>
            </a: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Microsoft.AspNetCore.Mvc</a:t>
            </a:r>
            <a:r>
              <a:rPr lang="en-IN" sz="1100" dirty="0">
                <a:solidFill>
                  <a:srgbClr val="000000"/>
                </a:solidFill>
                <a:highlight>
                  <a:srgbClr val="FFFFFF"/>
                </a:highlight>
                <a:latin typeface="Cascadia Mono" panose="020B0609020000020004" pitchFamily="49" charset="0"/>
              </a:rPr>
              <a:t>;</a:t>
            </a:r>
          </a:p>
          <a:p>
            <a:endParaRPr lang="en-IN" sz="1100" dirty="0">
              <a:solidFill>
                <a:srgbClr val="000000"/>
              </a:solidFill>
              <a:highlight>
                <a:srgbClr val="FFFFFF"/>
              </a:highlight>
              <a:latin typeface="Cascadia Mono" panose="020B0609020000020004" pitchFamily="49" charset="0"/>
            </a:endParaRPr>
          </a:p>
          <a:p>
            <a:r>
              <a:rPr lang="en-US" sz="1100" dirty="0">
                <a:solidFill>
                  <a:srgbClr val="0000FF"/>
                </a:solidFill>
                <a:highlight>
                  <a:srgbClr val="FFFFFF"/>
                </a:highlight>
                <a:latin typeface="Cascadia Mono" panose="020B0609020000020004" pitchFamily="49" charset="0"/>
              </a:rPr>
              <a:t>namespace</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API_Two_Table.Controllers</a:t>
            </a:r>
            <a:endParaRPr lang="en-US"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a:t>
            </a:r>
          </a:p>
          <a:p>
            <a:endParaRPr lang="en-IN" sz="1100" dirty="0">
              <a:solidFill>
                <a:srgbClr val="000000"/>
              </a:solidFill>
              <a:highlight>
                <a:srgbClr val="FFFFFF"/>
              </a:highlight>
              <a:latin typeface="Cascadia Mono" panose="020B0609020000020004" pitchFamily="49" charset="0"/>
            </a:endParaRPr>
          </a:p>
          <a:p>
            <a:r>
              <a:rPr lang="en-US" sz="1100" dirty="0">
                <a:solidFill>
                  <a:srgbClr val="000000"/>
                </a:solidFill>
                <a:highlight>
                  <a:srgbClr val="FFFFFF"/>
                </a:highlight>
                <a:latin typeface="Cascadia Mono" panose="020B0609020000020004" pitchFamily="49" charset="0"/>
              </a:rPr>
              <a:t>    </a:t>
            </a:r>
            <a:r>
              <a:rPr lang="en-US" sz="1100" dirty="0">
                <a:solidFill>
                  <a:srgbClr val="008000"/>
                </a:solidFill>
                <a:highlight>
                  <a:srgbClr val="FFFFFF"/>
                </a:highlight>
                <a:latin typeface="Cascadia Mono" panose="020B0609020000020004" pitchFamily="49" charset="0"/>
              </a:rPr>
              <a:t>// For more information on enabling Web API for empty projects, visit https://go.microsoft.com/fwlink/?LinkID=397860</a:t>
            </a:r>
            <a:endParaRPr lang="en-US" sz="1100" dirty="0">
              <a:solidFill>
                <a:srgbClr val="000000"/>
              </a:solidFill>
              <a:highlight>
                <a:srgbClr val="FFFFFF"/>
              </a:highlight>
              <a:latin typeface="Cascadia Mono" panose="020B0609020000020004" pitchFamily="49" charset="0"/>
            </a:endParaRPr>
          </a:p>
          <a:p>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namespace</a:t>
            </a:r>
            <a:r>
              <a:rPr lang="en-IN" sz="1100" dirty="0">
                <a:solidFill>
                  <a:srgbClr val="000000"/>
                </a:solidFill>
                <a:highlight>
                  <a:srgbClr val="FFFFFF"/>
                </a:highlight>
                <a:latin typeface="Cascadia Mono" panose="020B0609020000020004" pitchFamily="49" charset="0"/>
              </a:rPr>
              <a:t> APIdemo1.Controllers</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[Route(</a:t>
            </a:r>
            <a:r>
              <a:rPr lang="en-IN" sz="1100" dirty="0">
                <a:solidFill>
                  <a:srgbClr val="A31515"/>
                </a:solidFill>
                <a:highlight>
                  <a:srgbClr val="FFFFFF"/>
                </a:highlight>
                <a:latin typeface="Cascadia Mono" panose="020B0609020000020004" pitchFamily="49" charset="0"/>
              </a:rPr>
              <a:t>"</a:t>
            </a:r>
            <a:r>
              <a:rPr lang="en-IN" sz="1100" dirty="0" err="1">
                <a:solidFill>
                  <a:srgbClr val="A31515"/>
                </a:solidFill>
                <a:highlight>
                  <a:srgbClr val="FFFFFF"/>
                </a:highlight>
                <a:latin typeface="Cascadia Mono" panose="020B0609020000020004" pitchFamily="49" charset="0"/>
              </a:rPr>
              <a:t>api</a:t>
            </a:r>
            <a:r>
              <a:rPr lang="en-IN" sz="1100" dirty="0">
                <a:solidFill>
                  <a:srgbClr val="A31515"/>
                </a:solidFill>
                <a:highlight>
                  <a:srgbClr val="FFFFFF"/>
                </a:highlight>
                <a:latin typeface="Cascadia Mono" panose="020B0609020000020004" pitchFamily="49" charset="0"/>
              </a:rPr>
              <a:t>/[controller]"</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ApiController</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class</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EmployeeController</a:t>
            </a:r>
            <a:r>
              <a:rPr lang="en-IN" sz="1100" dirty="0">
                <a:solidFill>
                  <a:srgbClr val="000000"/>
                </a:solidFill>
                <a:highlight>
                  <a:srgbClr val="FFFFFF"/>
                </a:highlight>
                <a:latin typeface="Cascadia Mono" panose="020B0609020000020004" pitchFamily="49" charset="0"/>
              </a:rPr>
              <a:t> : </a:t>
            </a:r>
            <a:r>
              <a:rPr lang="en-IN" sz="1100" dirty="0" err="1">
                <a:solidFill>
                  <a:srgbClr val="000000"/>
                </a:solidFill>
                <a:highlight>
                  <a:srgbClr val="FFFFFF"/>
                </a:highlight>
                <a:latin typeface="Cascadia Mono" panose="020B0609020000020004" pitchFamily="49" charset="0"/>
              </a:rPr>
              <a:t>ControllerBase</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IEmployeeService</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employeeService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EmployeeController</a:t>
            </a:r>
            <a:r>
              <a:rPr lang="en-IN" sz="1100" dirty="0">
                <a:solidFill>
                  <a:srgbClr val="000000"/>
                </a:solidFill>
                <a:highlight>
                  <a:srgbClr val="FFFFFF"/>
                </a:highlight>
                <a:latin typeface="Cascadia Mono" panose="020B0609020000020004" pitchFamily="49" charset="0"/>
              </a:rPr>
              <a:t>(</a:t>
            </a:r>
            <a:r>
              <a:rPr lang="en-IN" sz="1100" dirty="0" err="1">
                <a:solidFill>
                  <a:srgbClr val="000000"/>
                </a:solidFill>
                <a:highlight>
                  <a:srgbClr val="FFFFFF"/>
                </a:highlight>
                <a:latin typeface="Cascadia Mono" panose="020B0609020000020004" pitchFamily="49" charset="0"/>
              </a:rPr>
              <a:t>IEmployeeService</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employeeService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FF"/>
                </a:solidFill>
                <a:highlight>
                  <a:srgbClr val="FFFFFF"/>
                </a:highlight>
                <a:latin typeface="Cascadia Mono" panose="020B0609020000020004" pitchFamily="49" charset="0"/>
              </a:rPr>
              <a:t>this</a:t>
            </a:r>
            <a:r>
              <a:rPr lang="en-IN" sz="1100" dirty="0" err="1">
                <a:solidFill>
                  <a:srgbClr val="000000"/>
                </a:solidFill>
                <a:highlight>
                  <a:srgbClr val="FFFFFF"/>
                </a:highlight>
                <a:latin typeface="Cascadia Mono" panose="020B0609020000020004" pitchFamily="49" charset="0"/>
              </a:rPr>
              <a:t>.employeeService</a:t>
            </a:r>
            <a:r>
              <a:rPr lang="en-IN" sz="1100" dirty="0">
                <a:solidFill>
                  <a:srgbClr val="000000"/>
                </a:solidFill>
                <a:highlight>
                  <a:srgbClr val="FFFFFF"/>
                </a:highlight>
                <a:latin typeface="Cascadia Mono" panose="020B0609020000020004" pitchFamily="49" charset="0"/>
              </a:rPr>
              <a:t> = </a:t>
            </a:r>
            <a:r>
              <a:rPr lang="en-IN" sz="1100" dirty="0" err="1">
                <a:solidFill>
                  <a:srgbClr val="000000"/>
                </a:solidFill>
                <a:highlight>
                  <a:srgbClr val="FFFFFF"/>
                </a:highlight>
                <a:latin typeface="Cascadia Mono" panose="020B0609020000020004" pitchFamily="49" charset="0"/>
              </a:rPr>
              <a:t>employeeService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8000"/>
                </a:solidFill>
                <a:highlight>
                  <a:srgbClr val="FFFFFF"/>
                </a:highlight>
                <a:latin typeface="Cascadia Mono" panose="020B0609020000020004" pitchFamily="49" charset="0"/>
              </a:rPr>
              <a:t>// GET: </a:t>
            </a:r>
            <a:r>
              <a:rPr lang="en-IN" sz="1100" dirty="0" err="1">
                <a:solidFill>
                  <a:srgbClr val="008000"/>
                </a:solidFill>
                <a:highlight>
                  <a:srgbClr val="FFFFFF"/>
                </a:highlight>
                <a:latin typeface="Cascadia Mono" panose="020B0609020000020004" pitchFamily="49" charset="0"/>
              </a:rPr>
              <a:t>api</a:t>
            </a:r>
            <a:r>
              <a:rPr lang="en-IN" sz="1100" dirty="0">
                <a:solidFill>
                  <a:srgbClr val="008000"/>
                </a:solidFill>
                <a:highlight>
                  <a:srgbClr val="FFFFFF"/>
                </a:highlight>
                <a:latin typeface="Cascadia Mono" panose="020B0609020000020004" pitchFamily="49" charset="0"/>
              </a:rPr>
              <a:t>/&lt;</a:t>
            </a:r>
            <a:r>
              <a:rPr lang="en-IN" sz="1100" dirty="0" err="1">
                <a:solidFill>
                  <a:srgbClr val="008000"/>
                </a:solidFill>
                <a:highlight>
                  <a:srgbClr val="FFFFFF"/>
                </a:highlight>
                <a:latin typeface="Cascadia Mono" panose="020B0609020000020004" pitchFamily="49" charset="0"/>
              </a:rPr>
              <a:t>EmployeeController</a:t>
            </a:r>
            <a:r>
              <a:rPr lang="en-IN" sz="1100" dirty="0">
                <a:solidFill>
                  <a:srgbClr val="008000"/>
                </a:solidFill>
                <a:highlight>
                  <a:srgbClr val="FFFFFF"/>
                </a:highlight>
                <a:latin typeface="Cascadia Mono" panose="020B0609020000020004" pitchFamily="49" charset="0"/>
              </a:rPr>
              <a:t>&gt;</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HttpGet</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IEnumerable</a:t>
            </a:r>
            <a:r>
              <a:rPr lang="en-IN" sz="1100" dirty="0">
                <a:solidFill>
                  <a:srgbClr val="000000"/>
                </a:solidFill>
                <a:highlight>
                  <a:srgbClr val="FFFFFF"/>
                </a:highlight>
                <a:latin typeface="Cascadia Mono" panose="020B0609020000020004" pitchFamily="49" charset="0"/>
              </a:rPr>
              <a:t>&lt;Employee&gt; Get()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return</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employeeService.GetAllEmployee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a:solidFill>
                  <a:srgbClr val="008000"/>
                </a:solidFill>
                <a:highlight>
                  <a:srgbClr val="FFFFFF"/>
                </a:highlight>
                <a:latin typeface="Cascadia Mono" panose="020B0609020000020004" pitchFamily="49" charset="0"/>
              </a:rPr>
              <a:t>// GET </a:t>
            </a:r>
            <a:r>
              <a:rPr lang="en-IN" sz="1100" dirty="0" err="1">
                <a:solidFill>
                  <a:srgbClr val="008000"/>
                </a:solidFill>
                <a:highlight>
                  <a:srgbClr val="FFFFFF"/>
                </a:highlight>
                <a:latin typeface="Cascadia Mono" panose="020B0609020000020004" pitchFamily="49" charset="0"/>
              </a:rPr>
              <a:t>api</a:t>
            </a:r>
            <a:r>
              <a:rPr lang="en-IN" sz="1100" dirty="0">
                <a:solidFill>
                  <a:srgbClr val="008000"/>
                </a:solidFill>
                <a:highlight>
                  <a:srgbClr val="FFFFFF"/>
                </a:highlight>
                <a:latin typeface="Cascadia Mono" panose="020B0609020000020004" pitchFamily="49" charset="0"/>
              </a:rPr>
              <a:t>/&lt;</a:t>
            </a:r>
            <a:r>
              <a:rPr lang="en-IN" sz="1100" dirty="0" err="1">
                <a:solidFill>
                  <a:srgbClr val="008000"/>
                </a:solidFill>
                <a:highlight>
                  <a:srgbClr val="FFFFFF"/>
                </a:highlight>
                <a:latin typeface="Cascadia Mono" panose="020B0609020000020004" pitchFamily="49" charset="0"/>
              </a:rPr>
              <a:t>EmployeeController</a:t>
            </a:r>
            <a:r>
              <a:rPr lang="en-IN" sz="1100" dirty="0">
                <a:solidFill>
                  <a:srgbClr val="008000"/>
                </a:solidFill>
                <a:highlight>
                  <a:srgbClr val="FFFFFF"/>
                </a:highlight>
                <a:latin typeface="Cascadia Mono" panose="020B0609020000020004" pitchFamily="49" charset="0"/>
              </a:rPr>
              <a:t>&gt;/5</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HttpGet</a:t>
            </a:r>
            <a:r>
              <a:rPr lang="en-IN" sz="1100" dirty="0">
                <a:solidFill>
                  <a:srgbClr val="000000"/>
                </a:solidFill>
                <a:highlight>
                  <a:srgbClr val="FFFFFF"/>
                </a:highlight>
                <a:latin typeface="Cascadia Mono" panose="020B0609020000020004" pitchFamily="49" charset="0"/>
              </a:rPr>
              <a:t>(</a:t>
            </a:r>
            <a:r>
              <a:rPr lang="en-IN" sz="1100" dirty="0">
                <a:solidFill>
                  <a:srgbClr val="A31515"/>
                </a:solidFill>
                <a:highlight>
                  <a:srgbClr val="FFFFFF"/>
                </a:highlight>
                <a:latin typeface="Cascadia Mono" panose="020B0609020000020004" pitchFamily="49" charset="0"/>
              </a:rPr>
              <a:t>"{id}"</a:t>
            </a:r>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Employee Get(</a:t>
            </a:r>
            <a:r>
              <a:rPr lang="en-US" sz="1100" dirty="0">
                <a:solidFill>
                  <a:srgbClr val="0000FF"/>
                </a:solidFill>
                <a:highlight>
                  <a:srgbClr val="FFFFFF"/>
                </a:highlight>
                <a:latin typeface="Cascadia Mono" panose="020B0609020000020004" pitchFamily="49" charset="0"/>
              </a:rPr>
              <a:t>int</a:t>
            </a:r>
            <a:r>
              <a:rPr lang="en-US" sz="1100" dirty="0">
                <a:solidFill>
                  <a:srgbClr val="000000"/>
                </a:solidFill>
                <a:highlight>
                  <a:srgbClr val="FFFFFF"/>
                </a:highlight>
                <a:latin typeface="Cascadia Mono" panose="020B0609020000020004" pitchFamily="49" charset="0"/>
              </a:rPr>
              <a:t> id)</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return</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employeeService.GetEmployee</a:t>
            </a:r>
            <a:r>
              <a:rPr lang="en-IN" sz="1100" dirty="0">
                <a:solidFill>
                  <a:srgbClr val="000000"/>
                </a:solidFill>
                <a:highlight>
                  <a:srgbClr val="FFFFFF"/>
                </a:highlight>
                <a:latin typeface="Cascadia Mono" panose="020B0609020000020004" pitchFamily="49" charset="0"/>
              </a:rPr>
              <a:t>(id);</a:t>
            </a:r>
          </a:p>
          <a:p>
            <a:r>
              <a:rPr lang="en-IN" sz="1100" dirty="0">
                <a:solidFill>
                  <a:srgbClr val="000000"/>
                </a:solidFill>
                <a:highlight>
                  <a:srgbClr val="FFFFFF"/>
                </a:highlight>
                <a:latin typeface="Cascadia Mono" panose="020B0609020000020004" pitchFamily="49" charset="0"/>
              </a:rPr>
              <a:t>            }</a:t>
            </a:r>
          </a:p>
          <a:p>
            <a:endParaRPr lang="en-IN" sz="1100" dirty="0">
              <a:solidFill>
                <a:srgbClr val="000000"/>
              </a:solidFill>
              <a:highlight>
                <a:srgbClr val="FFFFFF"/>
              </a:highlight>
              <a:latin typeface="Cascadia Mono" panose="020B0609020000020004" pitchFamily="49" charset="0"/>
            </a:endParaRPr>
          </a:p>
          <a:p>
            <a:endParaRPr lang="en-IN" sz="1100" dirty="0">
              <a:solidFill>
                <a:srgbClr val="000000"/>
              </a:solidFill>
              <a:highlight>
                <a:srgbClr val="FFFFFF"/>
              </a:highlight>
              <a:latin typeface="Cascadia Mono" panose="020B0609020000020004" pitchFamily="49" charset="0"/>
            </a:endParaRPr>
          </a:p>
        </p:txBody>
      </p:sp>
      <p:sp>
        <p:nvSpPr>
          <p:cNvPr id="9" name="TextBox 8">
            <a:extLst>
              <a:ext uri="{FF2B5EF4-FFF2-40B4-BE49-F238E27FC236}">
                <a16:creationId xmlns:a16="http://schemas.microsoft.com/office/drawing/2014/main" id="{FD6AD1F1-2C01-81C8-70AA-52D826105E88}"/>
              </a:ext>
            </a:extLst>
          </p:cNvPr>
          <p:cNvSpPr txBox="1"/>
          <p:nvPr/>
        </p:nvSpPr>
        <p:spPr>
          <a:xfrm>
            <a:off x="6028267" y="124319"/>
            <a:ext cx="6163733" cy="703269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POST </a:t>
            </a:r>
            <a:r>
              <a:rPr kumimoji="0" lang="en-US"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api</a:t>
            </a:r>
            <a:r>
              <a:rPr kumimoji="0" lang="en-US"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/&lt;</a:t>
            </a:r>
            <a:r>
              <a:rPr kumimoji="0" lang="en-US"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EmployeeController</a:t>
            </a:r>
            <a:r>
              <a:rPr kumimoji="0" lang="en-US"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&gt;201 created</a:t>
            </a:r>
            <a:endPar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HttpPost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ActionResult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Post([</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FromBody</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Employee emp)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employeeService.Add</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(emp);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CreatedAtAction</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"Get"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new</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id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emp);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HttpPut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"{id}"</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void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Put(</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int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id,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FromBody</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Employee emp)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if</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(id !=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emp.Id</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return </a:t>
            </a:r>
            <a:r>
              <a:rPr kumimoji="0" lang="en-US"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BadRequest</a:t>
            </a:r>
            <a:r>
              <a:rPr kumimoji="0" lang="en-US"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("The ID in the URL does not match the ID in the request body.");</a:t>
            </a:r>
            <a:endPar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Employee e1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employeeService.GetEmployee</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if</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(e1 !=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null</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employeeService.Update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(emp);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return  </a:t>
            </a:r>
            <a:r>
              <a:rPr kumimoji="0" lang="en-IN"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NoContent</a:t>
            </a:r>
            <a:r>
              <a:rPr kumimoji="0" lang="en-IN"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a:t>
            </a: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DELETE </a:t>
            </a:r>
            <a:r>
              <a:rPr kumimoji="0" lang="en-IN"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api</a:t>
            </a:r>
            <a:r>
              <a:rPr kumimoji="0" lang="en-IN"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/&lt;</a:t>
            </a:r>
            <a:r>
              <a:rPr kumimoji="0" lang="en-IN"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EmployeeController</a:t>
            </a:r>
            <a:r>
              <a:rPr kumimoji="0" lang="en-IN"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&gt;/5 401 </a:t>
            </a:r>
            <a:r>
              <a:rPr kumimoji="0" lang="en-IN" sz="11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nocontent</a:t>
            </a: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HttpDelete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"{id}"</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void</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Delete(</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int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Employee e1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employeeService.GetEmployee</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if</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(e1 !=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null</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employeeService.Delete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endParaRPr lang="en-IN" dirty="0"/>
          </a:p>
        </p:txBody>
      </p:sp>
    </p:spTree>
    <p:extLst>
      <p:ext uri="{BB962C8B-B14F-4D97-AF65-F5344CB8AC3E}">
        <p14:creationId xmlns:p14="http://schemas.microsoft.com/office/powerpoint/2010/main" val="1660427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1D154D-A3CD-3B11-3E7B-7F95DDBA0548}"/>
              </a:ext>
            </a:extLst>
          </p:cNvPr>
          <p:cNvSpPr txBox="1"/>
          <p:nvPr/>
        </p:nvSpPr>
        <p:spPr>
          <a:xfrm>
            <a:off x="118534" y="-225859"/>
            <a:ext cx="9228666" cy="7709803"/>
          </a:xfrm>
          <a:prstGeom prst="rect">
            <a:avLst/>
          </a:prstGeom>
          <a:noFill/>
        </p:spPr>
        <p:txBody>
          <a:bodyPr wrap="square">
            <a:spAutoFit/>
          </a:bodyPr>
          <a:lstStyle/>
          <a:p>
            <a:endParaRPr lang="en-IN" sz="1100" dirty="0">
              <a:solidFill>
                <a:srgbClr val="000000"/>
              </a:solidFill>
              <a:highlight>
                <a:srgbClr val="FFFFFF"/>
              </a:highlight>
              <a:latin typeface="Cascadia Mono" panose="020B0609020000020004" pitchFamily="49" charset="0"/>
            </a:endParaRP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APIdemo1.Repository;</a:t>
            </a: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APIdemo1.Service;</a:t>
            </a:r>
          </a:p>
          <a:p>
            <a:r>
              <a:rPr lang="en-US" sz="1100" dirty="0">
                <a:solidFill>
                  <a:srgbClr val="0000FF"/>
                </a:solidFill>
                <a:highlight>
                  <a:srgbClr val="FFFFFF"/>
                </a:highlight>
                <a:latin typeface="Cascadia Mono" panose="020B0609020000020004" pitchFamily="49" charset="0"/>
              </a:rPr>
              <a:t>using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System.Text.Json.Serialization</a:t>
            </a:r>
            <a:r>
              <a:rPr lang="en-US" sz="1100" dirty="0">
                <a:solidFill>
                  <a:srgbClr val="000000"/>
                </a:solidFill>
                <a:highlight>
                  <a:srgbClr val="FFFFFF"/>
                </a:highlight>
                <a:latin typeface="Cascadia Mono" panose="020B0609020000020004" pitchFamily="49" charset="0"/>
              </a:rPr>
              <a:t>;</a:t>
            </a: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Microsoft.EntityFrameworkCore.SqlServer</a:t>
            </a:r>
            <a:r>
              <a:rPr lang="en-IN" sz="1100" dirty="0">
                <a:solidFill>
                  <a:srgbClr val="000000"/>
                </a:solidFill>
                <a:highlight>
                  <a:srgbClr val="FFFFFF"/>
                </a:highlight>
                <a:latin typeface="Cascadia Mono" panose="020B0609020000020004" pitchFamily="49" charset="0"/>
              </a:rPr>
              <a:t>;</a:t>
            </a: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Microsoft.EntityFrameworkCore</a:t>
            </a:r>
            <a:r>
              <a:rPr lang="en-IN" sz="1100" dirty="0">
                <a:solidFill>
                  <a:srgbClr val="000000"/>
                </a:solidFill>
                <a:highlight>
                  <a:srgbClr val="FFFFFF"/>
                </a:highlight>
                <a:latin typeface="Cascadia Mono" panose="020B0609020000020004" pitchFamily="49" charset="0"/>
              </a:rPr>
              <a:t>;</a:t>
            </a:r>
          </a:p>
          <a:p>
            <a:endParaRPr lang="en-IN" sz="1100" dirty="0">
              <a:solidFill>
                <a:srgbClr val="000000"/>
              </a:solidFill>
              <a:highlight>
                <a:srgbClr val="FFFFFF"/>
              </a:highlight>
              <a:latin typeface="Cascadia Mono" panose="020B0609020000020004" pitchFamily="49" charset="0"/>
            </a:endParaRPr>
          </a:p>
          <a:p>
            <a:r>
              <a:rPr lang="en-IN" sz="1100" dirty="0">
                <a:solidFill>
                  <a:srgbClr val="0000FF"/>
                </a:solidFill>
                <a:highlight>
                  <a:srgbClr val="FFFFFF"/>
                </a:highlight>
                <a:latin typeface="Cascadia Mono" panose="020B0609020000020004" pitchFamily="49" charset="0"/>
              </a:rPr>
              <a:t>namespace</a:t>
            </a:r>
            <a:r>
              <a:rPr lang="en-IN" sz="1100" dirty="0">
                <a:solidFill>
                  <a:srgbClr val="000000"/>
                </a:solidFill>
                <a:highlight>
                  <a:srgbClr val="FFFFFF"/>
                </a:highlight>
                <a:latin typeface="Cascadia Mono" panose="020B0609020000020004" pitchFamily="49" charset="0"/>
              </a:rPr>
              <a:t> APIdemo1</a:t>
            </a:r>
          </a:p>
          <a:p>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class</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Program</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static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Main(</a:t>
            </a:r>
            <a:r>
              <a:rPr lang="en-US" sz="1100" dirty="0">
                <a:solidFill>
                  <a:srgbClr val="0000FF"/>
                </a:solidFill>
                <a:highlight>
                  <a:srgbClr val="FFFFFF"/>
                </a:highlight>
                <a:latin typeface="Cascadia Mono" panose="020B0609020000020004" pitchFamily="49" charset="0"/>
              </a:rPr>
              <a:t>string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args</a:t>
            </a:r>
            <a:r>
              <a:rPr lang="en-US"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var</a:t>
            </a:r>
            <a:r>
              <a:rPr lang="en-US" sz="1100" dirty="0">
                <a:solidFill>
                  <a:srgbClr val="000000"/>
                </a:solidFill>
                <a:highlight>
                  <a:srgbClr val="FFFFFF"/>
                </a:highlight>
                <a:latin typeface="Cascadia Mono" panose="020B0609020000020004" pitchFamily="49" charset="0"/>
              </a:rPr>
              <a:t> builder = </a:t>
            </a:r>
            <a:r>
              <a:rPr lang="en-US" sz="1100" dirty="0" err="1">
                <a:solidFill>
                  <a:srgbClr val="2B91AF"/>
                </a:solidFill>
                <a:highlight>
                  <a:srgbClr val="FFFFFF"/>
                </a:highlight>
                <a:latin typeface="Cascadia Mono" panose="020B0609020000020004" pitchFamily="49" charset="0"/>
              </a:rPr>
              <a:t>WebApplication</a:t>
            </a:r>
            <a:r>
              <a:rPr lang="en-US" sz="1100" dirty="0" err="1">
                <a:solidFill>
                  <a:srgbClr val="000000"/>
                </a:solidFill>
                <a:highlight>
                  <a:srgbClr val="FFFFFF"/>
                </a:highlight>
                <a:latin typeface="Cascadia Mono" panose="020B0609020000020004" pitchFamily="49" charset="0"/>
              </a:rPr>
              <a:t>.CreateBuilder</a:t>
            </a:r>
            <a:r>
              <a:rPr lang="en-US" sz="1100" dirty="0">
                <a:solidFill>
                  <a:srgbClr val="000000"/>
                </a:solidFill>
                <a:highlight>
                  <a:srgbClr val="FFFFFF"/>
                </a:highlight>
                <a:latin typeface="Cascadia Mono" panose="020B0609020000020004" pitchFamily="49" charset="0"/>
              </a:rPr>
              <a:t>(</a:t>
            </a:r>
            <a:r>
              <a:rPr lang="en-US" sz="1100" dirty="0" err="1">
                <a:solidFill>
                  <a:srgbClr val="000000"/>
                </a:solidFill>
                <a:highlight>
                  <a:srgbClr val="FFFFFF"/>
                </a:highlight>
                <a:latin typeface="Cascadia Mono" panose="020B0609020000020004" pitchFamily="49" charset="0"/>
              </a:rPr>
              <a:t>args</a:t>
            </a:r>
            <a:r>
              <a:rPr lang="en-US" sz="1100" dirty="0">
                <a:solidFill>
                  <a:srgbClr val="000000"/>
                </a:solidFill>
                <a:highlight>
                  <a:srgbClr val="FFFFFF"/>
                </a:highlight>
                <a:latin typeface="Cascadia Mono" panose="020B0609020000020004" pitchFamily="49" charset="0"/>
              </a:rPr>
              <a:t>);</a:t>
            </a:r>
          </a:p>
          <a:p>
            <a:endParaRPr lang="en-IN" sz="1100" dirty="0">
              <a:solidFill>
                <a:srgbClr val="000000"/>
              </a:solidFill>
              <a:highlight>
                <a:srgbClr val="FFFFFF"/>
              </a:highlight>
              <a:latin typeface="Cascadia Mono" panose="020B0609020000020004" pitchFamily="49" charset="0"/>
            </a:endParaRPr>
          </a:p>
          <a:p>
            <a:r>
              <a:rPr lang="en-US" sz="1100" dirty="0">
                <a:solidFill>
                  <a:srgbClr val="000000"/>
                </a:solidFill>
                <a:highlight>
                  <a:srgbClr val="FFFFFF"/>
                </a:highlight>
                <a:latin typeface="Cascadia Mono" panose="020B0609020000020004" pitchFamily="49" charset="0"/>
              </a:rPr>
              <a:t>            </a:t>
            </a:r>
            <a:r>
              <a:rPr lang="en-US" sz="1100" dirty="0">
                <a:solidFill>
                  <a:srgbClr val="008000"/>
                </a:solidFill>
                <a:highlight>
                  <a:srgbClr val="FFFFFF"/>
                </a:highlight>
                <a:latin typeface="Cascadia Mono" panose="020B0609020000020004" pitchFamily="49" charset="0"/>
              </a:rPr>
              <a:t>// Add services to the container.</a:t>
            </a:r>
            <a:endParaRPr lang="en-US"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builder.Services.AddControllersWithViews</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AddJsonOptions</a:t>
            </a:r>
            <a:r>
              <a:rPr lang="en-IN" sz="1100" dirty="0">
                <a:solidFill>
                  <a:srgbClr val="000000"/>
                </a:solidFill>
                <a:highlight>
                  <a:srgbClr val="FFFFFF"/>
                </a:highlight>
                <a:latin typeface="Cascadia Mono" panose="020B0609020000020004" pitchFamily="49" charset="0"/>
              </a:rPr>
              <a:t>(options =&gt;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options.JsonSerializerOptions.ReferenceHandler</a:t>
            </a:r>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ReferenceHandler</a:t>
            </a:r>
            <a:r>
              <a:rPr lang="en-IN" sz="1100" dirty="0" err="1">
                <a:solidFill>
                  <a:srgbClr val="000000"/>
                </a:solidFill>
                <a:highlight>
                  <a:srgbClr val="FFFFFF"/>
                </a:highlight>
                <a:latin typeface="Cascadia Mono" panose="020B0609020000020004" pitchFamily="49" charset="0"/>
              </a:rPr>
              <a:t>.IgnoreCycles</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builder.Services.AddDbContextPool</a:t>
            </a:r>
            <a:r>
              <a:rPr lang="en-IN" sz="1100" dirty="0">
                <a:solidFill>
                  <a:srgbClr val="000000"/>
                </a:solidFill>
                <a:highlight>
                  <a:srgbClr val="FFFFFF"/>
                </a:highlight>
                <a:latin typeface="Cascadia Mono" panose="020B0609020000020004" pitchFamily="49" charset="0"/>
              </a:rPr>
              <a:t>&lt;</a:t>
            </a:r>
            <a:r>
              <a:rPr lang="en-IN" sz="1100" dirty="0" err="1">
                <a:solidFill>
                  <a:srgbClr val="2B91AF"/>
                </a:solidFill>
                <a:highlight>
                  <a:srgbClr val="FFFFFF"/>
                </a:highlight>
                <a:latin typeface="Cascadia Mono" panose="020B0609020000020004" pitchFamily="49" charset="0"/>
              </a:rPr>
              <a:t>AppdbContextRepository</a:t>
            </a:r>
            <a:r>
              <a:rPr lang="en-IN" sz="1100" dirty="0">
                <a:solidFill>
                  <a:srgbClr val="000000"/>
                </a:solidFill>
                <a:highlight>
                  <a:srgbClr val="FFFFFF"/>
                </a:highlight>
                <a:latin typeface="Cascadia Mono" panose="020B0609020000020004" pitchFamily="49" charset="0"/>
              </a:rPr>
              <a:t>&gt;(</a:t>
            </a:r>
          </a:p>
          <a:p>
            <a:r>
              <a:rPr lang="en-US" sz="1100" dirty="0">
                <a:solidFill>
                  <a:srgbClr val="000000"/>
                </a:solidFill>
                <a:highlight>
                  <a:srgbClr val="FFFFFF"/>
                </a:highlight>
                <a:latin typeface="Cascadia Mono" panose="020B0609020000020004" pitchFamily="49" charset="0"/>
              </a:rPr>
              <a:t>            options =&gt; </a:t>
            </a:r>
            <a:r>
              <a:rPr lang="en-US" sz="1100" dirty="0" err="1">
                <a:solidFill>
                  <a:srgbClr val="000000"/>
                </a:solidFill>
                <a:highlight>
                  <a:srgbClr val="FFFFFF"/>
                </a:highlight>
                <a:latin typeface="Cascadia Mono" panose="020B0609020000020004" pitchFamily="49" charset="0"/>
              </a:rPr>
              <a:t>options.UseSqlServer</a:t>
            </a:r>
            <a:r>
              <a:rPr lang="en-US" sz="1100" dirty="0">
                <a:solidFill>
                  <a:srgbClr val="000000"/>
                </a:solidFill>
                <a:highlight>
                  <a:srgbClr val="FFFFFF"/>
                </a:highlight>
                <a:latin typeface="Cascadia Mono" panose="020B0609020000020004" pitchFamily="49" charset="0"/>
              </a:rPr>
              <a:t>(</a:t>
            </a:r>
            <a:r>
              <a:rPr lang="en-US" sz="1100" dirty="0" err="1">
                <a:solidFill>
                  <a:srgbClr val="000000"/>
                </a:solidFill>
                <a:highlight>
                  <a:srgbClr val="FFFFFF"/>
                </a:highlight>
                <a:latin typeface="Cascadia Mono" panose="020B0609020000020004" pitchFamily="49" charset="0"/>
              </a:rPr>
              <a:t>builder.Configuration.GetConnectionString</a:t>
            </a:r>
            <a:r>
              <a:rPr lang="en-US" sz="1100" dirty="0">
                <a:solidFill>
                  <a:srgbClr val="000000"/>
                </a:solidFill>
                <a:highlight>
                  <a:srgbClr val="FFFFFF"/>
                </a:highlight>
                <a:latin typeface="Cascadia Mono" panose="020B0609020000020004" pitchFamily="49" charset="0"/>
              </a:rPr>
              <a:t>(</a:t>
            </a:r>
            <a:r>
              <a:rPr lang="en-US" sz="1100" dirty="0">
                <a:solidFill>
                  <a:srgbClr val="A31515"/>
                </a:solidFill>
                <a:highlight>
                  <a:srgbClr val="FFFFFF"/>
                </a:highlight>
                <a:latin typeface="Cascadia Mono" panose="020B0609020000020004" pitchFamily="49" charset="0"/>
              </a:rPr>
              <a:t>"</a:t>
            </a:r>
            <a:r>
              <a:rPr lang="en-US" sz="1100" dirty="0" err="1">
                <a:solidFill>
                  <a:srgbClr val="A31515"/>
                </a:solidFill>
                <a:highlight>
                  <a:srgbClr val="FFFFFF"/>
                </a:highlight>
                <a:latin typeface="Cascadia Mono" panose="020B0609020000020004" pitchFamily="49" charset="0"/>
              </a:rPr>
              <a:t>EmployeeDBConnection</a:t>
            </a:r>
            <a:r>
              <a:rPr lang="en-US" sz="1100" dirty="0">
                <a:solidFill>
                  <a:srgbClr val="A31515"/>
                </a:solidFill>
                <a:highlight>
                  <a:srgbClr val="FFFFFF"/>
                </a:highlight>
                <a:latin typeface="Cascadia Mono" panose="020B0609020000020004" pitchFamily="49" charset="0"/>
              </a:rPr>
              <a:t>"</a:t>
            </a:r>
            <a:r>
              <a:rPr lang="en-US"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endParaRPr lang="en-IN" sz="1100" dirty="0">
              <a:solidFill>
                <a:srgbClr val="000000"/>
              </a:solidFill>
              <a:highlight>
                <a:srgbClr val="FFFFFF"/>
              </a:highlight>
              <a:latin typeface="Cascadia Mono" panose="020B0609020000020004" pitchFamily="49" charset="0"/>
            </a:endParaRPr>
          </a:p>
          <a:p>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builder.Services.AddScoped</a:t>
            </a:r>
            <a:r>
              <a:rPr lang="en-US" sz="1100" dirty="0">
                <a:solidFill>
                  <a:srgbClr val="000000"/>
                </a:solidFill>
                <a:highlight>
                  <a:srgbClr val="FFFFFF"/>
                </a:highlight>
                <a:latin typeface="Cascadia Mono" panose="020B0609020000020004" pitchFamily="49" charset="0"/>
              </a:rPr>
              <a:t>&lt;</a:t>
            </a:r>
            <a:r>
              <a:rPr lang="en-US" sz="1100" dirty="0" err="1">
                <a:solidFill>
                  <a:srgbClr val="2B91AF"/>
                </a:solidFill>
                <a:highlight>
                  <a:srgbClr val="FFFFFF"/>
                </a:highlight>
                <a:latin typeface="Cascadia Mono" panose="020B0609020000020004" pitchFamily="49" charset="0"/>
              </a:rPr>
              <a:t>IEmployeeService</a:t>
            </a:r>
            <a:r>
              <a:rPr lang="en-US" sz="1100" dirty="0">
                <a:solidFill>
                  <a:srgbClr val="000000"/>
                </a:solidFill>
                <a:highlight>
                  <a:srgbClr val="FFFFFF"/>
                </a:highlight>
                <a:latin typeface="Cascadia Mono" panose="020B0609020000020004" pitchFamily="49" charset="0"/>
              </a:rPr>
              <a:t>, </a:t>
            </a:r>
            <a:r>
              <a:rPr lang="en-US" sz="1100" dirty="0" err="1">
                <a:solidFill>
                  <a:srgbClr val="2B91AF"/>
                </a:solidFill>
                <a:highlight>
                  <a:srgbClr val="FFFFFF"/>
                </a:highlight>
                <a:latin typeface="Cascadia Mono" panose="020B0609020000020004" pitchFamily="49" charset="0"/>
              </a:rPr>
              <a:t>SqlEmployeeService</a:t>
            </a:r>
            <a:r>
              <a:rPr lang="en-US" sz="1100" dirty="0">
                <a:solidFill>
                  <a:srgbClr val="000000"/>
                </a:solidFill>
                <a:highlight>
                  <a:srgbClr val="FFFFFF"/>
                </a:highlight>
                <a:latin typeface="Cascadia Mono" panose="020B0609020000020004" pitchFamily="49" charset="0"/>
              </a:rPr>
              <a:t>&gt;();</a:t>
            </a:r>
            <a:endParaRPr lang="en-IN" sz="1100" dirty="0">
              <a:solidFill>
                <a:srgbClr val="000000"/>
              </a:solidFill>
              <a:highlight>
                <a:srgbClr val="FFFFFF"/>
              </a:highlight>
              <a:latin typeface="Cascadia Mono" panose="020B0609020000020004" pitchFamily="49" charset="0"/>
            </a:endParaRPr>
          </a:p>
          <a:p>
            <a:endParaRPr lang="en-IN" sz="1100" dirty="0">
              <a:solidFill>
                <a:srgbClr val="000000"/>
              </a:solidFill>
              <a:highlight>
                <a:srgbClr val="FFFFFF"/>
              </a:highlight>
              <a:latin typeface="Cascadia Mono" panose="020B0609020000020004" pitchFamily="49" charset="0"/>
            </a:endParaRPr>
          </a:p>
          <a:p>
            <a:r>
              <a:rPr lang="en-US" sz="1100" dirty="0">
                <a:solidFill>
                  <a:srgbClr val="000000"/>
                </a:solidFill>
                <a:highlight>
                  <a:srgbClr val="FFFFFF"/>
                </a:highlight>
                <a:latin typeface="Cascadia Mono" panose="020B0609020000020004" pitchFamily="49" charset="0"/>
              </a:rPr>
              <a:t>            </a:t>
            </a:r>
            <a:r>
              <a:rPr lang="en-US" sz="1100" dirty="0">
                <a:solidFill>
                  <a:srgbClr val="008000"/>
                </a:solidFill>
                <a:highlight>
                  <a:srgbClr val="FFFFFF"/>
                </a:highlight>
                <a:latin typeface="Cascadia Mono" panose="020B0609020000020004" pitchFamily="49" charset="0"/>
              </a:rPr>
              <a:t>// Learn more about configuring Swagger/</a:t>
            </a:r>
            <a:r>
              <a:rPr lang="en-US" sz="1100" dirty="0" err="1">
                <a:solidFill>
                  <a:srgbClr val="008000"/>
                </a:solidFill>
                <a:highlight>
                  <a:srgbClr val="FFFFFF"/>
                </a:highlight>
                <a:latin typeface="Cascadia Mono" panose="020B0609020000020004" pitchFamily="49" charset="0"/>
              </a:rPr>
              <a:t>OpenAPI</a:t>
            </a:r>
            <a:r>
              <a:rPr lang="en-US" sz="1100" dirty="0">
                <a:solidFill>
                  <a:srgbClr val="008000"/>
                </a:solidFill>
                <a:highlight>
                  <a:srgbClr val="FFFFFF"/>
                </a:highlight>
                <a:latin typeface="Cascadia Mono" panose="020B0609020000020004" pitchFamily="49" charset="0"/>
              </a:rPr>
              <a:t> at https://aka.ms/aspnetcore/swashbuckle</a:t>
            </a:r>
            <a:endParaRPr lang="en-US"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builder.Services.AddEndpointsApiExplorer</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builder.Services.AddSwaggerGen</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var</a:t>
            </a:r>
            <a:r>
              <a:rPr lang="en-IN" sz="1100" dirty="0">
                <a:solidFill>
                  <a:srgbClr val="000000"/>
                </a:solidFill>
                <a:highlight>
                  <a:srgbClr val="FFFFFF"/>
                </a:highlight>
                <a:latin typeface="Cascadia Mono" panose="020B0609020000020004" pitchFamily="49" charset="0"/>
              </a:rPr>
              <a:t> app = </a:t>
            </a:r>
            <a:r>
              <a:rPr lang="en-IN" sz="1100" dirty="0" err="1">
                <a:solidFill>
                  <a:srgbClr val="000000"/>
                </a:solidFill>
                <a:highlight>
                  <a:srgbClr val="FFFFFF"/>
                </a:highlight>
                <a:latin typeface="Cascadia Mono" panose="020B0609020000020004" pitchFamily="49" charset="0"/>
              </a:rPr>
              <a:t>builder.Build</a:t>
            </a:r>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8000"/>
                </a:solidFill>
                <a:highlight>
                  <a:srgbClr val="FFFFFF"/>
                </a:highlight>
                <a:latin typeface="Cascadia Mono" panose="020B0609020000020004" pitchFamily="49" charset="0"/>
              </a:rPr>
              <a:t>// Configure the HTTP request pipeline.</a:t>
            </a:r>
            <a:endParaRPr lang="en-US"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if</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app.Environment.IsDevelopment</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app.UseSwagger</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app.UseSwaggerUI</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app.UseHttpsRedirection</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app.UseAuthorization</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app.MapControllers</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app.Run</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3677568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D87D68-71F4-F8A3-661C-05EE9F66C563}"/>
              </a:ext>
            </a:extLst>
          </p:cNvPr>
          <p:cNvSpPr txBox="1"/>
          <p:nvPr/>
        </p:nvSpPr>
        <p:spPr>
          <a:xfrm>
            <a:off x="736600" y="941781"/>
            <a:ext cx="6096000" cy="4524315"/>
          </a:xfrm>
          <a:prstGeom prst="rect">
            <a:avLst/>
          </a:prstGeom>
          <a:noFill/>
        </p:spPr>
        <p:txBody>
          <a:bodyPr wrap="square">
            <a:spAutoFit/>
          </a:bodyPr>
          <a:lstStyle/>
          <a:p>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"Logging"</a:t>
            </a:r>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a:t>
            </a:r>
            <a:r>
              <a:rPr lang="en-IN" sz="1200" dirty="0" err="1">
                <a:solidFill>
                  <a:srgbClr val="2E75B6"/>
                </a:solidFill>
                <a:highlight>
                  <a:srgbClr val="FFFFFF"/>
                </a:highlight>
                <a:latin typeface="Cascadia Mono" panose="020B0609020000020004" pitchFamily="49" charset="0"/>
              </a:rPr>
              <a:t>LogLevel</a:t>
            </a:r>
            <a:r>
              <a:rPr lang="en-IN" sz="1200" dirty="0">
                <a:solidFill>
                  <a:srgbClr val="2E75B6"/>
                </a:solidFill>
                <a:highlight>
                  <a:srgbClr val="FFFFFF"/>
                </a:highlight>
                <a:latin typeface="Cascadia Mono" panose="020B0609020000020004" pitchFamily="49" charset="0"/>
              </a:rPr>
              <a:t>"</a:t>
            </a:r>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"Default"</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"Information"</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a:t>
            </a:r>
            <a:r>
              <a:rPr lang="en-IN" sz="1200" dirty="0" err="1">
                <a:solidFill>
                  <a:srgbClr val="2E75B6"/>
                </a:solidFill>
                <a:highlight>
                  <a:srgbClr val="FFFFFF"/>
                </a:highlight>
                <a:latin typeface="Cascadia Mono" panose="020B0609020000020004" pitchFamily="49" charset="0"/>
              </a:rPr>
              <a:t>Microsoft.AspNetCore</a:t>
            </a:r>
            <a:r>
              <a:rPr lang="en-IN" sz="1200" dirty="0">
                <a:solidFill>
                  <a:srgbClr val="2E75B6"/>
                </a:solidFill>
                <a:highlight>
                  <a:srgbClr val="FFFFFF"/>
                </a:highlight>
                <a:latin typeface="Cascadia Mono" panose="020B0609020000020004" pitchFamily="49" charset="0"/>
              </a:rPr>
              <a:t>"</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"Warning"</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"Debug"</a:t>
            </a:r>
            <a:r>
              <a:rPr lang="en-IN" sz="1200" dirty="0">
                <a:solidFill>
                  <a:srgbClr val="000000"/>
                </a:solidFill>
                <a:highlight>
                  <a:srgbClr val="FFFFFF"/>
                </a:highlight>
                <a:latin typeface="Cascadia Mono" panose="020B0609020000020004" pitchFamily="49" charset="0"/>
              </a:rPr>
              <a:t>: { </a:t>
            </a:r>
            <a:r>
              <a:rPr lang="en-IN" sz="1200" dirty="0">
                <a:solidFill>
                  <a:srgbClr val="008000"/>
                </a:solidFill>
                <a:highlight>
                  <a:srgbClr val="FFFFFF"/>
                </a:highlight>
                <a:latin typeface="Cascadia Mono" panose="020B0609020000020004" pitchFamily="49" charset="0"/>
              </a:rPr>
              <a:t>// Debug provider.</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a:t>
            </a:r>
            <a:r>
              <a:rPr lang="en-IN" sz="1200" dirty="0" err="1">
                <a:solidFill>
                  <a:srgbClr val="2E75B6"/>
                </a:solidFill>
                <a:highlight>
                  <a:srgbClr val="FFFFFF"/>
                </a:highlight>
                <a:latin typeface="Cascadia Mono" panose="020B0609020000020004" pitchFamily="49" charset="0"/>
              </a:rPr>
              <a:t>LogLevel</a:t>
            </a:r>
            <a:r>
              <a:rPr lang="en-IN" sz="1200" dirty="0">
                <a:solidFill>
                  <a:srgbClr val="2E75B6"/>
                </a:solidFill>
                <a:highlight>
                  <a:srgbClr val="FFFFFF"/>
                </a:highlight>
                <a:latin typeface="Cascadia Mono" panose="020B0609020000020004" pitchFamily="49" charset="0"/>
              </a:rPr>
              <a:t>"</a:t>
            </a:r>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"Default"</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"Information"</a:t>
            </a:r>
            <a:r>
              <a:rPr lang="en-IN" sz="1200" dirty="0">
                <a:solidFill>
                  <a:srgbClr val="000000"/>
                </a:solidFill>
                <a:highlight>
                  <a:srgbClr val="FFFFFF"/>
                </a:highlight>
                <a:latin typeface="Cascadia Mono" panose="020B0609020000020004" pitchFamily="49" charset="0"/>
              </a:rPr>
              <a:t> </a:t>
            </a:r>
            <a:r>
              <a:rPr lang="en-IN" sz="1200" dirty="0">
                <a:solidFill>
                  <a:srgbClr val="008000"/>
                </a:solidFill>
                <a:highlight>
                  <a:srgbClr val="FFFFFF"/>
                </a:highlight>
                <a:latin typeface="Cascadia Mono" panose="020B0609020000020004" pitchFamily="49" charset="0"/>
              </a:rPr>
              <a:t>// Overrides preceding </a:t>
            </a:r>
            <a:r>
              <a:rPr lang="en-IN" sz="1200" dirty="0" err="1">
                <a:solidFill>
                  <a:srgbClr val="008000"/>
                </a:solidFill>
                <a:highlight>
                  <a:srgbClr val="FFFFFF"/>
                </a:highlight>
                <a:latin typeface="Cascadia Mono" panose="020B0609020000020004" pitchFamily="49" charset="0"/>
              </a:rPr>
              <a:t>LogLevel:Default</a:t>
            </a:r>
            <a:r>
              <a:rPr lang="en-IN" sz="1200" dirty="0">
                <a:solidFill>
                  <a:srgbClr val="008000"/>
                </a:solidFill>
                <a:highlight>
                  <a:srgbClr val="FFFFFF"/>
                </a:highlight>
                <a:latin typeface="Cascadia Mono" panose="020B0609020000020004" pitchFamily="49" charset="0"/>
              </a:rPr>
              <a:t> setting.</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"Console"</a:t>
            </a:r>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a:t>
            </a:r>
            <a:r>
              <a:rPr lang="en-IN" sz="1200" dirty="0" err="1">
                <a:solidFill>
                  <a:srgbClr val="2E75B6"/>
                </a:solidFill>
                <a:highlight>
                  <a:srgbClr val="FFFFFF"/>
                </a:highlight>
                <a:latin typeface="Cascadia Mono" panose="020B0609020000020004" pitchFamily="49" charset="0"/>
              </a:rPr>
              <a:t>IncludeScopes</a:t>
            </a:r>
            <a:r>
              <a:rPr lang="en-IN" sz="1200" dirty="0">
                <a:solidFill>
                  <a:srgbClr val="2E75B6"/>
                </a:solidFill>
                <a:highlight>
                  <a:srgbClr val="FFFFFF"/>
                </a:highlight>
                <a:latin typeface="Cascadia Mono" panose="020B0609020000020004" pitchFamily="49" charset="0"/>
              </a:rPr>
              <a:t>"</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true</a:t>
            </a:r>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a:t>
            </a:r>
            <a:r>
              <a:rPr lang="en-IN" sz="1200" dirty="0" err="1">
                <a:solidFill>
                  <a:srgbClr val="2E75B6"/>
                </a:solidFill>
                <a:highlight>
                  <a:srgbClr val="FFFFFF"/>
                </a:highlight>
                <a:latin typeface="Cascadia Mono" panose="020B0609020000020004" pitchFamily="49" charset="0"/>
              </a:rPr>
              <a:t>ConnectionStrings</a:t>
            </a:r>
            <a:r>
              <a:rPr lang="en-IN" sz="1200" dirty="0">
                <a:solidFill>
                  <a:srgbClr val="2E75B6"/>
                </a:solidFill>
                <a:highlight>
                  <a:srgbClr val="FFFFFF"/>
                </a:highlight>
                <a:latin typeface="Cascadia Mono" panose="020B0609020000020004" pitchFamily="49" charset="0"/>
              </a:rPr>
              <a:t>"</a:t>
            </a:r>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a:solidFill>
                  <a:srgbClr val="2E75B6"/>
                </a:solidFill>
                <a:highlight>
                  <a:srgbClr val="FFFFFF"/>
                </a:highlight>
                <a:latin typeface="Cascadia Mono" panose="020B0609020000020004" pitchFamily="49" charset="0"/>
              </a:rPr>
              <a:t>"</a:t>
            </a:r>
            <a:r>
              <a:rPr lang="en-US" sz="1200" dirty="0" err="1">
                <a:solidFill>
                  <a:srgbClr val="2E75B6"/>
                </a:solidFill>
                <a:highlight>
                  <a:srgbClr val="FFFFFF"/>
                </a:highlight>
                <a:latin typeface="Cascadia Mono" panose="020B0609020000020004" pitchFamily="49" charset="0"/>
              </a:rPr>
              <a:t>EmployeeDBConnection</a:t>
            </a:r>
            <a:r>
              <a:rPr lang="en-US" sz="1200" dirty="0">
                <a:solidFill>
                  <a:srgbClr val="2E75B6"/>
                </a:solidFill>
                <a:highlight>
                  <a:srgbClr val="FFFFFF"/>
                </a:highlight>
                <a:latin typeface="Cascadia Mono" panose="020B0609020000020004" pitchFamily="49" charset="0"/>
              </a:rPr>
              <a:t>"</a:t>
            </a:r>
            <a:r>
              <a:rPr lang="en-US" sz="1200" dirty="0">
                <a:solidFill>
                  <a:srgbClr val="000000"/>
                </a:solidFill>
                <a:highlight>
                  <a:srgbClr val="FFFFFF"/>
                </a:highlight>
                <a:latin typeface="Cascadia Mono" panose="020B0609020000020004" pitchFamily="49" charset="0"/>
              </a:rPr>
              <a:t>: </a:t>
            </a:r>
            <a:r>
              <a:rPr lang="en-US" sz="1200" dirty="0">
                <a:solidFill>
                  <a:srgbClr val="A31515"/>
                </a:solidFill>
                <a:highlight>
                  <a:srgbClr val="FFFFFF"/>
                </a:highlight>
                <a:latin typeface="Cascadia Mono" panose="020B0609020000020004" pitchFamily="49" charset="0"/>
              </a:rPr>
              <a:t>"Data Source=(</a:t>
            </a:r>
            <a:r>
              <a:rPr lang="en-US" sz="1200" dirty="0" err="1">
                <a:solidFill>
                  <a:srgbClr val="A31515"/>
                </a:solidFill>
                <a:highlight>
                  <a:srgbClr val="FFFFFF"/>
                </a:highlight>
                <a:latin typeface="Cascadia Mono" panose="020B0609020000020004" pitchFamily="49" charset="0"/>
              </a:rPr>
              <a:t>localdb</a:t>
            </a:r>
            <a:r>
              <a:rPr lang="en-US" sz="1200" dirty="0">
                <a:solidFill>
                  <a:srgbClr val="A31515"/>
                </a:solidFill>
                <a:highlight>
                  <a:srgbClr val="FFFFFF"/>
                </a:highlight>
                <a:latin typeface="Cascadia Mono" panose="020B0609020000020004" pitchFamily="49" charset="0"/>
              </a:rPr>
              <a:t>)\\</a:t>
            </a:r>
            <a:r>
              <a:rPr lang="en-US" sz="1200" dirty="0" err="1">
                <a:solidFill>
                  <a:srgbClr val="A31515"/>
                </a:solidFill>
                <a:highlight>
                  <a:srgbClr val="FFFFFF"/>
                </a:highlight>
                <a:latin typeface="Cascadia Mono" panose="020B0609020000020004" pitchFamily="49" charset="0"/>
              </a:rPr>
              <a:t>ProjectModels;Initial</a:t>
            </a:r>
            <a:r>
              <a:rPr lang="en-US" sz="1200" dirty="0">
                <a:solidFill>
                  <a:srgbClr val="A31515"/>
                </a:solidFill>
                <a:highlight>
                  <a:srgbClr val="FFFFFF"/>
                </a:highlight>
                <a:latin typeface="Cascadia Mono" panose="020B0609020000020004" pitchFamily="49" charset="0"/>
              </a:rPr>
              <a:t> Catalog=</a:t>
            </a:r>
            <a:r>
              <a:rPr lang="en-US" sz="1200" dirty="0" err="1">
                <a:solidFill>
                  <a:srgbClr val="A31515"/>
                </a:solidFill>
                <a:highlight>
                  <a:srgbClr val="FFFFFF"/>
                </a:highlight>
                <a:latin typeface="Cascadia Mono" panose="020B0609020000020004" pitchFamily="49" charset="0"/>
              </a:rPr>
              <a:t>Demoempdept;Integrated</a:t>
            </a:r>
            <a:r>
              <a:rPr lang="en-US" sz="1200" dirty="0">
                <a:solidFill>
                  <a:srgbClr val="A31515"/>
                </a:solidFill>
                <a:highlight>
                  <a:srgbClr val="FFFFFF"/>
                </a:highlight>
                <a:latin typeface="Cascadia Mono" panose="020B0609020000020004" pitchFamily="49" charset="0"/>
              </a:rPr>
              <a:t> Security=True"</a:t>
            </a:r>
            <a:endParaRPr lang="en-US"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2E75B6"/>
                </a:solidFill>
                <a:highlight>
                  <a:srgbClr val="FFFFFF"/>
                </a:highlight>
                <a:latin typeface="Cascadia Mono" panose="020B0609020000020004" pitchFamily="49" charset="0"/>
              </a:rPr>
              <a:t>"</a:t>
            </a:r>
            <a:r>
              <a:rPr lang="en-IN" sz="1200" dirty="0" err="1">
                <a:solidFill>
                  <a:srgbClr val="2E75B6"/>
                </a:solidFill>
                <a:highlight>
                  <a:srgbClr val="FFFFFF"/>
                </a:highlight>
                <a:latin typeface="Cascadia Mono" panose="020B0609020000020004" pitchFamily="49" charset="0"/>
              </a:rPr>
              <a:t>AllowedHosts</a:t>
            </a:r>
            <a:r>
              <a:rPr lang="en-IN" sz="1200" dirty="0">
                <a:solidFill>
                  <a:srgbClr val="2E75B6"/>
                </a:solidFill>
                <a:highlight>
                  <a:srgbClr val="FFFFFF"/>
                </a:highlight>
                <a:latin typeface="Cascadia Mono" panose="020B0609020000020004" pitchFamily="49" charset="0"/>
              </a:rPr>
              <a:t>"</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698155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36072" y="803341"/>
            <a:ext cx="8201890" cy="2062103"/>
          </a:xfrm>
          <a:prstGeom prst="rect">
            <a:avLst/>
          </a:prstGeom>
        </p:spPr>
        <p:txBody>
          <a:bodyPr wrap="square">
            <a:spAutoFit/>
          </a:bodyPr>
          <a:lstStyle/>
          <a:p>
            <a:pPr lvl="0">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Microsoft.VisualStudio.Web.CodeGeneration.Design</a:t>
            </a:r>
            <a:r>
              <a:rPr lang="en-IN" sz="1600" b="1" dirty="0">
                <a:solidFill>
                  <a:srgbClr val="3D3D3D"/>
                </a:solidFill>
                <a:latin typeface="Open Sans"/>
              </a:rPr>
              <a:t> -Version 7.0.0</a:t>
            </a:r>
            <a:endParaRPr lang="en-IN" sz="1600" dirty="0">
              <a:solidFill>
                <a:srgbClr val="3D3D3D"/>
              </a:solidFill>
              <a:latin typeface="Open Sans"/>
            </a:endParaRPr>
          </a:p>
          <a:p>
            <a:pPr lvl="0">
              <a:defRPr/>
            </a:pPr>
            <a:r>
              <a:rPr lang="en-IN" sz="1600" dirty="0">
                <a:solidFill>
                  <a:srgbClr val="3D3D3D"/>
                </a:solidFill>
                <a:latin typeface="Open Sans"/>
              </a:rPr>
              <a:t>This package helps create database context and model classes from the database.</a:t>
            </a:r>
          </a:p>
          <a:p>
            <a:pPr lvl="0">
              <a:buFont typeface="Arial" panose="020B0604020202020204" pitchFamily="34" charset="0"/>
              <a:buChar char="•"/>
              <a:defRPr/>
            </a:pPr>
            <a:endParaRPr lang="en-IN" sz="1600" b="1" dirty="0">
              <a:solidFill>
                <a:srgbClr val="3D3D3D"/>
              </a:solidFill>
              <a:latin typeface="Open Sans"/>
            </a:endParaRPr>
          </a:p>
          <a:p>
            <a:pPr lvl="0">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Microsoft.EntityFrameworkCore.Tools</a:t>
            </a:r>
            <a:r>
              <a:rPr lang="en-IN" sz="1600" b="1" dirty="0">
                <a:solidFill>
                  <a:srgbClr val="3D3D3D"/>
                </a:solidFill>
                <a:latin typeface="Open Sans"/>
              </a:rPr>
              <a:t> -Version 7.0.0</a:t>
            </a:r>
            <a:endParaRPr lang="en-IN" sz="1600" dirty="0">
              <a:solidFill>
                <a:srgbClr val="3D3D3D"/>
              </a:solidFill>
              <a:latin typeface="Open Sans"/>
            </a:endParaRPr>
          </a:p>
          <a:p>
            <a:pPr lvl="0">
              <a:defRPr/>
            </a:pPr>
            <a:r>
              <a:rPr lang="en-IN" sz="1600" dirty="0">
                <a:solidFill>
                  <a:srgbClr val="3D3D3D"/>
                </a:solidFill>
                <a:latin typeface="Open Sans"/>
              </a:rPr>
              <a:t>Database provider allows Entity Framework Core to work with SQL Server.</a:t>
            </a:r>
          </a:p>
          <a:p>
            <a:pPr lvl="0">
              <a:defRPr/>
            </a:pPr>
            <a:endParaRPr lang="en-IN" sz="1600" dirty="0">
              <a:solidFill>
                <a:srgbClr val="3D3D3D"/>
              </a:solidFill>
              <a:latin typeface="Open Sans"/>
            </a:endParaRPr>
          </a:p>
          <a:p>
            <a:pPr lvl="0">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Microsoft.EntityFrameworkCore.SqlServer</a:t>
            </a:r>
            <a:r>
              <a:rPr lang="en-IN" sz="1600" b="1" dirty="0">
                <a:solidFill>
                  <a:srgbClr val="3D3D3D"/>
                </a:solidFill>
                <a:latin typeface="Open Sans"/>
              </a:rPr>
              <a:t> -Version 7.0.0</a:t>
            </a:r>
            <a:endParaRPr lang="en-IN" sz="1600" dirty="0">
              <a:solidFill>
                <a:srgbClr val="3D3D3D"/>
              </a:solidFill>
              <a:latin typeface="Open Sans"/>
            </a:endParaRPr>
          </a:p>
        </p:txBody>
      </p:sp>
      <p:sp>
        <p:nvSpPr>
          <p:cNvPr id="3" name="TextBox 2">
            <a:extLst>
              <a:ext uri="{FF2B5EF4-FFF2-40B4-BE49-F238E27FC236}">
                <a16:creationId xmlns:a16="http://schemas.microsoft.com/office/drawing/2014/main" id="{E52F3E12-73C6-4334-1659-443BAAC586EE}"/>
              </a:ext>
            </a:extLst>
          </p:cNvPr>
          <p:cNvSpPr txBox="1"/>
          <p:nvPr/>
        </p:nvSpPr>
        <p:spPr>
          <a:xfrm>
            <a:off x="897466" y="3304107"/>
            <a:ext cx="10049934" cy="2585323"/>
          </a:xfrm>
          <a:prstGeom prst="rect">
            <a:avLst/>
          </a:prstGeom>
          <a:noFill/>
        </p:spPr>
        <p:txBody>
          <a:bodyPr wrap="square">
            <a:spAutoFit/>
          </a:bodyPr>
          <a:lstStyle/>
          <a:p>
            <a:r>
              <a:rPr lang="en-IN" sz="1800" dirty="0">
                <a:solidFill>
                  <a:srgbClr val="0000FF"/>
                </a:solidFill>
                <a:highlight>
                  <a:srgbClr val="FFFFFF"/>
                </a:highlight>
                <a:latin typeface="Cascadia Mono" panose="020B0609020000020004" pitchFamily="49" charset="0"/>
              </a:rPr>
              <a:t>var</a:t>
            </a:r>
            <a:r>
              <a:rPr lang="en-IN" sz="1800" dirty="0">
                <a:solidFill>
                  <a:srgbClr val="000000"/>
                </a:solidFill>
                <a:highlight>
                  <a:srgbClr val="FFFFFF"/>
                </a:highlight>
                <a:latin typeface="Cascadia Mono" panose="020B0609020000020004" pitchFamily="49" charset="0"/>
              </a:rPr>
              <a:t> author = </a:t>
            </a:r>
            <a:r>
              <a:rPr lang="en-IN" sz="1800" dirty="0">
                <a:solidFill>
                  <a:srgbClr val="0000FF"/>
                </a:solidFill>
                <a:highlight>
                  <a:srgbClr val="FFFFFF"/>
                </a:highlight>
                <a:latin typeface="Cascadia Mono" panose="020B0609020000020004" pitchFamily="49" charset="0"/>
              </a:rPr>
              <a:t>new</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Author</a:t>
            </a:r>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FirstName = </a:t>
            </a:r>
            <a:r>
              <a:rPr lang="en-IN" sz="1800" dirty="0">
                <a:solidFill>
                  <a:srgbClr val="A31515"/>
                </a:solidFill>
                <a:highlight>
                  <a:srgbClr val="FFFFFF"/>
                </a:highlight>
                <a:latin typeface="Cascadia Mono" panose="020B0609020000020004" pitchFamily="49" charset="0"/>
              </a:rPr>
              <a:t>"William"</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LastName = </a:t>
            </a:r>
            <a:r>
              <a:rPr lang="en-IN" sz="1800" dirty="0">
                <a:solidFill>
                  <a:srgbClr val="A31515"/>
                </a:solidFill>
                <a:highlight>
                  <a:srgbClr val="FFFFFF"/>
                </a:highlight>
                <a:latin typeface="Cascadia Mono" panose="020B0609020000020004" pitchFamily="49" charset="0"/>
              </a:rPr>
              <a:t>"Shakespeare"</a:t>
            </a:r>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Books = </a:t>
            </a:r>
            <a:r>
              <a:rPr lang="en-US" sz="1800" dirty="0">
                <a:solidFill>
                  <a:srgbClr val="0000FF"/>
                </a:solidFill>
                <a:highlight>
                  <a:srgbClr val="FFFFFF"/>
                </a:highlight>
                <a:latin typeface="Cascadia Mono" panose="020B0609020000020004" pitchFamily="49" charset="0"/>
              </a:rPr>
              <a:t>new</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List</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Book</a:t>
            </a:r>
            <a:r>
              <a:rPr lang="en-US" sz="1800" dirty="0">
                <a:solidFill>
                  <a:srgbClr val="000000"/>
                </a:solidFill>
                <a:highlight>
                  <a:srgbClr val="FFFFFF"/>
                </a:highlight>
                <a:latin typeface="Cascadia Mono" panose="020B0609020000020004" pitchFamily="49" charset="0"/>
              </a:rPr>
              <a:t>&gt; { </a:t>
            </a:r>
            <a:r>
              <a:rPr lang="en-US" sz="1800" dirty="0">
                <a:solidFill>
                  <a:srgbClr val="0000FF"/>
                </a:solidFill>
                <a:highlight>
                  <a:srgbClr val="FFFFFF"/>
                </a:highlight>
                <a:latin typeface="Cascadia Mono" panose="020B0609020000020004" pitchFamily="49" charset="0"/>
              </a:rPr>
              <a:t>new</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Book</a:t>
            </a:r>
            <a:r>
              <a:rPr lang="en-US" sz="1800" dirty="0">
                <a:solidFill>
                  <a:srgbClr val="000000"/>
                </a:solidFill>
                <a:highlight>
                  <a:srgbClr val="FFFFFF"/>
                </a:highlight>
                <a:latin typeface="Cascadia Mono" panose="020B0609020000020004" pitchFamily="49" charset="0"/>
              </a:rPr>
              <a:t> { Title = </a:t>
            </a:r>
            <a:r>
              <a:rPr lang="en-US" sz="1800" dirty="0">
                <a:solidFill>
                  <a:srgbClr val="A31515"/>
                </a:solidFill>
                <a:highlight>
                  <a:srgbClr val="FFFFFF"/>
                </a:highlight>
                <a:latin typeface="Cascadia Mono" panose="020B0609020000020004" pitchFamily="49" charset="0"/>
              </a:rPr>
              <a:t>"Hamlet"</a:t>
            </a:r>
            <a:r>
              <a:rPr lang="en-US"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new</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Book</a:t>
            </a:r>
            <a:r>
              <a:rPr lang="en-IN" sz="1800" dirty="0">
                <a:solidFill>
                  <a:srgbClr val="000000"/>
                </a:solidFill>
                <a:highlight>
                  <a:srgbClr val="FFFFFF"/>
                </a:highlight>
                <a:latin typeface="Cascadia Mono" panose="020B0609020000020004" pitchFamily="49" charset="0"/>
              </a:rPr>
              <a:t> { Title = </a:t>
            </a:r>
            <a:r>
              <a:rPr lang="en-IN" sz="1800" dirty="0">
                <a:solidFill>
                  <a:srgbClr val="A31515"/>
                </a:solidFill>
                <a:highlight>
                  <a:srgbClr val="FFFFFF"/>
                </a:highlight>
                <a:latin typeface="Cascadia Mono" panose="020B0609020000020004" pitchFamily="49" charset="0"/>
              </a:rPr>
              <a:t>"Othello"</a:t>
            </a:r>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new</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Book</a:t>
            </a:r>
            <a:r>
              <a:rPr lang="en-IN" sz="1800" dirty="0">
                <a:solidFill>
                  <a:srgbClr val="000000"/>
                </a:solidFill>
                <a:highlight>
                  <a:srgbClr val="FFFFFF"/>
                </a:highlight>
                <a:latin typeface="Cascadia Mono" panose="020B0609020000020004" pitchFamily="49" charset="0"/>
              </a:rPr>
              <a:t> { Title = </a:t>
            </a:r>
            <a:r>
              <a:rPr lang="en-IN" sz="1800" dirty="0">
                <a:solidFill>
                  <a:srgbClr val="A31515"/>
                </a:solidFill>
                <a:highlight>
                  <a:srgbClr val="FFFFFF"/>
                </a:highlight>
                <a:latin typeface="Cascadia Mono" panose="020B0609020000020004" pitchFamily="49" charset="0"/>
              </a:rPr>
              <a:t>"MacBeth"</a:t>
            </a:r>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p>
        </p:txBody>
      </p:sp>
    </p:spTree>
    <p:extLst>
      <p:ext uri="{BB962C8B-B14F-4D97-AF65-F5344CB8AC3E}">
        <p14:creationId xmlns:p14="http://schemas.microsoft.com/office/powerpoint/2010/main" val="857416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4727" y="316821"/>
            <a:ext cx="4959927" cy="276999"/>
          </a:xfrm>
          <a:prstGeom prst="rect">
            <a:avLst/>
          </a:prstGeom>
        </p:spPr>
        <p:txBody>
          <a:bodyPr wrap="square">
            <a:spAutoFit/>
          </a:bodyPr>
          <a:lstStyle/>
          <a:p>
            <a:r>
              <a:rPr lang="en-IN" sz="1200" dirty="0">
                <a:solidFill>
                  <a:srgbClr val="000000"/>
                </a:solidFill>
                <a:latin typeface="Cascadia Mono" panose="020B0609020000020004" pitchFamily="49" charset="0"/>
              </a:rPr>
              <a:t> </a:t>
            </a:r>
            <a:endParaRPr lang="en-IN" sz="1200" dirty="0"/>
          </a:p>
        </p:txBody>
      </p:sp>
      <p:sp>
        <p:nvSpPr>
          <p:cNvPr id="5" name="Rectangle 4"/>
          <p:cNvSpPr/>
          <p:nvPr/>
        </p:nvSpPr>
        <p:spPr>
          <a:xfrm>
            <a:off x="5375563" y="0"/>
            <a:ext cx="6631709" cy="2631490"/>
          </a:xfrm>
          <a:prstGeom prst="rect">
            <a:avLst/>
          </a:prstGeom>
        </p:spPr>
        <p:txBody>
          <a:bodyPr wrap="square">
            <a:spAutoFit/>
          </a:bodyPr>
          <a:lstStyle/>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System.ComponentModel.DataAnnotations</a:t>
            </a:r>
            <a:r>
              <a:rPr lang="en-IN" sz="1100" dirty="0">
                <a:solidFill>
                  <a:srgbClr val="000000"/>
                </a:solidFill>
                <a:latin typeface="Cascadia Mono" panose="020B0609020000020004" pitchFamily="49" charset="0"/>
              </a:rPr>
              <a:t>;</a:t>
            </a:r>
          </a:p>
          <a:p>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class</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Book</a:t>
            </a:r>
          </a:p>
          <a:p>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Key</a:t>
            </a:r>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int</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BookId</a:t>
            </a:r>
            <a:r>
              <a:rPr lang="en-US" sz="1100" dirty="0">
                <a:solidFill>
                  <a:srgbClr val="000000"/>
                </a:solidFill>
                <a:highlight>
                  <a:srgbClr val="FFFFFF"/>
                </a:highlight>
                <a:latin typeface="Cascadia Mono" panose="020B0609020000020004" pitchFamily="49" charset="0"/>
              </a:rPr>
              <a:t> { </a:t>
            </a:r>
            <a:r>
              <a:rPr lang="en-US" sz="1100" dirty="0">
                <a:solidFill>
                  <a:srgbClr val="0000FF"/>
                </a:solidFill>
                <a:highlight>
                  <a:srgbClr val="FFFFFF"/>
                </a:highlight>
                <a:latin typeface="Cascadia Mono" panose="020B0609020000020004" pitchFamily="49" charset="0"/>
              </a:rPr>
              <a:t>get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p>
          <a:p>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MaxLength</a:t>
            </a:r>
            <a:r>
              <a:rPr lang="en-IN" sz="1100" dirty="0">
                <a:solidFill>
                  <a:srgbClr val="000000"/>
                </a:solidFill>
                <a:highlight>
                  <a:srgbClr val="FFFFFF"/>
                </a:highlight>
                <a:latin typeface="Cascadia Mono" panose="020B0609020000020004" pitchFamily="49" charset="0"/>
              </a:rPr>
              <a:t>(25)]</a:t>
            </a:r>
          </a:p>
          <a:p>
            <a:r>
              <a:rPr lang="en-US" sz="1100" dirty="0">
                <a:solidFill>
                  <a:srgbClr val="000000"/>
                </a:solidFill>
                <a:highlight>
                  <a:srgbClr val="FFFFFF"/>
                </a:highlight>
                <a:latin typeface="Cascadia Mono" panose="020B0609020000020004" pitchFamily="49" charset="0"/>
              </a:rPr>
              <a:t>    [</a:t>
            </a:r>
            <a:r>
              <a:rPr lang="en-US" sz="1100" dirty="0" err="1">
                <a:solidFill>
                  <a:srgbClr val="2B91AF"/>
                </a:solidFill>
                <a:highlight>
                  <a:srgbClr val="FFFFFF"/>
                </a:highlight>
                <a:latin typeface="Cascadia Mono" panose="020B0609020000020004" pitchFamily="49" charset="0"/>
              </a:rPr>
              <a:t>MinLength</a:t>
            </a:r>
            <a:r>
              <a:rPr lang="en-US" sz="1100" dirty="0">
                <a:solidFill>
                  <a:srgbClr val="000000"/>
                </a:solidFill>
                <a:highlight>
                  <a:srgbClr val="FFFFFF"/>
                </a:highlight>
                <a:latin typeface="Cascadia Mono" panose="020B0609020000020004" pitchFamily="49" charset="0"/>
              </a:rPr>
              <a:t>(6, </a:t>
            </a:r>
            <a:r>
              <a:rPr lang="en-US" sz="1100" dirty="0" err="1">
                <a:solidFill>
                  <a:srgbClr val="000000"/>
                </a:solidFill>
                <a:highlight>
                  <a:srgbClr val="FFFFFF"/>
                </a:highlight>
                <a:latin typeface="Cascadia Mono" panose="020B0609020000020004" pitchFamily="49" charset="0"/>
              </a:rPr>
              <a:t>ErrorMessage</a:t>
            </a:r>
            <a:r>
              <a:rPr lang="en-US" sz="1100" dirty="0">
                <a:solidFill>
                  <a:srgbClr val="000000"/>
                </a:solidFill>
                <a:highlight>
                  <a:srgbClr val="FFFFFF"/>
                </a:highlight>
                <a:latin typeface="Cascadia Mono" panose="020B0609020000020004" pitchFamily="49" charset="0"/>
              </a:rPr>
              <a:t> = </a:t>
            </a:r>
            <a:r>
              <a:rPr lang="en-US" sz="1100" dirty="0">
                <a:solidFill>
                  <a:srgbClr val="A31515"/>
                </a:solidFill>
                <a:highlight>
                  <a:srgbClr val="FFFFFF"/>
                </a:highlight>
                <a:latin typeface="Cascadia Mono" panose="020B0609020000020004" pitchFamily="49" charset="0"/>
              </a:rPr>
              <a:t>"title must be at least 6 characters long"</a:t>
            </a:r>
            <a:r>
              <a:rPr lang="en-US"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string</a:t>
            </a:r>
            <a:r>
              <a:rPr lang="en-US" sz="1100" dirty="0">
                <a:solidFill>
                  <a:srgbClr val="000000"/>
                </a:solidFill>
                <a:highlight>
                  <a:srgbClr val="FFFFFF"/>
                </a:highlight>
                <a:latin typeface="Cascadia Mono" panose="020B0609020000020004" pitchFamily="49" charset="0"/>
              </a:rPr>
              <a:t>? Title { </a:t>
            </a:r>
            <a:r>
              <a:rPr lang="en-US" sz="1100" dirty="0">
                <a:solidFill>
                  <a:srgbClr val="0000FF"/>
                </a:solidFill>
                <a:highlight>
                  <a:srgbClr val="FFFFFF"/>
                </a:highlight>
                <a:latin typeface="Cascadia Mono" panose="020B0609020000020004" pitchFamily="49" charset="0"/>
              </a:rPr>
              <a:t>get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p>
          <a:p>
            <a:endParaRPr lang="en-IN" sz="1100" dirty="0">
              <a:solidFill>
                <a:srgbClr val="000000"/>
              </a:solidFill>
              <a:highlight>
                <a:srgbClr val="FFFFFF"/>
              </a:highlight>
              <a:latin typeface="Cascadia Mono" panose="020B0609020000020004" pitchFamily="49" charset="0"/>
            </a:endParaRP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int</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AuthorId</a:t>
            </a:r>
            <a:r>
              <a:rPr lang="en-US" sz="1100" dirty="0">
                <a:solidFill>
                  <a:srgbClr val="000000"/>
                </a:solidFill>
                <a:highlight>
                  <a:srgbClr val="FFFFFF"/>
                </a:highlight>
                <a:latin typeface="Cascadia Mono" panose="020B0609020000020004" pitchFamily="49" charset="0"/>
              </a:rPr>
              <a:t> { </a:t>
            </a:r>
            <a:r>
              <a:rPr lang="en-US" sz="1100" dirty="0">
                <a:solidFill>
                  <a:srgbClr val="0000FF"/>
                </a:solidFill>
                <a:highlight>
                  <a:srgbClr val="FFFFFF"/>
                </a:highlight>
                <a:latin typeface="Cascadia Mono" panose="020B0609020000020004" pitchFamily="49" charset="0"/>
              </a:rPr>
              <a:t>get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p>
          <a:p>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Required</a:t>
            </a:r>
            <a:r>
              <a:rPr lang="en-IN" sz="1100" dirty="0">
                <a:solidFill>
                  <a:srgbClr val="000000"/>
                </a:solidFill>
                <a:highlight>
                  <a:srgbClr val="FFFFFF"/>
                </a:highlight>
                <a:latin typeface="Cascadia Mono" panose="020B0609020000020004" pitchFamily="49" charset="0"/>
              </a:rPr>
              <a:t>(</a:t>
            </a:r>
            <a:r>
              <a:rPr lang="en-IN" sz="1100" dirty="0" err="1">
                <a:solidFill>
                  <a:srgbClr val="000000"/>
                </a:solidFill>
                <a:highlight>
                  <a:srgbClr val="FFFFFF"/>
                </a:highlight>
                <a:latin typeface="Cascadia Mono" panose="020B0609020000020004" pitchFamily="49" charset="0"/>
              </a:rPr>
              <a:t>ErrorMessage</a:t>
            </a:r>
            <a:r>
              <a:rPr lang="en-IN" sz="1100" dirty="0">
                <a:solidFill>
                  <a:srgbClr val="000000"/>
                </a:solidFill>
                <a:highlight>
                  <a:srgbClr val="FFFFFF"/>
                </a:highlight>
                <a:latin typeface="Cascadia Mono" panose="020B0609020000020004" pitchFamily="49" charset="0"/>
              </a:rPr>
              <a:t> = </a:t>
            </a:r>
            <a:r>
              <a:rPr lang="en-IN" sz="1100" dirty="0">
                <a:solidFill>
                  <a:srgbClr val="A31515"/>
                </a:solidFill>
                <a:highlight>
                  <a:srgbClr val="FFFFFF"/>
                </a:highlight>
                <a:latin typeface="Cascadia Mono" panose="020B0609020000020004" pitchFamily="49" charset="0"/>
              </a:rPr>
              <a:t>"ISBN Required"</a:t>
            </a:r>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string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Isbn</a:t>
            </a:r>
            <a:r>
              <a:rPr lang="en-US" sz="1100" dirty="0">
                <a:solidFill>
                  <a:srgbClr val="000000"/>
                </a:solidFill>
                <a:highlight>
                  <a:srgbClr val="FFFFFF"/>
                </a:highlight>
                <a:latin typeface="Cascadia Mono" panose="020B0609020000020004" pitchFamily="49" charset="0"/>
              </a:rPr>
              <a:t> { </a:t>
            </a:r>
            <a:r>
              <a:rPr lang="en-US" sz="1100" dirty="0">
                <a:solidFill>
                  <a:srgbClr val="0000FF"/>
                </a:solidFill>
                <a:highlight>
                  <a:srgbClr val="FFFFFF"/>
                </a:highlight>
                <a:latin typeface="Cascadia Mono" panose="020B0609020000020004" pitchFamily="49" charset="0"/>
              </a:rPr>
              <a:t>get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a:t>
            </a:r>
            <a:endParaRPr lang="en-IN" sz="1100" dirty="0">
              <a:solidFill>
                <a:srgbClr val="000000"/>
              </a:solidFill>
              <a:latin typeface="Cascadia Mono" panose="020B0609020000020004" pitchFamily="49" charset="0"/>
            </a:endParaRPr>
          </a:p>
        </p:txBody>
      </p:sp>
      <p:sp>
        <p:nvSpPr>
          <p:cNvPr id="8" name="TextBox 7"/>
          <p:cNvSpPr txBox="1"/>
          <p:nvPr/>
        </p:nvSpPr>
        <p:spPr>
          <a:xfrm>
            <a:off x="3495964" y="31979"/>
            <a:ext cx="1662545" cy="369332"/>
          </a:xfrm>
          <a:prstGeom prst="rect">
            <a:avLst/>
          </a:prstGeom>
          <a:noFill/>
        </p:spPr>
        <p:txBody>
          <a:bodyPr wrap="square" rtlCol="0">
            <a:spAutoFit/>
          </a:bodyPr>
          <a:lstStyle/>
          <a:p>
            <a:r>
              <a:rPr lang="en-IN" dirty="0"/>
              <a:t>POCO class</a:t>
            </a:r>
          </a:p>
        </p:txBody>
      </p:sp>
      <p:sp>
        <p:nvSpPr>
          <p:cNvPr id="9" name="TextBox 8"/>
          <p:cNvSpPr txBox="1"/>
          <p:nvPr/>
        </p:nvSpPr>
        <p:spPr>
          <a:xfrm>
            <a:off x="526473" y="6012874"/>
            <a:ext cx="3629891"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Add-Migration</a:t>
            </a:r>
          </a:p>
          <a:p>
            <a:r>
              <a:rPr lang="en-IN" dirty="0"/>
              <a:t>Update-Database</a:t>
            </a:r>
          </a:p>
        </p:txBody>
      </p:sp>
      <p:sp>
        <p:nvSpPr>
          <p:cNvPr id="3" name="TextBox 2">
            <a:extLst>
              <a:ext uri="{FF2B5EF4-FFF2-40B4-BE49-F238E27FC236}">
                <a16:creationId xmlns:a16="http://schemas.microsoft.com/office/drawing/2014/main" id="{D63A6BE8-A462-F8C2-ED80-9E714B7FDAF6}"/>
              </a:ext>
            </a:extLst>
          </p:cNvPr>
          <p:cNvSpPr txBox="1"/>
          <p:nvPr/>
        </p:nvSpPr>
        <p:spPr>
          <a:xfrm>
            <a:off x="533400" y="593820"/>
            <a:ext cx="4625109" cy="1061829"/>
          </a:xfrm>
          <a:prstGeom prst="rect">
            <a:avLst/>
          </a:prstGeom>
          <a:noFill/>
        </p:spPr>
        <p:txBody>
          <a:bodyPr wrap="square">
            <a:spAutoFit/>
          </a:bodyPr>
          <a:lstStyle/>
          <a:p>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Author</a:t>
            </a:r>
          </a:p>
          <a:p>
            <a:r>
              <a:rPr lang="en-IN"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AuthorId</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FirstName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LastName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a:t>
            </a:r>
            <a:endParaRPr lang="en-IN" dirty="0"/>
          </a:p>
        </p:txBody>
      </p:sp>
      <p:sp>
        <p:nvSpPr>
          <p:cNvPr id="11" name="TextBox 10">
            <a:extLst>
              <a:ext uri="{FF2B5EF4-FFF2-40B4-BE49-F238E27FC236}">
                <a16:creationId xmlns:a16="http://schemas.microsoft.com/office/drawing/2014/main" id="{1EBA594D-05AD-876F-67AE-9B3B14B0247F}"/>
              </a:ext>
            </a:extLst>
          </p:cNvPr>
          <p:cNvSpPr txBox="1"/>
          <p:nvPr/>
        </p:nvSpPr>
        <p:spPr>
          <a:xfrm>
            <a:off x="247073" y="2403100"/>
            <a:ext cx="6096000" cy="2862322"/>
          </a:xfrm>
          <a:prstGeom prst="rect">
            <a:avLst/>
          </a:prstGeom>
          <a:noFill/>
        </p:spPr>
        <p:txBody>
          <a:bodyPr wrap="square">
            <a:spAutoFit/>
          </a:bodyPr>
          <a:lstStyle/>
          <a:p>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AppdbContext</a:t>
            </a:r>
            <a:r>
              <a:rPr lang="en-IN" sz="900" dirty="0">
                <a:solidFill>
                  <a:srgbClr val="000000"/>
                </a:solidFill>
                <a:highlight>
                  <a:srgbClr val="FFFFFF"/>
                </a:highlight>
                <a:latin typeface="Cascadia Mono" panose="020B0609020000020004" pitchFamily="49" charset="0"/>
              </a:rPr>
              <a:t> : </a:t>
            </a:r>
            <a:r>
              <a:rPr lang="en-IN" sz="900" dirty="0" err="1">
                <a:solidFill>
                  <a:srgbClr val="2B91AF"/>
                </a:solidFill>
                <a:highlight>
                  <a:srgbClr val="FFFFFF"/>
                </a:highlight>
                <a:latin typeface="Cascadia Mono" panose="020B0609020000020004" pitchFamily="49" charset="0"/>
              </a:rPr>
              <a:t>DbContext</a:t>
            </a:r>
            <a:endParaRPr lang="en-IN" sz="900" dirty="0">
              <a:solidFill>
                <a:srgbClr val="2B91AF"/>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a:t>
            </a:r>
          </a:p>
          <a:p>
            <a:r>
              <a:rPr lang="fr-FR" sz="900" dirty="0">
                <a:solidFill>
                  <a:srgbClr val="000000"/>
                </a:solidFill>
                <a:highlight>
                  <a:srgbClr val="FFFFFF"/>
                </a:highlight>
                <a:latin typeface="Cascadia Mono" panose="020B0609020000020004" pitchFamily="49" charset="0"/>
              </a:rPr>
              <a:t>    </a:t>
            </a:r>
            <a:r>
              <a:rPr lang="fr-FR" sz="900" dirty="0">
                <a:solidFill>
                  <a:srgbClr val="0000FF"/>
                </a:solidFill>
                <a:highlight>
                  <a:srgbClr val="FFFFFF"/>
                </a:highlight>
                <a:latin typeface="Cascadia Mono" panose="020B0609020000020004" pitchFamily="49" charset="0"/>
              </a:rPr>
              <a:t>public</a:t>
            </a:r>
            <a:r>
              <a:rPr lang="fr-FR" sz="900" dirty="0">
                <a:solidFill>
                  <a:srgbClr val="000000"/>
                </a:solidFill>
                <a:highlight>
                  <a:srgbClr val="FFFFFF"/>
                </a:highlight>
                <a:latin typeface="Cascadia Mono" panose="020B0609020000020004" pitchFamily="49" charset="0"/>
              </a:rPr>
              <a:t> </a:t>
            </a:r>
            <a:r>
              <a:rPr lang="fr-FR" sz="900" dirty="0" err="1">
                <a:solidFill>
                  <a:srgbClr val="2B91AF"/>
                </a:solidFill>
                <a:highlight>
                  <a:srgbClr val="FFFFFF"/>
                </a:highlight>
                <a:latin typeface="Cascadia Mono" panose="020B0609020000020004" pitchFamily="49" charset="0"/>
              </a:rPr>
              <a:t>AppdbContext</a:t>
            </a:r>
            <a:r>
              <a:rPr lang="fr-FR" sz="900" dirty="0">
                <a:solidFill>
                  <a:srgbClr val="000000"/>
                </a:solidFill>
                <a:highlight>
                  <a:srgbClr val="FFFFFF"/>
                </a:highlight>
                <a:latin typeface="Cascadia Mono" panose="020B0609020000020004" pitchFamily="49" charset="0"/>
              </a:rPr>
              <a:t>(</a:t>
            </a:r>
            <a:r>
              <a:rPr lang="fr-FR" sz="900" dirty="0" err="1">
                <a:solidFill>
                  <a:srgbClr val="2B91AF"/>
                </a:solidFill>
                <a:highlight>
                  <a:srgbClr val="FFFFFF"/>
                </a:highlight>
                <a:latin typeface="Cascadia Mono" panose="020B0609020000020004" pitchFamily="49" charset="0"/>
              </a:rPr>
              <a:t>DbContextOptions</a:t>
            </a:r>
            <a:r>
              <a:rPr lang="fr-FR" sz="900" dirty="0">
                <a:solidFill>
                  <a:srgbClr val="000000"/>
                </a:solidFill>
                <a:highlight>
                  <a:srgbClr val="FFFFFF"/>
                </a:highlight>
                <a:latin typeface="Cascadia Mono" panose="020B0609020000020004" pitchFamily="49" charset="0"/>
              </a:rPr>
              <a:t>&lt;</a:t>
            </a:r>
            <a:r>
              <a:rPr lang="fr-FR" sz="900" dirty="0" err="1">
                <a:solidFill>
                  <a:srgbClr val="2B91AF"/>
                </a:solidFill>
                <a:highlight>
                  <a:srgbClr val="FFFFFF"/>
                </a:highlight>
                <a:latin typeface="Cascadia Mono" panose="020B0609020000020004" pitchFamily="49" charset="0"/>
              </a:rPr>
              <a:t>AppdbContext</a:t>
            </a:r>
            <a:r>
              <a:rPr lang="fr-FR" sz="900" dirty="0">
                <a:solidFill>
                  <a:srgbClr val="000000"/>
                </a:solidFill>
                <a:highlight>
                  <a:srgbClr val="FFFFFF"/>
                </a:highlight>
                <a:latin typeface="Cascadia Mono" panose="020B0609020000020004" pitchFamily="49" charset="0"/>
              </a:rPr>
              <a:t>&gt; options) : </a:t>
            </a:r>
            <a:r>
              <a:rPr lang="fr-FR" sz="900" dirty="0">
                <a:solidFill>
                  <a:srgbClr val="0000FF"/>
                </a:solidFill>
                <a:highlight>
                  <a:srgbClr val="FFFFFF"/>
                </a:highlight>
                <a:latin typeface="Cascadia Mono" panose="020B0609020000020004" pitchFamily="49" charset="0"/>
              </a:rPr>
              <a:t>base</a:t>
            </a:r>
            <a:r>
              <a:rPr lang="fr-FR" sz="900" dirty="0">
                <a:solidFill>
                  <a:srgbClr val="000000"/>
                </a:solidFill>
                <a:highlight>
                  <a:srgbClr val="FFFFFF"/>
                </a:highlight>
                <a:latin typeface="Cascadia Mono" panose="020B0609020000020004" pitchFamily="49" charset="0"/>
              </a:rPr>
              <a:t>(options)</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protected</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override</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void</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OnModelCreating</a:t>
            </a:r>
            <a:r>
              <a:rPr lang="en-IN" sz="900" dirty="0">
                <a:solidFill>
                  <a:srgbClr val="000000"/>
                </a:solidFill>
                <a:highlight>
                  <a:srgbClr val="FFFFFF"/>
                </a:highlight>
                <a:latin typeface="Cascadia Mono" panose="020B0609020000020004" pitchFamily="49" charset="0"/>
              </a:rPr>
              <a:t>(</a:t>
            </a:r>
            <a:r>
              <a:rPr lang="en-IN" sz="900" dirty="0" err="1">
                <a:solidFill>
                  <a:srgbClr val="2B91AF"/>
                </a:solidFill>
                <a:highlight>
                  <a:srgbClr val="FFFFFF"/>
                </a:highlight>
                <a:latin typeface="Cascadia Mono" panose="020B0609020000020004" pitchFamily="49" charset="0"/>
              </a:rPr>
              <a:t>ModelBuilder</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modelBuilder</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modelBuilder.Entity</a:t>
            </a:r>
            <a:r>
              <a:rPr lang="en-IN" sz="900" dirty="0">
                <a:solidFill>
                  <a:srgbClr val="000000"/>
                </a:solidFill>
                <a:highlight>
                  <a:srgbClr val="FFFFFF"/>
                </a:highlight>
                <a:latin typeface="Cascadia Mono" panose="020B0609020000020004" pitchFamily="49" charset="0"/>
              </a:rPr>
              <a:t>&lt;</a:t>
            </a:r>
            <a:r>
              <a:rPr lang="en-IN" sz="900" dirty="0">
                <a:solidFill>
                  <a:srgbClr val="2B91AF"/>
                </a:solidFill>
                <a:highlight>
                  <a:srgbClr val="FFFFFF"/>
                </a:highlight>
                <a:latin typeface="Cascadia Mono" panose="020B0609020000020004" pitchFamily="49" charset="0"/>
              </a:rPr>
              <a:t>Book</a:t>
            </a:r>
            <a:r>
              <a:rPr lang="en-IN" sz="900" dirty="0">
                <a:solidFill>
                  <a:srgbClr val="000000"/>
                </a:solidFill>
                <a:highlight>
                  <a:srgbClr val="FFFFFF"/>
                </a:highlight>
                <a:latin typeface="Cascadia Mono" panose="020B0609020000020004" pitchFamily="49" charset="0"/>
              </a:rPr>
              <a:t>&gt;()</a:t>
            </a:r>
          </a:p>
          <a:p>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HasOne</a:t>
            </a:r>
            <a:r>
              <a:rPr lang="en-US" sz="900" dirty="0">
                <a:solidFill>
                  <a:srgbClr val="000000"/>
                </a:solidFill>
                <a:highlight>
                  <a:srgbClr val="FFFFFF"/>
                </a:highlight>
                <a:latin typeface="Cascadia Mono" panose="020B0609020000020004" pitchFamily="49" charset="0"/>
              </a:rPr>
              <a:t>&lt;</a:t>
            </a:r>
            <a:r>
              <a:rPr lang="en-US" sz="900" dirty="0">
                <a:solidFill>
                  <a:srgbClr val="2B91AF"/>
                </a:solidFill>
                <a:highlight>
                  <a:srgbClr val="FFFFFF"/>
                </a:highlight>
                <a:latin typeface="Cascadia Mono" panose="020B0609020000020004" pitchFamily="49" charset="0"/>
              </a:rPr>
              <a:t>Author</a:t>
            </a:r>
            <a:r>
              <a:rPr lang="en-US" sz="900" dirty="0">
                <a:solidFill>
                  <a:srgbClr val="000000"/>
                </a:solidFill>
                <a:highlight>
                  <a:srgbClr val="FFFFFF"/>
                </a:highlight>
                <a:latin typeface="Cascadia Mono" panose="020B0609020000020004" pitchFamily="49" charset="0"/>
              </a:rPr>
              <a:t>&gt;() </a:t>
            </a:r>
            <a:r>
              <a:rPr lang="en-US" sz="900" dirty="0">
                <a:solidFill>
                  <a:srgbClr val="008000"/>
                </a:solidFill>
                <a:highlight>
                  <a:srgbClr val="FFFFFF"/>
                </a:highlight>
                <a:latin typeface="Cascadia Mono" panose="020B0609020000020004" pitchFamily="49" charset="0"/>
              </a:rPr>
              <a:t>// Book has one Author</a:t>
            </a:r>
          </a:p>
          <a:p>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WithMany</a:t>
            </a:r>
            <a:r>
              <a:rPr lang="en-US" sz="900" dirty="0">
                <a:solidFill>
                  <a:srgbClr val="000000"/>
                </a:solidFill>
                <a:highlight>
                  <a:srgbClr val="FFFFFF"/>
                </a:highlight>
                <a:latin typeface="Cascadia Mono" panose="020B0609020000020004" pitchFamily="49" charset="0"/>
              </a:rPr>
              <a:t>()       </a:t>
            </a:r>
            <a:r>
              <a:rPr lang="en-US" sz="900" dirty="0">
                <a:solidFill>
                  <a:srgbClr val="008000"/>
                </a:solidFill>
                <a:highlight>
                  <a:srgbClr val="FFFFFF"/>
                </a:highlight>
                <a:latin typeface="Cascadia Mono" panose="020B0609020000020004" pitchFamily="49" charset="0"/>
              </a:rPr>
              <a:t>// Author has many Books</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HasForeignKey</a:t>
            </a:r>
            <a:r>
              <a:rPr lang="en-IN" sz="900" dirty="0">
                <a:solidFill>
                  <a:srgbClr val="000000"/>
                </a:solidFill>
                <a:highlight>
                  <a:srgbClr val="FFFFFF"/>
                </a:highlight>
                <a:latin typeface="Cascadia Mono" panose="020B0609020000020004" pitchFamily="49" charset="0"/>
              </a:rPr>
              <a:t>(b =&gt; </a:t>
            </a:r>
            <a:r>
              <a:rPr lang="en-IN" sz="900" dirty="0" err="1">
                <a:solidFill>
                  <a:srgbClr val="000000"/>
                </a:solidFill>
                <a:highlight>
                  <a:srgbClr val="FFFFFF"/>
                </a:highlight>
                <a:latin typeface="Cascadia Mono" panose="020B0609020000020004" pitchFamily="49" charset="0"/>
              </a:rPr>
              <a:t>b.AuthorId</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OnDelete</a:t>
            </a:r>
            <a:r>
              <a:rPr lang="en-IN" sz="900" dirty="0">
                <a:solidFill>
                  <a:srgbClr val="000000"/>
                </a:solidFill>
                <a:highlight>
                  <a:srgbClr val="FFFFFF"/>
                </a:highlight>
                <a:latin typeface="Cascadia Mono" panose="020B0609020000020004" pitchFamily="49" charset="0"/>
              </a:rPr>
              <a:t>(</a:t>
            </a:r>
            <a:r>
              <a:rPr lang="en-IN" sz="900" dirty="0" err="1">
                <a:solidFill>
                  <a:srgbClr val="2B91AF"/>
                </a:solidFill>
                <a:highlight>
                  <a:srgbClr val="FFFFFF"/>
                </a:highlight>
                <a:latin typeface="Cascadia Mono" panose="020B0609020000020004" pitchFamily="49" charset="0"/>
              </a:rPr>
              <a:t>DeleteBehavior</a:t>
            </a:r>
            <a:r>
              <a:rPr lang="en-IN" sz="900" dirty="0" err="1">
                <a:solidFill>
                  <a:srgbClr val="000000"/>
                </a:solidFill>
                <a:highlight>
                  <a:srgbClr val="FFFFFF"/>
                </a:highlight>
                <a:latin typeface="Cascadia Mono" panose="020B0609020000020004" pitchFamily="49" charset="0"/>
              </a:rPr>
              <a:t>.Cascade</a:t>
            </a:r>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 Optional: cascade delete</a:t>
            </a:r>
          </a:p>
          <a:p>
            <a:endParaRPr lang="en-IN" sz="900" dirty="0">
              <a:solidFill>
                <a:srgbClr val="008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0000FF"/>
                </a:solidFill>
                <a:highlight>
                  <a:srgbClr val="FFFFFF"/>
                </a:highlight>
                <a:latin typeface="Cascadia Mono" panose="020B0609020000020004" pitchFamily="49" charset="0"/>
              </a:rPr>
              <a:t>base</a:t>
            </a:r>
            <a:r>
              <a:rPr lang="en-IN" sz="900" dirty="0" err="1">
                <a:solidFill>
                  <a:srgbClr val="000000"/>
                </a:solidFill>
                <a:highlight>
                  <a:srgbClr val="FFFFFF"/>
                </a:highlight>
                <a:latin typeface="Cascadia Mono" panose="020B0609020000020004" pitchFamily="49" charset="0"/>
              </a:rPr>
              <a:t>.OnModelCreating</a:t>
            </a:r>
            <a:r>
              <a:rPr lang="en-IN" sz="900" dirty="0">
                <a:solidFill>
                  <a:srgbClr val="000000"/>
                </a:solidFill>
                <a:highlight>
                  <a:srgbClr val="FFFFFF"/>
                </a:highlight>
                <a:latin typeface="Cascadia Mono" panose="020B0609020000020004" pitchFamily="49" charset="0"/>
              </a:rPr>
              <a:t>(</a:t>
            </a:r>
            <a:r>
              <a:rPr lang="en-IN" sz="900" dirty="0" err="1">
                <a:solidFill>
                  <a:srgbClr val="000000"/>
                </a:solidFill>
                <a:highlight>
                  <a:srgbClr val="FFFFFF"/>
                </a:highlight>
                <a:latin typeface="Cascadia Mono" panose="020B0609020000020004" pitchFamily="49" charset="0"/>
              </a:rPr>
              <a:t>modelBuilder</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err="1">
                <a:solidFill>
                  <a:srgbClr val="2B91AF"/>
                </a:solidFill>
                <a:highlight>
                  <a:srgbClr val="FFFFFF"/>
                </a:highlight>
                <a:latin typeface="Cascadia Mono" panose="020B0609020000020004" pitchFamily="49" charset="0"/>
              </a:rPr>
              <a:t>DbSet</a:t>
            </a:r>
            <a:r>
              <a:rPr lang="en-US" sz="900" dirty="0">
                <a:solidFill>
                  <a:srgbClr val="000000"/>
                </a:solidFill>
                <a:highlight>
                  <a:srgbClr val="FFFFFF"/>
                </a:highlight>
                <a:latin typeface="Cascadia Mono" panose="020B0609020000020004" pitchFamily="49" charset="0"/>
              </a:rPr>
              <a:t>&lt;</a:t>
            </a:r>
            <a:r>
              <a:rPr lang="en-US" sz="900" dirty="0">
                <a:solidFill>
                  <a:srgbClr val="2B91AF"/>
                </a:solidFill>
                <a:highlight>
                  <a:srgbClr val="FFFFFF"/>
                </a:highlight>
                <a:latin typeface="Cascadia Mono" panose="020B0609020000020004" pitchFamily="49" charset="0"/>
              </a:rPr>
              <a:t>Book</a:t>
            </a:r>
            <a:r>
              <a:rPr lang="en-US" sz="900" dirty="0">
                <a:solidFill>
                  <a:srgbClr val="000000"/>
                </a:solidFill>
                <a:highlight>
                  <a:srgbClr val="FFFFFF"/>
                </a:highlight>
                <a:latin typeface="Cascadia Mono" panose="020B0609020000020004" pitchFamily="49" charset="0"/>
              </a:rPr>
              <a:t>&gt; Books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err="1">
                <a:solidFill>
                  <a:srgbClr val="2B91AF"/>
                </a:solidFill>
                <a:highlight>
                  <a:srgbClr val="FFFFFF"/>
                </a:highlight>
                <a:latin typeface="Cascadia Mono" panose="020B0609020000020004" pitchFamily="49" charset="0"/>
              </a:rPr>
              <a:t>DbSet</a:t>
            </a:r>
            <a:r>
              <a:rPr lang="en-US" sz="900" dirty="0">
                <a:solidFill>
                  <a:srgbClr val="000000"/>
                </a:solidFill>
                <a:highlight>
                  <a:srgbClr val="FFFFFF"/>
                </a:highlight>
                <a:latin typeface="Cascadia Mono" panose="020B0609020000020004" pitchFamily="49" charset="0"/>
              </a:rPr>
              <a:t>&lt;</a:t>
            </a:r>
            <a:r>
              <a:rPr lang="en-US" sz="900" dirty="0">
                <a:solidFill>
                  <a:srgbClr val="2B91AF"/>
                </a:solidFill>
                <a:highlight>
                  <a:srgbClr val="FFFFFF"/>
                </a:highlight>
                <a:latin typeface="Cascadia Mono" panose="020B0609020000020004" pitchFamily="49" charset="0"/>
              </a:rPr>
              <a:t>Author</a:t>
            </a:r>
            <a:r>
              <a:rPr lang="en-US" sz="900" dirty="0">
                <a:solidFill>
                  <a:srgbClr val="000000"/>
                </a:solidFill>
                <a:highlight>
                  <a:srgbClr val="FFFFFF"/>
                </a:highlight>
                <a:latin typeface="Cascadia Mono" panose="020B0609020000020004" pitchFamily="49" charset="0"/>
              </a:rPr>
              <a:t>&gt; Authors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a:t>
            </a:r>
            <a:endParaRPr lang="en-IN" dirty="0"/>
          </a:p>
        </p:txBody>
      </p:sp>
      <p:sp>
        <p:nvSpPr>
          <p:cNvPr id="13" name="TextBox 12">
            <a:extLst>
              <a:ext uri="{FF2B5EF4-FFF2-40B4-BE49-F238E27FC236}">
                <a16:creationId xmlns:a16="http://schemas.microsoft.com/office/drawing/2014/main" id="{DF2E2C5C-2689-B770-FF0B-89D709F51F7C}"/>
              </a:ext>
            </a:extLst>
          </p:cNvPr>
          <p:cNvSpPr txBox="1"/>
          <p:nvPr/>
        </p:nvSpPr>
        <p:spPr>
          <a:xfrm>
            <a:off x="5643417" y="4226511"/>
            <a:ext cx="6096000" cy="1815882"/>
          </a:xfrm>
          <a:prstGeom prst="rect">
            <a:avLst/>
          </a:prstGeom>
          <a:noFill/>
        </p:spPr>
        <p:txBody>
          <a:bodyPr wrap="square">
            <a:spAutoFit/>
          </a:bodyPr>
          <a:lstStyle/>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interface</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IBookRepository</a:t>
            </a:r>
            <a:endParaRPr lang="en-IN" sz="1400" dirty="0">
              <a:solidFill>
                <a:srgbClr val="2B91AF"/>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Task</a:t>
            </a:r>
            <a:r>
              <a:rPr lang="en-US" sz="1400" dirty="0">
                <a:solidFill>
                  <a:srgbClr val="000000"/>
                </a:solidFill>
                <a:highlight>
                  <a:srgbClr val="FFFFFF"/>
                </a:highlight>
                <a:latin typeface="Cascadia Mono" panose="020B0609020000020004" pitchFamily="49" charset="0"/>
              </a:rPr>
              <a:t>&lt;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&gt; </a:t>
            </a:r>
            <a:r>
              <a:rPr lang="en-US" sz="1400" dirty="0" err="1">
                <a:solidFill>
                  <a:srgbClr val="000000"/>
                </a:solidFill>
                <a:highlight>
                  <a:srgbClr val="FFFFFF"/>
                </a:highlight>
                <a:latin typeface="Cascadia Mono" panose="020B0609020000020004" pitchFamily="49" charset="0"/>
              </a:rPr>
              <a:t>AddAsync</a:t>
            </a:r>
            <a:r>
              <a:rPr lang="en-US" sz="1400" dirty="0">
                <a:solidFill>
                  <a:srgbClr val="000000"/>
                </a:solidFill>
                <a:highlight>
                  <a:srgbClr val="FFFFFF"/>
                </a:highlight>
                <a:latin typeface="Cascadia Mono" panose="020B0609020000020004" pitchFamily="49" charset="0"/>
              </a:rPr>
              <a: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 book);</a:t>
            </a:r>
          </a:p>
          <a:p>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Task</a:t>
            </a:r>
            <a:r>
              <a:rPr lang="en-US" sz="1400" dirty="0">
                <a:solidFill>
                  <a:srgbClr val="000000"/>
                </a:solidFill>
                <a:highlight>
                  <a:srgbClr val="FFFFFF"/>
                </a:highlight>
                <a:latin typeface="Cascadia Mono" panose="020B0609020000020004" pitchFamily="49" charset="0"/>
              </a:rPr>
              <a:t>&lt;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?&gt; </a:t>
            </a:r>
            <a:r>
              <a:rPr lang="en-US" sz="1400" dirty="0" err="1">
                <a:solidFill>
                  <a:srgbClr val="000000"/>
                </a:solidFill>
                <a:highlight>
                  <a:srgbClr val="FFFFFF"/>
                </a:highlight>
                <a:latin typeface="Cascadia Mono" panose="020B0609020000020004" pitchFamily="49" charset="0"/>
              </a:rPr>
              <a:t>GetByIdAsync</a:t>
            </a:r>
            <a:r>
              <a:rPr lang="en-US" sz="1400" dirty="0">
                <a:solidFill>
                  <a:srgbClr val="000000"/>
                </a:solidFill>
                <a:highlight>
                  <a:srgbClr val="FFFFFF"/>
                </a:highlight>
                <a:latin typeface="Cascadia Mono" panose="020B0609020000020004" pitchFamily="49" charset="0"/>
              </a:rPr>
              <a:t>(</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id);</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Task</a:t>
            </a:r>
            <a:r>
              <a:rPr lang="en-IN" sz="1400" dirty="0">
                <a:solidFill>
                  <a:srgbClr val="000000"/>
                </a:solidFill>
                <a:highlight>
                  <a:srgbClr val="FFFFFF"/>
                </a:highlight>
                <a:latin typeface="Cascadia Mono" panose="020B0609020000020004" pitchFamily="49" charset="0"/>
              </a:rPr>
              <a:t>&lt;</a:t>
            </a:r>
            <a:r>
              <a:rPr lang="en-IN" sz="1400" dirty="0">
                <a:solidFill>
                  <a:srgbClr val="2B91AF"/>
                </a:solidFill>
                <a:highlight>
                  <a:srgbClr val="FFFFFF"/>
                </a:highlight>
                <a:latin typeface="Cascadia Mono" panose="020B0609020000020004" pitchFamily="49" charset="0"/>
              </a:rPr>
              <a:t>List</a:t>
            </a:r>
            <a:r>
              <a:rPr lang="en-IN" sz="1400" dirty="0">
                <a:solidFill>
                  <a:srgbClr val="000000"/>
                </a:solidFill>
                <a:highlight>
                  <a:srgbClr val="FFFFFF"/>
                </a:highlight>
                <a:latin typeface="Cascadia Mono" panose="020B0609020000020004" pitchFamily="49" charset="0"/>
              </a:rPr>
              <a:t>&lt;</a:t>
            </a:r>
            <a:r>
              <a:rPr lang="en-IN" sz="1400" dirty="0">
                <a:solidFill>
                  <a:srgbClr val="2B91AF"/>
                </a:solidFill>
                <a:highlight>
                  <a:srgbClr val="FFFFFF"/>
                </a:highlight>
                <a:latin typeface="Cascadia Mono" panose="020B0609020000020004" pitchFamily="49" charset="0"/>
              </a:rPr>
              <a:t>Book</a:t>
            </a:r>
            <a:r>
              <a:rPr lang="en-IN" sz="1400" dirty="0">
                <a:solidFill>
                  <a:srgbClr val="000000"/>
                </a:solidFill>
                <a:highlight>
                  <a:srgbClr val="FFFFFF"/>
                </a:highlight>
                <a:latin typeface="Cascadia Mono" panose="020B0609020000020004" pitchFamily="49" charset="0"/>
              </a:rPr>
              <a:t>&gt;&gt; </a:t>
            </a:r>
            <a:r>
              <a:rPr lang="en-IN" sz="1400" dirty="0" err="1">
                <a:solidFill>
                  <a:srgbClr val="000000"/>
                </a:solidFill>
                <a:highlight>
                  <a:srgbClr val="FFFFFF"/>
                </a:highlight>
                <a:latin typeface="Cascadia Mono" panose="020B0609020000020004" pitchFamily="49" charset="0"/>
              </a:rPr>
              <a:t>GetAllAsync</a:t>
            </a:r>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Task</a:t>
            </a:r>
            <a:r>
              <a:rPr lang="en-US" sz="1400" dirty="0">
                <a:solidFill>
                  <a:srgbClr val="000000"/>
                </a:solidFill>
                <a:highlight>
                  <a:srgbClr val="FFFFFF"/>
                </a:highlight>
                <a:latin typeface="Cascadia Mono" panose="020B0609020000020004" pitchFamily="49" charset="0"/>
              </a:rPr>
              <a:t>&lt;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?&gt; </a:t>
            </a:r>
            <a:r>
              <a:rPr lang="en-US" sz="1400" dirty="0" err="1">
                <a:solidFill>
                  <a:srgbClr val="000000"/>
                </a:solidFill>
                <a:highlight>
                  <a:srgbClr val="FFFFFF"/>
                </a:highlight>
                <a:latin typeface="Cascadia Mono" panose="020B0609020000020004" pitchFamily="49" charset="0"/>
              </a:rPr>
              <a:t>UpdateAsync</a:t>
            </a:r>
            <a:r>
              <a:rPr lang="en-US" sz="1400" dirty="0">
                <a:solidFill>
                  <a:srgbClr val="000000"/>
                </a:solidFill>
                <a:highlight>
                  <a:srgbClr val="FFFFFF"/>
                </a:highlight>
                <a:latin typeface="Cascadia Mono" panose="020B0609020000020004" pitchFamily="49" charset="0"/>
              </a:rPr>
              <a:t>(</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id, </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updatedBook</a:t>
            </a:r>
            <a:r>
              <a:rPr lang="en-US"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Task</a:t>
            </a:r>
            <a:r>
              <a:rPr lang="en-US" sz="1400" dirty="0">
                <a:solidFill>
                  <a:srgbClr val="000000"/>
                </a:solidFill>
                <a:highlight>
                  <a:srgbClr val="FFFFFF"/>
                </a:highlight>
                <a:latin typeface="Cascadia Mono" panose="020B0609020000020004" pitchFamily="49" charset="0"/>
              </a:rPr>
              <a:t>&lt;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?&gt; </a:t>
            </a:r>
            <a:r>
              <a:rPr lang="en-US" sz="1400" dirty="0" err="1">
                <a:solidFill>
                  <a:srgbClr val="000000"/>
                </a:solidFill>
                <a:highlight>
                  <a:srgbClr val="FFFFFF"/>
                </a:highlight>
                <a:latin typeface="Cascadia Mono" panose="020B0609020000020004" pitchFamily="49" charset="0"/>
              </a:rPr>
              <a:t>DeleteAsync</a:t>
            </a:r>
            <a:r>
              <a:rPr lang="en-US" sz="1400" dirty="0">
                <a:solidFill>
                  <a:srgbClr val="000000"/>
                </a:solidFill>
                <a:highlight>
                  <a:srgbClr val="FFFFFF"/>
                </a:highlight>
                <a:latin typeface="Cascadia Mono" panose="020B0609020000020004" pitchFamily="49" charset="0"/>
              </a:rPr>
              <a:t>(</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id);</a:t>
            </a:r>
          </a:p>
          <a:p>
            <a:r>
              <a:rPr lang="en-IN" sz="1400" dirty="0">
                <a:solidFill>
                  <a:srgbClr val="000000"/>
                </a:solidFill>
                <a:highlight>
                  <a:srgbClr val="FFFFFF"/>
                </a:highlight>
                <a:latin typeface="Cascadia Mono" panose="020B0609020000020004" pitchFamily="49" charset="0"/>
              </a:rPr>
              <a:t> }</a:t>
            </a:r>
          </a:p>
        </p:txBody>
      </p:sp>
      <p:sp>
        <p:nvSpPr>
          <p:cNvPr id="6" name="TextBox 5">
            <a:extLst>
              <a:ext uri="{FF2B5EF4-FFF2-40B4-BE49-F238E27FC236}">
                <a16:creationId xmlns:a16="http://schemas.microsoft.com/office/drawing/2014/main" id="{7B6DE303-DDA7-C71C-AABB-0657C06ED195}"/>
              </a:ext>
            </a:extLst>
          </p:cNvPr>
          <p:cNvSpPr txBox="1"/>
          <p:nvPr/>
        </p:nvSpPr>
        <p:spPr>
          <a:xfrm>
            <a:off x="5848927" y="2832728"/>
            <a:ext cx="609600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configuring a one-to-many relationship between Book and Author using Fluent API in Entity Framework Core.</a:t>
            </a:r>
          </a:p>
        </p:txBody>
      </p:sp>
    </p:spTree>
    <p:extLst>
      <p:ext uri="{BB962C8B-B14F-4D97-AF65-F5344CB8AC3E}">
        <p14:creationId xmlns:p14="http://schemas.microsoft.com/office/powerpoint/2010/main" val="3382973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9984F3-0666-DBF5-2A62-B6B37FA29A55}"/>
              </a:ext>
            </a:extLst>
          </p:cNvPr>
          <p:cNvSpPr txBox="1"/>
          <p:nvPr/>
        </p:nvSpPr>
        <p:spPr>
          <a:xfrm>
            <a:off x="668865" y="602103"/>
            <a:ext cx="11176001" cy="1477328"/>
          </a:xfrm>
          <a:prstGeom prst="rect">
            <a:avLst/>
          </a:prstGeom>
          <a:noFill/>
        </p:spPr>
        <p:txBody>
          <a:bodyPr wrap="square">
            <a:spAutoFit/>
          </a:bodyPr>
          <a:lstStyle/>
          <a:p>
            <a:r>
              <a:rPr lang="en-IN" dirty="0" err="1"/>
              <a:t>modelBuilder.Entity</a:t>
            </a:r>
            <a:r>
              <a:rPr lang="en-IN" dirty="0"/>
              <a:t>&lt;Book&gt;() </a:t>
            </a:r>
          </a:p>
          <a:p>
            <a:r>
              <a:rPr lang="en-IN" dirty="0"/>
              <a:t>   .</a:t>
            </a:r>
            <a:r>
              <a:rPr lang="en-IN" dirty="0" err="1"/>
              <a:t>HasOne</a:t>
            </a:r>
            <a:r>
              <a:rPr lang="en-IN" dirty="0"/>
              <a:t>(b =&gt; </a:t>
            </a:r>
            <a:r>
              <a:rPr lang="en-IN" dirty="0" err="1"/>
              <a:t>b.Author</a:t>
            </a:r>
            <a:r>
              <a:rPr lang="en-IN" dirty="0"/>
              <a:t>)           // Navigation property in Book</a:t>
            </a:r>
          </a:p>
          <a:p>
            <a:r>
              <a:rPr lang="en-IN" dirty="0"/>
              <a:t>    .</a:t>
            </a:r>
            <a:r>
              <a:rPr lang="en-IN" dirty="0" err="1"/>
              <a:t>WithMany</a:t>
            </a:r>
            <a:r>
              <a:rPr lang="en-IN" dirty="0"/>
              <a:t>(a =&gt; </a:t>
            </a:r>
            <a:r>
              <a:rPr lang="en-IN" dirty="0" err="1"/>
              <a:t>a.Books</a:t>
            </a:r>
            <a:r>
              <a:rPr lang="en-IN" dirty="0"/>
              <a:t>)          // Navigation property in Author </a:t>
            </a:r>
          </a:p>
          <a:p>
            <a:r>
              <a:rPr lang="en-IN" dirty="0"/>
              <a:t>   .</a:t>
            </a:r>
            <a:r>
              <a:rPr lang="en-IN" dirty="0" err="1"/>
              <a:t>HasForeignKey</a:t>
            </a:r>
            <a:r>
              <a:rPr lang="en-IN" dirty="0"/>
              <a:t>(b =&gt; </a:t>
            </a:r>
            <a:r>
              <a:rPr lang="en-IN" dirty="0" err="1"/>
              <a:t>b.AuthorId</a:t>
            </a:r>
            <a:r>
              <a:rPr lang="en-IN" dirty="0"/>
              <a:t>) </a:t>
            </a:r>
          </a:p>
          <a:p>
            <a:r>
              <a:rPr lang="en-IN" dirty="0"/>
              <a:t>   .</a:t>
            </a:r>
            <a:r>
              <a:rPr lang="en-IN" dirty="0" err="1"/>
              <a:t>OnDelete</a:t>
            </a:r>
            <a:r>
              <a:rPr lang="en-IN" dirty="0"/>
              <a:t>(</a:t>
            </a:r>
            <a:r>
              <a:rPr lang="en-IN" dirty="0" err="1"/>
              <a:t>DeleteBehavior.Cascade</a:t>
            </a:r>
            <a:r>
              <a:rPr lang="en-IN" dirty="0"/>
              <a:t>);</a:t>
            </a:r>
          </a:p>
        </p:txBody>
      </p:sp>
      <p:sp>
        <p:nvSpPr>
          <p:cNvPr id="7" name="TextBox 6">
            <a:extLst>
              <a:ext uri="{FF2B5EF4-FFF2-40B4-BE49-F238E27FC236}">
                <a16:creationId xmlns:a16="http://schemas.microsoft.com/office/drawing/2014/main" id="{2E70C839-7FB4-2CE8-2FC3-1F7C008E0090}"/>
              </a:ext>
            </a:extLst>
          </p:cNvPr>
          <p:cNvSpPr txBox="1"/>
          <p:nvPr/>
        </p:nvSpPr>
        <p:spPr>
          <a:xfrm>
            <a:off x="1591732" y="2828835"/>
            <a:ext cx="8060267" cy="3970318"/>
          </a:xfrm>
          <a:prstGeom prst="rect">
            <a:avLst/>
          </a:prstGeom>
          <a:noFill/>
        </p:spPr>
        <p:txBody>
          <a:bodyPr wrap="square">
            <a:spAutoFit/>
          </a:bodyPr>
          <a:lstStyle/>
          <a:p>
            <a:r>
              <a:rPr lang="en-IN" dirty="0"/>
              <a:t>public class Book{  </a:t>
            </a:r>
          </a:p>
          <a:p>
            <a:r>
              <a:rPr lang="en-IN" dirty="0"/>
              <a:t>  public int Id { get; set; }    </a:t>
            </a:r>
          </a:p>
          <a:p>
            <a:r>
              <a:rPr lang="en-IN" dirty="0"/>
              <a:t>public string Title { get; set; }  </a:t>
            </a:r>
          </a:p>
          <a:p>
            <a:r>
              <a:rPr lang="en-IN" dirty="0"/>
              <a:t>  public int </a:t>
            </a:r>
            <a:r>
              <a:rPr lang="en-IN" dirty="0" err="1"/>
              <a:t>AuthorId</a:t>
            </a:r>
            <a:r>
              <a:rPr lang="en-IN" dirty="0"/>
              <a:t> { get; set; }         // Foreign key   </a:t>
            </a:r>
          </a:p>
          <a:p>
            <a:r>
              <a:rPr lang="en-IN" dirty="0"/>
              <a:t> public Author </a:t>
            </a:r>
            <a:r>
              <a:rPr lang="en-IN" dirty="0" err="1"/>
              <a:t>Author</a:t>
            </a:r>
            <a:r>
              <a:rPr lang="en-IN" dirty="0"/>
              <a:t> { get; set; }        // </a:t>
            </a:r>
            <a:r>
              <a:rPr lang="en-IN"/>
              <a:t>Navigation property</a:t>
            </a:r>
          </a:p>
          <a:p>
            <a:r>
              <a:rPr lang="en-IN"/>
              <a:t>}</a:t>
            </a:r>
            <a:endParaRPr lang="en-IN" dirty="0"/>
          </a:p>
          <a:p>
            <a:endParaRPr lang="en-IN" dirty="0"/>
          </a:p>
          <a:p>
            <a:endParaRPr lang="en-IN" dirty="0"/>
          </a:p>
          <a:p>
            <a:endParaRPr lang="en-IN" dirty="0"/>
          </a:p>
          <a:p>
            <a:r>
              <a:rPr lang="en-IN" dirty="0"/>
              <a:t>public class Author{  </a:t>
            </a:r>
          </a:p>
          <a:p>
            <a:r>
              <a:rPr lang="en-IN" dirty="0"/>
              <a:t>  public int Id { get; set; }  </a:t>
            </a:r>
          </a:p>
          <a:p>
            <a:r>
              <a:rPr lang="en-IN" dirty="0"/>
              <a:t>  public string Name { get; set; }    </a:t>
            </a:r>
          </a:p>
          <a:p>
            <a:r>
              <a:rPr lang="en-IN" dirty="0"/>
              <a:t>public </a:t>
            </a:r>
            <a:r>
              <a:rPr lang="en-IN" dirty="0" err="1"/>
              <a:t>ICollection</a:t>
            </a:r>
            <a:r>
              <a:rPr lang="en-IN" dirty="0"/>
              <a:t>&lt;Book&gt; Books { get; set; } // Navigation property</a:t>
            </a:r>
          </a:p>
          <a:p>
            <a:r>
              <a:rPr lang="en-IN" dirty="0"/>
              <a:t>}</a:t>
            </a:r>
          </a:p>
        </p:txBody>
      </p:sp>
    </p:spTree>
    <p:extLst>
      <p:ext uri="{BB962C8B-B14F-4D97-AF65-F5344CB8AC3E}">
        <p14:creationId xmlns:p14="http://schemas.microsoft.com/office/powerpoint/2010/main" val="283091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68D8A1-AF76-15B3-1179-F2E6D8564404}"/>
              </a:ext>
            </a:extLst>
          </p:cNvPr>
          <p:cNvSpPr txBox="1"/>
          <p:nvPr/>
        </p:nvSpPr>
        <p:spPr>
          <a:xfrm>
            <a:off x="101599" y="0"/>
            <a:ext cx="5723468" cy="6370975"/>
          </a:xfrm>
          <a:prstGeom prst="rect">
            <a:avLst/>
          </a:prstGeom>
          <a:noFill/>
        </p:spPr>
        <p:txBody>
          <a:bodyPr wrap="square">
            <a:spAutoFit/>
          </a:bodyPr>
          <a:lstStyle/>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AsynctwotableAPI.Models</a:t>
            </a:r>
            <a:r>
              <a:rPr lang="en-IN" sz="1200" dirty="0">
                <a:solidFill>
                  <a:srgbClr val="000000"/>
                </a:solidFill>
                <a:highlight>
                  <a:srgbClr val="FFFFFF"/>
                </a:highlight>
                <a:latin typeface="Cascadia Mono" panose="020B0609020000020004" pitchFamily="49" charset="0"/>
              </a:rPr>
              <a:t>;</a:t>
            </a:r>
          </a:p>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AsynctwotableAPI.Repository</a:t>
            </a:r>
            <a:r>
              <a:rPr lang="en-IN" sz="1200" dirty="0">
                <a:solidFill>
                  <a:srgbClr val="000000"/>
                </a:solidFill>
                <a:highlight>
                  <a:srgbClr val="FFFFFF"/>
                </a:highlight>
                <a:latin typeface="Cascadia Mono" panose="020B0609020000020004" pitchFamily="49" charset="0"/>
              </a:rPr>
              <a:t>;</a:t>
            </a:r>
          </a:p>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Microsoft.EntityFrameworkCore</a:t>
            </a:r>
            <a:r>
              <a:rPr lang="en-IN" sz="1200" dirty="0">
                <a:solidFill>
                  <a:srgbClr val="000000"/>
                </a:solidFill>
                <a:highlight>
                  <a:srgbClr val="FFFFFF"/>
                </a:highlight>
                <a:latin typeface="Cascadia Mono" panose="020B0609020000020004" pitchFamily="49" charset="0"/>
              </a:rPr>
              <a:t>;</a:t>
            </a:r>
          </a:p>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AsynctwotableAPI.Services</a:t>
            </a:r>
            <a:r>
              <a:rPr lang="en-IN" sz="1200" dirty="0">
                <a:solidFill>
                  <a:srgbClr val="000000"/>
                </a:solidFill>
                <a:highlight>
                  <a:srgbClr val="FFFFFF"/>
                </a:highlight>
                <a:latin typeface="Cascadia Mono" panose="020B0609020000020004" pitchFamily="49" charset="0"/>
              </a:rPr>
              <a: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FF"/>
                </a:solidFill>
                <a:highlight>
                  <a:srgbClr val="FFFFFF"/>
                </a:highlight>
                <a:latin typeface="Cascadia Mono" panose="020B0609020000020004" pitchFamily="49" charset="0"/>
              </a:rPr>
              <a:t>namespace</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AsynctwotableAPI.Services</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public</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SqlBookRepository</a:t>
            </a:r>
            <a:r>
              <a:rPr lang="en-IN" sz="1200" dirty="0">
                <a:solidFill>
                  <a:srgbClr val="000000"/>
                </a:solidFill>
                <a:highlight>
                  <a:srgbClr val="FFFFFF"/>
                </a:highlight>
                <a:latin typeface="Cascadia Mono" panose="020B0609020000020004" pitchFamily="49" charset="0"/>
              </a:rPr>
              <a:t> : </a:t>
            </a:r>
            <a:r>
              <a:rPr lang="en-IN" sz="1200" dirty="0" err="1">
                <a:solidFill>
                  <a:srgbClr val="2B91AF"/>
                </a:solidFill>
                <a:highlight>
                  <a:srgbClr val="FFFFFF"/>
                </a:highlight>
                <a:latin typeface="Cascadia Mono" panose="020B0609020000020004" pitchFamily="49" charset="0"/>
              </a:rPr>
              <a:t>IBookRepository</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private</a:t>
            </a:r>
            <a:r>
              <a:rPr lang="en-IN" sz="1200" dirty="0">
                <a:solidFill>
                  <a:srgbClr val="000000"/>
                </a:solidFill>
                <a:highlight>
                  <a:srgbClr val="FFFFFF"/>
                </a:highlight>
                <a:latin typeface="Cascadia Mono" panose="020B0609020000020004" pitchFamily="49" charset="0"/>
              </a:rPr>
              <a:t> </a:t>
            </a:r>
            <a:r>
              <a:rPr lang="en-IN" sz="1200" dirty="0" err="1">
                <a:solidFill>
                  <a:srgbClr val="0000FF"/>
                </a:solidFill>
                <a:highlight>
                  <a:srgbClr val="FFFFFF"/>
                </a:highlight>
                <a:latin typeface="Cascadia Mono" panose="020B0609020000020004" pitchFamily="49" charset="0"/>
              </a:rPr>
              <a:t>readonly</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AppdbContext</a:t>
            </a:r>
            <a:r>
              <a:rPr lang="en-IN" sz="1200" dirty="0">
                <a:solidFill>
                  <a:srgbClr val="000000"/>
                </a:solidFill>
                <a:highlight>
                  <a:srgbClr val="FFFFFF"/>
                </a:highlight>
                <a:latin typeface="Cascadia Mono" panose="020B0609020000020004" pitchFamily="49" charset="0"/>
              </a:rPr>
              <a:t> _context;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public</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SqlBookRepository</a:t>
            </a:r>
            <a:r>
              <a:rPr lang="en-IN" sz="1200" dirty="0">
                <a:solidFill>
                  <a:srgbClr val="000000"/>
                </a:solidFill>
                <a:highlight>
                  <a:srgbClr val="FFFFFF"/>
                </a:highlight>
                <a:latin typeface="Cascadia Mono" panose="020B0609020000020004" pitchFamily="49" charset="0"/>
              </a:rPr>
              <a:t>(</a:t>
            </a:r>
            <a:r>
              <a:rPr lang="en-IN" sz="1200" dirty="0" err="1">
                <a:solidFill>
                  <a:srgbClr val="2B91AF"/>
                </a:solidFill>
                <a:highlight>
                  <a:srgbClr val="FFFFFF"/>
                </a:highlight>
                <a:latin typeface="Cascadia Mono" panose="020B0609020000020004" pitchFamily="49" charset="0"/>
              </a:rPr>
              <a:t>AppdbContext</a:t>
            </a:r>
            <a:r>
              <a:rPr lang="en-IN" sz="1200" dirty="0">
                <a:solidFill>
                  <a:srgbClr val="000000"/>
                </a:solidFill>
                <a:highlight>
                  <a:srgbClr val="FFFFFF"/>
                </a:highlight>
                <a:latin typeface="Cascadia Mono" panose="020B0609020000020004" pitchFamily="49" charset="0"/>
              </a:rPr>
              <a:t> context)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_context = context;</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async</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Task</a:t>
            </a:r>
            <a:r>
              <a:rPr lang="en-US" sz="1200" dirty="0">
                <a:solidFill>
                  <a:srgbClr val="000000"/>
                </a:solidFill>
                <a:highlight>
                  <a:srgbClr val="FFFFFF"/>
                </a:highlight>
                <a:latin typeface="Cascadia Mono" panose="020B0609020000020004" pitchFamily="49" charset="0"/>
              </a:rPr>
              <a:t>&lt;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&gt; </a:t>
            </a:r>
            <a:r>
              <a:rPr lang="en-US" sz="1200" dirty="0" err="1">
                <a:solidFill>
                  <a:srgbClr val="000000"/>
                </a:solidFill>
                <a:highlight>
                  <a:srgbClr val="FFFFFF"/>
                </a:highlight>
                <a:latin typeface="Cascadia Mono" panose="020B0609020000020004" pitchFamily="49" charset="0"/>
              </a:rPr>
              <a:t>AddAsync</a:t>
            </a:r>
            <a:r>
              <a:rPr lang="en-US" sz="1200" dirty="0">
                <a:solidFill>
                  <a:srgbClr val="000000"/>
                </a:solidFill>
                <a:highlight>
                  <a:srgbClr val="FFFFFF"/>
                </a:highlight>
                <a:latin typeface="Cascadia Mono" panose="020B0609020000020004" pitchFamily="49" charset="0"/>
              </a:rPr>
              <a: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 book)</a:t>
            </a: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await</a:t>
            </a:r>
            <a:r>
              <a:rPr lang="en-US" sz="1200" dirty="0">
                <a:solidFill>
                  <a:srgbClr val="000000"/>
                </a:solidFill>
                <a:highlight>
                  <a:srgbClr val="FFFFFF"/>
                </a:highlight>
                <a:latin typeface="Cascadia Mono" panose="020B0609020000020004" pitchFamily="49" charset="0"/>
              </a:rPr>
              <a:t> _</a:t>
            </a:r>
            <a:r>
              <a:rPr lang="en-US" sz="1200" dirty="0" err="1">
                <a:solidFill>
                  <a:srgbClr val="000000"/>
                </a:solidFill>
                <a:highlight>
                  <a:srgbClr val="FFFFFF"/>
                </a:highlight>
                <a:latin typeface="Cascadia Mono" panose="020B0609020000020004" pitchFamily="49" charset="0"/>
              </a:rPr>
              <a:t>context.Books.AddAsync</a:t>
            </a:r>
            <a:r>
              <a:rPr lang="en-US" sz="1200" dirty="0">
                <a:solidFill>
                  <a:srgbClr val="000000"/>
                </a:solidFill>
                <a:highlight>
                  <a:srgbClr val="FFFFFF"/>
                </a:highlight>
                <a:latin typeface="Cascadia Mono" panose="020B0609020000020004" pitchFamily="49" charset="0"/>
              </a:rPr>
              <a:t>(book);</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context.SaveChangesAsync</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return</a:t>
            </a:r>
            <a:r>
              <a:rPr lang="en-IN" sz="1200" dirty="0">
                <a:solidFill>
                  <a:srgbClr val="000000"/>
                </a:solidFill>
                <a:highlight>
                  <a:srgbClr val="FFFFFF"/>
                </a:highlight>
                <a:latin typeface="Cascadia Mono" panose="020B0609020000020004" pitchFamily="49" charset="0"/>
              </a:rPr>
              <a:t> book;</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async</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Task</a:t>
            </a:r>
            <a:r>
              <a:rPr lang="en-US" sz="1200" dirty="0">
                <a:solidFill>
                  <a:srgbClr val="000000"/>
                </a:solidFill>
                <a:highlight>
                  <a:srgbClr val="FFFFFF"/>
                </a:highlight>
                <a:latin typeface="Cascadia Mono" panose="020B0609020000020004" pitchFamily="49" charset="0"/>
              </a:rPr>
              <a:t>&lt;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?&gt; </a:t>
            </a:r>
            <a:r>
              <a:rPr lang="en-US" sz="1200" dirty="0" err="1">
                <a:solidFill>
                  <a:srgbClr val="000000"/>
                </a:solidFill>
                <a:highlight>
                  <a:srgbClr val="FFFFFF"/>
                </a:highlight>
                <a:latin typeface="Cascadia Mono" panose="020B0609020000020004" pitchFamily="49" charset="0"/>
              </a:rPr>
              <a:t>GetByIdAsync</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id)</a:t>
            </a: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return</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await</a:t>
            </a:r>
            <a:r>
              <a:rPr lang="en-US" sz="1200" dirty="0">
                <a:solidFill>
                  <a:srgbClr val="000000"/>
                </a:solidFill>
                <a:highlight>
                  <a:srgbClr val="FFFFFF"/>
                </a:highlight>
                <a:latin typeface="Cascadia Mono" panose="020B0609020000020004" pitchFamily="49" charset="0"/>
              </a:rPr>
              <a:t> _</a:t>
            </a:r>
            <a:r>
              <a:rPr lang="en-US" sz="1200" dirty="0" err="1">
                <a:solidFill>
                  <a:srgbClr val="000000"/>
                </a:solidFill>
                <a:highlight>
                  <a:srgbClr val="FFFFFF"/>
                </a:highlight>
                <a:latin typeface="Cascadia Mono" panose="020B0609020000020004" pitchFamily="49" charset="0"/>
              </a:rPr>
              <a:t>context.Books.FindAsync</a:t>
            </a:r>
            <a:r>
              <a:rPr lang="en-US" sz="1200" dirty="0">
                <a:solidFill>
                  <a:srgbClr val="000000"/>
                </a:solidFill>
                <a:highlight>
                  <a:srgbClr val="FFFFFF"/>
                </a:highlight>
                <a:latin typeface="Cascadia Mono" panose="020B0609020000020004" pitchFamily="49" charset="0"/>
              </a:rPr>
              <a:t>(id);</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async</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Task</a:t>
            </a:r>
            <a:r>
              <a:rPr lang="en-US" sz="1200" dirty="0">
                <a:solidFill>
                  <a:srgbClr val="000000"/>
                </a:solidFill>
                <a:highlight>
                  <a:srgbClr val="FFFFFF"/>
                </a:highlight>
                <a:latin typeface="Cascadia Mono" panose="020B0609020000020004" pitchFamily="49" charset="0"/>
              </a:rPr>
              <a:t>&lt;</a:t>
            </a:r>
            <a:r>
              <a:rPr lang="en-US" sz="1200" dirty="0">
                <a:solidFill>
                  <a:srgbClr val="2B91AF"/>
                </a:solidFill>
                <a:highlight>
                  <a:srgbClr val="FFFFFF"/>
                </a:highlight>
                <a:latin typeface="Cascadia Mono" panose="020B0609020000020004" pitchFamily="49" charset="0"/>
              </a:rPr>
              <a:t>List</a:t>
            </a:r>
            <a:r>
              <a:rPr lang="en-US" sz="1200" dirty="0">
                <a:solidFill>
                  <a:srgbClr val="000000"/>
                </a:solidFill>
                <a:highlight>
                  <a:srgbClr val="FFFFFF"/>
                </a:highlight>
                <a:latin typeface="Cascadia Mono" panose="020B0609020000020004" pitchFamily="49" charset="0"/>
              </a:rPr>
              <a:t>&lt;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&gt;&gt; </a:t>
            </a:r>
            <a:r>
              <a:rPr lang="en-US" sz="1200" dirty="0" err="1">
                <a:solidFill>
                  <a:srgbClr val="000000"/>
                </a:solidFill>
                <a:highlight>
                  <a:srgbClr val="FFFFFF"/>
                </a:highlight>
                <a:latin typeface="Cascadia Mono" panose="020B0609020000020004" pitchFamily="49" charset="0"/>
              </a:rPr>
              <a:t>GetAllAsync</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return</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await</a:t>
            </a:r>
            <a:r>
              <a:rPr lang="en-US" sz="1200" dirty="0">
                <a:solidFill>
                  <a:srgbClr val="000000"/>
                </a:solidFill>
                <a:highlight>
                  <a:srgbClr val="FFFFFF"/>
                </a:highlight>
                <a:latin typeface="Cascadia Mono" panose="020B0609020000020004" pitchFamily="49" charset="0"/>
              </a:rPr>
              <a:t> _</a:t>
            </a:r>
            <a:r>
              <a:rPr lang="en-US" sz="1200" dirty="0" err="1">
                <a:solidFill>
                  <a:srgbClr val="000000"/>
                </a:solidFill>
                <a:highlight>
                  <a:srgbClr val="FFFFFF"/>
                </a:highlight>
                <a:latin typeface="Cascadia Mono" panose="020B0609020000020004" pitchFamily="49" charset="0"/>
              </a:rPr>
              <a:t>context.Books.ToListAsync</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endParaRPr lang="en-IN" sz="1200" dirty="0">
              <a:solidFill>
                <a:srgbClr val="000000"/>
              </a:solidFill>
              <a:highlight>
                <a:srgbClr val="FFFFFF"/>
              </a:highlight>
              <a:latin typeface="Cascadia Mono" panose="020B0609020000020004" pitchFamily="49" charset="0"/>
            </a:endParaRPr>
          </a:p>
        </p:txBody>
      </p:sp>
      <p:sp>
        <p:nvSpPr>
          <p:cNvPr id="7" name="TextBox 6">
            <a:extLst>
              <a:ext uri="{FF2B5EF4-FFF2-40B4-BE49-F238E27FC236}">
                <a16:creationId xmlns:a16="http://schemas.microsoft.com/office/drawing/2014/main" id="{B3EA44BA-5FCA-BC7E-8AD7-1D5BA3D1275C}"/>
              </a:ext>
            </a:extLst>
          </p:cNvPr>
          <p:cNvSpPr txBox="1"/>
          <p:nvPr/>
        </p:nvSpPr>
        <p:spPr>
          <a:xfrm>
            <a:off x="5655733" y="811684"/>
            <a:ext cx="6096000" cy="5078313"/>
          </a:xfrm>
          <a:prstGeom prst="rect">
            <a:avLst/>
          </a:prstGeom>
          <a:noFill/>
        </p:spPr>
        <p:txBody>
          <a:bodyPr wrap="square">
            <a:spAutoFit/>
          </a:bodyPr>
          <a:lstStyle/>
          <a:p>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async</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Task</a:t>
            </a:r>
            <a:r>
              <a:rPr lang="en-US" sz="1200" dirty="0">
                <a:solidFill>
                  <a:srgbClr val="000000"/>
                </a:solidFill>
                <a:highlight>
                  <a:srgbClr val="FFFFFF"/>
                </a:highlight>
                <a:latin typeface="Cascadia Mono" panose="020B0609020000020004" pitchFamily="49" charset="0"/>
              </a:rPr>
              <a:t>&lt;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?&gt; </a:t>
            </a:r>
            <a:r>
              <a:rPr lang="en-US" sz="1200" dirty="0" err="1">
                <a:solidFill>
                  <a:srgbClr val="000000"/>
                </a:solidFill>
                <a:highlight>
                  <a:srgbClr val="FFFFFF"/>
                </a:highlight>
                <a:latin typeface="Cascadia Mono" panose="020B0609020000020004" pitchFamily="49" charset="0"/>
              </a:rPr>
              <a:t>UpdateAsync</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id, </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updatedBook</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if</a:t>
            </a:r>
            <a:r>
              <a:rPr lang="en-IN" sz="1200" dirty="0">
                <a:solidFill>
                  <a:srgbClr val="000000"/>
                </a:solidFill>
                <a:highlight>
                  <a:srgbClr val="FFFFFF"/>
                </a:highlight>
                <a:latin typeface="Cascadia Mono" panose="020B0609020000020004" pitchFamily="49" charset="0"/>
              </a:rPr>
              <a:t> (id != </a:t>
            </a:r>
            <a:r>
              <a:rPr lang="en-IN" sz="1200" dirty="0" err="1">
                <a:solidFill>
                  <a:srgbClr val="000000"/>
                </a:solidFill>
                <a:highlight>
                  <a:srgbClr val="FFFFFF"/>
                </a:highlight>
                <a:latin typeface="Cascadia Mono" panose="020B0609020000020004" pitchFamily="49" charset="0"/>
              </a:rPr>
              <a:t>updatedBook.BookId</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return</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null</a:t>
            </a:r>
            <a:r>
              <a:rPr lang="en-IN" sz="1200" dirty="0">
                <a:solidFill>
                  <a:srgbClr val="000000"/>
                </a:solidFill>
                <a:highlight>
                  <a:srgbClr val="FFFFFF"/>
                </a:highlight>
                <a:latin typeface="Cascadia Mono" panose="020B0609020000020004" pitchFamily="49" charset="0"/>
              </a:rPr>
              <a: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var</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existingBook</a:t>
            </a:r>
            <a:r>
              <a:rPr lang="en-IN" sz="1200" dirty="0">
                <a:solidFill>
                  <a:srgbClr val="000000"/>
                </a:solidFill>
                <a:highlight>
                  <a:srgbClr val="FFFFFF"/>
                </a:highlight>
                <a:latin typeface="Cascadia Mono" panose="020B0609020000020004" pitchFamily="49" charset="0"/>
              </a:rPr>
              <a:t> =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context.Books.FindAsync</a:t>
            </a:r>
            <a:r>
              <a:rPr lang="en-IN" sz="1200" dirty="0">
                <a:solidFill>
                  <a:srgbClr val="000000"/>
                </a:solidFill>
                <a:highlight>
                  <a:srgbClr val="FFFFFF"/>
                </a:highlight>
                <a:latin typeface="Cascadia Mono" panose="020B0609020000020004" pitchFamily="49" charset="0"/>
              </a:rPr>
              <a:t>(id);</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if</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existingBook</a:t>
            </a:r>
            <a:r>
              <a:rPr lang="en-IN" sz="1200" dirty="0">
                <a:solidFill>
                  <a:srgbClr val="000000"/>
                </a:solidFill>
                <a:highlight>
                  <a:srgbClr val="FFFFFF"/>
                </a:highlight>
                <a:latin typeface="Cascadia Mono" panose="020B0609020000020004" pitchFamily="49" charset="0"/>
              </a:rPr>
              <a:t> == </a:t>
            </a:r>
            <a:r>
              <a:rPr lang="en-IN" sz="1200" dirty="0">
                <a:solidFill>
                  <a:srgbClr val="0000FF"/>
                </a:solidFill>
                <a:highlight>
                  <a:srgbClr val="FFFFFF"/>
                </a:highlight>
                <a:latin typeface="Cascadia Mono" panose="020B0609020000020004" pitchFamily="49" charset="0"/>
              </a:rPr>
              <a:t>null</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return</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null</a:t>
            </a:r>
            <a:r>
              <a:rPr lang="en-IN" sz="1200" dirty="0">
                <a:solidFill>
                  <a:srgbClr val="000000"/>
                </a:solidFill>
                <a:highlight>
                  <a:srgbClr val="FFFFFF"/>
                </a:highlight>
                <a:latin typeface="Cascadia Mono" panose="020B0609020000020004" pitchFamily="49" charset="0"/>
              </a:rPr>
              <a: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context.Entry</a:t>
            </a:r>
            <a:r>
              <a:rPr lang="en-IN" sz="1200" dirty="0">
                <a:solidFill>
                  <a:srgbClr val="000000"/>
                </a:solidFill>
                <a:highlight>
                  <a:srgbClr val="FFFFFF"/>
                </a:highlight>
                <a:latin typeface="Cascadia Mono" panose="020B0609020000020004" pitchFamily="49" charset="0"/>
              </a:rPr>
              <a:t>(</a:t>
            </a:r>
            <a:r>
              <a:rPr lang="en-IN" sz="1200" dirty="0" err="1">
                <a:solidFill>
                  <a:srgbClr val="000000"/>
                </a:solidFill>
                <a:highlight>
                  <a:srgbClr val="FFFFFF"/>
                </a:highlight>
                <a:latin typeface="Cascadia Mono" panose="020B0609020000020004" pitchFamily="49" charset="0"/>
              </a:rPr>
              <a:t>existingBook</a:t>
            </a:r>
            <a:r>
              <a:rPr lang="en-IN" sz="1200" dirty="0">
                <a:solidFill>
                  <a:srgbClr val="000000"/>
                </a:solidFill>
                <a:highlight>
                  <a:srgbClr val="FFFFFF"/>
                </a:highlight>
                <a:latin typeface="Cascadia Mono" panose="020B0609020000020004" pitchFamily="49" charset="0"/>
              </a:rPr>
              <a:t>).</a:t>
            </a:r>
            <a:r>
              <a:rPr lang="en-IN" sz="1200" dirty="0" err="1">
                <a:solidFill>
                  <a:srgbClr val="000000"/>
                </a:solidFill>
                <a:highlight>
                  <a:srgbClr val="FFFFFF"/>
                </a:highlight>
                <a:latin typeface="Cascadia Mono" panose="020B0609020000020004" pitchFamily="49" charset="0"/>
              </a:rPr>
              <a:t>CurrentValues.SetValues</a:t>
            </a:r>
            <a:r>
              <a:rPr lang="en-IN" sz="1200" dirty="0">
                <a:solidFill>
                  <a:srgbClr val="000000"/>
                </a:solidFill>
                <a:highlight>
                  <a:srgbClr val="FFFFFF"/>
                </a:highlight>
                <a:latin typeface="Cascadia Mono" panose="020B0609020000020004" pitchFamily="49" charset="0"/>
              </a:rPr>
              <a:t>(</a:t>
            </a:r>
            <a:r>
              <a:rPr lang="en-IN" sz="1200" dirty="0" err="1">
                <a:solidFill>
                  <a:srgbClr val="000000"/>
                </a:solidFill>
                <a:highlight>
                  <a:srgbClr val="FFFFFF"/>
                </a:highlight>
                <a:latin typeface="Cascadia Mono" panose="020B0609020000020004" pitchFamily="49" charset="0"/>
              </a:rPr>
              <a:t>updatedBook</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context.SaveChangesAsync</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return</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existingBook</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async</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Task</a:t>
            </a:r>
            <a:r>
              <a:rPr lang="en-US" sz="1200" dirty="0">
                <a:solidFill>
                  <a:srgbClr val="000000"/>
                </a:solidFill>
                <a:highlight>
                  <a:srgbClr val="FFFFFF"/>
                </a:highlight>
                <a:latin typeface="Cascadia Mono" panose="020B0609020000020004" pitchFamily="49" charset="0"/>
              </a:rPr>
              <a:t>&lt;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?&gt; </a:t>
            </a:r>
            <a:r>
              <a:rPr lang="en-US" sz="1200" dirty="0" err="1">
                <a:solidFill>
                  <a:srgbClr val="000000"/>
                </a:solidFill>
                <a:highlight>
                  <a:srgbClr val="FFFFFF"/>
                </a:highlight>
                <a:latin typeface="Cascadia Mono" panose="020B0609020000020004" pitchFamily="49" charset="0"/>
              </a:rPr>
              <a:t>DeleteAsync</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id)</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var</a:t>
            </a:r>
            <a:r>
              <a:rPr lang="en-IN" sz="1200" dirty="0">
                <a:solidFill>
                  <a:srgbClr val="000000"/>
                </a:solidFill>
                <a:highlight>
                  <a:srgbClr val="FFFFFF"/>
                </a:highlight>
                <a:latin typeface="Cascadia Mono" panose="020B0609020000020004" pitchFamily="49" charset="0"/>
              </a:rPr>
              <a:t> book =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context.Books.FindAsync</a:t>
            </a:r>
            <a:r>
              <a:rPr lang="en-IN" sz="1200" dirty="0">
                <a:solidFill>
                  <a:srgbClr val="000000"/>
                </a:solidFill>
                <a:highlight>
                  <a:srgbClr val="FFFFFF"/>
                </a:highlight>
                <a:latin typeface="Cascadia Mono" panose="020B0609020000020004" pitchFamily="49" charset="0"/>
              </a:rPr>
              <a:t>(id);</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if</a:t>
            </a:r>
            <a:r>
              <a:rPr lang="en-IN" sz="1200" dirty="0">
                <a:solidFill>
                  <a:srgbClr val="000000"/>
                </a:solidFill>
                <a:highlight>
                  <a:srgbClr val="FFFFFF"/>
                </a:highlight>
                <a:latin typeface="Cascadia Mono" panose="020B0609020000020004" pitchFamily="49" charset="0"/>
              </a:rPr>
              <a:t> (book == </a:t>
            </a:r>
            <a:r>
              <a:rPr lang="en-IN" sz="1200" dirty="0">
                <a:solidFill>
                  <a:srgbClr val="0000FF"/>
                </a:solidFill>
                <a:highlight>
                  <a:srgbClr val="FFFFFF"/>
                </a:highlight>
                <a:latin typeface="Cascadia Mono" panose="020B0609020000020004" pitchFamily="49" charset="0"/>
              </a:rPr>
              <a:t>null</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return</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null</a:t>
            </a:r>
            <a:r>
              <a:rPr lang="en-IN" sz="1200" dirty="0">
                <a:solidFill>
                  <a:srgbClr val="000000"/>
                </a:solidFill>
                <a:highlight>
                  <a:srgbClr val="FFFFFF"/>
                </a:highlight>
                <a:latin typeface="Cascadia Mono" panose="020B0609020000020004" pitchFamily="49" charset="0"/>
              </a:rPr>
              <a: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context.Books.Remove</a:t>
            </a:r>
            <a:r>
              <a:rPr lang="en-IN" sz="1200" dirty="0">
                <a:solidFill>
                  <a:srgbClr val="000000"/>
                </a:solidFill>
                <a:highlight>
                  <a:srgbClr val="FFFFFF"/>
                </a:highlight>
                <a:latin typeface="Cascadia Mono" panose="020B0609020000020004" pitchFamily="49" charset="0"/>
              </a:rPr>
              <a:t>(book);</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await</a:t>
            </a:r>
            <a:r>
              <a:rPr lang="en-IN" sz="1200" dirty="0">
                <a:solidFill>
                  <a:srgbClr val="000000"/>
                </a:solidFill>
                <a:highlight>
                  <a:srgbClr val="FFFFFF"/>
                </a:highlight>
                <a:latin typeface="Cascadia Mono" panose="020B0609020000020004" pitchFamily="49" charset="0"/>
              </a:rPr>
              <a:t> _</a:t>
            </a:r>
            <a:r>
              <a:rPr lang="en-IN" sz="1200" dirty="0" err="1">
                <a:solidFill>
                  <a:srgbClr val="000000"/>
                </a:solidFill>
                <a:highlight>
                  <a:srgbClr val="FFFFFF"/>
                </a:highlight>
                <a:latin typeface="Cascadia Mono" panose="020B0609020000020004" pitchFamily="49" charset="0"/>
              </a:rPr>
              <a:t>context.SaveChangesAsync</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return</a:t>
            </a:r>
            <a:r>
              <a:rPr lang="en-IN" sz="1200" dirty="0">
                <a:solidFill>
                  <a:srgbClr val="000000"/>
                </a:solidFill>
                <a:highlight>
                  <a:srgbClr val="FFFFFF"/>
                </a:highlight>
                <a:latin typeface="Cascadia Mono" panose="020B0609020000020004" pitchFamily="49" charset="0"/>
              </a:rPr>
              <a:t> book;</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1506764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4944" y="589701"/>
            <a:ext cx="10021456" cy="1384995"/>
          </a:xfrm>
          <a:prstGeom prst="rect">
            <a:avLst/>
          </a:prstGeom>
        </p:spPr>
        <p:txBody>
          <a:bodyPr wrap="square">
            <a:spAutoFit/>
          </a:bodyPr>
          <a:lstStyle/>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ActionResult</a:t>
            </a:r>
            <a:r>
              <a:rPr lang="en-IN" sz="1200" dirty="0">
                <a:solidFill>
                  <a:srgbClr val="000000"/>
                </a:solidFill>
                <a:latin typeface="Cascadia Mono" panose="020B0609020000020004" pitchFamily="49" charset="0"/>
              </a:rPr>
              <a:t>&lt;</a:t>
            </a:r>
            <a:r>
              <a:rPr lang="en-IN" sz="1200" dirty="0" err="1">
                <a:solidFill>
                  <a:srgbClr val="000000"/>
                </a:solidFill>
                <a:latin typeface="Cascadia Mono" panose="020B0609020000020004" pitchFamily="49" charset="0"/>
              </a:rPr>
              <a:t>IEnumerable</a:t>
            </a:r>
            <a:r>
              <a:rPr lang="en-IN" sz="1200" dirty="0">
                <a:solidFill>
                  <a:srgbClr val="000000"/>
                </a:solidFill>
                <a:latin typeface="Cascadia Mono" panose="020B0609020000020004" pitchFamily="49" charset="0"/>
              </a:rPr>
              <a:t>&lt;dynamic&gt;&gt; </a:t>
            </a:r>
            <a:r>
              <a:rPr lang="en-IN" sz="1200" dirty="0" err="1">
                <a:solidFill>
                  <a:srgbClr val="000000"/>
                </a:solidFill>
                <a:latin typeface="Cascadia Mono" panose="020B0609020000020004" pitchFamily="49" charset="0"/>
              </a:rPr>
              <a:t>GetName</a:t>
            </a:r>
            <a:r>
              <a:rPr lang="en-IN" sz="1200" dirty="0">
                <a:solidFill>
                  <a:srgbClr val="000000"/>
                </a:solidFill>
                <a:latin typeface="Cascadia Mono" panose="020B0609020000020004" pitchFamily="49" charset="0"/>
              </a:rPr>
              <a:t>(</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name)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q = </a:t>
            </a:r>
            <a:r>
              <a:rPr lang="en-IN" sz="1200" dirty="0" err="1">
                <a:solidFill>
                  <a:srgbClr val="000000"/>
                </a:solidFill>
                <a:latin typeface="Cascadia Mono" panose="020B0609020000020004" pitchFamily="49" charset="0"/>
              </a:rPr>
              <a:t>context.Books.Join</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context.Authors</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authid</a:t>
            </a:r>
            <a:r>
              <a:rPr lang="en-IN" sz="1200" dirty="0">
                <a:solidFill>
                  <a:srgbClr val="000000"/>
                </a:solidFill>
                <a:latin typeface="Cascadia Mono" panose="020B0609020000020004" pitchFamily="49" charset="0"/>
              </a:rPr>
              <a:t> =&gt; </a:t>
            </a:r>
            <a:r>
              <a:rPr lang="en-IN" sz="1200" dirty="0" err="1">
                <a:solidFill>
                  <a:srgbClr val="000000"/>
                </a:solidFill>
                <a:latin typeface="Cascadia Mono" panose="020B0609020000020004" pitchFamily="49" charset="0"/>
              </a:rPr>
              <a:t>authid.AuthorId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bkid</a:t>
            </a:r>
            <a:r>
              <a:rPr lang="en-IN" sz="1200" dirty="0">
                <a:solidFill>
                  <a:srgbClr val="000000"/>
                </a:solidFill>
                <a:latin typeface="Cascadia Mono" panose="020B0609020000020004" pitchFamily="49" charset="0"/>
              </a:rPr>
              <a:t> =&gt; </a:t>
            </a:r>
            <a:r>
              <a:rPr lang="en-IN" sz="1200" dirty="0" err="1">
                <a:solidFill>
                  <a:srgbClr val="000000"/>
                </a:solidFill>
                <a:latin typeface="Cascadia Mono" panose="020B0609020000020004" pitchFamily="49" charset="0"/>
              </a:rPr>
              <a:t>bkid.AuthorId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bkid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authid</a:t>
            </a:r>
            <a:r>
              <a:rPr lang="en-IN" sz="1200" dirty="0">
                <a:solidFill>
                  <a:srgbClr val="000000"/>
                </a:solidFill>
                <a:latin typeface="Cascadia Mono" panose="020B0609020000020004" pitchFamily="49" charset="0"/>
              </a:rPr>
              <a:t>) =&gt;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 Title = </a:t>
            </a:r>
            <a:r>
              <a:rPr lang="en-IN" sz="1200" dirty="0" err="1">
                <a:solidFill>
                  <a:srgbClr val="000000"/>
                </a:solidFill>
                <a:latin typeface="Cascadia Mono" panose="020B0609020000020004" pitchFamily="49" charset="0"/>
              </a:rPr>
              <a:t>bkid.Title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Firstname</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authid.FirstName</a:t>
            </a:r>
            <a:r>
              <a:rPr lang="en-IN" sz="1200" dirty="0">
                <a:solidFill>
                  <a:srgbClr val="000000"/>
                </a:solidFill>
                <a:latin typeface="Cascadia Mono" panose="020B0609020000020004" pitchFamily="49" charset="0"/>
              </a:rPr>
              <a:t> }).Where(</a:t>
            </a:r>
            <a:r>
              <a:rPr lang="en-IN" sz="1200" dirty="0" err="1">
                <a:solidFill>
                  <a:srgbClr val="000000"/>
                </a:solidFill>
                <a:latin typeface="Cascadia Mono" panose="020B0609020000020004" pitchFamily="49" charset="0"/>
              </a:rPr>
              <a:t>bk</a:t>
            </a:r>
            <a:r>
              <a:rPr lang="en-IN" sz="1200" dirty="0">
                <a:solidFill>
                  <a:srgbClr val="000000"/>
                </a:solidFill>
                <a:latin typeface="Cascadia Mono" panose="020B0609020000020004" pitchFamily="49" charset="0"/>
              </a:rPr>
              <a:t>=&gt;</a:t>
            </a:r>
            <a:r>
              <a:rPr lang="en-IN" sz="1200" dirty="0" err="1">
                <a:solidFill>
                  <a:srgbClr val="000000"/>
                </a:solidFill>
                <a:latin typeface="Cascadia Mono" panose="020B0609020000020004" pitchFamily="49" charset="0"/>
              </a:rPr>
              <a:t>bk.Title</a:t>
            </a:r>
            <a:r>
              <a:rPr lang="en-IN" sz="1200" dirty="0">
                <a:solidFill>
                  <a:srgbClr val="000000"/>
                </a:solidFill>
                <a:latin typeface="Cascadia Mono" panose="020B0609020000020004" pitchFamily="49" charset="0"/>
              </a:rPr>
              <a:t>==name);</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q.ToList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endParaRPr lang="en-IN" sz="1200" dirty="0"/>
          </a:p>
        </p:txBody>
      </p:sp>
      <p:sp>
        <p:nvSpPr>
          <p:cNvPr id="3" name="Rectangle 2"/>
          <p:cNvSpPr/>
          <p:nvPr/>
        </p:nvSpPr>
        <p:spPr>
          <a:xfrm>
            <a:off x="1431636" y="3657601"/>
            <a:ext cx="6668654" cy="2462213"/>
          </a:xfrm>
          <a:prstGeom prst="rect">
            <a:avLst/>
          </a:prstGeom>
        </p:spPr>
        <p:txBody>
          <a:bodyPr wrap="square">
            <a:spAutoFit/>
          </a:bodyPr>
          <a:lstStyle/>
          <a:p>
            <a:r>
              <a:rPr lang="en-IN" sz="1100" dirty="0">
                <a:solidFill>
                  <a:srgbClr val="000000"/>
                </a:solidFill>
                <a:latin typeface="Cascadia Mono" panose="020B0609020000020004" pitchFamily="49" charset="0"/>
              </a:rPr>
              <a:t>Can I Use </a:t>
            </a:r>
            <a:r>
              <a:rPr lang="en-IN" sz="1100" dirty="0" err="1">
                <a:solidFill>
                  <a:srgbClr val="000000"/>
                </a:solidFill>
                <a:latin typeface="Cascadia Mono" panose="020B0609020000020004" pitchFamily="49" charset="0"/>
              </a:rPr>
              <a:t>RawSql</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0000FF"/>
                </a:solidFill>
                <a:latin typeface="Cascadia Mono" panose="020B0609020000020004" pitchFamily="49" charset="0"/>
              </a:rPr>
              <a:t>async</a:t>
            </a:r>
            <a:r>
              <a:rPr lang="en-IN" sz="1100" dirty="0">
                <a:solidFill>
                  <a:srgbClr val="000000"/>
                </a:solidFill>
                <a:latin typeface="Cascadia Mono" panose="020B0609020000020004" pitchFamily="49" charset="0"/>
              </a:rPr>
              <a:t> Task&lt;</a:t>
            </a:r>
            <a:r>
              <a:rPr lang="en-IN" sz="1100" dirty="0" err="1">
                <a:solidFill>
                  <a:srgbClr val="000000"/>
                </a:solidFill>
                <a:latin typeface="Cascadia Mono" panose="020B0609020000020004" pitchFamily="49" charset="0"/>
              </a:rPr>
              <a:t>ActionResult</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IEnumerable</a:t>
            </a:r>
            <a:r>
              <a:rPr lang="en-IN" sz="1100" dirty="0">
                <a:solidFill>
                  <a:srgbClr val="000000"/>
                </a:solidFill>
                <a:latin typeface="Cascadia Mono" panose="020B0609020000020004" pitchFamily="49" charset="0"/>
              </a:rPr>
              <a:t>&lt;Book&gt;?&gt;&gt; </a:t>
            </a:r>
            <a:r>
              <a:rPr lang="en-IN" sz="1100" dirty="0" err="1">
                <a:solidFill>
                  <a:srgbClr val="000000"/>
                </a:solidFill>
                <a:latin typeface="Cascadia Mono" panose="020B0609020000020004" pitchFamily="49" charset="0"/>
              </a:rPr>
              <a:t>GetAllBook</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context.Books</a:t>
            </a:r>
            <a:r>
              <a:rPr lang="en-IN" sz="1100" dirty="0">
                <a:solidFill>
                  <a:srgbClr val="000000"/>
                </a:solidFill>
                <a:latin typeface="Cascadia Mono" panose="020B0609020000020004" pitchFamily="49" charset="0"/>
              </a:rPr>
              <a:t> == </a:t>
            </a:r>
            <a:r>
              <a:rPr lang="en-IN" sz="1100" dirty="0">
                <a:solidFill>
                  <a:srgbClr val="0000FF"/>
                </a:solidFill>
                <a:latin typeface="Cascadia Mono" panose="020B0609020000020004" pitchFamily="49" charset="0"/>
              </a:rPr>
              <a:t>null</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null</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context.Books.ToListAsync</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return</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await</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context.Books.FromSqlRaw</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"SELECT </a:t>
            </a:r>
            <a:r>
              <a:rPr lang="en-US" sz="1100" dirty="0" err="1">
                <a:solidFill>
                  <a:srgbClr val="A31515"/>
                </a:solidFill>
                <a:latin typeface="Cascadia Mono" panose="020B0609020000020004" pitchFamily="49" charset="0"/>
              </a:rPr>
              <a:t>BookId</a:t>
            </a:r>
            <a:r>
              <a:rPr lang="en-US" sz="1100" dirty="0">
                <a:solidFill>
                  <a:srgbClr val="A31515"/>
                </a:solidFill>
                <a:latin typeface="Cascadia Mono" panose="020B0609020000020004" pitchFamily="49" charset="0"/>
              </a:rPr>
              <a:t>, Title, </a:t>
            </a:r>
            <a:r>
              <a:rPr lang="en-US" sz="1100" dirty="0" err="1">
                <a:solidFill>
                  <a:srgbClr val="A31515"/>
                </a:solidFill>
                <a:latin typeface="Cascadia Mono" panose="020B0609020000020004" pitchFamily="49" charset="0"/>
              </a:rPr>
              <a:t>AuthorId</a:t>
            </a:r>
            <a:r>
              <a:rPr lang="en-US" sz="1100" dirty="0">
                <a:solidFill>
                  <a:srgbClr val="A31515"/>
                </a:solidFill>
                <a:latin typeface="Cascadia Mono" panose="020B0609020000020004" pitchFamily="49" charset="0"/>
              </a:rPr>
              <a:t>, </a:t>
            </a:r>
            <a:r>
              <a:rPr lang="en-US" sz="1100" dirty="0" err="1">
                <a:solidFill>
                  <a:srgbClr val="A31515"/>
                </a:solidFill>
                <a:latin typeface="Cascadia Mono" panose="020B0609020000020004" pitchFamily="49" charset="0"/>
              </a:rPr>
              <a:t>Isbn</a:t>
            </a:r>
            <a:r>
              <a:rPr lang="en-US" sz="1100" dirty="0">
                <a:solidFill>
                  <a:srgbClr val="A31515"/>
                </a:solidFill>
                <a:latin typeface="Cascadia Mono" panose="020B0609020000020004" pitchFamily="49" charset="0"/>
              </a:rPr>
              <a:t> FROM Books"</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ToListAsync</a:t>
            </a:r>
            <a:r>
              <a:rPr lang="en-US"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endParaRPr lang="en-IN" sz="1100" dirty="0"/>
          </a:p>
        </p:txBody>
      </p:sp>
    </p:spTree>
    <p:extLst>
      <p:ext uri="{BB962C8B-B14F-4D97-AF65-F5344CB8AC3E}">
        <p14:creationId xmlns:p14="http://schemas.microsoft.com/office/powerpoint/2010/main" val="3988405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655" y="0"/>
            <a:ext cx="6096000" cy="276999"/>
          </a:xfrm>
          <a:prstGeom prst="rect">
            <a:avLst/>
          </a:prstGeom>
        </p:spPr>
        <p:txBody>
          <a:bodyPr>
            <a:spAutoFit/>
          </a:bodyPr>
          <a:lstStyle/>
          <a:p>
            <a:endParaRPr lang="en-IN" sz="1200" dirty="0">
              <a:solidFill>
                <a:srgbClr val="000000"/>
              </a:solidFill>
              <a:latin typeface="Cascadia Mono" panose="020B0609020000020004" pitchFamily="49" charset="0"/>
            </a:endParaRPr>
          </a:p>
        </p:txBody>
      </p:sp>
      <p:sp>
        <p:nvSpPr>
          <p:cNvPr id="3" name="TextBox 2">
            <a:extLst>
              <a:ext uri="{FF2B5EF4-FFF2-40B4-BE49-F238E27FC236}">
                <a16:creationId xmlns:a16="http://schemas.microsoft.com/office/drawing/2014/main" id="{7FDC2490-2B08-366B-BA66-910EEFA9E699}"/>
              </a:ext>
            </a:extLst>
          </p:cNvPr>
          <p:cNvSpPr txBox="1"/>
          <p:nvPr/>
        </p:nvSpPr>
        <p:spPr>
          <a:xfrm>
            <a:off x="64655" y="-146334"/>
            <a:ext cx="6096000" cy="6463308"/>
          </a:xfrm>
          <a:prstGeom prst="rect">
            <a:avLst/>
          </a:prstGeom>
          <a:noFill/>
        </p:spPr>
        <p:txBody>
          <a:bodyPr wrap="square">
            <a:spAutoFit/>
          </a:bodyPr>
          <a:lstStyle/>
          <a:p>
            <a:r>
              <a:rPr lang="en-IN" sz="900" dirty="0">
                <a:solidFill>
                  <a:srgbClr val="0000FF"/>
                </a:solidFill>
                <a:highlight>
                  <a:srgbClr val="FFFFFF"/>
                </a:highlight>
                <a:latin typeface="Cascadia Mono" panose="020B0609020000020004" pitchFamily="49" charset="0"/>
              </a:rPr>
              <a:t>using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AsynctwotableAPI.Models</a:t>
            </a:r>
            <a:r>
              <a:rPr lang="en-IN" sz="900" dirty="0">
                <a:solidFill>
                  <a:srgbClr val="000000"/>
                </a:solidFill>
                <a:highlight>
                  <a:srgbClr val="FFFFFF"/>
                </a:highlight>
                <a:latin typeface="Cascadia Mono" panose="020B0609020000020004" pitchFamily="49" charset="0"/>
              </a:rPr>
              <a:t>;</a:t>
            </a:r>
          </a:p>
          <a:p>
            <a:r>
              <a:rPr lang="en-IN" sz="900" dirty="0">
                <a:solidFill>
                  <a:srgbClr val="0000FF"/>
                </a:solidFill>
                <a:highlight>
                  <a:srgbClr val="FFFFFF"/>
                </a:highlight>
                <a:latin typeface="Cascadia Mono" panose="020B0609020000020004" pitchFamily="49" charset="0"/>
              </a:rPr>
              <a:t>using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Microsoft.AspNetCore.Mvc</a:t>
            </a:r>
            <a:r>
              <a:rPr lang="en-IN" sz="900" dirty="0">
                <a:solidFill>
                  <a:srgbClr val="000000"/>
                </a:solidFill>
                <a:highlight>
                  <a:srgbClr val="FFFFFF"/>
                </a:highlight>
                <a:latin typeface="Cascadia Mono" panose="020B0609020000020004" pitchFamily="49" charset="0"/>
              </a:rPr>
              <a:t>;</a:t>
            </a:r>
          </a:p>
          <a:p>
            <a:r>
              <a:rPr lang="en-IN" sz="900" dirty="0">
                <a:solidFill>
                  <a:srgbClr val="0000FF"/>
                </a:solidFill>
                <a:highlight>
                  <a:srgbClr val="FFFFFF"/>
                </a:highlight>
                <a:latin typeface="Cascadia Mono" panose="020B0609020000020004" pitchFamily="49" charset="0"/>
              </a:rPr>
              <a:t>using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AsynctwotableAPI.Services</a:t>
            </a:r>
            <a:r>
              <a:rPr lang="en-IN" sz="900" dirty="0">
                <a:solidFill>
                  <a:srgbClr val="000000"/>
                </a:solidFill>
                <a:highlight>
                  <a:srgbClr val="FFFFFF"/>
                </a:highlight>
                <a:latin typeface="Cascadia Mono" panose="020B0609020000020004" pitchFamily="49" charset="0"/>
              </a:rPr>
              <a:t>;</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FF"/>
                </a:solidFill>
                <a:highlight>
                  <a:srgbClr val="FFFFFF"/>
                </a:highlight>
                <a:latin typeface="Cascadia Mono" panose="020B0609020000020004" pitchFamily="49" charset="0"/>
              </a:rPr>
              <a:t>namespace</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AsynctwotableAPI.Controllers</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ApiController</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Route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api</a:t>
            </a:r>
            <a:r>
              <a:rPr lang="en-IN" sz="900" dirty="0">
                <a:solidFill>
                  <a:srgbClr val="A31515"/>
                </a:solidFill>
                <a:highlight>
                  <a:srgbClr val="FFFFFF"/>
                </a:highlight>
                <a:latin typeface="Cascadia Mono" panose="020B0609020000020004" pitchFamily="49" charset="0"/>
              </a:rPr>
              <a:t>/</a:t>
            </a:r>
            <a:r>
              <a:rPr lang="en-IN" sz="900" dirty="0">
                <a:solidFill>
                  <a:srgbClr val="0073FF"/>
                </a:solidFill>
                <a:highlight>
                  <a:srgbClr val="FFFFFF"/>
                </a:highlight>
                <a:latin typeface="Cascadia Mono" panose="020B0609020000020004" pitchFamily="49" charset="0"/>
              </a:rPr>
              <a:t>[controller]</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BookController</a:t>
            </a:r>
            <a:r>
              <a:rPr lang="en-IN" sz="900" dirty="0">
                <a:solidFill>
                  <a:srgbClr val="000000"/>
                </a:solidFill>
                <a:highlight>
                  <a:srgbClr val="FFFFFF"/>
                </a:highlight>
                <a:latin typeface="Cascadia Mono" panose="020B0609020000020004" pitchFamily="49" charset="0"/>
              </a:rPr>
              <a:t> : </a:t>
            </a:r>
            <a:r>
              <a:rPr lang="en-IN" sz="900" dirty="0" err="1">
                <a:solidFill>
                  <a:srgbClr val="2B91AF"/>
                </a:solidFill>
                <a:highlight>
                  <a:srgbClr val="FFFFFF"/>
                </a:highlight>
                <a:latin typeface="Cascadia Mono" panose="020B0609020000020004" pitchFamily="49" charset="0"/>
              </a:rPr>
              <a:t>ControllerBase</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private</a:t>
            </a:r>
            <a:r>
              <a:rPr lang="en-IN" sz="900" dirty="0">
                <a:solidFill>
                  <a:srgbClr val="000000"/>
                </a:solidFill>
                <a:highlight>
                  <a:srgbClr val="FFFFFF"/>
                </a:highlight>
                <a:latin typeface="Cascadia Mono" panose="020B0609020000020004" pitchFamily="49" charset="0"/>
              </a:rPr>
              <a:t> </a:t>
            </a:r>
            <a:r>
              <a:rPr lang="en-IN" sz="900" dirty="0" err="1">
                <a:solidFill>
                  <a:srgbClr val="0000FF"/>
                </a:solidFill>
                <a:highlight>
                  <a:srgbClr val="FFFFFF"/>
                </a:highlight>
                <a:latin typeface="Cascadia Mono" panose="020B0609020000020004" pitchFamily="49" charset="0"/>
              </a:rPr>
              <a:t>readonly</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IBookRepository</a:t>
            </a:r>
            <a:r>
              <a:rPr lang="en-IN" sz="900" dirty="0">
                <a:solidFill>
                  <a:srgbClr val="000000"/>
                </a:solidFill>
                <a:highlight>
                  <a:srgbClr val="FFFFFF"/>
                </a:highlight>
                <a:latin typeface="Cascadia Mono" panose="020B0609020000020004" pitchFamily="49" charset="0"/>
              </a:rPr>
              <a:t> _</a:t>
            </a:r>
            <a:r>
              <a:rPr lang="en-IN" sz="900" dirty="0" err="1">
                <a:solidFill>
                  <a:srgbClr val="000000"/>
                </a:solidFill>
                <a:highlight>
                  <a:srgbClr val="FFFFFF"/>
                </a:highlight>
                <a:latin typeface="Cascadia Mono" panose="020B0609020000020004" pitchFamily="49" charset="0"/>
              </a:rPr>
              <a:t>bookRepository</a:t>
            </a:r>
            <a:r>
              <a:rPr lang="en-IN" sz="900" dirty="0">
                <a:solidFill>
                  <a:srgbClr val="000000"/>
                </a:solidFill>
                <a:highlight>
                  <a:srgbClr val="FFFFFF"/>
                </a:highlight>
                <a:latin typeface="Cascadia Mono" panose="020B0609020000020004" pitchFamily="49" charset="0"/>
              </a:rPr>
              <a:t>;</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BookController</a:t>
            </a:r>
            <a:r>
              <a:rPr lang="en-IN" sz="900" dirty="0">
                <a:solidFill>
                  <a:srgbClr val="000000"/>
                </a:solidFill>
                <a:highlight>
                  <a:srgbClr val="FFFFFF"/>
                </a:highlight>
                <a:latin typeface="Cascadia Mono" panose="020B0609020000020004" pitchFamily="49" charset="0"/>
              </a:rPr>
              <a:t>(</a:t>
            </a:r>
            <a:r>
              <a:rPr lang="en-IN" sz="900" dirty="0" err="1">
                <a:solidFill>
                  <a:srgbClr val="2B91AF"/>
                </a:solidFill>
                <a:highlight>
                  <a:srgbClr val="FFFFFF"/>
                </a:highlight>
                <a:latin typeface="Cascadia Mono" panose="020B0609020000020004" pitchFamily="49" charset="0"/>
              </a:rPr>
              <a:t>IBookRepository</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bookRepository</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_</a:t>
            </a:r>
            <a:r>
              <a:rPr lang="en-IN" sz="900" dirty="0" err="1">
                <a:solidFill>
                  <a:srgbClr val="000000"/>
                </a:solidFill>
                <a:highlight>
                  <a:srgbClr val="FFFFFF"/>
                </a:highlight>
                <a:latin typeface="Cascadia Mono" panose="020B0609020000020004" pitchFamily="49" charset="0"/>
              </a:rPr>
              <a:t>bookRepository</a:t>
            </a:r>
            <a:r>
              <a:rPr lang="en-IN" sz="900" dirty="0">
                <a:solidFill>
                  <a:srgbClr val="000000"/>
                </a:solidFill>
                <a:highlight>
                  <a:srgbClr val="FFFFFF"/>
                </a:highlight>
                <a:latin typeface="Cascadia Mono" panose="020B0609020000020004" pitchFamily="49" charset="0"/>
              </a:rPr>
              <a:t> = </a:t>
            </a:r>
            <a:r>
              <a:rPr lang="en-IN" sz="900" dirty="0" err="1">
                <a:solidFill>
                  <a:srgbClr val="000000"/>
                </a:solidFill>
                <a:highlight>
                  <a:srgbClr val="FFFFFF"/>
                </a:highlight>
                <a:latin typeface="Cascadia Mono" panose="020B0609020000020004" pitchFamily="49" charset="0"/>
              </a:rPr>
              <a:t>bookRepository</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 GET: </a:t>
            </a:r>
            <a:r>
              <a:rPr lang="en-IN" sz="900" dirty="0" err="1">
                <a:solidFill>
                  <a:srgbClr val="008000"/>
                </a:solidFill>
                <a:highlight>
                  <a:srgbClr val="FFFFFF"/>
                </a:highlight>
                <a:latin typeface="Cascadia Mono" panose="020B0609020000020004" pitchFamily="49" charset="0"/>
              </a:rPr>
              <a:t>api</a:t>
            </a:r>
            <a:r>
              <a:rPr lang="en-IN" sz="900" dirty="0">
                <a:solidFill>
                  <a:srgbClr val="008000"/>
                </a:solidFill>
                <a:highlight>
                  <a:srgbClr val="FFFFFF"/>
                </a:highlight>
                <a:latin typeface="Cascadia Mono" panose="020B0609020000020004" pitchFamily="49" charset="0"/>
              </a:rPr>
              <a:t>/book</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HttpGet</a:t>
            </a:r>
            <a:r>
              <a:rPr lang="en-IN"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async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Task</a:t>
            </a:r>
            <a:r>
              <a:rPr lang="en-US" sz="900" dirty="0">
                <a:solidFill>
                  <a:srgbClr val="000000"/>
                </a:solidFill>
                <a:highlight>
                  <a:srgbClr val="FFFFFF"/>
                </a:highlight>
                <a:latin typeface="Cascadia Mono" panose="020B0609020000020004" pitchFamily="49" charset="0"/>
              </a:rPr>
              <a:t>&lt;</a:t>
            </a:r>
            <a:r>
              <a:rPr lang="en-US" sz="900" dirty="0" err="1">
                <a:solidFill>
                  <a:srgbClr val="2B91AF"/>
                </a:solidFill>
                <a:highlight>
                  <a:srgbClr val="FFFFFF"/>
                </a:highlight>
                <a:latin typeface="Cascadia Mono" panose="020B0609020000020004" pitchFamily="49" charset="0"/>
              </a:rPr>
              <a:t>ActionResult</a:t>
            </a:r>
            <a:r>
              <a:rPr lang="en-US" sz="900" dirty="0">
                <a:solidFill>
                  <a:srgbClr val="000000"/>
                </a:solidFill>
                <a:highlight>
                  <a:srgbClr val="FFFFFF"/>
                </a:highlight>
                <a:latin typeface="Cascadia Mono" panose="020B0609020000020004" pitchFamily="49" charset="0"/>
              </a:rPr>
              <a:t>&lt;</a:t>
            </a:r>
            <a:r>
              <a:rPr lang="en-US" sz="900" dirty="0" err="1">
                <a:solidFill>
                  <a:srgbClr val="2B91AF"/>
                </a:solidFill>
                <a:highlight>
                  <a:srgbClr val="FFFFFF"/>
                </a:highlight>
                <a:latin typeface="Cascadia Mono" panose="020B0609020000020004" pitchFamily="49" charset="0"/>
              </a:rPr>
              <a:t>IEnumerable</a:t>
            </a:r>
            <a:r>
              <a:rPr lang="en-US" sz="900" dirty="0">
                <a:solidFill>
                  <a:srgbClr val="000000"/>
                </a:solidFill>
                <a:highlight>
                  <a:srgbClr val="FFFFFF"/>
                </a:highlight>
                <a:latin typeface="Cascadia Mono" panose="020B0609020000020004" pitchFamily="49" charset="0"/>
              </a:rPr>
              <a:t>&lt;</a:t>
            </a:r>
            <a:r>
              <a:rPr lang="en-US" sz="900" dirty="0">
                <a:solidFill>
                  <a:srgbClr val="2B91AF"/>
                </a:solidFill>
                <a:highlight>
                  <a:srgbClr val="FFFFFF"/>
                </a:highlight>
                <a:latin typeface="Cascadia Mono" panose="020B0609020000020004" pitchFamily="49" charset="0"/>
              </a:rPr>
              <a:t>Book</a:t>
            </a:r>
            <a:r>
              <a:rPr lang="en-US" sz="900" dirty="0">
                <a:solidFill>
                  <a:srgbClr val="000000"/>
                </a:solidFill>
                <a:highlight>
                  <a:srgbClr val="FFFFFF"/>
                </a:highlight>
                <a:latin typeface="Cascadia Mono" panose="020B0609020000020004" pitchFamily="49" charset="0"/>
              </a:rPr>
              <a:t>&gt;&gt;&gt; </a:t>
            </a:r>
            <a:r>
              <a:rPr lang="en-US" sz="900" dirty="0" err="1">
                <a:solidFill>
                  <a:srgbClr val="000000"/>
                </a:solidFill>
                <a:highlight>
                  <a:srgbClr val="FFFFFF"/>
                </a:highlight>
                <a:latin typeface="Cascadia Mono" panose="020B0609020000020004" pitchFamily="49" charset="0"/>
              </a:rPr>
              <a:t>GetAllBooks</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var</a:t>
            </a:r>
            <a:r>
              <a:rPr lang="en-US" sz="900" dirty="0">
                <a:solidFill>
                  <a:srgbClr val="000000"/>
                </a:solidFill>
                <a:highlight>
                  <a:srgbClr val="FFFFFF"/>
                </a:highlight>
                <a:latin typeface="Cascadia Mono" panose="020B0609020000020004" pitchFamily="49" charset="0"/>
              </a:rPr>
              <a:t> books = </a:t>
            </a:r>
            <a:r>
              <a:rPr lang="en-US" sz="900" dirty="0">
                <a:solidFill>
                  <a:srgbClr val="0000FF"/>
                </a:solidFill>
                <a:highlight>
                  <a:srgbClr val="FFFFFF"/>
                </a:highlight>
                <a:latin typeface="Cascadia Mono" panose="020B0609020000020004" pitchFamily="49" charset="0"/>
              </a:rPr>
              <a:t>await</a:t>
            </a:r>
            <a:r>
              <a:rPr lang="en-US" sz="900" dirty="0">
                <a:solidFill>
                  <a:srgbClr val="000000"/>
                </a:solidFill>
                <a:highlight>
                  <a:srgbClr val="FFFFFF"/>
                </a:highlight>
                <a:latin typeface="Cascadia Mono" panose="020B0609020000020004" pitchFamily="49" charset="0"/>
              </a:rPr>
              <a:t> _</a:t>
            </a:r>
            <a:r>
              <a:rPr lang="en-US" sz="900" dirty="0" err="1">
                <a:solidFill>
                  <a:srgbClr val="000000"/>
                </a:solidFill>
                <a:highlight>
                  <a:srgbClr val="FFFFFF"/>
                </a:highlight>
                <a:latin typeface="Cascadia Mono" panose="020B0609020000020004" pitchFamily="49" charset="0"/>
              </a:rPr>
              <a:t>bookRepository.GetAllAsync</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return</a:t>
            </a:r>
            <a:r>
              <a:rPr lang="en-IN" sz="900" dirty="0">
                <a:solidFill>
                  <a:srgbClr val="000000"/>
                </a:solidFill>
                <a:highlight>
                  <a:srgbClr val="FFFFFF"/>
                </a:highlight>
                <a:latin typeface="Cascadia Mono" panose="020B0609020000020004" pitchFamily="49" charset="0"/>
              </a:rPr>
              <a:t> Ok(books);</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 GET: </a:t>
            </a:r>
            <a:r>
              <a:rPr lang="en-IN" sz="900" dirty="0" err="1">
                <a:solidFill>
                  <a:srgbClr val="008000"/>
                </a:solidFill>
                <a:highlight>
                  <a:srgbClr val="FFFFFF"/>
                </a:highlight>
                <a:latin typeface="Cascadia Mono" panose="020B0609020000020004" pitchFamily="49" charset="0"/>
              </a:rPr>
              <a:t>api</a:t>
            </a:r>
            <a:r>
              <a:rPr lang="en-IN" sz="900" dirty="0">
                <a:solidFill>
                  <a:srgbClr val="008000"/>
                </a:solidFill>
                <a:highlight>
                  <a:srgbClr val="FFFFFF"/>
                </a:highlight>
                <a:latin typeface="Cascadia Mono" panose="020B0609020000020004" pitchFamily="49" charset="0"/>
              </a:rPr>
              <a:t>/book/{id}</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HttpGet</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a:t>
            </a:r>
            <a:r>
              <a:rPr lang="en-IN" sz="900" dirty="0">
                <a:solidFill>
                  <a:srgbClr val="0073FF"/>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id</a:t>
            </a:r>
            <a:r>
              <a:rPr lang="en-IN" sz="900" dirty="0">
                <a:solidFill>
                  <a:srgbClr val="0073FF"/>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async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Task</a:t>
            </a:r>
            <a:r>
              <a:rPr lang="en-US" sz="900" dirty="0">
                <a:solidFill>
                  <a:srgbClr val="000000"/>
                </a:solidFill>
                <a:highlight>
                  <a:srgbClr val="FFFFFF"/>
                </a:highlight>
                <a:latin typeface="Cascadia Mono" panose="020B0609020000020004" pitchFamily="49" charset="0"/>
              </a:rPr>
              <a:t>&lt;</a:t>
            </a:r>
            <a:r>
              <a:rPr lang="en-US" sz="900" dirty="0" err="1">
                <a:solidFill>
                  <a:srgbClr val="2B91AF"/>
                </a:solidFill>
                <a:highlight>
                  <a:srgbClr val="FFFFFF"/>
                </a:highlight>
                <a:latin typeface="Cascadia Mono" panose="020B0609020000020004" pitchFamily="49" charset="0"/>
              </a:rPr>
              <a:t>ActionResult</a:t>
            </a:r>
            <a:r>
              <a:rPr lang="en-US" sz="900" dirty="0">
                <a:solidFill>
                  <a:srgbClr val="000000"/>
                </a:solidFill>
                <a:highlight>
                  <a:srgbClr val="FFFFFF"/>
                </a:highlight>
                <a:latin typeface="Cascadia Mono" panose="020B0609020000020004" pitchFamily="49" charset="0"/>
              </a:rPr>
              <a:t>&lt;</a:t>
            </a:r>
            <a:r>
              <a:rPr lang="en-US" sz="900" dirty="0">
                <a:solidFill>
                  <a:srgbClr val="2B91AF"/>
                </a:solidFill>
                <a:highlight>
                  <a:srgbClr val="FFFFFF"/>
                </a:highlight>
                <a:latin typeface="Cascadia Mono" panose="020B0609020000020004" pitchFamily="49" charset="0"/>
              </a:rPr>
              <a:t>Book</a:t>
            </a:r>
            <a:r>
              <a:rPr lang="en-US" sz="900" dirty="0">
                <a:solidFill>
                  <a:srgbClr val="000000"/>
                </a:solidFill>
                <a:highlight>
                  <a:srgbClr val="FFFFFF"/>
                </a:highlight>
                <a:latin typeface="Cascadia Mono" panose="020B0609020000020004" pitchFamily="49" charset="0"/>
              </a:rPr>
              <a:t>&gt;&gt; </a:t>
            </a:r>
            <a:r>
              <a:rPr lang="en-US" sz="900" dirty="0" err="1">
                <a:solidFill>
                  <a:srgbClr val="000000"/>
                </a:solidFill>
                <a:highlight>
                  <a:srgbClr val="FFFFFF"/>
                </a:highlight>
                <a:latin typeface="Cascadia Mono" panose="020B0609020000020004" pitchFamily="49" charset="0"/>
              </a:rPr>
              <a:t>GetBookById</a:t>
            </a:r>
            <a:r>
              <a:rPr lang="en-US" sz="900" dirty="0">
                <a:solidFill>
                  <a:srgbClr val="000000"/>
                </a:solidFill>
                <a:highlight>
                  <a:srgbClr val="FFFFFF"/>
                </a:highlight>
                <a:latin typeface="Cascadia Mono" panose="020B0609020000020004" pitchFamily="49" charset="0"/>
              </a:rPr>
              <a: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var</a:t>
            </a:r>
            <a:r>
              <a:rPr lang="en-IN" sz="900" dirty="0">
                <a:solidFill>
                  <a:srgbClr val="000000"/>
                </a:solidFill>
                <a:highlight>
                  <a:srgbClr val="FFFFFF"/>
                </a:highlight>
                <a:latin typeface="Cascadia Mono" panose="020B0609020000020004" pitchFamily="49" charset="0"/>
              </a:rPr>
              <a:t> book = </a:t>
            </a:r>
            <a:r>
              <a:rPr lang="en-IN" sz="900" dirty="0">
                <a:solidFill>
                  <a:srgbClr val="0000FF"/>
                </a:solidFill>
                <a:highlight>
                  <a:srgbClr val="FFFFFF"/>
                </a:highlight>
                <a:latin typeface="Cascadia Mono" panose="020B0609020000020004" pitchFamily="49" charset="0"/>
              </a:rPr>
              <a:t>await</a:t>
            </a:r>
            <a:r>
              <a:rPr lang="en-IN" sz="900" dirty="0">
                <a:solidFill>
                  <a:srgbClr val="000000"/>
                </a:solidFill>
                <a:highlight>
                  <a:srgbClr val="FFFFFF"/>
                </a:highlight>
                <a:latin typeface="Cascadia Mono" panose="020B0609020000020004" pitchFamily="49" charset="0"/>
              </a:rPr>
              <a:t> _</a:t>
            </a:r>
            <a:r>
              <a:rPr lang="en-IN" sz="900" dirty="0" err="1">
                <a:solidFill>
                  <a:srgbClr val="000000"/>
                </a:solidFill>
                <a:highlight>
                  <a:srgbClr val="FFFFFF"/>
                </a:highlight>
                <a:latin typeface="Cascadia Mono" panose="020B0609020000020004" pitchFamily="49" charset="0"/>
              </a:rPr>
              <a:t>bookRepository.GetByIdAsync</a:t>
            </a:r>
            <a:r>
              <a:rPr lang="en-IN" sz="900" dirty="0">
                <a:solidFill>
                  <a:srgbClr val="000000"/>
                </a:solidFill>
                <a:highlight>
                  <a:srgbClr val="FFFFFF"/>
                </a:highlight>
                <a:latin typeface="Cascadia Mono" panose="020B0609020000020004" pitchFamily="49" charset="0"/>
              </a:rPr>
              <a:t>(id);</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if</a:t>
            </a:r>
            <a:r>
              <a:rPr lang="en-IN" sz="900" dirty="0">
                <a:solidFill>
                  <a:srgbClr val="000000"/>
                </a:solidFill>
                <a:highlight>
                  <a:srgbClr val="FFFFFF"/>
                </a:highlight>
                <a:latin typeface="Cascadia Mono" panose="020B0609020000020004" pitchFamily="49" charset="0"/>
              </a:rPr>
              <a:t> (book == </a:t>
            </a:r>
            <a:r>
              <a:rPr lang="en-IN" sz="900" dirty="0">
                <a:solidFill>
                  <a:srgbClr val="0000FF"/>
                </a:solidFill>
                <a:highlight>
                  <a:srgbClr val="FFFFFF"/>
                </a:highlight>
                <a:latin typeface="Cascadia Mono" panose="020B0609020000020004" pitchFamily="49" charset="0"/>
              </a:rPr>
              <a:t>null</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return</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NotFound</a:t>
            </a:r>
            <a:r>
              <a:rPr lang="en-IN" sz="900" dirty="0">
                <a:solidFill>
                  <a:srgbClr val="000000"/>
                </a:solidFill>
                <a:highlight>
                  <a:srgbClr val="FFFFFF"/>
                </a:highlight>
                <a:latin typeface="Cascadia Mono" panose="020B0609020000020004" pitchFamily="49" charset="0"/>
              </a:rPr>
              <a:t>();</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return</a:t>
            </a:r>
            <a:r>
              <a:rPr lang="en-IN" sz="900" dirty="0">
                <a:solidFill>
                  <a:srgbClr val="000000"/>
                </a:solidFill>
                <a:highlight>
                  <a:srgbClr val="FFFFFF"/>
                </a:highlight>
                <a:latin typeface="Cascadia Mono" panose="020B0609020000020004" pitchFamily="49" charset="0"/>
              </a:rPr>
              <a:t> Ok(book);</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 POST: </a:t>
            </a:r>
            <a:r>
              <a:rPr lang="en-IN" sz="900" dirty="0" err="1">
                <a:solidFill>
                  <a:srgbClr val="008000"/>
                </a:solidFill>
                <a:highlight>
                  <a:srgbClr val="FFFFFF"/>
                </a:highlight>
                <a:latin typeface="Cascadia Mono" panose="020B0609020000020004" pitchFamily="49" charset="0"/>
              </a:rPr>
              <a:t>api</a:t>
            </a:r>
            <a:r>
              <a:rPr lang="en-IN" sz="900" dirty="0">
                <a:solidFill>
                  <a:srgbClr val="008000"/>
                </a:solidFill>
                <a:highlight>
                  <a:srgbClr val="FFFFFF"/>
                </a:highlight>
                <a:latin typeface="Cascadia Mono" panose="020B0609020000020004" pitchFamily="49" charset="0"/>
              </a:rPr>
              <a:t>/book</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HttpPost</a:t>
            </a:r>
            <a:r>
              <a:rPr lang="en-IN"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async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Task</a:t>
            </a:r>
            <a:r>
              <a:rPr lang="en-US" sz="900" dirty="0">
                <a:solidFill>
                  <a:srgbClr val="000000"/>
                </a:solidFill>
                <a:highlight>
                  <a:srgbClr val="FFFFFF"/>
                </a:highlight>
                <a:latin typeface="Cascadia Mono" panose="020B0609020000020004" pitchFamily="49" charset="0"/>
              </a:rPr>
              <a:t>&lt;</a:t>
            </a:r>
            <a:r>
              <a:rPr lang="en-US" sz="900" dirty="0" err="1">
                <a:solidFill>
                  <a:srgbClr val="2B91AF"/>
                </a:solidFill>
                <a:highlight>
                  <a:srgbClr val="FFFFFF"/>
                </a:highlight>
                <a:latin typeface="Cascadia Mono" panose="020B0609020000020004" pitchFamily="49" charset="0"/>
              </a:rPr>
              <a:t>ActionResult</a:t>
            </a:r>
            <a:r>
              <a:rPr lang="en-US" sz="900" dirty="0">
                <a:solidFill>
                  <a:srgbClr val="000000"/>
                </a:solidFill>
                <a:highlight>
                  <a:srgbClr val="FFFFFF"/>
                </a:highlight>
                <a:latin typeface="Cascadia Mono" panose="020B0609020000020004" pitchFamily="49" charset="0"/>
              </a:rPr>
              <a:t>&lt;</a:t>
            </a:r>
            <a:r>
              <a:rPr lang="en-US" sz="900" dirty="0">
                <a:solidFill>
                  <a:srgbClr val="2B91AF"/>
                </a:solidFill>
                <a:highlight>
                  <a:srgbClr val="FFFFFF"/>
                </a:highlight>
                <a:latin typeface="Cascadia Mono" panose="020B0609020000020004" pitchFamily="49" charset="0"/>
              </a:rPr>
              <a:t>Book</a:t>
            </a:r>
            <a:r>
              <a:rPr lang="en-US" sz="900" dirty="0">
                <a:solidFill>
                  <a:srgbClr val="000000"/>
                </a:solidFill>
                <a:highlight>
                  <a:srgbClr val="FFFFFF"/>
                </a:highlight>
                <a:latin typeface="Cascadia Mono" panose="020B0609020000020004" pitchFamily="49" charset="0"/>
              </a:rPr>
              <a:t>&gt;&gt; </a:t>
            </a:r>
            <a:r>
              <a:rPr lang="en-US" sz="900" dirty="0" err="1">
                <a:solidFill>
                  <a:srgbClr val="000000"/>
                </a:solidFill>
                <a:highlight>
                  <a:srgbClr val="FFFFFF"/>
                </a:highlight>
                <a:latin typeface="Cascadia Mono" panose="020B0609020000020004" pitchFamily="49" charset="0"/>
              </a:rPr>
              <a:t>AddBook</a:t>
            </a:r>
            <a:r>
              <a:rPr lang="en-US" sz="900" dirty="0">
                <a:solidFill>
                  <a:srgbClr val="000000"/>
                </a:solidFill>
                <a:highlight>
                  <a:srgbClr val="FFFFFF"/>
                </a:highlight>
                <a:latin typeface="Cascadia Mono" panose="020B0609020000020004" pitchFamily="49" charset="0"/>
              </a:rPr>
              <a:t>(</a:t>
            </a:r>
            <a:r>
              <a:rPr lang="en-US" sz="900" dirty="0">
                <a:solidFill>
                  <a:srgbClr val="2B91AF"/>
                </a:solidFill>
                <a:highlight>
                  <a:srgbClr val="FFFFFF"/>
                </a:highlight>
                <a:latin typeface="Cascadia Mono" panose="020B0609020000020004" pitchFamily="49" charset="0"/>
              </a:rPr>
              <a:t>Book</a:t>
            </a:r>
            <a:r>
              <a:rPr lang="en-US" sz="900" dirty="0">
                <a:solidFill>
                  <a:srgbClr val="000000"/>
                </a:solidFill>
                <a:highlight>
                  <a:srgbClr val="FFFFFF"/>
                </a:highlight>
                <a:latin typeface="Cascadia Mono" panose="020B0609020000020004" pitchFamily="49" charset="0"/>
              </a:rPr>
              <a:t> book)</a:t>
            </a: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var</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createdBook</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await</a:t>
            </a:r>
            <a:r>
              <a:rPr lang="en-US" sz="900" dirty="0">
                <a:solidFill>
                  <a:srgbClr val="000000"/>
                </a:solidFill>
                <a:highlight>
                  <a:srgbClr val="FFFFFF"/>
                </a:highlight>
                <a:latin typeface="Cascadia Mono" panose="020B0609020000020004" pitchFamily="49" charset="0"/>
              </a:rPr>
              <a:t> _</a:t>
            </a:r>
            <a:r>
              <a:rPr lang="en-US" sz="900" dirty="0" err="1">
                <a:solidFill>
                  <a:srgbClr val="000000"/>
                </a:solidFill>
                <a:highlight>
                  <a:srgbClr val="FFFFFF"/>
                </a:highlight>
                <a:latin typeface="Cascadia Mono" panose="020B0609020000020004" pitchFamily="49" charset="0"/>
              </a:rPr>
              <a:t>bookRepository.AddAsync</a:t>
            </a:r>
            <a:r>
              <a:rPr lang="en-US" sz="900" dirty="0">
                <a:solidFill>
                  <a:srgbClr val="000000"/>
                </a:solidFill>
                <a:highlight>
                  <a:srgbClr val="FFFFFF"/>
                </a:highlight>
                <a:latin typeface="Cascadia Mono" panose="020B0609020000020004" pitchFamily="49" charset="0"/>
              </a:rPr>
              <a:t>(book);</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return</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CreatedAtAction</a:t>
            </a:r>
            <a:r>
              <a:rPr lang="en-US" sz="900" dirty="0">
                <a:solidFill>
                  <a:srgbClr val="000000"/>
                </a:solidFill>
                <a:highlight>
                  <a:srgbClr val="FFFFFF"/>
                </a:highlight>
                <a:latin typeface="Cascadia Mono" panose="020B0609020000020004" pitchFamily="49" charset="0"/>
              </a:rPr>
              <a:t>(</a:t>
            </a:r>
            <a:r>
              <a:rPr lang="en-US" sz="900" dirty="0" err="1">
                <a:solidFill>
                  <a:srgbClr val="0000FF"/>
                </a:solidFill>
                <a:highlight>
                  <a:srgbClr val="FFFFFF"/>
                </a:highlight>
                <a:latin typeface="Cascadia Mono" panose="020B0609020000020004" pitchFamily="49" charset="0"/>
              </a:rPr>
              <a:t>nameof</a:t>
            </a:r>
            <a:r>
              <a:rPr lang="en-US" sz="900" dirty="0">
                <a:solidFill>
                  <a:srgbClr val="000000"/>
                </a:solidFill>
                <a:highlight>
                  <a:srgbClr val="FFFFFF"/>
                </a:highlight>
                <a:latin typeface="Cascadia Mono" panose="020B0609020000020004" pitchFamily="49" charset="0"/>
              </a:rPr>
              <a:t>(</a:t>
            </a:r>
            <a:r>
              <a:rPr lang="en-US" sz="900" dirty="0" err="1">
                <a:solidFill>
                  <a:srgbClr val="000000"/>
                </a:solidFill>
                <a:highlight>
                  <a:srgbClr val="FFFFFF"/>
                </a:highlight>
                <a:latin typeface="Cascadia Mono" panose="020B0609020000020004" pitchFamily="49" charset="0"/>
              </a:rPr>
              <a:t>GetBookById</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new</a:t>
            </a:r>
            <a:r>
              <a:rPr lang="en-US" sz="900" dirty="0">
                <a:solidFill>
                  <a:srgbClr val="000000"/>
                </a:solidFill>
                <a:highlight>
                  <a:srgbClr val="FFFFFF"/>
                </a:highlight>
                <a:latin typeface="Cascadia Mono" panose="020B0609020000020004" pitchFamily="49" charset="0"/>
              </a:rPr>
              <a:t> { id = </a:t>
            </a:r>
            <a:r>
              <a:rPr lang="en-US" sz="900" dirty="0" err="1">
                <a:solidFill>
                  <a:srgbClr val="000000"/>
                </a:solidFill>
                <a:highlight>
                  <a:srgbClr val="FFFFFF"/>
                </a:highlight>
                <a:latin typeface="Cascadia Mono" panose="020B0609020000020004" pitchFamily="49" charset="0"/>
              </a:rPr>
              <a:t>createdBook.BookId</a:t>
            </a:r>
            <a:r>
              <a:rPr lang="en-US" sz="900" dirty="0">
                <a:solidFill>
                  <a:srgbClr val="000000"/>
                </a:solidFill>
                <a:highlight>
                  <a:srgbClr val="FFFFFF"/>
                </a:highlight>
                <a:latin typeface="Cascadia Mono" panose="020B0609020000020004" pitchFamily="49" charset="0"/>
              </a:rPr>
              <a:t> }, </a:t>
            </a:r>
            <a:r>
              <a:rPr lang="en-US" sz="900" dirty="0" err="1">
                <a:solidFill>
                  <a:srgbClr val="000000"/>
                </a:solidFill>
                <a:highlight>
                  <a:srgbClr val="FFFFFF"/>
                </a:highlight>
                <a:latin typeface="Cascadia Mono" panose="020B0609020000020004" pitchFamily="49" charset="0"/>
              </a:rPr>
              <a:t>createdBook</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endParaRPr lang="en-IN" sz="900" dirty="0">
              <a:solidFill>
                <a:srgbClr val="000000"/>
              </a:solidFill>
              <a:highlight>
                <a:srgbClr val="FFFFFF"/>
              </a:highlight>
              <a:latin typeface="Cascadia Mono" panose="020B0609020000020004" pitchFamily="49" charset="0"/>
            </a:endParaRPr>
          </a:p>
        </p:txBody>
      </p:sp>
      <p:sp>
        <p:nvSpPr>
          <p:cNvPr id="7" name="TextBox 6">
            <a:extLst>
              <a:ext uri="{FF2B5EF4-FFF2-40B4-BE49-F238E27FC236}">
                <a16:creationId xmlns:a16="http://schemas.microsoft.com/office/drawing/2014/main" id="{D5F1A3D9-456C-712E-1DCB-077D6C8CFDDE}"/>
              </a:ext>
            </a:extLst>
          </p:cNvPr>
          <p:cNvSpPr txBox="1"/>
          <p:nvPr/>
        </p:nvSpPr>
        <p:spPr>
          <a:xfrm>
            <a:off x="6031345" y="998456"/>
            <a:ext cx="6096000" cy="32778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PUT: </a:t>
            </a:r>
            <a:r>
              <a:rPr kumimoji="0" lang="en-IN" sz="9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api</a:t>
            </a:r>
            <a:r>
              <a:rPr kumimoji="0" lang="en-IN" sz="9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/book/{id}</a:t>
            </a:r>
            <a:endPar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HttpPut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73FF"/>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a:t>
            </a:r>
            <a:r>
              <a:rPr kumimoji="0" lang="en-IN" sz="900" b="0" i="0" u="none" strike="noStrike" kern="1200" cap="none" spc="0" normalizeH="0" baseline="0" noProof="0" dirty="0">
                <a:ln>
                  <a:noFill/>
                </a:ln>
                <a:solidFill>
                  <a:srgbClr val="0073FF"/>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Task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9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9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&gt;&gt; </a:t>
            </a:r>
            <a:r>
              <a:rPr kumimoji="0" lang="en-US"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UpdateBook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id, </a:t>
            </a:r>
            <a:r>
              <a:rPr kumimoji="0" lang="en-US" sz="9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book)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var</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updatedBook</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await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bookRepository.UpdateAsync</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 book);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updatedBook</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NotFound</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Ok(</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updatedBook</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DELETE: </a:t>
            </a:r>
            <a:r>
              <a:rPr kumimoji="0" lang="en-IN" sz="900" b="0" i="0" u="none" strike="noStrike" kern="1200" cap="none" spc="0" normalizeH="0" baseline="0" noProof="0" dirty="0" err="1">
                <a:ln>
                  <a:noFill/>
                </a:ln>
                <a:solidFill>
                  <a:srgbClr val="008000"/>
                </a:solidFill>
                <a:effectLst/>
                <a:highlight>
                  <a:srgbClr val="FFFFFF"/>
                </a:highlight>
                <a:uLnTx/>
                <a:uFillTx/>
                <a:latin typeface="Cascadia Mono" panose="020B0609020000020004" pitchFamily="49" charset="0"/>
                <a:ea typeface="+mn-ea"/>
                <a:cs typeface="+mn-cs"/>
              </a:rPr>
              <a:t>api</a:t>
            </a:r>
            <a:r>
              <a:rPr kumimoji="0" lang="en-IN" sz="9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/book/{id}</a:t>
            </a:r>
            <a:endPar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HttpDelete</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73FF"/>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a:t>
            </a:r>
            <a:r>
              <a:rPr kumimoji="0" lang="en-IN" sz="900" b="0" i="0" u="none" strike="noStrike" kern="1200" cap="none" spc="0" normalizeH="0" baseline="0" noProof="0" dirty="0">
                <a:ln>
                  <a:noFill/>
                </a:ln>
                <a:solidFill>
                  <a:srgbClr val="0073FF"/>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Task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9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9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&gt;&gt; </a:t>
            </a:r>
            <a:r>
              <a:rPr kumimoji="0" lang="en-US"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DeleteBook</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var</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deletedBook</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await</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bookRepository.DeleteAsync</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deletedBook</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NotFound</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Ok(</a:t>
            </a:r>
            <a:r>
              <a:rPr kumimoji="0" lang="en-IN" sz="9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deletedBook</a:t>
            </a: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p:txBody>
      </p:sp>
    </p:spTree>
    <p:extLst>
      <p:ext uri="{BB962C8B-B14F-4D97-AF65-F5344CB8AC3E}">
        <p14:creationId xmlns:p14="http://schemas.microsoft.com/office/powerpoint/2010/main" val="1368038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1685" y="0"/>
            <a:ext cx="6908800" cy="7363554"/>
          </a:xfrm>
          <a:prstGeom prst="rect">
            <a:avLst/>
          </a:prstGeom>
        </p:spPr>
        <p:txBody>
          <a:bodyPr wrap="square">
            <a:spAutoFit/>
          </a:bodyPr>
          <a:lstStyle/>
          <a:p>
            <a:endParaRPr lang="en-IN" sz="1050" dirty="0">
              <a:solidFill>
                <a:srgbClr val="000000"/>
              </a:solidFill>
              <a:highlight>
                <a:srgbClr val="FFFFFF"/>
              </a:highlight>
              <a:latin typeface="Cascadia Mono" panose="020B0609020000020004" pitchFamily="49" charset="0"/>
            </a:endParaRPr>
          </a:p>
          <a:p>
            <a:r>
              <a:rPr lang="en-IN" sz="1050" dirty="0">
                <a:solidFill>
                  <a:srgbClr val="0000FF"/>
                </a:solidFill>
                <a:highlight>
                  <a:srgbClr val="FFFFFF"/>
                </a:highlight>
                <a:latin typeface="Cascadia Mono" panose="020B0609020000020004" pitchFamily="49" charset="0"/>
              </a:rPr>
              <a:t>using</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AsynctwotableAPI.Repository</a:t>
            </a:r>
            <a:r>
              <a:rPr lang="en-IN" sz="1050" dirty="0">
                <a:solidFill>
                  <a:srgbClr val="000000"/>
                </a:solidFill>
                <a:highlight>
                  <a:srgbClr val="FFFFFF"/>
                </a:highlight>
                <a:latin typeface="Cascadia Mono" panose="020B0609020000020004" pitchFamily="49" charset="0"/>
              </a:rPr>
              <a:t>;</a:t>
            </a:r>
          </a:p>
          <a:p>
            <a:r>
              <a:rPr lang="en-IN" sz="1050" dirty="0">
                <a:solidFill>
                  <a:srgbClr val="0000FF"/>
                </a:solidFill>
                <a:highlight>
                  <a:srgbClr val="FFFFFF"/>
                </a:highlight>
                <a:latin typeface="Cascadia Mono" panose="020B0609020000020004" pitchFamily="49" charset="0"/>
              </a:rPr>
              <a:t>using</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AsynctwotableAPI.Services</a:t>
            </a:r>
            <a:r>
              <a:rPr lang="en-IN" sz="1050" dirty="0">
                <a:solidFill>
                  <a:srgbClr val="000000"/>
                </a:solidFill>
                <a:highlight>
                  <a:srgbClr val="FFFFFF"/>
                </a:highlight>
                <a:latin typeface="Cascadia Mono" panose="020B0609020000020004" pitchFamily="49" charset="0"/>
              </a:rPr>
              <a:t>;</a:t>
            </a:r>
          </a:p>
          <a:p>
            <a:r>
              <a:rPr lang="en-IN" sz="1050" dirty="0">
                <a:solidFill>
                  <a:srgbClr val="0000FF"/>
                </a:solidFill>
                <a:highlight>
                  <a:srgbClr val="FFFFFF"/>
                </a:highlight>
                <a:latin typeface="Cascadia Mono" panose="020B0609020000020004" pitchFamily="49" charset="0"/>
              </a:rPr>
              <a:t>using</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Microsoft.EntityFrameworkCore</a:t>
            </a:r>
            <a:r>
              <a:rPr lang="en-IN"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FF"/>
                </a:solidFill>
                <a:highlight>
                  <a:srgbClr val="FFFFFF"/>
                </a:highlight>
                <a:latin typeface="Cascadia Mono" panose="020B0609020000020004" pitchFamily="49" charset="0"/>
              </a:rPr>
              <a:t>namespace</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AsynctwotableAPI</a:t>
            </a:r>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class</a:t>
            </a:r>
            <a:r>
              <a:rPr lang="en-IN" sz="1050" dirty="0">
                <a:solidFill>
                  <a:srgbClr val="000000"/>
                </a:solidFill>
                <a:highlight>
                  <a:srgbClr val="FFFFFF"/>
                </a:highlight>
                <a:latin typeface="Cascadia Mono" panose="020B0609020000020004" pitchFamily="49" charset="0"/>
              </a:rPr>
              <a:t> </a:t>
            </a:r>
            <a:r>
              <a:rPr lang="en-IN" sz="1050" dirty="0">
                <a:solidFill>
                  <a:srgbClr val="2B91AF"/>
                </a:solidFill>
                <a:highlight>
                  <a:srgbClr val="FFFFFF"/>
                </a:highlight>
                <a:latin typeface="Cascadia Mono" panose="020B0609020000020004" pitchFamily="49" charset="0"/>
              </a:rPr>
              <a:t>Program</a:t>
            </a:r>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static</a:t>
            </a:r>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void</a:t>
            </a:r>
            <a:r>
              <a:rPr lang="en-US" sz="1050" dirty="0">
                <a:solidFill>
                  <a:srgbClr val="000000"/>
                </a:solidFill>
                <a:highlight>
                  <a:srgbClr val="FFFFFF"/>
                </a:highlight>
                <a:latin typeface="Cascadia Mono" panose="020B0609020000020004" pitchFamily="49" charset="0"/>
              </a:rPr>
              <a:t> Main(</a:t>
            </a:r>
            <a:r>
              <a:rPr lang="en-US" sz="1050" dirty="0">
                <a:solidFill>
                  <a:srgbClr val="0000FF"/>
                </a:solidFill>
                <a:highlight>
                  <a:srgbClr val="FFFFFF"/>
                </a:highlight>
                <a:latin typeface="Cascadia Mono" panose="020B0609020000020004" pitchFamily="49" charset="0"/>
              </a:rPr>
              <a:t>string</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args</a:t>
            </a:r>
            <a:r>
              <a:rPr lang="en-US"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var</a:t>
            </a:r>
            <a:r>
              <a:rPr lang="en-US" sz="1050" dirty="0">
                <a:solidFill>
                  <a:srgbClr val="000000"/>
                </a:solidFill>
                <a:highlight>
                  <a:srgbClr val="FFFFFF"/>
                </a:highlight>
                <a:latin typeface="Cascadia Mono" panose="020B0609020000020004" pitchFamily="49" charset="0"/>
              </a:rPr>
              <a:t> builder = </a:t>
            </a:r>
            <a:r>
              <a:rPr lang="en-US" sz="1050" dirty="0" err="1">
                <a:solidFill>
                  <a:srgbClr val="2B91AF"/>
                </a:solidFill>
                <a:highlight>
                  <a:srgbClr val="FFFFFF"/>
                </a:highlight>
                <a:latin typeface="Cascadia Mono" panose="020B0609020000020004" pitchFamily="49" charset="0"/>
              </a:rPr>
              <a:t>WebApplication</a:t>
            </a:r>
            <a:r>
              <a:rPr lang="en-US" sz="1050" dirty="0" err="1">
                <a:solidFill>
                  <a:srgbClr val="000000"/>
                </a:solidFill>
                <a:highlight>
                  <a:srgbClr val="FFFFFF"/>
                </a:highlight>
                <a:latin typeface="Cascadia Mono" panose="020B0609020000020004" pitchFamily="49" charset="0"/>
              </a:rPr>
              <a:t>.CreateBuilder</a:t>
            </a:r>
            <a:r>
              <a:rPr lang="en-US" sz="1050" dirty="0">
                <a:solidFill>
                  <a:srgbClr val="000000"/>
                </a:solidFill>
                <a:highlight>
                  <a:srgbClr val="FFFFFF"/>
                </a:highlight>
                <a:latin typeface="Cascadia Mono" panose="020B0609020000020004" pitchFamily="49" charset="0"/>
              </a:rPr>
              <a:t>(</a:t>
            </a:r>
            <a:r>
              <a:rPr lang="en-US" sz="1050" dirty="0" err="1">
                <a:solidFill>
                  <a:srgbClr val="000000"/>
                </a:solidFill>
                <a:highlight>
                  <a:srgbClr val="FFFFFF"/>
                </a:highlight>
                <a:latin typeface="Cascadia Mono" panose="020B0609020000020004" pitchFamily="49" charset="0"/>
              </a:rPr>
              <a:t>args</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8000"/>
                </a:solidFill>
                <a:highlight>
                  <a:srgbClr val="FFFFFF"/>
                </a:highlight>
                <a:latin typeface="Cascadia Mono" panose="020B0609020000020004" pitchFamily="49" charset="0"/>
              </a:rPr>
              <a:t>// Add services to the container.</a:t>
            </a:r>
            <a:endParaRPr lang="en-US" sz="1050" dirty="0">
              <a:solidFill>
                <a:srgbClr val="000000"/>
              </a:solidFill>
              <a:highlight>
                <a:srgbClr val="FFFFFF"/>
              </a:highlight>
              <a:latin typeface="Cascadia Mono" panose="020B0609020000020004" pitchFamily="49" charset="0"/>
            </a:endParaRP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builder.Services.AddControllers</a:t>
            </a:r>
            <a:r>
              <a:rPr lang="en-IN"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var</a:t>
            </a:r>
            <a:r>
              <a:rPr lang="en-US" sz="1050" dirty="0">
                <a:solidFill>
                  <a:srgbClr val="000000"/>
                </a:solidFill>
                <a:highlight>
                  <a:srgbClr val="FFFFFF"/>
                </a:highlight>
                <a:latin typeface="Cascadia Mono" panose="020B0609020000020004" pitchFamily="49" charset="0"/>
              </a:rPr>
              <a:t> b = </a:t>
            </a:r>
            <a:r>
              <a:rPr lang="en-US" sz="1050" dirty="0" err="1">
                <a:solidFill>
                  <a:srgbClr val="000000"/>
                </a:solidFill>
                <a:highlight>
                  <a:srgbClr val="FFFFFF"/>
                </a:highlight>
                <a:latin typeface="Cascadia Mono" panose="020B0609020000020004" pitchFamily="49" charset="0"/>
              </a:rPr>
              <a:t>builder.Configuration.GetConnectionString</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err="1">
                <a:solidFill>
                  <a:srgbClr val="A31515"/>
                </a:solidFill>
                <a:highlight>
                  <a:srgbClr val="FFFFFF"/>
                </a:highlight>
                <a:latin typeface="Cascadia Mono" panose="020B0609020000020004" pitchFamily="49" charset="0"/>
              </a:rPr>
              <a:t>BookDatabase</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builder.Services.AddDbContextPool</a:t>
            </a:r>
            <a:r>
              <a:rPr lang="en-IN" sz="1050" dirty="0">
                <a:solidFill>
                  <a:srgbClr val="000000"/>
                </a:solidFill>
                <a:highlight>
                  <a:srgbClr val="FFFFFF"/>
                </a:highlight>
                <a:latin typeface="Cascadia Mono" panose="020B0609020000020004" pitchFamily="49" charset="0"/>
              </a:rPr>
              <a:t>&lt;</a:t>
            </a:r>
            <a:r>
              <a:rPr lang="en-IN" sz="1050" dirty="0" err="1">
                <a:solidFill>
                  <a:srgbClr val="2B91AF"/>
                </a:solidFill>
                <a:highlight>
                  <a:srgbClr val="FFFFFF"/>
                </a:highlight>
                <a:latin typeface="Cascadia Mono" panose="020B0609020000020004" pitchFamily="49" charset="0"/>
              </a:rPr>
              <a:t>AppdbContext</a:t>
            </a:r>
            <a:r>
              <a:rPr lang="en-IN" sz="1050" dirty="0">
                <a:solidFill>
                  <a:srgbClr val="000000"/>
                </a:solidFill>
                <a:highlight>
                  <a:srgbClr val="FFFFFF"/>
                </a:highlight>
                <a:latin typeface="Cascadia Mono" panose="020B0609020000020004" pitchFamily="49" charset="0"/>
              </a:rPr>
              <a:t>&gt;((op) =&gt; </a:t>
            </a:r>
            <a:r>
              <a:rPr lang="en-IN" sz="1050" dirty="0" err="1">
                <a:solidFill>
                  <a:srgbClr val="000000"/>
                </a:solidFill>
                <a:highlight>
                  <a:srgbClr val="FFFFFF"/>
                </a:highlight>
                <a:latin typeface="Cascadia Mono" panose="020B0609020000020004" pitchFamily="49" charset="0"/>
              </a:rPr>
              <a:t>op.UseSqlServer</a:t>
            </a:r>
            <a:r>
              <a:rPr lang="en-IN" sz="1050" dirty="0">
                <a:solidFill>
                  <a:srgbClr val="000000"/>
                </a:solidFill>
                <a:highlight>
                  <a:srgbClr val="FFFFFF"/>
                </a:highlight>
                <a:latin typeface="Cascadia Mono" panose="020B0609020000020004" pitchFamily="49" charset="0"/>
              </a:rPr>
              <a:t>(b));</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builder.Services.AddTransient</a:t>
            </a:r>
            <a:r>
              <a:rPr lang="en-IN" sz="1050" dirty="0">
                <a:solidFill>
                  <a:srgbClr val="000000"/>
                </a:solidFill>
                <a:highlight>
                  <a:srgbClr val="FFFFFF"/>
                </a:highlight>
                <a:latin typeface="Cascadia Mono" panose="020B0609020000020004" pitchFamily="49" charset="0"/>
              </a:rPr>
              <a:t>&lt;</a:t>
            </a:r>
            <a:r>
              <a:rPr lang="en-IN" sz="1050" dirty="0" err="1">
                <a:solidFill>
                  <a:srgbClr val="2B91AF"/>
                </a:solidFill>
                <a:highlight>
                  <a:srgbClr val="FFFFFF"/>
                </a:highlight>
                <a:latin typeface="Cascadia Mono" panose="020B0609020000020004" pitchFamily="49" charset="0"/>
              </a:rPr>
              <a:t>IBookRepository</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SqlBookRepository</a:t>
            </a:r>
            <a:r>
              <a:rPr lang="en-IN" sz="1050" dirty="0">
                <a:solidFill>
                  <a:srgbClr val="000000"/>
                </a:solidFill>
                <a:highlight>
                  <a:srgbClr val="FFFFFF"/>
                </a:highlight>
                <a:latin typeface="Cascadia Mono" panose="020B0609020000020004" pitchFamily="49" charset="0"/>
              </a:rPr>
              <a:t>&gt;();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8000"/>
                </a:solidFill>
                <a:highlight>
                  <a:srgbClr val="FFFFFF"/>
                </a:highlight>
                <a:latin typeface="Cascadia Mono" panose="020B0609020000020004" pitchFamily="49" charset="0"/>
              </a:rPr>
              <a:t>// Learn more about configuring Swagger/</a:t>
            </a:r>
            <a:r>
              <a:rPr lang="en-US" sz="1050" dirty="0" err="1">
                <a:solidFill>
                  <a:srgbClr val="008000"/>
                </a:solidFill>
                <a:highlight>
                  <a:srgbClr val="FFFFFF"/>
                </a:highlight>
                <a:latin typeface="Cascadia Mono" panose="020B0609020000020004" pitchFamily="49" charset="0"/>
              </a:rPr>
              <a:t>OpenAPI</a:t>
            </a:r>
            <a:r>
              <a:rPr lang="en-US" sz="1050" dirty="0">
                <a:solidFill>
                  <a:srgbClr val="008000"/>
                </a:solidFill>
                <a:highlight>
                  <a:srgbClr val="FFFFFF"/>
                </a:highlight>
                <a:latin typeface="Cascadia Mono" panose="020B0609020000020004" pitchFamily="49" charset="0"/>
              </a:rPr>
              <a:t> at https://aka.ms/aspnetcore/swashbuckle</a:t>
            </a:r>
            <a:endParaRPr lang="en-US"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builder.Services.AddEndpointsApiExplorer</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builder.Services.AddSwaggerGen</a:t>
            </a:r>
            <a:r>
              <a:rPr lang="en-IN"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var</a:t>
            </a:r>
            <a:r>
              <a:rPr lang="en-IN" sz="1050" dirty="0">
                <a:solidFill>
                  <a:srgbClr val="000000"/>
                </a:solidFill>
                <a:highlight>
                  <a:srgbClr val="FFFFFF"/>
                </a:highlight>
                <a:latin typeface="Cascadia Mono" panose="020B0609020000020004" pitchFamily="49" charset="0"/>
              </a:rPr>
              <a:t> app = </a:t>
            </a:r>
            <a:r>
              <a:rPr lang="en-IN" sz="1050" dirty="0" err="1">
                <a:solidFill>
                  <a:srgbClr val="000000"/>
                </a:solidFill>
                <a:highlight>
                  <a:srgbClr val="FFFFFF"/>
                </a:highlight>
                <a:latin typeface="Cascadia Mono" panose="020B0609020000020004" pitchFamily="49" charset="0"/>
              </a:rPr>
              <a:t>builder.Build</a:t>
            </a:r>
            <a:r>
              <a:rPr lang="en-IN"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8000"/>
                </a:solidFill>
                <a:highlight>
                  <a:srgbClr val="FFFFFF"/>
                </a:highlight>
                <a:latin typeface="Cascadia Mono" panose="020B0609020000020004" pitchFamily="49" charset="0"/>
              </a:rPr>
              <a:t>// Configure the HTTP request pipeline.</a:t>
            </a:r>
            <a:endParaRPr lang="en-US"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if</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app.Environment.IsDevelopment</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app.UseSwagger</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app.UseSwaggerUI</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app.UseHttpsRedirection</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app.UseAuthorization</a:t>
            </a:r>
            <a:r>
              <a:rPr lang="en-IN"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app.MapControllers</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app.Run</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a:t>
            </a:r>
          </a:p>
        </p:txBody>
      </p:sp>
      <p:sp>
        <p:nvSpPr>
          <p:cNvPr id="5" name="Rectangle 4"/>
          <p:cNvSpPr/>
          <p:nvPr/>
        </p:nvSpPr>
        <p:spPr>
          <a:xfrm>
            <a:off x="5792739" y="4580454"/>
            <a:ext cx="6096000" cy="646331"/>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ConnectionStrings</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BookDatabase</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r>
              <a:rPr lang="en-IN" sz="900" dirty="0">
                <a:solidFill>
                  <a:srgbClr val="A31515"/>
                </a:solidFill>
                <a:latin typeface="Cascadia Mono" panose="020B0609020000020004" pitchFamily="49" charset="0"/>
              </a:rPr>
              <a:t>"Data Source=(</a:t>
            </a:r>
            <a:r>
              <a:rPr lang="en-IN" sz="900" dirty="0" err="1">
                <a:solidFill>
                  <a:srgbClr val="A31515"/>
                </a:solidFill>
                <a:latin typeface="Cascadia Mono" panose="020B0609020000020004" pitchFamily="49" charset="0"/>
              </a:rPr>
              <a:t>localdb</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ProjectModels;Initial</a:t>
            </a:r>
            <a:r>
              <a:rPr lang="en-IN" sz="900" dirty="0">
                <a:solidFill>
                  <a:srgbClr val="A31515"/>
                </a:solidFill>
                <a:latin typeface="Cascadia Mono" panose="020B0609020000020004" pitchFamily="49" charset="0"/>
              </a:rPr>
              <a:t> </a:t>
            </a:r>
            <a:r>
              <a:rPr lang="en-IN" sz="900" dirty="0" err="1">
                <a:solidFill>
                  <a:srgbClr val="A31515"/>
                </a:solidFill>
                <a:latin typeface="Cascadia Mono" panose="020B0609020000020004" pitchFamily="49" charset="0"/>
              </a:rPr>
              <a:t>Catalog</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tempdb;Integrated</a:t>
            </a:r>
            <a:r>
              <a:rPr lang="en-IN" sz="900" dirty="0">
                <a:solidFill>
                  <a:srgbClr val="A31515"/>
                </a:solidFill>
                <a:latin typeface="Cascadia Mono" panose="020B0609020000020004" pitchFamily="49" charset="0"/>
              </a:rPr>
              <a:t> Security=True;"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endParaRPr lang="en-IN" sz="900" dirty="0"/>
          </a:p>
        </p:txBody>
      </p:sp>
    </p:spTree>
    <p:extLst>
      <p:ext uri="{BB962C8B-B14F-4D97-AF65-F5344CB8AC3E}">
        <p14:creationId xmlns:p14="http://schemas.microsoft.com/office/powerpoint/2010/main" val="2849228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2980</Words>
  <Application>Microsoft Office PowerPoint</Application>
  <PresentationFormat>Widescreen</PresentationFormat>
  <Paragraphs>531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vt:lpstr>
      <vt:lpstr>Calibri</vt:lpstr>
      <vt:lpstr>Calibri Light</vt:lpstr>
      <vt:lpstr>Cascadia Mono</vt:lpstr>
      <vt:lpstr>Google Sans</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Basaid</dc:creator>
  <cp:lastModifiedBy>sriram mantri vidyanidhi infotech academy</cp:lastModifiedBy>
  <cp:revision>30</cp:revision>
  <dcterms:created xsi:type="dcterms:W3CDTF">2023-07-20T15:52:01Z</dcterms:created>
  <dcterms:modified xsi:type="dcterms:W3CDTF">2025-11-21T04:43:43Z</dcterms:modified>
</cp:coreProperties>
</file>