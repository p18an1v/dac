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4" r:id="rId10"/>
    <p:sldId id="263"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5" autoAdjust="0"/>
    <p:restoredTop sz="94608" autoAdjust="0"/>
  </p:normalViewPr>
  <p:slideViewPr>
    <p:cSldViewPr snapToGrid="0">
      <p:cViewPr varScale="1">
        <p:scale>
          <a:sx n="90" d="100"/>
          <a:sy n="90" d="100"/>
        </p:scale>
        <p:origin x="374"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F71BF68-3337-4B92-8A45-564915F5D1DD}"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1164292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71BF68-3337-4B92-8A45-564915F5D1DD}"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991236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71BF68-3337-4B92-8A45-564915F5D1DD}"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783876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F71BF68-3337-4B92-8A45-564915F5D1DD}"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1764308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F71BF68-3337-4B92-8A45-564915F5D1DD}" type="datetimeFigureOut">
              <a:rPr lang="en-IN" smtClean="0"/>
              <a:t>19-11-2025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16846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F71BF68-3337-4B92-8A45-564915F5D1DD}" type="datetimeFigureOut">
              <a:rPr lang="en-IN" smtClean="0"/>
              <a:t>19-11-2025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665056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71BF68-3337-4B92-8A45-564915F5D1DD}" type="datetimeFigureOut">
              <a:rPr lang="en-IN" smtClean="0"/>
              <a:t>19-11-2025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850747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71BF68-3337-4B92-8A45-564915F5D1DD}"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3886168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71BF68-3337-4B92-8A45-564915F5D1DD}"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418686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71BF68-3337-4B92-8A45-564915F5D1DD}"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657249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71BF68-3337-4B92-8A45-564915F5D1DD}"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B056DE-A7B8-4500-94D5-57A461D89C4C}" type="slidenum">
              <a:rPr lang="en-IN" smtClean="0"/>
              <a:t>‹#›</a:t>
            </a:fld>
            <a:endParaRPr lang="en-IN"/>
          </a:p>
        </p:txBody>
      </p:sp>
    </p:spTree>
    <p:extLst>
      <p:ext uri="{BB962C8B-B14F-4D97-AF65-F5344CB8AC3E}">
        <p14:creationId xmlns:p14="http://schemas.microsoft.com/office/powerpoint/2010/main" val="2614167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60F6-B8F2-4D2C-BB9A-47D0A8934A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A40E1A-F836-41C9-92C4-C6CEDA2DE4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1857DB-5AE6-4497-83C7-D5E6EB640BF7}"/>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60DE5870-7C8B-4AC2-8E8F-358E872A1BA4}"/>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E5A6D3EF-002D-4207-A4C9-92D5F624B794}"/>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162361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064A9-73A8-4EAD-B8B0-18276DA10A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790030-37F8-4037-939E-CD6BD43E91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E8DAE4-97BD-41B6-8A09-08D168461A62}"/>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3F66C7C8-EA37-48BD-99B2-7520FC9E20B2}"/>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2ECCD895-9B74-452F-B9E2-E0BE4B2DBBB1}"/>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53092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933D6-076A-41E0-BDA6-0555F30C4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E14746-847E-46B7-96C6-3F4BAD9A85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D84216-EA07-48F0-96FF-8C3F1565BEED}"/>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B0EB9FB2-D29B-4AAD-BB17-AA42D118B113}"/>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FEB973A8-498D-40E5-9FF9-1B6F35073151}"/>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050574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8C532-277E-4932-BA0F-21A6E90B66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F9E72A-EB14-49EA-BC95-7053D64999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2130F7-27BE-460F-BA7F-65C4D1B4B9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803107-BA38-4DD3-934E-40C97E48914D}"/>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id="{BCD36A35-4F39-4D66-BE78-716F10B60BC5}"/>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id="{4EC318FF-C0EC-468E-8651-4E7F3596522A}"/>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74075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7550F-8F4A-4923-8DF8-729A85716F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9AF16F-842C-4445-BCAB-02DCE38628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1B468D-8610-460D-ABBC-763061A725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9EECB5-ABB8-4F98-8DE6-B39E31E579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E221E7-A644-4747-B5D0-536564B197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0446AB-B28C-4F68-B8DB-33CBDA6684C2}"/>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id="{8F427039-018E-4244-93D6-C884A0604384}"/>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id="{3666EA19-9480-4577-9DBE-1C4F1D0FE989}"/>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05039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15BCD-E5EE-401C-BE5C-2E68471603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22A5C4-B038-4A9F-99B4-84CBC1A1C24E}"/>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id="{CADBA00D-FCEB-4DFF-B291-7F23B6B6FC0D}"/>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03E859E7-100A-4894-9048-77F9DA98EE10}"/>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8677951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A8A568-40FE-4A87-871D-C6F55FAA484C}"/>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id="{8CFEA508-F9CF-4864-9DB1-51B2C98109F3}"/>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id="{5553CEF0-9AF7-4F38-9623-37A7F24C55D4}"/>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040325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C027-61C2-4868-8692-ED6FB8ADE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47F57C-0B8E-4E07-9DE4-24C355CCDB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A2382D-2906-4067-9E45-218EABA636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C63F8D-D8C0-48CB-93EA-A1FD3420FA4D}"/>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id="{899C4EC9-2ED1-4C01-B840-D44489CC86CC}"/>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id="{BF675C35-545F-4F94-ABB5-9BC3D70C3502}"/>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48272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319C4-4D70-40B0-994B-8090BBEA6F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B281DF-00C8-455C-AD51-86696313B2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2F4AE3-FC51-4940-B2C2-01C96D0B91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E752D8-1FE8-4769-A4D4-181066835C1F}"/>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id="{11DC0E64-7DBC-42CF-AAD0-D71B36AD312A}"/>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id="{EF31B2AC-8453-47BE-B995-24EBFD78158F}"/>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667774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739C-0222-41A2-85AD-AA91858D3C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130B7B-5D5B-4C62-8484-81F5AFABC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03ABB2-271D-407B-A12B-C5B6E84FA217}"/>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501C0621-27D3-48B2-971B-8F931153FE42}"/>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5922F147-CC82-41D4-8686-C8C795EAAF9F}"/>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3961893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30A948-E667-4008-B6C9-6715BA3756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A74FEB-B5F3-4667-8724-1EF8E7B0A1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3BF631-C030-490D-8AA7-C2E5540BBFB7}"/>
              </a:ext>
            </a:extLst>
          </p:cNvPr>
          <p:cNvSpPr>
            <a:spLocks noGrp="1"/>
          </p:cNvSpPr>
          <p:nvPr>
            <p:ph type="dt" sz="half" idx="10"/>
          </p:nvPr>
        </p:nvSpPr>
        <p:spPr/>
        <p:txBody>
          <a:body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33119E78-0FF5-4B61-80DB-398F4922BB96}"/>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B3FB80E8-78E5-4F3E-B22F-8F021C57B8E1}"/>
              </a:ext>
            </a:extLst>
          </p:cNvPr>
          <p:cNvSpPr>
            <a:spLocks noGrp="1"/>
          </p:cNvSpPr>
          <p:nvPr>
            <p:ph type="sldNum" sz="quarter" idx="12"/>
          </p:nvPr>
        </p:nvSpPr>
        <p:spPr/>
        <p:txBody>
          <a:body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69280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71BF68-3337-4B92-8A45-564915F5D1DD}" type="datetimeFigureOut">
              <a:rPr lang="en-IN" smtClean="0"/>
              <a:t>19-11-2025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B056DE-A7B8-4500-94D5-57A461D89C4C}" type="slidenum">
              <a:rPr lang="en-IN" smtClean="0"/>
              <a:t>‹#›</a:t>
            </a:fld>
            <a:endParaRPr lang="en-IN"/>
          </a:p>
        </p:txBody>
      </p:sp>
    </p:spTree>
    <p:extLst>
      <p:ext uri="{BB962C8B-B14F-4D97-AF65-F5344CB8AC3E}">
        <p14:creationId xmlns:p14="http://schemas.microsoft.com/office/powerpoint/2010/main" val="3116254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3B6C73-1E0D-478F-81A5-BF4DAC9F5B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BEE0E8-F3F1-4344-8D56-63F829C6DE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72F97-DA96-429B-9D3F-CFDCEC1255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7AE069-8A96-4D3A-B497-930E8A5DB087}" type="datetimeFigureOut">
              <a:rPr lang="en-IN" smtClean="0">
                <a:solidFill>
                  <a:prstClr val="black">
                    <a:tint val="75000"/>
                  </a:prstClr>
                </a:solidFill>
              </a:rPr>
              <a:pPr/>
              <a:t>19-11-2025</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B0E0166D-A736-456C-827D-39865CE9BB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3DDD430E-2204-466B-8FEA-C39EDBA3AA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836BB3-0E5B-430D-A57B-8EFAF5EAA8E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692054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solidFill>
                  <a:prstClr val="black"/>
                </a:solidFill>
              </a:rPr>
              <a:t>Ketki</a:t>
            </a:r>
            <a:r>
              <a:rPr lang="en-IN" dirty="0">
                <a:solidFill>
                  <a:prstClr val="black"/>
                </a:solidFill>
              </a:rPr>
              <a:t> Acharya</a:t>
            </a:r>
          </a:p>
          <a:p>
            <a:r>
              <a:rPr lang="en-IN" dirty="0">
                <a:solidFill>
                  <a:prstClr val="black"/>
                </a:solidFill>
              </a:rPr>
              <a:t>From: SM VITA ATC of CDAC</a:t>
            </a:r>
          </a:p>
          <a:p>
            <a:r>
              <a:rPr lang="en-IN" dirty="0">
                <a:solidFill>
                  <a:prstClr val="black"/>
                </a:solidFill>
              </a:rPr>
              <a:t>ketkiacharya.net@gmail.com</a:t>
            </a:r>
          </a:p>
        </p:txBody>
      </p:sp>
    </p:spTree>
    <p:extLst>
      <p:ext uri="{BB962C8B-B14F-4D97-AF65-F5344CB8AC3E}">
        <p14:creationId xmlns:p14="http://schemas.microsoft.com/office/powerpoint/2010/main" val="1683686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4239" y="158234"/>
            <a:ext cx="5437771" cy="3693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dirty="0"/>
              <a:t>Controller Action Return Types in ASP.NET Core Web API</a:t>
            </a:r>
            <a:endParaRPr lang="en-IN" dirty="0"/>
          </a:p>
        </p:txBody>
      </p:sp>
      <p:sp>
        <p:nvSpPr>
          <p:cNvPr id="5" name="Rectangle 4"/>
          <p:cNvSpPr/>
          <p:nvPr/>
        </p:nvSpPr>
        <p:spPr>
          <a:xfrm>
            <a:off x="123825" y="990601"/>
            <a:ext cx="11515725" cy="5625194"/>
          </a:xfrm>
          <a:prstGeom prst="rect">
            <a:avLst/>
          </a:prstGeom>
        </p:spPr>
        <p:txBody>
          <a:bodyPr wrap="square">
            <a:spAutoFit/>
          </a:bodyPr>
          <a:lstStyle/>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Primitive or Complex Types:</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Actions can return primitive types (like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string, etc.) or complex types (such as custom objects). When returning these directly, ASP.NET Core serializes the object into JSON (by default) and sets the content type of the response to application/</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json</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dirty="0">
                <a:solidFill>
                  <a:srgbClr val="3A3A3A"/>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return type can return various HTTP responses, including status codes, files, and error messages. This return type is useful when an action needs to return </a:t>
            </a:r>
            <a:r>
              <a:rPr lang="en-IN" sz="1600" dirty="0">
                <a:solidFill>
                  <a:srgbClr val="000000"/>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different types of responses</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such as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OK(),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BadRequest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etc.</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 return type allows for returning either a response that can be serialized into JSON (or another format) or an action result (like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This provides more flexibility in return types, allowing for both the return of data (as type T) and action results like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or Ok().</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Specific Result Types:</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ASP.NET Core provides several specific result types that implement the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interface and are used to return specific types of responses. Examples include Ok,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BadRequest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and File. These result types offer a clearer intention of the HTTP response returned from the API.</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Void:</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Returning void from an action method results in </a:t>
            </a:r>
            <a:r>
              <a:rPr lang="en-IN" sz="1600" dirty="0">
                <a:solidFill>
                  <a:srgbClr val="000000"/>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an empty 204 No Content response</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This is typically used when an action performs an operation that does not need to return data to the client.</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Task&lt;</a:t>
            </a:r>
            <a:r>
              <a:rPr lang="en-IN" sz="16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 or Task&lt;</a:t>
            </a:r>
            <a:r>
              <a:rPr lang="en-IN" sz="16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&lt;T&gt;&gt;: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For asynchronous operations, actions can return Task&lt;</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 or Task&lt;</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&lt;T&gt;&gt;. This enables the action methods to perform asynchronous operations, like database calls or web service requests, without blocking the calling thread. The framework handles the task completion and writes the result to the response.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3912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5725" y="449593"/>
            <a:ext cx="3248025" cy="1310615"/>
          </a:xfrm>
          <a:prstGeom prst="rect">
            <a:avLst/>
          </a:prstGeom>
          <a:solidFill>
            <a:schemeClr val="tx1"/>
          </a:solidFill>
        </p:spPr>
        <p:style>
          <a:lnRef idx="2">
            <a:schemeClr val="accent2"/>
          </a:lnRef>
          <a:fillRef idx="1">
            <a:schemeClr val="lt1"/>
          </a:fillRef>
          <a:effectRef idx="0">
            <a:schemeClr val="accent2"/>
          </a:effectRef>
          <a:fontRef idx="minor">
            <a:schemeClr val="dk1"/>
          </a:fontRef>
        </p:style>
        <p:txBody>
          <a:bodyPr wrap="square">
            <a:spAutoFit/>
          </a:bodyPr>
          <a:lstStyle/>
          <a:p>
            <a:pPr fontAlgn="base">
              <a:lnSpc>
                <a:spcPts val="1920"/>
              </a:lnSpc>
              <a:spcAft>
                <a:spcPts val="0"/>
              </a:spcAft>
            </a:pP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"Name"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string</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GetName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"Return from </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GetName</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85725" y="2332467"/>
            <a:ext cx="3314700" cy="3016210"/>
          </a:xfrm>
          <a:prstGeom prst="rect">
            <a:avLst/>
          </a:prstGeom>
          <a:solidFill>
            <a:schemeClr val="tx1"/>
          </a:solidFill>
        </p:spPr>
        <p:style>
          <a:lnRef idx="2">
            <a:schemeClr val="accent2"/>
          </a:lnRef>
          <a:fillRef idx="1">
            <a:schemeClr val="lt1"/>
          </a:fillRef>
          <a:effectRef idx="0">
            <a:schemeClr val="accent2"/>
          </a:effectRef>
          <a:fontRef idx="minor">
            <a:schemeClr val="dk1"/>
          </a:fontRef>
        </p:style>
        <p:txBody>
          <a:bodyPr wrap="square">
            <a:spAutoFit/>
          </a:bodyPr>
          <a:lstStyle/>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"Details"</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Employee </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GetEmployeeDetails</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1" fontAlgn="base">
              <a:lnSpc>
                <a:spcPts val="1920"/>
              </a:lnSpc>
            </a:pP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3705225" y="256017"/>
            <a:ext cx="6096000" cy="3259867"/>
          </a:xfrm>
          <a:prstGeom prst="rect">
            <a:avLst/>
          </a:prstGeom>
          <a:solidFill>
            <a:schemeClr val="tx1"/>
          </a:solidFill>
        </p:spPr>
        <p:style>
          <a:lnRef idx="2">
            <a:schemeClr val="accent2"/>
          </a:lnRef>
          <a:fillRef idx="1">
            <a:schemeClr val="lt1"/>
          </a:fillRef>
          <a:effectRef idx="0">
            <a:schemeClr val="accent2"/>
          </a:effectRef>
          <a:fontRef idx="minor">
            <a:schemeClr val="dk1"/>
          </a:fontRef>
        </p:style>
        <p:txBody>
          <a:bodyPr>
            <a:spAutoFit/>
          </a:bodyPr>
          <a:lstStyle/>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"All"</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3810000" y="3749787"/>
            <a:ext cx="6096000" cy="3016210"/>
          </a:xfrm>
          <a:prstGeom prst="rect">
            <a:avLst/>
          </a:prstGeom>
          <a:solidFill>
            <a:schemeClr val="tx1"/>
          </a:solidFill>
        </p:spPr>
        <p:style>
          <a:lnRef idx="2">
            <a:schemeClr val="accent2"/>
          </a:lnRef>
          <a:fillRef idx="1">
            <a:schemeClr val="lt1"/>
          </a:fillRef>
          <a:effectRef idx="0">
            <a:schemeClr val="accent2"/>
          </a:effectRef>
          <a:fontRef idx="minor">
            <a:schemeClr val="dk1"/>
          </a:fontRef>
        </p:style>
        <p:txBody>
          <a:bodyPr>
            <a:spAutoFit/>
          </a:bodyPr>
          <a:lstStyle/>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"All"</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IEnumerable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9065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5920" y="123264"/>
            <a:ext cx="11704320" cy="1623714"/>
          </a:xfrm>
          <a:prstGeom prst="rect">
            <a:avLst/>
          </a:prstGeom>
        </p:spPr>
        <p:txBody>
          <a:bodyPr wrap="square">
            <a:spAutoFit/>
          </a:bodyPr>
          <a:lstStyle/>
          <a:p>
            <a:pPr algn="just" fontAlgn="base">
              <a:lnSpc>
                <a:spcPct val="107000"/>
              </a:lnSpc>
              <a:spcAft>
                <a:spcPts val="0"/>
              </a:spcAf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Example to Understand </a:t>
            </a:r>
            <a:r>
              <a:rPr lang="en-IN"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Return Type in ASP.NET Core Web API:</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1100" dirty="0">
                <a:solidFill>
                  <a:srgbClr val="3A3A3A"/>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We want to return a list of employees from our action method. If at least one Employee is present, we need to return the status OK with the list of employees. If no Employee is found, then we need to return the status code Not Found. We can achieve this very easily by using the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result type. So, modify the Employee Controller as shown below. Here, we created one action method, i.e.,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GetAllEmployees</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with the return type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90880" y="1746978"/>
            <a:ext cx="10200640" cy="4721805"/>
          </a:xfrm>
          <a:prstGeom prst="rect">
            <a:avLst/>
          </a:prstGeom>
          <a:solidFill>
            <a:schemeClr val="tx1"/>
          </a:solidFill>
        </p:spPr>
        <p:txBody>
          <a:bodyPr wrap="square">
            <a:spAutoFit/>
          </a:bodyPr>
          <a:lstStyle/>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//In Real-Time, you will get the data from the database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//Here, we have hardcoded the data</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err="1">
                <a:solidFill>
                  <a:srgbClr val="D19252"/>
                </a:solidFill>
                <a:effectLst/>
                <a:latin typeface="Calibri" panose="020F0502020204030204" pitchFamily="34" charset="0"/>
                <a:ea typeface="Times New Roman" panose="02020603050405020304" pitchFamily="18" charset="0"/>
                <a:cs typeface="Calibri" panose="020F0502020204030204" pitchFamily="34" charset="0"/>
              </a:rPr>
              <a:t>var</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2" fontAlgn="base">
              <a:lnSpc>
                <a:spcPts val="1920"/>
              </a:lnSpc>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2" fontAlgn="base">
              <a:lnSpc>
                <a:spcPts val="1920"/>
              </a:lnSpc>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lvl="2" fontAlgn="base">
              <a:lnSpc>
                <a:spcPts val="1920"/>
              </a:lnSpc>
            </a:pP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25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25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//If at least of </a:t>
            </a:r>
            <a:r>
              <a:rPr lang="en-IN" sz="1250" dirty="0" err="1">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Emplpyee</a:t>
            </a:r>
            <a:r>
              <a:rPr lang="en-IN" sz="1250"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is Present return OK status code and the list of employees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if</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Any</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   </a:t>
            </a: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Ok</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else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//If no Employee is Present return Not Found Status Code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25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25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125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09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8160" y="285644"/>
            <a:ext cx="11216640" cy="5961504"/>
          </a:xfrm>
          <a:prstGeom prst="rect">
            <a:avLst/>
          </a:prstGeom>
        </p:spPr>
        <p:txBody>
          <a:bodyPr wrap="square">
            <a:spAutoFit/>
          </a:bodyPr>
          <a:lstStyle/>
          <a:p>
            <a:pPr algn="just" fontAlgn="base">
              <a:lnSpc>
                <a:spcPct val="107000"/>
              </a:lnSpc>
              <a:spcAft>
                <a:spcPts val="0"/>
              </a:spcAf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Benefits of using </a:t>
            </a:r>
            <a:r>
              <a:rPr lang="en-IN"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type in ASP.NET Core Web API</a:t>
            </a:r>
          </a:p>
          <a:p>
            <a:pPr algn="just" fontAlgn="base">
              <a:lnSpc>
                <a:spcPct val="107000"/>
              </a:lnSpc>
              <a:spcAft>
                <a:spcPts val="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type in ASP.NET Core Web API provides several benefits that enhance web application development, maintenance, and scalability. It is a flexible and unified way to return different types of responses from controller actions. Here are some of the key benefits: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Flexibility in Response Types:</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allows an action method to return various response types, such as OK,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BadRequest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or File. This flexibility lets developers easily handle responses to the needs of different API calls without having to change the method signature.</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Improved Readability and Maintainability:</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By using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the intent of the code becomes clearer. For instance, returning Ok(result) or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directly from an action method makes it easy to understand the possible outcomes of the API call, improving the maintainability of the code.</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Support for Asynchronous Operations:</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ASP.NET Core supports asynchronous action methods, allowing for non-blocking I/O operations.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can be used with asynchronous patterns, such as Task&lt;</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&gt;, to improve the scalability and performance of web applications by efficiently handling web requests.</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b="1" dirty="0">
                <a:solidFill>
                  <a:srgbClr val="000000"/>
                </a:solidFill>
                <a:effectLst/>
                <a:latin typeface="Calibri" panose="020F0502020204030204" pitchFamily="34" charset="0"/>
                <a:ea typeface="Times New Roman" panose="02020603050405020304" pitchFamily="18" charset="0"/>
              </a:rPr>
              <a:t>Enhanced Client-Side Interaction:</a:t>
            </a:r>
            <a:r>
              <a:rPr lang="en-IN" dirty="0">
                <a:solidFill>
                  <a:srgbClr val="000000"/>
                </a:solidFill>
                <a:effectLst/>
                <a:latin typeface="Calibri" panose="020F0502020204030204" pitchFamily="34" charset="0"/>
                <a:ea typeface="Times New Roman" panose="02020603050405020304" pitchFamily="18" charset="0"/>
              </a:rPr>
              <a:t> By using standardized responses provided by </a:t>
            </a:r>
            <a:r>
              <a:rPr lang="en-IN" dirty="0" err="1">
                <a:solidFill>
                  <a:srgbClr val="000000"/>
                </a:solidFill>
                <a:effectLst/>
                <a:latin typeface="Calibri" panose="020F0502020204030204" pitchFamily="34" charset="0"/>
                <a:ea typeface="Times New Roman" panose="02020603050405020304" pitchFamily="18" charset="0"/>
              </a:rPr>
              <a:t>IActionResult</a:t>
            </a:r>
            <a:r>
              <a:rPr lang="en-IN" dirty="0">
                <a:solidFill>
                  <a:srgbClr val="000000"/>
                </a:solidFill>
                <a:effectLst/>
                <a:latin typeface="Calibri" panose="020F0502020204030204" pitchFamily="34" charset="0"/>
                <a:ea typeface="Times New Roman" panose="02020603050405020304" pitchFamily="18" charset="0"/>
              </a:rPr>
              <a:t>, such as status codes and content results, client-side applications can more easily interpret and react to the API responses. This standardization helps in building robust client-server communication</a:t>
            </a:r>
            <a:endParaRPr lang="en-IN" dirty="0"/>
          </a:p>
        </p:txBody>
      </p:sp>
    </p:spTree>
    <p:extLst>
      <p:ext uri="{BB962C8B-B14F-4D97-AF65-F5344CB8AC3E}">
        <p14:creationId xmlns:p14="http://schemas.microsoft.com/office/powerpoint/2010/main" val="1473879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5920" y="703764"/>
            <a:ext cx="11582400" cy="4537781"/>
          </a:xfrm>
          <a:prstGeom prst="rect">
            <a:avLst/>
          </a:prstGeom>
        </p:spPr>
        <p:txBody>
          <a:bodyPr wrap="square">
            <a:spAutoFit/>
          </a:bodyPr>
          <a:lstStyle/>
          <a:p>
            <a:pPr algn="just" fontAlgn="base">
              <a:lnSpc>
                <a:spcPct val="107000"/>
              </a:lnSpc>
              <a:spcAft>
                <a:spcPts val="0"/>
              </a:spcAf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Drawback of using the </a:t>
            </a:r>
            <a:r>
              <a:rPr lang="en-IN"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type in ASP.NET Core Web API</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dirty="0">
                <a:solidFill>
                  <a:srgbClr val="3A3A3A"/>
                </a:solidFill>
                <a:effectLst/>
                <a:latin typeface="Calibri" panose="020F0502020204030204" pitchFamily="34" charset="0"/>
                <a:ea typeface="Times New Roman" panose="02020603050405020304" pitchFamily="18"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Using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also comes with certain drawbacks, which are important to consider in the design and implementation of your API:</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Lack of Strong Typing:</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When a controller action returns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the specific type of response is not explicitly defined in the method signature. This lack of strong typing can make it harder for developers to understand the types of responses to expect. It can complicate the process of generating client code using tools like Swagger/</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OpenAPI</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Reduced Clarity and Predictability:</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Since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can represent a wide range of HTTP responses, it might not be immediately clear to consumers of your API what the possible responses are without consulting documentation or inspecting the implementation. This can reduce the clarity and predictability of the API, making it more difficult to use.</a:t>
            </a:r>
          </a:p>
          <a:p>
            <a:pPr marL="342900" lvl="0" indent="-342900" algn="just" fontAlgn="base">
              <a:lnSpc>
                <a:spcPct val="107000"/>
              </a:lnSpc>
              <a:spcAft>
                <a:spcPts val="0"/>
              </a:spcAft>
              <a:buSzPts val="1000"/>
              <a:buFont typeface="Symbol" panose="05050102010706020507" pitchFamily="18" charset="2"/>
              <a:buChar char=""/>
              <a:tabLst>
                <a:tab pos="457200" algn="l"/>
              </a:tabLs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Performance Overhead:</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While often minimal, a slight performance overhead is associated with the abstraction layer </a:t>
            </a:r>
            <a:r>
              <a:rPr lang="en-IN"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introduces. Each action result needs to be executed to generate the actual HTTP response. In high-performance scenarios, this overhead, however small, could become significant.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4238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39270" y="152400"/>
            <a:ext cx="6460871" cy="338554"/>
          </a:xfrm>
          <a:prstGeom prst="rect">
            <a:avLst/>
          </a:prstGeom>
        </p:spPr>
        <p:txBody>
          <a:bodyPr wrap="none">
            <a:spAutoFit/>
          </a:bodyPr>
          <a:lstStyle/>
          <a:p>
            <a:r>
              <a:rPr lang="en-IN" sz="1600" dirty="0">
                <a:solidFill>
                  <a:srgbClr val="000000"/>
                </a:solidFill>
                <a:effectLst/>
                <a:latin typeface="Calibri" panose="020F0502020204030204" pitchFamily="34" charset="0"/>
                <a:ea typeface="Times New Roman" panose="02020603050405020304" pitchFamily="18" charset="0"/>
              </a:rPr>
              <a:t>As it returns multiple data types, the swagger could not identify the output </a:t>
            </a:r>
            <a:endParaRPr lang="en-IN" sz="2800" dirty="0"/>
          </a:p>
        </p:txBody>
      </p:sp>
      <p:pic>
        <p:nvPicPr>
          <p:cNvPr id="6" name="Picture 5"/>
          <p:cNvPicPr>
            <a:picLocks noChangeAspect="1"/>
          </p:cNvPicPr>
          <p:nvPr/>
        </p:nvPicPr>
        <p:blipFill>
          <a:blip r:embed="rId2"/>
          <a:stretch>
            <a:fillRect/>
          </a:stretch>
        </p:blipFill>
        <p:spPr>
          <a:xfrm>
            <a:off x="378007" y="821690"/>
            <a:ext cx="3891698" cy="1809750"/>
          </a:xfrm>
          <a:prstGeom prst="rect">
            <a:avLst/>
          </a:prstGeom>
        </p:spPr>
      </p:pic>
      <p:sp>
        <p:nvSpPr>
          <p:cNvPr id="7" name="Rectangle 6"/>
          <p:cNvSpPr/>
          <p:nvPr/>
        </p:nvSpPr>
        <p:spPr>
          <a:xfrm>
            <a:off x="4693920" y="1067415"/>
            <a:ext cx="7284720" cy="923330"/>
          </a:xfrm>
          <a:prstGeom prst="rect">
            <a:avLst/>
          </a:prstGeom>
        </p:spPr>
        <p:txBody>
          <a:bodyPr wrap="square">
            <a:spAutoFit/>
          </a:bodyPr>
          <a:lstStyle/>
          <a:p>
            <a:r>
              <a:rPr lang="en-US" dirty="0"/>
              <a:t>As you can see in the above image, the kind of data the API will return is not displayed. To overcome this problem, we need to use the </a:t>
            </a:r>
            <a:r>
              <a:rPr lang="en-US" dirty="0" err="1"/>
              <a:t>ProducesResponseType</a:t>
            </a:r>
            <a:r>
              <a:rPr lang="en-US" dirty="0"/>
              <a:t> explicitly, as shown below.</a:t>
            </a:r>
            <a:endParaRPr lang="en-IN" dirty="0"/>
          </a:p>
        </p:txBody>
      </p:sp>
      <p:sp>
        <p:nvSpPr>
          <p:cNvPr id="8" name="Rectangle 7"/>
          <p:cNvSpPr/>
          <p:nvPr/>
        </p:nvSpPr>
        <p:spPr>
          <a:xfrm>
            <a:off x="132080" y="3177421"/>
            <a:ext cx="11846560" cy="3600986"/>
          </a:xfrm>
          <a:prstGeom prst="rect">
            <a:avLst/>
          </a:prstGeom>
          <a:solidFill>
            <a:schemeClr val="tx1"/>
          </a:solidFill>
        </p:spPr>
        <p:txBody>
          <a:bodyPr wrap="square">
            <a:spAutoFit/>
          </a:bodyPr>
          <a:lstStyle/>
          <a:p>
            <a:pPr fontAlgn="base"/>
            <a:r>
              <a:rPr lang="en-IN" sz="1200" b="1" i="0" dirty="0">
                <a:solidFill>
                  <a:srgbClr val="6B7C8B"/>
                </a:solidFill>
                <a:effectLst/>
                <a:latin typeface="inherit"/>
              </a:rPr>
              <a:t>[</a:t>
            </a:r>
            <a:r>
              <a:rPr lang="en-IN" sz="1200" b="0" i="0" dirty="0" err="1">
                <a:solidFill>
                  <a:srgbClr val="4284AE"/>
                </a:solidFill>
                <a:effectLst/>
                <a:latin typeface="inherit"/>
              </a:rPr>
              <a:t>HttpGet</a:t>
            </a:r>
            <a:r>
              <a:rPr lang="en-IN" sz="1200" b="1" i="0" dirty="0">
                <a:solidFill>
                  <a:srgbClr val="6B7C8B"/>
                </a:solidFill>
                <a:effectLst/>
                <a:latin typeface="inherit"/>
              </a:rPr>
              <a:t>(</a:t>
            </a:r>
            <a:r>
              <a:rPr lang="en-IN" sz="1200" b="0" i="0" dirty="0">
                <a:solidFill>
                  <a:srgbClr val="7CC379"/>
                </a:solidFill>
                <a:effectLst/>
                <a:latin typeface="inherit"/>
              </a:rPr>
              <a:t>"All"</a:t>
            </a:r>
            <a:r>
              <a:rPr lang="en-IN" sz="1200" b="1" i="0" dirty="0">
                <a:solidFill>
                  <a:srgbClr val="6B7C8B"/>
                </a:solidFill>
                <a:effectLst/>
                <a:latin typeface="inherit"/>
              </a:rPr>
              <a:t>)]</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a:t>
            </a:r>
            <a:r>
              <a:rPr lang="en-IN" sz="1200" b="0" i="0" dirty="0" err="1">
                <a:solidFill>
                  <a:srgbClr val="4284AE"/>
                </a:solidFill>
                <a:effectLst/>
                <a:latin typeface="inherit"/>
              </a:rPr>
              <a:t>ProducesResponseType</a:t>
            </a:r>
            <a:r>
              <a:rPr lang="en-IN" sz="1200" b="1" i="0" dirty="0">
                <a:solidFill>
                  <a:srgbClr val="6B7C8B"/>
                </a:solidFill>
                <a:effectLst/>
                <a:latin typeface="inherit"/>
              </a:rPr>
              <a:t>(</a:t>
            </a:r>
            <a:r>
              <a:rPr lang="en-IN" sz="1200" b="0" i="0" dirty="0">
                <a:solidFill>
                  <a:srgbClr val="CFD5E0"/>
                </a:solidFill>
                <a:effectLst/>
                <a:latin typeface="inherit"/>
              </a:rPr>
              <a:t>StatusCodes.</a:t>
            </a:r>
            <a:r>
              <a:rPr lang="en-IN" sz="1200" b="0" i="0" dirty="0">
                <a:solidFill>
                  <a:srgbClr val="4284AE"/>
                </a:solidFill>
                <a:effectLst/>
                <a:latin typeface="inherit"/>
              </a:rPr>
              <a:t>Status200OK</a:t>
            </a:r>
            <a:r>
              <a:rPr lang="en-IN" sz="1200" b="0" i="0" dirty="0">
                <a:solidFill>
                  <a:srgbClr val="CFD5E0"/>
                </a:solidFill>
                <a:effectLst/>
                <a:latin typeface="inherit"/>
              </a:rPr>
              <a:t>, Type = </a:t>
            </a:r>
            <a:r>
              <a:rPr lang="en-IN" sz="1200" b="0" i="0" dirty="0" err="1">
                <a:solidFill>
                  <a:srgbClr val="4284AE"/>
                </a:solidFill>
                <a:effectLst/>
                <a:latin typeface="inherit"/>
              </a:rPr>
              <a:t>typeof</a:t>
            </a:r>
            <a:r>
              <a:rPr lang="en-IN" sz="1200" b="1" i="0" dirty="0">
                <a:solidFill>
                  <a:srgbClr val="6B7C8B"/>
                </a:solidFill>
                <a:effectLst/>
                <a:latin typeface="inherit"/>
              </a:rPr>
              <a:t>(</a:t>
            </a:r>
            <a:r>
              <a:rPr lang="en-IN" sz="1200" b="0" i="0" dirty="0">
                <a:solidFill>
                  <a:srgbClr val="CFD5E0"/>
                </a:solidFill>
                <a:effectLst/>
                <a:latin typeface="inherit"/>
              </a:rPr>
              <a:t>List</a:t>
            </a:r>
            <a:r>
              <a:rPr lang="en-IN" sz="1200" b="1" i="0" dirty="0">
                <a:solidFill>
                  <a:srgbClr val="6B7C8B"/>
                </a:solidFill>
                <a:effectLst/>
                <a:latin typeface="inherit"/>
              </a:rPr>
              <a:t>&lt;</a:t>
            </a:r>
            <a:r>
              <a:rPr lang="en-IN" sz="1200" b="0" i="0" dirty="0">
                <a:solidFill>
                  <a:srgbClr val="CFD5E0"/>
                </a:solidFill>
                <a:effectLst/>
                <a:latin typeface="inherit"/>
              </a:rPr>
              <a:t>Employee</a:t>
            </a:r>
            <a:r>
              <a:rPr lang="en-IN" sz="1200" b="1" i="0" dirty="0">
                <a:solidFill>
                  <a:srgbClr val="6B7C8B"/>
                </a:solidFill>
                <a:effectLst/>
                <a:latin typeface="inherit"/>
              </a:rPr>
              <a:t>&gt;))]</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a:t>
            </a:r>
            <a:r>
              <a:rPr lang="en-IN" sz="1200" b="0" i="0" dirty="0" err="1">
                <a:solidFill>
                  <a:srgbClr val="4284AE"/>
                </a:solidFill>
                <a:effectLst/>
                <a:latin typeface="inherit"/>
              </a:rPr>
              <a:t>ProducesResponseType</a:t>
            </a:r>
            <a:r>
              <a:rPr lang="en-IN" sz="1200" b="1" i="0" dirty="0">
                <a:solidFill>
                  <a:srgbClr val="6B7C8B"/>
                </a:solidFill>
                <a:effectLst/>
                <a:latin typeface="inherit"/>
              </a:rPr>
              <a:t>(</a:t>
            </a:r>
            <a:r>
              <a:rPr lang="en-IN" sz="1200" b="0" i="0" dirty="0">
                <a:solidFill>
                  <a:srgbClr val="CFD5E0"/>
                </a:solidFill>
                <a:effectLst/>
                <a:latin typeface="inherit"/>
              </a:rPr>
              <a:t>StatusCodes.</a:t>
            </a:r>
            <a:r>
              <a:rPr lang="en-IN" sz="1200" b="0" i="0" dirty="0">
                <a:solidFill>
                  <a:srgbClr val="4284AE"/>
                </a:solidFill>
                <a:effectLst/>
                <a:latin typeface="inherit"/>
              </a:rPr>
              <a:t>Status404NotFound</a:t>
            </a:r>
            <a:r>
              <a:rPr lang="en-IN" sz="1200" b="1" i="0" dirty="0">
                <a:solidFill>
                  <a:srgbClr val="6B7C8B"/>
                </a:solidFill>
                <a:effectLst/>
                <a:latin typeface="inherit"/>
              </a:rPr>
              <a:t>)]</a:t>
            </a:r>
            <a:endParaRPr lang="en-IN" sz="1200" b="0" i="0" dirty="0">
              <a:solidFill>
                <a:srgbClr val="596174"/>
              </a:solidFill>
              <a:effectLst/>
              <a:latin typeface="Inconsolata"/>
            </a:endParaRPr>
          </a:p>
          <a:p>
            <a:pPr fontAlgn="base"/>
            <a:r>
              <a:rPr lang="en-IN" sz="1200" b="1" i="0" dirty="0">
                <a:solidFill>
                  <a:srgbClr val="D171DD"/>
                </a:solidFill>
                <a:effectLst/>
                <a:latin typeface="inherit"/>
              </a:rPr>
              <a:t>public</a:t>
            </a:r>
            <a:r>
              <a:rPr lang="en-IN" sz="1200" b="0" i="0" dirty="0">
                <a:solidFill>
                  <a:srgbClr val="CFD5E0"/>
                </a:solidFill>
                <a:effectLst/>
                <a:latin typeface="inherit"/>
              </a:rPr>
              <a:t> </a:t>
            </a:r>
            <a:r>
              <a:rPr lang="en-IN" sz="1200" b="0" i="0" dirty="0" err="1">
                <a:solidFill>
                  <a:srgbClr val="CFD5E0"/>
                </a:solidFill>
                <a:effectLst/>
                <a:latin typeface="inherit"/>
              </a:rPr>
              <a:t>IActionResult</a:t>
            </a:r>
            <a:r>
              <a:rPr lang="en-IN" sz="1200" b="0" i="0" dirty="0">
                <a:solidFill>
                  <a:srgbClr val="CFD5E0"/>
                </a:solidFill>
                <a:effectLst/>
                <a:latin typeface="inherit"/>
              </a:rPr>
              <a:t> </a:t>
            </a:r>
            <a:r>
              <a:rPr lang="en-IN" sz="1200" b="0" i="0" dirty="0" err="1">
                <a:solidFill>
                  <a:srgbClr val="4284AE"/>
                </a:solidFill>
                <a:effectLst/>
                <a:latin typeface="inherit"/>
              </a:rPr>
              <a:t>GetAllEmployee</a:t>
            </a:r>
            <a:r>
              <a:rPr lang="en-IN" sz="1200" b="1" i="0" dirty="0">
                <a:solidFill>
                  <a:srgbClr val="6B7C8B"/>
                </a:solidFill>
                <a:effectLst/>
                <a:latin typeface="inherit"/>
              </a:rPr>
              <a:t>()</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a:t>
            </a:r>
            <a:endParaRPr lang="en-IN" sz="1200" b="0" i="0" dirty="0">
              <a:solidFill>
                <a:srgbClr val="596174"/>
              </a:solidFill>
              <a:effectLst/>
              <a:latin typeface="Inconsolata"/>
            </a:endParaRPr>
          </a:p>
          <a:p>
            <a:pPr fontAlgn="base"/>
            <a:r>
              <a:rPr lang="en-IN" sz="1200" b="0" i="0" dirty="0" err="1">
                <a:solidFill>
                  <a:srgbClr val="D19252"/>
                </a:solidFill>
                <a:effectLst/>
                <a:latin typeface="inherit"/>
              </a:rPr>
              <a:t>var</a:t>
            </a:r>
            <a:r>
              <a:rPr lang="en-IN" sz="1200" b="0" i="0" dirty="0">
                <a:solidFill>
                  <a:srgbClr val="CFD5E0"/>
                </a:solidFill>
                <a:effectLst/>
                <a:latin typeface="inherit"/>
              </a:rPr>
              <a:t> </a:t>
            </a:r>
            <a:r>
              <a:rPr lang="en-IN" sz="1200" b="0" i="0" dirty="0" err="1">
                <a:solidFill>
                  <a:srgbClr val="CFD5E0"/>
                </a:solidFill>
                <a:effectLst/>
                <a:latin typeface="inherit"/>
              </a:rPr>
              <a:t>listEmployees</a:t>
            </a:r>
            <a:r>
              <a:rPr lang="en-IN" sz="1200" b="0" i="0" dirty="0">
                <a:solidFill>
                  <a:srgbClr val="CFD5E0"/>
                </a:solidFill>
                <a:effectLst/>
                <a:latin typeface="inherit"/>
              </a:rPr>
              <a:t> = </a:t>
            </a:r>
            <a:r>
              <a:rPr lang="en-IN" sz="1200" b="0" i="0" dirty="0">
                <a:solidFill>
                  <a:srgbClr val="4284AE"/>
                </a:solidFill>
                <a:effectLst/>
                <a:latin typeface="inherit"/>
              </a:rPr>
              <a:t>new</a:t>
            </a:r>
            <a:r>
              <a:rPr lang="en-IN" sz="1200" b="0" i="0" dirty="0">
                <a:solidFill>
                  <a:srgbClr val="CFD5E0"/>
                </a:solidFill>
                <a:effectLst/>
                <a:latin typeface="inherit"/>
              </a:rPr>
              <a:t> List</a:t>
            </a:r>
            <a:r>
              <a:rPr lang="en-IN" sz="1200" b="1" i="0" dirty="0">
                <a:solidFill>
                  <a:srgbClr val="6B7C8B"/>
                </a:solidFill>
                <a:effectLst/>
                <a:latin typeface="inherit"/>
              </a:rPr>
              <a:t>&lt;</a:t>
            </a:r>
            <a:r>
              <a:rPr lang="en-IN" sz="1200" b="0" i="0" dirty="0">
                <a:solidFill>
                  <a:srgbClr val="CFD5E0"/>
                </a:solidFill>
                <a:effectLst/>
                <a:latin typeface="inherit"/>
              </a:rPr>
              <a:t>Employee</a:t>
            </a:r>
            <a:r>
              <a:rPr lang="en-IN" sz="1200" b="1" i="0" dirty="0">
                <a:solidFill>
                  <a:srgbClr val="6B7C8B"/>
                </a:solidFill>
                <a:effectLst/>
                <a:latin typeface="inherit"/>
              </a:rPr>
              <a:t>&gt;() {</a:t>
            </a:r>
            <a:endParaRPr lang="en-IN" sz="1200" b="0" i="0" dirty="0">
              <a:solidFill>
                <a:srgbClr val="596174"/>
              </a:solidFill>
              <a:effectLst/>
              <a:latin typeface="Inconsolata"/>
            </a:endParaRPr>
          </a:p>
          <a:p>
            <a:pPr fontAlgn="base"/>
            <a:r>
              <a:rPr lang="en-IN" sz="1200" b="0" i="0" dirty="0">
                <a:solidFill>
                  <a:srgbClr val="4284AE"/>
                </a:solidFill>
                <a:effectLst/>
                <a:latin typeface="inherit"/>
              </a:rPr>
              <a:t>new</a:t>
            </a:r>
            <a:r>
              <a:rPr lang="en-IN" sz="1200" b="0" i="0" dirty="0">
                <a:solidFill>
                  <a:srgbClr val="CFD5E0"/>
                </a:solidFill>
                <a:effectLst/>
                <a:latin typeface="inherit"/>
              </a:rPr>
              <a:t> </a:t>
            </a:r>
            <a:r>
              <a:rPr lang="en-IN" sz="1200" b="0" i="0" dirty="0">
                <a:solidFill>
                  <a:srgbClr val="4284AE"/>
                </a:solidFill>
                <a:effectLst/>
                <a:latin typeface="inherit"/>
              </a:rPr>
              <a:t>Employee</a:t>
            </a:r>
            <a:r>
              <a:rPr lang="en-IN" sz="1200" b="1" i="0" dirty="0">
                <a:solidFill>
                  <a:srgbClr val="6B7C8B"/>
                </a:solidFill>
                <a:effectLst/>
                <a:latin typeface="inherit"/>
              </a:rPr>
              <a:t>(){</a:t>
            </a:r>
            <a:r>
              <a:rPr lang="en-IN" sz="1200" b="0" i="0" dirty="0">
                <a:solidFill>
                  <a:srgbClr val="CFD5E0"/>
                </a:solidFill>
                <a:effectLst/>
                <a:latin typeface="inherit"/>
              </a:rPr>
              <a:t> Id = </a:t>
            </a:r>
            <a:r>
              <a:rPr lang="en-IN" sz="1200" b="0" i="0" dirty="0">
                <a:solidFill>
                  <a:srgbClr val="D19A66"/>
                </a:solidFill>
                <a:effectLst/>
                <a:latin typeface="inherit"/>
              </a:rPr>
              <a:t>1001</a:t>
            </a:r>
            <a:r>
              <a:rPr lang="en-IN" sz="1200" b="0" i="0" dirty="0">
                <a:solidFill>
                  <a:srgbClr val="CFD5E0"/>
                </a:solidFill>
                <a:effectLst/>
                <a:latin typeface="inherit"/>
              </a:rPr>
              <a:t>, Name = </a:t>
            </a:r>
            <a:r>
              <a:rPr lang="en-IN" sz="1200" b="0" i="0" dirty="0">
                <a:solidFill>
                  <a:srgbClr val="7CC379"/>
                </a:solidFill>
                <a:effectLst/>
                <a:latin typeface="inherit"/>
              </a:rPr>
              <a:t>"</a:t>
            </a:r>
            <a:r>
              <a:rPr lang="en-IN" sz="1200" b="0" i="0" dirty="0" err="1">
                <a:solidFill>
                  <a:srgbClr val="7CC379"/>
                </a:solidFill>
                <a:effectLst/>
                <a:latin typeface="inherit"/>
              </a:rPr>
              <a:t>Anurag</a:t>
            </a:r>
            <a:r>
              <a:rPr lang="en-IN" sz="1200" b="0" i="0" dirty="0">
                <a:solidFill>
                  <a:srgbClr val="7CC379"/>
                </a:solidFill>
                <a:effectLst/>
                <a:latin typeface="inherit"/>
              </a:rPr>
              <a:t>"</a:t>
            </a:r>
            <a:r>
              <a:rPr lang="en-IN" sz="1200" b="0" i="0" dirty="0">
                <a:solidFill>
                  <a:srgbClr val="CFD5E0"/>
                </a:solidFill>
                <a:effectLst/>
                <a:latin typeface="inherit"/>
              </a:rPr>
              <a:t>, Age = </a:t>
            </a:r>
            <a:r>
              <a:rPr lang="en-IN" sz="1200" b="0" i="0" dirty="0">
                <a:solidFill>
                  <a:srgbClr val="D19A66"/>
                </a:solidFill>
                <a:effectLst/>
                <a:latin typeface="inherit"/>
              </a:rPr>
              <a:t>28</a:t>
            </a:r>
            <a:r>
              <a:rPr lang="en-IN" sz="1200" b="0" i="0" dirty="0">
                <a:solidFill>
                  <a:srgbClr val="CFD5E0"/>
                </a:solidFill>
                <a:effectLst/>
                <a:latin typeface="inherit"/>
              </a:rPr>
              <a:t>, City = </a:t>
            </a:r>
            <a:r>
              <a:rPr lang="en-IN" sz="1200" b="0" i="0" dirty="0">
                <a:solidFill>
                  <a:srgbClr val="7CC379"/>
                </a:solidFill>
                <a:effectLst/>
                <a:latin typeface="inherit"/>
              </a:rPr>
              <a:t>"Mumbai"</a:t>
            </a:r>
            <a:r>
              <a:rPr lang="en-IN" sz="1200" b="0" i="0" dirty="0">
                <a:solidFill>
                  <a:srgbClr val="CFD5E0"/>
                </a:solidFill>
                <a:effectLst/>
                <a:latin typeface="inherit"/>
              </a:rPr>
              <a:t>, Gender = </a:t>
            </a:r>
            <a:r>
              <a:rPr lang="en-IN" sz="1200" b="0" i="0" dirty="0">
                <a:solidFill>
                  <a:srgbClr val="7CC379"/>
                </a:solidFill>
                <a:effectLst/>
                <a:latin typeface="inherit"/>
              </a:rPr>
              <a:t>"Male"</a:t>
            </a:r>
            <a:r>
              <a:rPr lang="en-IN" sz="1200" b="0" i="0" dirty="0">
                <a:solidFill>
                  <a:srgbClr val="CFD5E0"/>
                </a:solidFill>
                <a:effectLst/>
                <a:latin typeface="inherit"/>
              </a:rPr>
              <a:t>, Department = </a:t>
            </a:r>
            <a:r>
              <a:rPr lang="en-IN" sz="1200" b="0" i="0" dirty="0">
                <a:solidFill>
                  <a:srgbClr val="7CC379"/>
                </a:solidFill>
                <a:effectLst/>
                <a:latin typeface="inherit"/>
              </a:rPr>
              <a:t>"IT"</a:t>
            </a:r>
            <a:r>
              <a:rPr lang="en-IN" sz="1200" b="0" i="0" dirty="0">
                <a:solidFill>
                  <a:srgbClr val="CFD5E0"/>
                </a:solidFill>
                <a:effectLst/>
                <a:latin typeface="inherit"/>
              </a:rPr>
              <a:t> </a:t>
            </a:r>
            <a:r>
              <a:rPr lang="en-IN" sz="1200" b="1" i="0" dirty="0">
                <a:solidFill>
                  <a:srgbClr val="6B7C8B"/>
                </a:solidFill>
                <a:effectLst/>
                <a:latin typeface="inherit"/>
              </a:rPr>
              <a:t>}</a:t>
            </a:r>
            <a:r>
              <a:rPr lang="en-IN" sz="1200" b="0" i="0" dirty="0">
                <a:solidFill>
                  <a:srgbClr val="CFD5E0"/>
                </a:solidFill>
                <a:effectLst/>
                <a:latin typeface="inherit"/>
              </a:rPr>
              <a:t>,</a:t>
            </a:r>
            <a:endParaRPr lang="en-IN" sz="1200" b="0" i="0" dirty="0">
              <a:solidFill>
                <a:srgbClr val="596174"/>
              </a:solidFill>
              <a:effectLst/>
              <a:latin typeface="Inconsolata"/>
            </a:endParaRPr>
          </a:p>
          <a:p>
            <a:pPr fontAlgn="base"/>
            <a:r>
              <a:rPr lang="en-IN" sz="1200" b="0" i="0" dirty="0">
                <a:solidFill>
                  <a:srgbClr val="4284AE"/>
                </a:solidFill>
                <a:effectLst/>
                <a:latin typeface="inherit"/>
              </a:rPr>
              <a:t>new</a:t>
            </a:r>
            <a:r>
              <a:rPr lang="en-IN" sz="1200" b="0" i="0" dirty="0">
                <a:solidFill>
                  <a:srgbClr val="CFD5E0"/>
                </a:solidFill>
                <a:effectLst/>
                <a:latin typeface="inherit"/>
              </a:rPr>
              <a:t> </a:t>
            </a:r>
            <a:r>
              <a:rPr lang="en-IN" sz="1200" b="0" i="0" dirty="0">
                <a:solidFill>
                  <a:srgbClr val="4284AE"/>
                </a:solidFill>
                <a:effectLst/>
                <a:latin typeface="inherit"/>
              </a:rPr>
              <a:t>Employee</a:t>
            </a:r>
            <a:r>
              <a:rPr lang="en-IN" sz="1200" b="1" i="0" dirty="0">
                <a:solidFill>
                  <a:srgbClr val="6B7C8B"/>
                </a:solidFill>
                <a:effectLst/>
                <a:latin typeface="inherit"/>
              </a:rPr>
              <a:t>(){</a:t>
            </a:r>
            <a:r>
              <a:rPr lang="en-IN" sz="1200" b="0" i="0" dirty="0">
                <a:solidFill>
                  <a:srgbClr val="CFD5E0"/>
                </a:solidFill>
                <a:effectLst/>
                <a:latin typeface="inherit"/>
              </a:rPr>
              <a:t> Id = </a:t>
            </a:r>
            <a:r>
              <a:rPr lang="en-IN" sz="1200" b="0" i="0" dirty="0">
                <a:solidFill>
                  <a:srgbClr val="D19A66"/>
                </a:solidFill>
                <a:effectLst/>
                <a:latin typeface="inherit"/>
              </a:rPr>
              <a:t>1002</a:t>
            </a:r>
            <a:r>
              <a:rPr lang="en-IN" sz="1200" b="0" i="0" dirty="0">
                <a:solidFill>
                  <a:srgbClr val="CFD5E0"/>
                </a:solidFill>
                <a:effectLst/>
                <a:latin typeface="inherit"/>
              </a:rPr>
              <a:t>, Name = </a:t>
            </a:r>
            <a:r>
              <a:rPr lang="en-IN" sz="1200" b="0" i="0" dirty="0">
                <a:solidFill>
                  <a:srgbClr val="7CC379"/>
                </a:solidFill>
                <a:effectLst/>
                <a:latin typeface="inherit"/>
              </a:rPr>
              <a:t>"</a:t>
            </a:r>
            <a:r>
              <a:rPr lang="en-IN" sz="1200" b="0" i="0" dirty="0" err="1">
                <a:solidFill>
                  <a:srgbClr val="7CC379"/>
                </a:solidFill>
                <a:effectLst/>
                <a:latin typeface="inherit"/>
              </a:rPr>
              <a:t>Pranaya</a:t>
            </a:r>
            <a:r>
              <a:rPr lang="en-IN" sz="1200" b="0" i="0" dirty="0">
                <a:solidFill>
                  <a:srgbClr val="7CC379"/>
                </a:solidFill>
                <a:effectLst/>
                <a:latin typeface="inherit"/>
              </a:rPr>
              <a:t>"</a:t>
            </a:r>
            <a:r>
              <a:rPr lang="en-IN" sz="1200" b="0" i="0" dirty="0">
                <a:solidFill>
                  <a:srgbClr val="CFD5E0"/>
                </a:solidFill>
                <a:effectLst/>
                <a:latin typeface="inherit"/>
              </a:rPr>
              <a:t>, Age = </a:t>
            </a:r>
            <a:r>
              <a:rPr lang="en-IN" sz="1200" b="0" i="0" dirty="0">
                <a:solidFill>
                  <a:srgbClr val="D19A66"/>
                </a:solidFill>
                <a:effectLst/>
                <a:latin typeface="inherit"/>
              </a:rPr>
              <a:t>28</a:t>
            </a:r>
            <a:r>
              <a:rPr lang="en-IN" sz="1200" b="0" i="0" dirty="0">
                <a:solidFill>
                  <a:srgbClr val="CFD5E0"/>
                </a:solidFill>
                <a:effectLst/>
                <a:latin typeface="inherit"/>
              </a:rPr>
              <a:t>, City = </a:t>
            </a:r>
            <a:r>
              <a:rPr lang="en-IN" sz="1200" b="0" i="0" dirty="0">
                <a:solidFill>
                  <a:srgbClr val="7CC379"/>
                </a:solidFill>
                <a:effectLst/>
                <a:latin typeface="inherit"/>
              </a:rPr>
              <a:t>"Delhi"</a:t>
            </a:r>
            <a:r>
              <a:rPr lang="en-IN" sz="1200" b="0" i="0" dirty="0">
                <a:solidFill>
                  <a:srgbClr val="CFD5E0"/>
                </a:solidFill>
                <a:effectLst/>
                <a:latin typeface="inherit"/>
              </a:rPr>
              <a:t>, Gender = </a:t>
            </a:r>
            <a:r>
              <a:rPr lang="en-IN" sz="1200" b="0" i="0" dirty="0">
                <a:solidFill>
                  <a:srgbClr val="7CC379"/>
                </a:solidFill>
                <a:effectLst/>
                <a:latin typeface="inherit"/>
              </a:rPr>
              <a:t>"Male"</a:t>
            </a:r>
            <a:r>
              <a:rPr lang="en-IN" sz="1200" b="0" i="0" dirty="0">
                <a:solidFill>
                  <a:srgbClr val="CFD5E0"/>
                </a:solidFill>
                <a:effectLst/>
                <a:latin typeface="inherit"/>
              </a:rPr>
              <a:t>, Department = </a:t>
            </a:r>
            <a:r>
              <a:rPr lang="en-IN" sz="1200" b="0" i="0" dirty="0">
                <a:solidFill>
                  <a:srgbClr val="7CC379"/>
                </a:solidFill>
                <a:effectLst/>
                <a:latin typeface="inherit"/>
              </a:rPr>
              <a:t>"IT"</a:t>
            </a:r>
            <a:r>
              <a:rPr lang="en-IN" sz="1200" b="0" i="0" dirty="0">
                <a:solidFill>
                  <a:srgbClr val="CFD5E0"/>
                </a:solidFill>
                <a:effectLst/>
                <a:latin typeface="inherit"/>
              </a:rPr>
              <a:t> </a:t>
            </a:r>
            <a:r>
              <a:rPr lang="en-IN" sz="1200" b="1" i="0" dirty="0">
                <a:solidFill>
                  <a:srgbClr val="6B7C8B"/>
                </a:solidFill>
                <a:effectLst/>
                <a:latin typeface="inherit"/>
              </a:rPr>
              <a:t>}</a:t>
            </a:r>
            <a:r>
              <a:rPr lang="en-IN" sz="1200" b="0" i="0" dirty="0">
                <a:solidFill>
                  <a:srgbClr val="CFD5E0"/>
                </a:solidFill>
                <a:effectLst/>
                <a:latin typeface="inherit"/>
              </a:rPr>
              <a:t>,</a:t>
            </a:r>
            <a:endParaRPr lang="en-IN" sz="1200" b="0" i="0" dirty="0">
              <a:solidFill>
                <a:srgbClr val="596174"/>
              </a:solidFill>
              <a:effectLst/>
              <a:latin typeface="Inconsolata"/>
            </a:endParaRPr>
          </a:p>
          <a:p>
            <a:pPr fontAlgn="base"/>
            <a:r>
              <a:rPr lang="en-IN" sz="1200" b="0" i="0" dirty="0">
                <a:solidFill>
                  <a:srgbClr val="4284AE"/>
                </a:solidFill>
                <a:effectLst/>
                <a:latin typeface="inherit"/>
              </a:rPr>
              <a:t>new</a:t>
            </a:r>
            <a:r>
              <a:rPr lang="en-IN" sz="1200" b="0" i="0" dirty="0">
                <a:solidFill>
                  <a:srgbClr val="CFD5E0"/>
                </a:solidFill>
                <a:effectLst/>
                <a:latin typeface="inherit"/>
              </a:rPr>
              <a:t> </a:t>
            </a:r>
            <a:r>
              <a:rPr lang="en-IN" sz="1200" b="0" i="0" dirty="0">
                <a:solidFill>
                  <a:srgbClr val="4284AE"/>
                </a:solidFill>
                <a:effectLst/>
                <a:latin typeface="inherit"/>
              </a:rPr>
              <a:t>Employee</a:t>
            </a:r>
            <a:r>
              <a:rPr lang="en-IN" sz="1200" b="1" i="0" dirty="0">
                <a:solidFill>
                  <a:srgbClr val="6B7C8B"/>
                </a:solidFill>
                <a:effectLst/>
                <a:latin typeface="inherit"/>
              </a:rPr>
              <a:t>(){</a:t>
            </a:r>
            <a:r>
              <a:rPr lang="en-IN" sz="1200" b="0" i="0" dirty="0">
                <a:solidFill>
                  <a:srgbClr val="CFD5E0"/>
                </a:solidFill>
                <a:effectLst/>
                <a:latin typeface="inherit"/>
              </a:rPr>
              <a:t> Id = </a:t>
            </a:r>
            <a:r>
              <a:rPr lang="en-IN" sz="1200" b="0" i="0" dirty="0">
                <a:solidFill>
                  <a:srgbClr val="D19A66"/>
                </a:solidFill>
                <a:effectLst/>
                <a:latin typeface="inherit"/>
              </a:rPr>
              <a:t>1003</a:t>
            </a:r>
            <a:r>
              <a:rPr lang="en-IN" sz="1200" b="0" i="0" dirty="0">
                <a:solidFill>
                  <a:srgbClr val="CFD5E0"/>
                </a:solidFill>
                <a:effectLst/>
                <a:latin typeface="inherit"/>
              </a:rPr>
              <a:t>, Name = </a:t>
            </a:r>
            <a:r>
              <a:rPr lang="en-IN" sz="1200" b="0" i="0" dirty="0">
                <a:solidFill>
                  <a:srgbClr val="7CC379"/>
                </a:solidFill>
                <a:effectLst/>
                <a:latin typeface="inherit"/>
              </a:rPr>
              <a:t>"</a:t>
            </a:r>
            <a:r>
              <a:rPr lang="en-IN" sz="1200" b="0" i="0" dirty="0" err="1">
                <a:solidFill>
                  <a:srgbClr val="7CC379"/>
                </a:solidFill>
                <a:effectLst/>
                <a:latin typeface="inherit"/>
              </a:rPr>
              <a:t>Priyanka</a:t>
            </a:r>
            <a:r>
              <a:rPr lang="en-IN" sz="1200" b="0" i="0" dirty="0">
                <a:solidFill>
                  <a:srgbClr val="7CC379"/>
                </a:solidFill>
                <a:effectLst/>
                <a:latin typeface="inherit"/>
              </a:rPr>
              <a:t>"</a:t>
            </a:r>
            <a:r>
              <a:rPr lang="en-IN" sz="1200" b="0" i="0" dirty="0">
                <a:solidFill>
                  <a:srgbClr val="CFD5E0"/>
                </a:solidFill>
                <a:effectLst/>
                <a:latin typeface="inherit"/>
              </a:rPr>
              <a:t>, Age = </a:t>
            </a:r>
            <a:r>
              <a:rPr lang="en-IN" sz="1200" b="0" i="0" dirty="0">
                <a:solidFill>
                  <a:srgbClr val="D19A66"/>
                </a:solidFill>
                <a:effectLst/>
                <a:latin typeface="inherit"/>
              </a:rPr>
              <a:t>27</a:t>
            </a:r>
            <a:r>
              <a:rPr lang="en-IN" sz="1200" b="0" i="0" dirty="0">
                <a:solidFill>
                  <a:srgbClr val="CFD5E0"/>
                </a:solidFill>
                <a:effectLst/>
                <a:latin typeface="inherit"/>
              </a:rPr>
              <a:t>, City = </a:t>
            </a:r>
            <a:r>
              <a:rPr lang="en-IN" sz="1200" b="0" i="0" dirty="0">
                <a:solidFill>
                  <a:srgbClr val="7CC379"/>
                </a:solidFill>
                <a:effectLst/>
                <a:latin typeface="inherit"/>
              </a:rPr>
              <a:t>"BBSR"</a:t>
            </a:r>
            <a:r>
              <a:rPr lang="en-IN" sz="1200" b="0" i="0" dirty="0">
                <a:solidFill>
                  <a:srgbClr val="CFD5E0"/>
                </a:solidFill>
                <a:effectLst/>
                <a:latin typeface="inherit"/>
              </a:rPr>
              <a:t>, Gender = </a:t>
            </a:r>
            <a:r>
              <a:rPr lang="en-IN" sz="1200" b="0" i="0" dirty="0">
                <a:solidFill>
                  <a:srgbClr val="7CC379"/>
                </a:solidFill>
                <a:effectLst/>
                <a:latin typeface="inherit"/>
              </a:rPr>
              <a:t>"Female"</a:t>
            </a:r>
            <a:r>
              <a:rPr lang="en-IN" sz="1200" b="0" i="0" dirty="0">
                <a:solidFill>
                  <a:srgbClr val="CFD5E0"/>
                </a:solidFill>
                <a:effectLst/>
                <a:latin typeface="inherit"/>
              </a:rPr>
              <a:t>, Department = </a:t>
            </a:r>
            <a:r>
              <a:rPr lang="en-IN" sz="1200" b="0" i="0" dirty="0">
                <a:solidFill>
                  <a:srgbClr val="7CC379"/>
                </a:solidFill>
                <a:effectLst/>
                <a:latin typeface="inherit"/>
              </a:rPr>
              <a:t>"HR"</a:t>
            </a:r>
            <a:r>
              <a:rPr lang="en-IN" sz="1200" b="1" i="0" dirty="0">
                <a:solidFill>
                  <a:srgbClr val="6B7C8B"/>
                </a:solidFill>
                <a:effectLst/>
                <a:latin typeface="inherit"/>
              </a:rPr>
              <a:t>}</a:t>
            </a:r>
            <a:r>
              <a:rPr lang="en-IN" sz="1200" b="0" i="0" dirty="0">
                <a:solidFill>
                  <a:srgbClr val="CFD5E0"/>
                </a:solidFill>
                <a:effectLst/>
                <a:latin typeface="inherit"/>
              </a:rPr>
              <a:t>,</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      }</a:t>
            </a:r>
            <a:r>
              <a:rPr lang="en-IN" sz="1200" b="0" i="0" dirty="0">
                <a:solidFill>
                  <a:srgbClr val="CFD5E0"/>
                </a:solidFill>
                <a:effectLst/>
                <a:latin typeface="inherit"/>
              </a:rPr>
              <a:t>;</a:t>
            </a:r>
            <a:endParaRPr lang="en-IN" sz="1200" b="0" i="0" dirty="0">
              <a:solidFill>
                <a:srgbClr val="596174"/>
              </a:solidFill>
              <a:effectLst/>
              <a:latin typeface="Inconsolata"/>
            </a:endParaRPr>
          </a:p>
          <a:p>
            <a:pPr fontAlgn="base"/>
            <a:r>
              <a:rPr lang="en-IN" sz="1200" b="1" i="0" dirty="0">
                <a:solidFill>
                  <a:srgbClr val="D171DD"/>
                </a:solidFill>
                <a:effectLst/>
                <a:latin typeface="inherit"/>
              </a:rPr>
              <a:t>       if</a:t>
            </a:r>
            <a:r>
              <a:rPr lang="en-IN" sz="1200" b="0" i="0" dirty="0">
                <a:solidFill>
                  <a:srgbClr val="CFD5E0"/>
                </a:solidFill>
                <a:effectLst/>
                <a:latin typeface="inherit"/>
              </a:rPr>
              <a:t> </a:t>
            </a:r>
            <a:r>
              <a:rPr lang="en-IN" sz="1200" b="1" i="0" dirty="0">
                <a:solidFill>
                  <a:srgbClr val="6B7C8B"/>
                </a:solidFill>
                <a:effectLst/>
                <a:latin typeface="inherit"/>
              </a:rPr>
              <a:t>(</a:t>
            </a:r>
            <a:r>
              <a:rPr lang="en-IN" sz="1200" b="0" i="0" dirty="0" err="1">
                <a:solidFill>
                  <a:srgbClr val="CFD5E0"/>
                </a:solidFill>
                <a:effectLst/>
                <a:latin typeface="inherit"/>
              </a:rPr>
              <a:t>listEmployees.</a:t>
            </a:r>
            <a:r>
              <a:rPr lang="en-IN" sz="1200" b="0" i="0" dirty="0" err="1">
                <a:solidFill>
                  <a:srgbClr val="4284AE"/>
                </a:solidFill>
                <a:effectLst/>
                <a:latin typeface="inherit"/>
              </a:rPr>
              <a:t>Any</a:t>
            </a:r>
            <a:r>
              <a:rPr lang="en-IN" sz="1200" b="1" i="0" dirty="0">
                <a:solidFill>
                  <a:srgbClr val="6B7C8B"/>
                </a:solidFill>
                <a:effectLst/>
                <a:latin typeface="inherit"/>
              </a:rPr>
              <a:t>())</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	{</a:t>
            </a:r>
            <a:endParaRPr lang="en-IN" sz="1200" b="0" i="0" dirty="0">
              <a:solidFill>
                <a:srgbClr val="596174"/>
              </a:solidFill>
              <a:effectLst/>
              <a:latin typeface="Inconsolata"/>
            </a:endParaRPr>
          </a:p>
          <a:p>
            <a:pPr fontAlgn="base"/>
            <a:r>
              <a:rPr lang="en-IN" sz="1200" b="1" i="0" dirty="0">
                <a:solidFill>
                  <a:srgbClr val="D171DD"/>
                </a:solidFill>
                <a:effectLst/>
                <a:latin typeface="inherit"/>
              </a:rPr>
              <a:t>	return</a:t>
            </a:r>
            <a:r>
              <a:rPr lang="en-IN" sz="1200" b="0" i="0" dirty="0">
                <a:solidFill>
                  <a:srgbClr val="CFD5E0"/>
                </a:solidFill>
                <a:effectLst/>
                <a:latin typeface="inherit"/>
              </a:rPr>
              <a:t> </a:t>
            </a:r>
            <a:r>
              <a:rPr lang="en-IN" sz="1200" b="0" i="0" dirty="0">
                <a:solidFill>
                  <a:srgbClr val="4284AE"/>
                </a:solidFill>
                <a:effectLst/>
                <a:latin typeface="inherit"/>
              </a:rPr>
              <a:t>Ok</a:t>
            </a:r>
            <a:r>
              <a:rPr lang="en-IN" sz="1200" b="1" i="0" dirty="0">
                <a:solidFill>
                  <a:srgbClr val="6B7C8B"/>
                </a:solidFill>
                <a:effectLst/>
                <a:latin typeface="inherit"/>
              </a:rPr>
              <a:t>(</a:t>
            </a:r>
            <a:r>
              <a:rPr lang="en-IN" sz="1200" b="0" i="0" dirty="0" err="1">
                <a:solidFill>
                  <a:srgbClr val="CFD5E0"/>
                </a:solidFill>
                <a:effectLst/>
                <a:latin typeface="inherit"/>
              </a:rPr>
              <a:t>listEmployees</a:t>
            </a:r>
            <a:r>
              <a:rPr lang="en-IN" sz="1200" b="1" i="0" dirty="0">
                <a:solidFill>
                  <a:srgbClr val="6B7C8B"/>
                </a:solidFill>
                <a:effectLst/>
                <a:latin typeface="inherit"/>
              </a:rPr>
              <a:t>)</a:t>
            </a:r>
            <a:r>
              <a:rPr lang="en-IN" sz="1200" b="0" i="0" dirty="0">
                <a:solidFill>
                  <a:srgbClr val="CFD5E0"/>
                </a:solidFill>
                <a:effectLst/>
                <a:latin typeface="inherit"/>
              </a:rPr>
              <a:t>;</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	}</a:t>
            </a:r>
            <a:endParaRPr lang="en-IN" sz="1200" b="0" i="0" dirty="0">
              <a:solidFill>
                <a:srgbClr val="596174"/>
              </a:solidFill>
              <a:effectLst/>
              <a:latin typeface="Inconsolata"/>
            </a:endParaRPr>
          </a:p>
          <a:p>
            <a:pPr fontAlgn="base"/>
            <a:r>
              <a:rPr lang="en-IN" sz="1200" b="1" i="0" dirty="0">
                <a:solidFill>
                  <a:srgbClr val="D171DD"/>
                </a:solidFill>
                <a:effectLst/>
                <a:latin typeface="inherit"/>
              </a:rPr>
              <a:t>else</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	{</a:t>
            </a:r>
            <a:endParaRPr lang="en-IN" sz="1200" b="0" i="0" dirty="0">
              <a:solidFill>
                <a:srgbClr val="596174"/>
              </a:solidFill>
              <a:effectLst/>
              <a:latin typeface="Inconsolata"/>
            </a:endParaRPr>
          </a:p>
          <a:p>
            <a:pPr fontAlgn="base"/>
            <a:r>
              <a:rPr lang="en-IN" sz="1200" b="1" i="0" dirty="0">
                <a:solidFill>
                  <a:srgbClr val="D171DD"/>
                </a:solidFill>
                <a:effectLst/>
                <a:latin typeface="inherit"/>
              </a:rPr>
              <a:t>	return</a:t>
            </a:r>
            <a:r>
              <a:rPr lang="en-IN" sz="1200" b="0" i="0" dirty="0">
                <a:solidFill>
                  <a:srgbClr val="CFD5E0"/>
                </a:solidFill>
                <a:effectLst/>
                <a:latin typeface="inherit"/>
              </a:rPr>
              <a:t> </a:t>
            </a:r>
            <a:r>
              <a:rPr lang="en-IN" sz="1200" b="0" i="0" dirty="0" err="1">
                <a:solidFill>
                  <a:srgbClr val="4284AE"/>
                </a:solidFill>
                <a:effectLst/>
                <a:latin typeface="inherit"/>
              </a:rPr>
              <a:t>NotFound</a:t>
            </a:r>
            <a:r>
              <a:rPr lang="en-IN" sz="1200" b="1" i="0" dirty="0">
                <a:solidFill>
                  <a:srgbClr val="6B7C8B"/>
                </a:solidFill>
                <a:effectLst/>
                <a:latin typeface="inherit"/>
              </a:rPr>
              <a:t>()</a:t>
            </a:r>
            <a:r>
              <a:rPr lang="en-IN" sz="1200" b="0" i="0" dirty="0">
                <a:solidFill>
                  <a:srgbClr val="CFD5E0"/>
                </a:solidFill>
                <a:effectLst/>
                <a:latin typeface="inherit"/>
              </a:rPr>
              <a:t>;</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	}</a:t>
            </a:r>
            <a:endParaRPr lang="en-IN" sz="1200" b="0" i="0" dirty="0">
              <a:solidFill>
                <a:srgbClr val="596174"/>
              </a:solidFill>
              <a:effectLst/>
              <a:latin typeface="Inconsolata"/>
            </a:endParaRPr>
          </a:p>
          <a:p>
            <a:pPr fontAlgn="base"/>
            <a:r>
              <a:rPr lang="en-IN" sz="1200" b="1" i="0" dirty="0">
                <a:solidFill>
                  <a:srgbClr val="6B7C8B"/>
                </a:solidFill>
                <a:effectLst/>
                <a:latin typeface="inherit"/>
              </a:rPr>
              <a:t>}</a:t>
            </a:r>
            <a:endParaRPr lang="en-IN" sz="1200" b="0" i="0" dirty="0">
              <a:solidFill>
                <a:srgbClr val="596174"/>
              </a:solidFill>
              <a:effectLst/>
              <a:latin typeface="Inconsolata"/>
            </a:endParaRPr>
          </a:p>
        </p:txBody>
      </p:sp>
    </p:spTree>
    <p:extLst>
      <p:ext uri="{BB962C8B-B14F-4D97-AF65-F5344CB8AC3E}">
        <p14:creationId xmlns:p14="http://schemas.microsoft.com/office/powerpoint/2010/main" val="4047389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87105"/>
            <a:ext cx="11968480" cy="1936620"/>
          </a:xfrm>
          <a:prstGeom prst="rect">
            <a:avLst/>
          </a:prstGeom>
        </p:spPr>
        <p:txBody>
          <a:bodyPr wrap="square">
            <a:spAutoFit/>
          </a:bodyPr>
          <a:lstStyle/>
          <a:p>
            <a:pPr algn="just" fontAlgn="base">
              <a:lnSpc>
                <a:spcPct val="107000"/>
              </a:lnSpc>
              <a:spcAft>
                <a:spcPts val="0"/>
              </a:spcAft>
            </a:pPr>
            <a:r>
              <a:rPr lang="en-IN" sz="16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 Return Type in ASP.NET Core Web API:</a:t>
            </a:r>
          </a:p>
          <a:p>
            <a:pPr algn="just" fontAlgn="base">
              <a:lnSpc>
                <a:spcPct val="107000"/>
              </a:lnSpc>
              <a:spcAft>
                <a:spcPts val="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 extends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by allowing you to return either a response type that implements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or return a specific type T. So, it is the combination of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and Specific type. It enables us to return a type deriving either from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or a specific type.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Let us understand this with an example. Please modify the Employee Controller class as shown below. The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GetEmployeeDetails</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method takes one parameter, and if the parameter value is 0, it returns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(an </a:t>
            </a:r>
            <a:r>
              <a:rPr lang="en-IN" sz="16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type); otherwise, it returns the employee object (a complex type).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772160" y="2550815"/>
            <a:ext cx="9804400" cy="3266663"/>
          </a:xfrm>
          <a:prstGeom prst="rect">
            <a:avLst/>
          </a:prstGeom>
          <a:solidFill>
            <a:schemeClr val="tx1"/>
          </a:solidFill>
        </p:spPr>
        <p:txBody>
          <a:bodyPr wrap="square">
            <a:spAutoFit/>
          </a:bodyPr>
          <a:lstStyle/>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"{Id}"</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GetEmployeeDetails</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b="1" dirty="0" err="1">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int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if</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Id == </a:t>
            </a:r>
            <a:r>
              <a:rPr lang="en-IN" sz="20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0</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else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p>
          <a:p>
            <a:pPr fontAlgn="base">
              <a:lnSpc>
                <a:spcPts val="1920"/>
              </a:lnSpc>
              <a:spcAft>
                <a:spcPts val="0"/>
              </a:spcAft>
            </a:pPr>
            <a:r>
              <a:rPr lang="en-IN" sz="2000" b="1" dirty="0">
                <a:solidFill>
                  <a:srgbClr val="6B7C8B"/>
                </a:solidFill>
                <a:latin typeface="Calibri" panose="020F0502020204030204" pitchFamily="34" charset="0"/>
                <a:ea typeface="Times New Roman" panose="02020603050405020304" pitchFamily="18" charset="0"/>
                <a:cs typeface="Calibri" panose="020F0502020204030204" pitchFamily="34" charset="0"/>
              </a:rPr>
              <a:t>	</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20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20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p>
          <a:p>
            <a:pPr fontAlgn="base">
              <a:lnSpc>
                <a:spcPts val="1920"/>
              </a:lnSpc>
              <a:spcAft>
                <a:spcPts val="0"/>
              </a:spcAft>
            </a:pPr>
            <a:r>
              <a:rPr lang="en-IN" sz="2000" b="1" dirty="0">
                <a:solidFill>
                  <a:srgbClr val="CFD5E0"/>
                </a:solidFill>
                <a:latin typeface="Calibri" panose="020F0502020204030204" pitchFamily="34" charset="0"/>
                <a:ea typeface="Times New Roman" panose="02020603050405020304" pitchFamily="18" charset="0"/>
                <a:cs typeface="Calibri" panose="020F0502020204030204" pitchFamily="34" charset="0"/>
              </a:rPr>
              <a:t>	</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569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303760" cy="923330"/>
          </a:xfrm>
          <a:prstGeom prst="rect">
            <a:avLst/>
          </a:prstGeom>
        </p:spPr>
        <p:txBody>
          <a:bodyPr wrap="square">
            <a:spAutoFit/>
          </a:bodyPr>
          <a:lstStyle/>
          <a:p>
            <a:pPr algn="just" fontAlgn="base"/>
            <a:r>
              <a:rPr lang="en-US" b="1" i="0" dirty="0">
                <a:solidFill>
                  <a:srgbClr val="000000"/>
                </a:solidFill>
                <a:effectLst/>
                <a:latin typeface="arial" panose="020B0604020202020204" pitchFamily="34" charset="0"/>
              </a:rPr>
              <a:t>Specific Result Types in ASP.NET Core Web API</a:t>
            </a:r>
            <a:endParaRPr lang="en-US" b="1"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You can directly return specific result types such as </a:t>
            </a:r>
            <a:r>
              <a:rPr lang="en-US" b="0" i="0" dirty="0" err="1">
                <a:solidFill>
                  <a:srgbClr val="000000"/>
                </a:solidFill>
                <a:effectLst/>
                <a:latin typeface="arial" panose="020B0604020202020204" pitchFamily="34" charset="0"/>
              </a:rPr>
              <a:t>OkObjectResult</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BadRequestResult</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NotFoundResult</a:t>
            </a:r>
            <a:r>
              <a:rPr lang="en-US" b="0" i="0" dirty="0">
                <a:solidFill>
                  <a:srgbClr val="000000"/>
                </a:solidFill>
                <a:effectLst/>
                <a:latin typeface="arial" panose="020B0604020202020204" pitchFamily="34" charset="0"/>
              </a:rPr>
              <a:t>, etc. This approach is more explicit but less flexible than returning </a:t>
            </a:r>
            <a:r>
              <a:rPr lang="en-US" b="0" i="0" dirty="0" err="1">
                <a:solidFill>
                  <a:srgbClr val="000000"/>
                </a:solidFill>
                <a:effectLst/>
                <a:latin typeface="arial" panose="020B0604020202020204" pitchFamily="34" charset="0"/>
              </a:rPr>
              <a:t>IActionResult</a:t>
            </a:r>
            <a:r>
              <a:rPr lang="en-US" b="0" i="0" dirty="0">
                <a:solidFill>
                  <a:srgbClr val="000000"/>
                </a:solidFill>
                <a:effectLst/>
                <a:latin typeface="arial" panose="020B0604020202020204" pitchFamily="34" charset="0"/>
              </a:rPr>
              <a:t> or </a:t>
            </a:r>
            <a:r>
              <a:rPr lang="en-US" b="0" i="0" dirty="0" err="1">
                <a:solidFill>
                  <a:srgbClr val="000000"/>
                </a:solidFill>
                <a:effectLst/>
                <a:latin typeface="arial" panose="020B0604020202020204" pitchFamily="34" charset="0"/>
              </a:rPr>
              <a:t>ActionResult</a:t>
            </a:r>
            <a:r>
              <a:rPr lang="en-US" b="0" i="0" dirty="0">
                <a:solidFill>
                  <a:srgbClr val="000000"/>
                </a:solidFill>
                <a:effectLst/>
                <a:latin typeface="arial" panose="020B0604020202020204" pitchFamily="34" charset="0"/>
              </a:rPr>
              <a:t>&lt;T&gt;.</a:t>
            </a:r>
            <a:endParaRPr lang="en-US" b="0" i="0" dirty="0">
              <a:solidFill>
                <a:srgbClr val="3A3A3A"/>
              </a:solidFill>
              <a:effectLst/>
              <a:latin typeface="-apple-system"/>
            </a:endParaRPr>
          </a:p>
        </p:txBody>
      </p:sp>
      <p:sp>
        <p:nvSpPr>
          <p:cNvPr id="6" name="Rectangle 5"/>
          <p:cNvSpPr/>
          <p:nvPr/>
        </p:nvSpPr>
        <p:spPr>
          <a:xfrm>
            <a:off x="304800" y="1255204"/>
            <a:ext cx="11084560" cy="2105705"/>
          </a:xfrm>
          <a:prstGeom prst="rect">
            <a:avLst/>
          </a:prstGeom>
          <a:solidFill>
            <a:schemeClr val="tx1"/>
          </a:solidFill>
        </p:spPr>
        <p:txBody>
          <a:bodyPr wrap="square">
            <a:spAutoFit/>
          </a:bodyPr>
          <a:lstStyle/>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"{Id}"</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OkObjectResult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GetEmployeeDetails</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b="1" dirty="0" err="1">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int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dirty="0" err="1">
                <a:solidFill>
                  <a:srgbClr val="D19252"/>
                </a:solidFill>
                <a:effectLst/>
                <a:latin typeface="Calibri" panose="020F0502020204030204" pitchFamily="34" charset="0"/>
                <a:ea typeface="Times New Roman" panose="02020603050405020304" pitchFamily="18" charset="0"/>
                <a:cs typeface="Calibri" panose="020F0502020204030204" pitchFamily="34" charset="0"/>
              </a:rPr>
              <a:t>var</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item = </a:t>
            </a:r>
            <a:r>
              <a:rPr lang="en-IN" sz="20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p>
          <a:p>
            <a:pPr fontAlgn="base">
              <a:lnSpc>
                <a:spcPts val="1920"/>
              </a:lnSpc>
              <a:spcAft>
                <a:spcPts val="0"/>
              </a:spcAft>
            </a:pPr>
            <a:r>
              <a:rPr lang="en-IN" sz="2000" dirty="0">
                <a:solidFill>
                  <a:srgbClr val="CFD5E0"/>
                </a:solidFill>
                <a:latin typeface="Calibri" panose="020F0502020204030204" pitchFamily="34" charset="0"/>
                <a:ea typeface="Times New Roman" panose="02020603050405020304" pitchFamily="18" charset="0"/>
                <a:cs typeface="Calibri" panose="020F0502020204030204" pitchFamily="34" charset="0"/>
              </a:rPr>
              <a:t>	</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Id = Id, Name = </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20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p>
          <a:p>
            <a:pPr fontAlgn="base">
              <a:lnSpc>
                <a:spcPts val="1920"/>
              </a:lnSpc>
              <a:spcAft>
                <a:spcPts val="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return</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Ok</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item</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Directly returns an </a:t>
            </a:r>
            <a:r>
              <a:rPr lang="en-IN" sz="2000" dirty="0" err="1">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OkObjectResult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r>
              <a:rPr lang="en-IN" sz="2000" b="1" dirty="0">
                <a:solidFill>
                  <a:srgbClr val="6B7C8B"/>
                </a:solidFill>
                <a:effectLst/>
                <a:latin typeface="Calibri" panose="020F0502020204030204" pitchFamily="34" charset="0"/>
                <a:ea typeface="Times New Roman" panose="02020603050405020304" pitchFamily="18" charset="0"/>
              </a:rPr>
              <a:t>}</a:t>
            </a:r>
            <a:endParaRPr lang="en-IN" sz="3200" dirty="0"/>
          </a:p>
        </p:txBody>
      </p:sp>
      <p:sp>
        <p:nvSpPr>
          <p:cNvPr id="7" name="Rectangle 6"/>
          <p:cNvSpPr/>
          <p:nvPr/>
        </p:nvSpPr>
        <p:spPr>
          <a:xfrm>
            <a:off x="304800" y="3667006"/>
            <a:ext cx="11724640" cy="738664"/>
          </a:xfrm>
          <a:prstGeom prst="rect">
            <a:avLst/>
          </a:prstGeom>
        </p:spPr>
        <p:txBody>
          <a:bodyPr wrap="square">
            <a:spAutoFit/>
          </a:bodyPr>
          <a:lstStyle/>
          <a:p>
            <a:pPr algn="just" fontAlgn="base"/>
            <a:r>
              <a:rPr lang="en-US" sz="1400" b="1" i="0" dirty="0">
                <a:solidFill>
                  <a:srgbClr val="000000"/>
                </a:solidFill>
                <a:effectLst/>
                <a:latin typeface="arial" panose="020B0604020202020204" pitchFamily="34" charset="0"/>
              </a:rPr>
              <a:t>Void Return Type in ASP.NET Core Web API:</a:t>
            </a:r>
            <a:endParaRPr lang="en-US" sz="1400" b="1" i="0" dirty="0">
              <a:solidFill>
                <a:srgbClr val="3A3A3A"/>
              </a:solidFill>
              <a:effectLst/>
              <a:latin typeface="-apple-system"/>
            </a:endParaRPr>
          </a:p>
          <a:p>
            <a:pPr algn="just" fontAlgn="base"/>
            <a:r>
              <a:rPr lang="en-US" sz="1400" b="0" i="0" dirty="0">
                <a:solidFill>
                  <a:srgbClr val="000000"/>
                </a:solidFill>
                <a:effectLst/>
                <a:latin typeface="arial" panose="020B0604020202020204" pitchFamily="34" charset="0"/>
              </a:rPr>
              <a:t>Returning void from an action results in a 204 No Content response. This is suitable for actions that perform operations but don’t need to return any data.</a:t>
            </a:r>
            <a:endParaRPr lang="en-US" sz="1400" b="0" i="0" dirty="0">
              <a:solidFill>
                <a:srgbClr val="3A3A3A"/>
              </a:solidFill>
              <a:effectLst/>
              <a:latin typeface="-apple-system"/>
            </a:endParaRPr>
          </a:p>
        </p:txBody>
      </p:sp>
      <p:sp>
        <p:nvSpPr>
          <p:cNvPr id="8" name="Rectangle 7"/>
          <p:cNvSpPr/>
          <p:nvPr/>
        </p:nvSpPr>
        <p:spPr>
          <a:xfrm>
            <a:off x="467360" y="4592333"/>
            <a:ext cx="6441440" cy="1797928"/>
          </a:xfrm>
          <a:prstGeom prst="rect">
            <a:avLst/>
          </a:prstGeom>
          <a:solidFill>
            <a:schemeClr val="tx1"/>
          </a:solidFill>
        </p:spPr>
        <p:txBody>
          <a:bodyPr wrap="square">
            <a:spAutoFit/>
          </a:bodyPr>
          <a:lstStyle/>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HttpDelete</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"{Id}"</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void</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DeleteEmployee</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2000" b="1" dirty="0" err="1">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int</a:t>
            </a:r>
            <a:r>
              <a:rPr lang="en-IN" sz="20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a:t>
            </a: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p>
          <a:p>
            <a:pPr fontAlgn="base">
              <a:lnSpc>
                <a:spcPts val="1920"/>
              </a:lnSpc>
              <a:spcAft>
                <a:spcPts val="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2000"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Returns a 204 No Content response</a:t>
            </a:r>
          </a:p>
          <a:p>
            <a:pPr fontAlgn="base">
              <a:lnSpc>
                <a:spcPts val="1920"/>
              </a:lnSpc>
              <a:spcAft>
                <a:spcPts val="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800"/>
              </a:spcAft>
            </a:pPr>
            <a:r>
              <a:rPr lang="en-IN" sz="20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00316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1760" y="0"/>
            <a:ext cx="12080240" cy="923330"/>
          </a:xfrm>
          <a:prstGeom prst="rect">
            <a:avLst/>
          </a:prstGeom>
        </p:spPr>
        <p:txBody>
          <a:bodyPr wrap="square">
            <a:spAutoFit/>
          </a:bodyPr>
          <a:lstStyle/>
          <a:p>
            <a:pPr algn="just" fontAlgn="base"/>
            <a:r>
              <a:rPr lang="en-US" b="1" i="0" dirty="0">
                <a:solidFill>
                  <a:srgbClr val="000000"/>
                </a:solidFill>
                <a:effectLst/>
                <a:latin typeface="arial" panose="020B0604020202020204" pitchFamily="34" charset="0"/>
              </a:rPr>
              <a:t>Task&lt;</a:t>
            </a:r>
            <a:r>
              <a:rPr lang="en-US" b="1" i="0" dirty="0" err="1">
                <a:solidFill>
                  <a:srgbClr val="000000"/>
                </a:solidFill>
                <a:effectLst/>
                <a:latin typeface="arial" panose="020B0604020202020204" pitchFamily="34" charset="0"/>
              </a:rPr>
              <a:t>IActionResult</a:t>
            </a:r>
            <a:r>
              <a:rPr lang="en-US" b="1" i="0" dirty="0">
                <a:solidFill>
                  <a:srgbClr val="000000"/>
                </a:solidFill>
                <a:effectLst/>
                <a:latin typeface="arial" panose="020B0604020202020204" pitchFamily="34" charset="0"/>
              </a:rPr>
              <a:t>&gt; or Task&lt;</a:t>
            </a:r>
            <a:r>
              <a:rPr lang="en-US" b="1" i="0" dirty="0" err="1">
                <a:solidFill>
                  <a:srgbClr val="000000"/>
                </a:solidFill>
                <a:effectLst/>
                <a:latin typeface="arial" panose="020B0604020202020204" pitchFamily="34" charset="0"/>
              </a:rPr>
              <a:t>ActionResult</a:t>
            </a:r>
            <a:r>
              <a:rPr lang="en-US" b="1" i="0" dirty="0">
                <a:solidFill>
                  <a:srgbClr val="000000"/>
                </a:solidFill>
                <a:effectLst/>
                <a:latin typeface="arial" panose="020B0604020202020204" pitchFamily="34" charset="0"/>
              </a:rPr>
              <a:t>&lt;T&gt;&gt; Return Type in ASP.NET Core:</a:t>
            </a:r>
            <a:endParaRPr lang="en-US" b="1"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For asynchronous operations, you can return Task&lt;</a:t>
            </a:r>
            <a:r>
              <a:rPr lang="en-US" b="0" i="0" dirty="0" err="1">
                <a:solidFill>
                  <a:srgbClr val="000000"/>
                </a:solidFill>
                <a:effectLst/>
                <a:latin typeface="arial" panose="020B0604020202020204" pitchFamily="34" charset="0"/>
              </a:rPr>
              <a:t>IActionResult</a:t>
            </a:r>
            <a:r>
              <a:rPr lang="en-US" b="0" i="0" dirty="0">
                <a:solidFill>
                  <a:srgbClr val="000000"/>
                </a:solidFill>
                <a:effectLst/>
                <a:latin typeface="arial" panose="020B0604020202020204" pitchFamily="34" charset="0"/>
              </a:rPr>
              <a:t>&gt; or Task&lt;</a:t>
            </a:r>
            <a:r>
              <a:rPr lang="en-US" b="0" i="0" dirty="0" err="1">
                <a:solidFill>
                  <a:srgbClr val="000000"/>
                </a:solidFill>
                <a:effectLst/>
                <a:latin typeface="arial" panose="020B0604020202020204" pitchFamily="34" charset="0"/>
              </a:rPr>
              <a:t>ActionResult</a:t>
            </a:r>
            <a:r>
              <a:rPr lang="en-US" b="0" i="0" dirty="0">
                <a:solidFill>
                  <a:srgbClr val="000000"/>
                </a:solidFill>
                <a:effectLst/>
                <a:latin typeface="arial" panose="020B0604020202020204" pitchFamily="34" charset="0"/>
              </a:rPr>
              <a:t>&lt;T&gt;&gt;. This allows your action methods to perform asynchronous operations and return various responses.</a:t>
            </a:r>
            <a:endParaRPr lang="en-US" b="0" i="0" dirty="0">
              <a:solidFill>
                <a:srgbClr val="3A3A3A"/>
              </a:solidFill>
              <a:effectLst/>
              <a:latin typeface="-apple-system"/>
            </a:endParaRPr>
          </a:p>
        </p:txBody>
      </p:sp>
      <p:sp>
        <p:nvSpPr>
          <p:cNvPr id="5" name="Rectangle 4"/>
          <p:cNvSpPr/>
          <p:nvPr/>
        </p:nvSpPr>
        <p:spPr>
          <a:xfrm>
            <a:off x="111760" y="1700049"/>
            <a:ext cx="11836400" cy="4478149"/>
          </a:xfrm>
          <a:prstGeom prst="rect">
            <a:avLst/>
          </a:prstGeom>
          <a:solidFill>
            <a:schemeClr val="tx1"/>
          </a:solidFill>
        </p:spPr>
        <p:txBody>
          <a:bodyPr wrap="square">
            <a:spAutoFit/>
          </a:bodyPr>
          <a:lstStyle/>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"All"</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ProducesResponseType</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StatusCodes.</a:t>
            </a: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Status200OK</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Type = </a:t>
            </a:r>
            <a:r>
              <a:rPr lang="en-IN" sz="16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typeof</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ProducesResponseType</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StatusCodes.</a:t>
            </a: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Status404NotFound</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err="1">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async</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Task</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60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IActionResult</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dirty="0" err="1">
                <a:solidFill>
                  <a:srgbClr val="D19252"/>
                </a:solidFill>
                <a:effectLst/>
                <a:latin typeface="Calibri" panose="020F0502020204030204" pitchFamily="34" charset="0"/>
                <a:ea typeface="Times New Roman" panose="02020603050405020304" pitchFamily="18" charset="0"/>
                <a:cs typeface="Calibri" panose="020F0502020204030204" pitchFamily="34" charset="0"/>
              </a:rPr>
              <a:t>var</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 </a:t>
            </a: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6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6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6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6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sz="16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sz="1600"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sz="1600"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if</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6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Any</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Ok</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D171DD"/>
                </a:solidFill>
                <a:latin typeface="Calibri" panose="020F0502020204030204" pitchFamily="34" charset="0"/>
                <a:ea typeface="Times New Roman" panose="02020603050405020304" pitchFamily="18" charset="0"/>
                <a:cs typeface="Calibri" panose="020F0502020204030204" pitchFamily="34" charset="0"/>
              </a:rPr>
              <a:t>e</a:t>
            </a:r>
            <a:r>
              <a:rPr lang="en-IN" sz="16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lse </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sz="1600"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sz="1600"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sz="1600"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14061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46965" y="85052"/>
            <a:ext cx="5221109" cy="388696"/>
          </a:xfrm>
          <a:prstGeom prst="rect">
            <a:avLst/>
          </a:prstGeom>
        </p:spPr>
        <p:txBody>
          <a:bodyPr wrap="none">
            <a:spAutoFit/>
          </a:bodyPr>
          <a:lstStyle/>
          <a:p>
            <a:pPr algn="just" fontAlgn="base">
              <a:lnSpc>
                <a:spcPct val="107000"/>
              </a:lnSpc>
              <a:spcAft>
                <a:spcPts val="0"/>
              </a:spcAft>
            </a:pP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Task&lt;</a:t>
            </a:r>
            <a:r>
              <a:rPr lang="en-IN"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&lt;T&gt;&gt; Return Type in ASP.NET Core: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284480" y="1219200"/>
            <a:ext cx="10546080" cy="4478149"/>
          </a:xfrm>
          <a:prstGeom prst="rect">
            <a:avLst/>
          </a:prstGeom>
          <a:solidFill>
            <a:schemeClr val="tx1"/>
          </a:solidFill>
        </p:spPr>
        <p:txBody>
          <a:bodyPr wrap="square">
            <a:spAutoFit/>
          </a:bodyPr>
          <a:lstStyle/>
          <a:p>
            <a:pPr fontAlgn="base">
              <a:lnSpc>
                <a:spcPts val="1920"/>
              </a:lnSpc>
              <a:spcAft>
                <a:spcPts val="0"/>
              </a:spcAft>
            </a:pP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HttpGet</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"All"</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public</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err="1">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async</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Task</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ActionResult</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&gt;&gt;&gt;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GetAllEmployee</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//Use </a:t>
            </a:r>
            <a:r>
              <a:rPr lang="en-IN" dirty="0" err="1">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async</a:t>
            </a:r>
            <a:r>
              <a:rPr lang="en-IN"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operation to get the data from the database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err="1">
                <a:solidFill>
                  <a:srgbClr val="D19252"/>
                </a:solidFill>
                <a:effectLst/>
                <a:latin typeface="Calibri" panose="020F0502020204030204" pitchFamily="34" charset="0"/>
                <a:ea typeface="Times New Roman" panose="02020603050405020304" pitchFamily="18" charset="0"/>
                <a:cs typeface="Calibri" panose="020F0502020204030204" pitchFamily="34" charset="0"/>
              </a:rPr>
              <a:t>var</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 </a:t>
            </a:r>
            <a:r>
              <a:rPr lang="en-IN"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List</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&lt;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&gt;()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1001</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Anurag</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"Mumbai"</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1002</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Pranaya</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28</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"Delhi"</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"Male"</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"IT"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new</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Employee</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Id = </a:t>
            </a:r>
            <a:r>
              <a:rPr lang="en-IN"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1003</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Name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Priyanka</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Age = </a:t>
            </a:r>
            <a:r>
              <a:rPr lang="en-IN" dirty="0">
                <a:solidFill>
                  <a:srgbClr val="D19A66"/>
                </a:solidFill>
                <a:effectLst/>
                <a:latin typeface="Calibri" panose="020F0502020204030204" pitchFamily="34" charset="0"/>
                <a:ea typeface="Times New Roman" panose="02020603050405020304" pitchFamily="18" charset="0"/>
                <a:cs typeface="Calibri" panose="020F0502020204030204" pitchFamily="34" charset="0"/>
              </a:rPr>
              <a:t>27</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City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"BBSR"</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Gender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"Female"</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Department = </a:t>
            </a:r>
            <a:r>
              <a:rPr lang="en-IN" dirty="0">
                <a:solidFill>
                  <a:srgbClr val="7CC379"/>
                </a:solidFill>
                <a:effectLst/>
                <a:latin typeface="Calibri" panose="020F0502020204030204" pitchFamily="34" charset="0"/>
                <a:ea typeface="Times New Roman" panose="02020603050405020304" pitchFamily="18" charset="0"/>
                <a:cs typeface="Calibri" panose="020F0502020204030204" pitchFamily="34" charset="0"/>
              </a:rPr>
              <a:t>"HR"</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if</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Any</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Ok</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err="1">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listEmployees</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D171DD"/>
                </a:solidFill>
                <a:latin typeface="Calibri" panose="020F0502020204030204" pitchFamily="34" charset="0"/>
                <a:ea typeface="Times New Roman" panose="02020603050405020304" pitchFamily="18" charset="0"/>
                <a:cs typeface="Calibri" panose="020F0502020204030204" pitchFamily="34" charset="0"/>
              </a:rPr>
              <a:t>e</a:t>
            </a:r>
            <a:r>
              <a:rPr lang="en-IN"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lse  </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D171DD"/>
                </a:solidFill>
                <a:effectLst/>
                <a:latin typeface="Calibri" panose="020F0502020204030204" pitchFamily="34" charset="0"/>
                <a:ea typeface="Times New Roman" panose="02020603050405020304" pitchFamily="18" charset="0"/>
                <a:cs typeface="Calibri" panose="020F0502020204030204" pitchFamily="34" charset="0"/>
              </a:rPr>
              <a:t>	return</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 </a:t>
            </a:r>
            <a:r>
              <a:rPr lang="en-IN" dirty="0" err="1">
                <a:solidFill>
                  <a:srgbClr val="4284AE"/>
                </a:solidFill>
                <a:effectLst/>
                <a:latin typeface="Calibri" panose="020F0502020204030204" pitchFamily="34" charset="0"/>
                <a:ea typeface="Times New Roman" panose="02020603050405020304" pitchFamily="18" charset="0"/>
                <a:cs typeface="Calibri" panose="020F0502020204030204" pitchFamily="34" charset="0"/>
              </a:rPr>
              <a:t>NotFound</a:t>
            </a: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r>
              <a:rPr lang="en-IN" dirty="0">
                <a:solidFill>
                  <a:srgbClr val="CFD5E0"/>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920"/>
              </a:lnSpc>
              <a:spcAft>
                <a:spcPts val="0"/>
              </a:spcAft>
            </a:pPr>
            <a:r>
              <a:rPr lang="en-IN" b="1" dirty="0">
                <a:solidFill>
                  <a:srgbClr val="6B7C8B"/>
                </a:solidFill>
                <a:effectLst/>
                <a:latin typeface="Calibri" panose="020F0502020204030204" pitchFamily="34" charset="0"/>
                <a:ea typeface="Times New Roman" panose="02020603050405020304" pitchFamily="18" charset="0"/>
                <a:cs typeface="Calibri" panose="020F0502020204030204" pitchFamily="34"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32735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2389</Words>
  <Application>Microsoft Office PowerPoint</Application>
  <PresentationFormat>Widescreen</PresentationFormat>
  <Paragraphs>186</Paragraphs>
  <Slides>11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-apple-system</vt:lpstr>
      <vt:lpstr>arial</vt:lpstr>
      <vt:lpstr>arial</vt:lpstr>
      <vt:lpstr>Calibri</vt:lpstr>
      <vt:lpstr>Calibri Light</vt:lpstr>
      <vt:lpstr>Inconsolata</vt:lpstr>
      <vt:lpstr>inherit</vt:lpstr>
      <vt:lpstr>Symbol</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sriram mantri vidyanidhi infotech academy</cp:lastModifiedBy>
  <cp:revision>25</cp:revision>
  <dcterms:created xsi:type="dcterms:W3CDTF">2024-03-22T09:03:42Z</dcterms:created>
  <dcterms:modified xsi:type="dcterms:W3CDTF">2025-11-19T03:54:01Z</dcterms:modified>
</cp:coreProperties>
</file>