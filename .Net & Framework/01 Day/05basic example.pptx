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9" r:id="rId4"/>
    <p:sldId id="260" r:id="rId5"/>
    <p:sldId id="261" r:id="rId6"/>
    <p:sldId id="257" r:id="rId7"/>
    <p:sldId id="265" r:id="rId8"/>
    <p:sldId id="258" r:id="rId9"/>
    <p:sldId id="263" r:id="rId10"/>
    <p:sldId id="26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598" autoAdjust="0"/>
    <p:restoredTop sz="94660"/>
  </p:normalViewPr>
  <p:slideViewPr>
    <p:cSldViewPr snapToGrid="0">
      <p:cViewPr varScale="1">
        <p:scale>
          <a:sx n="78" d="100"/>
          <a:sy n="78" d="100"/>
        </p:scale>
        <p:origin x="1349" y="6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modSld">
      <pc:chgData name="Atharva Mhargude" userId="dea19e40f6ca4f9b" providerId="LiveId" clId="{D1F2B911-D123-4599-914A-9DE26B55CC2E}" dt="2025-10-12T09:22:46.220" v="1" actId="1037"/>
      <pc:docMkLst>
        <pc:docMk/>
      </pc:docMkLst>
      <pc:sldChg chg="modSp mod">
        <pc:chgData name="Atharva Mhargude" userId="dea19e40f6ca4f9b" providerId="LiveId" clId="{D1F2B911-D123-4599-914A-9DE26B55CC2E}" dt="2025-10-12T09:22:46.220" v="1" actId="1037"/>
        <pc:sldMkLst>
          <pc:docMk/>
          <pc:sldMk cId="1110542985" sldId="261"/>
        </pc:sldMkLst>
        <pc:spChg chg="mod">
          <ac:chgData name="Atharva Mhargude" userId="dea19e40f6ca4f9b" providerId="LiveId" clId="{D1F2B911-D123-4599-914A-9DE26B55CC2E}" dt="2025-10-12T09:22:46.220" v="1" actId="1037"/>
          <ac:spMkLst>
            <pc:docMk/>
            <pc:sldMk cId="1110542985" sldId="261"/>
            <ac:spMk id="2" creationId="{CC7F5334-7D86-4434-A4FE-FD740B812C2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B6A3-87ED-4951-BE95-DB7F161CF1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AD71F2-4580-4183-A1C2-BF73BF296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076758-8F32-4F1F-A9FF-43A564E65B49}"/>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B0A43964-BEE9-4CEB-8E30-B60C0DE2DF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FC61B-E6A0-4F2C-975A-9015A8664051}"/>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72221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607B-AB9A-4610-A7FA-C10B0103F7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A977EC-006D-413F-A460-A6BAF6A464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EE2AA5-A79C-42CA-97AF-0CBDC69D9CFF}"/>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E3FF4A52-6D3E-4343-BCC5-D19DDCBD1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78078F-B97E-4D99-BDD1-C74FABEA8D8B}"/>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317731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5B82-7506-4C8D-9A1B-F9C760D4E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842B74-74F9-49DC-874F-6195D72D32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19A326-FC71-4280-8FA2-6F7CF758C031}"/>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25031838-5999-4201-942F-5324EDABB5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8725C0-81A5-4ADB-A891-C1845DA30509}"/>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3265904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7EF4-C951-4A54-A2BE-D962B24CC5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1A416A-1412-493D-B021-90C5BA58CC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FC056C-F2FD-4270-A106-AF41E5CD85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99D076-7894-4CE1-84BA-A4E93992174F}"/>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6" name="Footer Placeholder 5">
            <a:extLst>
              <a:ext uri="{FF2B5EF4-FFF2-40B4-BE49-F238E27FC236}">
                <a16:creationId xmlns:a16="http://schemas.microsoft.com/office/drawing/2014/main" id="{5D67442A-1B77-43E6-95B1-8660270AB5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21C17B-5E6E-4BD1-AFC2-E494377AD29F}"/>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203221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CC19-E14D-414F-8CAD-317F46218D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05C7C2-68D0-449C-AEF4-8A8940F4FA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743706-92D1-4D49-8B2F-C6408C5F7F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E3C6B0-3FFB-4232-AFE7-9FC0A716F8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2D6B2F-5C5F-4C14-93DB-37682CE53B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F3AFC4-0F27-4DBF-8EEC-AFCF877C7C7C}"/>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8" name="Footer Placeholder 7">
            <a:extLst>
              <a:ext uri="{FF2B5EF4-FFF2-40B4-BE49-F238E27FC236}">
                <a16:creationId xmlns:a16="http://schemas.microsoft.com/office/drawing/2014/main" id="{693E36DD-A62B-4F3E-9A85-8350B586C1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AE2EF3-2D7D-4DC3-A6B2-0C941A84B16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386371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36C4-DB98-41EB-B29F-A8249EF23C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9948E7-C007-4B68-9B1C-8D0F2C20CB6F}"/>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4" name="Footer Placeholder 3">
            <a:extLst>
              <a:ext uri="{FF2B5EF4-FFF2-40B4-BE49-F238E27FC236}">
                <a16:creationId xmlns:a16="http://schemas.microsoft.com/office/drawing/2014/main" id="{D97FFF84-A791-4B4B-8C3B-FDF21E8BA6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6576A8-5B06-43E5-B5AB-A6CC47F85EA0}"/>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78053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817742-34EE-453B-AA07-F32B1912A554}"/>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3" name="Footer Placeholder 2">
            <a:extLst>
              <a:ext uri="{FF2B5EF4-FFF2-40B4-BE49-F238E27FC236}">
                <a16:creationId xmlns:a16="http://schemas.microsoft.com/office/drawing/2014/main" id="{0234F4DE-4CD4-4D32-A558-D7D4F7F887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BEE1E1-7059-4601-83F5-8809E37A7CE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117749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1384E-4FDD-4846-8635-3A5DF062D2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E37608-7203-4F9C-9075-44A3A4D5F9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FA8F4-7885-4394-9AE8-7F7FCBEF9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7606F-E9E5-4800-A5B7-2D9012F1CD81}"/>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6" name="Footer Placeholder 5">
            <a:extLst>
              <a:ext uri="{FF2B5EF4-FFF2-40B4-BE49-F238E27FC236}">
                <a16:creationId xmlns:a16="http://schemas.microsoft.com/office/drawing/2014/main" id="{D935E946-FBFD-4136-B4A3-4EAF168472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34DF3-E767-4F76-9821-C93F1BC286C2}"/>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58695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0675-8CA5-4D29-82AA-A005CF3B2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C984E2-F9D4-438F-AFEC-A6396AA84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64A6D9-EE6F-42CA-8120-164F026FC8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75061-22AD-4FEE-8317-6B2BDBA7ED25}"/>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6" name="Footer Placeholder 5">
            <a:extLst>
              <a:ext uri="{FF2B5EF4-FFF2-40B4-BE49-F238E27FC236}">
                <a16:creationId xmlns:a16="http://schemas.microsoft.com/office/drawing/2014/main" id="{3E4883CA-BDFC-4031-B004-BCEFD2B857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7D0AA2-A5A1-429A-8339-B1E6483066D3}"/>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4252637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5708-4452-4CD2-B2AD-5C5750659C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81BD36-5B7C-4480-B953-4EA4BC84E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AF68BC-A1FD-40ED-87AE-962093BE614A}"/>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EBD705D4-B6D0-42A2-B1C2-7B8B3151D1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943A38-8DAA-4CBE-B5D7-CADC321ECD76}"/>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60088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8BA251-17BD-4836-8BB9-4CF0FEB66F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BE97FE-F715-41E9-BDF5-234FE0D8AA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6FDB8-8044-40D5-8780-0D9B6A8728D9}"/>
              </a:ext>
            </a:extLst>
          </p:cNvPr>
          <p:cNvSpPr>
            <a:spLocks noGrp="1"/>
          </p:cNvSpPr>
          <p:nvPr>
            <p:ph type="dt" sz="half" idx="10"/>
          </p:nvPr>
        </p:nvSpPr>
        <p:spPr/>
        <p:txBody>
          <a:body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0437F28C-8ED1-42A5-B92C-01DEA445A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A0F9DB-B83B-441A-9E9B-169DE0F24666}"/>
              </a:ext>
            </a:extLst>
          </p:cNvPr>
          <p:cNvSpPr>
            <a:spLocks noGrp="1"/>
          </p:cNvSpPr>
          <p:nvPr>
            <p:ph type="sldNum" sz="quarter" idx="12"/>
          </p:nvPr>
        </p:nvSpPr>
        <p:spPr/>
        <p:txBody>
          <a:bodyPr/>
          <a:lstStyle/>
          <a:p>
            <a:fld id="{0BA85627-75E7-46D6-9D0F-74BA32115B42}" type="slidenum">
              <a:rPr lang="en-IN" smtClean="0"/>
              <a:t>‹#›</a:t>
            </a:fld>
            <a:endParaRPr lang="en-IN"/>
          </a:p>
        </p:txBody>
      </p:sp>
    </p:spTree>
    <p:extLst>
      <p:ext uri="{BB962C8B-B14F-4D97-AF65-F5344CB8AC3E}">
        <p14:creationId xmlns:p14="http://schemas.microsoft.com/office/powerpoint/2010/main" val="265740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6613E9-FF50-49C9-863E-CBDDD172F4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0145D4-7B75-443F-A1CE-ABCE82DA2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F9352E-DB96-4F43-B829-0A25CBD4B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2F30C4-4BB1-47E4-A447-DCD003AA63C4}" type="datetimeFigureOut">
              <a:rPr lang="en-IN" smtClean="0"/>
              <a:t>12-10-2025</a:t>
            </a:fld>
            <a:endParaRPr lang="en-IN"/>
          </a:p>
        </p:txBody>
      </p:sp>
      <p:sp>
        <p:nvSpPr>
          <p:cNvPr id="5" name="Footer Placeholder 4">
            <a:extLst>
              <a:ext uri="{FF2B5EF4-FFF2-40B4-BE49-F238E27FC236}">
                <a16:creationId xmlns:a16="http://schemas.microsoft.com/office/drawing/2014/main" id="{92727535-8EC0-49A5-A5F7-7D0F8939BE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D86E12C-D251-4AD9-92BC-36C55222C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85627-75E7-46D6-9D0F-74BA32115B42}" type="slidenum">
              <a:rPr lang="en-IN" smtClean="0"/>
              <a:t>‹#›</a:t>
            </a:fld>
            <a:endParaRPr lang="en-IN"/>
          </a:p>
        </p:txBody>
      </p:sp>
      <p:sp>
        <p:nvSpPr>
          <p:cNvPr id="7" name="Rectangle 6">
            <a:extLst>
              <a:ext uri="{FF2B5EF4-FFF2-40B4-BE49-F238E27FC236}">
                <a16:creationId xmlns:a16="http://schemas.microsoft.com/office/drawing/2014/main" id="{877C570F-9E57-4117-ADC2-587B1CB76B7C}"/>
              </a:ext>
            </a:extLst>
          </p:cNvPr>
          <p:cNvSpPr/>
          <p:nvPr userDrawn="1"/>
        </p:nvSpPr>
        <p:spPr>
          <a:xfrm>
            <a:off x="1671271" y="6538912"/>
            <a:ext cx="851535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pic>
        <p:nvPicPr>
          <p:cNvPr id="9" name="Picture 8">
            <a:extLst>
              <a:ext uri="{FF2B5EF4-FFF2-40B4-BE49-F238E27FC236}">
                <a16:creationId xmlns:a16="http://schemas.microsoft.com/office/drawing/2014/main" id="{7FB13611-FBF2-4C9D-9370-4E3754D5187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152400"/>
            <a:ext cx="1282699" cy="857534"/>
          </a:xfrm>
          <a:prstGeom prst="rect">
            <a:avLst/>
          </a:prstGeom>
        </p:spPr>
      </p:pic>
    </p:spTree>
    <p:extLst>
      <p:ext uri="{BB962C8B-B14F-4D97-AF65-F5344CB8AC3E}">
        <p14:creationId xmlns:p14="http://schemas.microsoft.com/office/powerpoint/2010/main" val="481134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C895E78-65AF-4332-89E2-82A8B8F2F290}"/>
              </a:ext>
            </a:extLst>
          </p:cNvPr>
          <p:cNvSpPr txBox="1">
            <a:spLocks/>
          </p:cNvSpPr>
          <p:nvPr/>
        </p:nvSpPr>
        <p:spPr>
          <a:xfrm>
            <a:off x="228600" y="152400"/>
            <a:ext cx="8458200" cy="670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a:hlinkClick r:id="rId2"/>
              </a:rPr>
              <a:t>http://www.vidyanidhi.com/</a:t>
            </a:r>
            <a:endParaRPr lang="en-IN"/>
          </a:p>
          <a:p>
            <a:pPr marL="0" indent="0" algn="ctr">
              <a:buFont typeface="Arial" panose="020B0604020202020204" pitchFamily="34" charset="0"/>
              <a:buNone/>
            </a:pPr>
            <a:r>
              <a:rPr lang="en-IN"/>
              <a:t>ketkiacharya.net@gmail.com</a:t>
            </a:r>
            <a:endParaRPr lang="en-IN" dirty="0"/>
          </a:p>
        </p:txBody>
      </p:sp>
      <p:sp>
        <p:nvSpPr>
          <p:cNvPr id="5" name="TextBox 4">
            <a:extLst>
              <a:ext uri="{FF2B5EF4-FFF2-40B4-BE49-F238E27FC236}">
                <a16:creationId xmlns:a16="http://schemas.microsoft.com/office/drawing/2014/main" id="{DBA1A055-FD91-4E8F-96EC-14791774BECF}"/>
              </a:ext>
            </a:extLst>
          </p:cNvPr>
          <p:cNvSpPr txBox="1"/>
          <p:nvPr/>
        </p:nvSpPr>
        <p:spPr>
          <a:xfrm>
            <a:off x="533400" y="4038600"/>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1947874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56F0-4388-43AE-945F-ADD7A74A3991}"/>
              </a:ext>
            </a:extLst>
          </p:cNvPr>
          <p:cNvSpPr>
            <a:spLocks noGrp="1"/>
          </p:cNvSpPr>
          <p:nvPr>
            <p:ph type="ctrTitle"/>
          </p:nvPr>
        </p:nvSpPr>
        <p:spPr/>
        <p:txBody>
          <a:bodyPr/>
          <a:lstStyle/>
          <a:p>
            <a:r>
              <a:rPr lang="en-IN" dirty="0"/>
              <a:t>Basic example</a:t>
            </a:r>
          </a:p>
        </p:txBody>
      </p:sp>
      <p:sp>
        <p:nvSpPr>
          <p:cNvPr id="3" name="Subtitle 2">
            <a:extLst>
              <a:ext uri="{FF2B5EF4-FFF2-40B4-BE49-F238E27FC236}">
                <a16:creationId xmlns:a16="http://schemas.microsoft.com/office/drawing/2014/main" id="{337FB438-DE5D-4972-A5BA-2D018FAB7D9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4826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E7CEEB-31AF-4EF7-9639-AF0BAC01DDF4}"/>
              </a:ext>
            </a:extLst>
          </p:cNvPr>
          <p:cNvSpPr>
            <a:spLocks noGrp="1"/>
          </p:cNvSpPr>
          <p:nvPr>
            <p:ph idx="1"/>
          </p:nvPr>
        </p:nvSpPr>
        <p:spPr>
          <a:xfrm>
            <a:off x="84056" y="108408"/>
            <a:ext cx="7466814" cy="4859518"/>
          </a:xfrm>
        </p:spPr>
        <p:txBody>
          <a:bodyPr>
            <a:noAutofit/>
          </a:bodyPr>
          <a:lstStyle/>
          <a:p>
            <a:pPr marL="0" indent="0">
              <a:buNone/>
            </a:pPr>
            <a:r>
              <a:rPr lang="en-US" sz="1600" dirty="0"/>
              <a:t>	using System; //it is name space(Logically grouping of class and avoid name	   collision )</a:t>
            </a:r>
          </a:p>
          <a:p>
            <a:pPr marL="0" indent="0">
              <a:buNone/>
            </a:pPr>
            <a:r>
              <a:rPr lang="en-US" sz="1600" dirty="0"/>
              <a:t>namespace Basics</a:t>
            </a:r>
          </a:p>
          <a:p>
            <a:pPr marL="0" indent="0">
              <a:buNone/>
            </a:pPr>
            <a:r>
              <a:rPr lang="en-US" sz="1600" dirty="0"/>
              <a:t>{</a:t>
            </a:r>
          </a:p>
          <a:p>
            <a:pPr marL="0" indent="0">
              <a:buNone/>
            </a:pPr>
            <a:r>
              <a:rPr lang="en-US" sz="1600" dirty="0"/>
              <a:t>   class </a:t>
            </a:r>
            <a:r>
              <a:rPr lang="en-US" sz="1600" dirty="0" err="1"/>
              <a:t>MyFirstCSharpClass</a:t>
            </a:r>
            <a:r>
              <a:rPr lang="en-US" sz="1600" dirty="0"/>
              <a:t> // class having Main is called </a:t>
            </a:r>
            <a:r>
              <a:rPr lang="en-US" sz="1600" dirty="0" err="1"/>
              <a:t>entrypoint</a:t>
            </a:r>
            <a:r>
              <a:rPr lang="en-US" sz="1600" dirty="0"/>
              <a:t> class</a:t>
            </a:r>
          </a:p>
          <a:p>
            <a:pPr marL="0" indent="0">
              <a:buNone/>
            </a:pPr>
            <a:r>
              <a:rPr lang="en-US" sz="1600" dirty="0"/>
              <a:t>   {    static void </a:t>
            </a:r>
            <a:r>
              <a:rPr lang="en-US" sz="1600" dirty="0">
                <a:solidFill>
                  <a:srgbClr val="FF0000"/>
                </a:solidFill>
              </a:rPr>
              <a:t>M</a:t>
            </a:r>
            <a:r>
              <a:rPr lang="en-US" sz="1600" dirty="0"/>
              <a:t>ain() //M of Main is capital</a:t>
            </a:r>
          </a:p>
          <a:p>
            <a:pPr marL="0" indent="0">
              <a:buNone/>
            </a:pPr>
            <a:r>
              <a:rPr lang="en-US" sz="1600" dirty="0"/>
              <a:t>      {</a:t>
            </a:r>
          </a:p>
          <a:p>
            <a:pPr marL="0" indent="0">
              <a:buNone/>
            </a:pPr>
            <a:r>
              <a:rPr lang="en-US" sz="1600" dirty="0"/>
              <a:t>        //Console is static class and WriteLine is static method</a:t>
            </a:r>
          </a:p>
          <a:p>
            <a:pPr marL="0" indent="0">
              <a:buNone/>
            </a:pPr>
            <a:r>
              <a:rPr lang="en-US" sz="1600" dirty="0"/>
              <a:t>         </a:t>
            </a:r>
            <a:r>
              <a:rPr lang="en-US" sz="1600" dirty="0" err="1"/>
              <a:t>Console.WriteLine</a:t>
            </a:r>
            <a:r>
              <a:rPr lang="en-US" sz="1600" dirty="0"/>
              <a:t>(“Hello world ");        </a:t>
            </a:r>
          </a:p>
          <a:p>
            <a:pPr marL="0" indent="0">
              <a:buNone/>
            </a:pPr>
            <a:r>
              <a:rPr lang="en-US" sz="1600" dirty="0"/>
              <a:t>      }</a:t>
            </a:r>
          </a:p>
          <a:p>
            <a:pPr marL="0" indent="0">
              <a:buNone/>
            </a:pPr>
            <a:r>
              <a:rPr lang="en-US" sz="1600" dirty="0"/>
              <a:t>   }</a:t>
            </a:r>
          </a:p>
          <a:p>
            <a:pPr marL="0" indent="0">
              <a:buNone/>
            </a:pPr>
            <a:r>
              <a:rPr lang="en-US" sz="1600" dirty="0"/>
              <a:t>}</a:t>
            </a:r>
          </a:p>
        </p:txBody>
      </p:sp>
      <p:sp>
        <p:nvSpPr>
          <p:cNvPr id="4" name="Rectangle 3">
            <a:extLst>
              <a:ext uri="{FF2B5EF4-FFF2-40B4-BE49-F238E27FC236}">
                <a16:creationId xmlns:a16="http://schemas.microsoft.com/office/drawing/2014/main" id="{E7B1CD20-E0E4-4DFA-A55F-42710082F5C6}"/>
              </a:ext>
            </a:extLst>
          </p:cNvPr>
          <p:cNvSpPr/>
          <p:nvPr/>
        </p:nvSpPr>
        <p:spPr>
          <a:xfrm>
            <a:off x="7813040" y="199849"/>
            <a:ext cx="4092647" cy="3986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signature for Main(); method.</a:t>
            </a:r>
          </a:p>
          <a:p>
            <a:endParaRPr lang="en-US" dirty="0">
              <a:solidFill>
                <a:schemeClr val="tx1"/>
              </a:solidFill>
            </a:endParaRPr>
          </a:p>
          <a:p>
            <a:r>
              <a:rPr lang="en-US" dirty="0">
                <a:solidFill>
                  <a:schemeClr val="tx1"/>
                </a:solidFill>
              </a:rPr>
              <a:t>public static void Main(String [] </a:t>
            </a:r>
            <a:r>
              <a:rPr lang="en-US" dirty="0" err="1">
                <a:solidFill>
                  <a:schemeClr val="tx1"/>
                </a:solidFill>
              </a:rPr>
              <a:t>args</a:t>
            </a:r>
            <a:r>
              <a:rPr lang="en-US" dirty="0">
                <a:solidFill>
                  <a:schemeClr val="tx1"/>
                </a:solidFill>
              </a:rPr>
              <a:t>)</a:t>
            </a:r>
          </a:p>
          <a:p>
            <a:r>
              <a:rPr lang="en-US" dirty="0">
                <a:solidFill>
                  <a:schemeClr val="tx1"/>
                </a:solidFill>
              </a:rPr>
              <a:t>public static void Main()</a:t>
            </a:r>
          </a:p>
          <a:p>
            <a:r>
              <a:rPr lang="en-US" dirty="0">
                <a:solidFill>
                  <a:schemeClr val="tx1"/>
                </a:solidFill>
              </a:rPr>
              <a:t>private static void Main()</a:t>
            </a:r>
          </a:p>
          <a:p>
            <a:r>
              <a:rPr lang="en-US" dirty="0">
                <a:solidFill>
                  <a:schemeClr val="tx1"/>
                </a:solidFill>
              </a:rPr>
              <a:t>static void Main() </a:t>
            </a:r>
          </a:p>
          <a:p>
            <a:endParaRPr lang="en-US" dirty="0">
              <a:solidFill>
                <a:schemeClr val="tx1"/>
              </a:solidFill>
            </a:endParaRPr>
          </a:p>
          <a:p>
            <a:r>
              <a:rPr lang="en-US" dirty="0">
                <a:solidFill>
                  <a:schemeClr val="tx1"/>
                </a:solidFill>
              </a:rPr>
              <a:t>------------------------------------------</a:t>
            </a:r>
          </a:p>
          <a:p>
            <a:r>
              <a:rPr lang="en-US" dirty="0">
                <a:solidFill>
                  <a:schemeClr val="tx1"/>
                </a:solidFill>
              </a:rPr>
              <a:t>public static int Main(String [] </a:t>
            </a:r>
            <a:r>
              <a:rPr lang="en-US" dirty="0" err="1">
                <a:solidFill>
                  <a:schemeClr val="tx1"/>
                </a:solidFill>
              </a:rPr>
              <a:t>args</a:t>
            </a:r>
            <a:r>
              <a:rPr lang="en-US" dirty="0">
                <a:solidFill>
                  <a:schemeClr val="tx1"/>
                </a:solidFill>
              </a:rPr>
              <a:t>)</a:t>
            </a:r>
          </a:p>
          <a:p>
            <a:r>
              <a:rPr lang="en-US" dirty="0">
                <a:solidFill>
                  <a:schemeClr val="tx1"/>
                </a:solidFill>
              </a:rPr>
              <a:t>public static int Main()</a:t>
            </a:r>
          </a:p>
          <a:p>
            <a:r>
              <a:rPr lang="en-US" dirty="0">
                <a:solidFill>
                  <a:schemeClr val="tx1"/>
                </a:solidFill>
              </a:rPr>
              <a:t>private static int Main()</a:t>
            </a:r>
          </a:p>
          <a:p>
            <a:r>
              <a:rPr lang="en-US" dirty="0">
                <a:solidFill>
                  <a:schemeClr val="tx1"/>
                </a:solidFill>
              </a:rPr>
              <a:t>static int Main() </a:t>
            </a:r>
          </a:p>
          <a:p>
            <a:endParaRPr lang="en-US" dirty="0">
              <a:solidFill>
                <a:schemeClr val="tx1"/>
              </a:solidFill>
            </a:endParaRPr>
          </a:p>
          <a:p>
            <a:r>
              <a:rPr lang="en-US" dirty="0">
                <a:solidFill>
                  <a:schemeClr val="tx1"/>
                </a:solidFill>
              </a:rPr>
              <a:t>in above  you have to write return 0;</a:t>
            </a:r>
          </a:p>
          <a:p>
            <a:pPr algn="ctr"/>
            <a:endParaRPr lang="en-IN" dirty="0">
              <a:solidFill>
                <a:schemeClr val="tx1"/>
              </a:solidFill>
            </a:endParaRPr>
          </a:p>
        </p:txBody>
      </p:sp>
      <p:sp>
        <p:nvSpPr>
          <p:cNvPr id="5" name="Rectangle 4">
            <a:extLst>
              <a:ext uri="{FF2B5EF4-FFF2-40B4-BE49-F238E27FC236}">
                <a16:creationId xmlns:a16="http://schemas.microsoft.com/office/drawing/2014/main" id="{85799E69-DA70-4DA2-87E8-381FA84BBB43}"/>
              </a:ext>
            </a:extLst>
          </p:cNvPr>
          <p:cNvSpPr/>
          <p:nvPr/>
        </p:nvSpPr>
        <p:spPr>
          <a:xfrm>
            <a:off x="167148" y="4326195"/>
            <a:ext cx="7138625" cy="24629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In the above example when you compile your code, CLR can call static method of </a:t>
            </a:r>
            <a:r>
              <a:rPr lang="en-US" dirty="0" err="1">
                <a:solidFill>
                  <a:schemeClr val="tx1"/>
                </a:solidFill>
              </a:rPr>
              <a:t>MyFirstCSharpClass</a:t>
            </a:r>
            <a:r>
              <a:rPr lang="en-US" dirty="0">
                <a:solidFill>
                  <a:schemeClr val="tx1"/>
                </a:solidFill>
              </a:rPr>
              <a:t>. Since method is static it can call without creating object of that class. As you  know static data resides in external memory block.</a:t>
            </a:r>
          </a:p>
          <a:p>
            <a:r>
              <a:rPr lang="en-US" b="1" dirty="0">
                <a:solidFill>
                  <a:schemeClr val="tx1"/>
                </a:solidFill>
              </a:rPr>
              <a:t>What is class? </a:t>
            </a:r>
          </a:p>
          <a:p>
            <a:r>
              <a:rPr lang="en-US" dirty="0">
                <a:solidFill>
                  <a:schemeClr val="tx1"/>
                </a:solidFill>
              </a:rPr>
              <a:t>It is user define data type</a:t>
            </a:r>
          </a:p>
          <a:p>
            <a:r>
              <a:rPr lang="en-US" b="1" dirty="0">
                <a:solidFill>
                  <a:schemeClr val="tx1"/>
                </a:solidFill>
              </a:rPr>
              <a:t>What is the </a:t>
            </a:r>
            <a:r>
              <a:rPr lang="en-US" b="1" dirty="0" err="1">
                <a:solidFill>
                  <a:schemeClr val="tx1"/>
                </a:solidFill>
              </a:rPr>
              <a:t>extention</a:t>
            </a:r>
            <a:r>
              <a:rPr lang="en-US" b="1" dirty="0">
                <a:solidFill>
                  <a:schemeClr val="tx1"/>
                </a:solidFill>
              </a:rPr>
              <a:t> of </a:t>
            </a:r>
            <a:r>
              <a:rPr lang="en-US" b="1" dirty="0" err="1">
                <a:solidFill>
                  <a:schemeClr val="tx1"/>
                </a:solidFill>
              </a:rPr>
              <a:t>c#</a:t>
            </a:r>
            <a:r>
              <a:rPr lang="en-US" b="1" dirty="0">
                <a:solidFill>
                  <a:schemeClr val="tx1"/>
                </a:solidFill>
              </a:rPr>
              <a:t> file</a:t>
            </a:r>
          </a:p>
          <a:p>
            <a:r>
              <a:rPr lang="en-US" dirty="0">
                <a:solidFill>
                  <a:schemeClr val="tx1"/>
                </a:solidFill>
              </a:rPr>
              <a:t>.cs</a:t>
            </a:r>
          </a:p>
          <a:p>
            <a:r>
              <a:rPr lang="en-US" b="1" dirty="0">
                <a:solidFill>
                  <a:schemeClr val="tx1"/>
                </a:solidFill>
              </a:rPr>
              <a:t>Command to compile </a:t>
            </a:r>
            <a:r>
              <a:rPr lang="en-US" b="1" dirty="0" err="1">
                <a:solidFill>
                  <a:schemeClr val="tx1"/>
                </a:solidFill>
              </a:rPr>
              <a:t>c#</a:t>
            </a:r>
            <a:r>
              <a:rPr lang="en-US" b="1" dirty="0">
                <a:solidFill>
                  <a:schemeClr val="tx1"/>
                </a:solidFill>
              </a:rPr>
              <a:t> file</a:t>
            </a:r>
          </a:p>
          <a:p>
            <a:r>
              <a:rPr lang="en-US" dirty="0">
                <a:solidFill>
                  <a:schemeClr val="tx1"/>
                </a:solidFill>
              </a:rPr>
              <a:t>csc </a:t>
            </a:r>
            <a:r>
              <a:rPr lang="en-US" dirty="0" err="1">
                <a:solidFill>
                  <a:schemeClr val="tx1"/>
                </a:solidFill>
              </a:rPr>
              <a:t>filename.cs</a:t>
            </a:r>
            <a:r>
              <a:rPr lang="en-US" dirty="0">
                <a:solidFill>
                  <a:schemeClr val="tx1"/>
                </a:solidFill>
              </a:rPr>
              <a:t>  you will get filename.exe file </a:t>
            </a:r>
          </a:p>
          <a:p>
            <a:endParaRPr lang="en-IN" dirty="0">
              <a:solidFill>
                <a:schemeClr val="tx1"/>
              </a:solidFill>
            </a:endParaRPr>
          </a:p>
        </p:txBody>
      </p:sp>
      <p:sp>
        <p:nvSpPr>
          <p:cNvPr id="2" name="TextBox 1">
            <a:extLst>
              <a:ext uri="{FF2B5EF4-FFF2-40B4-BE49-F238E27FC236}">
                <a16:creationId xmlns:a16="http://schemas.microsoft.com/office/drawing/2014/main" id="{03F9D8D9-A7AE-4A0C-8A10-449C61901057}"/>
              </a:ext>
            </a:extLst>
          </p:cNvPr>
          <p:cNvSpPr txBox="1"/>
          <p:nvPr/>
        </p:nvSpPr>
        <p:spPr>
          <a:xfrm>
            <a:off x="9016180" y="4306530"/>
            <a:ext cx="3008671" cy="2585323"/>
          </a:xfrm>
          <a:prstGeom prst="rect">
            <a:avLst/>
          </a:prstGeom>
          <a:noFill/>
        </p:spPr>
        <p:txBody>
          <a:bodyPr wrap="square" rtlCol="0">
            <a:spAutoFit/>
          </a:bodyPr>
          <a:lstStyle/>
          <a:p>
            <a:r>
              <a:rPr lang="en-IN" dirty="0"/>
              <a:t>System{</a:t>
            </a:r>
          </a:p>
          <a:p>
            <a:r>
              <a:rPr lang="en-IN" dirty="0"/>
              <a:t>    -----</a:t>
            </a:r>
          </a:p>
          <a:p>
            <a:r>
              <a:rPr lang="en-IN" dirty="0"/>
              <a:t>------</a:t>
            </a:r>
          </a:p>
          <a:p>
            <a:r>
              <a:rPr lang="en-IN" dirty="0"/>
              <a:t>----</a:t>
            </a:r>
          </a:p>
          <a:p>
            <a:r>
              <a:rPr lang="en-IN" dirty="0"/>
              <a:t>    io{</a:t>
            </a:r>
          </a:p>
          <a:p>
            <a:r>
              <a:rPr lang="en-IN" dirty="0"/>
              <a:t>====</a:t>
            </a:r>
          </a:p>
          <a:p>
            <a:r>
              <a:rPr lang="en-IN" dirty="0"/>
              <a:t>=====</a:t>
            </a:r>
          </a:p>
          <a:p>
            <a:r>
              <a:rPr lang="en-IN" dirty="0"/>
              <a:t>    }</a:t>
            </a:r>
          </a:p>
          <a:p>
            <a:r>
              <a:rPr lang="en-IN" dirty="0"/>
              <a:t>}</a:t>
            </a:r>
          </a:p>
        </p:txBody>
      </p:sp>
    </p:spTree>
    <p:extLst>
      <p:ext uri="{BB962C8B-B14F-4D97-AF65-F5344CB8AC3E}">
        <p14:creationId xmlns:p14="http://schemas.microsoft.com/office/powerpoint/2010/main" val="219504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587B-17DF-4982-8D88-E10F7169354D}"/>
              </a:ext>
            </a:extLst>
          </p:cNvPr>
          <p:cNvSpPr>
            <a:spLocks noGrp="1"/>
          </p:cNvSpPr>
          <p:nvPr>
            <p:ph type="title"/>
          </p:nvPr>
        </p:nvSpPr>
        <p:spPr>
          <a:xfrm>
            <a:off x="1602559" y="195065"/>
            <a:ext cx="10665643" cy="229141"/>
          </a:xfrm>
        </p:spPr>
        <p:txBody>
          <a:bodyPr>
            <a:normAutofit fontScale="90000"/>
          </a:bodyPr>
          <a:lstStyle/>
          <a:p>
            <a:br>
              <a:rPr lang="en-IN" dirty="0"/>
            </a:br>
            <a:r>
              <a:rPr lang="en-IN" dirty="0"/>
              <a:t>When </a:t>
            </a:r>
            <a:r>
              <a:rPr lang="en-US" altLang="en-US" b="1" dirty="0">
                <a:latin typeface="Calibri" panose="020F0502020204030204" pitchFamily="34" charset="0"/>
                <a:ea typeface="Times New Roman" panose="02020603050405020304" pitchFamily="18" charset="0"/>
                <a:cs typeface="Times New Roman" panose="02020603050405020304" pitchFamily="18" charset="0"/>
              </a:rPr>
              <a:t>you compile a C# application</a:t>
            </a:r>
            <a:br>
              <a:rPr kumimoji="0" lang="en-US" altLang="en-US" b="0" i="0" u="none" strike="noStrike" cap="none" normalizeH="0" baseline="0" dirty="0">
                <a:ln>
                  <a:noFill/>
                </a:ln>
                <a:solidFill>
                  <a:schemeClr val="tx1"/>
                </a:solidFill>
                <a:effectLst/>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C23311E-B350-420D-BB1E-2CBB733C0C31}"/>
              </a:ext>
            </a:extLst>
          </p:cNvPr>
          <p:cNvSpPr>
            <a:spLocks noGrp="1"/>
          </p:cNvSpPr>
          <p:nvPr>
            <p:ph idx="1"/>
          </p:nvPr>
        </p:nvSpPr>
        <p:spPr>
          <a:xfrm>
            <a:off x="838200" y="1065229"/>
            <a:ext cx="10515600" cy="5111734"/>
          </a:xfrm>
        </p:spPr>
        <p:txBody>
          <a:bodyPr/>
          <a:lstStyle/>
          <a:p>
            <a:endParaRPr lang="en-IN" sz="1000" dirty="0"/>
          </a:p>
          <a:p>
            <a:endParaRPr lang="en-IN" sz="400" dirty="0"/>
          </a:p>
        </p:txBody>
      </p:sp>
      <p:sp>
        <p:nvSpPr>
          <p:cNvPr id="8" name="Rectangle 8">
            <a:extLst>
              <a:ext uri="{FF2B5EF4-FFF2-40B4-BE49-F238E27FC236}">
                <a16:creationId xmlns:a16="http://schemas.microsoft.com/office/drawing/2014/main" id="{CDED0063-99CA-4D57-97E2-2753D0B723D9}"/>
              </a:ext>
            </a:extLst>
          </p:cNvPr>
          <p:cNvSpPr>
            <a:spLocks noChangeArrowheads="1"/>
          </p:cNvSpPr>
          <p:nvPr/>
        </p:nvSpPr>
        <p:spPr bwMode="auto">
          <a:xfrm>
            <a:off x="184731" y="939793"/>
            <a:ext cx="11805378"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When you compile a C# application or any application written in a CLS-compliant language, the application is compiled into MSIL. This MSIL is then further compiled into native CPU instructions when the application is executed for the first time by the CLR. (Actually, only the called functions are compiled the first time they are invoked   let's look at what's really happening under the hood: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You write source code in C#. </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You then compile it using the C# compiler (csc  </a:t>
            </a: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abc.cs</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altLang="en-US" dirty="0">
                <a:latin typeface="Calibri" panose="020F0502020204030204" pitchFamily="34" charset="0"/>
                <a:ea typeface="Times New Roman" panose="02020603050405020304" pitchFamily="18" charset="0"/>
                <a:cs typeface="Times New Roman" panose="02020603050405020304" pitchFamily="18" charset="0"/>
              </a:rPr>
              <a:t>you will get</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abc.exe file</a:t>
            </a: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C# compiler outputs the MSIL code and a manifest into a read-only part of the EXE that has a standard PE (Win32-portable executable) header.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So far, so good. However, here's the important part: when the compiler creates the output, it also imports a function named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from the .NET runtime. </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en-US" sz="1200" dirty="0">
              <a:latin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When the application is executed, the operating system loads the PE, as well as any dependent dynamic-link libraries (DLLs), such as the one that exports the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function (</a:t>
            </a:r>
            <a:r>
              <a:rPr kumimoji="0" lang="en-US" altLang="en-US" b="0" i="0" u="none" strike="noStrike" cap="none" normalizeH="0" baseline="0" dirty="0">
                <a:ln>
                  <a:noFill/>
                </a:ln>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mscoree.dll</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just as it does with any valid PE. </a:t>
            </a: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The operating system loader then jumps to the entry point inside the PE, which is put there by the C# compiler. Once again, this is exactly how any other PE is executed in Windows.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However, since the operating system obviously can't execute the MSIL code, the entry point is just a small stub that jumps to the _ </a:t>
            </a:r>
            <a:r>
              <a:rPr kumimoji="0" lang="en-US" altLang="en-US" b="0" i="1"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CorExeMain</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function in </a:t>
            </a:r>
            <a:r>
              <a:rPr kumimoji="0" lang="en-US" altLang="en-US"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mscoree.dll. </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en-US" b="1" dirty="0">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9" name="Rectangle 9">
            <a:extLst>
              <a:ext uri="{FF2B5EF4-FFF2-40B4-BE49-F238E27FC236}">
                <a16:creationId xmlns:a16="http://schemas.microsoft.com/office/drawing/2014/main" id="{A1748980-8D0D-44DE-9C54-2D7B7E52C464}"/>
              </a:ext>
            </a:extLst>
          </p:cNvPr>
          <p:cNvSpPr>
            <a:spLocks noChangeArrowheads="1"/>
          </p:cNvSpPr>
          <p:nvPr/>
        </p:nvSpPr>
        <p:spPr bwMode="auto">
          <a:xfrm>
            <a:off x="0" y="1919270"/>
            <a:ext cx="184731"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700"/>
          </a:p>
        </p:txBody>
      </p:sp>
    </p:spTree>
    <p:extLst>
      <p:ext uri="{BB962C8B-B14F-4D97-AF65-F5344CB8AC3E}">
        <p14:creationId xmlns:p14="http://schemas.microsoft.com/office/powerpoint/2010/main" val="95546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5334-7D86-4434-A4FE-FD740B812C2C}"/>
              </a:ext>
            </a:extLst>
          </p:cNvPr>
          <p:cNvSpPr>
            <a:spLocks noGrp="1"/>
          </p:cNvSpPr>
          <p:nvPr>
            <p:ph type="title"/>
          </p:nvPr>
        </p:nvSpPr>
        <p:spPr>
          <a:xfrm>
            <a:off x="2054942" y="327419"/>
            <a:ext cx="9298858" cy="852452"/>
          </a:xfrm>
        </p:spPr>
        <p:txBody>
          <a:bodyPr>
            <a:normAutofit fontScale="90000"/>
          </a:bodyPr>
          <a:lstStyle/>
          <a:p>
            <a:r>
              <a:rPr lang="en-IN" dirty="0" err="1"/>
              <a:t>Os</a:t>
            </a:r>
            <a:r>
              <a:rPr lang="en-IN" dirty="0">
                <a:sym typeface="Wingdings" panose="05000000000000000000" pitchFamily="2" charset="2"/>
              </a:rPr>
              <a:t>_</a:t>
            </a:r>
            <a:r>
              <a:rPr lang="en-IN" dirty="0" err="1">
                <a:sym typeface="Wingdings" panose="05000000000000000000" pitchFamily="2" charset="2"/>
              </a:rPr>
              <a:t>CorExeMainCLRMain</a:t>
            </a:r>
            <a:br>
              <a:rPr lang="en-IN" dirty="0">
                <a:sym typeface="Wingdings" panose="05000000000000000000" pitchFamily="2" charset="2"/>
              </a:rPr>
            </a:br>
            <a:r>
              <a:rPr lang="en-IN" dirty="0" err="1">
                <a:sym typeface="Wingdings" panose="05000000000000000000" pitchFamily="2" charset="2"/>
              </a:rPr>
              <a:t>CLRJITNative</a:t>
            </a:r>
            <a:r>
              <a:rPr lang="en-IN">
                <a:sym typeface="Wingdings" panose="05000000000000000000" pitchFamily="2" charset="2"/>
              </a:rPr>
              <a:t> code</a:t>
            </a:r>
            <a:endParaRPr lang="en-IN" dirty="0"/>
          </a:p>
        </p:txBody>
      </p:sp>
      <p:sp>
        <p:nvSpPr>
          <p:cNvPr id="3" name="Content Placeholder 2">
            <a:extLst>
              <a:ext uri="{FF2B5EF4-FFF2-40B4-BE49-F238E27FC236}">
                <a16:creationId xmlns:a16="http://schemas.microsoft.com/office/drawing/2014/main" id="{079E3411-50C8-4559-B3D0-18D6204FE2B1}"/>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FontTx/>
              <a:buAutoNum type="arabicPeriod"/>
              <a:tabLst>
                <a:tab pos="457200" algn="l"/>
              </a:tabLst>
            </a:pP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The _ </a:t>
            </a:r>
            <a:r>
              <a:rPr lang="en-US" altLang="en-US" sz="1600" i="1" dirty="0" err="1">
                <a:latin typeface="Calibri" panose="020F0502020204030204" pitchFamily="34" charset="0"/>
                <a:ea typeface="Times New Roman" panose="02020603050405020304" pitchFamily="18" charset="0"/>
                <a:cs typeface="Times New Roman" panose="02020603050405020304" pitchFamily="18" charset="0"/>
              </a:rPr>
              <a:t>CorExeMain</a:t>
            </a: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 function starts the execution of the MSIL code that was placed in the PE. </a:t>
            </a:r>
            <a:endParaRPr lang="en-US" altLang="en-US" sz="1600" dirty="0"/>
          </a:p>
          <a:p>
            <a:pPr marL="0" lvl="0" indent="0" eaLnBrk="0" fontAlgn="base" hangingPunct="0">
              <a:lnSpc>
                <a:spcPct val="100000"/>
              </a:lnSpc>
              <a:spcBef>
                <a:spcPct val="0"/>
              </a:spcBef>
              <a:spcAft>
                <a:spcPct val="0"/>
              </a:spcAft>
              <a:buNone/>
              <a:tabLst>
                <a:tab pos="457200" algn="l"/>
              </a:tabLst>
            </a:pPr>
            <a:r>
              <a:rPr lang="en-US" altLang="en-US" sz="1600" b="1" dirty="0">
                <a:solidFill>
                  <a:srgbClr val="2A2A2A"/>
                </a:solidFill>
                <a:latin typeface="Segoe UI" panose="020B0502040204020203" pitchFamily="34" charset="0"/>
                <a:ea typeface="Times New Roman" panose="02020603050405020304" pitchFamily="18" charset="0"/>
                <a:cs typeface="Segoe UI" panose="020B0502040204020203" pitchFamily="34" charset="0"/>
              </a:rPr>
              <a:t>_</a:t>
            </a:r>
            <a:r>
              <a:rPr lang="en-US" altLang="en-US" sz="1600" b="1" dirty="0" err="1">
                <a:solidFill>
                  <a:srgbClr val="2A2A2A"/>
                </a:solidFill>
                <a:latin typeface="Segoe UI" panose="020B0502040204020203" pitchFamily="34" charset="0"/>
                <a:ea typeface="Times New Roman" panose="02020603050405020304" pitchFamily="18" charset="0"/>
                <a:cs typeface="Segoe UI" panose="020B0502040204020203" pitchFamily="34" charset="0"/>
              </a:rPr>
              <a:t>CorExeMain</a:t>
            </a: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 or </a:t>
            </a:r>
            <a:r>
              <a:rPr lang="en-US" altLang="en-US" sz="1600" b="1" dirty="0">
                <a:solidFill>
                  <a:srgbClr val="2A2A2A"/>
                </a:solidFill>
                <a:latin typeface="Segoe UI" panose="020B0502040204020203" pitchFamily="34" charset="0"/>
                <a:ea typeface="Times New Roman" panose="02020603050405020304" pitchFamily="18" charset="0"/>
                <a:cs typeface="Segoe UI" panose="020B0502040204020203" pitchFamily="34" charset="0"/>
              </a:rPr>
              <a:t>_</a:t>
            </a:r>
            <a:r>
              <a:rPr lang="en-US" altLang="en-US" sz="1600" b="1" dirty="0" err="1">
                <a:solidFill>
                  <a:srgbClr val="2A2A2A"/>
                </a:solidFill>
                <a:latin typeface="Segoe UI" panose="020B0502040204020203" pitchFamily="34" charset="0"/>
                <a:ea typeface="Times New Roman" panose="02020603050405020304" pitchFamily="18" charset="0"/>
                <a:cs typeface="Segoe UI" panose="020B0502040204020203" pitchFamily="34" charset="0"/>
              </a:rPr>
              <a:t>CorDllMain</a:t>
            </a: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 performs the following actions:</a:t>
            </a:r>
          </a:p>
          <a:p>
            <a:pPr marL="0" lvl="0" indent="0" eaLnBrk="0" fontAlgn="base" hangingPunct="0">
              <a:lnSpc>
                <a:spcPct val="100000"/>
              </a:lnSpc>
              <a:spcBef>
                <a:spcPct val="0"/>
              </a:spcBef>
              <a:spcAft>
                <a:spcPct val="0"/>
              </a:spcAft>
              <a:buNone/>
              <a:tabLst>
                <a:tab pos="457200" algn="l"/>
              </a:tabLst>
            </a:pP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Initializes the CLR.</a:t>
            </a: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Locates the managed entry point from the assembly's CLR header.</a:t>
            </a: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Char char="•"/>
              <a:tabLst>
                <a:tab pos="457200" algn="l"/>
              </a:tabLst>
            </a:pPr>
            <a:r>
              <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rPr>
              <a:t>Begins execution.</a:t>
            </a:r>
          </a:p>
          <a:p>
            <a:pPr marL="0" lvl="0" indent="0" eaLnBrk="0" fontAlgn="base" hangingPunct="0">
              <a:lnSpc>
                <a:spcPct val="100000"/>
              </a:lnSpc>
              <a:spcBef>
                <a:spcPct val="0"/>
              </a:spcBef>
              <a:spcAft>
                <a:spcPct val="0"/>
              </a:spcAft>
              <a:buFontTx/>
              <a:buChar char="•"/>
              <a:tabLst>
                <a:tab pos="457200" algn="l"/>
              </a:tabLst>
            </a:pPr>
            <a:endParaRPr lang="en-US" altLang="en-US" sz="1600" dirty="0">
              <a:solidFill>
                <a:srgbClr val="2A2A2A"/>
              </a:solidFill>
              <a:latin typeface="Segoe UI" panose="020B0502040204020203" pitchFamily="34" charset="0"/>
              <a:ea typeface="Times New Roman" panose="02020603050405020304" pitchFamily="18" charset="0"/>
              <a:cs typeface="Segoe UI" panose="020B0502040204020203" pitchFamily="34" charset="0"/>
            </a:endParaRPr>
          </a:p>
          <a:p>
            <a:pPr marL="0" lvl="0" indent="0" eaLnBrk="0" fontAlgn="base" hangingPunct="0">
              <a:lnSpc>
                <a:spcPct val="100000"/>
              </a:lnSpc>
              <a:spcBef>
                <a:spcPct val="0"/>
              </a:spcBef>
              <a:spcAft>
                <a:spcPct val="0"/>
              </a:spcAft>
              <a:buFontTx/>
              <a:buChar char="•"/>
              <a:tabLst>
                <a:tab pos="457200" algn="l"/>
              </a:tabLst>
            </a:pPr>
            <a:endParaRPr lang="en-US" altLang="en-US" sz="1600" dirty="0">
              <a:ea typeface="Times New Roman" panose="02020603050405020304" pitchFamily="18" charset="0"/>
            </a:endParaRPr>
          </a:p>
          <a:p>
            <a:pPr marL="0" lvl="0" indent="0" eaLnBrk="0" fontAlgn="base" hangingPunct="0">
              <a:lnSpc>
                <a:spcPct val="100000"/>
              </a:lnSpc>
              <a:spcBef>
                <a:spcPct val="0"/>
              </a:spcBef>
              <a:spcAft>
                <a:spcPct val="0"/>
              </a:spcAft>
              <a:buFontTx/>
              <a:buAutoNum type="arabicPeriod"/>
              <a:tabLst>
                <a:tab pos="457200" algn="l"/>
              </a:tabLst>
            </a:pP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Since MSIL code cannot be executed directly—because it's not in a machine-executable format—the CLR compiles the MSIL by using a just-in-time (JIT) compiler (or </a:t>
            </a:r>
            <a:r>
              <a:rPr lang="en-US" altLang="en-US" sz="1600" dirty="0" err="1">
                <a:latin typeface="Calibri" panose="020F0502020204030204" pitchFamily="34" charset="0"/>
                <a:ea typeface="Times New Roman" panose="02020603050405020304" pitchFamily="18" charset="0"/>
                <a:cs typeface="Times New Roman" panose="02020603050405020304" pitchFamily="18" charset="0"/>
              </a:rPr>
              <a:t>JITter</a:t>
            </a:r>
            <a:r>
              <a:rPr lang="en-US" altLang="en-US" sz="1600" dirty="0">
                <a:latin typeface="Calibri" panose="020F0502020204030204" pitchFamily="34" charset="0"/>
                <a:ea typeface="Times New Roman" panose="02020603050405020304" pitchFamily="18" charset="0"/>
                <a:cs typeface="Times New Roman" panose="02020603050405020304" pitchFamily="18" charset="0"/>
              </a:rPr>
              <a:t>) into native CPU instructions as it processes the MSIL. JIT compiling occurs only as methods in the program are called. The compiled executable code is cached on the machine and is recompiled only if there's some change to the source code. </a:t>
            </a:r>
          </a:p>
          <a:p>
            <a:pPr marL="0" lvl="0" indent="0" eaLnBrk="0" fontAlgn="base" hangingPunct="0">
              <a:lnSpc>
                <a:spcPct val="100000"/>
              </a:lnSpc>
              <a:spcBef>
                <a:spcPct val="0"/>
              </a:spcBef>
              <a:spcAft>
                <a:spcPct val="0"/>
              </a:spcAft>
              <a:buFontTx/>
              <a:buAutoNum type="arabicPeriod"/>
              <a:tabLst>
                <a:tab pos="457200" algn="l"/>
              </a:tabLst>
            </a:pPr>
            <a:endParaRPr lang="en-US" altLang="en-US" sz="1600" dirty="0"/>
          </a:p>
          <a:p>
            <a:endParaRPr lang="en-IN" sz="1600" dirty="0"/>
          </a:p>
        </p:txBody>
      </p:sp>
      <p:pic>
        <p:nvPicPr>
          <p:cNvPr id="4" name="Picture 1">
            <a:extLst>
              <a:ext uri="{FF2B5EF4-FFF2-40B4-BE49-F238E27FC236}">
                <a16:creationId xmlns:a16="http://schemas.microsoft.com/office/drawing/2014/main" id="{73D1E0B1-E08A-4A31-840E-CA8628C3F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9236" y="4614863"/>
            <a:ext cx="2506663" cy="1562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19236" y="6281928"/>
            <a:ext cx="2415820" cy="369332"/>
          </a:xfrm>
          <a:prstGeom prst="rect">
            <a:avLst/>
          </a:prstGeom>
          <a:noFill/>
        </p:spPr>
        <p:txBody>
          <a:bodyPr wrap="square" rtlCol="0">
            <a:spAutoFit/>
          </a:bodyPr>
          <a:lstStyle/>
          <a:p>
            <a:r>
              <a:rPr lang="en-US" dirty="0"/>
              <a:t>manifest</a:t>
            </a:r>
            <a:endParaRPr lang="en-IN" dirty="0"/>
          </a:p>
        </p:txBody>
      </p:sp>
      <p:cxnSp>
        <p:nvCxnSpPr>
          <p:cNvPr id="7" name="Straight Arrow Connector 6"/>
          <p:cNvCxnSpPr/>
          <p:nvPr/>
        </p:nvCxnSpPr>
        <p:spPr>
          <a:xfrm flipV="1">
            <a:off x="9683496" y="5980176"/>
            <a:ext cx="1389888" cy="539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926483" y="5056846"/>
            <a:ext cx="2048853"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Version info</a:t>
            </a:r>
          </a:p>
          <a:p>
            <a:r>
              <a:rPr lang="en-US" dirty="0"/>
              <a:t>Culture info</a:t>
            </a:r>
          </a:p>
          <a:p>
            <a:r>
              <a:rPr lang="en-US" dirty="0"/>
              <a:t>Metadata of project</a:t>
            </a:r>
            <a:endParaRPr lang="en-IN" dirty="0"/>
          </a:p>
        </p:txBody>
      </p:sp>
    </p:spTree>
    <p:extLst>
      <p:ext uri="{BB962C8B-B14F-4D97-AF65-F5344CB8AC3E}">
        <p14:creationId xmlns:p14="http://schemas.microsoft.com/office/powerpoint/2010/main" val="111054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E3856D4-9096-43DE-A1A5-81D4B170EADA}"/>
              </a:ext>
            </a:extLst>
          </p:cNvPr>
          <p:cNvSpPr/>
          <p:nvPr/>
        </p:nvSpPr>
        <p:spPr>
          <a:xfrm>
            <a:off x="7656135" y="721155"/>
            <a:ext cx="3627749" cy="4341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5082D62-ADA7-4E55-A201-C31161BDBEF1}"/>
              </a:ext>
            </a:extLst>
          </p:cNvPr>
          <p:cNvSpPr>
            <a:spLocks noGrp="1"/>
          </p:cNvSpPr>
          <p:nvPr>
            <p:ph sz="half" idx="1"/>
          </p:nvPr>
        </p:nvSpPr>
        <p:spPr>
          <a:xfrm>
            <a:off x="322916" y="328819"/>
            <a:ext cx="5783296" cy="5848144"/>
          </a:xfrm>
        </p:spPr>
        <p:txBody>
          <a:bodyPr>
            <a:noAutofit/>
          </a:bodyPr>
          <a:lstStyle/>
          <a:p>
            <a:pPr marL="0" indent="0">
              <a:lnSpc>
                <a:spcPct val="100000"/>
              </a:lnSpc>
              <a:spcBef>
                <a:spcPts val="0"/>
              </a:spcBef>
              <a:buNone/>
            </a:pPr>
            <a:r>
              <a:rPr lang="en-US" sz="1200" dirty="0">
                <a:solidFill>
                  <a:srgbClr val="0000FF"/>
                </a:solidFill>
                <a:latin typeface="Cascadia Mono" panose="020B0609020000020004" pitchFamily="49" charset="0"/>
              </a:rPr>
              <a:t>	using</a:t>
            </a:r>
            <a:r>
              <a:rPr lang="en-US" sz="1200" dirty="0">
                <a:solidFill>
                  <a:srgbClr val="000000"/>
                </a:solidFill>
                <a:latin typeface="Cascadia Mono" panose="020B0609020000020004" pitchFamily="49" charset="0"/>
              </a:rPr>
              <a:t> System; </a:t>
            </a:r>
            <a:r>
              <a:rPr lang="en-US" sz="1200" dirty="0">
                <a:solidFill>
                  <a:srgbClr val="008000"/>
                </a:solidFill>
                <a:latin typeface="Cascadia Mono" panose="020B0609020000020004" pitchFamily="49" charset="0"/>
              </a:rPr>
              <a:t>//it is a name space</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ConsoleApplicationDemo</a:t>
            </a:r>
            <a:endParaRPr lang="en-IN"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a:t>
            </a: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Myclass</a:t>
            </a:r>
            <a:endParaRPr lang="en-IN"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    </a:t>
            </a:r>
            <a:r>
              <a:rPr lang="en-US" sz="1200" dirty="0">
                <a:solidFill>
                  <a:srgbClr val="008000"/>
                </a:solidFill>
                <a:latin typeface="Cascadia Mono" panose="020B0609020000020004" pitchFamily="49" charset="0"/>
              </a:rPr>
              <a:t>//public instance method - you can call this method through object of this class</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sum(</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x,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y)</a:t>
            </a:r>
          </a:p>
          <a:p>
            <a:pPr marL="0" indent="0">
              <a:lnSpc>
                <a:spcPct val="100000"/>
              </a:lnSpc>
              <a:spcBef>
                <a:spcPts val="0"/>
              </a:spcBef>
              <a:buNone/>
            </a:pP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x + y; }</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Program</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//Entry point class</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x; </a:t>
            </a:r>
          </a:p>
          <a:p>
            <a:pPr marL="0" indent="0">
              <a:lnSpc>
                <a:spcPct val="100000"/>
              </a:lnSpc>
              <a:spcBef>
                <a:spcPts val="0"/>
              </a:spcBef>
              <a:buNone/>
            </a:pPr>
            <a:r>
              <a:rPr lang="en-US" sz="1200" dirty="0">
                <a:solidFill>
                  <a:srgbClr val="008000"/>
                </a:solidFill>
                <a:latin typeface="Cascadia Mono" panose="020B0609020000020004" pitchFamily="49" charset="0"/>
              </a:rPr>
              <a:t>//local variable -green underline indicate </a:t>
            </a:r>
            <a:r>
              <a:rPr lang="en-US" sz="1200" dirty="0" err="1">
                <a:solidFill>
                  <a:srgbClr val="008000"/>
                </a:solidFill>
                <a:latin typeface="Cascadia Mono" panose="020B0609020000020004" pitchFamily="49" charset="0"/>
              </a:rPr>
              <a:t>warnning</a:t>
            </a:r>
            <a:r>
              <a:rPr lang="en-US" sz="1200" dirty="0">
                <a:solidFill>
                  <a:srgbClr val="008000"/>
                </a:solidFill>
                <a:latin typeface="Cascadia Mono" panose="020B0609020000020004" pitchFamily="49" charset="0"/>
              </a:rPr>
              <a:t> </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8000"/>
                </a:solidFill>
                <a:latin typeface="Cascadia Mono" panose="020B0609020000020004" pitchFamily="49" charset="0"/>
              </a:rPr>
              <a:t>//bellow line will give error because you can not use variable without initializing </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8000"/>
                </a:solidFill>
                <a:latin typeface="Cascadia Mono" panose="020B0609020000020004" pitchFamily="49" charset="0"/>
              </a:rPr>
              <a:t>//if you remove comment you will see red underline indicating error</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8000"/>
                </a:solidFill>
                <a:highlight>
                  <a:srgbClr val="FFFF00"/>
                </a:highlight>
                <a:latin typeface="Cascadia Mono" panose="020B0609020000020004" pitchFamily="49" charset="0"/>
              </a:rPr>
              <a:t>//</a:t>
            </a:r>
            <a:r>
              <a:rPr lang="en-IN" sz="1200" dirty="0" err="1">
                <a:solidFill>
                  <a:srgbClr val="008000"/>
                </a:solidFill>
                <a:highlight>
                  <a:srgbClr val="FFFF00"/>
                </a:highlight>
                <a:latin typeface="Cascadia Mono" panose="020B0609020000020004" pitchFamily="49" charset="0"/>
              </a:rPr>
              <a:t>Console.WriteLine</a:t>
            </a:r>
            <a:r>
              <a:rPr lang="en-IN" sz="1200" dirty="0">
                <a:solidFill>
                  <a:srgbClr val="008000"/>
                </a:solidFill>
                <a:highlight>
                  <a:srgbClr val="FFFF00"/>
                </a:highlight>
                <a:latin typeface="Cascadia Mono" panose="020B0609020000020004" pitchFamily="49" charset="0"/>
              </a:rPr>
              <a:t>(x); </a:t>
            </a:r>
            <a:endParaRPr lang="en-IN" sz="1200" dirty="0">
              <a:solidFill>
                <a:srgbClr val="000000"/>
              </a:solidFill>
              <a:highlight>
                <a:srgbClr val="FFFF00"/>
              </a:highlight>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//creating object of a </a:t>
            </a:r>
            <a:r>
              <a:rPr lang="en-US" sz="1200" dirty="0" err="1">
                <a:solidFill>
                  <a:srgbClr val="008000"/>
                </a:solidFill>
                <a:latin typeface="Cascadia Mono" panose="020B0609020000020004" pitchFamily="49" charset="0"/>
              </a:rPr>
              <a:t>myclass</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myobj</a:t>
            </a:r>
            <a:r>
              <a:rPr lang="en-US" sz="1200" dirty="0">
                <a:solidFill>
                  <a:srgbClr val="008000"/>
                </a:solidFill>
                <a:latin typeface="Cascadia Mono" panose="020B0609020000020004" pitchFamily="49" charset="0"/>
              </a:rPr>
              <a:t> is reference to the object-it resides on stack</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//new </a:t>
            </a:r>
            <a:r>
              <a:rPr lang="en-US" sz="1200" dirty="0" err="1">
                <a:solidFill>
                  <a:srgbClr val="008000"/>
                </a:solidFill>
                <a:latin typeface="Cascadia Mono" panose="020B0609020000020004" pitchFamily="49" charset="0"/>
              </a:rPr>
              <a:t>myclass</a:t>
            </a:r>
            <a:r>
              <a:rPr lang="en-US" sz="1200" dirty="0">
                <a:solidFill>
                  <a:srgbClr val="008000"/>
                </a:solidFill>
                <a:latin typeface="Cascadia Mono" panose="020B0609020000020004" pitchFamily="49" charset="0"/>
              </a:rPr>
              <a:t>() is object - it resides on heap memory</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err="1">
                <a:solidFill>
                  <a:srgbClr val="000000"/>
                </a:solidFill>
                <a:latin typeface="Cascadia Mono" panose="020B0609020000020004" pitchFamily="49" charset="0"/>
              </a:rPr>
              <a:t>Myclass</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myobj</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Myclass</a:t>
            </a: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//new is same as malloc</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//calling method using object reference</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result = </a:t>
            </a:r>
            <a:r>
              <a:rPr lang="en-IN" sz="1200" dirty="0" err="1">
                <a:solidFill>
                  <a:srgbClr val="000000"/>
                </a:solidFill>
                <a:latin typeface="Cascadia Mono" panose="020B0609020000020004" pitchFamily="49" charset="0"/>
              </a:rPr>
              <a:t>myobj.sum</a:t>
            </a:r>
            <a:r>
              <a:rPr lang="en-IN" sz="1200" dirty="0">
                <a:solidFill>
                  <a:srgbClr val="000000"/>
                </a:solidFill>
                <a:latin typeface="Cascadia Mono" panose="020B0609020000020004" pitchFamily="49" charset="0"/>
              </a:rPr>
              <a:t>(3, 4);</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 operator is overloaded it will </a:t>
            </a:r>
            <a:r>
              <a:rPr lang="en-US" sz="1200" dirty="0" err="1">
                <a:solidFill>
                  <a:srgbClr val="008000"/>
                </a:solidFill>
                <a:latin typeface="Cascadia Mono" panose="020B0609020000020004" pitchFamily="49" charset="0"/>
              </a:rPr>
              <a:t>concat</a:t>
            </a:r>
            <a:endParaRPr lang="en-US" sz="1200" dirty="0">
              <a:solidFill>
                <a:srgbClr val="000000"/>
              </a:solidFill>
              <a:latin typeface="Cascadia Mono" panose="020B0609020000020004" pitchFamily="49" charset="0"/>
            </a:endParaRPr>
          </a:p>
          <a:p>
            <a:pPr marL="0" indent="0">
              <a:lnSpc>
                <a:spcPct val="100000"/>
              </a:lnSpc>
              <a:spcBef>
                <a:spcPts val="0"/>
              </a:spcBef>
              <a:buNone/>
            </a:pP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"result="</a:t>
            </a:r>
            <a:r>
              <a:rPr lang="en-IN" sz="1200" dirty="0">
                <a:solidFill>
                  <a:srgbClr val="000000"/>
                </a:solidFill>
                <a:latin typeface="Cascadia Mono" panose="020B0609020000020004" pitchFamily="49" charset="0"/>
              </a:rPr>
              <a:t> + result);</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"result={0}"</a:t>
            </a:r>
            <a:r>
              <a:rPr lang="en-US" sz="1200" dirty="0">
                <a:solidFill>
                  <a:srgbClr val="000000"/>
                </a:solidFill>
                <a:latin typeface="Cascadia Mono" panose="020B0609020000020004" pitchFamily="49" charset="0"/>
              </a:rPr>
              <a:t>, result);</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IN" sz="1200" dirty="0">
                <a:solidFill>
                  <a:srgbClr val="000000"/>
                </a:solidFill>
                <a:latin typeface="Cascadia Mono" panose="020B0609020000020004" pitchFamily="49" charset="0"/>
              </a:rPr>
              <a:t>    }</a:t>
            </a:r>
          </a:p>
          <a:p>
            <a:pPr marL="0" indent="0">
              <a:lnSpc>
                <a:spcPct val="100000"/>
              </a:lnSpc>
              <a:spcBef>
                <a:spcPts val="0"/>
              </a:spcBef>
              <a:buNone/>
            </a:pPr>
            <a:r>
              <a:rPr lang="en-IN" sz="1200" dirty="0">
                <a:solidFill>
                  <a:srgbClr val="000000"/>
                </a:solidFill>
                <a:latin typeface="Cascadia Mono" panose="020B0609020000020004" pitchFamily="49" charset="0"/>
              </a:rPr>
              <a:t>}</a:t>
            </a:r>
            <a:endParaRPr lang="en-IN" sz="1200" dirty="0"/>
          </a:p>
        </p:txBody>
      </p:sp>
      <p:sp>
        <p:nvSpPr>
          <p:cNvPr id="4" name="Content Placeholder 3">
            <a:extLst>
              <a:ext uri="{FF2B5EF4-FFF2-40B4-BE49-F238E27FC236}">
                <a16:creationId xmlns:a16="http://schemas.microsoft.com/office/drawing/2014/main" id="{3F7B18BA-727B-467B-9E02-7497B25329DC}"/>
              </a:ext>
            </a:extLst>
          </p:cNvPr>
          <p:cNvSpPr>
            <a:spLocks noGrp="1"/>
          </p:cNvSpPr>
          <p:nvPr>
            <p:ph sz="half" idx="2"/>
          </p:nvPr>
        </p:nvSpPr>
        <p:spPr>
          <a:xfrm>
            <a:off x="6172200" y="207390"/>
            <a:ext cx="5111685" cy="5969573"/>
          </a:xfrm>
        </p:spPr>
        <p:txBody>
          <a:bodyPr>
            <a:normAutofit/>
          </a:bodyPr>
          <a:lstStyle/>
          <a:p>
            <a:pPr marL="0" indent="0">
              <a:buNone/>
            </a:pPr>
            <a:endParaRPr lang="en-IN" dirty="0"/>
          </a:p>
        </p:txBody>
      </p:sp>
      <p:sp>
        <p:nvSpPr>
          <p:cNvPr id="5" name="Rectangle 4">
            <a:extLst>
              <a:ext uri="{FF2B5EF4-FFF2-40B4-BE49-F238E27FC236}">
                <a16:creationId xmlns:a16="http://schemas.microsoft.com/office/drawing/2014/main" id="{45301FFD-C317-4016-AA96-4711D0B3DD9F}"/>
              </a:ext>
            </a:extLst>
          </p:cNvPr>
          <p:cNvSpPr/>
          <p:nvPr/>
        </p:nvSpPr>
        <p:spPr>
          <a:xfrm>
            <a:off x="6381946" y="2262437"/>
            <a:ext cx="876693" cy="4996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8" name="Rectangle 7">
            <a:extLst>
              <a:ext uri="{FF2B5EF4-FFF2-40B4-BE49-F238E27FC236}">
                <a16:creationId xmlns:a16="http://schemas.microsoft.com/office/drawing/2014/main" id="{6CDE3811-4CDC-45B3-8834-B87478FF5538}"/>
              </a:ext>
            </a:extLst>
          </p:cNvPr>
          <p:cNvSpPr/>
          <p:nvPr/>
        </p:nvSpPr>
        <p:spPr>
          <a:xfrm>
            <a:off x="6457360" y="2931738"/>
            <a:ext cx="697583" cy="2450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1" name="Rectangle 10">
            <a:extLst>
              <a:ext uri="{FF2B5EF4-FFF2-40B4-BE49-F238E27FC236}">
                <a16:creationId xmlns:a16="http://schemas.microsoft.com/office/drawing/2014/main" id="{BCB9F48D-87B3-4A3E-A004-896AEF42EF1F}"/>
              </a:ext>
            </a:extLst>
          </p:cNvPr>
          <p:cNvSpPr/>
          <p:nvPr/>
        </p:nvSpPr>
        <p:spPr>
          <a:xfrm>
            <a:off x="7694631" y="1668548"/>
            <a:ext cx="1291473" cy="1187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2" name="Rectangle 11">
            <a:extLst>
              <a:ext uri="{FF2B5EF4-FFF2-40B4-BE49-F238E27FC236}">
                <a16:creationId xmlns:a16="http://schemas.microsoft.com/office/drawing/2014/main" id="{0CDE424C-826F-47CF-B63F-708B775B4BB2}"/>
              </a:ext>
            </a:extLst>
          </p:cNvPr>
          <p:cNvSpPr/>
          <p:nvPr/>
        </p:nvSpPr>
        <p:spPr>
          <a:xfrm>
            <a:off x="9072516" y="1677970"/>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int sum(int x, int y)</a:t>
            </a:r>
          </a:p>
          <a:p>
            <a:r>
              <a:rPr lang="en-IN" sz="1400" dirty="0">
                <a:solidFill>
                  <a:schemeClr val="tx1"/>
                </a:solidFill>
              </a:rPr>
              <a:t>        {             return x + y;</a:t>
            </a:r>
          </a:p>
          <a:p>
            <a:r>
              <a:rPr lang="en-IN" sz="1400" dirty="0">
                <a:solidFill>
                  <a:schemeClr val="tx1"/>
                </a:solidFill>
              </a:rPr>
              <a:t>           }</a:t>
            </a:r>
          </a:p>
        </p:txBody>
      </p:sp>
      <p:sp>
        <p:nvSpPr>
          <p:cNvPr id="14" name="Rectangle 13">
            <a:extLst>
              <a:ext uri="{FF2B5EF4-FFF2-40B4-BE49-F238E27FC236}">
                <a16:creationId xmlns:a16="http://schemas.microsoft.com/office/drawing/2014/main" id="{E21FB4B0-8B12-4355-83C1-14C1619B137F}"/>
              </a:ext>
            </a:extLst>
          </p:cNvPr>
          <p:cNvSpPr/>
          <p:nvPr/>
        </p:nvSpPr>
        <p:spPr>
          <a:xfrm>
            <a:off x="7852528"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5" name="Rectangle 14">
            <a:extLst>
              <a:ext uri="{FF2B5EF4-FFF2-40B4-BE49-F238E27FC236}">
                <a16:creationId xmlns:a16="http://schemas.microsoft.com/office/drawing/2014/main" id="{1EDB50FF-002F-4E5A-874D-54B23A268476}"/>
              </a:ext>
            </a:extLst>
          </p:cNvPr>
          <p:cNvSpPr/>
          <p:nvPr/>
        </p:nvSpPr>
        <p:spPr>
          <a:xfrm>
            <a:off x="6381946" y="1923068"/>
            <a:ext cx="942681" cy="263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myobj</a:t>
            </a:r>
            <a:endParaRPr lang="en-IN" dirty="0">
              <a:solidFill>
                <a:schemeClr val="tx1"/>
              </a:solidFill>
            </a:endParaRPr>
          </a:p>
        </p:txBody>
      </p:sp>
      <p:sp>
        <p:nvSpPr>
          <p:cNvPr id="16" name="Rectangle 15">
            <a:extLst>
              <a:ext uri="{FF2B5EF4-FFF2-40B4-BE49-F238E27FC236}">
                <a16:creationId xmlns:a16="http://schemas.microsoft.com/office/drawing/2014/main" id="{63AFE5F0-070B-46F3-90E4-C892E4FE09D5}"/>
              </a:ext>
            </a:extLst>
          </p:cNvPr>
          <p:cNvSpPr/>
          <p:nvPr/>
        </p:nvSpPr>
        <p:spPr>
          <a:xfrm>
            <a:off x="9813303"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7" name="Rectangle 16">
            <a:extLst>
              <a:ext uri="{FF2B5EF4-FFF2-40B4-BE49-F238E27FC236}">
                <a16:creationId xmlns:a16="http://schemas.microsoft.com/office/drawing/2014/main" id="{51F654B2-40A2-4D6C-83D5-8ED68BBFB16E}"/>
              </a:ext>
            </a:extLst>
          </p:cNvPr>
          <p:cNvSpPr/>
          <p:nvPr/>
        </p:nvSpPr>
        <p:spPr>
          <a:xfrm>
            <a:off x="7712698" y="1185420"/>
            <a:ext cx="1359818" cy="3770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new </a:t>
            </a:r>
            <a:r>
              <a:rPr lang="en-IN" dirty="0" err="1">
                <a:solidFill>
                  <a:srgbClr val="FF0000"/>
                </a:solidFill>
              </a:rPr>
              <a:t>myclass</a:t>
            </a:r>
            <a:endParaRPr lang="en-IN" dirty="0">
              <a:solidFill>
                <a:srgbClr val="FF0000"/>
              </a:solidFill>
            </a:endParaRPr>
          </a:p>
        </p:txBody>
      </p:sp>
      <p:cxnSp>
        <p:nvCxnSpPr>
          <p:cNvPr id="19" name="Straight Arrow Connector 18">
            <a:extLst>
              <a:ext uri="{FF2B5EF4-FFF2-40B4-BE49-F238E27FC236}">
                <a16:creationId xmlns:a16="http://schemas.microsoft.com/office/drawing/2014/main" id="{E8982FEF-7757-49DE-8CDC-82C37EE5774C}"/>
              </a:ext>
            </a:extLst>
          </p:cNvPr>
          <p:cNvCxnSpPr/>
          <p:nvPr/>
        </p:nvCxnSpPr>
        <p:spPr>
          <a:xfrm>
            <a:off x="7154943" y="2762054"/>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3A8A4C2-2B68-416A-A6E5-D111A665C0AC}"/>
              </a:ext>
            </a:extLst>
          </p:cNvPr>
          <p:cNvCxnSpPr/>
          <p:nvPr/>
        </p:nvCxnSpPr>
        <p:spPr>
          <a:xfrm>
            <a:off x="8770070" y="2540527"/>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117550C-DDD0-408F-B312-D1CE062E4009}"/>
              </a:ext>
            </a:extLst>
          </p:cNvPr>
          <p:cNvSpPr/>
          <p:nvPr/>
        </p:nvSpPr>
        <p:spPr>
          <a:xfrm>
            <a:off x="6267254" y="4048808"/>
            <a:ext cx="1236482" cy="414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Reference</a:t>
            </a:r>
          </a:p>
        </p:txBody>
      </p:sp>
      <p:sp>
        <p:nvSpPr>
          <p:cNvPr id="22" name="Rectangle 21">
            <a:extLst>
              <a:ext uri="{FF2B5EF4-FFF2-40B4-BE49-F238E27FC236}">
                <a16:creationId xmlns:a16="http://schemas.microsoft.com/office/drawing/2014/main" id="{CE93E0EE-C4EC-408B-8D21-47FF04B4D211}"/>
              </a:ext>
            </a:extLst>
          </p:cNvPr>
          <p:cNvSpPr/>
          <p:nvPr/>
        </p:nvSpPr>
        <p:spPr>
          <a:xfrm>
            <a:off x="8863553" y="4001675"/>
            <a:ext cx="1252720" cy="325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a:t>
            </a:r>
          </a:p>
        </p:txBody>
      </p:sp>
      <p:sp>
        <p:nvSpPr>
          <p:cNvPr id="23" name="Rectangle 22">
            <a:extLst>
              <a:ext uri="{FF2B5EF4-FFF2-40B4-BE49-F238E27FC236}">
                <a16:creationId xmlns:a16="http://schemas.microsoft.com/office/drawing/2014/main" id="{289FB5F7-CAE2-4705-A719-D2FEF7360C4F}"/>
              </a:ext>
            </a:extLst>
          </p:cNvPr>
          <p:cNvSpPr/>
          <p:nvPr/>
        </p:nvSpPr>
        <p:spPr>
          <a:xfrm>
            <a:off x="6198908" y="1668548"/>
            <a:ext cx="1359818" cy="3318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D21E741D-DD12-459C-9EB5-0C64A5413420}"/>
              </a:ext>
            </a:extLst>
          </p:cNvPr>
          <p:cNvCxnSpPr/>
          <p:nvPr/>
        </p:nvCxnSpPr>
        <p:spPr>
          <a:xfrm>
            <a:off x="6890991" y="5052766"/>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B7743D3-6585-49B8-B4AA-F4EB3C79F58F}"/>
              </a:ext>
            </a:extLst>
          </p:cNvPr>
          <p:cNvCxnSpPr/>
          <p:nvPr/>
        </p:nvCxnSpPr>
        <p:spPr>
          <a:xfrm>
            <a:off x="8551685" y="5148604"/>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97A0F2B-D2A5-409B-9B9A-542ABF913645}"/>
              </a:ext>
            </a:extLst>
          </p:cNvPr>
          <p:cNvSpPr/>
          <p:nvPr/>
        </p:nvSpPr>
        <p:spPr>
          <a:xfrm>
            <a:off x="6853286" y="5672580"/>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Stack</a:t>
            </a:r>
          </a:p>
        </p:txBody>
      </p:sp>
      <p:sp>
        <p:nvSpPr>
          <p:cNvPr id="29" name="Rectangle 28">
            <a:extLst>
              <a:ext uri="{FF2B5EF4-FFF2-40B4-BE49-F238E27FC236}">
                <a16:creationId xmlns:a16="http://schemas.microsoft.com/office/drawing/2014/main" id="{12BB4D0D-539E-4827-9609-8D522FA22BE2}"/>
              </a:ext>
            </a:extLst>
          </p:cNvPr>
          <p:cNvSpPr/>
          <p:nvPr/>
        </p:nvSpPr>
        <p:spPr>
          <a:xfrm>
            <a:off x="8697013" y="5718528"/>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Heap</a:t>
            </a:r>
          </a:p>
        </p:txBody>
      </p:sp>
      <p:cxnSp>
        <p:nvCxnSpPr>
          <p:cNvPr id="31" name="Straight Arrow Connector 30">
            <a:extLst>
              <a:ext uri="{FF2B5EF4-FFF2-40B4-BE49-F238E27FC236}">
                <a16:creationId xmlns:a16="http://schemas.microsoft.com/office/drawing/2014/main" id="{6C12488A-D48C-49D0-98EA-4D757477C60E}"/>
              </a:ext>
            </a:extLst>
          </p:cNvPr>
          <p:cNvCxnSpPr>
            <a:cxnSpLocks/>
          </p:cNvCxnSpPr>
          <p:nvPr/>
        </p:nvCxnSpPr>
        <p:spPr>
          <a:xfrm>
            <a:off x="7277490" y="2540527"/>
            <a:ext cx="5750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025706-8B6F-4BC1-B02E-8EDC1BB220D7}"/>
              </a:ext>
            </a:extLst>
          </p:cNvPr>
          <p:cNvSpPr txBox="1"/>
          <p:nvPr/>
        </p:nvSpPr>
        <p:spPr>
          <a:xfrm>
            <a:off x="6457360" y="4547892"/>
            <a:ext cx="33863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a:t>7</a:t>
            </a:r>
          </a:p>
        </p:txBody>
      </p:sp>
      <p:sp>
        <p:nvSpPr>
          <p:cNvPr id="6" name="TextBox 5">
            <a:extLst>
              <a:ext uri="{FF2B5EF4-FFF2-40B4-BE49-F238E27FC236}">
                <a16:creationId xmlns:a16="http://schemas.microsoft.com/office/drawing/2014/main" id="{41D40A99-1B1F-4C99-9B96-934D3DB82368}"/>
              </a:ext>
            </a:extLst>
          </p:cNvPr>
          <p:cNvSpPr txBox="1"/>
          <p:nvPr/>
        </p:nvSpPr>
        <p:spPr>
          <a:xfrm>
            <a:off x="6826031" y="4562906"/>
            <a:ext cx="914400" cy="369332"/>
          </a:xfrm>
          <a:prstGeom prst="rect">
            <a:avLst/>
          </a:prstGeom>
          <a:noFill/>
        </p:spPr>
        <p:txBody>
          <a:bodyPr wrap="square" rtlCol="0">
            <a:spAutoFit/>
          </a:bodyPr>
          <a:lstStyle/>
          <a:p>
            <a:r>
              <a:rPr lang="en-IN" dirty="0"/>
              <a:t>result</a:t>
            </a:r>
          </a:p>
        </p:txBody>
      </p:sp>
    </p:spTree>
    <p:extLst>
      <p:ext uri="{BB962C8B-B14F-4D97-AF65-F5344CB8AC3E}">
        <p14:creationId xmlns:p14="http://schemas.microsoft.com/office/powerpoint/2010/main" val="411394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E3856D4-9096-43DE-A1A5-81D4B170EADA}"/>
              </a:ext>
            </a:extLst>
          </p:cNvPr>
          <p:cNvSpPr/>
          <p:nvPr/>
        </p:nvSpPr>
        <p:spPr>
          <a:xfrm>
            <a:off x="7656135" y="721155"/>
            <a:ext cx="3627749" cy="4341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5082D62-ADA7-4E55-A201-C31161BDBEF1}"/>
              </a:ext>
            </a:extLst>
          </p:cNvPr>
          <p:cNvSpPr>
            <a:spLocks noGrp="1"/>
          </p:cNvSpPr>
          <p:nvPr>
            <p:ph sz="half" idx="1"/>
          </p:nvPr>
        </p:nvSpPr>
        <p:spPr>
          <a:xfrm>
            <a:off x="329938" y="207389"/>
            <a:ext cx="5689862" cy="7871381"/>
          </a:xfrm>
        </p:spPr>
        <p:txBody>
          <a:bodyPr>
            <a:noAutofit/>
          </a:bodyPr>
          <a:lstStyle/>
          <a:p>
            <a:pPr marL="0" indent="0">
              <a:lnSpc>
                <a:spcPct val="100000"/>
              </a:lnSpc>
              <a:spcBef>
                <a:spcPts val="0"/>
              </a:spcBef>
              <a:buNone/>
            </a:pPr>
            <a:r>
              <a:rPr lang="en-US" sz="1400" dirty="0"/>
              <a:t>	</a:t>
            </a:r>
            <a:r>
              <a:rPr lang="en-IN" sz="1400" dirty="0">
                <a:solidFill>
                  <a:srgbClr val="0000FF"/>
                </a:solidFill>
                <a:latin typeface="Consolas" panose="020B0609020204030204" pitchFamily="49" charset="0"/>
              </a:rPr>
              <a:t>using</a:t>
            </a:r>
            <a:r>
              <a:rPr lang="en-IN" sz="1400" dirty="0">
                <a:solidFill>
                  <a:srgbClr val="000000"/>
                </a:solidFill>
                <a:latin typeface="Consolas" panose="020B0609020204030204" pitchFamily="49" charset="0"/>
              </a:rPr>
              <a:t> System;</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demo0</a:t>
            </a:r>
          </a:p>
          <a:p>
            <a:pPr marL="0" indent="0">
              <a:lnSpc>
                <a:spcPct val="100000"/>
              </a:lnSpc>
              <a:spcBef>
                <a:spcPts val="0"/>
              </a:spcBef>
              <a:buNone/>
            </a:pP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B91AF"/>
                </a:solidFill>
                <a:latin typeface="Consolas" panose="020B0609020204030204" pitchFamily="49" charset="0"/>
              </a:rPr>
              <a:t>MyMath</a:t>
            </a: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sum(</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x,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y)</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x + y;</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sqr</a:t>
            </a:r>
            <a:r>
              <a:rPr lang="en-IN" sz="1400" dirty="0">
                <a:solidFill>
                  <a:srgbClr val="000000"/>
                </a:solidFill>
                <a:latin typeface="Consolas" panose="020B0609020204030204" pitchFamily="49" charset="0"/>
              </a:rPr>
              <a:t>(</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x)</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return</a:t>
            </a:r>
            <a:r>
              <a:rPr lang="en-IN" sz="1400" dirty="0">
                <a:solidFill>
                  <a:srgbClr val="000000"/>
                </a:solidFill>
                <a:latin typeface="Consolas" panose="020B0609020204030204" pitchFamily="49" charset="0"/>
              </a:rPr>
              <a:t> x *x;</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static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void</a:t>
            </a:r>
            <a:r>
              <a:rPr lang="en-IN" sz="1400" dirty="0">
                <a:solidFill>
                  <a:srgbClr val="000000"/>
                </a:solidFill>
                <a:latin typeface="Consolas" panose="020B0609020204030204" pitchFamily="49" charset="0"/>
              </a:rPr>
              <a:t> Main(</a:t>
            </a:r>
            <a:r>
              <a:rPr lang="en-IN" sz="1400" dirty="0">
                <a:solidFill>
                  <a:srgbClr val="0000FF"/>
                </a:solidFill>
                <a:latin typeface="Consolas" panose="020B0609020204030204" pitchFamily="49" charset="0"/>
              </a:rPr>
              <a:t>string</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args</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 c#"</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 b;</a:t>
            </a:r>
          </a:p>
          <a:p>
            <a:pPr marL="0" indent="0">
              <a:lnSpc>
                <a:spcPct val="100000"/>
              </a:lnSpc>
              <a:spcBef>
                <a:spcPts val="0"/>
              </a:spcBef>
              <a:buNone/>
            </a:pPr>
            <a:r>
              <a:rPr lang="en-IN" sz="1400" dirty="0">
                <a:solidFill>
                  <a:srgbClr val="000000"/>
                </a:solidFill>
                <a:latin typeface="Consolas" panose="020B0609020204030204" pitchFamily="49" charset="0"/>
              </a:rPr>
              <a:t>            a =5;</a:t>
            </a:r>
          </a:p>
          <a:p>
            <a:pPr marL="0" indent="0">
              <a:lnSpc>
                <a:spcPct val="100000"/>
              </a:lnSpc>
              <a:spcBef>
                <a:spcPts val="0"/>
              </a:spcBef>
              <a:buNone/>
            </a:pPr>
            <a:r>
              <a:rPr lang="en-IN" sz="1400" dirty="0">
                <a:solidFill>
                  <a:srgbClr val="000000"/>
                </a:solidFill>
                <a:latin typeface="Consolas" panose="020B0609020204030204" pitchFamily="49" charset="0"/>
              </a:rPr>
              <a:t>            b = 7;</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MyMath</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obj</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MyMath</a:t>
            </a:r>
            <a:r>
              <a:rPr lang="en-IN" sz="1400" dirty="0">
                <a:solidFill>
                  <a:srgbClr val="000000"/>
                </a:solidFill>
                <a:latin typeface="Consolas" panose="020B0609020204030204" pitchFamily="49" charset="0"/>
              </a:rPr>
              <a:t>();</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r1 = </a:t>
            </a:r>
            <a:r>
              <a:rPr lang="en-IN" sz="1400" dirty="0" err="1">
                <a:solidFill>
                  <a:srgbClr val="000000"/>
                </a:solidFill>
                <a:latin typeface="Consolas" panose="020B0609020204030204" pitchFamily="49" charset="0"/>
              </a:rPr>
              <a:t>obj.sum</a:t>
            </a:r>
            <a:r>
              <a:rPr lang="en-IN" sz="1400" dirty="0">
                <a:solidFill>
                  <a:srgbClr val="000000"/>
                </a:solidFill>
                <a:latin typeface="Consolas" panose="020B0609020204030204" pitchFamily="49" charset="0"/>
              </a:rPr>
              <a:t>(a, b);</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r2 = </a:t>
            </a:r>
            <a:r>
              <a:rPr lang="en-IN" sz="1400" dirty="0" err="1">
                <a:solidFill>
                  <a:srgbClr val="000000"/>
                </a:solidFill>
                <a:latin typeface="Consolas" panose="020B0609020204030204" pitchFamily="49" charset="0"/>
              </a:rPr>
              <a:t>obj.sqr</a:t>
            </a:r>
            <a:r>
              <a:rPr lang="en-IN" sz="1400" dirty="0">
                <a:solidFill>
                  <a:srgbClr val="000000"/>
                </a:solidFill>
                <a:latin typeface="Consolas" panose="020B0609020204030204" pitchFamily="49" charset="0"/>
              </a:rPr>
              <a:t>(a);</a:t>
            </a:r>
          </a:p>
          <a:p>
            <a:pPr marL="0" indent="0">
              <a:lnSpc>
                <a:spcPct val="100000"/>
              </a:lnSpc>
              <a:spcBef>
                <a:spcPts val="0"/>
              </a:spcBef>
              <a:buNone/>
            </a:pPr>
            <a:r>
              <a:rPr lang="pt-BR" sz="1400" dirty="0">
                <a:solidFill>
                  <a:srgbClr val="000000"/>
                </a:solidFill>
                <a:latin typeface="Consolas" panose="020B0609020204030204" pitchFamily="49" charset="0"/>
              </a:rPr>
              <a:t>   Console.WriteLine(</a:t>
            </a:r>
            <a:r>
              <a:rPr lang="pt-BR" sz="1400" dirty="0">
                <a:solidFill>
                  <a:srgbClr val="A31515"/>
                </a:solidFill>
                <a:latin typeface="Consolas" panose="020B0609020204030204" pitchFamily="49" charset="0"/>
              </a:rPr>
              <a:t>"sum = {0} square = {1}"</a:t>
            </a:r>
            <a:r>
              <a:rPr lang="pt-BR" sz="1400" dirty="0">
                <a:solidFill>
                  <a:srgbClr val="000000"/>
                </a:solidFill>
                <a:latin typeface="Consolas" panose="020B0609020204030204" pitchFamily="49" charset="0"/>
              </a:rPr>
              <a:t>, r1, r2);</a:t>
            </a:r>
          </a:p>
          <a:p>
            <a:pPr marL="0" indent="0">
              <a:lnSpc>
                <a:spcPct val="100000"/>
              </a:lnSpc>
              <a:spcBef>
                <a:spcPts val="0"/>
              </a:spcBef>
              <a:buNone/>
            </a:pPr>
            <a:r>
              <a:rPr lang="pt-BR" sz="1400" dirty="0">
                <a:solidFill>
                  <a:srgbClr val="000000"/>
                </a:solidFill>
                <a:latin typeface="Consolas" panose="020B0609020204030204" pitchFamily="49" charset="0"/>
              </a:rPr>
              <a:t>            Console.WriteLine(</a:t>
            </a:r>
            <a:r>
              <a:rPr lang="pt-BR" sz="1400" dirty="0">
                <a:solidFill>
                  <a:srgbClr val="A31515"/>
                </a:solidFill>
                <a:latin typeface="Consolas" panose="020B0609020204030204" pitchFamily="49" charset="0"/>
              </a:rPr>
              <a:t>"sum="</a:t>
            </a:r>
            <a:r>
              <a:rPr lang="pt-BR" sz="1400" dirty="0">
                <a:solidFill>
                  <a:srgbClr val="000000"/>
                </a:solidFill>
                <a:latin typeface="Consolas" panose="020B0609020204030204" pitchFamily="49" charset="0"/>
              </a:rPr>
              <a:t>+r1+</a:t>
            </a:r>
            <a:r>
              <a:rPr lang="pt-BR" sz="1400" dirty="0">
                <a:solidFill>
                  <a:srgbClr val="A31515"/>
                </a:solidFill>
                <a:latin typeface="Consolas" panose="020B0609020204030204" pitchFamily="49" charset="0"/>
              </a:rPr>
              <a:t>"square="</a:t>
            </a:r>
            <a:r>
              <a:rPr lang="pt-BR" sz="1400" dirty="0">
                <a:solidFill>
                  <a:srgbClr val="000000"/>
                </a:solidFill>
                <a:latin typeface="Consolas" panose="020B0609020204030204" pitchFamily="49" charset="0"/>
              </a:rPr>
              <a:t>+r2);</a:t>
            </a:r>
          </a:p>
          <a:p>
            <a:pPr marL="0" indent="0">
              <a:lnSpc>
                <a:spcPct val="100000"/>
              </a:lnSpc>
              <a:spcBef>
                <a:spcPts val="0"/>
              </a:spcBef>
              <a:buNone/>
            </a:pP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$"sum= </a:t>
            </a:r>
            <a:r>
              <a:rPr lang="en-IN" sz="1400" dirty="0">
                <a:solidFill>
                  <a:srgbClr val="000000"/>
                </a:solidFill>
                <a:latin typeface="Consolas" panose="020B0609020204030204" pitchFamily="49" charset="0"/>
              </a:rPr>
              <a:t>{r1}</a:t>
            </a:r>
            <a:r>
              <a:rPr lang="en-IN" sz="1400" dirty="0">
                <a:solidFill>
                  <a:srgbClr val="A31515"/>
                </a:solidFill>
                <a:latin typeface="Consolas" panose="020B0609020204030204" pitchFamily="49" charset="0"/>
              </a:rPr>
              <a:t> </a:t>
            </a:r>
            <a:r>
              <a:rPr lang="en-IN" sz="1400" dirty="0" err="1">
                <a:solidFill>
                  <a:srgbClr val="A31515"/>
                </a:solidFill>
                <a:latin typeface="Consolas" panose="020B0609020204030204" pitchFamily="49" charset="0"/>
              </a:rPr>
              <a:t>sqr</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{r2}</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pPr marL="0" indent="0">
              <a:lnSpc>
                <a:spcPct val="100000"/>
              </a:lnSpc>
              <a:spcBef>
                <a:spcPts val="0"/>
              </a:spcBef>
              <a:buNone/>
            </a:pPr>
            <a:endParaRPr lang="en-IN" sz="1400" dirty="0">
              <a:solidFill>
                <a:srgbClr val="000000"/>
              </a:solidFill>
              <a:latin typeface="Consolas" panose="020B0609020204030204" pitchFamily="49" charset="0"/>
            </a:endParaRP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    }</a:t>
            </a:r>
          </a:p>
          <a:p>
            <a:pPr marL="0" indent="0">
              <a:lnSpc>
                <a:spcPct val="100000"/>
              </a:lnSpc>
              <a:spcBef>
                <a:spcPts val="0"/>
              </a:spcBef>
              <a:buNone/>
            </a:pPr>
            <a:r>
              <a:rPr lang="en-IN" sz="1400" dirty="0">
                <a:solidFill>
                  <a:srgbClr val="000000"/>
                </a:solidFill>
                <a:latin typeface="Consolas" panose="020B0609020204030204" pitchFamily="49" charset="0"/>
              </a:rPr>
              <a:t>}</a:t>
            </a:r>
          </a:p>
          <a:p>
            <a:pPr marL="0" indent="0">
              <a:lnSpc>
                <a:spcPct val="100000"/>
              </a:lnSpc>
              <a:spcBef>
                <a:spcPts val="0"/>
              </a:spcBef>
              <a:buNone/>
            </a:pPr>
            <a:endParaRPr lang="en-IN" sz="1400" dirty="0"/>
          </a:p>
        </p:txBody>
      </p:sp>
      <p:sp>
        <p:nvSpPr>
          <p:cNvPr id="4" name="Content Placeholder 3">
            <a:extLst>
              <a:ext uri="{FF2B5EF4-FFF2-40B4-BE49-F238E27FC236}">
                <a16:creationId xmlns:a16="http://schemas.microsoft.com/office/drawing/2014/main" id="{3F7B18BA-727B-467B-9E02-7497B25329DC}"/>
              </a:ext>
            </a:extLst>
          </p:cNvPr>
          <p:cNvSpPr>
            <a:spLocks noGrp="1"/>
          </p:cNvSpPr>
          <p:nvPr>
            <p:ph sz="half" idx="2"/>
          </p:nvPr>
        </p:nvSpPr>
        <p:spPr>
          <a:xfrm>
            <a:off x="6172200" y="207390"/>
            <a:ext cx="5111685" cy="5969573"/>
          </a:xfrm>
        </p:spPr>
        <p:txBody>
          <a:bodyPr>
            <a:normAutofit/>
          </a:bodyPr>
          <a:lstStyle/>
          <a:p>
            <a:pPr marL="0" indent="0">
              <a:buNone/>
            </a:pPr>
            <a:endParaRPr lang="en-IN" dirty="0"/>
          </a:p>
        </p:txBody>
      </p:sp>
      <p:sp>
        <p:nvSpPr>
          <p:cNvPr id="5" name="Rectangle 4">
            <a:extLst>
              <a:ext uri="{FF2B5EF4-FFF2-40B4-BE49-F238E27FC236}">
                <a16:creationId xmlns:a16="http://schemas.microsoft.com/office/drawing/2014/main" id="{45301FFD-C317-4016-AA96-4711D0B3DD9F}"/>
              </a:ext>
            </a:extLst>
          </p:cNvPr>
          <p:cNvSpPr/>
          <p:nvPr/>
        </p:nvSpPr>
        <p:spPr>
          <a:xfrm>
            <a:off x="6381946" y="2262437"/>
            <a:ext cx="876693" cy="4996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8" name="Rectangle 7">
            <a:extLst>
              <a:ext uri="{FF2B5EF4-FFF2-40B4-BE49-F238E27FC236}">
                <a16:creationId xmlns:a16="http://schemas.microsoft.com/office/drawing/2014/main" id="{6CDE3811-4CDC-45B3-8834-B87478FF5538}"/>
              </a:ext>
            </a:extLst>
          </p:cNvPr>
          <p:cNvSpPr/>
          <p:nvPr/>
        </p:nvSpPr>
        <p:spPr>
          <a:xfrm>
            <a:off x="6457360" y="2931738"/>
            <a:ext cx="697583" cy="2450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2000</a:t>
            </a:r>
          </a:p>
        </p:txBody>
      </p:sp>
      <p:sp>
        <p:nvSpPr>
          <p:cNvPr id="11" name="Rectangle 10">
            <a:extLst>
              <a:ext uri="{FF2B5EF4-FFF2-40B4-BE49-F238E27FC236}">
                <a16:creationId xmlns:a16="http://schemas.microsoft.com/office/drawing/2014/main" id="{BCB9F48D-87B3-4A3E-A004-896AEF42EF1F}"/>
              </a:ext>
            </a:extLst>
          </p:cNvPr>
          <p:cNvSpPr/>
          <p:nvPr/>
        </p:nvSpPr>
        <p:spPr>
          <a:xfrm>
            <a:off x="7694631" y="1668548"/>
            <a:ext cx="1291473" cy="1187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a:p>
            <a:pPr algn="ctr"/>
            <a:r>
              <a:rPr lang="en-US" dirty="0">
                <a:solidFill>
                  <a:schemeClr val="tx1"/>
                </a:solidFill>
              </a:rPr>
              <a:t>6000</a:t>
            </a:r>
            <a:endParaRPr lang="en-IN" dirty="0">
              <a:solidFill>
                <a:schemeClr val="tx1"/>
              </a:solidFill>
            </a:endParaRPr>
          </a:p>
        </p:txBody>
      </p:sp>
      <p:sp>
        <p:nvSpPr>
          <p:cNvPr id="12" name="Rectangle 11">
            <a:extLst>
              <a:ext uri="{FF2B5EF4-FFF2-40B4-BE49-F238E27FC236}">
                <a16:creationId xmlns:a16="http://schemas.microsoft.com/office/drawing/2014/main" id="{0CDE424C-826F-47CF-B63F-708B775B4BB2}"/>
              </a:ext>
            </a:extLst>
          </p:cNvPr>
          <p:cNvSpPr/>
          <p:nvPr/>
        </p:nvSpPr>
        <p:spPr>
          <a:xfrm>
            <a:off x="9072516" y="1677970"/>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int sum(int x, int y)</a:t>
            </a:r>
          </a:p>
          <a:p>
            <a:r>
              <a:rPr lang="en-IN" sz="1400" dirty="0">
                <a:solidFill>
                  <a:schemeClr val="tx1"/>
                </a:solidFill>
              </a:rPr>
              <a:t>        {             return x + y;</a:t>
            </a:r>
          </a:p>
          <a:p>
            <a:r>
              <a:rPr lang="en-IN" sz="1400" dirty="0">
                <a:solidFill>
                  <a:schemeClr val="tx1"/>
                </a:solidFill>
              </a:rPr>
              <a:t>           }</a:t>
            </a:r>
          </a:p>
        </p:txBody>
      </p:sp>
      <p:sp>
        <p:nvSpPr>
          <p:cNvPr id="14" name="Rectangle 13">
            <a:extLst>
              <a:ext uri="{FF2B5EF4-FFF2-40B4-BE49-F238E27FC236}">
                <a16:creationId xmlns:a16="http://schemas.microsoft.com/office/drawing/2014/main" id="{E21FB4B0-8B12-4355-83C1-14C1619B137F}"/>
              </a:ext>
            </a:extLst>
          </p:cNvPr>
          <p:cNvSpPr/>
          <p:nvPr/>
        </p:nvSpPr>
        <p:spPr>
          <a:xfrm>
            <a:off x="7852528"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15" name="Rectangle 14">
            <a:extLst>
              <a:ext uri="{FF2B5EF4-FFF2-40B4-BE49-F238E27FC236}">
                <a16:creationId xmlns:a16="http://schemas.microsoft.com/office/drawing/2014/main" id="{1EDB50FF-002F-4E5A-874D-54B23A268476}"/>
              </a:ext>
            </a:extLst>
          </p:cNvPr>
          <p:cNvSpPr/>
          <p:nvPr/>
        </p:nvSpPr>
        <p:spPr>
          <a:xfrm>
            <a:off x="6381946" y="1923068"/>
            <a:ext cx="942681" cy="263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myobj</a:t>
            </a:r>
            <a:endParaRPr lang="en-IN" dirty="0">
              <a:solidFill>
                <a:schemeClr val="tx1"/>
              </a:solidFill>
            </a:endParaRPr>
          </a:p>
        </p:txBody>
      </p:sp>
      <p:sp>
        <p:nvSpPr>
          <p:cNvPr id="16" name="Rectangle 15">
            <a:extLst>
              <a:ext uri="{FF2B5EF4-FFF2-40B4-BE49-F238E27FC236}">
                <a16:creationId xmlns:a16="http://schemas.microsoft.com/office/drawing/2014/main" id="{63AFE5F0-070B-46F3-90E4-C892E4FE09D5}"/>
              </a:ext>
            </a:extLst>
          </p:cNvPr>
          <p:cNvSpPr/>
          <p:nvPr/>
        </p:nvSpPr>
        <p:spPr>
          <a:xfrm>
            <a:off x="9813303" y="2931738"/>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sp>
        <p:nvSpPr>
          <p:cNvPr id="17" name="Rectangle 16">
            <a:extLst>
              <a:ext uri="{FF2B5EF4-FFF2-40B4-BE49-F238E27FC236}">
                <a16:creationId xmlns:a16="http://schemas.microsoft.com/office/drawing/2014/main" id="{51F654B2-40A2-4D6C-83D5-8ED68BBFB16E}"/>
              </a:ext>
            </a:extLst>
          </p:cNvPr>
          <p:cNvSpPr/>
          <p:nvPr/>
        </p:nvSpPr>
        <p:spPr>
          <a:xfrm>
            <a:off x="7712698" y="1185420"/>
            <a:ext cx="1359818" cy="3770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new </a:t>
            </a:r>
            <a:r>
              <a:rPr lang="en-IN" dirty="0" err="1">
                <a:solidFill>
                  <a:srgbClr val="FF0000"/>
                </a:solidFill>
              </a:rPr>
              <a:t>MyMath</a:t>
            </a:r>
            <a:endParaRPr lang="en-IN" dirty="0">
              <a:solidFill>
                <a:srgbClr val="FF0000"/>
              </a:solidFill>
            </a:endParaRPr>
          </a:p>
        </p:txBody>
      </p:sp>
      <p:cxnSp>
        <p:nvCxnSpPr>
          <p:cNvPr id="19" name="Straight Arrow Connector 18">
            <a:extLst>
              <a:ext uri="{FF2B5EF4-FFF2-40B4-BE49-F238E27FC236}">
                <a16:creationId xmlns:a16="http://schemas.microsoft.com/office/drawing/2014/main" id="{E8982FEF-7757-49DE-8CDC-82C37EE5774C}"/>
              </a:ext>
            </a:extLst>
          </p:cNvPr>
          <p:cNvCxnSpPr/>
          <p:nvPr/>
        </p:nvCxnSpPr>
        <p:spPr>
          <a:xfrm flipH="1">
            <a:off x="5603475" y="2092754"/>
            <a:ext cx="1135912" cy="166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3A8A4C2-2B68-416A-A6E5-D111A665C0AC}"/>
              </a:ext>
            </a:extLst>
          </p:cNvPr>
          <p:cNvCxnSpPr/>
          <p:nvPr/>
        </p:nvCxnSpPr>
        <p:spPr>
          <a:xfrm>
            <a:off x="8770070" y="2540527"/>
            <a:ext cx="169684" cy="1272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117550C-DDD0-408F-B312-D1CE062E4009}"/>
              </a:ext>
            </a:extLst>
          </p:cNvPr>
          <p:cNvSpPr/>
          <p:nvPr/>
        </p:nvSpPr>
        <p:spPr>
          <a:xfrm>
            <a:off x="4588497" y="2220012"/>
            <a:ext cx="1236482" cy="414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Reference</a:t>
            </a:r>
          </a:p>
        </p:txBody>
      </p:sp>
      <p:sp>
        <p:nvSpPr>
          <p:cNvPr id="22" name="Rectangle 21">
            <a:extLst>
              <a:ext uri="{FF2B5EF4-FFF2-40B4-BE49-F238E27FC236}">
                <a16:creationId xmlns:a16="http://schemas.microsoft.com/office/drawing/2014/main" id="{CE93E0EE-C4EC-408B-8D21-47FF04B4D211}"/>
              </a:ext>
            </a:extLst>
          </p:cNvPr>
          <p:cNvSpPr/>
          <p:nvPr/>
        </p:nvSpPr>
        <p:spPr>
          <a:xfrm>
            <a:off x="8551685" y="3833172"/>
            <a:ext cx="1252720" cy="325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a:t>
            </a:r>
          </a:p>
        </p:txBody>
      </p:sp>
      <p:sp>
        <p:nvSpPr>
          <p:cNvPr id="23" name="Rectangle 22">
            <a:extLst>
              <a:ext uri="{FF2B5EF4-FFF2-40B4-BE49-F238E27FC236}">
                <a16:creationId xmlns:a16="http://schemas.microsoft.com/office/drawing/2014/main" id="{289FB5F7-CAE2-4705-A719-D2FEF7360C4F}"/>
              </a:ext>
            </a:extLst>
          </p:cNvPr>
          <p:cNvSpPr/>
          <p:nvPr/>
        </p:nvSpPr>
        <p:spPr>
          <a:xfrm>
            <a:off x="6198908" y="1668548"/>
            <a:ext cx="1359818" cy="33182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D21E741D-DD12-459C-9EB5-0C64A5413420}"/>
              </a:ext>
            </a:extLst>
          </p:cNvPr>
          <p:cNvCxnSpPr/>
          <p:nvPr/>
        </p:nvCxnSpPr>
        <p:spPr>
          <a:xfrm>
            <a:off x="6890991" y="5052766"/>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B7743D3-6585-49B8-B4AA-F4EB3C79F58F}"/>
              </a:ext>
            </a:extLst>
          </p:cNvPr>
          <p:cNvCxnSpPr/>
          <p:nvPr/>
        </p:nvCxnSpPr>
        <p:spPr>
          <a:xfrm>
            <a:off x="8551685" y="5148604"/>
            <a:ext cx="386499" cy="51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97A0F2B-D2A5-409B-9B9A-542ABF913645}"/>
              </a:ext>
            </a:extLst>
          </p:cNvPr>
          <p:cNvSpPr/>
          <p:nvPr/>
        </p:nvSpPr>
        <p:spPr>
          <a:xfrm>
            <a:off x="6853286" y="5672580"/>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Stack</a:t>
            </a:r>
          </a:p>
        </p:txBody>
      </p:sp>
      <p:sp>
        <p:nvSpPr>
          <p:cNvPr id="29" name="Rectangle 28">
            <a:extLst>
              <a:ext uri="{FF2B5EF4-FFF2-40B4-BE49-F238E27FC236}">
                <a16:creationId xmlns:a16="http://schemas.microsoft.com/office/drawing/2014/main" id="{12BB4D0D-539E-4827-9609-8D522FA22BE2}"/>
              </a:ext>
            </a:extLst>
          </p:cNvPr>
          <p:cNvSpPr/>
          <p:nvPr/>
        </p:nvSpPr>
        <p:spPr>
          <a:xfrm>
            <a:off x="8697013" y="5718528"/>
            <a:ext cx="859412" cy="337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Heap</a:t>
            </a:r>
          </a:p>
        </p:txBody>
      </p:sp>
      <p:cxnSp>
        <p:nvCxnSpPr>
          <p:cNvPr id="31" name="Straight Arrow Connector 30">
            <a:extLst>
              <a:ext uri="{FF2B5EF4-FFF2-40B4-BE49-F238E27FC236}">
                <a16:creationId xmlns:a16="http://schemas.microsoft.com/office/drawing/2014/main" id="{6C12488A-D48C-49D0-98EA-4D757477C60E}"/>
              </a:ext>
            </a:extLst>
          </p:cNvPr>
          <p:cNvCxnSpPr>
            <a:cxnSpLocks/>
          </p:cNvCxnSpPr>
          <p:nvPr/>
        </p:nvCxnSpPr>
        <p:spPr>
          <a:xfrm>
            <a:off x="7277490" y="2540527"/>
            <a:ext cx="5750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025706-8B6F-4BC1-B02E-8EDC1BB220D7}"/>
              </a:ext>
            </a:extLst>
          </p:cNvPr>
          <p:cNvSpPr txBox="1"/>
          <p:nvPr/>
        </p:nvSpPr>
        <p:spPr>
          <a:xfrm>
            <a:off x="6457360" y="4529576"/>
            <a:ext cx="433630"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12</a:t>
            </a:r>
            <a:endParaRPr lang="en-IN" dirty="0"/>
          </a:p>
        </p:txBody>
      </p:sp>
      <p:sp>
        <p:nvSpPr>
          <p:cNvPr id="6" name="TextBox 5">
            <a:extLst>
              <a:ext uri="{FF2B5EF4-FFF2-40B4-BE49-F238E27FC236}">
                <a16:creationId xmlns:a16="http://schemas.microsoft.com/office/drawing/2014/main" id="{41D40A99-1B1F-4C99-9B96-934D3DB82368}"/>
              </a:ext>
            </a:extLst>
          </p:cNvPr>
          <p:cNvSpPr txBox="1"/>
          <p:nvPr/>
        </p:nvSpPr>
        <p:spPr>
          <a:xfrm>
            <a:off x="6826031" y="4562906"/>
            <a:ext cx="914400" cy="369332"/>
          </a:xfrm>
          <a:prstGeom prst="rect">
            <a:avLst/>
          </a:prstGeom>
          <a:noFill/>
        </p:spPr>
        <p:txBody>
          <a:bodyPr wrap="square" rtlCol="0">
            <a:spAutoFit/>
          </a:bodyPr>
          <a:lstStyle/>
          <a:p>
            <a:r>
              <a:rPr lang="en-IN" dirty="0"/>
              <a:t>r1</a:t>
            </a:r>
          </a:p>
        </p:txBody>
      </p:sp>
      <p:sp>
        <p:nvSpPr>
          <p:cNvPr id="32" name="Rectangle 31">
            <a:extLst>
              <a:ext uri="{FF2B5EF4-FFF2-40B4-BE49-F238E27FC236}">
                <a16:creationId xmlns:a16="http://schemas.microsoft.com/office/drawing/2014/main" id="{0CDE424C-826F-47CF-B63F-708B775B4BB2}"/>
              </a:ext>
            </a:extLst>
          </p:cNvPr>
          <p:cNvSpPr/>
          <p:nvPr/>
        </p:nvSpPr>
        <p:spPr>
          <a:xfrm>
            <a:off x="10219441" y="3398363"/>
            <a:ext cx="2128886" cy="1084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solidFill>
                  <a:schemeClr val="tx1"/>
                </a:solidFill>
              </a:rPr>
              <a:t> public </a:t>
            </a:r>
            <a:r>
              <a:rPr lang="en-IN" sz="1400" dirty="0" err="1">
                <a:solidFill>
                  <a:schemeClr val="tx1"/>
                </a:solidFill>
              </a:rPr>
              <a:t>int</a:t>
            </a:r>
            <a:r>
              <a:rPr lang="en-IN" sz="1400" dirty="0">
                <a:solidFill>
                  <a:schemeClr val="tx1"/>
                </a:solidFill>
              </a:rPr>
              <a:t> </a:t>
            </a:r>
            <a:r>
              <a:rPr lang="en-IN" sz="1400" dirty="0" err="1">
                <a:solidFill>
                  <a:schemeClr val="tx1"/>
                </a:solidFill>
              </a:rPr>
              <a:t>sqr</a:t>
            </a:r>
            <a:r>
              <a:rPr lang="en-IN" sz="1400" dirty="0">
                <a:solidFill>
                  <a:schemeClr val="tx1"/>
                </a:solidFill>
              </a:rPr>
              <a:t>(</a:t>
            </a:r>
            <a:r>
              <a:rPr lang="en-IN" sz="1400" dirty="0" err="1">
                <a:solidFill>
                  <a:schemeClr val="tx1"/>
                </a:solidFill>
              </a:rPr>
              <a:t>int</a:t>
            </a:r>
            <a:r>
              <a:rPr lang="en-IN" sz="1400" dirty="0">
                <a:solidFill>
                  <a:schemeClr val="tx1"/>
                </a:solidFill>
              </a:rPr>
              <a:t> x)</a:t>
            </a:r>
          </a:p>
          <a:p>
            <a:r>
              <a:rPr lang="en-IN" sz="1400" dirty="0">
                <a:solidFill>
                  <a:schemeClr val="tx1"/>
                </a:solidFill>
              </a:rPr>
              <a:t>        {             return x *x;</a:t>
            </a:r>
          </a:p>
          <a:p>
            <a:r>
              <a:rPr lang="en-IN" sz="1400" dirty="0">
                <a:solidFill>
                  <a:schemeClr val="tx1"/>
                </a:solidFill>
              </a:rPr>
              <a:t>           }</a:t>
            </a:r>
          </a:p>
        </p:txBody>
      </p:sp>
      <p:sp>
        <p:nvSpPr>
          <p:cNvPr id="34" name="Rectangle 33">
            <a:extLst>
              <a:ext uri="{FF2B5EF4-FFF2-40B4-BE49-F238E27FC236}">
                <a16:creationId xmlns:a16="http://schemas.microsoft.com/office/drawing/2014/main" id="{63AFE5F0-070B-46F3-90E4-C892E4FE09D5}"/>
              </a:ext>
            </a:extLst>
          </p:cNvPr>
          <p:cNvSpPr/>
          <p:nvPr/>
        </p:nvSpPr>
        <p:spPr>
          <a:xfrm>
            <a:off x="10272726" y="4644632"/>
            <a:ext cx="904973" cy="2450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6000</a:t>
            </a:r>
          </a:p>
        </p:txBody>
      </p:sp>
      <p:sp>
        <p:nvSpPr>
          <p:cNvPr id="7" name="Rectangle 6"/>
          <p:cNvSpPr/>
          <p:nvPr/>
        </p:nvSpPr>
        <p:spPr>
          <a:xfrm>
            <a:off x="6381946" y="3511296"/>
            <a:ext cx="471340" cy="4206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25</a:t>
            </a:r>
            <a:endParaRPr lang="en-IN" dirty="0"/>
          </a:p>
        </p:txBody>
      </p:sp>
      <p:sp>
        <p:nvSpPr>
          <p:cNvPr id="9" name="Rectangle 8"/>
          <p:cNvSpPr/>
          <p:nvPr/>
        </p:nvSpPr>
        <p:spPr>
          <a:xfrm>
            <a:off x="6885495" y="3559792"/>
            <a:ext cx="616575" cy="3676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r2</a:t>
            </a:r>
            <a:endParaRPr lang="en-IN" dirty="0"/>
          </a:p>
        </p:txBody>
      </p:sp>
    </p:spTree>
    <p:extLst>
      <p:ext uri="{BB962C8B-B14F-4D97-AF65-F5344CB8AC3E}">
        <p14:creationId xmlns:p14="http://schemas.microsoft.com/office/powerpoint/2010/main" val="3365040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90DCA5-D7E9-4685-ACE1-82B569A63618}"/>
              </a:ext>
            </a:extLst>
          </p:cNvPr>
          <p:cNvSpPr>
            <a:spLocks noGrp="1"/>
          </p:cNvSpPr>
          <p:nvPr>
            <p:ph idx="1"/>
          </p:nvPr>
        </p:nvSpPr>
        <p:spPr>
          <a:xfrm>
            <a:off x="304800" y="884903"/>
            <a:ext cx="11049000" cy="5292060"/>
          </a:xfrm>
        </p:spPr>
        <p:txBody>
          <a:bodyPr>
            <a:normAutofit fontScale="77500" lnSpcReduction="20000"/>
          </a:bodyPr>
          <a:lstStyle/>
          <a:p>
            <a:r>
              <a:rPr lang="en-US" dirty="0"/>
              <a:t>How to start ILDASM</a:t>
            </a:r>
          </a:p>
          <a:p>
            <a:endParaRPr lang="en-US" dirty="0"/>
          </a:p>
          <a:p>
            <a:r>
              <a:rPr lang="en-US" dirty="0"/>
              <a:t>C:\Program Files\Microsoft SDKs\Windows\v6.0A\bin</a:t>
            </a:r>
          </a:p>
          <a:p>
            <a:endParaRPr lang="en-US" dirty="0"/>
          </a:p>
          <a:p>
            <a:r>
              <a:rPr lang="en-US" dirty="0"/>
              <a:t>click on </a:t>
            </a:r>
            <a:r>
              <a:rPr lang="en-US" dirty="0" err="1"/>
              <a:t>ildasm</a:t>
            </a:r>
            <a:r>
              <a:rPr lang="en-US" dirty="0"/>
              <a:t> file</a:t>
            </a:r>
          </a:p>
          <a:p>
            <a:pPr marL="0" indent="0">
              <a:buNone/>
            </a:pPr>
            <a:endParaRPr lang="en-US" dirty="0"/>
          </a:p>
          <a:p>
            <a:r>
              <a:rPr lang="en-US" dirty="0"/>
              <a:t>open your exe file you will able to see some detail about classes ,methods </a:t>
            </a:r>
            <a:r>
              <a:rPr lang="en-US" dirty="0" err="1"/>
              <a:t>etc</a:t>
            </a:r>
            <a:endParaRPr lang="en-US" dirty="0"/>
          </a:p>
          <a:p>
            <a:endParaRPr lang="en-US" dirty="0"/>
          </a:p>
          <a:p>
            <a:r>
              <a:rPr lang="en-US" dirty="0"/>
              <a:t>or </a:t>
            </a:r>
          </a:p>
          <a:p>
            <a:r>
              <a:rPr lang="en-US" dirty="0"/>
              <a:t>open visual studio command prompt</a:t>
            </a:r>
          </a:p>
          <a:p>
            <a:r>
              <a:rPr lang="en-US" dirty="0"/>
              <a:t>type</a:t>
            </a:r>
          </a:p>
          <a:p>
            <a:r>
              <a:rPr lang="en-US" dirty="0"/>
              <a:t>ildasm.exe it will open the window</a:t>
            </a:r>
          </a:p>
          <a:p>
            <a:r>
              <a:rPr lang="en-US" dirty="0"/>
              <a:t>Using file option open your exe file</a:t>
            </a:r>
          </a:p>
          <a:p>
            <a:r>
              <a:rPr lang="en-US" dirty="0"/>
              <a:t>Where exe file get created ?see the next slide</a:t>
            </a:r>
            <a:endParaRPr lang="en-IN" dirty="0"/>
          </a:p>
        </p:txBody>
      </p:sp>
      <p:sp>
        <p:nvSpPr>
          <p:cNvPr id="2" name="TextBox 1">
            <a:extLst>
              <a:ext uri="{FF2B5EF4-FFF2-40B4-BE49-F238E27FC236}">
                <a16:creationId xmlns:a16="http://schemas.microsoft.com/office/drawing/2014/main" id="{9AA230BF-EFED-4F31-9284-9F29A071B2F1}"/>
              </a:ext>
            </a:extLst>
          </p:cNvPr>
          <p:cNvSpPr txBox="1"/>
          <p:nvPr/>
        </p:nvSpPr>
        <p:spPr>
          <a:xfrm>
            <a:off x="1514168" y="383458"/>
            <a:ext cx="10351828" cy="369332"/>
          </a:xfrm>
          <a:prstGeom prst="rect">
            <a:avLst/>
          </a:prstGeom>
          <a:noFill/>
        </p:spPr>
        <p:txBody>
          <a:bodyPr wrap="square" rtlCol="0">
            <a:spAutoFit/>
          </a:bodyPr>
          <a:lstStyle/>
          <a:p>
            <a:r>
              <a:rPr lang="en-IN" dirty="0" err="1"/>
              <a:t>Ildasm</a:t>
            </a:r>
            <a:r>
              <a:rPr lang="en-IN" dirty="0"/>
              <a:t> –Intermediate Language Disassembler will display metadata and MSIL code in readable format </a:t>
            </a:r>
          </a:p>
        </p:txBody>
      </p:sp>
    </p:spTree>
    <p:extLst>
      <p:ext uri="{BB962C8B-B14F-4D97-AF65-F5344CB8AC3E}">
        <p14:creationId xmlns:p14="http://schemas.microsoft.com/office/powerpoint/2010/main" val="270194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2106C9F-CFCC-4680-B164-C64F6FEF220E}"/>
              </a:ext>
            </a:extLst>
          </p:cNvPr>
          <p:cNvPicPr>
            <a:picLocks noChangeAspect="1"/>
          </p:cNvPicPr>
          <p:nvPr/>
        </p:nvPicPr>
        <p:blipFill rotWithShape="1">
          <a:blip r:embed="rId2"/>
          <a:srcRect l="-697" t="2285" r="11324" b="11304"/>
          <a:stretch/>
        </p:blipFill>
        <p:spPr>
          <a:xfrm>
            <a:off x="223520" y="762000"/>
            <a:ext cx="10424160" cy="5669280"/>
          </a:xfrm>
          <a:prstGeom prst="rect">
            <a:avLst/>
          </a:prstGeom>
        </p:spPr>
      </p:pic>
      <p:sp>
        <p:nvSpPr>
          <p:cNvPr id="12" name="TextBox 11">
            <a:extLst>
              <a:ext uri="{FF2B5EF4-FFF2-40B4-BE49-F238E27FC236}">
                <a16:creationId xmlns:a16="http://schemas.microsoft.com/office/drawing/2014/main" id="{D9E20550-5A44-416B-9B69-33796ACE3F1C}"/>
              </a:ext>
            </a:extLst>
          </p:cNvPr>
          <p:cNvSpPr txBox="1"/>
          <p:nvPr/>
        </p:nvSpPr>
        <p:spPr>
          <a:xfrm>
            <a:off x="1442720" y="242054"/>
            <a:ext cx="7345680" cy="369332"/>
          </a:xfrm>
          <a:prstGeom prst="rect">
            <a:avLst/>
          </a:prstGeom>
          <a:noFill/>
        </p:spPr>
        <p:txBody>
          <a:bodyPr wrap="square" rtlCol="0">
            <a:spAutoFit/>
          </a:bodyPr>
          <a:lstStyle/>
          <a:p>
            <a:r>
              <a:rPr lang="en-IN" dirty="0"/>
              <a:t>Right click on application and then click on open folder in file explorer</a:t>
            </a:r>
          </a:p>
        </p:txBody>
      </p:sp>
    </p:spTree>
    <p:extLst>
      <p:ext uri="{BB962C8B-B14F-4D97-AF65-F5344CB8AC3E}">
        <p14:creationId xmlns:p14="http://schemas.microsoft.com/office/powerpoint/2010/main" val="2565431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5275EF-D2B8-2CB8-C8AF-687928F76B95}"/>
              </a:ext>
            </a:extLst>
          </p:cNvPr>
          <p:cNvSpPr txBox="1"/>
          <p:nvPr/>
        </p:nvSpPr>
        <p:spPr>
          <a:xfrm>
            <a:off x="1270000" y="355600"/>
            <a:ext cx="9973733" cy="369332"/>
          </a:xfrm>
          <a:prstGeom prst="rect">
            <a:avLst/>
          </a:prstGeom>
          <a:noFill/>
        </p:spPr>
        <p:txBody>
          <a:bodyPr wrap="square" rtlCol="0">
            <a:spAutoFit/>
          </a:bodyPr>
          <a:lstStyle/>
          <a:p>
            <a:r>
              <a:rPr lang="en-IN" dirty="0"/>
              <a:t>If you are using </a:t>
            </a:r>
            <a:r>
              <a:rPr lang="en-IN" dirty="0" err="1"/>
              <a:t>vscode</a:t>
            </a:r>
            <a:endParaRPr lang="en-IN" dirty="0"/>
          </a:p>
        </p:txBody>
      </p:sp>
      <p:sp>
        <p:nvSpPr>
          <p:cNvPr id="5" name="Rectangle 1">
            <a:extLst>
              <a:ext uri="{FF2B5EF4-FFF2-40B4-BE49-F238E27FC236}">
                <a16:creationId xmlns:a16="http://schemas.microsoft.com/office/drawing/2014/main" id="{983D543A-0C73-0733-D4F9-F21323821F10}"/>
              </a:ext>
            </a:extLst>
          </p:cNvPr>
          <p:cNvSpPr>
            <a:spLocks noChangeArrowheads="1"/>
          </p:cNvSpPr>
          <p:nvPr/>
        </p:nvSpPr>
        <p:spPr bwMode="auto">
          <a:xfrm>
            <a:off x="330200" y="1664959"/>
            <a:ext cx="840858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0" i="0" u="none" strike="noStrike" cap="none" normalizeH="0" baseline="0" dirty="0">
                <a:ln>
                  <a:noFill/>
                </a:ln>
                <a:solidFill>
                  <a:srgbClr val="0C0D0E"/>
                </a:solidFill>
                <a:effectLst/>
                <a:latin typeface="inherit"/>
              </a:rPr>
              <a:t>dotnet </a:t>
            </a:r>
            <a:r>
              <a:rPr kumimoji="0" lang="en-US" altLang="en-US" sz="3600" b="0" i="0" u="none" strike="noStrike" cap="none" normalizeH="0" baseline="0" dirty="0">
                <a:ln>
                  <a:noFill/>
                </a:ln>
                <a:solidFill>
                  <a:srgbClr val="0C0D0E"/>
                </a:solidFill>
                <a:effectLst/>
                <a:latin typeface="inherit"/>
              </a:rPr>
              <a:t>new</a:t>
            </a:r>
            <a:r>
              <a:rPr kumimoji="0" lang="en-US" altLang="en-US" sz="4000" b="0" i="0" u="none" strike="noStrike" cap="none" normalizeH="0" baseline="0" dirty="0">
                <a:ln>
                  <a:noFill/>
                </a:ln>
                <a:solidFill>
                  <a:srgbClr val="0C0D0E"/>
                </a:solidFill>
                <a:effectLst/>
                <a:latin typeface="inherit"/>
              </a:rPr>
              <a:t> console --use-program-main</a:t>
            </a:r>
            <a:r>
              <a:rPr kumimoji="0" lang="en-US" altLang="en-US" sz="3200" b="0" i="0" u="none" strike="noStrike" cap="none" normalizeH="0" baseline="0" dirty="0">
                <a:ln>
                  <a:noFill/>
                </a:ln>
                <a:solidFill>
                  <a:schemeClr val="tx1"/>
                </a:solidFill>
                <a:effectLst/>
              </a:rPr>
              <a:t> </a:t>
            </a:r>
            <a:endParaRPr kumimoji="0" lang="en-US" altLang="en-US" sz="7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5500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FD95-09D2-40B4-B0EE-CD8B8EBD4923}"/>
              </a:ext>
            </a:extLst>
          </p:cNvPr>
          <p:cNvSpPr>
            <a:spLocks noGrp="1"/>
          </p:cNvSpPr>
          <p:nvPr>
            <p:ph type="title"/>
          </p:nvPr>
        </p:nvSpPr>
        <p:spPr>
          <a:xfrm>
            <a:off x="944880" y="365125"/>
            <a:ext cx="10408920" cy="610235"/>
          </a:xfrm>
        </p:spPr>
        <p:txBody>
          <a:bodyPr>
            <a:noAutofit/>
          </a:bodyPr>
          <a:lstStyle/>
          <a:p>
            <a:r>
              <a:rPr lang="en-IN" sz="2800" dirty="0"/>
              <a:t>D:\practice\ConsoleApplication17\ConsoleApplication17\bin\Debug</a:t>
            </a:r>
            <a:br>
              <a:rPr lang="en-IN" sz="2800" dirty="0"/>
            </a:br>
            <a:r>
              <a:rPr lang="en-IN" sz="2800" dirty="0"/>
              <a:t>in debug folder you will see file with type Application. This file you have to open in </a:t>
            </a:r>
            <a:r>
              <a:rPr lang="en-IN" sz="2800" dirty="0" err="1"/>
              <a:t>ildasm</a:t>
            </a:r>
            <a:endParaRPr lang="en-IN" sz="2800" dirty="0"/>
          </a:p>
        </p:txBody>
      </p:sp>
      <p:pic>
        <p:nvPicPr>
          <p:cNvPr id="5" name="Content Placeholder 4">
            <a:extLst>
              <a:ext uri="{FF2B5EF4-FFF2-40B4-BE49-F238E27FC236}">
                <a16:creationId xmlns:a16="http://schemas.microsoft.com/office/drawing/2014/main" id="{84B1D16A-D83C-4B78-BE35-1D3802FB0A78}"/>
              </a:ext>
            </a:extLst>
          </p:cNvPr>
          <p:cNvPicPr>
            <a:picLocks noGrp="1" noChangeAspect="1"/>
          </p:cNvPicPr>
          <p:nvPr>
            <p:ph idx="1"/>
          </p:nvPr>
        </p:nvPicPr>
        <p:blipFill>
          <a:blip r:embed="rId2"/>
          <a:stretch>
            <a:fillRect/>
          </a:stretch>
        </p:blipFill>
        <p:spPr>
          <a:xfrm>
            <a:off x="944880" y="1231106"/>
            <a:ext cx="9516816" cy="5353209"/>
          </a:xfrm>
        </p:spPr>
      </p:pic>
    </p:spTree>
    <p:extLst>
      <p:ext uri="{BB962C8B-B14F-4D97-AF65-F5344CB8AC3E}">
        <p14:creationId xmlns:p14="http://schemas.microsoft.com/office/powerpoint/2010/main" val="3066326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1590</TotalTime>
  <Words>1316</Words>
  <Application>Microsoft Office PowerPoint</Application>
  <PresentationFormat>Widescreen</PresentationFormat>
  <Paragraphs>195</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Calibri</vt:lpstr>
      <vt:lpstr>Cambria</vt:lpstr>
      <vt:lpstr>Cascadia Mono</vt:lpstr>
      <vt:lpstr>Consolas</vt:lpstr>
      <vt:lpstr>Garamond</vt:lpstr>
      <vt:lpstr>inherit</vt:lpstr>
      <vt:lpstr>Segoe UI</vt:lpstr>
      <vt:lpstr>Times New Roman</vt:lpstr>
      <vt:lpstr>Wingdings</vt:lpstr>
      <vt:lpstr>Office Theme</vt:lpstr>
      <vt:lpstr>PowerPoint Presentation</vt:lpstr>
      <vt:lpstr>Basic example</vt:lpstr>
      <vt:lpstr>PowerPoint Presentation</vt:lpstr>
      <vt:lpstr> When you compile a C# application </vt:lpstr>
      <vt:lpstr>Os_CorExeMainCLRMain CLRJITNative code</vt:lpstr>
      <vt:lpstr>PowerPoint Presentation</vt:lpstr>
      <vt:lpstr>PowerPoint Presentation</vt:lpstr>
      <vt:lpstr>PowerPoint Presentation</vt:lpstr>
      <vt:lpstr>PowerPoint Presentation</vt:lpstr>
      <vt:lpstr>PowerPoint Presentation</vt:lpstr>
      <vt:lpstr>D:\practice\ConsoleApplication17\ConsoleApplication17\bin\Debug in debug folder you will see file with type Application. This file you have to open in ildasm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example</dc:title>
  <dc:creator>Sriram Mantri vidyanidhi infotech academy</dc:creator>
  <cp:lastModifiedBy>Atharva Mhargude</cp:lastModifiedBy>
  <cp:revision>50</cp:revision>
  <dcterms:created xsi:type="dcterms:W3CDTF">2020-07-04T14:06:48Z</dcterms:created>
  <dcterms:modified xsi:type="dcterms:W3CDTF">2025-10-12T09:22:55Z</dcterms:modified>
</cp:coreProperties>
</file>