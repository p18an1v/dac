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200" d="100"/>
        <a:sy n="2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C55CE-840D-44A0-8A76-C4005F35F47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2608EED-9A28-4A23-992E-2A4202406FA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61A860D-E0F3-459A-9235-61E8B710A460}"/>
              </a:ext>
            </a:extLst>
          </p:cNvPr>
          <p:cNvSpPr>
            <a:spLocks noGrp="1"/>
          </p:cNvSpPr>
          <p:nvPr>
            <p:ph type="dt" sz="half" idx="10"/>
          </p:nvPr>
        </p:nvSpPr>
        <p:spPr/>
        <p:txBody>
          <a:bodyPr/>
          <a:lstStyle/>
          <a:p>
            <a:fld id="{A0030DF7-C36D-4655-B47C-43612AC6CB30}" type="datetimeFigureOut">
              <a:rPr lang="en-IN" smtClean="0"/>
              <a:t>15-10-2025</a:t>
            </a:fld>
            <a:endParaRPr lang="en-IN"/>
          </a:p>
        </p:txBody>
      </p:sp>
      <p:sp>
        <p:nvSpPr>
          <p:cNvPr id="5" name="Footer Placeholder 4">
            <a:extLst>
              <a:ext uri="{FF2B5EF4-FFF2-40B4-BE49-F238E27FC236}">
                <a16:creationId xmlns:a16="http://schemas.microsoft.com/office/drawing/2014/main" id="{247131D1-A51B-44DD-8B47-D4024102BCA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8CBACED-81AE-4D50-B192-F100C5BD7CB9}"/>
              </a:ext>
            </a:extLst>
          </p:cNvPr>
          <p:cNvSpPr>
            <a:spLocks noGrp="1"/>
          </p:cNvSpPr>
          <p:nvPr>
            <p:ph type="sldNum" sz="quarter" idx="12"/>
          </p:nvPr>
        </p:nvSpPr>
        <p:spPr/>
        <p:txBody>
          <a:bodyPr/>
          <a:lstStyle/>
          <a:p>
            <a:fld id="{51560A6E-94A6-4D56-990A-949A3915CB78}" type="slidenum">
              <a:rPr lang="en-IN" smtClean="0"/>
              <a:t>‹#›</a:t>
            </a:fld>
            <a:endParaRPr lang="en-IN"/>
          </a:p>
        </p:txBody>
      </p:sp>
    </p:spTree>
    <p:extLst>
      <p:ext uri="{BB962C8B-B14F-4D97-AF65-F5344CB8AC3E}">
        <p14:creationId xmlns:p14="http://schemas.microsoft.com/office/powerpoint/2010/main" val="39009552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BAFB2-DD3E-42EC-988B-1E84F8364B0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E33CE57-78BB-495A-8B9F-05EF09BEAA7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D9CF344-D97F-4E79-A198-26EF74FA6E33}"/>
              </a:ext>
            </a:extLst>
          </p:cNvPr>
          <p:cNvSpPr>
            <a:spLocks noGrp="1"/>
          </p:cNvSpPr>
          <p:nvPr>
            <p:ph type="dt" sz="half" idx="10"/>
          </p:nvPr>
        </p:nvSpPr>
        <p:spPr/>
        <p:txBody>
          <a:bodyPr/>
          <a:lstStyle/>
          <a:p>
            <a:fld id="{A0030DF7-C36D-4655-B47C-43612AC6CB30}" type="datetimeFigureOut">
              <a:rPr lang="en-IN" smtClean="0"/>
              <a:t>15-10-2025</a:t>
            </a:fld>
            <a:endParaRPr lang="en-IN"/>
          </a:p>
        </p:txBody>
      </p:sp>
      <p:sp>
        <p:nvSpPr>
          <p:cNvPr id="5" name="Footer Placeholder 4">
            <a:extLst>
              <a:ext uri="{FF2B5EF4-FFF2-40B4-BE49-F238E27FC236}">
                <a16:creationId xmlns:a16="http://schemas.microsoft.com/office/drawing/2014/main" id="{209EF034-5C9F-4A60-9AE5-183531A755D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E67C181-8E44-40C3-940C-89DE7BD2439C}"/>
              </a:ext>
            </a:extLst>
          </p:cNvPr>
          <p:cNvSpPr>
            <a:spLocks noGrp="1"/>
          </p:cNvSpPr>
          <p:nvPr>
            <p:ph type="sldNum" sz="quarter" idx="12"/>
          </p:nvPr>
        </p:nvSpPr>
        <p:spPr/>
        <p:txBody>
          <a:bodyPr/>
          <a:lstStyle/>
          <a:p>
            <a:fld id="{51560A6E-94A6-4D56-990A-949A3915CB78}" type="slidenum">
              <a:rPr lang="en-IN" smtClean="0"/>
              <a:t>‹#›</a:t>
            </a:fld>
            <a:endParaRPr lang="en-IN"/>
          </a:p>
        </p:txBody>
      </p:sp>
    </p:spTree>
    <p:extLst>
      <p:ext uri="{BB962C8B-B14F-4D97-AF65-F5344CB8AC3E}">
        <p14:creationId xmlns:p14="http://schemas.microsoft.com/office/powerpoint/2010/main" val="23294181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6C91F-FEE3-49CE-AA91-7457437B649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7D0B337-23F1-41FF-97A6-1F242B7673E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E9928B-B7B9-4E11-9103-47953D0F195D}"/>
              </a:ext>
            </a:extLst>
          </p:cNvPr>
          <p:cNvSpPr>
            <a:spLocks noGrp="1"/>
          </p:cNvSpPr>
          <p:nvPr>
            <p:ph type="dt" sz="half" idx="10"/>
          </p:nvPr>
        </p:nvSpPr>
        <p:spPr/>
        <p:txBody>
          <a:bodyPr/>
          <a:lstStyle/>
          <a:p>
            <a:fld id="{A0030DF7-C36D-4655-B47C-43612AC6CB30}" type="datetimeFigureOut">
              <a:rPr lang="en-IN" smtClean="0"/>
              <a:t>15-10-2025</a:t>
            </a:fld>
            <a:endParaRPr lang="en-IN"/>
          </a:p>
        </p:txBody>
      </p:sp>
      <p:sp>
        <p:nvSpPr>
          <p:cNvPr id="5" name="Footer Placeholder 4">
            <a:extLst>
              <a:ext uri="{FF2B5EF4-FFF2-40B4-BE49-F238E27FC236}">
                <a16:creationId xmlns:a16="http://schemas.microsoft.com/office/drawing/2014/main" id="{B20FEACF-5E2D-446B-8BDF-C703CD13446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BE77F23-0FD7-4E00-BF06-1243E28653AF}"/>
              </a:ext>
            </a:extLst>
          </p:cNvPr>
          <p:cNvSpPr>
            <a:spLocks noGrp="1"/>
          </p:cNvSpPr>
          <p:nvPr>
            <p:ph type="sldNum" sz="quarter" idx="12"/>
          </p:nvPr>
        </p:nvSpPr>
        <p:spPr/>
        <p:txBody>
          <a:bodyPr/>
          <a:lstStyle/>
          <a:p>
            <a:fld id="{51560A6E-94A6-4D56-990A-949A3915CB78}" type="slidenum">
              <a:rPr lang="en-IN" smtClean="0"/>
              <a:t>‹#›</a:t>
            </a:fld>
            <a:endParaRPr lang="en-IN"/>
          </a:p>
        </p:txBody>
      </p:sp>
    </p:spTree>
    <p:extLst>
      <p:ext uri="{BB962C8B-B14F-4D97-AF65-F5344CB8AC3E}">
        <p14:creationId xmlns:p14="http://schemas.microsoft.com/office/powerpoint/2010/main" val="18328199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14CAF-DEA3-4D7D-94AA-CC967F779BB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2DA8617-DA33-40BF-B915-AB4E39F2C10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7001E42-5B28-48A2-B8BF-08EABD78A18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5AD3A77-E38A-4031-BB72-7DAF81F9CBD2}"/>
              </a:ext>
            </a:extLst>
          </p:cNvPr>
          <p:cNvSpPr>
            <a:spLocks noGrp="1"/>
          </p:cNvSpPr>
          <p:nvPr>
            <p:ph type="dt" sz="half" idx="10"/>
          </p:nvPr>
        </p:nvSpPr>
        <p:spPr/>
        <p:txBody>
          <a:bodyPr/>
          <a:lstStyle/>
          <a:p>
            <a:fld id="{A0030DF7-C36D-4655-B47C-43612AC6CB30}" type="datetimeFigureOut">
              <a:rPr lang="en-IN" smtClean="0"/>
              <a:t>15-10-2025</a:t>
            </a:fld>
            <a:endParaRPr lang="en-IN"/>
          </a:p>
        </p:txBody>
      </p:sp>
      <p:sp>
        <p:nvSpPr>
          <p:cNvPr id="6" name="Footer Placeholder 5">
            <a:extLst>
              <a:ext uri="{FF2B5EF4-FFF2-40B4-BE49-F238E27FC236}">
                <a16:creationId xmlns:a16="http://schemas.microsoft.com/office/drawing/2014/main" id="{529DF956-D78E-4097-BBF8-42A060C828D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7EDECDF-9C62-4D34-89AF-B6EDAAF5A5E1}"/>
              </a:ext>
            </a:extLst>
          </p:cNvPr>
          <p:cNvSpPr>
            <a:spLocks noGrp="1"/>
          </p:cNvSpPr>
          <p:nvPr>
            <p:ph type="sldNum" sz="quarter" idx="12"/>
          </p:nvPr>
        </p:nvSpPr>
        <p:spPr/>
        <p:txBody>
          <a:bodyPr/>
          <a:lstStyle/>
          <a:p>
            <a:fld id="{51560A6E-94A6-4D56-990A-949A3915CB78}" type="slidenum">
              <a:rPr lang="en-IN" smtClean="0"/>
              <a:t>‹#›</a:t>
            </a:fld>
            <a:endParaRPr lang="en-IN"/>
          </a:p>
        </p:txBody>
      </p:sp>
    </p:spTree>
    <p:extLst>
      <p:ext uri="{BB962C8B-B14F-4D97-AF65-F5344CB8AC3E}">
        <p14:creationId xmlns:p14="http://schemas.microsoft.com/office/powerpoint/2010/main" val="22916467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A7B73-05CA-42A8-A363-D807196B348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1CEB086-9300-4EAD-9CA5-6F5AB4A0B48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A5BF180-D18D-49FD-A133-D18D2865B5B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0948106-C76F-4271-83CB-940393E7727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94987F-922A-4749-8BC5-84AE273EB65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11E507B-E3B9-437E-AC16-BA2A6D1288D8}"/>
              </a:ext>
            </a:extLst>
          </p:cNvPr>
          <p:cNvSpPr>
            <a:spLocks noGrp="1"/>
          </p:cNvSpPr>
          <p:nvPr>
            <p:ph type="dt" sz="half" idx="10"/>
          </p:nvPr>
        </p:nvSpPr>
        <p:spPr/>
        <p:txBody>
          <a:bodyPr/>
          <a:lstStyle/>
          <a:p>
            <a:fld id="{A0030DF7-C36D-4655-B47C-43612AC6CB30}" type="datetimeFigureOut">
              <a:rPr lang="en-IN" smtClean="0"/>
              <a:t>15-10-2025</a:t>
            </a:fld>
            <a:endParaRPr lang="en-IN"/>
          </a:p>
        </p:txBody>
      </p:sp>
      <p:sp>
        <p:nvSpPr>
          <p:cNvPr id="8" name="Footer Placeholder 7">
            <a:extLst>
              <a:ext uri="{FF2B5EF4-FFF2-40B4-BE49-F238E27FC236}">
                <a16:creationId xmlns:a16="http://schemas.microsoft.com/office/drawing/2014/main" id="{F20A3FEB-11C7-485A-9A38-8A782934EEE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5249F8A-9713-4BE3-ACD3-E02A0A52802E}"/>
              </a:ext>
            </a:extLst>
          </p:cNvPr>
          <p:cNvSpPr>
            <a:spLocks noGrp="1"/>
          </p:cNvSpPr>
          <p:nvPr>
            <p:ph type="sldNum" sz="quarter" idx="12"/>
          </p:nvPr>
        </p:nvSpPr>
        <p:spPr/>
        <p:txBody>
          <a:bodyPr/>
          <a:lstStyle/>
          <a:p>
            <a:fld id="{51560A6E-94A6-4D56-990A-949A3915CB78}" type="slidenum">
              <a:rPr lang="en-IN" smtClean="0"/>
              <a:t>‹#›</a:t>
            </a:fld>
            <a:endParaRPr lang="en-IN"/>
          </a:p>
        </p:txBody>
      </p:sp>
    </p:spTree>
    <p:extLst>
      <p:ext uri="{BB962C8B-B14F-4D97-AF65-F5344CB8AC3E}">
        <p14:creationId xmlns:p14="http://schemas.microsoft.com/office/powerpoint/2010/main" val="854987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09C0C-66F8-4347-8E74-F46199FB560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06C6655-CBD3-4D35-A679-38428121782F}"/>
              </a:ext>
            </a:extLst>
          </p:cNvPr>
          <p:cNvSpPr>
            <a:spLocks noGrp="1"/>
          </p:cNvSpPr>
          <p:nvPr>
            <p:ph type="dt" sz="half" idx="10"/>
          </p:nvPr>
        </p:nvSpPr>
        <p:spPr/>
        <p:txBody>
          <a:bodyPr/>
          <a:lstStyle/>
          <a:p>
            <a:fld id="{A0030DF7-C36D-4655-B47C-43612AC6CB30}" type="datetimeFigureOut">
              <a:rPr lang="en-IN" smtClean="0"/>
              <a:t>15-10-2025</a:t>
            </a:fld>
            <a:endParaRPr lang="en-IN"/>
          </a:p>
        </p:txBody>
      </p:sp>
      <p:sp>
        <p:nvSpPr>
          <p:cNvPr id="4" name="Footer Placeholder 3">
            <a:extLst>
              <a:ext uri="{FF2B5EF4-FFF2-40B4-BE49-F238E27FC236}">
                <a16:creationId xmlns:a16="http://schemas.microsoft.com/office/drawing/2014/main" id="{7A3CF31C-129D-473F-88F3-4245D6E68D8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DA398D7-B741-444D-92B9-E8A65F5A14E5}"/>
              </a:ext>
            </a:extLst>
          </p:cNvPr>
          <p:cNvSpPr>
            <a:spLocks noGrp="1"/>
          </p:cNvSpPr>
          <p:nvPr>
            <p:ph type="sldNum" sz="quarter" idx="12"/>
          </p:nvPr>
        </p:nvSpPr>
        <p:spPr/>
        <p:txBody>
          <a:bodyPr/>
          <a:lstStyle/>
          <a:p>
            <a:fld id="{51560A6E-94A6-4D56-990A-949A3915CB78}" type="slidenum">
              <a:rPr lang="en-IN" smtClean="0"/>
              <a:t>‹#›</a:t>
            </a:fld>
            <a:endParaRPr lang="en-IN"/>
          </a:p>
        </p:txBody>
      </p:sp>
    </p:spTree>
    <p:extLst>
      <p:ext uri="{BB962C8B-B14F-4D97-AF65-F5344CB8AC3E}">
        <p14:creationId xmlns:p14="http://schemas.microsoft.com/office/powerpoint/2010/main" val="4544278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072272-5747-4A23-819C-BD9F3E5749F9}"/>
              </a:ext>
            </a:extLst>
          </p:cNvPr>
          <p:cNvSpPr>
            <a:spLocks noGrp="1"/>
          </p:cNvSpPr>
          <p:nvPr>
            <p:ph type="dt" sz="half" idx="10"/>
          </p:nvPr>
        </p:nvSpPr>
        <p:spPr/>
        <p:txBody>
          <a:bodyPr/>
          <a:lstStyle/>
          <a:p>
            <a:fld id="{A0030DF7-C36D-4655-B47C-43612AC6CB30}" type="datetimeFigureOut">
              <a:rPr lang="en-IN" smtClean="0"/>
              <a:t>15-10-2025</a:t>
            </a:fld>
            <a:endParaRPr lang="en-IN"/>
          </a:p>
        </p:txBody>
      </p:sp>
      <p:sp>
        <p:nvSpPr>
          <p:cNvPr id="3" name="Footer Placeholder 2">
            <a:extLst>
              <a:ext uri="{FF2B5EF4-FFF2-40B4-BE49-F238E27FC236}">
                <a16:creationId xmlns:a16="http://schemas.microsoft.com/office/drawing/2014/main" id="{34463046-7C4C-45AB-AB13-97AC8BAE68D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3F8701D-3114-4FBB-90CD-FFBFF8C460D0}"/>
              </a:ext>
            </a:extLst>
          </p:cNvPr>
          <p:cNvSpPr>
            <a:spLocks noGrp="1"/>
          </p:cNvSpPr>
          <p:nvPr>
            <p:ph type="sldNum" sz="quarter" idx="12"/>
          </p:nvPr>
        </p:nvSpPr>
        <p:spPr/>
        <p:txBody>
          <a:bodyPr/>
          <a:lstStyle/>
          <a:p>
            <a:fld id="{51560A6E-94A6-4D56-990A-949A3915CB78}" type="slidenum">
              <a:rPr lang="en-IN" smtClean="0"/>
              <a:t>‹#›</a:t>
            </a:fld>
            <a:endParaRPr lang="en-IN"/>
          </a:p>
        </p:txBody>
      </p:sp>
    </p:spTree>
    <p:extLst>
      <p:ext uri="{BB962C8B-B14F-4D97-AF65-F5344CB8AC3E}">
        <p14:creationId xmlns:p14="http://schemas.microsoft.com/office/powerpoint/2010/main" val="24064866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5AC43-F9DE-4D38-ACB0-4AFA7FED38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E6ADA40-DB01-4584-A842-1A074590CBE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2AF7555-F718-4BB2-B95F-6DDB0E3C07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BA50DA-A63F-4E98-9F55-E27010A6EC92}"/>
              </a:ext>
            </a:extLst>
          </p:cNvPr>
          <p:cNvSpPr>
            <a:spLocks noGrp="1"/>
          </p:cNvSpPr>
          <p:nvPr>
            <p:ph type="dt" sz="half" idx="10"/>
          </p:nvPr>
        </p:nvSpPr>
        <p:spPr/>
        <p:txBody>
          <a:bodyPr/>
          <a:lstStyle/>
          <a:p>
            <a:fld id="{A0030DF7-C36D-4655-B47C-43612AC6CB30}" type="datetimeFigureOut">
              <a:rPr lang="en-IN" smtClean="0"/>
              <a:t>15-10-2025</a:t>
            </a:fld>
            <a:endParaRPr lang="en-IN"/>
          </a:p>
        </p:txBody>
      </p:sp>
      <p:sp>
        <p:nvSpPr>
          <p:cNvPr id="6" name="Footer Placeholder 5">
            <a:extLst>
              <a:ext uri="{FF2B5EF4-FFF2-40B4-BE49-F238E27FC236}">
                <a16:creationId xmlns:a16="http://schemas.microsoft.com/office/drawing/2014/main" id="{7C604EB7-CAE3-4147-9E78-5683631B2D4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D234B9-5B90-4E11-85D5-65D4D9C2E50C}"/>
              </a:ext>
            </a:extLst>
          </p:cNvPr>
          <p:cNvSpPr>
            <a:spLocks noGrp="1"/>
          </p:cNvSpPr>
          <p:nvPr>
            <p:ph type="sldNum" sz="quarter" idx="12"/>
          </p:nvPr>
        </p:nvSpPr>
        <p:spPr/>
        <p:txBody>
          <a:bodyPr/>
          <a:lstStyle/>
          <a:p>
            <a:fld id="{51560A6E-94A6-4D56-990A-949A3915CB78}" type="slidenum">
              <a:rPr lang="en-IN" smtClean="0"/>
              <a:t>‹#›</a:t>
            </a:fld>
            <a:endParaRPr lang="en-IN"/>
          </a:p>
        </p:txBody>
      </p:sp>
    </p:spTree>
    <p:extLst>
      <p:ext uri="{BB962C8B-B14F-4D97-AF65-F5344CB8AC3E}">
        <p14:creationId xmlns:p14="http://schemas.microsoft.com/office/powerpoint/2010/main" val="7973616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E72FA-B28A-485E-BF59-E778470554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A85D0D2-98A7-43AA-B313-0602C1250DE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A20718E-95D8-4D0F-9AD2-C87AAB552E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383574-82D6-480E-834B-CD8576DAF709}"/>
              </a:ext>
            </a:extLst>
          </p:cNvPr>
          <p:cNvSpPr>
            <a:spLocks noGrp="1"/>
          </p:cNvSpPr>
          <p:nvPr>
            <p:ph type="dt" sz="half" idx="10"/>
          </p:nvPr>
        </p:nvSpPr>
        <p:spPr/>
        <p:txBody>
          <a:bodyPr/>
          <a:lstStyle/>
          <a:p>
            <a:fld id="{A0030DF7-C36D-4655-B47C-43612AC6CB30}" type="datetimeFigureOut">
              <a:rPr lang="en-IN" smtClean="0"/>
              <a:t>15-10-2025</a:t>
            </a:fld>
            <a:endParaRPr lang="en-IN"/>
          </a:p>
        </p:txBody>
      </p:sp>
      <p:sp>
        <p:nvSpPr>
          <p:cNvPr id="6" name="Footer Placeholder 5">
            <a:extLst>
              <a:ext uri="{FF2B5EF4-FFF2-40B4-BE49-F238E27FC236}">
                <a16:creationId xmlns:a16="http://schemas.microsoft.com/office/drawing/2014/main" id="{F8E45561-8DED-4E89-B275-B9BBF30453F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FFB2961-E291-4197-80A8-A2FCEB484356}"/>
              </a:ext>
            </a:extLst>
          </p:cNvPr>
          <p:cNvSpPr>
            <a:spLocks noGrp="1"/>
          </p:cNvSpPr>
          <p:nvPr>
            <p:ph type="sldNum" sz="quarter" idx="12"/>
          </p:nvPr>
        </p:nvSpPr>
        <p:spPr/>
        <p:txBody>
          <a:bodyPr/>
          <a:lstStyle/>
          <a:p>
            <a:fld id="{51560A6E-94A6-4D56-990A-949A3915CB78}" type="slidenum">
              <a:rPr lang="en-IN" smtClean="0"/>
              <a:t>‹#›</a:t>
            </a:fld>
            <a:endParaRPr lang="en-IN"/>
          </a:p>
        </p:txBody>
      </p:sp>
    </p:spTree>
    <p:extLst>
      <p:ext uri="{BB962C8B-B14F-4D97-AF65-F5344CB8AC3E}">
        <p14:creationId xmlns:p14="http://schemas.microsoft.com/office/powerpoint/2010/main" val="17414676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952F1-A2B0-49E4-B9FF-70A4BD4C881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05A9CAD-BA04-4FEB-87C1-52A1653979B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C0F6976-DD79-43EA-891A-3DDB37DA0398}"/>
              </a:ext>
            </a:extLst>
          </p:cNvPr>
          <p:cNvSpPr>
            <a:spLocks noGrp="1"/>
          </p:cNvSpPr>
          <p:nvPr>
            <p:ph type="dt" sz="half" idx="10"/>
          </p:nvPr>
        </p:nvSpPr>
        <p:spPr/>
        <p:txBody>
          <a:bodyPr/>
          <a:lstStyle/>
          <a:p>
            <a:fld id="{A0030DF7-C36D-4655-B47C-43612AC6CB30}" type="datetimeFigureOut">
              <a:rPr lang="en-IN" smtClean="0"/>
              <a:t>15-10-2025</a:t>
            </a:fld>
            <a:endParaRPr lang="en-IN"/>
          </a:p>
        </p:txBody>
      </p:sp>
      <p:sp>
        <p:nvSpPr>
          <p:cNvPr id="5" name="Footer Placeholder 4">
            <a:extLst>
              <a:ext uri="{FF2B5EF4-FFF2-40B4-BE49-F238E27FC236}">
                <a16:creationId xmlns:a16="http://schemas.microsoft.com/office/drawing/2014/main" id="{D0B3B74F-FE0F-4DF9-9E53-1660A56ACE5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3B12825-F1F1-4FE9-9963-5BD0DF3CC3CB}"/>
              </a:ext>
            </a:extLst>
          </p:cNvPr>
          <p:cNvSpPr>
            <a:spLocks noGrp="1"/>
          </p:cNvSpPr>
          <p:nvPr>
            <p:ph type="sldNum" sz="quarter" idx="12"/>
          </p:nvPr>
        </p:nvSpPr>
        <p:spPr/>
        <p:txBody>
          <a:bodyPr/>
          <a:lstStyle/>
          <a:p>
            <a:fld id="{51560A6E-94A6-4D56-990A-949A3915CB78}" type="slidenum">
              <a:rPr lang="en-IN" smtClean="0"/>
              <a:t>‹#›</a:t>
            </a:fld>
            <a:endParaRPr lang="en-IN"/>
          </a:p>
        </p:txBody>
      </p:sp>
    </p:spTree>
    <p:extLst>
      <p:ext uri="{BB962C8B-B14F-4D97-AF65-F5344CB8AC3E}">
        <p14:creationId xmlns:p14="http://schemas.microsoft.com/office/powerpoint/2010/main" val="13980966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1ED28A-C9CC-4CFB-B72E-A323806CC13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009FEB6-E807-4B28-ABE9-07D921198EA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4C1FD0C-4891-4BCF-A146-D66D7E714D0A}"/>
              </a:ext>
            </a:extLst>
          </p:cNvPr>
          <p:cNvSpPr>
            <a:spLocks noGrp="1"/>
          </p:cNvSpPr>
          <p:nvPr>
            <p:ph type="dt" sz="half" idx="10"/>
          </p:nvPr>
        </p:nvSpPr>
        <p:spPr/>
        <p:txBody>
          <a:bodyPr/>
          <a:lstStyle/>
          <a:p>
            <a:fld id="{A0030DF7-C36D-4655-B47C-43612AC6CB30}" type="datetimeFigureOut">
              <a:rPr lang="en-IN" smtClean="0"/>
              <a:t>15-10-2025</a:t>
            </a:fld>
            <a:endParaRPr lang="en-IN"/>
          </a:p>
        </p:txBody>
      </p:sp>
      <p:sp>
        <p:nvSpPr>
          <p:cNvPr id="5" name="Footer Placeholder 4">
            <a:extLst>
              <a:ext uri="{FF2B5EF4-FFF2-40B4-BE49-F238E27FC236}">
                <a16:creationId xmlns:a16="http://schemas.microsoft.com/office/drawing/2014/main" id="{E24F1EBB-B0AC-4837-B362-A51E1718BE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DFA487A-34DA-4D13-AE75-CA5E14B809F3}"/>
              </a:ext>
            </a:extLst>
          </p:cNvPr>
          <p:cNvSpPr>
            <a:spLocks noGrp="1"/>
          </p:cNvSpPr>
          <p:nvPr>
            <p:ph type="sldNum" sz="quarter" idx="12"/>
          </p:nvPr>
        </p:nvSpPr>
        <p:spPr/>
        <p:txBody>
          <a:bodyPr/>
          <a:lstStyle/>
          <a:p>
            <a:fld id="{51560A6E-94A6-4D56-990A-949A3915CB78}" type="slidenum">
              <a:rPr lang="en-IN" smtClean="0"/>
              <a:t>‹#›</a:t>
            </a:fld>
            <a:endParaRPr lang="en-IN"/>
          </a:p>
        </p:txBody>
      </p:sp>
    </p:spTree>
    <p:extLst>
      <p:ext uri="{BB962C8B-B14F-4D97-AF65-F5344CB8AC3E}">
        <p14:creationId xmlns:p14="http://schemas.microsoft.com/office/powerpoint/2010/main" val="32147092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239996-9F5F-45B1-8F58-7E2312D2D55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3EC06EF-B89E-4C61-B168-061C90BFFE0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1C36B31-C6D5-41A9-AEE7-96B5E790C97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030DF7-C36D-4655-B47C-43612AC6CB30}" type="datetimeFigureOut">
              <a:rPr lang="en-IN" smtClean="0"/>
              <a:t>15-10-2025</a:t>
            </a:fld>
            <a:endParaRPr lang="en-IN"/>
          </a:p>
        </p:txBody>
      </p:sp>
      <p:sp>
        <p:nvSpPr>
          <p:cNvPr id="5" name="Footer Placeholder 4">
            <a:extLst>
              <a:ext uri="{FF2B5EF4-FFF2-40B4-BE49-F238E27FC236}">
                <a16:creationId xmlns:a16="http://schemas.microsoft.com/office/drawing/2014/main" id="{1A183C63-BC09-4F64-A065-AB0F1830C2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C9343B6-F51A-42D8-AC16-B1ABE7B90E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560A6E-94A6-4D56-990A-949A3915CB78}" type="slidenum">
              <a:rPr lang="en-IN" smtClean="0"/>
              <a:t>‹#›</a:t>
            </a:fld>
            <a:endParaRPr lang="en-IN"/>
          </a:p>
        </p:txBody>
      </p:sp>
    </p:spTree>
    <p:extLst>
      <p:ext uri="{BB962C8B-B14F-4D97-AF65-F5344CB8AC3E}">
        <p14:creationId xmlns:p14="http://schemas.microsoft.com/office/powerpoint/2010/main" val="645244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learn.microsoft.com/en-us/dotnet/api/microsoft.aspnetcore.builder.httpspolicybuilderextensions.usehttpsredirection"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learn.microsoft.com/en-us/dotnet/api/microsoft.aspnetcore.builder.webapplication" TargetMode="External"/><Relationship Id="rId2" Type="http://schemas.openxmlformats.org/officeDocument/2006/relationships/hyperlink" Target="https://learn.microsoft.com/en-us/dotnet/api/microsoft.aspnetcore.builder.webapplicationbuilder"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localhost:52190/Home/Details/2"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localhost:52190/"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3222063-02FD-5CB0-E11F-598779C8FF79}"/>
              </a:ext>
            </a:extLst>
          </p:cNvPr>
          <p:cNvSpPr txBox="1"/>
          <p:nvPr/>
        </p:nvSpPr>
        <p:spPr>
          <a:xfrm>
            <a:off x="250852" y="-101600"/>
            <a:ext cx="11290907" cy="6924973"/>
          </a:xfrm>
          <a:prstGeom prst="rect">
            <a:avLst/>
          </a:prstGeom>
          <a:noFill/>
        </p:spPr>
        <p:txBody>
          <a:bodyPr wrap="square">
            <a:spAutoFit/>
          </a:bodyPr>
          <a:lstStyle/>
          <a:p>
            <a:r>
              <a:rPr lang="en-IN" sz="1200" dirty="0">
                <a:solidFill>
                  <a:srgbClr val="0000FF"/>
                </a:solidFill>
                <a:latin typeface="Cascadia Mono" panose="020B0609020000020004" pitchFamily="49" charset="0"/>
              </a:rPr>
              <a:t>namespace</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WebAppCookieslogin</a:t>
            </a:r>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public</a:t>
            </a:r>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class</a:t>
            </a:r>
            <a:r>
              <a:rPr lang="en-IN" sz="1200" dirty="0">
                <a:solidFill>
                  <a:srgbClr val="000000"/>
                </a:solidFill>
                <a:latin typeface="Cascadia Mono" panose="020B0609020000020004" pitchFamily="49" charset="0"/>
              </a:rPr>
              <a:t> </a:t>
            </a:r>
            <a:r>
              <a:rPr lang="en-IN" sz="1200" dirty="0">
                <a:solidFill>
                  <a:srgbClr val="2B91AF"/>
                </a:solidFill>
                <a:latin typeface="Cascadia Mono" panose="020B0609020000020004" pitchFamily="49" charset="0"/>
              </a:rPr>
              <a:t>Program</a:t>
            </a:r>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static</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Main(</a:t>
            </a:r>
            <a:r>
              <a:rPr lang="en-US" sz="1200" dirty="0">
                <a:solidFill>
                  <a:srgbClr val="0000FF"/>
                </a:solidFill>
                <a:latin typeface="Cascadia Mono" panose="020B0609020000020004" pitchFamily="49" charset="0"/>
              </a:rPr>
              <a:t>string</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args</a:t>
            </a:r>
            <a:r>
              <a:rPr lang="en-US"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var</a:t>
            </a:r>
            <a:r>
              <a:rPr lang="en-US" sz="1200" dirty="0">
                <a:solidFill>
                  <a:srgbClr val="000000"/>
                </a:solidFill>
                <a:latin typeface="Cascadia Mono" panose="020B0609020000020004" pitchFamily="49" charset="0"/>
              </a:rPr>
              <a:t> builder = </a:t>
            </a:r>
            <a:r>
              <a:rPr lang="en-US" sz="1200" dirty="0" err="1">
                <a:solidFill>
                  <a:srgbClr val="000000"/>
                </a:solidFill>
                <a:latin typeface="Cascadia Mono" panose="020B0609020000020004" pitchFamily="49" charset="0"/>
              </a:rPr>
              <a:t>WebApplication.CreateBuilder</a:t>
            </a:r>
            <a:r>
              <a:rPr lang="en-US" sz="1200" dirty="0">
                <a:solidFill>
                  <a:srgbClr val="000000"/>
                </a:solidFill>
                <a:latin typeface="Cascadia Mono" panose="020B0609020000020004" pitchFamily="49" charset="0"/>
              </a:rPr>
              <a:t>(</a:t>
            </a:r>
            <a:r>
              <a:rPr lang="en-US" sz="1200" dirty="0" err="1">
                <a:solidFill>
                  <a:srgbClr val="000000"/>
                </a:solidFill>
                <a:latin typeface="Cascadia Mono" panose="020B0609020000020004" pitchFamily="49" charset="0"/>
              </a:rPr>
              <a:t>args</a:t>
            </a:r>
            <a:r>
              <a:rPr lang="en-US" sz="1200" dirty="0">
                <a:solidFill>
                  <a:srgbClr val="000000"/>
                </a:solidFill>
                <a:latin typeface="Cascadia Mono" panose="020B0609020000020004" pitchFamily="49" charset="0"/>
              </a:rPr>
              <a:t>);</a:t>
            </a:r>
          </a:p>
          <a:p>
            <a:endParaRPr lang="en-IN"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Add services to the container.</a:t>
            </a:r>
            <a:endParaRPr lang="en-US"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builder.Services.AddControllersWithViews</a:t>
            </a:r>
            <a:r>
              <a:rPr lang="en-IN" sz="1200" dirty="0">
                <a:solidFill>
                  <a:srgbClr val="000000"/>
                </a:solidFill>
                <a:latin typeface="Cascadia Mono" panose="020B0609020000020004" pitchFamily="49" charset="0"/>
              </a:rPr>
              <a:t>();</a:t>
            </a:r>
          </a:p>
          <a:p>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var</a:t>
            </a:r>
            <a:r>
              <a:rPr lang="en-IN" sz="1200" dirty="0">
                <a:solidFill>
                  <a:srgbClr val="000000"/>
                </a:solidFill>
                <a:latin typeface="Cascadia Mono" panose="020B0609020000020004" pitchFamily="49" charset="0"/>
              </a:rPr>
              <a:t> app = </a:t>
            </a:r>
            <a:r>
              <a:rPr lang="en-IN" sz="1200" dirty="0" err="1">
                <a:solidFill>
                  <a:srgbClr val="000000"/>
                </a:solidFill>
                <a:latin typeface="Cascadia Mono" panose="020B0609020000020004" pitchFamily="49" charset="0"/>
              </a:rPr>
              <a:t>builder.Build</a:t>
            </a:r>
            <a:r>
              <a:rPr lang="en-IN" sz="1200" dirty="0">
                <a:solidFill>
                  <a:srgbClr val="000000"/>
                </a:solidFill>
                <a:latin typeface="Cascadia Mono" panose="020B0609020000020004" pitchFamily="49" charset="0"/>
              </a:rPr>
              <a:t>();</a:t>
            </a:r>
          </a:p>
          <a:p>
            <a:endParaRPr lang="en-IN"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Configure the HTTP request pipeline.</a:t>
            </a:r>
            <a:endParaRPr lang="en-US"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if</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app.Environment.IsDevelopment</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app.UseExceptionHandler</a:t>
            </a:r>
            <a:r>
              <a:rPr lang="en-IN" sz="1200" dirty="0">
                <a:solidFill>
                  <a:srgbClr val="000000"/>
                </a:solidFill>
                <a:latin typeface="Cascadia Mono" panose="020B0609020000020004" pitchFamily="49" charset="0"/>
              </a:rPr>
              <a:t>(</a:t>
            </a:r>
            <a:r>
              <a:rPr lang="en-IN" sz="1200" dirty="0">
                <a:solidFill>
                  <a:srgbClr val="A31515"/>
                </a:solidFill>
                <a:latin typeface="Cascadia Mono" panose="020B0609020000020004" pitchFamily="49" charset="0"/>
              </a:rPr>
              <a:t>"/Home/Error"</a:t>
            </a:r>
            <a:r>
              <a:rPr lang="en-IN"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The default HSTS value is 30 days. You may want to change this for production scenarios, see https://aka.ms/aspnetcore-hsts.</a:t>
            </a:r>
            <a:endParaRPr lang="en-US"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app.UseHsts</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p>
          <a:p>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app.UseHttpsRedirection</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app.UseStaticFiles</a:t>
            </a:r>
            <a:r>
              <a:rPr lang="en-IN" sz="1200" dirty="0">
                <a:solidFill>
                  <a:srgbClr val="000000"/>
                </a:solidFill>
                <a:latin typeface="Cascadia Mono" panose="020B0609020000020004" pitchFamily="49" charset="0"/>
              </a:rPr>
              <a:t>();</a:t>
            </a:r>
          </a:p>
          <a:p>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app.UseRouting</a:t>
            </a:r>
            <a:r>
              <a:rPr lang="en-IN" sz="1200" dirty="0">
                <a:solidFill>
                  <a:srgbClr val="000000"/>
                </a:solidFill>
                <a:latin typeface="Cascadia Mono" panose="020B0609020000020004" pitchFamily="49" charset="0"/>
              </a:rPr>
              <a:t>();</a:t>
            </a:r>
          </a:p>
          <a:p>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app.UseAuthorization</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app.MapControllerRoute</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name: </a:t>
            </a:r>
            <a:r>
              <a:rPr lang="en-IN" sz="1200" dirty="0">
                <a:solidFill>
                  <a:srgbClr val="A31515"/>
                </a:solidFill>
                <a:latin typeface="Cascadia Mono" panose="020B0609020000020004" pitchFamily="49" charset="0"/>
              </a:rPr>
              <a:t>"default"</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pattern: </a:t>
            </a:r>
            <a:r>
              <a:rPr lang="en-IN" sz="1200" dirty="0">
                <a:solidFill>
                  <a:srgbClr val="A31515"/>
                </a:solidFill>
                <a:latin typeface="Cascadia Mono" panose="020B0609020000020004" pitchFamily="49" charset="0"/>
              </a:rPr>
              <a:t>"{controller=Home}/{action=Index}/{id?}"</a:t>
            </a:r>
            <a:r>
              <a:rPr lang="en-IN" sz="1200" dirty="0">
                <a:solidFill>
                  <a:srgbClr val="000000"/>
                </a:solidFill>
                <a:latin typeface="Cascadia Mono" panose="020B0609020000020004" pitchFamily="49" charset="0"/>
              </a:rPr>
              <a:t>);</a:t>
            </a:r>
          </a:p>
          <a:p>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app.Run</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a:t>
            </a:r>
            <a:endParaRPr lang="en-IN" sz="1200" dirty="0"/>
          </a:p>
        </p:txBody>
      </p:sp>
    </p:spTree>
    <p:extLst>
      <p:ext uri="{BB962C8B-B14F-4D97-AF65-F5344CB8AC3E}">
        <p14:creationId xmlns:p14="http://schemas.microsoft.com/office/powerpoint/2010/main" val="5743987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4294E31-1A81-28AE-384A-ED7D0D2E9B6B}"/>
              </a:ext>
            </a:extLst>
          </p:cNvPr>
          <p:cNvSpPr txBox="1"/>
          <p:nvPr/>
        </p:nvSpPr>
        <p:spPr>
          <a:xfrm>
            <a:off x="2489200" y="78918"/>
            <a:ext cx="7813040" cy="40011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kumimoji="0" lang="en-IN" sz="2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2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builder.Services.AddControllersWithViews</a:t>
            </a:r>
            <a:r>
              <a:rPr kumimoji="0" lang="en-IN" sz="2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endParaRPr lang="en-IN" sz="3200" dirty="0"/>
          </a:p>
        </p:txBody>
      </p:sp>
      <p:sp>
        <p:nvSpPr>
          <p:cNvPr id="7" name="TextBox 6">
            <a:extLst>
              <a:ext uri="{FF2B5EF4-FFF2-40B4-BE49-F238E27FC236}">
                <a16:creationId xmlns:a16="http://schemas.microsoft.com/office/drawing/2014/main" id="{7B19C228-2520-D631-B5CF-79EB37459899}"/>
              </a:ext>
            </a:extLst>
          </p:cNvPr>
          <p:cNvSpPr txBox="1"/>
          <p:nvPr/>
        </p:nvSpPr>
        <p:spPr>
          <a:xfrm>
            <a:off x="71120" y="1195755"/>
            <a:ext cx="10393680" cy="369332"/>
          </a:xfrm>
          <a:prstGeom prst="rect">
            <a:avLst/>
          </a:prstGeom>
          <a:noFill/>
        </p:spPr>
        <p:txBody>
          <a:bodyPr wrap="square">
            <a:spAutoFit/>
          </a:bodyPr>
          <a:lstStyle/>
          <a:p>
            <a:pPr algn="just" fontAlgn="base"/>
            <a:r>
              <a:rPr lang="en-US" b="0" i="0" dirty="0">
                <a:solidFill>
                  <a:srgbClr val="000000"/>
                </a:solidFill>
                <a:effectLst/>
                <a:latin typeface="arial" panose="020B0604020202020204" pitchFamily="34" charset="0"/>
              </a:rPr>
              <a:t>Use </a:t>
            </a:r>
            <a:r>
              <a:rPr lang="en-US" b="0" i="0" dirty="0" err="1">
                <a:solidFill>
                  <a:srgbClr val="000000"/>
                </a:solidFill>
                <a:effectLst/>
                <a:latin typeface="arial" panose="020B0604020202020204" pitchFamily="34" charset="0"/>
              </a:rPr>
              <a:t>AddControllersWithViews</a:t>
            </a:r>
            <a:r>
              <a:rPr lang="en-US" b="0" i="0" dirty="0">
                <a:solidFill>
                  <a:srgbClr val="000000"/>
                </a:solidFill>
                <a:effectLst/>
                <a:latin typeface="arial" panose="020B0604020202020204" pitchFamily="34" charset="0"/>
              </a:rPr>
              <a:t> for applications that need both APIs and views but not Razor Pages.</a:t>
            </a:r>
            <a:endParaRPr lang="en-US" b="0" i="0" dirty="0">
              <a:solidFill>
                <a:srgbClr val="3A3A3A"/>
              </a:solidFill>
              <a:effectLst/>
              <a:latin typeface="-apple-system"/>
            </a:endParaRPr>
          </a:p>
        </p:txBody>
      </p:sp>
      <p:sp>
        <p:nvSpPr>
          <p:cNvPr id="9" name="TextBox 8">
            <a:extLst>
              <a:ext uri="{FF2B5EF4-FFF2-40B4-BE49-F238E27FC236}">
                <a16:creationId xmlns:a16="http://schemas.microsoft.com/office/drawing/2014/main" id="{72069B7C-88E1-36B9-F38C-560394A00450}"/>
              </a:ext>
            </a:extLst>
          </p:cNvPr>
          <p:cNvSpPr txBox="1"/>
          <p:nvPr/>
        </p:nvSpPr>
        <p:spPr>
          <a:xfrm>
            <a:off x="162560" y="1951672"/>
            <a:ext cx="11297920" cy="923330"/>
          </a:xfrm>
          <a:prstGeom prst="rect">
            <a:avLst/>
          </a:prstGeom>
          <a:noFill/>
        </p:spPr>
        <p:txBody>
          <a:bodyPr wrap="square">
            <a:spAutoFit/>
          </a:bodyPr>
          <a:lstStyle/>
          <a:p>
            <a:r>
              <a:rPr lang="en-US" dirty="0"/>
              <a:t>The </a:t>
            </a:r>
            <a:r>
              <a:rPr lang="en-US" dirty="0" err="1"/>
              <a:t>AddControllersWithViews</a:t>
            </a:r>
            <a:r>
              <a:rPr lang="en-US" dirty="0"/>
              <a:t>() is an extension method that register types needed for MVC application (model, view, controller) to the dependency injection. It includes all the necessary services and configurations for MVC So that your application can use MVC architecture.</a:t>
            </a:r>
            <a:endParaRPr lang="en-IN" dirty="0"/>
          </a:p>
        </p:txBody>
      </p:sp>
      <p:sp>
        <p:nvSpPr>
          <p:cNvPr id="11" name="TextBox 10">
            <a:extLst>
              <a:ext uri="{FF2B5EF4-FFF2-40B4-BE49-F238E27FC236}">
                <a16:creationId xmlns:a16="http://schemas.microsoft.com/office/drawing/2014/main" id="{A32CCEB7-00B7-DC6D-4F44-E0F28D6AD708}"/>
              </a:ext>
            </a:extLst>
          </p:cNvPr>
          <p:cNvSpPr txBox="1"/>
          <p:nvPr/>
        </p:nvSpPr>
        <p:spPr>
          <a:xfrm>
            <a:off x="162560" y="3105834"/>
            <a:ext cx="9763760" cy="369332"/>
          </a:xfrm>
          <a:prstGeom prst="rect">
            <a:avLst/>
          </a:prstGeom>
          <a:noFill/>
        </p:spPr>
        <p:txBody>
          <a:bodyPr wrap="square">
            <a:spAutoFit/>
          </a:bodyPr>
          <a:lstStyle/>
          <a:p>
            <a:r>
              <a:rPr lang="en-US" b="0" i="0" dirty="0">
                <a:solidFill>
                  <a:srgbClr val="161616"/>
                </a:solidFill>
                <a:effectLst/>
                <a:latin typeface="Segoe UI" panose="020B0502040204020203" pitchFamily="34" charset="0"/>
              </a:rPr>
              <a:t> Controllers are activated and disposed on a per request basis.</a:t>
            </a:r>
            <a:endParaRPr lang="en-IN" dirty="0"/>
          </a:p>
        </p:txBody>
      </p:sp>
      <p:sp>
        <p:nvSpPr>
          <p:cNvPr id="13" name="TextBox 12">
            <a:extLst>
              <a:ext uri="{FF2B5EF4-FFF2-40B4-BE49-F238E27FC236}">
                <a16:creationId xmlns:a16="http://schemas.microsoft.com/office/drawing/2014/main" id="{619AE2CE-5879-D9F3-DAC3-32860A40EB7F}"/>
              </a:ext>
            </a:extLst>
          </p:cNvPr>
          <p:cNvSpPr txBox="1"/>
          <p:nvPr/>
        </p:nvSpPr>
        <p:spPr>
          <a:xfrm>
            <a:off x="162560" y="3705998"/>
            <a:ext cx="11592560" cy="369332"/>
          </a:xfrm>
          <a:prstGeom prst="rect">
            <a:avLst/>
          </a:prstGeom>
          <a:noFill/>
        </p:spPr>
        <p:txBody>
          <a:bodyPr wrap="square">
            <a:spAutoFit/>
          </a:bodyPr>
          <a:lstStyle/>
          <a:p>
            <a:r>
              <a:rPr lang="en-US" b="0" i="0" dirty="0">
                <a:solidFill>
                  <a:srgbClr val="0C0D0E"/>
                </a:solidFill>
                <a:effectLst/>
                <a:latin typeface="-apple-system"/>
              </a:rPr>
              <a:t> A new controller instances is created to serve each request. In that sense a controller </a:t>
            </a:r>
            <a:r>
              <a:rPr lang="en-US" b="0" i="0">
                <a:solidFill>
                  <a:srgbClr val="0C0D0E"/>
                </a:solidFill>
                <a:effectLst/>
                <a:latin typeface="-apple-system"/>
              </a:rPr>
              <a:t>is transient</a:t>
            </a:r>
            <a:endParaRPr lang="en-IN" dirty="0">
              <a:highlight>
                <a:srgbClr val="FFFF00"/>
              </a:highlight>
            </a:endParaRPr>
          </a:p>
        </p:txBody>
      </p:sp>
    </p:spTree>
    <p:extLst>
      <p:ext uri="{BB962C8B-B14F-4D97-AF65-F5344CB8AC3E}">
        <p14:creationId xmlns:p14="http://schemas.microsoft.com/office/powerpoint/2010/main" val="2677606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342CA0F-6FBB-79F6-6B39-D7150E91A8B5}"/>
              </a:ext>
            </a:extLst>
          </p:cNvPr>
          <p:cNvSpPr txBox="1"/>
          <p:nvPr/>
        </p:nvSpPr>
        <p:spPr>
          <a:xfrm>
            <a:off x="2712720" y="364421"/>
            <a:ext cx="6096000" cy="400110"/>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kumimoji="0" lang="en-IN" sz="2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2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app.UseHttpsRedirection</a:t>
            </a:r>
            <a:r>
              <a:rPr kumimoji="0" lang="en-IN" sz="2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endParaRPr lang="en-IN" sz="3200" dirty="0"/>
          </a:p>
        </p:txBody>
      </p:sp>
      <p:sp>
        <p:nvSpPr>
          <p:cNvPr id="7" name="TextBox 6">
            <a:extLst>
              <a:ext uri="{FF2B5EF4-FFF2-40B4-BE49-F238E27FC236}">
                <a16:creationId xmlns:a16="http://schemas.microsoft.com/office/drawing/2014/main" id="{6B5FAA97-0413-6A2A-EF10-671240466A26}"/>
              </a:ext>
            </a:extLst>
          </p:cNvPr>
          <p:cNvSpPr txBox="1"/>
          <p:nvPr/>
        </p:nvSpPr>
        <p:spPr>
          <a:xfrm>
            <a:off x="0" y="1375956"/>
            <a:ext cx="11338560" cy="646331"/>
          </a:xfrm>
          <a:prstGeom prst="rect">
            <a:avLst/>
          </a:prstGeom>
          <a:noFill/>
        </p:spPr>
        <p:txBody>
          <a:bodyPr wrap="square">
            <a:spAutoFit/>
          </a:bodyPr>
          <a:lstStyle/>
          <a:p>
            <a:pPr algn="l"/>
            <a:r>
              <a:rPr lang="en-US" dirty="0">
                <a:solidFill>
                  <a:srgbClr val="161616"/>
                </a:solidFill>
                <a:latin typeface="Segoe UI" panose="020B0502040204020203" pitchFamily="34" charset="0"/>
              </a:rPr>
              <a:t> </a:t>
            </a:r>
            <a:r>
              <a:rPr lang="en-US" b="0" i="0" dirty="0">
                <a:solidFill>
                  <a:srgbClr val="161616"/>
                </a:solidFill>
                <a:effectLst/>
                <a:latin typeface="Segoe UI" panose="020B0502040204020203" pitchFamily="34" charset="0"/>
              </a:rPr>
              <a:t>We recommend that production ASP.NET Core web apps use:</a:t>
            </a:r>
          </a:p>
          <a:p>
            <a:pPr algn="l">
              <a:buFont typeface="Arial" panose="020B0604020202020204" pitchFamily="34" charset="0"/>
              <a:buChar char="•"/>
            </a:pPr>
            <a:r>
              <a:rPr lang="en-US" b="0" i="0" dirty="0">
                <a:solidFill>
                  <a:srgbClr val="161616"/>
                </a:solidFill>
                <a:effectLst/>
                <a:latin typeface="Segoe UI" panose="020B0502040204020203" pitchFamily="34" charset="0"/>
              </a:rPr>
              <a:t>HTTPS Redirection Middleware (</a:t>
            </a:r>
            <a:r>
              <a:rPr lang="en-US" b="0" i="0" u="none" strike="noStrike" dirty="0" err="1">
                <a:solidFill>
                  <a:srgbClr val="161616"/>
                </a:solidFill>
                <a:effectLst/>
                <a:latin typeface="Segoe UI" panose="020B0502040204020203" pitchFamily="34" charset="0"/>
                <a:hlinkClick r:id="rId2"/>
              </a:rPr>
              <a:t>UseHttpsRedirection</a:t>
            </a:r>
            <a:r>
              <a:rPr lang="en-US" b="0" i="0" dirty="0">
                <a:solidFill>
                  <a:srgbClr val="161616"/>
                </a:solidFill>
                <a:effectLst/>
                <a:latin typeface="Segoe UI" panose="020B0502040204020203" pitchFamily="34" charset="0"/>
              </a:rPr>
              <a:t>) to redirect HTTP requests to HTTPS.</a:t>
            </a:r>
          </a:p>
        </p:txBody>
      </p:sp>
      <p:sp>
        <p:nvSpPr>
          <p:cNvPr id="10" name="TextBox 9">
            <a:extLst>
              <a:ext uri="{FF2B5EF4-FFF2-40B4-BE49-F238E27FC236}">
                <a16:creationId xmlns:a16="http://schemas.microsoft.com/office/drawing/2014/main" id="{F79D0FCA-7667-0682-FBC8-6CA5DC140D60}"/>
              </a:ext>
            </a:extLst>
          </p:cNvPr>
          <p:cNvSpPr txBox="1"/>
          <p:nvPr/>
        </p:nvSpPr>
        <p:spPr>
          <a:xfrm>
            <a:off x="336550" y="2733655"/>
            <a:ext cx="11518900" cy="1200329"/>
          </a:xfrm>
          <a:prstGeom prst="rect">
            <a:avLst/>
          </a:prstGeom>
          <a:noFill/>
        </p:spPr>
        <p:txBody>
          <a:bodyPr wrap="square">
            <a:spAutoFit/>
          </a:bodyPr>
          <a:lstStyle/>
          <a:p>
            <a:r>
              <a:rPr lang="en-US" dirty="0"/>
              <a:t>The .</a:t>
            </a:r>
            <a:r>
              <a:rPr lang="en-US" dirty="0" err="1"/>
              <a:t>UseHttpsRedirection</a:t>
            </a:r>
            <a:r>
              <a:rPr lang="en-US" dirty="0"/>
              <a:t>() will issue HTTP response codes redirecting from http to https. </a:t>
            </a:r>
          </a:p>
          <a:p>
            <a:endParaRPr lang="en-US" dirty="0"/>
          </a:p>
          <a:p>
            <a:r>
              <a:rPr lang="en-US" dirty="0"/>
              <a:t>The .</a:t>
            </a:r>
            <a:r>
              <a:rPr lang="en-US" dirty="0" err="1"/>
              <a:t>UseHsts</a:t>
            </a:r>
            <a:r>
              <a:rPr lang="en-US" dirty="0"/>
              <a:t>() will add the HSTS response header which the client is supposed to obey.</a:t>
            </a:r>
          </a:p>
          <a:p>
            <a:endParaRPr lang="en-US" dirty="0"/>
          </a:p>
        </p:txBody>
      </p:sp>
      <p:sp>
        <p:nvSpPr>
          <p:cNvPr id="12" name="TextBox 11">
            <a:extLst>
              <a:ext uri="{FF2B5EF4-FFF2-40B4-BE49-F238E27FC236}">
                <a16:creationId xmlns:a16="http://schemas.microsoft.com/office/drawing/2014/main" id="{0D18D08F-A431-2B69-7152-3D22D9092B2E}"/>
              </a:ext>
            </a:extLst>
          </p:cNvPr>
          <p:cNvSpPr txBox="1"/>
          <p:nvPr/>
        </p:nvSpPr>
        <p:spPr>
          <a:xfrm>
            <a:off x="457200" y="4173696"/>
            <a:ext cx="10444480" cy="923330"/>
          </a:xfrm>
          <a:prstGeom prst="rect">
            <a:avLst/>
          </a:prstGeom>
          <a:noFill/>
        </p:spPr>
        <p:txBody>
          <a:bodyPr wrap="square">
            <a:spAutoFit/>
          </a:bodyPr>
          <a:lstStyle/>
          <a:p>
            <a:r>
              <a:rPr lang="en-IN" dirty="0"/>
              <a:t>https://learn.microsoft.com/en-us/aspnet/core/security/enforcing-ssl?view=aspnetcore-8.0&amp;viewFallbackFrom=aspnetcore-2.1&amp;tabs=visual-studio%2Clinux-ubuntu#http-strict-transport-security-protocol-hsts</a:t>
            </a:r>
          </a:p>
        </p:txBody>
      </p:sp>
    </p:spTree>
    <p:extLst>
      <p:ext uri="{BB962C8B-B14F-4D97-AF65-F5344CB8AC3E}">
        <p14:creationId xmlns:p14="http://schemas.microsoft.com/office/powerpoint/2010/main" val="1470681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6E09B25-55FD-B0D9-A967-E56DAEA3149C}"/>
              </a:ext>
            </a:extLst>
          </p:cNvPr>
          <p:cNvSpPr txBox="1"/>
          <p:nvPr/>
        </p:nvSpPr>
        <p:spPr>
          <a:xfrm>
            <a:off x="2042160" y="139115"/>
            <a:ext cx="6075680"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sz="1800" dirty="0">
                <a:solidFill>
                  <a:srgbClr val="000000"/>
                </a:solidFill>
                <a:latin typeface="Cascadia Mono" panose="020B0609020000020004" pitchFamily="49" charset="0"/>
              </a:rPr>
              <a:t>            </a:t>
            </a:r>
            <a:r>
              <a:rPr lang="en-IN" sz="1800" dirty="0" err="1">
                <a:solidFill>
                  <a:srgbClr val="000000"/>
                </a:solidFill>
                <a:latin typeface="Cascadia Mono" panose="020B0609020000020004" pitchFamily="49" charset="0"/>
              </a:rPr>
              <a:t>app.UseRouting</a:t>
            </a:r>
            <a:r>
              <a:rPr lang="en-IN" sz="1800" dirty="0">
                <a:solidFill>
                  <a:srgbClr val="000000"/>
                </a:solidFill>
                <a:latin typeface="Cascadia Mono" panose="020B0609020000020004" pitchFamily="49" charset="0"/>
              </a:rPr>
              <a:t>();</a:t>
            </a:r>
          </a:p>
        </p:txBody>
      </p:sp>
      <p:sp>
        <p:nvSpPr>
          <p:cNvPr id="8" name="TextBox 7">
            <a:extLst>
              <a:ext uri="{FF2B5EF4-FFF2-40B4-BE49-F238E27FC236}">
                <a16:creationId xmlns:a16="http://schemas.microsoft.com/office/drawing/2014/main" id="{BE75DBE4-F7D3-4087-3074-892487644063}"/>
              </a:ext>
            </a:extLst>
          </p:cNvPr>
          <p:cNvSpPr txBox="1"/>
          <p:nvPr/>
        </p:nvSpPr>
        <p:spPr>
          <a:xfrm>
            <a:off x="294640" y="711815"/>
            <a:ext cx="11348720" cy="923330"/>
          </a:xfrm>
          <a:prstGeom prst="rect">
            <a:avLst/>
          </a:prstGeom>
          <a:noFill/>
        </p:spPr>
        <p:txBody>
          <a:bodyPr wrap="square">
            <a:spAutoFit/>
          </a:bodyPr>
          <a:lstStyle/>
          <a:p>
            <a:r>
              <a:rPr lang="en-US" dirty="0" err="1"/>
              <a:t>UseRouting</a:t>
            </a:r>
            <a:r>
              <a:rPr lang="en-US" dirty="0"/>
              <a:t> adds route matching to the middleware pipeline. </a:t>
            </a:r>
          </a:p>
          <a:p>
            <a:endParaRPr lang="en-US" dirty="0"/>
          </a:p>
          <a:p>
            <a:r>
              <a:rPr lang="en-US" dirty="0"/>
              <a:t>This middleware looks at the set of endpoints defined in the app, and selects the best match based on the request.</a:t>
            </a:r>
            <a:endParaRPr lang="en-IN" dirty="0"/>
          </a:p>
        </p:txBody>
      </p:sp>
      <p:sp>
        <p:nvSpPr>
          <p:cNvPr id="9" name="Rectangle 2">
            <a:extLst>
              <a:ext uri="{FF2B5EF4-FFF2-40B4-BE49-F238E27FC236}">
                <a16:creationId xmlns:a16="http://schemas.microsoft.com/office/drawing/2014/main" id="{A8FCDD39-8D4E-9279-03CB-F1183AA13AC8}"/>
              </a:ext>
            </a:extLst>
          </p:cNvPr>
          <p:cNvSpPr>
            <a:spLocks noChangeArrowheads="1"/>
          </p:cNvSpPr>
          <p:nvPr/>
        </p:nvSpPr>
        <p:spPr bwMode="auto">
          <a:xfrm>
            <a:off x="152400" y="1943899"/>
            <a:ext cx="11673840" cy="491410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41224" tIns="101568" rIns="0" bIns="101568"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Apps typically don't need to call </a:t>
            </a:r>
            <a:r>
              <a:rPr kumimoji="0" lang="en-US" altLang="en-US" b="0" i="0" u="none" strike="noStrike" cap="none" normalizeH="0" baseline="0" dirty="0" err="1">
                <a:ln>
                  <a:noFill/>
                </a:ln>
                <a:solidFill>
                  <a:srgbClr val="161616"/>
                </a:solidFill>
                <a:effectLst/>
                <a:latin typeface="SFMono-Regular"/>
                <a:cs typeface="Segoe UI" panose="020B0502040204020203" pitchFamily="34" charset="0"/>
              </a:rPr>
              <a:t>UseRouting</a:t>
            </a:r>
            <a:r>
              <a:rPr kumimoji="0" lang="en-US" altLang="en-US"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 or </a:t>
            </a:r>
            <a:r>
              <a:rPr kumimoji="0" lang="en-US" altLang="en-US" b="0" i="0" u="none" strike="noStrike" cap="none" normalizeH="0" baseline="0" dirty="0" err="1">
                <a:ln>
                  <a:noFill/>
                </a:ln>
                <a:solidFill>
                  <a:srgbClr val="161616"/>
                </a:solidFill>
                <a:effectLst/>
                <a:latin typeface="SFMono-Regular"/>
                <a:cs typeface="Segoe UI" panose="020B0502040204020203" pitchFamily="34" charset="0"/>
              </a:rPr>
              <a:t>UseEndpoints</a:t>
            </a:r>
            <a:r>
              <a:rPr kumimoji="0" lang="en-US" altLang="en-US"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 </a:t>
            </a:r>
            <a:r>
              <a:rPr kumimoji="0" lang="en-US" altLang="en-US" b="0" i="0" u="none" strike="noStrike" cap="none" normalizeH="0" baseline="0" dirty="0" err="1">
                <a:ln>
                  <a:noFill/>
                </a:ln>
                <a:solidFill>
                  <a:srgbClr val="161616"/>
                </a:solidFill>
                <a:effectLst/>
                <a:latin typeface="Segoe UI" panose="020B0502040204020203" pitchFamily="34" charset="0"/>
                <a:cs typeface="Segoe UI" panose="020B0502040204020203" pitchFamily="34" charset="0"/>
                <a:hlinkClick r:id="rId2"/>
              </a:rPr>
              <a:t>WebApplicationBuilder</a:t>
            </a:r>
            <a:r>
              <a:rPr kumimoji="0" lang="en-US" altLang="en-US"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 configures a middleware pipeline that wraps middleware added in </a:t>
            </a:r>
            <a:r>
              <a:rPr kumimoji="0" lang="en-US" altLang="en-US" b="0" i="0" u="none" strike="noStrike" cap="none" normalizeH="0" baseline="0" dirty="0" err="1">
                <a:ln>
                  <a:noFill/>
                </a:ln>
                <a:solidFill>
                  <a:srgbClr val="161616"/>
                </a:solidFill>
                <a:effectLst/>
                <a:latin typeface="SFMono-Regular"/>
                <a:cs typeface="Segoe UI" panose="020B0502040204020203" pitchFamily="34" charset="0"/>
              </a:rPr>
              <a:t>Program.cs</a:t>
            </a:r>
            <a:r>
              <a:rPr kumimoji="0" lang="en-US" altLang="en-US"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 with </a:t>
            </a:r>
            <a:r>
              <a:rPr kumimoji="0" lang="en-US" altLang="en-US" b="0" i="0" u="none" strike="noStrike" cap="none" normalizeH="0" baseline="0" dirty="0" err="1">
                <a:ln>
                  <a:noFill/>
                </a:ln>
                <a:solidFill>
                  <a:srgbClr val="161616"/>
                </a:solidFill>
                <a:effectLst/>
                <a:latin typeface="SFMono-Regular"/>
                <a:cs typeface="Segoe UI" panose="020B0502040204020203" pitchFamily="34" charset="0"/>
              </a:rPr>
              <a:t>UseRouting</a:t>
            </a:r>
            <a:r>
              <a:rPr kumimoji="0" lang="en-US" altLang="en-US"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 and </a:t>
            </a:r>
            <a:r>
              <a:rPr kumimoji="0" lang="en-US" altLang="en-US" b="0" i="0" u="none" strike="noStrike" cap="none" normalizeH="0" baseline="0" dirty="0" err="1">
                <a:ln>
                  <a:noFill/>
                </a:ln>
                <a:solidFill>
                  <a:srgbClr val="161616"/>
                </a:solidFill>
                <a:effectLst/>
                <a:latin typeface="SFMono-Regular"/>
                <a:cs typeface="Segoe UI" panose="020B0502040204020203" pitchFamily="34" charset="0"/>
              </a:rPr>
              <a:t>UseEndpoints</a:t>
            </a:r>
            <a:r>
              <a:rPr kumimoji="0" lang="en-US" altLang="en-US"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solidFill>
                <a:srgbClr val="161616"/>
              </a:solidFill>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However, apps can change the order in which </a:t>
            </a:r>
            <a:r>
              <a:rPr kumimoji="0" lang="en-US" altLang="en-US" b="0" i="0" u="none" strike="noStrike" cap="none" normalizeH="0" baseline="0" dirty="0" err="1">
                <a:ln>
                  <a:noFill/>
                </a:ln>
                <a:solidFill>
                  <a:srgbClr val="161616"/>
                </a:solidFill>
                <a:effectLst/>
                <a:latin typeface="SFMono-Regular"/>
                <a:cs typeface="Segoe UI" panose="020B0502040204020203" pitchFamily="34" charset="0"/>
              </a:rPr>
              <a:t>UseRouting</a:t>
            </a:r>
            <a:r>
              <a:rPr kumimoji="0" lang="en-US" altLang="en-US"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 and </a:t>
            </a:r>
            <a:r>
              <a:rPr kumimoji="0" lang="en-US" altLang="en-US" b="0" i="0" u="none" strike="noStrike" cap="none" normalizeH="0" baseline="0" dirty="0" err="1">
                <a:ln>
                  <a:noFill/>
                </a:ln>
                <a:solidFill>
                  <a:srgbClr val="161616"/>
                </a:solidFill>
                <a:effectLst/>
                <a:latin typeface="SFMono-Regular"/>
                <a:cs typeface="Segoe UI" panose="020B0502040204020203" pitchFamily="34" charset="0"/>
              </a:rPr>
              <a:t>UseEndpoints</a:t>
            </a:r>
            <a:r>
              <a:rPr kumimoji="0" lang="en-US" altLang="en-US"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 run by calling these methods explicitly. For example, the following code makes an explicit call to </a:t>
            </a:r>
            <a:r>
              <a:rPr kumimoji="0" lang="en-US" altLang="en-US" b="0" i="0" u="none" strike="noStrike" cap="none" normalizeH="0" baseline="0" dirty="0" err="1">
                <a:ln>
                  <a:noFill/>
                </a:ln>
                <a:solidFill>
                  <a:srgbClr val="161616"/>
                </a:solidFill>
                <a:effectLst/>
                <a:latin typeface="SFMono-Regular"/>
                <a:cs typeface="Segoe UI" panose="020B0502040204020203" pitchFamily="34" charset="0"/>
              </a:rPr>
              <a:t>UseRouting</a:t>
            </a:r>
            <a:r>
              <a:rPr kumimoji="0" lang="en-US" altLang="en-US"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C#</a:t>
            </a:r>
            <a:endParaRPr kumimoji="0" lang="en-US" altLang="en-US" b="0" i="0" u="none" strike="noStrike" cap="none" normalizeH="0" baseline="0" dirty="0">
              <a:ln>
                <a:noFill/>
              </a:ln>
              <a:solidFill>
                <a:srgbClr val="161616"/>
              </a:solidFill>
              <a:effectLst/>
              <a:latin typeface="SFMono-Regular"/>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a:ln>
                  <a:noFill/>
                </a:ln>
                <a:solidFill>
                  <a:srgbClr val="161616"/>
                </a:solidFill>
                <a:effectLst/>
                <a:latin typeface="SFMono-Regular"/>
              </a:rPr>
              <a:t>app.Use</a:t>
            </a:r>
            <a:r>
              <a:rPr kumimoji="0" lang="en-US" altLang="en-US" b="0" i="0" u="none" strike="noStrike" cap="none" normalizeH="0" baseline="0" dirty="0">
                <a:ln>
                  <a:noFill/>
                </a:ln>
                <a:solidFill>
                  <a:srgbClr val="161616"/>
                </a:solidFill>
                <a:effectLst/>
                <a:latin typeface="SFMono-Regular"/>
              </a:rPr>
              <a:t>(</a:t>
            </a:r>
            <a:r>
              <a:rPr kumimoji="0" lang="en-US" altLang="en-US" b="0" i="0" u="none" strike="noStrike" cap="none" normalizeH="0" baseline="0" dirty="0">
                <a:ln>
                  <a:noFill/>
                </a:ln>
                <a:solidFill>
                  <a:srgbClr val="0101FD"/>
                </a:solidFill>
                <a:effectLst/>
                <a:latin typeface="SFMono-Regular"/>
              </a:rPr>
              <a:t>async</a:t>
            </a:r>
            <a:r>
              <a:rPr kumimoji="0" lang="en-US" altLang="en-US" b="0" i="0" u="none" strike="noStrike" cap="none" normalizeH="0" baseline="0" dirty="0">
                <a:ln>
                  <a:noFill/>
                </a:ln>
                <a:solidFill>
                  <a:srgbClr val="161616"/>
                </a:solidFill>
                <a:effectLst/>
                <a:latin typeface="SFMono-Regular"/>
              </a:rPr>
              <a:t> (context, next) =&gt; { </a:t>
            </a:r>
            <a:r>
              <a:rPr kumimoji="0" lang="en-US" altLang="en-US" b="0" i="0" u="none" strike="noStrike" cap="none" normalizeH="0" baseline="0" dirty="0">
                <a:ln>
                  <a:noFill/>
                </a:ln>
                <a:solidFill>
                  <a:srgbClr val="008000"/>
                </a:solidFill>
                <a:effectLst/>
                <a:latin typeface="SFMono-Regular"/>
              </a:rPr>
              <a:t>// ...</a:t>
            </a:r>
            <a:r>
              <a:rPr kumimoji="0" lang="en-US" altLang="en-US" b="0" i="0" u="none" strike="noStrike" cap="none" normalizeH="0" baseline="0" dirty="0">
                <a:ln>
                  <a:noFill/>
                </a:ln>
                <a:solidFill>
                  <a:srgbClr val="161616"/>
                </a:solidFill>
                <a:effectLst/>
                <a:latin typeface="SFMono-Regular"/>
              </a:rPr>
              <a:t> </a:t>
            </a:r>
            <a:r>
              <a:rPr kumimoji="0" lang="en-US" altLang="en-US" b="0" i="0" u="none" strike="noStrike" cap="none" normalizeH="0" baseline="0" dirty="0">
                <a:ln>
                  <a:noFill/>
                </a:ln>
                <a:solidFill>
                  <a:srgbClr val="0101FD"/>
                </a:solidFill>
                <a:effectLst/>
                <a:latin typeface="SFMono-Regular"/>
              </a:rPr>
              <a:t>await</a:t>
            </a:r>
            <a:r>
              <a:rPr kumimoji="0" lang="en-US" altLang="en-US" b="0" i="0" u="none" strike="noStrike" cap="none" normalizeH="0" baseline="0" dirty="0">
                <a:ln>
                  <a:noFill/>
                </a:ln>
                <a:solidFill>
                  <a:srgbClr val="161616"/>
                </a:solidFill>
                <a:effectLst/>
                <a:latin typeface="SFMono-Regular"/>
              </a:rPr>
              <a:t> next(context);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a:ln>
                  <a:noFill/>
                </a:ln>
                <a:solidFill>
                  <a:srgbClr val="161616"/>
                </a:solidFill>
                <a:effectLst/>
                <a:latin typeface="SFMono-Regular"/>
              </a:rPr>
              <a:t>app.UseRouting</a:t>
            </a:r>
            <a:r>
              <a:rPr kumimoji="0" lang="en-US" altLang="en-US" b="0" i="0" u="none" strike="noStrike" cap="none" normalizeH="0" baseline="0" dirty="0">
                <a:ln>
                  <a:noFill/>
                </a:ln>
                <a:solidFill>
                  <a:srgbClr val="161616"/>
                </a:solidFill>
                <a:effectLst/>
                <a:latin typeface="SFMono-Regular"/>
              </a:rPr>
              <a:t>(); </a:t>
            </a:r>
            <a:r>
              <a:rPr kumimoji="0" lang="en-US" altLang="en-US" b="0" i="0" u="none" strike="noStrike" cap="none" normalizeH="0" baseline="0" dirty="0" err="1">
                <a:ln>
                  <a:noFill/>
                </a:ln>
                <a:solidFill>
                  <a:srgbClr val="161616"/>
                </a:solidFill>
                <a:effectLst/>
                <a:latin typeface="SFMono-Regular"/>
              </a:rPr>
              <a:t>app.MapGet</a:t>
            </a:r>
            <a:r>
              <a:rPr kumimoji="0" lang="en-US" altLang="en-US" b="0" i="0" u="none" strike="noStrike" cap="none" normalizeH="0" baseline="0" dirty="0">
                <a:ln>
                  <a:noFill/>
                </a:ln>
                <a:solidFill>
                  <a:srgbClr val="161616"/>
                </a:solidFill>
                <a:effectLst/>
                <a:latin typeface="SFMono-Regular"/>
              </a:rPr>
              <a:t>(</a:t>
            </a:r>
            <a:r>
              <a:rPr kumimoji="0" lang="en-US" altLang="en-US" b="0" i="0" u="none" strike="noStrike" cap="none" normalizeH="0" baseline="0" dirty="0">
                <a:ln>
                  <a:noFill/>
                </a:ln>
                <a:solidFill>
                  <a:srgbClr val="A31515"/>
                </a:solidFill>
                <a:effectLst/>
                <a:latin typeface="SFMono-Regular"/>
              </a:rPr>
              <a:t>"/"</a:t>
            </a:r>
            <a:r>
              <a:rPr kumimoji="0" lang="en-US" altLang="en-US" b="0" i="0" u="none" strike="noStrike" cap="none" normalizeH="0" baseline="0" dirty="0">
                <a:ln>
                  <a:noFill/>
                </a:ln>
                <a:solidFill>
                  <a:srgbClr val="161616"/>
                </a:solidFill>
                <a:effectLst/>
                <a:latin typeface="SFMono-Regular"/>
              </a:rPr>
              <a:t>, () =&gt; </a:t>
            </a:r>
            <a:r>
              <a:rPr kumimoji="0" lang="en-US" altLang="en-US" b="0" i="0" u="none" strike="noStrike" cap="none" normalizeH="0" baseline="0" dirty="0">
                <a:ln>
                  <a:noFill/>
                </a:ln>
                <a:solidFill>
                  <a:srgbClr val="A31515"/>
                </a:solidFill>
                <a:effectLst/>
                <a:latin typeface="SFMono-Regular"/>
              </a:rPr>
              <a:t>"Hello World!"</a:t>
            </a:r>
            <a:r>
              <a:rPr kumimoji="0" lang="en-US" altLang="en-US" b="0" i="0" u="none" strike="noStrike" cap="none" normalizeH="0" baseline="0" dirty="0">
                <a:ln>
                  <a:noFill/>
                </a:ln>
                <a:solidFill>
                  <a:srgbClr val="161616"/>
                </a:solidFill>
                <a:effectLst/>
                <a:latin typeface="SFMono-Regular"/>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solidFill>
                <a:srgbClr val="161616"/>
              </a:solidFill>
              <a:latin typeface="SFMono-Regular"/>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In the preceding code:</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The call to </a:t>
            </a:r>
            <a:r>
              <a:rPr kumimoji="0" lang="en-US" altLang="en-US" b="0" i="0" u="none" strike="noStrike" cap="none" normalizeH="0" baseline="0" dirty="0" err="1">
                <a:ln>
                  <a:noFill/>
                </a:ln>
                <a:solidFill>
                  <a:srgbClr val="161616"/>
                </a:solidFill>
                <a:effectLst/>
                <a:latin typeface="SFMono-Regular"/>
                <a:cs typeface="Segoe UI" panose="020B0502040204020203" pitchFamily="34" charset="0"/>
              </a:rPr>
              <a:t>app.Use</a:t>
            </a:r>
            <a:r>
              <a:rPr kumimoji="0" lang="en-US" altLang="en-US"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 registers a custom middleware that runs at the start of the pipeline.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The call to </a:t>
            </a:r>
            <a:r>
              <a:rPr kumimoji="0" lang="en-US" altLang="en-US" b="0" i="0" u="none" strike="noStrike" cap="none" normalizeH="0" baseline="0" dirty="0" err="1">
                <a:ln>
                  <a:noFill/>
                </a:ln>
                <a:solidFill>
                  <a:srgbClr val="161616"/>
                </a:solidFill>
                <a:effectLst/>
                <a:latin typeface="SFMono-Regular"/>
                <a:cs typeface="Segoe UI" panose="020B0502040204020203" pitchFamily="34" charset="0"/>
              </a:rPr>
              <a:t>UseRouting</a:t>
            </a:r>
            <a:r>
              <a:rPr kumimoji="0" lang="en-US" altLang="en-US"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 configures the route matching middleware to run </a:t>
            </a:r>
            <a:r>
              <a:rPr kumimoji="0" lang="en-US" altLang="en-US" b="0" i="1" u="none" strike="noStrike" cap="none" normalizeH="0" baseline="0" dirty="0">
                <a:ln>
                  <a:noFill/>
                </a:ln>
                <a:solidFill>
                  <a:srgbClr val="161616"/>
                </a:solidFill>
                <a:effectLst/>
                <a:latin typeface="Segoe UI" panose="020B0502040204020203" pitchFamily="34" charset="0"/>
                <a:cs typeface="Segoe UI" panose="020B0502040204020203" pitchFamily="34" charset="0"/>
              </a:rPr>
              <a:t>after</a:t>
            </a:r>
            <a:r>
              <a:rPr kumimoji="0" lang="en-US" altLang="en-US"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 the custom middleware.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The endpoint registered with </a:t>
            </a:r>
            <a:r>
              <a:rPr kumimoji="0" lang="en-US" altLang="en-US" b="0" i="0" u="none" strike="noStrike" cap="none" normalizeH="0" baseline="0" dirty="0" err="1">
                <a:ln>
                  <a:noFill/>
                </a:ln>
                <a:solidFill>
                  <a:srgbClr val="161616"/>
                </a:solidFill>
                <a:effectLst/>
                <a:latin typeface="SFMono-Regular"/>
                <a:cs typeface="Segoe UI" panose="020B0502040204020203" pitchFamily="34" charset="0"/>
              </a:rPr>
              <a:t>MapGet</a:t>
            </a:r>
            <a:r>
              <a:rPr kumimoji="0" lang="en-US" altLang="en-US"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 runs at the end of the pipeline.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If the preceding example didn't include a call to </a:t>
            </a:r>
            <a:r>
              <a:rPr kumimoji="0" lang="en-US" altLang="en-US" b="0" i="0" u="none" strike="noStrike" cap="none" normalizeH="0" baseline="0" dirty="0" err="1">
                <a:ln>
                  <a:noFill/>
                </a:ln>
                <a:solidFill>
                  <a:srgbClr val="161616"/>
                </a:solidFill>
                <a:effectLst/>
                <a:latin typeface="SFMono-Regular"/>
                <a:cs typeface="Segoe UI" panose="020B0502040204020203" pitchFamily="34" charset="0"/>
              </a:rPr>
              <a:t>UseRouting</a:t>
            </a:r>
            <a:r>
              <a:rPr kumimoji="0" lang="en-US" altLang="en-US"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 the custom middleware would run </a:t>
            </a:r>
            <a:r>
              <a:rPr kumimoji="0" lang="en-US" altLang="en-US" b="0" i="1" u="none" strike="noStrike" cap="none" normalizeH="0" baseline="0" dirty="0">
                <a:ln>
                  <a:noFill/>
                </a:ln>
                <a:solidFill>
                  <a:srgbClr val="161616"/>
                </a:solidFill>
                <a:effectLst/>
                <a:latin typeface="Segoe UI" panose="020B0502040204020203" pitchFamily="34" charset="0"/>
                <a:cs typeface="Segoe UI" panose="020B0502040204020203" pitchFamily="34" charset="0"/>
              </a:rPr>
              <a:t>after</a:t>
            </a:r>
            <a:r>
              <a:rPr kumimoji="0" lang="en-US" altLang="en-US"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 the route matching middleware.</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Note:</a:t>
            </a:r>
            <a:r>
              <a:rPr kumimoji="0" lang="en-US" altLang="en-US"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 Routes added directly to the </a:t>
            </a:r>
            <a:r>
              <a:rPr kumimoji="0" lang="en-US" altLang="en-US" b="0" i="0" u="none" strike="noStrike" cap="none" normalizeH="0" baseline="0" dirty="0" err="1">
                <a:ln>
                  <a:noFill/>
                </a:ln>
                <a:solidFill>
                  <a:srgbClr val="161616"/>
                </a:solidFill>
                <a:effectLst/>
                <a:latin typeface="Segoe UI" panose="020B0502040204020203" pitchFamily="34" charset="0"/>
                <a:cs typeface="Segoe UI" panose="020B0502040204020203" pitchFamily="34" charset="0"/>
                <a:hlinkClick r:id="rId3"/>
              </a:rPr>
              <a:t>WebApplication</a:t>
            </a:r>
            <a:r>
              <a:rPr kumimoji="0" lang="en-US" altLang="en-US"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 execute at the </a:t>
            </a:r>
            <a:r>
              <a:rPr kumimoji="0" lang="en-US" altLang="en-US" b="1" i="1" u="none" strike="noStrike" cap="none" normalizeH="0" baseline="0" dirty="0">
                <a:ln>
                  <a:noFill/>
                </a:ln>
                <a:solidFill>
                  <a:srgbClr val="161616"/>
                </a:solidFill>
                <a:effectLst/>
                <a:latin typeface="Segoe UI" panose="020B0502040204020203" pitchFamily="34" charset="0"/>
                <a:cs typeface="Segoe UI" panose="020B0502040204020203" pitchFamily="34" charset="0"/>
              </a:rPr>
              <a:t>end</a:t>
            </a:r>
            <a:r>
              <a:rPr kumimoji="0" lang="en-US" altLang="en-US"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 of the pipeline.</a:t>
            </a:r>
            <a:endParaRPr kumimoji="0" lang="en-US" altLang="en-US"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7134969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2F8ACB5-27B3-A8E7-B8FB-316D101835A8}"/>
              </a:ext>
            </a:extLst>
          </p:cNvPr>
          <p:cNvSpPr txBox="1"/>
          <p:nvPr/>
        </p:nvSpPr>
        <p:spPr>
          <a:xfrm>
            <a:off x="355600" y="268516"/>
            <a:ext cx="11470640" cy="923330"/>
          </a:xfrm>
          <a:prstGeom prst="rect">
            <a:avLst/>
          </a:prstGeom>
          <a:noFill/>
        </p:spPr>
        <p:txBody>
          <a:bodyPr wrap="square">
            <a:spAutoFit/>
          </a:bodyPr>
          <a:lstStyle/>
          <a:p>
            <a:r>
              <a:rPr lang="en-IN" sz="1800" dirty="0">
                <a:solidFill>
                  <a:srgbClr val="000000"/>
                </a:solidFill>
                <a:latin typeface="Cascadia Mono" panose="020B0609020000020004" pitchFamily="49" charset="0"/>
              </a:rPr>
              <a:t> </a:t>
            </a:r>
            <a:r>
              <a:rPr lang="en-IN" sz="1800" dirty="0" err="1">
                <a:solidFill>
                  <a:srgbClr val="000000"/>
                </a:solidFill>
                <a:latin typeface="Cascadia Mono" panose="020B0609020000020004" pitchFamily="49" charset="0"/>
              </a:rPr>
              <a:t>app.MapControllerRoute</a:t>
            </a:r>
            <a:r>
              <a:rPr lang="en-IN" sz="1800" dirty="0">
                <a:solidFill>
                  <a:srgbClr val="000000"/>
                </a:solidFill>
                <a:latin typeface="Cascadia Mono" panose="020B0609020000020004" pitchFamily="49" charset="0"/>
              </a:rPr>
              <a:t>(</a:t>
            </a:r>
          </a:p>
          <a:p>
            <a:r>
              <a:rPr lang="en-IN" sz="1800" dirty="0">
                <a:solidFill>
                  <a:srgbClr val="000000"/>
                </a:solidFill>
                <a:latin typeface="Cascadia Mono" panose="020B0609020000020004" pitchFamily="49" charset="0"/>
              </a:rPr>
              <a:t>                name: </a:t>
            </a:r>
            <a:r>
              <a:rPr lang="en-IN" sz="1800" dirty="0">
                <a:solidFill>
                  <a:srgbClr val="A31515"/>
                </a:solidFill>
                <a:latin typeface="Cascadia Mono" panose="020B0609020000020004" pitchFamily="49" charset="0"/>
              </a:rPr>
              <a:t>"default"</a:t>
            </a:r>
            <a:r>
              <a:rPr lang="en-IN" sz="1800" dirty="0">
                <a:solidFill>
                  <a:srgbClr val="000000"/>
                </a:solidFill>
                <a:latin typeface="Cascadia Mono" panose="020B0609020000020004" pitchFamily="49" charset="0"/>
              </a:rPr>
              <a:t>,</a:t>
            </a:r>
          </a:p>
          <a:p>
            <a:r>
              <a:rPr lang="en-IN" sz="1800" dirty="0">
                <a:solidFill>
                  <a:srgbClr val="000000"/>
                </a:solidFill>
                <a:latin typeface="Cascadia Mono" panose="020B0609020000020004" pitchFamily="49" charset="0"/>
              </a:rPr>
              <a:t>                pattern: </a:t>
            </a:r>
            <a:r>
              <a:rPr lang="en-IN" sz="1800" dirty="0">
                <a:solidFill>
                  <a:srgbClr val="A31515"/>
                </a:solidFill>
                <a:latin typeface="Cascadia Mono" panose="020B0609020000020004" pitchFamily="49" charset="0"/>
              </a:rPr>
              <a:t>"{controller=Home}/{action=Index}/{id?}"</a:t>
            </a:r>
            <a:r>
              <a:rPr lang="en-IN" sz="1800" dirty="0">
                <a:solidFill>
                  <a:srgbClr val="000000"/>
                </a:solidFill>
                <a:latin typeface="Cascadia Mono" panose="020B0609020000020004" pitchFamily="49" charset="0"/>
              </a:rPr>
              <a:t>);</a:t>
            </a:r>
          </a:p>
        </p:txBody>
      </p:sp>
      <p:sp>
        <p:nvSpPr>
          <p:cNvPr id="7" name="TextBox 6">
            <a:extLst>
              <a:ext uri="{FF2B5EF4-FFF2-40B4-BE49-F238E27FC236}">
                <a16:creationId xmlns:a16="http://schemas.microsoft.com/office/drawing/2014/main" id="{1FAC445A-AE35-B9E1-FDE6-B48FDBED3E31}"/>
              </a:ext>
            </a:extLst>
          </p:cNvPr>
          <p:cNvSpPr txBox="1"/>
          <p:nvPr/>
        </p:nvSpPr>
        <p:spPr>
          <a:xfrm>
            <a:off x="254000" y="1593563"/>
            <a:ext cx="11572240" cy="4524315"/>
          </a:xfrm>
          <a:prstGeom prst="rect">
            <a:avLst/>
          </a:prstGeom>
          <a:noFill/>
        </p:spPr>
        <p:txBody>
          <a:bodyPr wrap="square">
            <a:spAutoFit/>
          </a:bodyPr>
          <a:lstStyle/>
          <a:p>
            <a:r>
              <a:rPr lang="en-US" dirty="0"/>
              <a:t>In this example, the </a:t>
            </a:r>
            <a:r>
              <a:rPr lang="en-US" dirty="0" err="1"/>
              <a:t>MapControllerRoute</a:t>
            </a:r>
            <a:r>
              <a:rPr lang="en-US" dirty="0"/>
              <a:t> method is used to define a default route.</a:t>
            </a:r>
          </a:p>
          <a:p>
            <a:endParaRPr lang="en-US" dirty="0"/>
          </a:p>
          <a:p>
            <a:r>
              <a:rPr lang="en-US" dirty="0"/>
              <a:t> The pattern parameter specifies the route template, where {controller}, {action}, and {id} are placeholders for route parameters. </a:t>
            </a:r>
          </a:p>
          <a:p>
            <a:endParaRPr lang="en-US" dirty="0"/>
          </a:p>
          <a:p>
            <a:r>
              <a:rPr lang="en-US" dirty="0"/>
              <a:t>The name parameter gives the route a name, which can be used for generating URLs. Here’s a breakdown of the placeholders:</a:t>
            </a:r>
          </a:p>
          <a:p>
            <a:endParaRPr lang="en-US" dirty="0"/>
          </a:p>
          <a:p>
            <a:r>
              <a:rPr lang="en-US" dirty="0"/>
              <a:t>{controller}: Represents the name of the controller class.</a:t>
            </a:r>
          </a:p>
          <a:p>
            <a:r>
              <a:rPr lang="en-US" dirty="0"/>
              <a:t>{action}: Represents the action method’s name within the controller.</a:t>
            </a:r>
          </a:p>
          <a:p>
            <a:r>
              <a:rPr lang="en-US" dirty="0"/>
              <a:t>{id?}: Represents an optional route parameter called “id”.</a:t>
            </a:r>
          </a:p>
          <a:p>
            <a:endParaRPr lang="en-US" dirty="0"/>
          </a:p>
          <a:p>
            <a:endParaRPr lang="en-US" dirty="0"/>
          </a:p>
          <a:p>
            <a:r>
              <a:rPr lang="en-US" dirty="0"/>
              <a:t>With this configuration, an incoming URL like /Home/Index would match the Index action method of the </a:t>
            </a:r>
            <a:r>
              <a:rPr lang="en-US" dirty="0" err="1"/>
              <a:t>HomeController</a:t>
            </a:r>
            <a:r>
              <a:rPr lang="en-US" dirty="0"/>
              <a:t>. Similarly, </a:t>
            </a:r>
          </a:p>
          <a:p>
            <a:r>
              <a:rPr lang="en-US" dirty="0"/>
              <a:t>/Products/Details/5 would match the Details action method of the </a:t>
            </a:r>
            <a:r>
              <a:rPr lang="en-US" dirty="0" err="1"/>
              <a:t>ProductsController</a:t>
            </a:r>
            <a:r>
              <a:rPr lang="en-US" dirty="0"/>
              <a:t> with an id parameter set to 5.</a:t>
            </a:r>
            <a:endParaRPr lang="en-IN" dirty="0"/>
          </a:p>
        </p:txBody>
      </p:sp>
    </p:spTree>
    <p:extLst>
      <p:ext uri="{BB962C8B-B14F-4D97-AF65-F5344CB8AC3E}">
        <p14:creationId xmlns:p14="http://schemas.microsoft.com/office/powerpoint/2010/main" val="31005752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761967D-F9E5-049E-B607-094E0D4072D5}"/>
              </a:ext>
            </a:extLst>
          </p:cNvPr>
          <p:cNvSpPr txBox="1"/>
          <p:nvPr/>
        </p:nvSpPr>
        <p:spPr>
          <a:xfrm>
            <a:off x="137160" y="0"/>
            <a:ext cx="11917680" cy="6647974"/>
          </a:xfrm>
          <a:prstGeom prst="rect">
            <a:avLst/>
          </a:prstGeom>
          <a:noFill/>
        </p:spPr>
        <p:txBody>
          <a:bodyPr wrap="square">
            <a:spAutoFit/>
          </a:bodyPr>
          <a:lstStyle/>
          <a:p>
            <a:pPr fontAlgn="base"/>
            <a:r>
              <a:rPr lang="en-US" sz="1600" b="1" dirty="0">
                <a:solidFill>
                  <a:srgbClr val="3A3A3A"/>
                </a:solidFill>
                <a:effectLst/>
                <a:latin typeface="arial" panose="020B0604020202020204" pitchFamily="34" charset="0"/>
              </a:rPr>
              <a:t>Understanding Route Template in ASP.NET Core MVC Application:</a:t>
            </a:r>
          </a:p>
          <a:p>
            <a:pPr fontAlgn="base"/>
            <a:endParaRPr lang="en-US" sz="1600" b="1" dirty="0">
              <a:solidFill>
                <a:srgbClr val="3A3A3A"/>
              </a:solidFill>
              <a:effectLst/>
            </a:endParaRPr>
          </a:p>
          <a:p>
            <a:pPr algn="just" fontAlgn="base"/>
            <a:r>
              <a:rPr lang="en-US" sz="1600" dirty="0">
                <a:solidFill>
                  <a:srgbClr val="000000"/>
                </a:solidFill>
                <a:effectLst/>
                <a:latin typeface="arial" panose="020B0604020202020204" pitchFamily="34" charset="0"/>
              </a:rPr>
              <a:t>As we see, the default route is created with the URL Pattern:</a:t>
            </a:r>
          </a:p>
          <a:p>
            <a:pPr algn="just" fontAlgn="base"/>
            <a:endParaRPr lang="en-US" sz="1600" dirty="0">
              <a:solidFill>
                <a:srgbClr val="000000"/>
              </a:solidFill>
              <a:effectLst/>
              <a:latin typeface="arial" panose="020B0604020202020204" pitchFamily="34" charset="0"/>
            </a:endParaRPr>
          </a:p>
          <a:p>
            <a:pPr fontAlgn="base"/>
            <a:r>
              <a:rPr lang="en-US" sz="1600" dirty="0">
                <a:solidFill>
                  <a:srgbClr val="000000"/>
                </a:solidFill>
                <a:effectLst/>
                <a:latin typeface="arial" panose="020B0604020202020204" pitchFamily="34" charset="0"/>
              </a:rPr>
              <a:t> </a:t>
            </a:r>
            <a:r>
              <a:rPr lang="en-US" sz="1600" b="1" dirty="0">
                <a:solidFill>
                  <a:srgbClr val="000000"/>
                </a:solidFill>
                <a:effectLst/>
                <a:latin typeface="arial" panose="020B0604020202020204" pitchFamily="34" charset="0"/>
              </a:rPr>
              <a:t>{controller=Home}/{action=Index}/{id?}</a:t>
            </a:r>
          </a:p>
          <a:p>
            <a:pPr fontAlgn="base"/>
            <a:br>
              <a:rPr lang="en-US" sz="1600" dirty="0">
                <a:effectLst/>
              </a:rPr>
            </a:br>
            <a:r>
              <a:rPr lang="en-US" sz="1600" dirty="0">
                <a:solidFill>
                  <a:srgbClr val="000000"/>
                </a:solidFill>
                <a:effectLst/>
                <a:latin typeface="arial" panose="020B0604020202020204" pitchFamily="34" charset="0"/>
              </a:rPr>
              <a:t>So, the above default route template will map most URLs with the following pattern.</a:t>
            </a:r>
          </a:p>
          <a:p>
            <a:pPr fontAlgn="base"/>
            <a:br>
              <a:rPr lang="en-US" sz="1600" dirty="0">
                <a:effectLst/>
              </a:rPr>
            </a:br>
            <a:r>
              <a:rPr lang="en-US" sz="1600" b="1" dirty="0">
                <a:solidFill>
                  <a:srgbClr val="0000FF"/>
                </a:solidFill>
                <a:effectLst/>
                <a:latin typeface="arial" panose="020B0604020202020204" pitchFamily="34" charset="0"/>
                <a:hlinkClick r:id="rId2"/>
              </a:rPr>
              <a:t>http://localhost:52190/Home/Details/2</a:t>
            </a:r>
            <a:endParaRPr lang="en-US" sz="1600" b="1" dirty="0">
              <a:solidFill>
                <a:srgbClr val="0000FF"/>
              </a:solidFill>
              <a:effectLst/>
              <a:latin typeface="arial" panose="020B0604020202020204" pitchFamily="34" charset="0"/>
            </a:endParaRPr>
          </a:p>
          <a:p>
            <a:pPr algn="just" fontAlgn="base"/>
            <a:endParaRPr lang="en-US" sz="1600" dirty="0">
              <a:effectLst/>
            </a:endParaRPr>
          </a:p>
          <a:p>
            <a:pPr algn="just" fontAlgn="base">
              <a:buFont typeface="+mj-lt"/>
              <a:buAutoNum type="arabicPeriod"/>
            </a:pPr>
            <a:r>
              <a:rPr lang="en-US" sz="1400" dirty="0">
                <a:solidFill>
                  <a:srgbClr val="000000"/>
                </a:solidFill>
                <a:effectLst/>
                <a:latin typeface="arial" panose="020B0604020202020204" pitchFamily="34" charset="0"/>
              </a:rPr>
              <a:t>The first segment path of the URL, i.e., /Home, is mapped to the </a:t>
            </a:r>
            <a:r>
              <a:rPr lang="en-US" sz="1400" dirty="0" err="1">
                <a:solidFill>
                  <a:srgbClr val="000000"/>
                </a:solidFill>
                <a:effectLst/>
                <a:latin typeface="arial" panose="020B0604020202020204" pitchFamily="34" charset="0"/>
              </a:rPr>
              <a:t>HomeController</a:t>
            </a:r>
            <a:r>
              <a:rPr lang="en-US" sz="1400" dirty="0">
                <a:solidFill>
                  <a:srgbClr val="000000"/>
                </a:solidFill>
                <a:effectLst/>
                <a:latin typeface="arial" panose="020B0604020202020204" pitchFamily="34" charset="0"/>
              </a:rPr>
              <a:t>. As you can see in the URL, we do not have the word Controller with the first segment path of the URL. But it maps to the </a:t>
            </a:r>
            <a:r>
              <a:rPr lang="en-US" sz="1400" dirty="0" err="1">
                <a:solidFill>
                  <a:srgbClr val="000000"/>
                </a:solidFill>
                <a:effectLst/>
                <a:latin typeface="arial" panose="020B0604020202020204" pitchFamily="34" charset="0"/>
              </a:rPr>
              <a:t>HomeController</a:t>
            </a:r>
            <a:r>
              <a:rPr lang="en-US" sz="1400" dirty="0">
                <a:solidFill>
                  <a:srgbClr val="000000"/>
                </a:solidFill>
                <a:effectLst/>
                <a:latin typeface="arial" panose="020B0604020202020204" pitchFamily="34" charset="0"/>
              </a:rPr>
              <a:t> because when ASP.NET Core MVC Framework finds the word /Home as the first segment path of the URL, it internally appends the word Controller.</a:t>
            </a:r>
          </a:p>
          <a:p>
            <a:pPr algn="just" fontAlgn="base">
              <a:buFont typeface="+mj-lt"/>
              <a:buAutoNum type="arabicPeriod"/>
            </a:pPr>
            <a:endParaRPr lang="en-US" sz="1400" dirty="0">
              <a:effectLst/>
            </a:endParaRPr>
          </a:p>
          <a:p>
            <a:pPr algn="just" fontAlgn="base">
              <a:buFont typeface="+mj-lt"/>
              <a:buAutoNum type="arabicPeriod"/>
            </a:pPr>
            <a:r>
              <a:rPr lang="en-US" sz="1400" dirty="0">
                <a:solidFill>
                  <a:srgbClr val="000000"/>
                </a:solidFill>
                <a:effectLst/>
                <a:latin typeface="arial" panose="020B0604020202020204" pitchFamily="34" charset="0"/>
              </a:rPr>
              <a:t>The second segment path of the URL, i.e., /Details, is mapped to the Details(int id) action method of the </a:t>
            </a:r>
            <a:r>
              <a:rPr lang="en-US" sz="1400" dirty="0" err="1">
                <a:solidFill>
                  <a:srgbClr val="000000"/>
                </a:solidFill>
                <a:effectLst/>
                <a:latin typeface="arial" panose="020B0604020202020204" pitchFamily="34" charset="0"/>
              </a:rPr>
              <a:t>HomeController</a:t>
            </a:r>
            <a:r>
              <a:rPr lang="en-US" sz="1400" dirty="0">
                <a:solidFill>
                  <a:srgbClr val="000000"/>
                </a:solidFill>
                <a:effectLst/>
                <a:latin typeface="arial" panose="020B0604020202020204" pitchFamily="34" charset="0"/>
              </a:rPr>
              <a:t> class.</a:t>
            </a:r>
          </a:p>
          <a:p>
            <a:pPr algn="just" fontAlgn="base">
              <a:buFont typeface="+mj-lt"/>
              <a:buAutoNum type="arabicPeriod"/>
            </a:pPr>
            <a:endParaRPr lang="en-US" sz="1400" dirty="0">
              <a:effectLst/>
            </a:endParaRPr>
          </a:p>
          <a:p>
            <a:pPr algn="just" fontAlgn="base">
              <a:buFont typeface="+mj-lt"/>
              <a:buAutoNum type="arabicPeriod"/>
            </a:pPr>
            <a:r>
              <a:rPr lang="en-US" sz="1400" dirty="0">
                <a:solidFill>
                  <a:srgbClr val="000000"/>
                </a:solidFill>
                <a:effectLst/>
                <a:latin typeface="arial" panose="020B0604020202020204" pitchFamily="34" charset="0"/>
              </a:rPr>
              <a:t>The third segment path of the URL, i.e., 2, is mapped to the id parameter of the Details(int id) action method.</a:t>
            </a:r>
            <a:endParaRPr lang="en-US" sz="1400" dirty="0">
              <a:effectLst/>
            </a:endParaRPr>
          </a:p>
          <a:p>
            <a:pPr fontAlgn="base"/>
            <a:r>
              <a:rPr lang="en-US" sz="1400" dirty="0">
                <a:solidFill>
                  <a:srgbClr val="000000"/>
                </a:solidFill>
                <a:effectLst/>
                <a:latin typeface="arial" panose="020B0604020202020204" pitchFamily="34" charset="0"/>
              </a:rPr>
              <a:t>As you can see in the default route template </a:t>
            </a:r>
            <a:r>
              <a:rPr lang="en-US" sz="1400" b="1" dirty="0">
                <a:solidFill>
                  <a:srgbClr val="000000"/>
                </a:solidFill>
                <a:effectLst/>
                <a:latin typeface="arial" panose="020B0604020202020204" pitchFamily="34" charset="0"/>
              </a:rPr>
              <a:t>{controller=Home}/{action=Index}/{id?}</a:t>
            </a:r>
            <a:r>
              <a:rPr lang="en-US" sz="1400" dirty="0">
                <a:solidFill>
                  <a:srgbClr val="000000"/>
                </a:solidFill>
                <a:effectLst/>
                <a:latin typeface="arial" panose="020B0604020202020204" pitchFamily="34" charset="0"/>
              </a:rPr>
              <a:t>, we have a question mark at the end of the id parameter, which makes the id parameter optional. That means the following two requests now map to the same Details action method of the Home Controller class.</a:t>
            </a:r>
            <a:br>
              <a:rPr lang="en-US" sz="1400" dirty="0">
                <a:effectLst/>
              </a:rPr>
            </a:br>
            <a:endParaRPr lang="en-US" sz="1400" dirty="0"/>
          </a:p>
          <a:p>
            <a:pPr fontAlgn="base"/>
            <a:r>
              <a:rPr lang="en-US" sz="1600" b="1" dirty="0">
                <a:solidFill>
                  <a:srgbClr val="0000FF"/>
                </a:solidFill>
                <a:effectLst/>
                <a:latin typeface="arial" panose="020B0604020202020204" pitchFamily="34" charset="0"/>
              </a:rPr>
              <a:t>/Home/Details/1</a:t>
            </a:r>
            <a:br>
              <a:rPr lang="en-US" sz="1600" dirty="0">
                <a:effectLst/>
              </a:rPr>
            </a:br>
            <a:r>
              <a:rPr lang="en-US" sz="1600" b="1" dirty="0">
                <a:solidFill>
                  <a:srgbClr val="0000FF"/>
                </a:solidFill>
                <a:effectLst/>
                <a:latin typeface="arial" panose="020B0604020202020204" pitchFamily="34" charset="0"/>
              </a:rPr>
              <a:t>/Home/Details</a:t>
            </a:r>
          </a:p>
          <a:p>
            <a:pPr fontAlgn="base"/>
            <a:endParaRPr lang="en-US" sz="1600" dirty="0">
              <a:effectLst/>
            </a:endParaRPr>
          </a:p>
          <a:p>
            <a:pPr algn="just" fontAlgn="base"/>
            <a:r>
              <a:rPr lang="en-US" sz="1600" dirty="0">
                <a:solidFill>
                  <a:srgbClr val="000000"/>
                </a:solidFill>
                <a:effectLst/>
                <a:latin typeface="arial" panose="020B0604020202020204" pitchFamily="34" charset="0"/>
              </a:rPr>
              <a:t>In the default route template </a:t>
            </a:r>
            <a:r>
              <a:rPr lang="en-US" sz="1600" b="1" dirty="0">
                <a:solidFill>
                  <a:srgbClr val="000000"/>
                </a:solidFill>
                <a:effectLst/>
                <a:latin typeface="arial" panose="020B0604020202020204" pitchFamily="34" charset="0"/>
              </a:rPr>
              <a:t>{controller=Home}/{action=Index}/{id?}</a:t>
            </a:r>
            <a:r>
              <a:rPr lang="en-US" sz="1600" dirty="0">
                <a:solidFill>
                  <a:srgbClr val="000000"/>
                </a:solidFill>
                <a:effectLst/>
                <a:latin typeface="arial" panose="020B0604020202020204" pitchFamily="34" charset="0"/>
              </a:rPr>
              <a:t>, </a:t>
            </a:r>
          </a:p>
          <a:p>
            <a:pPr algn="just" fontAlgn="base"/>
            <a:r>
              <a:rPr lang="en-US" sz="1600" dirty="0">
                <a:solidFill>
                  <a:srgbClr val="000000"/>
                </a:solidFill>
                <a:effectLst/>
                <a:latin typeface="arial" panose="020B0604020202020204" pitchFamily="34" charset="0"/>
              </a:rPr>
              <a:t>the value </a:t>
            </a:r>
            <a:r>
              <a:rPr lang="en-US" sz="1600" b="1" dirty="0">
                <a:solidFill>
                  <a:srgbClr val="000000"/>
                </a:solidFill>
                <a:effectLst/>
                <a:latin typeface="arial" panose="020B0604020202020204" pitchFamily="34" charset="0"/>
              </a:rPr>
              <a:t>Home</a:t>
            </a:r>
            <a:r>
              <a:rPr lang="en-US" sz="1600" dirty="0">
                <a:solidFill>
                  <a:srgbClr val="000000"/>
                </a:solidFill>
                <a:effectLst/>
                <a:latin typeface="arial" panose="020B0604020202020204" pitchFamily="34" charset="0"/>
              </a:rPr>
              <a:t> in </a:t>
            </a:r>
            <a:r>
              <a:rPr lang="en-US" sz="1600" b="1" dirty="0">
                <a:solidFill>
                  <a:srgbClr val="000000"/>
                </a:solidFill>
                <a:effectLst/>
                <a:latin typeface="arial" panose="020B0604020202020204" pitchFamily="34" charset="0"/>
              </a:rPr>
              <a:t>{controller=Home}</a:t>
            </a:r>
            <a:r>
              <a:rPr lang="en-US" sz="1600" dirty="0">
                <a:solidFill>
                  <a:srgbClr val="000000"/>
                </a:solidFill>
                <a:effectLst/>
                <a:latin typeface="arial" panose="020B0604020202020204" pitchFamily="34" charset="0"/>
              </a:rPr>
              <a:t> is the default value for the Controller.</a:t>
            </a:r>
          </a:p>
          <a:p>
            <a:pPr algn="just" fontAlgn="base"/>
            <a:endParaRPr lang="en-US" sz="1600" dirty="0">
              <a:solidFill>
                <a:srgbClr val="000000"/>
              </a:solidFill>
              <a:latin typeface="arial" panose="020B0604020202020204" pitchFamily="34" charset="0"/>
            </a:endParaRPr>
          </a:p>
          <a:p>
            <a:pPr algn="just" fontAlgn="base"/>
            <a:r>
              <a:rPr lang="en-US" sz="1600" dirty="0">
                <a:solidFill>
                  <a:srgbClr val="000000"/>
                </a:solidFill>
                <a:effectLst/>
                <a:latin typeface="arial" panose="020B0604020202020204" pitchFamily="34" charset="0"/>
              </a:rPr>
              <a:t> Similarly, the value </a:t>
            </a:r>
            <a:r>
              <a:rPr lang="en-US" sz="1600" b="1" dirty="0">
                <a:solidFill>
                  <a:srgbClr val="000000"/>
                </a:solidFill>
                <a:effectLst/>
                <a:latin typeface="arial" panose="020B0604020202020204" pitchFamily="34" charset="0"/>
              </a:rPr>
              <a:t>Index</a:t>
            </a:r>
            <a:r>
              <a:rPr lang="en-US" sz="1600" dirty="0">
                <a:solidFill>
                  <a:srgbClr val="000000"/>
                </a:solidFill>
                <a:effectLst/>
                <a:latin typeface="arial" panose="020B0604020202020204" pitchFamily="34" charset="0"/>
              </a:rPr>
              <a:t> in </a:t>
            </a:r>
            <a:r>
              <a:rPr lang="en-US" sz="1600" b="1" dirty="0">
                <a:solidFill>
                  <a:srgbClr val="000000"/>
                </a:solidFill>
                <a:effectLst/>
                <a:latin typeface="arial" panose="020B0604020202020204" pitchFamily="34" charset="0"/>
              </a:rPr>
              <a:t>{action=Index}</a:t>
            </a:r>
            <a:r>
              <a:rPr lang="en-US" sz="1600" dirty="0">
                <a:solidFill>
                  <a:srgbClr val="000000"/>
                </a:solidFill>
                <a:effectLst/>
                <a:latin typeface="arial" panose="020B0604020202020204" pitchFamily="34" charset="0"/>
              </a:rPr>
              <a:t> is the default value for the action method. </a:t>
            </a:r>
            <a:endParaRPr lang="en-US" sz="1600" dirty="0">
              <a:effectLst/>
            </a:endParaRPr>
          </a:p>
        </p:txBody>
      </p:sp>
    </p:spTree>
    <p:extLst>
      <p:ext uri="{BB962C8B-B14F-4D97-AF65-F5344CB8AC3E}">
        <p14:creationId xmlns:p14="http://schemas.microsoft.com/office/powerpoint/2010/main" val="25849964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52022C5-B2D9-A879-DA39-EAF8FC80CDC6}"/>
              </a:ext>
            </a:extLst>
          </p:cNvPr>
          <p:cNvSpPr txBox="1"/>
          <p:nvPr/>
        </p:nvSpPr>
        <p:spPr>
          <a:xfrm>
            <a:off x="548640" y="426909"/>
            <a:ext cx="11308080" cy="2308324"/>
          </a:xfrm>
          <a:prstGeom prst="rect">
            <a:avLst/>
          </a:prstGeom>
          <a:noFill/>
        </p:spPr>
        <p:txBody>
          <a:bodyPr wrap="square">
            <a:spAutoFit/>
          </a:bodyPr>
          <a:lstStyle/>
          <a:p>
            <a:pPr marL="0" marR="0" lvl="0" indent="0" algn="just" defTabSz="914400" rtl="0" eaLnBrk="1" fontAlgn="base"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That means if we navigate to the application’s root URL, as shown below, then that request is going to be handled by the Index action method of the Home Controller class.</a:t>
            </a:r>
            <a:b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b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just" defTabSz="914400" rtl="0" eaLnBrk="1" fontAlgn="base"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FF"/>
                </a:solidFill>
                <a:effectLst/>
                <a:uLnTx/>
                <a:uFillTx/>
                <a:latin typeface="arial" panose="020B0604020202020204" pitchFamily="34" charset="0"/>
                <a:ea typeface="+mn-ea"/>
                <a:cs typeface="+mn-cs"/>
                <a:hlinkClick r:id="rId2"/>
              </a:rPr>
              <a:t>http://localhost:52190</a:t>
            </a:r>
            <a:endParaRPr kumimoji="0" lang="en-US" sz="1600" b="1" i="0" u="none" strike="noStrike" kern="1200" cap="none" spc="0" normalizeH="0" baseline="0" noProof="0" dirty="0">
              <a:ln>
                <a:noFill/>
              </a:ln>
              <a:solidFill>
                <a:srgbClr val="0000FF"/>
              </a:solidFill>
              <a:effectLst/>
              <a:uLnTx/>
              <a:uFillTx/>
              <a:latin typeface="arial" panose="020B0604020202020204" pitchFamily="34" charset="0"/>
              <a:ea typeface="+mn-ea"/>
              <a:cs typeface="+mn-cs"/>
            </a:endParaRPr>
          </a:p>
          <a:p>
            <a:pPr marL="0" marR="0" lvl="0" indent="0" algn="just" defTabSz="914400" rtl="0" eaLnBrk="1" fontAlgn="base"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just" defTabSz="914400" rtl="0" eaLnBrk="1" fontAlgn="base"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The following two URLs are also mapped to the Index action method of the </a:t>
            </a:r>
            <a:r>
              <a:rPr kumimoji="0" lang="en-US" sz="1600" b="0" i="0" u="none" strike="noStrike" kern="1200" cap="none" spc="0" normalizeH="0" baseline="0" noProof="0" dirty="0" err="1">
                <a:ln>
                  <a:noFill/>
                </a:ln>
                <a:solidFill>
                  <a:srgbClr val="000000"/>
                </a:solidFill>
                <a:effectLst/>
                <a:uLnTx/>
                <a:uFillTx/>
                <a:latin typeface="arial" panose="020B0604020202020204" pitchFamily="34" charset="0"/>
                <a:ea typeface="+mn-ea"/>
                <a:cs typeface="+mn-cs"/>
              </a:rPr>
              <a:t>HomeController</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a:t>
            </a:r>
            <a:r>
              <a:rPr kumimoji="0" lang="en-US" sz="1600" b="0" i="0" u="none" strike="noStrike" kern="1200" cap="none" spc="0" normalizeH="0" baseline="0" noProof="0">
                <a:ln>
                  <a:noFill/>
                </a:ln>
                <a:solidFill>
                  <a:srgbClr val="000000"/>
                </a:solidFill>
                <a:effectLst/>
                <a:uLnTx/>
                <a:uFillTx/>
                <a:latin typeface="arial" panose="020B0604020202020204" pitchFamily="34" charset="0"/>
                <a:ea typeface="+mn-ea"/>
                <a:cs typeface="+mn-cs"/>
              </a:rPr>
              <a:t>class.</a:t>
            </a:r>
          </a:p>
          <a:p>
            <a:pPr marL="0" marR="0" lvl="0" indent="0" algn="just" defTabSz="914400" rtl="0" eaLnBrk="1" fontAlgn="base"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FF"/>
                </a:solidFill>
                <a:effectLst/>
                <a:uLnTx/>
                <a:uFillTx/>
                <a:latin typeface="arial" panose="020B0604020202020204" pitchFamily="34" charset="0"/>
                <a:ea typeface="+mn-ea"/>
                <a:cs typeface="+mn-cs"/>
              </a:rPr>
              <a:t>http://localhost:52190/Home</a:t>
            </a:r>
            <a:b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1600" b="1" i="0" u="none" strike="noStrike" kern="1200" cap="none" spc="0" normalizeH="0" baseline="0" noProof="0" dirty="0">
                <a:ln>
                  <a:noFill/>
                </a:ln>
                <a:solidFill>
                  <a:srgbClr val="0000FF"/>
                </a:solidFill>
                <a:effectLst/>
                <a:uLnTx/>
                <a:uFillTx/>
                <a:latin typeface="arial" panose="020B0604020202020204" pitchFamily="34" charset="0"/>
                <a:ea typeface="+mn-ea"/>
                <a:cs typeface="+mn-cs"/>
              </a:rPr>
              <a:t>http://localhost:52190/Home/Index</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44138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2074</TotalTime>
  <Words>1172</Words>
  <Application>Microsoft Office PowerPoint</Application>
  <PresentationFormat>Widescreen</PresentationFormat>
  <Paragraphs>108</Paragraphs>
  <Slides>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vt:i4>
      </vt:variant>
    </vt:vector>
  </HeadingPairs>
  <TitlesOfParts>
    <vt:vector size="16" baseType="lpstr">
      <vt:lpstr>-apple-system</vt:lpstr>
      <vt:lpstr>Arial</vt:lpstr>
      <vt:lpstr>Arial</vt:lpstr>
      <vt:lpstr>Calibri</vt:lpstr>
      <vt:lpstr>Calibri Light</vt:lpstr>
      <vt:lpstr>Cascadia Mono</vt:lpstr>
      <vt:lpstr>Segoe UI</vt:lpstr>
      <vt:lpstr>SFMono-Regular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Ketki Acharya</dc:creator>
  <cp:lastModifiedBy>sriram mantri vidyanidhi infotech academy</cp:lastModifiedBy>
  <cp:revision>60</cp:revision>
  <dcterms:created xsi:type="dcterms:W3CDTF">2021-10-12T08:21:24Z</dcterms:created>
  <dcterms:modified xsi:type="dcterms:W3CDTF">2025-10-15T16:19:06Z</dcterms:modified>
</cp:coreProperties>
</file>