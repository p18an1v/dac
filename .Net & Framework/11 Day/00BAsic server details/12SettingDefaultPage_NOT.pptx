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A9B74-F4C8-4914-9CCE-2AE0FB9450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61ADDA1-3EEF-4984-9A53-DB04765FE1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37E75D0-EB9F-426E-87D7-E8E2CDA143A6}"/>
              </a:ext>
            </a:extLst>
          </p:cNvPr>
          <p:cNvSpPr>
            <a:spLocks noGrp="1"/>
          </p:cNvSpPr>
          <p:nvPr>
            <p:ph type="dt" sz="half" idx="10"/>
          </p:nvPr>
        </p:nvSpPr>
        <p:spPr/>
        <p:txBody>
          <a:bodyPr/>
          <a:lstStyle/>
          <a:p>
            <a:fld id="{80E56766-4B00-4E33-95F9-9269B7E8371E}" type="datetimeFigureOut">
              <a:rPr lang="en-IN" smtClean="0"/>
              <a:t>12-09-2023</a:t>
            </a:fld>
            <a:endParaRPr lang="en-IN"/>
          </a:p>
        </p:txBody>
      </p:sp>
      <p:sp>
        <p:nvSpPr>
          <p:cNvPr id="5" name="Footer Placeholder 4">
            <a:extLst>
              <a:ext uri="{FF2B5EF4-FFF2-40B4-BE49-F238E27FC236}">
                <a16:creationId xmlns:a16="http://schemas.microsoft.com/office/drawing/2014/main" id="{811DD3DD-CD08-40B2-AFF4-02FFAADE6C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280DE5-17C1-40DD-AE71-E53AE558B4E1}"/>
              </a:ext>
            </a:extLst>
          </p:cNvPr>
          <p:cNvSpPr>
            <a:spLocks noGrp="1"/>
          </p:cNvSpPr>
          <p:nvPr>
            <p:ph type="sldNum" sz="quarter" idx="12"/>
          </p:nvPr>
        </p:nvSpPr>
        <p:spPr/>
        <p:txBody>
          <a:bodyPr/>
          <a:lstStyle/>
          <a:p>
            <a:fld id="{F77A0547-6ACE-4ECB-8C86-74341CF8C961}" type="slidenum">
              <a:rPr lang="en-IN" smtClean="0"/>
              <a:t>‹#›</a:t>
            </a:fld>
            <a:endParaRPr lang="en-IN"/>
          </a:p>
        </p:txBody>
      </p:sp>
    </p:spTree>
    <p:extLst>
      <p:ext uri="{BB962C8B-B14F-4D97-AF65-F5344CB8AC3E}">
        <p14:creationId xmlns:p14="http://schemas.microsoft.com/office/powerpoint/2010/main" val="4063251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C02B7-C4E5-4733-995A-4723F912FD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6B30D2-D6EB-48E1-9271-E5960A5A45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3317F2-2AD8-4677-B493-C82E9B8E63A8}"/>
              </a:ext>
            </a:extLst>
          </p:cNvPr>
          <p:cNvSpPr>
            <a:spLocks noGrp="1"/>
          </p:cNvSpPr>
          <p:nvPr>
            <p:ph type="dt" sz="half" idx="10"/>
          </p:nvPr>
        </p:nvSpPr>
        <p:spPr/>
        <p:txBody>
          <a:bodyPr/>
          <a:lstStyle/>
          <a:p>
            <a:fld id="{80E56766-4B00-4E33-95F9-9269B7E8371E}" type="datetimeFigureOut">
              <a:rPr lang="en-IN" smtClean="0"/>
              <a:t>12-09-2023</a:t>
            </a:fld>
            <a:endParaRPr lang="en-IN"/>
          </a:p>
        </p:txBody>
      </p:sp>
      <p:sp>
        <p:nvSpPr>
          <p:cNvPr id="5" name="Footer Placeholder 4">
            <a:extLst>
              <a:ext uri="{FF2B5EF4-FFF2-40B4-BE49-F238E27FC236}">
                <a16:creationId xmlns:a16="http://schemas.microsoft.com/office/drawing/2014/main" id="{76648A51-31B8-459A-ADCA-8F6F45324A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11EB22-CB78-4661-B400-14554048AF43}"/>
              </a:ext>
            </a:extLst>
          </p:cNvPr>
          <p:cNvSpPr>
            <a:spLocks noGrp="1"/>
          </p:cNvSpPr>
          <p:nvPr>
            <p:ph type="sldNum" sz="quarter" idx="12"/>
          </p:nvPr>
        </p:nvSpPr>
        <p:spPr/>
        <p:txBody>
          <a:bodyPr/>
          <a:lstStyle/>
          <a:p>
            <a:fld id="{F77A0547-6ACE-4ECB-8C86-74341CF8C961}" type="slidenum">
              <a:rPr lang="en-IN" smtClean="0"/>
              <a:t>‹#›</a:t>
            </a:fld>
            <a:endParaRPr lang="en-IN"/>
          </a:p>
        </p:txBody>
      </p:sp>
    </p:spTree>
    <p:extLst>
      <p:ext uri="{BB962C8B-B14F-4D97-AF65-F5344CB8AC3E}">
        <p14:creationId xmlns:p14="http://schemas.microsoft.com/office/powerpoint/2010/main" val="1529267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08A78-53C3-4654-A5BA-3270731D4F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0D5176B-C030-4775-929F-64F09B2240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3DAD9A-9785-4361-83E1-0F1E1E9FD657}"/>
              </a:ext>
            </a:extLst>
          </p:cNvPr>
          <p:cNvSpPr>
            <a:spLocks noGrp="1"/>
          </p:cNvSpPr>
          <p:nvPr>
            <p:ph type="dt" sz="half" idx="10"/>
          </p:nvPr>
        </p:nvSpPr>
        <p:spPr/>
        <p:txBody>
          <a:bodyPr/>
          <a:lstStyle/>
          <a:p>
            <a:fld id="{80E56766-4B00-4E33-95F9-9269B7E8371E}" type="datetimeFigureOut">
              <a:rPr lang="en-IN" smtClean="0"/>
              <a:t>12-09-2023</a:t>
            </a:fld>
            <a:endParaRPr lang="en-IN"/>
          </a:p>
        </p:txBody>
      </p:sp>
      <p:sp>
        <p:nvSpPr>
          <p:cNvPr id="5" name="Footer Placeholder 4">
            <a:extLst>
              <a:ext uri="{FF2B5EF4-FFF2-40B4-BE49-F238E27FC236}">
                <a16:creationId xmlns:a16="http://schemas.microsoft.com/office/drawing/2014/main" id="{BB41B0F4-B2AF-4105-ADFF-BBBC7F81AF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F6288B-46AC-4D61-9A9E-DAD074DFAFE0}"/>
              </a:ext>
            </a:extLst>
          </p:cNvPr>
          <p:cNvSpPr>
            <a:spLocks noGrp="1"/>
          </p:cNvSpPr>
          <p:nvPr>
            <p:ph type="sldNum" sz="quarter" idx="12"/>
          </p:nvPr>
        </p:nvSpPr>
        <p:spPr/>
        <p:txBody>
          <a:bodyPr/>
          <a:lstStyle/>
          <a:p>
            <a:fld id="{F77A0547-6ACE-4ECB-8C86-74341CF8C961}" type="slidenum">
              <a:rPr lang="en-IN" smtClean="0"/>
              <a:t>‹#›</a:t>
            </a:fld>
            <a:endParaRPr lang="en-IN"/>
          </a:p>
        </p:txBody>
      </p:sp>
    </p:spTree>
    <p:extLst>
      <p:ext uri="{BB962C8B-B14F-4D97-AF65-F5344CB8AC3E}">
        <p14:creationId xmlns:p14="http://schemas.microsoft.com/office/powerpoint/2010/main" val="2204842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38E5-D09D-4CCC-BE95-7D1A66CD69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635F5EB-CE4A-48AD-A861-BC041F05E2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F650BFD-0E32-442D-AC67-AD6B687A2A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9585602-7E7A-4C1A-A514-27398D3825A6}"/>
              </a:ext>
            </a:extLst>
          </p:cNvPr>
          <p:cNvSpPr>
            <a:spLocks noGrp="1"/>
          </p:cNvSpPr>
          <p:nvPr>
            <p:ph type="dt" sz="half" idx="10"/>
          </p:nvPr>
        </p:nvSpPr>
        <p:spPr/>
        <p:txBody>
          <a:bodyPr/>
          <a:lstStyle/>
          <a:p>
            <a:fld id="{80E56766-4B00-4E33-95F9-9269B7E8371E}" type="datetimeFigureOut">
              <a:rPr lang="en-IN" smtClean="0"/>
              <a:t>12-09-2023</a:t>
            </a:fld>
            <a:endParaRPr lang="en-IN"/>
          </a:p>
        </p:txBody>
      </p:sp>
      <p:sp>
        <p:nvSpPr>
          <p:cNvPr id="6" name="Footer Placeholder 5">
            <a:extLst>
              <a:ext uri="{FF2B5EF4-FFF2-40B4-BE49-F238E27FC236}">
                <a16:creationId xmlns:a16="http://schemas.microsoft.com/office/drawing/2014/main" id="{1C495CDA-2CCB-4288-945F-3DE11622D4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5DF19F-659D-4026-B077-1E8692BD2FD7}"/>
              </a:ext>
            </a:extLst>
          </p:cNvPr>
          <p:cNvSpPr>
            <a:spLocks noGrp="1"/>
          </p:cNvSpPr>
          <p:nvPr>
            <p:ph type="sldNum" sz="quarter" idx="12"/>
          </p:nvPr>
        </p:nvSpPr>
        <p:spPr/>
        <p:txBody>
          <a:bodyPr/>
          <a:lstStyle/>
          <a:p>
            <a:fld id="{F77A0547-6ACE-4ECB-8C86-74341CF8C961}" type="slidenum">
              <a:rPr lang="en-IN" smtClean="0"/>
              <a:t>‹#›</a:t>
            </a:fld>
            <a:endParaRPr lang="en-IN"/>
          </a:p>
        </p:txBody>
      </p:sp>
    </p:spTree>
    <p:extLst>
      <p:ext uri="{BB962C8B-B14F-4D97-AF65-F5344CB8AC3E}">
        <p14:creationId xmlns:p14="http://schemas.microsoft.com/office/powerpoint/2010/main" val="4001956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E3E30-FAAE-465C-9190-905C526F8C6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28BA916-C981-4C75-A4D0-EF88A11E12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90396D-A4A7-459A-8328-72A194846B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9720382-1292-4F31-B19B-2D2B351BA7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A42F2E-4A23-4E00-BB17-38A8FB5F5C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A2573F8-1EB3-4D66-9B73-AF94514A4273}"/>
              </a:ext>
            </a:extLst>
          </p:cNvPr>
          <p:cNvSpPr>
            <a:spLocks noGrp="1"/>
          </p:cNvSpPr>
          <p:nvPr>
            <p:ph type="dt" sz="half" idx="10"/>
          </p:nvPr>
        </p:nvSpPr>
        <p:spPr/>
        <p:txBody>
          <a:bodyPr/>
          <a:lstStyle/>
          <a:p>
            <a:fld id="{80E56766-4B00-4E33-95F9-9269B7E8371E}" type="datetimeFigureOut">
              <a:rPr lang="en-IN" smtClean="0"/>
              <a:t>12-09-2023</a:t>
            </a:fld>
            <a:endParaRPr lang="en-IN"/>
          </a:p>
        </p:txBody>
      </p:sp>
      <p:sp>
        <p:nvSpPr>
          <p:cNvPr id="8" name="Footer Placeholder 7">
            <a:extLst>
              <a:ext uri="{FF2B5EF4-FFF2-40B4-BE49-F238E27FC236}">
                <a16:creationId xmlns:a16="http://schemas.microsoft.com/office/drawing/2014/main" id="{D93D9E4F-B55A-4A17-A551-8FD7423B6D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38893B6-8DA9-4B84-B682-B2ED318C2810}"/>
              </a:ext>
            </a:extLst>
          </p:cNvPr>
          <p:cNvSpPr>
            <a:spLocks noGrp="1"/>
          </p:cNvSpPr>
          <p:nvPr>
            <p:ph type="sldNum" sz="quarter" idx="12"/>
          </p:nvPr>
        </p:nvSpPr>
        <p:spPr/>
        <p:txBody>
          <a:bodyPr/>
          <a:lstStyle/>
          <a:p>
            <a:fld id="{F77A0547-6ACE-4ECB-8C86-74341CF8C961}" type="slidenum">
              <a:rPr lang="en-IN" smtClean="0"/>
              <a:t>‹#›</a:t>
            </a:fld>
            <a:endParaRPr lang="en-IN"/>
          </a:p>
        </p:txBody>
      </p:sp>
    </p:spTree>
    <p:extLst>
      <p:ext uri="{BB962C8B-B14F-4D97-AF65-F5344CB8AC3E}">
        <p14:creationId xmlns:p14="http://schemas.microsoft.com/office/powerpoint/2010/main" val="1352095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490F3-C373-489D-8B78-582056F6E61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93C46B3-99FA-4412-A972-FDC9F383E3D8}"/>
              </a:ext>
            </a:extLst>
          </p:cNvPr>
          <p:cNvSpPr>
            <a:spLocks noGrp="1"/>
          </p:cNvSpPr>
          <p:nvPr>
            <p:ph type="dt" sz="half" idx="10"/>
          </p:nvPr>
        </p:nvSpPr>
        <p:spPr/>
        <p:txBody>
          <a:bodyPr/>
          <a:lstStyle/>
          <a:p>
            <a:fld id="{80E56766-4B00-4E33-95F9-9269B7E8371E}" type="datetimeFigureOut">
              <a:rPr lang="en-IN" smtClean="0"/>
              <a:t>12-09-2023</a:t>
            </a:fld>
            <a:endParaRPr lang="en-IN"/>
          </a:p>
        </p:txBody>
      </p:sp>
      <p:sp>
        <p:nvSpPr>
          <p:cNvPr id="4" name="Footer Placeholder 3">
            <a:extLst>
              <a:ext uri="{FF2B5EF4-FFF2-40B4-BE49-F238E27FC236}">
                <a16:creationId xmlns:a16="http://schemas.microsoft.com/office/drawing/2014/main" id="{CDCF0D47-0757-4022-8CD8-6F3F2BADE26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C530396-CA80-4EA0-8280-0168B94CF901}"/>
              </a:ext>
            </a:extLst>
          </p:cNvPr>
          <p:cNvSpPr>
            <a:spLocks noGrp="1"/>
          </p:cNvSpPr>
          <p:nvPr>
            <p:ph type="sldNum" sz="quarter" idx="12"/>
          </p:nvPr>
        </p:nvSpPr>
        <p:spPr/>
        <p:txBody>
          <a:bodyPr/>
          <a:lstStyle/>
          <a:p>
            <a:fld id="{F77A0547-6ACE-4ECB-8C86-74341CF8C961}" type="slidenum">
              <a:rPr lang="en-IN" smtClean="0"/>
              <a:t>‹#›</a:t>
            </a:fld>
            <a:endParaRPr lang="en-IN"/>
          </a:p>
        </p:txBody>
      </p:sp>
    </p:spTree>
    <p:extLst>
      <p:ext uri="{BB962C8B-B14F-4D97-AF65-F5344CB8AC3E}">
        <p14:creationId xmlns:p14="http://schemas.microsoft.com/office/powerpoint/2010/main" val="2235395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CC2C87-22FA-44DE-AC7D-FD5340B68DA6}"/>
              </a:ext>
            </a:extLst>
          </p:cNvPr>
          <p:cNvSpPr>
            <a:spLocks noGrp="1"/>
          </p:cNvSpPr>
          <p:nvPr>
            <p:ph type="dt" sz="half" idx="10"/>
          </p:nvPr>
        </p:nvSpPr>
        <p:spPr/>
        <p:txBody>
          <a:bodyPr/>
          <a:lstStyle/>
          <a:p>
            <a:fld id="{80E56766-4B00-4E33-95F9-9269B7E8371E}" type="datetimeFigureOut">
              <a:rPr lang="en-IN" smtClean="0"/>
              <a:t>12-09-2023</a:t>
            </a:fld>
            <a:endParaRPr lang="en-IN"/>
          </a:p>
        </p:txBody>
      </p:sp>
      <p:sp>
        <p:nvSpPr>
          <p:cNvPr id="3" name="Footer Placeholder 2">
            <a:extLst>
              <a:ext uri="{FF2B5EF4-FFF2-40B4-BE49-F238E27FC236}">
                <a16:creationId xmlns:a16="http://schemas.microsoft.com/office/drawing/2014/main" id="{98D0091D-8A6C-498E-8286-011EA506907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2D4D894-B07A-43B0-87C8-EA21420B4949}"/>
              </a:ext>
            </a:extLst>
          </p:cNvPr>
          <p:cNvSpPr>
            <a:spLocks noGrp="1"/>
          </p:cNvSpPr>
          <p:nvPr>
            <p:ph type="sldNum" sz="quarter" idx="12"/>
          </p:nvPr>
        </p:nvSpPr>
        <p:spPr/>
        <p:txBody>
          <a:bodyPr/>
          <a:lstStyle/>
          <a:p>
            <a:fld id="{F77A0547-6ACE-4ECB-8C86-74341CF8C961}" type="slidenum">
              <a:rPr lang="en-IN" smtClean="0"/>
              <a:t>‹#›</a:t>
            </a:fld>
            <a:endParaRPr lang="en-IN"/>
          </a:p>
        </p:txBody>
      </p:sp>
    </p:spTree>
    <p:extLst>
      <p:ext uri="{BB962C8B-B14F-4D97-AF65-F5344CB8AC3E}">
        <p14:creationId xmlns:p14="http://schemas.microsoft.com/office/powerpoint/2010/main" val="2458036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960F8-2D92-4EE5-81CD-FEE0823B38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747DABD-DED0-4311-A1C0-486E098B16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3F55156-83BA-472D-8B50-81168ACB9E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0D8BAC-9296-4105-B947-B7DC3C9AE4E5}"/>
              </a:ext>
            </a:extLst>
          </p:cNvPr>
          <p:cNvSpPr>
            <a:spLocks noGrp="1"/>
          </p:cNvSpPr>
          <p:nvPr>
            <p:ph type="dt" sz="half" idx="10"/>
          </p:nvPr>
        </p:nvSpPr>
        <p:spPr/>
        <p:txBody>
          <a:bodyPr/>
          <a:lstStyle/>
          <a:p>
            <a:fld id="{80E56766-4B00-4E33-95F9-9269B7E8371E}" type="datetimeFigureOut">
              <a:rPr lang="en-IN" smtClean="0"/>
              <a:t>12-09-2023</a:t>
            </a:fld>
            <a:endParaRPr lang="en-IN"/>
          </a:p>
        </p:txBody>
      </p:sp>
      <p:sp>
        <p:nvSpPr>
          <p:cNvPr id="6" name="Footer Placeholder 5">
            <a:extLst>
              <a:ext uri="{FF2B5EF4-FFF2-40B4-BE49-F238E27FC236}">
                <a16:creationId xmlns:a16="http://schemas.microsoft.com/office/drawing/2014/main" id="{6DED4355-5DF0-418C-986A-B74F267F48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B0ED31A-3D60-47C1-821F-65203493C0E1}"/>
              </a:ext>
            </a:extLst>
          </p:cNvPr>
          <p:cNvSpPr>
            <a:spLocks noGrp="1"/>
          </p:cNvSpPr>
          <p:nvPr>
            <p:ph type="sldNum" sz="quarter" idx="12"/>
          </p:nvPr>
        </p:nvSpPr>
        <p:spPr/>
        <p:txBody>
          <a:bodyPr/>
          <a:lstStyle/>
          <a:p>
            <a:fld id="{F77A0547-6ACE-4ECB-8C86-74341CF8C961}" type="slidenum">
              <a:rPr lang="en-IN" smtClean="0"/>
              <a:t>‹#›</a:t>
            </a:fld>
            <a:endParaRPr lang="en-IN"/>
          </a:p>
        </p:txBody>
      </p:sp>
    </p:spTree>
    <p:extLst>
      <p:ext uri="{BB962C8B-B14F-4D97-AF65-F5344CB8AC3E}">
        <p14:creationId xmlns:p14="http://schemas.microsoft.com/office/powerpoint/2010/main" val="3990326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CCA6B-1A4A-449E-B5F1-044E602C00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2B6A63A-8F03-4DE3-9144-087D581A91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498E01C-62E6-4637-AF48-978879064E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551AB8-7FF4-4F23-B9BA-A678BA84DE9A}"/>
              </a:ext>
            </a:extLst>
          </p:cNvPr>
          <p:cNvSpPr>
            <a:spLocks noGrp="1"/>
          </p:cNvSpPr>
          <p:nvPr>
            <p:ph type="dt" sz="half" idx="10"/>
          </p:nvPr>
        </p:nvSpPr>
        <p:spPr/>
        <p:txBody>
          <a:bodyPr/>
          <a:lstStyle/>
          <a:p>
            <a:fld id="{80E56766-4B00-4E33-95F9-9269B7E8371E}" type="datetimeFigureOut">
              <a:rPr lang="en-IN" smtClean="0"/>
              <a:t>12-09-2023</a:t>
            </a:fld>
            <a:endParaRPr lang="en-IN"/>
          </a:p>
        </p:txBody>
      </p:sp>
      <p:sp>
        <p:nvSpPr>
          <p:cNvPr id="6" name="Footer Placeholder 5">
            <a:extLst>
              <a:ext uri="{FF2B5EF4-FFF2-40B4-BE49-F238E27FC236}">
                <a16:creationId xmlns:a16="http://schemas.microsoft.com/office/drawing/2014/main" id="{5C5EEAA6-A0C3-4F40-8125-FE2C4B28B4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32EA40-98D1-4135-9E56-391B7280D716}"/>
              </a:ext>
            </a:extLst>
          </p:cNvPr>
          <p:cNvSpPr>
            <a:spLocks noGrp="1"/>
          </p:cNvSpPr>
          <p:nvPr>
            <p:ph type="sldNum" sz="quarter" idx="12"/>
          </p:nvPr>
        </p:nvSpPr>
        <p:spPr/>
        <p:txBody>
          <a:bodyPr/>
          <a:lstStyle/>
          <a:p>
            <a:fld id="{F77A0547-6ACE-4ECB-8C86-74341CF8C961}" type="slidenum">
              <a:rPr lang="en-IN" smtClean="0"/>
              <a:t>‹#›</a:t>
            </a:fld>
            <a:endParaRPr lang="en-IN"/>
          </a:p>
        </p:txBody>
      </p:sp>
    </p:spTree>
    <p:extLst>
      <p:ext uri="{BB962C8B-B14F-4D97-AF65-F5344CB8AC3E}">
        <p14:creationId xmlns:p14="http://schemas.microsoft.com/office/powerpoint/2010/main" val="1622025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5FF3C-669D-451D-B2F4-242BDAB8A70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BEB423-C6F4-4DCD-9B11-780B6E39BD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C4EAA5-F413-4F47-8AC3-7539361E75DC}"/>
              </a:ext>
            </a:extLst>
          </p:cNvPr>
          <p:cNvSpPr>
            <a:spLocks noGrp="1"/>
          </p:cNvSpPr>
          <p:nvPr>
            <p:ph type="dt" sz="half" idx="10"/>
          </p:nvPr>
        </p:nvSpPr>
        <p:spPr/>
        <p:txBody>
          <a:bodyPr/>
          <a:lstStyle/>
          <a:p>
            <a:fld id="{80E56766-4B00-4E33-95F9-9269B7E8371E}" type="datetimeFigureOut">
              <a:rPr lang="en-IN" smtClean="0"/>
              <a:t>12-09-2023</a:t>
            </a:fld>
            <a:endParaRPr lang="en-IN"/>
          </a:p>
        </p:txBody>
      </p:sp>
      <p:sp>
        <p:nvSpPr>
          <p:cNvPr id="5" name="Footer Placeholder 4">
            <a:extLst>
              <a:ext uri="{FF2B5EF4-FFF2-40B4-BE49-F238E27FC236}">
                <a16:creationId xmlns:a16="http://schemas.microsoft.com/office/drawing/2014/main" id="{C520B74A-6BC3-4896-83A1-063AC0C9DF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60ABE6-1672-4483-93E3-C860B6DAE6DB}"/>
              </a:ext>
            </a:extLst>
          </p:cNvPr>
          <p:cNvSpPr>
            <a:spLocks noGrp="1"/>
          </p:cNvSpPr>
          <p:nvPr>
            <p:ph type="sldNum" sz="quarter" idx="12"/>
          </p:nvPr>
        </p:nvSpPr>
        <p:spPr/>
        <p:txBody>
          <a:bodyPr/>
          <a:lstStyle/>
          <a:p>
            <a:fld id="{F77A0547-6ACE-4ECB-8C86-74341CF8C961}" type="slidenum">
              <a:rPr lang="en-IN" smtClean="0"/>
              <a:t>‹#›</a:t>
            </a:fld>
            <a:endParaRPr lang="en-IN"/>
          </a:p>
        </p:txBody>
      </p:sp>
    </p:spTree>
    <p:extLst>
      <p:ext uri="{BB962C8B-B14F-4D97-AF65-F5344CB8AC3E}">
        <p14:creationId xmlns:p14="http://schemas.microsoft.com/office/powerpoint/2010/main" val="1880473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C1D268-F281-401D-98A3-81468F10FEE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593420-462B-4155-9BD3-B09DCFF672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68762C-F2F0-4691-B34B-AE7A029343E4}"/>
              </a:ext>
            </a:extLst>
          </p:cNvPr>
          <p:cNvSpPr>
            <a:spLocks noGrp="1"/>
          </p:cNvSpPr>
          <p:nvPr>
            <p:ph type="dt" sz="half" idx="10"/>
          </p:nvPr>
        </p:nvSpPr>
        <p:spPr/>
        <p:txBody>
          <a:bodyPr/>
          <a:lstStyle/>
          <a:p>
            <a:fld id="{80E56766-4B00-4E33-95F9-9269B7E8371E}" type="datetimeFigureOut">
              <a:rPr lang="en-IN" smtClean="0"/>
              <a:t>12-09-2023</a:t>
            </a:fld>
            <a:endParaRPr lang="en-IN"/>
          </a:p>
        </p:txBody>
      </p:sp>
      <p:sp>
        <p:nvSpPr>
          <p:cNvPr id="5" name="Footer Placeholder 4">
            <a:extLst>
              <a:ext uri="{FF2B5EF4-FFF2-40B4-BE49-F238E27FC236}">
                <a16:creationId xmlns:a16="http://schemas.microsoft.com/office/drawing/2014/main" id="{75A65669-A162-4540-9C91-A8BD9750CB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A8A653-9B70-46DC-8C20-11C1F647998C}"/>
              </a:ext>
            </a:extLst>
          </p:cNvPr>
          <p:cNvSpPr>
            <a:spLocks noGrp="1"/>
          </p:cNvSpPr>
          <p:nvPr>
            <p:ph type="sldNum" sz="quarter" idx="12"/>
          </p:nvPr>
        </p:nvSpPr>
        <p:spPr/>
        <p:txBody>
          <a:bodyPr/>
          <a:lstStyle/>
          <a:p>
            <a:fld id="{F77A0547-6ACE-4ECB-8C86-74341CF8C961}" type="slidenum">
              <a:rPr lang="en-IN" smtClean="0"/>
              <a:t>‹#›</a:t>
            </a:fld>
            <a:endParaRPr lang="en-IN"/>
          </a:p>
        </p:txBody>
      </p:sp>
    </p:spTree>
    <p:extLst>
      <p:ext uri="{BB962C8B-B14F-4D97-AF65-F5344CB8AC3E}">
        <p14:creationId xmlns:p14="http://schemas.microsoft.com/office/powerpoint/2010/main" val="40760161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4DFF83-7150-4B87-B37B-61337B3B34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A4032A-1698-4B29-9A65-EB4E2E5F19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1BD4FE-D941-4100-8899-66E3A2288E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E56766-4B00-4E33-95F9-9269B7E8371E}" type="datetimeFigureOut">
              <a:rPr lang="en-IN" smtClean="0"/>
              <a:t>12-09-2023</a:t>
            </a:fld>
            <a:endParaRPr lang="en-IN"/>
          </a:p>
        </p:txBody>
      </p:sp>
      <p:sp>
        <p:nvSpPr>
          <p:cNvPr id="5" name="Footer Placeholder 4">
            <a:extLst>
              <a:ext uri="{FF2B5EF4-FFF2-40B4-BE49-F238E27FC236}">
                <a16:creationId xmlns:a16="http://schemas.microsoft.com/office/drawing/2014/main" id="{6104FF0F-7A4F-4929-9E15-DA1187E3DD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04BB139-B934-42A7-8759-9E30B7FE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7A0547-6ACE-4ECB-8C86-74341CF8C961}" type="slidenum">
              <a:rPr lang="en-IN" smtClean="0"/>
              <a:t>‹#›</a:t>
            </a:fld>
            <a:endParaRPr lang="en-IN"/>
          </a:p>
        </p:txBody>
      </p:sp>
    </p:spTree>
    <p:extLst>
      <p:ext uri="{BB962C8B-B14F-4D97-AF65-F5344CB8AC3E}">
        <p14:creationId xmlns:p14="http://schemas.microsoft.com/office/powerpoint/2010/main" val="22966275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2860CA-5069-49E4-A62A-216B67E3000E}"/>
              </a:ext>
            </a:extLst>
          </p:cNvPr>
          <p:cNvSpPr txBox="1"/>
          <p:nvPr/>
        </p:nvSpPr>
        <p:spPr>
          <a:xfrm>
            <a:off x="3048000" y="238121"/>
            <a:ext cx="6096000"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How to Configure Default Page in ASP.NET Core:</a:t>
            </a:r>
            <a:endParaRPr lang="en-US" b="0" i="0" dirty="0">
              <a:solidFill>
                <a:srgbClr val="3A3A3A"/>
              </a:solidFill>
              <a:effectLst/>
              <a:latin typeface="-apple-system"/>
            </a:endParaRPr>
          </a:p>
        </p:txBody>
      </p:sp>
      <p:sp>
        <p:nvSpPr>
          <p:cNvPr id="7" name="TextBox 6">
            <a:extLst>
              <a:ext uri="{FF2B5EF4-FFF2-40B4-BE49-F238E27FC236}">
                <a16:creationId xmlns:a16="http://schemas.microsoft.com/office/drawing/2014/main" id="{25F45F5D-2700-4B67-BE4E-C9417B25A45B}"/>
              </a:ext>
            </a:extLst>
          </p:cNvPr>
          <p:cNvSpPr txBox="1"/>
          <p:nvPr/>
        </p:nvSpPr>
        <p:spPr>
          <a:xfrm>
            <a:off x="0" y="822122"/>
            <a:ext cx="11690555" cy="1477328"/>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Adding one HTML Page:</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Let us add one HTMP page with the name </a:t>
            </a:r>
            <a:r>
              <a:rPr lang="en-US" b="1" i="0" dirty="0">
                <a:solidFill>
                  <a:srgbClr val="000000"/>
                </a:solidFill>
                <a:effectLst/>
                <a:latin typeface="arial" panose="020B0604020202020204" pitchFamily="34" charset="0"/>
              </a:rPr>
              <a:t>index </a:t>
            </a:r>
            <a:r>
              <a:rPr lang="en-US" b="0" i="0" dirty="0">
                <a:solidFill>
                  <a:srgbClr val="000000"/>
                </a:solidFill>
                <a:effectLst/>
                <a:latin typeface="arial" panose="020B0604020202020204" pitchFamily="34" charset="0"/>
              </a:rPr>
              <a:t>within the </a:t>
            </a:r>
            <a:r>
              <a:rPr lang="en-US" b="0" i="0" dirty="0" err="1">
                <a:solidFill>
                  <a:srgbClr val="000000"/>
                </a:solidFill>
                <a:effectLst/>
                <a:latin typeface="arial" panose="020B0604020202020204" pitchFamily="34" charset="0"/>
              </a:rPr>
              <a:t>wwwroot</a:t>
            </a:r>
            <a:r>
              <a:rPr lang="en-US" b="0" i="0" dirty="0">
                <a:solidFill>
                  <a:srgbClr val="000000"/>
                </a:solidFill>
                <a:effectLst/>
                <a:latin typeface="arial" panose="020B0604020202020204" pitchFamily="34" charset="0"/>
              </a:rPr>
              <a:t> folder. To do so, right-click on the </a:t>
            </a:r>
            <a:r>
              <a:rPr lang="en-US" b="1" i="0" dirty="0" err="1">
                <a:solidFill>
                  <a:srgbClr val="000000"/>
                </a:solidFill>
                <a:effectLst/>
                <a:latin typeface="arial" panose="020B0604020202020204" pitchFamily="34" charset="0"/>
              </a:rPr>
              <a:t>wwwroot</a:t>
            </a:r>
            <a:r>
              <a:rPr lang="en-US" b="0" i="0" dirty="0">
                <a:solidFill>
                  <a:srgbClr val="000000"/>
                </a:solidFill>
                <a:effectLst/>
                <a:latin typeface="arial" panose="020B0604020202020204" pitchFamily="34" charset="0"/>
              </a:rPr>
              <a:t> folder and then select </a:t>
            </a:r>
            <a:r>
              <a:rPr lang="en-US" b="1" i="0" dirty="0">
                <a:solidFill>
                  <a:srgbClr val="000000"/>
                </a:solidFill>
                <a:effectLst/>
                <a:latin typeface="arial" panose="020B0604020202020204" pitchFamily="34" charset="0"/>
              </a:rPr>
              <a:t>add =&gt; new item</a:t>
            </a:r>
            <a:r>
              <a:rPr lang="en-US" b="0" i="0" dirty="0">
                <a:solidFill>
                  <a:srgbClr val="000000"/>
                </a:solidFill>
                <a:effectLst/>
                <a:latin typeface="arial" panose="020B0604020202020204" pitchFamily="34" charset="0"/>
              </a:rPr>
              <a:t> which will open add new item window. From the new item window, select the </a:t>
            </a:r>
            <a:r>
              <a:rPr lang="en-US" b="1" i="0" dirty="0">
                <a:solidFill>
                  <a:srgbClr val="000000"/>
                </a:solidFill>
                <a:effectLst/>
                <a:latin typeface="arial" panose="020B0604020202020204" pitchFamily="34" charset="0"/>
              </a:rPr>
              <a:t>HTML template</a:t>
            </a:r>
            <a:r>
              <a:rPr lang="en-US" b="0" i="0" dirty="0">
                <a:solidFill>
                  <a:srgbClr val="000000"/>
                </a:solidFill>
                <a:effectLst/>
                <a:latin typeface="arial" panose="020B0604020202020204" pitchFamily="34" charset="0"/>
              </a:rPr>
              <a:t>, provide the name as “</a:t>
            </a:r>
            <a:r>
              <a:rPr lang="en-US" b="1" i="0" dirty="0">
                <a:solidFill>
                  <a:srgbClr val="000000"/>
                </a:solidFill>
                <a:effectLst/>
                <a:latin typeface="arial" panose="020B0604020202020204" pitchFamily="34" charset="0"/>
              </a:rPr>
              <a:t>index.html</a:t>
            </a:r>
            <a:r>
              <a:rPr lang="en-US" b="0" i="0" dirty="0">
                <a:solidFill>
                  <a:srgbClr val="000000"/>
                </a:solidFill>
                <a:effectLst/>
                <a:latin typeface="arial" panose="020B0604020202020204" pitchFamily="34" charset="0"/>
              </a:rPr>
              <a:t>” and then click on the </a:t>
            </a:r>
            <a:r>
              <a:rPr lang="en-US" b="1" i="0" dirty="0">
                <a:solidFill>
                  <a:srgbClr val="000000"/>
                </a:solidFill>
                <a:effectLst/>
                <a:latin typeface="arial" panose="020B0604020202020204" pitchFamily="34" charset="0"/>
              </a:rPr>
              <a:t>Add</a:t>
            </a:r>
            <a:r>
              <a:rPr lang="en-US" b="0" i="0" dirty="0">
                <a:solidFill>
                  <a:srgbClr val="000000"/>
                </a:solidFill>
                <a:effectLst/>
                <a:latin typeface="arial" panose="020B0604020202020204" pitchFamily="34" charset="0"/>
              </a:rPr>
              <a:t> button as shown in the below image.</a:t>
            </a:r>
            <a:endParaRPr lang="en-US" b="0" i="0" dirty="0">
              <a:solidFill>
                <a:srgbClr val="212529"/>
              </a:solidFill>
              <a:effectLst/>
              <a:latin typeface="-apple-system"/>
            </a:endParaRPr>
          </a:p>
        </p:txBody>
      </p:sp>
      <p:pic>
        <p:nvPicPr>
          <p:cNvPr id="1026" name="Picture 2" descr="Configuring Default Page in ASP.NET Core">
            <a:extLst>
              <a:ext uri="{FF2B5EF4-FFF2-40B4-BE49-F238E27FC236}">
                <a16:creationId xmlns:a16="http://schemas.microsoft.com/office/drawing/2014/main" id="{2521001E-26F8-478D-9E85-8A42E68D17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07704"/>
            <a:ext cx="6387630" cy="362817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D088B13-BF18-4BCC-A0CF-620D7CF31D70}"/>
              </a:ext>
            </a:extLst>
          </p:cNvPr>
          <p:cNvSpPr txBox="1"/>
          <p:nvPr/>
        </p:nvSpPr>
        <p:spPr>
          <a:xfrm>
            <a:off x="6363929" y="2660854"/>
            <a:ext cx="5690419" cy="1477328"/>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Once you add the HTML Page within the </a:t>
            </a:r>
            <a:r>
              <a:rPr lang="en-US" b="0" i="0" dirty="0" err="1">
                <a:solidFill>
                  <a:srgbClr val="000000"/>
                </a:solidFill>
                <a:effectLst/>
                <a:latin typeface="arial" panose="020B0604020202020204" pitchFamily="34" charset="0"/>
              </a:rPr>
              <a:t>wwwroot</a:t>
            </a:r>
            <a:r>
              <a:rPr lang="en-US" b="0" i="0" dirty="0">
                <a:solidFill>
                  <a:srgbClr val="000000"/>
                </a:solidFill>
                <a:effectLst/>
                <a:latin typeface="arial" panose="020B0604020202020204" pitchFamily="34" charset="0"/>
              </a:rPr>
              <a:t> folder, your project folder structure should be shown like below.</a:t>
            </a:r>
            <a:endParaRPr lang="en-US" b="0" i="0" dirty="0">
              <a:solidFill>
                <a:srgbClr val="212529"/>
              </a:solidFill>
              <a:effectLst/>
              <a:latin typeface="-apple-system"/>
            </a:endParaRPr>
          </a:p>
          <a:p>
            <a:br>
              <a:rPr lang="en-US" dirty="0"/>
            </a:br>
            <a:endParaRPr lang="en-IN" dirty="0"/>
          </a:p>
        </p:txBody>
      </p:sp>
      <p:pic>
        <p:nvPicPr>
          <p:cNvPr id="1028" name="Picture 4" descr="How to Configure Default Page in ASP.NET Core">
            <a:extLst>
              <a:ext uri="{FF2B5EF4-FFF2-40B4-BE49-F238E27FC236}">
                <a16:creationId xmlns:a16="http://schemas.microsoft.com/office/drawing/2014/main" id="{B9EF9918-DA41-484C-BEE8-905658A1CE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3321" y="3603677"/>
            <a:ext cx="4029075" cy="2600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2993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891AF78-56AC-4DD2-AF60-BD6CFBA996E6}"/>
              </a:ext>
            </a:extLst>
          </p:cNvPr>
          <p:cNvSpPr txBox="1"/>
          <p:nvPr/>
        </p:nvSpPr>
        <p:spPr>
          <a:xfrm>
            <a:off x="206478" y="78659"/>
            <a:ext cx="11779044" cy="338554"/>
          </a:xfrm>
          <a:prstGeom prst="rect">
            <a:avLst/>
          </a:prstGeom>
          <a:noFill/>
        </p:spPr>
        <p:txBody>
          <a:bodyPr wrap="square">
            <a:spAutoFit/>
          </a:bodyPr>
          <a:lstStyle/>
          <a:p>
            <a:pPr algn="just" fontAlgn="base"/>
            <a:r>
              <a:rPr lang="en-US" sz="1600" b="0" i="0" dirty="0">
                <a:solidFill>
                  <a:srgbClr val="000000"/>
                </a:solidFill>
                <a:effectLst/>
                <a:latin typeface="arial" panose="020B0604020202020204" pitchFamily="34" charset="0"/>
              </a:rPr>
              <a:t>Now, open the </a:t>
            </a:r>
            <a:r>
              <a:rPr lang="en-US" sz="1600" b="1" i="0" dirty="0">
                <a:solidFill>
                  <a:srgbClr val="000000"/>
                </a:solidFill>
                <a:effectLst/>
                <a:latin typeface="arial" panose="020B0604020202020204" pitchFamily="34" charset="0"/>
              </a:rPr>
              <a:t>index.html </a:t>
            </a:r>
            <a:r>
              <a:rPr lang="en-US" sz="1600" b="0" i="0" dirty="0">
                <a:solidFill>
                  <a:srgbClr val="000000"/>
                </a:solidFill>
                <a:effectLst/>
                <a:latin typeface="arial" panose="020B0604020202020204" pitchFamily="34" charset="0"/>
              </a:rPr>
              <a:t>file which is present inside the </a:t>
            </a:r>
            <a:r>
              <a:rPr lang="en-US" sz="1600" b="0" i="0" dirty="0" err="1">
                <a:solidFill>
                  <a:srgbClr val="000000"/>
                </a:solidFill>
                <a:effectLst/>
                <a:latin typeface="arial" panose="020B0604020202020204" pitchFamily="34" charset="0"/>
              </a:rPr>
              <a:t>wwwroot</a:t>
            </a:r>
            <a:r>
              <a:rPr lang="en-US" sz="1600" b="0" i="0" dirty="0">
                <a:solidFill>
                  <a:srgbClr val="000000"/>
                </a:solidFill>
                <a:effectLst/>
                <a:latin typeface="arial" panose="020B0604020202020204" pitchFamily="34" charset="0"/>
              </a:rPr>
              <a:t> folder and then copy and paste the following code in it.</a:t>
            </a:r>
            <a:endParaRPr lang="en-US" sz="1600" b="0" i="0" dirty="0">
              <a:solidFill>
                <a:srgbClr val="212529"/>
              </a:solidFill>
              <a:effectLst/>
              <a:latin typeface="-apple-system"/>
            </a:endParaRPr>
          </a:p>
        </p:txBody>
      </p:sp>
      <p:sp>
        <p:nvSpPr>
          <p:cNvPr id="7" name="TextBox 6">
            <a:extLst>
              <a:ext uri="{FF2B5EF4-FFF2-40B4-BE49-F238E27FC236}">
                <a16:creationId xmlns:a16="http://schemas.microsoft.com/office/drawing/2014/main" id="{6D8E12A5-8082-471F-9D91-39107E5DAF20}"/>
              </a:ext>
            </a:extLst>
          </p:cNvPr>
          <p:cNvSpPr txBox="1"/>
          <p:nvPr/>
        </p:nvSpPr>
        <p:spPr>
          <a:xfrm>
            <a:off x="206478" y="501444"/>
            <a:ext cx="3460954" cy="2585323"/>
          </a:xfrm>
          <a:prstGeom prst="rect">
            <a:avLst/>
          </a:prstGeom>
          <a:noFill/>
        </p:spPr>
        <p:txBody>
          <a:bodyPr wrap="square">
            <a:spAutoFit/>
          </a:bodyPr>
          <a:lstStyle/>
          <a:p>
            <a:pPr algn="l" fontAlgn="base"/>
            <a:r>
              <a:rPr lang="en-US" b="1" i="0" dirty="0">
                <a:solidFill>
                  <a:srgbClr val="6B7C8B"/>
                </a:solidFill>
                <a:effectLst/>
                <a:latin typeface="inherit"/>
              </a:rPr>
              <a:t>&lt;</a:t>
            </a:r>
            <a:r>
              <a:rPr lang="en-US" b="1" i="0" dirty="0">
                <a:solidFill>
                  <a:srgbClr val="D171DD"/>
                </a:solidFill>
                <a:effectLst/>
                <a:latin typeface="inherit"/>
              </a:rPr>
              <a:t>html</a:t>
            </a:r>
            <a:r>
              <a:rPr lang="en-US" b="1" i="0" dirty="0">
                <a:solidFill>
                  <a:srgbClr val="6B7C8B"/>
                </a:solidFill>
                <a:effectLst/>
                <a:latin typeface="inherit"/>
              </a:rPr>
              <a:t>&gt;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head</a:t>
            </a:r>
            <a:r>
              <a:rPr lang="en-US" b="1" i="0" dirty="0">
                <a:solidFill>
                  <a:srgbClr val="6B7C8B"/>
                </a:solidFill>
                <a:effectLst/>
                <a:latin typeface="inherit"/>
              </a:rPr>
              <a:t>&gt;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meta</a:t>
            </a:r>
            <a:r>
              <a:rPr lang="en-US" b="0" i="0" dirty="0">
                <a:solidFill>
                  <a:srgbClr val="CFD5E0"/>
                </a:solidFill>
                <a:effectLst/>
                <a:latin typeface="inherit"/>
              </a:rPr>
              <a:t> </a:t>
            </a:r>
            <a:r>
              <a:rPr lang="en-US" b="0" i="0" dirty="0">
                <a:solidFill>
                  <a:srgbClr val="D19252"/>
                </a:solidFill>
                <a:effectLst/>
                <a:latin typeface="inherit"/>
              </a:rPr>
              <a:t>charset</a:t>
            </a:r>
            <a:r>
              <a:rPr lang="en-US" b="0" i="0" dirty="0">
                <a:solidFill>
                  <a:srgbClr val="4284AE"/>
                </a:solidFill>
                <a:effectLst/>
                <a:latin typeface="inherit"/>
              </a:rPr>
              <a:t>=</a:t>
            </a:r>
            <a:r>
              <a:rPr lang="en-US" b="0" i="0" dirty="0">
                <a:solidFill>
                  <a:srgbClr val="7CC379"/>
                </a:solidFill>
                <a:effectLst/>
                <a:latin typeface="inherit"/>
              </a:rPr>
              <a:t>"utf-8"</a:t>
            </a:r>
            <a:r>
              <a:rPr lang="en-US" b="0" i="0" dirty="0">
                <a:solidFill>
                  <a:srgbClr val="CFD5E0"/>
                </a:solidFill>
                <a:effectLst/>
                <a:latin typeface="inherit"/>
              </a:rPr>
              <a:t> </a:t>
            </a:r>
            <a:r>
              <a:rPr lang="en-US" b="1" i="0" dirty="0">
                <a:solidFill>
                  <a:srgbClr val="6B7C8B"/>
                </a:solidFill>
                <a:effectLst/>
                <a:latin typeface="inherit"/>
              </a:rPr>
              <a:t>/&gt;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title</a:t>
            </a:r>
            <a:r>
              <a:rPr lang="en-US" b="1" i="0" dirty="0">
                <a:solidFill>
                  <a:srgbClr val="6B7C8B"/>
                </a:solidFill>
                <a:effectLst/>
                <a:latin typeface="inherit"/>
              </a:rPr>
              <a:t>&gt;&lt;/</a:t>
            </a:r>
            <a:r>
              <a:rPr lang="en-US" b="1" i="0" dirty="0">
                <a:solidFill>
                  <a:srgbClr val="D171DD"/>
                </a:solidFill>
                <a:effectLst/>
                <a:latin typeface="inherit"/>
              </a:rPr>
              <a:t>title</a:t>
            </a:r>
            <a:r>
              <a:rPr lang="en-US" b="1" i="0" dirty="0">
                <a:solidFill>
                  <a:srgbClr val="6B7C8B"/>
                </a:solidFill>
                <a:effectLst/>
                <a:latin typeface="inherit"/>
              </a:rPr>
              <a:t>&gt;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head</a:t>
            </a:r>
            <a:r>
              <a:rPr lang="en-US" b="1" i="0" dirty="0">
                <a:solidFill>
                  <a:srgbClr val="6B7C8B"/>
                </a:solidFill>
                <a:effectLst/>
                <a:latin typeface="inherit"/>
              </a:rPr>
              <a:t>&gt;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body</a:t>
            </a:r>
            <a:r>
              <a:rPr lang="en-US" b="1" i="0" dirty="0">
                <a:solidFill>
                  <a:srgbClr val="6B7C8B"/>
                </a:solidFill>
                <a:effectLst/>
                <a:latin typeface="inherit"/>
              </a:rPr>
              <a:t>&gt;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h1</a:t>
            </a:r>
            <a:r>
              <a:rPr lang="en-US" b="1" i="0" dirty="0">
                <a:solidFill>
                  <a:srgbClr val="6B7C8B"/>
                </a:solidFill>
                <a:effectLst/>
                <a:latin typeface="inherit"/>
              </a:rPr>
              <a:t>&gt;</a:t>
            </a:r>
            <a:r>
              <a:rPr lang="en-US" b="0" i="0" dirty="0">
                <a:solidFill>
                  <a:srgbClr val="CFD5E0"/>
                </a:solidFill>
                <a:effectLst/>
                <a:latin typeface="inherit"/>
              </a:rPr>
              <a:t> This is Index HTML File</a:t>
            </a:r>
            <a:r>
              <a:rPr lang="en-US" b="1" i="0" dirty="0">
                <a:solidFill>
                  <a:srgbClr val="6B7C8B"/>
                </a:solidFill>
                <a:effectLst/>
                <a:latin typeface="inherit"/>
              </a:rPr>
              <a:t>&lt;/</a:t>
            </a:r>
            <a:r>
              <a:rPr lang="en-US" b="1" i="0" dirty="0">
                <a:solidFill>
                  <a:srgbClr val="D171DD"/>
                </a:solidFill>
                <a:effectLst/>
                <a:latin typeface="inherit"/>
              </a:rPr>
              <a:t>h1</a:t>
            </a:r>
            <a:r>
              <a:rPr lang="en-US" b="1" i="0" dirty="0">
                <a:solidFill>
                  <a:srgbClr val="6B7C8B"/>
                </a:solidFill>
                <a:effectLst/>
                <a:latin typeface="inherit"/>
              </a:rPr>
              <a:t>&gt;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body</a:t>
            </a:r>
            <a:r>
              <a:rPr lang="en-US" b="1" i="0" dirty="0">
                <a:solidFill>
                  <a:srgbClr val="6B7C8B"/>
                </a:solidFill>
                <a:effectLst/>
                <a:latin typeface="inherit"/>
              </a:rPr>
              <a:t>&gt;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html</a:t>
            </a:r>
            <a:r>
              <a:rPr lang="en-US" b="1" i="0" dirty="0">
                <a:solidFill>
                  <a:srgbClr val="6B7C8B"/>
                </a:solidFill>
                <a:effectLst/>
                <a:latin typeface="inherit"/>
              </a:rPr>
              <a:t>&gt;</a:t>
            </a:r>
            <a:endParaRPr lang="en-US" b="0" i="0" dirty="0">
              <a:solidFill>
                <a:srgbClr val="596174"/>
              </a:solidFill>
              <a:effectLst/>
              <a:latin typeface="Inconsolata" pitchFamily="1" charset="0"/>
            </a:endParaRPr>
          </a:p>
        </p:txBody>
      </p:sp>
      <p:sp>
        <p:nvSpPr>
          <p:cNvPr id="9" name="TextBox 8">
            <a:extLst>
              <a:ext uri="{FF2B5EF4-FFF2-40B4-BE49-F238E27FC236}">
                <a16:creationId xmlns:a16="http://schemas.microsoft.com/office/drawing/2014/main" id="{EA0D9D70-212D-4CCE-BEA7-8A2116DBE093}"/>
              </a:ext>
            </a:extLst>
          </p:cNvPr>
          <p:cNvSpPr txBox="1"/>
          <p:nvPr/>
        </p:nvSpPr>
        <p:spPr>
          <a:xfrm>
            <a:off x="4471218" y="392542"/>
            <a:ext cx="7796981" cy="1477328"/>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Modifying the Configure Method of the Startup class:</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In order to server the static files in asp.net core applications, we need to use the </a:t>
            </a:r>
            <a:r>
              <a:rPr lang="en-US" b="0" i="0" dirty="0" err="1">
                <a:solidFill>
                  <a:srgbClr val="000000"/>
                </a:solidFill>
                <a:effectLst/>
                <a:latin typeface="arial" panose="020B0604020202020204" pitchFamily="34" charset="0"/>
              </a:rPr>
              <a:t>UseStaticFiles</a:t>
            </a:r>
            <a:r>
              <a:rPr lang="en-US" b="0" i="0" dirty="0">
                <a:solidFill>
                  <a:srgbClr val="000000"/>
                </a:solidFill>
                <a:effectLst/>
                <a:latin typeface="arial" panose="020B0604020202020204" pitchFamily="34" charset="0"/>
              </a:rPr>
              <a:t> </a:t>
            </a:r>
            <a:r>
              <a:rPr lang="en-US" b="1" i="0" u="none" strike="noStrike" dirty="0">
                <a:solidFill>
                  <a:srgbClr val="007BFF"/>
                </a:solidFill>
                <a:effectLst/>
                <a:latin typeface="arial" panose="020B0604020202020204" pitchFamily="34" charset="0"/>
              </a:rPr>
              <a:t>middleware in the request processing pipeline</a:t>
            </a:r>
            <a:r>
              <a:rPr lang="en-US" b="0" i="0" dirty="0">
                <a:solidFill>
                  <a:srgbClr val="000000"/>
                </a:solidFill>
                <a:effectLst/>
                <a:latin typeface="arial" panose="020B0604020202020204" pitchFamily="34" charset="0"/>
              </a:rPr>
              <a:t>. Let us modify the Configure method as shown below to use the </a:t>
            </a:r>
            <a:r>
              <a:rPr lang="en-US" b="0" i="0" dirty="0" err="1">
                <a:solidFill>
                  <a:srgbClr val="000000"/>
                </a:solidFill>
                <a:effectLst/>
                <a:latin typeface="arial" panose="020B0604020202020204" pitchFamily="34" charset="0"/>
              </a:rPr>
              <a:t>UseStaticFiles</a:t>
            </a:r>
            <a:r>
              <a:rPr lang="en-US" b="0" i="0" dirty="0">
                <a:solidFill>
                  <a:srgbClr val="000000"/>
                </a:solidFill>
                <a:effectLst/>
                <a:latin typeface="arial" panose="020B0604020202020204" pitchFamily="34" charset="0"/>
              </a:rPr>
              <a:t> middleware.</a:t>
            </a:r>
            <a:endParaRPr lang="en-US" b="0" i="0" dirty="0">
              <a:solidFill>
                <a:srgbClr val="212529"/>
              </a:solidFill>
              <a:effectLst/>
              <a:latin typeface="-apple-system"/>
            </a:endParaRPr>
          </a:p>
        </p:txBody>
      </p:sp>
      <p:sp>
        <p:nvSpPr>
          <p:cNvPr id="11" name="TextBox 10">
            <a:extLst>
              <a:ext uri="{FF2B5EF4-FFF2-40B4-BE49-F238E27FC236}">
                <a16:creationId xmlns:a16="http://schemas.microsoft.com/office/drawing/2014/main" id="{A23FB99F-644F-490E-BEE2-7DB64E0CE03C}"/>
              </a:ext>
            </a:extLst>
          </p:cNvPr>
          <p:cNvSpPr txBox="1"/>
          <p:nvPr/>
        </p:nvSpPr>
        <p:spPr>
          <a:xfrm>
            <a:off x="4908757" y="1958022"/>
            <a:ext cx="7231626" cy="2031325"/>
          </a:xfrm>
          <a:prstGeom prst="rect">
            <a:avLst/>
          </a:prstGeom>
          <a:noFill/>
        </p:spPr>
        <p:txBody>
          <a:bodyPr wrap="square">
            <a:spAutoFit/>
          </a:bodyPr>
          <a:lstStyle/>
          <a:p>
            <a:pPr algn="l" fontAlgn="base"/>
            <a:r>
              <a:rPr lang="en-IN" b="0" i="0" dirty="0">
                <a:solidFill>
                  <a:srgbClr val="6B7C8B"/>
                </a:solidFill>
                <a:effectLst/>
                <a:latin typeface="inherit"/>
              </a:rPr>
              <a:t>//Adding Static Files Middleware to serve the static files</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UseStaticFiles</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Run</a:t>
            </a:r>
            <a:r>
              <a:rPr lang="en-IN" b="1" i="0" dirty="0">
                <a:solidFill>
                  <a:srgbClr val="6B7C8B"/>
                </a:solidFill>
                <a:effectLst/>
                <a:latin typeface="inherit"/>
              </a:rPr>
              <a:t>(</a:t>
            </a:r>
            <a:r>
              <a:rPr lang="en-IN" b="1" i="0" dirty="0">
                <a:solidFill>
                  <a:srgbClr val="D171DD"/>
                </a:solidFill>
                <a:effectLst/>
                <a:latin typeface="inherit"/>
              </a:rPr>
              <a:t>async</a:t>
            </a:r>
            <a:r>
              <a:rPr lang="en-IN" b="0" i="0" dirty="0">
                <a:solidFill>
                  <a:srgbClr val="CFD5E0"/>
                </a:solidFill>
                <a:effectLst/>
                <a:latin typeface="inherit"/>
              </a:rPr>
              <a:t> </a:t>
            </a:r>
            <a:r>
              <a:rPr lang="en-IN" b="1" i="0" dirty="0">
                <a:solidFill>
                  <a:srgbClr val="6B7C8B"/>
                </a:solidFill>
                <a:effectLst/>
                <a:latin typeface="inherit"/>
              </a:rPr>
              <a:t>(</a:t>
            </a:r>
            <a:r>
              <a:rPr lang="en-IN" b="0" i="0" dirty="0">
                <a:solidFill>
                  <a:srgbClr val="CFD5E0"/>
                </a:solidFill>
                <a:effectLst/>
                <a:latin typeface="inherit"/>
              </a:rPr>
              <a:t>context</a:t>
            </a:r>
            <a:r>
              <a:rPr lang="en-IN" b="1" i="0" dirty="0">
                <a:solidFill>
                  <a:srgbClr val="6B7C8B"/>
                </a:solidFill>
                <a:effectLst/>
                <a:latin typeface="inherit"/>
              </a:rPr>
              <a:t>)</a:t>
            </a:r>
            <a:r>
              <a:rPr lang="en-IN" b="0" i="0" dirty="0">
                <a:solidFill>
                  <a:srgbClr val="CFD5E0"/>
                </a:solidFill>
                <a:effectLst/>
                <a:latin typeface="inherit"/>
              </a:rPr>
              <a:t> =</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await</a:t>
            </a:r>
            <a:r>
              <a:rPr lang="en-IN" b="0" i="0" dirty="0">
                <a:solidFill>
                  <a:srgbClr val="CFD5E0"/>
                </a:solidFill>
                <a:effectLst/>
                <a:latin typeface="inherit"/>
              </a:rPr>
              <a:t> </a:t>
            </a:r>
            <a:r>
              <a:rPr lang="en-IN" b="0" i="0" dirty="0" err="1">
                <a:solidFill>
                  <a:srgbClr val="CFD5E0"/>
                </a:solidFill>
                <a:effectLst/>
                <a:latin typeface="inherit"/>
              </a:rPr>
              <a:t>context.</a:t>
            </a:r>
            <a:r>
              <a:rPr lang="en-IN" b="0" i="0" dirty="0" err="1">
                <a:solidFill>
                  <a:srgbClr val="4284AE"/>
                </a:solidFill>
                <a:effectLst/>
                <a:latin typeface="inherit"/>
              </a:rPr>
              <a:t>Response</a:t>
            </a:r>
            <a:r>
              <a:rPr lang="en-IN" b="0" i="0" dirty="0" err="1">
                <a:solidFill>
                  <a:srgbClr val="CFD5E0"/>
                </a:solidFill>
                <a:effectLst/>
                <a:latin typeface="inherit"/>
              </a:rPr>
              <a:t>.</a:t>
            </a:r>
            <a:r>
              <a:rPr lang="en-IN" b="0" i="0" dirty="0" err="1">
                <a:solidFill>
                  <a:srgbClr val="4284AE"/>
                </a:solidFill>
                <a:effectLst/>
                <a:latin typeface="inherit"/>
              </a:rPr>
              <a:t>WriteAsync</a:t>
            </a:r>
            <a:r>
              <a:rPr lang="en-IN" b="1" i="0" dirty="0">
                <a:solidFill>
                  <a:srgbClr val="6B7C8B"/>
                </a:solidFill>
                <a:effectLst/>
                <a:latin typeface="inherit"/>
              </a:rPr>
              <a:t>(</a:t>
            </a:r>
            <a:r>
              <a:rPr lang="en-IN" b="0" i="0" dirty="0">
                <a:solidFill>
                  <a:srgbClr val="7CC379"/>
                </a:solidFill>
                <a:effectLst/>
                <a:latin typeface="inherit"/>
              </a:rPr>
              <a:t>"Request handled and response generated"</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	})</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  }</a:t>
            </a:r>
            <a:endParaRPr lang="en-IN" b="0" i="0" dirty="0">
              <a:solidFill>
                <a:srgbClr val="596174"/>
              </a:solidFill>
              <a:effectLst/>
              <a:latin typeface="Inconsolata" pitchFamily="1" charset="0"/>
            </a:endParaRPr>
          </a:p>
        </p:txBody>
      </p:sp>
      <p:sp>
        <p:nvSpPr>
          <p:cNvPr id="13" name="TextBox 12">
            <a:extLst>
              <a:ext uri="{FF2B5EF4-FFF2-40B4-BE49-F238E27FC236}">
                <a16:creationId xmlns:a16="http://schemas.microsoft.com/office/drawing/2014/main" id="{D60EF7F5-76CD-41D7-9AF7-43F35AEDFC11}"/>
              </a:ext>
            </a:extLst>
          </p:cNvPr>
          <p:cNvSpPr txBox="1"/>
          <p:nvPr/>
        </p:nvSpPr>
        <p:spPr>
          <a:xfrm>
            <a:off x="309715" y="3170998"/>
            <a:ext cx="4444181" cy="1754326"/>
          </a:xfrm>
          <a:prstGeom prst="rect">
            <a:avLst/>
          </a:prstGeom>
          <a:noFill/>
        </p:spPr>
        <p:txBody>
          <a:bodyPr wrap="square">
            <a:spAutoFit/>
          </a:bodyPr>
          <a:lstStyle/>
          <a:p>
            <a:r>
              <a:rPr lang="en-US" b="0" i="0" dirty="0">
                <a:solidFill>
                  <a:srgbClr val="000000"/>
                </a:solidFill>
                <a:effectLst/>
                <a:latin typeface="arial" panose="020B0604020202020204" pitchFamily="34" charset="0"/>
              </a:rPr>
              <a:t>Now run the application and navigate to the URL: </a:t>
            </a:r>
            <a:r>
              <a:rPr lang="en-US" b="1" i="0" dirty="0">
                <a:solidFill>
                  <a:srgbClr val="0000FF"/>
                </a:solidFill>
                <a:effectLst/>
                <a:latin typeface="arial" panose="020B0604020202020204" pitchFamily="34" charset="0"/>
              </a:rPr>
              <a:t>http://localhost:&lt;portnumber&gt;/index.html</a:t>
            </a:r>
            <a:r>
              <a:rPr lang="en-US" b="0" i="0" dirty="0">
                <a:solidFill>
                  <a:srgbClr val="000000"/>
                </a:solidFill>
                <a:effectLst/>
                <a:latin typeface="arial" panose="020B0604020202020204" pitchFamily="34" charset="0"/>
              </a:rPr>
              <a:t> and you will see the output as expected that is coming from the static Index.HTML file as shown below.</a:t>
            </a:r>
            <a:endParaRPr lang="en-IN" dirty="0"/>
          </a:p>
        </p:txBody>
      </p:sp>
      <p:pic>
        <p:nvPicPr>
          <p:cNvPr id="2050" name="Picture 2" descr="Modifying the Configure Method of the Startup class">
            <a:extLst>
              <a:ext uri="{FF2B5EF4-FFF2-40B4-BE49-F238E27FC236}">
                <a16:creationId xmlns:a16="http://schemas.microsoft.com/office/drawing/2014/main" id="{F90415D2-DF07-4AB4-BC0D-E1240CE928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076687"/>
            <a:ext cx="459105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6564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4E168E1-8951-46C5-B1CF-E0963CA9C190}"/>
              </a:ext>
            </a:extLst>
          </p:cNvPr>
          <p:cNvSpPr txBox="1"/>
          <p:nvPr/>
        </p:nvSpPr>
        <p:spPr>
          <a:xfrm>
            <a:off x="147484" y="116743"/>
            <a:ext cx="11592232" cy="923330"/>
          </a:xfrm>
          <a:prstGeom prst="rect">
            <a:avLst/>
          </a:prstGeom>
          <a:noFill/>
        </p:spPr>
        <p:txBody>
          <a:bodyPr wrap="square">
            <a:spAutoFit/>
          </a:bodyPr>
          <a:lstStyle/>
          <a:p>
            <a:r>
              <a:rPr lang="en-US" b="0" i="0" dirty="0">
                <a:solidFill>
                  <a:srgbClr val="000000"/>
                </a:solidFill>
                <a:effectLst/>
                <a:latin typeface="arial" panose="020B0604020202020204" pitchFamily="34" charset="0"/>
              </a:rPr>
              <a:t>Now, if you remove index.html from the URL or navigate to the base URL, then the request is going to be handled by the terminating middleware which is registered using the Run method. That the default request is going to be server by the Run method as shown below.</a:t>
            </a:r>
            <a:endParaRPr lang="en-IN" dirty="0"/>
          </a:p>
        </p:txBody>
      </p:sp>
      <p:pic>
        <p:nvPicPr>
          <p:cNvPr id="3074" name="Picture 2" descr="Modifying the Configure Method of the Startup class">
            <a:extLst>
              <a:ext uri="{FF2B5EF4-FFF2-40B4-BE49-F238E27FC236}">
                <a16:creationId xmlns:a16="http://schemas.microsoft.com/office/drawing/2014/main" id="{36CB3C8E-9C3E-4262-9BB5-60FFC4F1AB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8153" y="833241"/>
            <a:ext cx="4286250" cy="13335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FB9A933-5838-434A-BE5F-6346BA04130C}"/>
              </a:ext>
            </a:extLst>
          </p:cNvPr>
          <p:cNvSpPr txBox="1"/>
          <p:nvPr/>
        </p:nvSpPr>
        <p:spPr>
          <a:xfrm>
            <a:off x="0" y="2166741"/>
            <a:ext cx="11405419"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But what we want is, when we navigate to the base URL as shown above, we want our index.html page to serve the request. That is, we need to set the index.html page as our default page.</a:t>
            </a:r>
            <a:endParaRPr lang="en-IN" dirty="0"/>
          </a:p>
        </p:txBody>
      </p:sp>
      <p:sp>
        <p:nvSpPr>
          <p:cNvPr id="10" name="TextBox 9">
            <a:extLst>
              <a:ext uri="{FF2B5EF4-FFF2-40B4-BE49-F238E27FC236}">
                <a16:creationId xmlns:a16="http://schemas.microsoft.com/office/drawing/2014/main" id="{220255B9-A448-490B-A7AA-D2EA608505A3}"/>
              </a:ext>
            </a:extLst>
          </p:cNvPr>
          <p:cNvSpPr txBox="1"/>
          <p:nvPr/>
        </p:nvSpPr>
        <p:spPr>
          <a:xfrm>
            <a:off x="2222091" y="2883239"/>
            <a:ext cx="6096000"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Setting the Default Page in ASP.NET Core Application:</a:t>
            </a:r>
            <a:endParaRPr lang="en-US" b="0" i="0" dirty="0">
              <a:solidFill>
                <a:srgbClr val="3A3A3A"/>
              </a:solidFill>
              <a:effectLst/>
              <a:latin typeface="-apple-system"/>
            </a:endParaRPr>
          </a:p>
        </p:txBody>
      </p:sp>
      <p:sp>
        <p:nvSpPr>
          <p:cNvPr id="12" name="TextBox 11">
            <a:extLst>
              <a:ext uri="{FF2B5EF4-FFF2-40B4-BE49-F238E27FC236}">
                <a16:creationId xmlns:a16="http://schemas.microsoft.com/office/drawing/2014/main" id="{18091C9C-72A8-409F-AC59-F6AC1CDA7077}"/>
              </a:ext>
            </a:extLst>
          </p:cNvPr>
          <p:cNvSpPr txBox="1"/>
          <p:nvPr/>
        </p:nvSpPr>
        <p:spPr>
          <a:xfrm>
            <a:off x="147483" y="3429000"/>
            <a:ext cx="11779045" cy="2585323"/>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Most of the web applications have a default page such as index.htm(l) or default.htm(l) as their startup page as it is easy to remember. This is the web page that is going to be displayed when a user visits the root URL of that application. For example, if you have a page with the name index.html and you want that page to be your default page so that whenever any user visits your root URL, then that page is going to be displayed.</a:t>
            </a: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In order to serve the index.html page which is present inside the </a:t>
            </a:r>
            <a:r>
              <a:rPr lang="en-US" b="0" i="0" dirty="0" err="1">
                <a:solidFill>
                  <a:srgbClr val="000000"/>
                </a:solidFill>
                <a:effectLst/>
                <a:latin typeface="arial" panose="020B0604020202020204" pitchFamily="34" charset="0"/>
              </a:rPr>
              <a:t>wwwroot</a:t>
            </a:r>
            <a:r>
              <a:rPr lang="en-US" b="0" i="0" dirty="0">
                <a:solidFill>
                  <a:srgbClr val="000000"/>
                </a:solidFill>
                <a:effectLst/>
                <a:latin typeface="arial" panose="020B0604020202020204" pitchFamily="34" charset="0"/>
              </a:rPr>
              <a:t> folder as the default page of your application, you need to add another middleware i.e. </a:t>
            </a:r>
            <a:r>
              <a:rPr lang="en-US" b="1" i="0" dirty="0" err="1">
                <a:solidFill>
                  <a:srgbClr val="000000"/>
                </a:solidFill>
                <a:effectLst/>
                <a:latin typeface="arial" panose="020B0604020202020204" pitchFamily="34" charset="0"/>
              </a:rPr>
              <a:t>UseDefaultFiles</a:t>
            </a:r>
            <a:r>
              <a:rPr lang="en-US" b="1" i="0" dirty="0">
                <a:solidFill>
                  <a:srgbClr val="000000"/>
                </a:solidFill>
                <a:effectLst/>
                <a:latin typeface="arial" panose="020B0604020202020204" pitchFamily="34" charset="0"/>
              </a:rPr>
              <a:t>()</a:t>
            </a:r>
            <a:r>
              <a:rPr lang="en-US" b="0" i="0" dirty="0">
                <a:solidFill>
                  <a:srgbClr val="000000"/>
                </a:solidFill>
                <a:effectLst/>
                <a:latin typeface="arial" panose="020B0604020202020204" pitchFamily="34" charset="0"/>
              </a:rPr>
              <a:t> middleware into the request processing pipeline.</a:t>
            </a: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So, modify the </a:t>
            </a:r>
            <a:r>
              <a:rPr lang="en-US" b="1" i="0" dirty="0">
                <a:solidFill>
                  <a:srgbClr val="000000"/>
                </a:solidFill>
                <a:effectLst/>
                <a:latin typeface="arial" panose="020B0604020202020204" pitchFamily="34" charset="0"/>
              </a:rPr>
              <a:t>Configure()</a:t>
            </a:r>
            <a:r>
              <a:rPr lang="en-US" b="0" i="0" dirty="0">
                <a:solidFill>
                  <a:srgbClr val="000000"/>
                </a:solidFill>
                <a:effectLst/>
                <a:latin typeface="arial" panose="020B0604020202020204" pitchFamily="34" charset="0"/>
              </a:rPr>
              <a:t> method of the </a:t>
            </a:r>
            <a:r>
              <a:rPr lang="en-US" b="1" i="0" dirty="0">
                <a:solidFill>
                  <a:srgbClr val="000000"/>
                </a:solidFill>
                <a:effectLst/>
                <a:latin typeface="arial" panose="020B0604020202020204" pitchFamily="34" charset="0"/>
              </a:rPr>
              <a:t>Startup</a:t>
            </a:r>
            <a:r>
              <a:rPr lang="en-US" b="0" i="0" dirty="0">
                <a:solidFill>
                  <a:srgbClr val="000000"/>
                </a:solidFill>
                <a:effectLst/>
                <a:latin typeface="arial" panose="020B0604020202020204" pitchFamily="34" charset="0"/>
              </a:rPr>
              <a:t> class as shown below to use the </a:t>
            </a:r>
            <a:r>
              <a:rPr lang="en-US" b="1" i="0" dirty="0" err="1">
                <a:solidFill>
                  <a:srgbClr val="000000"/>
                </a:solidFill>
                <a:effectLst/>
                <a:latin typeface="arial" panose="020B0604020202020204" pitchFamily="34" charset="0"/>
              </a:rPr>
              <a:t>UseDefaultFiles</a:t>
            </a:r>
            <a:r>
              <a:rPr lang="en-US" b="1" i="0" dirty="0">
                <a:solidFill>
                  <a:srgbClr val="000000"/>
                </a:solidFill>
                <a:effectLst/>
                <a:latin typeface="arial" panose="020B0604020202020204" pitchFamily="34" charset="0"/>
              </a:rPr>
              <a:t>()</a:t>
            </a:r>
            <a:r>
              <a:rPr lang="en-US" b="0" i="0" dirty="0">
                <a:solidFill>
                  <a:srgbClr val="000000"/>
                </a:solidFill>
                <a:effectLst/>
                <a:latin typeface="arial" panose="020B0604020202020204" pitchFamily="34" charset="0"/>
              </a:rPr>
              <a:t> middleware which will set the default page for your application.</a:t>
            </a:r>
            <a:endParaRPr lang="en-US" b="0" i="0" dirty="0">
              <a:solidFill>
                <a:srgbClr val="212529"/>
              </a:solidFill>
              <a:effectLst/>
              <a:latin typeface="-apple-system"/>
            </a:endParaRPr>
          </a:p>
        </p:txBody>
      </p:sp>
    </p:spTree>
    <p:extLst>
      <p:ext uri="{BB962C8B-B14F-4D97-AF65-F5344CB8AC3E}">
        <p14:creationId xmlns:p14="http://schemas.microsoft.com/office/powerpoint/2010/main" val="441315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0C40FF-73C5-42FE-8F3A-C545CB5B663B}"/>
              </a:ext>
            </a:extLst>
          </p:cNvPr>
          <p:cNvSpPr txBox="1"/>
          <p:nvPr/>
        </p:nvSpPr>
        <p:spPr>
          <a:xfrm>
            <a:off x="285135" y="87753"/>
            <a:ext cx="6096000" cy="2862322"/>
          </a:xfrm>
          <a:prstGeom prst="rect">
            <a:avLst/>
          </a:prstGeom>
          <a:noFill/>
        </p:spPr>
        <p:txBody>
          <a:bodyPr wrap="square">
            <a:spAutoFit/>
          </a:bodyPr>
          <a:lstStyle/>
          <a:p>
            <a:pPr algn="l" fontAlgn="base"/>
            <a:r>
              <a:rPr lang="en-IN" b="0" i="0" dirty="0">
                <a:solidFill>
                  <a:srgbClr val="6B7C8B"/>
                </a:solidFill>
                <a:effectLst/>
                <a:latin typeface="inherit"/>
              </a:rPr>
              <a:t>//Setting the Default Files</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UseDefaultFiles</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6B7C8B"/>
                </a:solidFill>
                <a:effectLst/>
                <a:latin typeface="inherit"/>
              </a:rPr>
              <a:t>//Adding Static Files Middleware to serve the static files</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UseStaticFiles</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Run</a:t>
            </a:r>
            <a:r>
              <a:rPr lang="en-IN" b="1" i="0" dirty="0">
                <a:solidFill>
                  <a:srgbClr val="6B7C8B"/>
                </a:solidFill>
                <a:effectLst/>
                <a:latin typeface="inherit"/>
              </a:rPr>
              <a:t>(</a:t>
            </a:r>
            <a:r>
              <a:rPr lang="en-IN" b="1" i="0" dirty="0">
                <a:solidFill>
                  <a:srgbClr val="D171DD"/>
                </a:solidFill>
                <a:effectLst/>
                <a:latin typeface="inherit"/>
              </a:rPr>
              <a:t>async</a:t>
            </a:r>
            <a:r>
              <a:rPr lang="en-IN" b="0" i="0" dirty="0">
                <a:solidFill>
                  <a:srgbClr val="CFD5E0"/>
                </a:solidFill>
                <a:effectLst/>
                <a:latin typeface="inherit"/>
              </a:rPr>
              <a:t> </a:t>
            </a:r>
            <a:r>
              <a:rPr lang="en-IN" b="1" i="0" dirty="0">
                <a:solidFill>
                  <a:srgbClr val="6B7C8B"/>
                </a:solidFill>
                <a:effectLst/>
                <a:latin typeface="inherit"/>
              </a:rPr>
              <a:t>(</a:t>
            </a:r>
            <a:r>
              <a:rPr lang="en-IN" b="0" i="0" dirty="0">
                <a:solidFill>
                  <a:srgbClr val="CFD5E0"/>
                </a:solidFill>
                <a:effectLst/>
                <a:latin typeface="inherit"/>
              </a:rPr>
              <a:t>context</a:t>
            </a:r>
            <a:r>
              <a:rPr lang="en-IN" b="1" i="0" dirty="0">
                <a:solidFill>
                  <a:srgbClr val="6B7C8B"/>
                </a:solidFill>
                <a:effectLst/>
                <a:latin typeface="inherit"/>
              </a:rPr>
              <a:t>)</a:t>
            </a:r>
            <a:r>
              <a:rPr lang="en-IN" b="0" i="0" dirty="0">
                <a:solidFill>
                  <a:srgbClr val="CFD5E0"/>
                </a:solidFill>
                <a:effectLst/>
                <a:latin typeface="inherit"/>
              </a:rPr>
              <a:t> =</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await</a:t>
            </a:r>
            <a:r>
              <a:rPr lang="en-IN" b="0" i="0" dirty="0">
                <a:solidFill>
                  <a:srgbClr val="CFD5E0"/>
                </a:solidFill>
                <a:effectLst/>
                <a:latin typeface="inherit"/>
              </a:rPr>
              <a:t> </a:t>
            </a:r>
            <a:r>
              <a:rPr lang="en-IN" b="0" i="0" dirty="0" err="1">
                <a:solidFill>
                  <a:srgbClr val="CFD5E0"/>
                </a:solidFill>
                <a:effectLst/>
                <a:latin typeface="inherit"/>
              </a:rPr>
              <a:t>context.</a:t>
            </a:r>
            <a:r>
              <a:rPr lang="en-IN" b="0" i="0" dirty="0" err="1">
                <a:solidFill>
                  <a:srgbClr val="4284AE"/>
                </a:solidFill>
                <a:effectLst/>
                <a:latin typeface="inherit"/>
              </a:rPr>
              <a:t>Response</a:t>
            </a:r>
            <a:r>
              <a:rPr lang="en-IN" b="0" i="0" dirty="0" err="1">
                <a:solidFill>
                  <a:srgbClr val="CFD5E0"/>
                </a:solidFill>
                <a:effectLst/>
                <a:latin typeface="inherit"/>
              </a:rPr>
              <a:t>.</a:t>
            </a:r>
            <a:r>
              <a:rPr lang="en-IN" b="0" i="0" dirty="0" err="1">
                <a:solidFill>
                  <a:srgbClr val="4284AE"/>
                </a:solidFill>
                <a:effectLst/>
                <a:latin typeface="inherit"/>
              </a:rPr>
              <a:t>WriteAsync</a:t>
            </a:r>
            <a:r>
              <a:rPr lang="en-IN" b="1" i="0" dirty="0">
                <a:solidFill>
                  <a:srgbClr val="6B7C8B"/>
                </a:solidFill>
                <a:effectLst/>
                <a:latin typeface="inherit"/>
              </a:rPr>
              <a:t>(</a:t>
            </a:r>
            <a:r>
              <a:rPr lang="en-IN" b="0" i="0" dirty="0">
                <a:solidFill>
                  <a:srgbClr val="7CC379"/>
                </a:solidFill>
                <a:effectLst/>
                <a:latin typeface="inherit"/>
              </a:rPr>
              <a:t>"Request handled by the terminating middleware"</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		})</a:t>
            </a:r>
            <a:r>
              <a:rPr lang="en-IN" b="0" i="0" dirty="0">
                <a:solidFill>
                  <a:srgbClr val="CFD5E0"/>
                </a:solidFill>
                <a:effectLst/>
                <a:latin typeface="inherit"/>
              </a:rPr>
              <a:t>;</a:t>
            </a:r>
          </a:p>
          <a:p>
            <a:pPr algn="l" fontAlgn="base"/>
            <a:r>
              <a:rPr lang="en-IN" b="1" i="0" dirty="0">
                <a:solidFill>
                  <a:srgbClr val="6B7C8B"/>
                </a:solidFill>
                <a:effectLst/>
                <a:latin typeface="inherit"/>
              </a:rPr>
              <a:t>	}</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p:txBody>
      </p:sp>
      <p:sp>
        <p:nvSpPr>
          <p:cNvPr id="7" name="TextBox 6">
            <a:extLst>
              <a:ext uri="{FF2B5EF4-FFF2-40B4-BE49-F238E27FC236}">
                <a16:creationId xmlns:a16="http://schemas.microsoft.com/office/drawing/2014/main" id="{0409E797-0669-4B60-8084-C8C8CFEEFA05}"/>
              </a:ext>
            </a:extLst>
          </p:cNvPr>
          <p:cNvSpPr txBox="1"/>
          <p:nvPr/>
        </p:nvSpPr>
        <p:spPr>
          <a:xfrm>
            <a:off x="5810865" y="264227"/>
            <a:ext cx="6096000" cy="1477328"/>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With the above changes in place, now run the application and you should the output as expected as shown below. That index.html page serves as your default page.</a:t>
            </a:r>
            <a:endParaRPr lang="en-US" b="0" i="0" dirty="0">
              <a:solidFill>
                <a:srgbClr val="212529"/>
              </a:solidFill>
              <a:effectLst/>
              <a:latin typeface="-apple-system"/>
            </a:endParaRPr>
          </a:p>
          <a:p>
            <a:br>
              <a:rPr lang="en-US" dirty="0"/>
            </a:br>
            <a:endParaRPr lang="en-IN" dirty="0"/>
          </a:p>
        </p:txBody>
      </p:sp>
      <p:pic>
        <p:nvPicPr>
          <p:cNvPr id="4098" name="Picture 2" descr="Setting the Default Page in ASP.NET Core Application">
            <a:extLst>
              <a:ext uri="{FF2B5EF4-FFF2-40B4-BE49-F238E27FC236}">
                <a16:creationId xmlns:a16="http://schemas.microsoft.com/office/drawing/2014/main" id="{FEDB3461-6B2A-4128-BD25-5BB39FBC72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7537" y="1741555"/>
            <a:ext cx="4352925" cy="169545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FF8AD2C-2E58-4100-8590-9058C26FBF0C}"/>
              </a:ext>
            </a:extLst>
          </p:cNvPr>
          <p:cNvSpPr txBox="1"/>
          <p:nvPr/>
        </p:nvSpPr>
        <p:spPr>
          <a:xfrm>
            <a:off x="1818968" y="4028633"/>
            <a:ext cx="10235380" cy="2308324"/>
          </a:xfrm>
          <a:prstGeom prst="rect">
            <a:avLst/>
          </a:prstGeom>
          <a:noFill/>
        </p:spPr>
        <p:txBody>
          <a:bodyPr wrap="square">
            <a:spAutoFit/>
          </a:bodyPr>
          <a:lstStyle/>
          <a:p>
            <a:r>
              <a:rPr lang="en-US" b="1" i="0" dirty="0">
                <a:solidFill>
                  <a:srgbClr val="000000"/>
                </a:solidFill>
                <a:effectLst/>
                <a:latin typeface="arial" panose="020B0604020202020204" pitchFamily="34" charset="0"/>
              </a:rPr>
              <a:t>Note:</a:t>
            </a:r>
            <a:r>
              <a:rPr lang="en-US" b="0" i="0" dirty="0">
                <a:solidFill>
                  <a:srgbClr val="000000"/>
                </a:solidFill>
                <a:effectLst/>
                <a:latin typeface="arial" panose="020B0604020202020204" pitchFamily="34" charset="0"/>
              </a:rPr>
              <a:t> You need to add the </a:t>
            </a:r>
            <a:r>
              <a:rPr lang="en-US" b="1" i="0" dirty="0" err="1">
                <a:solidFill>
                  <a:srgbClr val="000000"/>
                </a:solidFill>
                <a:effectLst/>
                <a:latin typeface="arial" panose="020B0604020202020204" pitchFamily="34" charset="0"/>
              </a:rPr>
              <a:t>UseDefaultFiles</a:t>
            </a:r>
            <a:r>
              <a:rPr lang="en-US" b="1" i="0" dirty="0">
                <a:solidFill>
                  <a:srgbClr val="000000"/>
                </a:solidFill>
                <a:effectLst/>
                <a:latin typeface="arial" panose="020B0604020202020204" pitchFamily="34" charset="0"/>
              </a:rPr>
              <a:t>()</a:t>
            </a:r>
            <a:r>
              <a:rPr lang="en-US" b="0" i="0" dirty="0">
                <a:solidFill>
                  <a:srgbClr val="000000"/>
                </a:solidFill>
                <a:effectLst/>
                <a:latin typeface="arial" panose="020B0604020202020204" pitchFamily="34" charset="0"/>
              </a:rPr>
              <a:t> middleware before the </a:t>
            </a:r>
            <a:r>
              <a:rPr lang="en-US" b="1" i="0" dirty="0" err="1">
                <a:solidFill>
                  <a:srgbClr val="000000"/>
                </a:solidFill>
                <a:effectLst/>
                <a:latin typeface="arial" panose="020B0604020202020204" pitchFamily="34" charset="0"/>
              </a:rPr>
              <a:t>UseStaticFiles</a:t>
            </a:r>
            <a:r>
              <a:rPr lang="en-US" b="1" i="0" dirty="0">
                <a:solidFill>
                  <a:srgbClr val="000000"/>
                </a:solidFill>
                <a:effectLst/>
                <a:latin typeface="arial" panose="020B0604020202020204" pitchFamily="34" charset="0"/>
              </a:rPr>
              <a:t>()</a:t>
            </a:r>
            <a:r>
              <a:rPr lang="en-US" b="0" i="0" dirty="0">
                <a:solidFill>
                  <a:srgbClr val="000000"/>
                </a:solidFill>
                <a:effectLst/>
                <a:latin typeface="arial" panose="020B0604020202020204" pitchFamily="34" charset="0"/>
              </a:rPr>
              <a:t> middleware in order to serve the default file. </a:t>
            </a:r>
          </a:p>
          <a:p>
            <a:endParaRPr lang="en-US" dirty="0">
              <a:solidFill>
                <a:srgbClr val="000000"/>
              </a:solidFill>
              <a:latin typeface="arial" panose="020B0604020202020204" pitchFamily="34" charset="0"/>
            </a:endParaRPr>
          </a:p>
          <a:p>
            <a:r>
              <a:rPr lang="en-US" b="0" i="0" dirty="0">
                <a:solidFill>
                  <a:srgbClr val="000000"/>
                </a:solidFill>
                <a:effectLst/>
                <a:latin typeface="arial" panose="020B0604020202020204" pitchFamily="34" charset="0"/>
              </a:rPr>
              <a:t>The point that you need to remember is the </a:t>
            </a:r>
            <a:r>
              <a:rPr lang="en-US" b="0" i="0" dirty="0" err="1">
                <a:solidFill>
                  <a:srgbClr val="000000"/>
                </a:solidFill>
                <a:effectLst/>
                <a:latin typeface="arial" panose="020B0604020202020204" pitchFamily="34" charset="0"/>
              </a:rPr>
              <a:t>UseDefaultFiles</a:t>
            </a:r>
            <a:r>
              <a:rPr lang="en-US" b="0" i="0" dirty="0">
                <a:solidFill>
                  <a:srgbClr val="000000"/>
                </a:solidFill>
                <a:effectLst/>
                <a:latin typeface="arial" panose="020B0604020202020204" pitchFamily="34" charset="0"/>
              </a:rPr>
              <a:t>() middleware is just a URL rewriter and it never serves the static files. </a:t>
            </a:r>
          </a:p>
          <a:p>
            <a:endParaRPr lang="en-US" dirty="0">
              <a:solidFill>
                <a:srgbClr val="000000"/>
              </a:solidFill>
              <a:latin typeface="arial" panose="020B0604020202020204" pitchFamily="34" charset="0"/>
            </a:endParaRPr>
          </a:p>
          <a:p>
            <a:r>
              <a:rPr lang="en-US" b="0" i="0" dirty="0">
                <a:solidFill>
                  <a:srgbClr val="000000"/>
                </a:solidFill>
                <a:effectLst/>
                <a:latin typeface="arial" panose="020B0604020202020204" pitchFamily="34" charset="0"/>
              </a:rPr>
              <a:t>The job of this middleware is to simply rewrite the incoming URL to the default file which will then be served by the Static Files Middleware.</a:t>
            </a:r>
            <a:endParaRPr lang="en-IN" dirty="0"/>
          </a:p>
        </p:txBody>
      </p:sp>
    </p:spTree>
    <p:extLst>
      <p:ext uri="{BB962C8B-B14F-4D97-AF65-F5344CB8AC3E}">
        <p14:creationId xmlns:p14="http://schemas.microsoft.com/office/powerpoint/2010/main" val="1110636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359DAD2-8296-49B7-9CC4-A29ADAA7BEAB}"/>
              </a:ext>
            </a:extLst>
          </p:cNvPr>
          <p:cNvSpPr txBox="1"/>
          <p:nvPr/>
        </p:nvSpPr>
        <p:spPr>
          <a:xfrm>
            <a:off x="2271253" y="-96176"/>
            <a:ext cx="6096000"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How to set Custom HTML Page as the Default Page?</a:t>
            </a:r>
            <a:endParaRPr lang="en-US" b="0" i="0" dirty="0">
              <a:solidFill>
                <a:srgbClr val="3A3A3A"/>
              </a:solidFill>
              <a:effectLst/>
              <a:latin typeface="-apple-system"/>
            </a:endParaRPr>
          </a:p>
        </p:txBody>
      </p:sp>
      <p:sp>
        <p:nvSpPr>
          <p:cNvPr id="7" name="TextBox 6">
            <a:extLst>
              <a:ext uri="{FF2B5EF4-FFF2-40B4-BE49-F238E27FC236}">
                <a16:creationId xmlns:a16="http://schemas.microsoft.com/office/drawing/2014/main" id="{7F7C267B-4ADF-4767-9ED4-EFCAD5340FF7}"/>
              </a:ext>
            </a:extLst>
          </p:cNvPr>
          <p:cNvSpPr txBox="1"/>
          <p:nvPr/>
        </p:nvSpPr>
        <p:spPr>
          <a:xfrm>
            <a:off x="157317" y="501640"/>
            <a:ext cx="6096000" cy="3416320"/>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The </a:t>
            </a:r>
            <a:r>
              <a:rPr lang="en-US" b="1" i="0" dirty="0" err="1">
                <a:solidFill>
                  <a:srgbClr val="000000"/>
                </a:solidFill>
                <a:effectLst/>
                <a:latin typeface="arial" panose="020B0604020202020204" pitchFamily="34" charset="0"/>
              </a:rPr>
              <a:t>UseDefaultFiles</a:t>
            </a:r>
            <a:r>
              <a:rPr lang="en-US" b="1" i="0" dirty="0">
                <a:solidFill>
                  <a:srgbClr val="000000"/>
                </a:solidFill>
                <a:effectLst/>
                <a:latin typeface="arial" panose="020B0604020202020204" pitchFamily="34" charset="0"/>
              </a:rPr>
              <a:t>()</a:t>
            </a:r>
            <a:r>
              <a:rPr lang="en-US" b="0" i="0" dirty="0">
                <a:solidFill>
                  <a:srgbClr val="000000"/>
                </a:solidFill>
                <a:effectLst/>
                <a:latin typeface="arial" panose="020B0604020202020204" pitchFamily="34" charset="0"/>
              </a:rPr>
              <a:t> middleware will search the </a:t>
            </a:r>
            <a:r>
              <a:rPr lang="en-US" b="1" i="0" dirty="0" err="1">
                <a:solidFill>
                  <a:srgbClr val="000000"/>
                </a:solidFill>
                <a:effectLst/>
                <a:latin typeface="arial" panose="020B0604020202020204" pitchFamily="34" charset="0"/>
              </a:rPr>
              <a:t>wwwroot</a:t>
            </a:r>
            <a:r>
              <a:rPr lang="en-US" b="0" i="0" dirty="0">
                <a:solidFill>
                  <a:srgbClr val="000000"/>
                </a:solidFill>
                <a:effectLst/>
                <a:latin typeface="arial" panose="020B0604020202020204" pitchFamily="34" charset="0"/>
              </a:rPr>
              <a:t> folder for the following files.</a:t>
            </a:r>
            <a:endParaRPr lang="en-US" b="0" i="0" dirty="0">
              <a:solidFill>
                <a:srgbClr val="212529"/>
              </a:solidFill>
              <a:effectLst/>
              <a:latin typeface="-apple-system"/>
            </a:endParaRPr>
          </a:p>
          <a:p>
            <a:pPr algn="just" fontAlgn="base">
              <a:buFont typeface="+mj-lt"/>
              <a:buAutoNum type="arabicPeriod"/>
            </a:pPr>
            <a:r>
              <a:rPr lang="en-US" b="1" i="0" dirty="0">
                <a:solidFill>
                  <a:srgbClr val="0000FF"/>
                </a:solidFill>
                <a:effectLst/>
                <a:latin typeface="arial" panose="020B0604020202020204" pitchFamily="34" charset="0"/>
              </a:rPr>
              <a:t>index.htm</a:t>
            </a:r>
            <a:endParaRPr lang="en-US" b="0" i="0" dirty="0">
              <a:solidFill>
                <a:srgbClr val="212529"/>
              </a:solidFill>
              <a:effectLst/>
              <a:latin typeface="-apple-system"/>
            </a:endParaRPr>
          </a:p>
          <a:p>
            <a:pPr algn="just" fontAlgn="base">
              <a:buFont typeface="+mj-lt"/>
              <a:buAutoNum type="arabicPeriod"/>
            </a:pPr>
            <a:r>
              <a:rPr lang="en-US" b="1" i="0" dirty="0">
                <a:solidFill>
                  <a:srgbClr val="0000FF"/>
                </a:solidFill>
                <a:effectLst/>
                <a:latin typeface="arial" panose="020B0604020202020204" pitchFamily="34" charset="0"/>
              </a:rPr>
              <a:t>index.html</a:t>
            </a:r>
            <a:endParaRPr lang="en-US" b="0" i="0" dirty="0">
              <a:solidFill>
                <a:srgbClr val="212529"/>
              </a:solidFill>
              <a:effectLst/>
              <a:latin typeface="-apple-system"/>
            </a:endParaRPr>
          </a:p>
          <a:p>
            <a:pPr algn="just" fontAlgn="base">
              <a:buFont typeface="+mj-lt"/>
              <a:buAutoNum type="arabicPeriod"/>
            </a:pPr>
            <a:r>
              <a:rPr lang="en-US" b="1" i="0" dirty="0">
                <a:solidFill>
                  <a:srgbClr val="0000FF"/>
                </a:solidFill>
                <a:effectLst/>
                <a:latin typeface="arial" panose="020B0604020202020204" pitchFamily="34" charset="0"/>
              </a:rPr>
              <a:t>default.htm</a:t>
            </a:r>
            <a:endParaRPr lang="en-US" b="0" i="0" dirty="0">
              <a:solidFill>
                <a:srgbClr val="212529"/>
              </a:solidFill>
              <a:effectLst/>
              <a:latin typeface="-apple-system"/>
            </a:endParaRPr>
          </a:p>
          <a:p>
            <a:pPr algn="just" fontAlgn="base">
              <a:buFont typeface="+mj-lt"/>
              <a:buAutoNum type="arabicPeriod"/>
            </a:pPr>
            <a:r>
              <a:rPr lang="en-US" b="1" i="0" dirty="0">
                <a:solidFill>
                  <a:srgbClr val="0000FF"/>
                </a:solidFill>
                <a:effectLst/>
                <a:latin typeface="arial" panose="020B0604020202020204" pitchFamily="34" charset="0"/>
              </a:rPr>
              <a:t>default.html </a:t>
            </a: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This is the default behavior. But if you want then you can also change this default behavior. For Example, let us add another HTML page into the project </a:t>
            </a:r>
            <a:r>
              <a:rPr lang="en-US" b="0" i="0" dirty="0" err="1">
                <a:solidFill>
                  <a:srgbClr val="000000"/>
                </a:solidFill>
                <a:effectLst/>
                <a:latin typeface="arial" panose="020B0604020202020204" pitchFamily="34" charset="0"/>
              </a:rPr>
              <a:t>wwwroot</a:t>
            </a:r>
            <a:r>
              <a:rPr lang="en-US" b="0" i="0" dirty="0">
                <a:solidFill>
                  <a:srgbClr val="000000"/>
                </a:solidFill>
                <a:effectLst/>
                <a:latin typeface="arial" panose="020B0604020202020204" pitchFamily="34" charset="0"/>
              </a:rPr>
              <a:t> folder with the name MyCustomPage1.html. Once you add the MyCustomPage1.html file then the </a:t>
            </a:r>
            <a:r>
              <a:rPr lang="en-US" b="0" i="0" dirty="0" err="1">
                <a:solidFill>
                  <a:srgbClr val="000000"/>
                </a:solidFill>
                <a:effectLst/>
                <a:latin typeface="arial" panose="020B0604020202020204" pitchFamily="34" charset="0"/>
              </a:rPr>
              <a:t>wwwroot</a:t>
            </a:r>
            <a:r>
              <a:rPr lang="en-US" b="0" i="0" dirty="0">
                <a:solidFill>
                  <a:srgbClr val="000000"/>
                </a:solidFill>
                <a:effectLst/>
                <a:latin typeface="arial" panose="020B0604020202020204" pitchFamily="34" charset="0"/>
              </a:rPr>
              <a:t> folder contains two HTML files as shown in the below image.</a:t>
            </a:r>
            <a:endParaRPr lang="en-US" b="0" i="0" dirty="0">
              <a:solidFill>
                <a:srgbClr val="212529"/>
              </a:solidFill>
              <a:effectLst/>
              <a:latin typeface="-apple-system"/>
            </a:endParaRPr>
          </a:p>
        </p:txBody>
      </p:sp>
      <p:pic>
        <p:nvPicPr>
          <p:cNvPr id="5122" name="Picture 2" descr="How to set Custom HTML Page as the Default Page?">
            <a:extLst>
              <a:ext uri="{FF2B5EF4-FFF2-40B4-BE49-F238E27FC236}">
                <a16:creationId xmlns:a16="http://schemas.microsoft.com/office/drawing/2014/main" id="{DDE2CBAF-8ADB-4B20-BFA5-4FDA3AF7B0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8689" y="795338"/>
            <a:ext cx="4019550" cy="282892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52596DC1-DC2C-48D5-998F-00199C932501}"/>
              </a:ext>
            </a:extLst>
          </p:cNvPr>
          <p:cNvSpPr txBox="1"/>
          <p:nvPr/>
        </p:nvSpPr>
        <p:spPr>
          <a:xfrm>
            <a:off x="157317" y="4052190"/>
            <a:ext cx="10481186" cy="369332"/>
          </a:xfrm>
          <a:prstGeom prst="rect">
            <a:avLst/>
          </a:prstGeom>
          <a:noFill/>
        </p:spPr>
        <p:txBody>
          <a:bodyPr wrap="square">
            <a:spAutoFit/>
          </a:bodyPr>
          <a:lstStyle/>
          <a:p>
            <a:r>
              <a:rPr lang="en-US" b="0" i="0" dirty="0">
                <a:solidFill>
                  <a:srgbClr val="000000"/>
                </a:solidFill>
                <a:effectLst/>
                <a:latin typeface="arial" panose="020B0604020202020204" pitchFamily="34" charset="0"/>
              </a:rPr>
              <a:t>Now, open the MyCustomPage1.html file and then copy and paste the following code in it.</a:t>
            </a:r>
            <a:endParaRPr lang="en-IN" dirty="0"/>
          </a:p>
        </p:txBody>
      </p:sp>
      <p:sp>
        <p:nvSpPr>
          <p:cNvPr id="12" name="TextBox 11">
            <a:extLst>
              <a:ext uri="{FF2B5EF4-FFF2-40B4-BE49-F238E27FC236}">
                <a16:creationId xmlns:a16="http://schemas.microsoft.com/office/drawing/2014/main" id="{461E4DDE-76BA-4085-BE47-25C95CF33CE1}"/>
              </a:ext>
            </a:extLst>
          </p:cNvPr>
          <p:cNvSpPr txBox="1"/>
          <p:nvPr/>
        </p:nvSpPr>
        <p:spPr>
          <a:xfrm>
            <a:off x="157317" y="3995678"/>
            <a:ext cx="6096000" cy="2308324"/>
          </a:xfrm>
          <a:prstGeom prst="rect">
            <a:avLst/>
          </a:prstGeom>
          <a:noFill/>
        </p:spPr>
        <p:txBody>
          <a:bodyPr wrap="square">
            <a:spAutoFit/>
          </a:bodyPr>
          <a:lstStyle/>
          <a:p>
            <a:pPr algn="l" fontAlgn="base"/>
            <a:r>
              <a:rPr lang="en-US" b="0" i="0" dirty="0">
                <a:solidFill>
                  <a:srgbClr val="FFFFFF"/>
                </a:solidFill>
                <a:effectLst/>
                <a:latin typeface="inherit"/>
              </a:rPr>
              <a:t>&lt;!DOCTYPE html&gt;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html</a:t>
            </a:r>
            <a:r>
              <a:rPr lang="en-US" b="1" i="0" dirty="0">
                <a:solidFill>
                  <a:srgbClr val="6B7C8B"/>
                </a:solidFill>
                <a:effectLst/>
                <a:latin typeface="inherit"/>
              </a:rPr>
              <a:t>&gt;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head</a:t>
            </a:r>
            <a:r>
              <a:rPr lang="en-US" b="1" i="0" dirty="0">
                <a:solidFill>
                  <a:srgbClr val="6B7C8B"/>
                </a:solidFill>
                <a:effectLst/>
                <a:latin typeface="inherit"/>
              </a:rPr>
              <a:t>&gt;&lt;</a:t>
            </a:r>
            <a:r>
              <a:rPr lang="en-US" b="1" i="0" dirty="0">
                <a:solidFill>
                  <a:srgbClr val="D171DD"/>
                </a:solidFill>
                <a:effectLst/>
                <a:latin typeface="inherit"/>
              </a:rPr>
              <a:t>meta</a:t>
            </a:r>
            <a:r>
              <a:rPr lang="en-US" b="0" i="0" dirty="0">
                <a:solidFill>
                  <a:srgbClr val="CFD5E0"/>
                </a:solidFill>
                <a:effectLst/>
                <a:latin typeface="inherit"/>
              </a:rPr>
              <a:t> </a:t>
            </a:r>
            <a:r>
              <a:rPr lang="en-US" b="0" i="0" dirty="0">
                <a:solidFill>
                  <a:srgbClr val="D19252"/>
                </a:solidFill>
                <a:effectLst/>
                <a:latin typeface="inherit"/>
              </a:rPr>
              <a:t>charset</a:t>
            </a:r>
            <a:r>
              <a:rPr lang="en-US" b="0" i="0" dirty="0">
                <a:solidFill>
                  <a:srgbClr val="4284AE"/>
                </a:solidFill>
                <a:effectLst/>
                <a:latin typeface="inherit"/>
              </a:rPr>
              <a:t>=</a:t>
            </a:r>
            <a:r>
              <a:rPr lang="en-US" b="0" i="0" dirty="0">
                <a:solidFill>
                  <a:srgbClr val="7CC379"/>
                </a:solidFill>
                <a:effectLst/>
                <a:latin typeface="inherit"/>
              </a:rPr>
              <a:t>"utf-8"</a:t>
            </a:r>
            <a:r>
              <a:rPr lang="en-US" b="0" i="0" dirty="0">
                <a:solidFill>
                  <a:srgbClr val="CFD5E0"/>
                </a:solidFill>
                <a:effectLst/>
                <a:latin typeface="inherit"/>
              </a:rPr>
              <a:t> </a:t>
            </a:r>
            <a:r>
              <a:rPr lang="en-US" b="1" i="0" dirty="0">
                <a:solidFill>
                  <a:srgbClr val="6B7C8B"/>
                </a:solidFill>
                <a:effectLst/>
                <a:latin typeface="inherit"/>
              </a:rPr>
              <a:t>/&gt;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title</a:t>
            </a:r>
            <a:r>
              <a:rPr lang="en-US" b="1" i="0" dirty="0">
                <a:solidFill>
                  <a:srgbClr val="6B7C8B"/>
                </a:solidFill>
                <a:effectLst/>
                <a:latin typeface="inherit"/>
              </a:rPr>
              <a:t>&gt;&lt;/</a:t>
            </a:r>
            <a:r>
              <a:rPr lang="en-US" b="1" i="0" dirty="0">
                <a:solidFill>
                  <a:srgbClr val="D171DD"/>
                </a:solidFill>
                <a:effectLst/>
                <a:latin typeface="inherit"/>
              </a:rPr>
              <a:t>title</a:t>
            </a:r>
            <a:r>
              <a:rPr lang="en-US" b="1" i="0" dirty="0">
                <a:solidFill>
                  <a:srgbClr val="6B7C8B"/>
                </a:solidFill>
                <a:effectLst/>
                <a:latin typeface="inherit"/>
              </a:rPr>
              <a:t>&gt;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head</a:t>
            </a:r>
            <a:r>
              <a:rPr lang="en-US" b="1" i="0" dirty="0">
                <a:solidFill>
                  <a:srgbClr val="6B7C8B"/>
                </a:solidFill>
                <a:effectLst/>
                <a:latin typeface="inherit"/>
              </a:rPr>
              <a:t>&gt;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body</a:t>
            </a:r>
            <a:r>
              <a:rPr lang="en-US" b="1" i="0" dirty="0">
                <a:solidFill>
                  <a:srgbClr val="6B7C8B"/>
                </a:solidFill>
                <a:effectLst/>
                <a:latin typeface="inherit"/>
              </a:rPr>
              <a:t>&gt;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h1</a:t>
            </a:r>
            <a:r>
              <a:rPr lang="en-US" b="1" i="0" dirty="0">
                <a:solidFill>
                  <a:srgbClr val="6B7C8B"/>
                </a:solidFill>
                <a:effectLst/>
                <a:latin typeface="inherit"/>
              </a:rPr>
              <a:t>&gt;</a:t>
            </a:r>
            <a:r>
              <a:rPr lang="en-US" b="0" i="0" dirty="0">
                <a:solidFill>
                  <a:srgbClr val="CFD5E0"/>
                </a:solidFill>
                <a:effectLst/>
                <a:latin typeface="inherit"/>
              </a:rPr>
              <a:t> This is MyCustomPage1 HTML File</a:t>
            </a:r>
            <a:r>
              <a:rPr lang="en-US" b="1" i="0" dirty="0">
                <a:solidFill>
                  <a:srgbClr val="6B7C8B"/>
                </a:solidFill>
                <a:effectLst/>
                <a:latin typeface="inherit"/>
              </a:rPr>
              <a:t>&lt;/</a:t>
            </a:r>
            <a:r>
              <a:rPr lang="en-US" b="1" i="0" dirty="0">
                <a:solidFill>
                  <a:srgbClr val="D171DD"/>
                </a:solidFill>
                <a:effectLst/>
                <a:latin typeface="inherit"/>
              </a:rPr>
              <a:t>h1</a:t>
            </a:r>
            <a:r>
              <a:rPr lang="en-US" b="1" i="0" dirty="0">
                <a:solidFill>
                  <a:srgbClr val="6B7C8B"/>
                </a:solidFill>
                <a:effectLst/>
                <a:latin typeface="inherit"/>
              </a:rPr>
              <a:t>&gt;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body</a:t>
            </a:r>
            <a:r>
              <a:rPr lang="en-US" b="1" i="0" dirty="0">
                <a:solidFill>
                  <a:srgbClr val="6B7C8B"/>
                </a:solidFill>
                <a:effectLst/>
                <a:latin typeface="inherit"/>
              </a:rPr>
              <a:t>&gt;&lt;/</a:t>
            </a:r>
            <a:r>
              <a:rPr lang="en-US" b="1" i="0" dirty="0">
                <a:solidFill>
                  <a:srgbClr val="D171DD"/>
                </a:solidFill>
                <a:effectLst/>
                <a:latin typeface="inherit"/>
              </a:rPr>
              <a:t>html</a:t>
            </a:r>
            <a:r>
              <a:rPr lang="en-US" b="1" i="0" dirty="0">
                <a:solidFill>
                  <a:srgbClr val="6B7C8B"/>
                </a:solidFill>
                <a:effectLst/>
                <a:latin typeface="inherit"/>
              </a:rPr>
              <a:t>&gt;</a:t>
            </a:r>
            <a:endParaRPr lang="en-US" b="0" i="0" dirty="0">
              <a:solidFill>
                <a:srgbClr val="596174"/>
              </a:solidFill>
              <a:effectLst/>
              <a:latin typeface="Inconsolata" pitchFamily="1" charset="0"/>
            </a:endParaRPr>
          </a:p>
        </p:txBody>
      </p:sp>
    </p:spTree>
    <p:extLst>
      <p:ext uri="{BB962C8B-B14F-4D97-AF65-F5344CB8AC3E}">
        <p14:creationId xmlns:p14="http://schemas.microsoft.com/office/powerpoint/2010/main" val="3309892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CD2547-1449-4F16-8F9E-D701C83CF50C}"/>
              </a:ext>
            </a:extLst>
          </p:cNvPr>
          <p:cNvSpPr txBox="1"/>
          <p:nvPr/>
        </p:nvSpPr>
        <p:spPr>
          <a:xfrm>
            <a:off x="344130" y="-72614"/>
            <a:ext cx="11759380" cy="2031325"/>
          </a:xfrm>
          <a:prstGeom prst="rect">
            <a:avLst/>
          </a:prstGeom>
          <a:noFill/>
        </p:spPr>
        <p:txBody>
          <a:bodyPr wrap="square">
            <a:spAutoFit/>
          </a:bodyPr>
          <a:lstStyle/>
          <a:p>
            <a:pPr algn="ctr" fontAlgn="base"/>
            <a:r>
              <a:rPr lang="en-US" b="1" i="0" dirty="0">
                <a:solidFill>
                  <a:srgbClr val="000000"/>
                </a:solidFill>
                <a:effectLst/>
                <a:latin typeface="arial" panose="020B0604020202020204" pitchFamily="34" charset="0"/>
              </a:rPr>
              <a:t>Setting MyCustomPage1.html as Default Page:</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Now, we want the MyCustomPage1.html page to be our default page instead of the index.html page. </a:t>
            </a:r>
          </a:p>
          <a:p>
            <a:pPr algn="just" fontAlgn="base"/>
            <a:endParaRPr lang="en-US" dirty="0">
              <a:solidFill>
                <a:srgbClr val="000000"/>
              </a:solidFill>
              <a:latin typeface="arial" panose="020B0604020202020204" pitchFamily="34" charset="0"/>
            </a:endParaRPr>
          </a:p>
          <a:p>
            <a:pPr algn="just" fontAlgn="base"/>
            <a:r>
              <a:rPr lang="en-US" b="0" i="0" dirty="0">
                <a:solidFill>
                  <a:srgbClr val="000000"/>
                </a:solidFill>
                <a:effectLst/>
                <a:latin typeface="arial" panose="020B0604020202020204" pitchFamily="34" charset="0"/>
              </a:rPr>
              <a:t>To do, you need to modify the Configure() method of the Startup class as follows. </a:t>
            </a:r>
          </a:p>
          <a:p>
            <a:pPr algn="just" fontAlgn="base"/>
            <a:endParaRPr lang="en-US" dirty="0">
              <a:solidFill>
                <a:srgbClr val="000000"/>
              </a:solidFill>
              <a:latin typeface="arial" panose="020B0604020202020204" pitchFamily="34" charset="0"/>
            </a:endParaRPr>
          </a:p>
          <a:p>
            <a:pPr algn="just" fontAlgn="base"/>
            <a:r>
              <a:rPr lang="en-US" b="0" i="0" dirty="0">
                <a:solidFill>
                  <a:srgbClr val="000000"/>
                </a:solidFill>
                <a:effectLst/>
                <a:latin typeface="arial" panose="020B0604020202020204" pitchFamily="34" charset="0"/>
              </a:rPr>
              <a:t>Here, we are creating an instance of </a:t>
            </a:r>
            <a:r>
              <a:rPr lang="en-US" b="0" i="0" dirty="0" err="1">
                <a:solidFill>
                  <a:srgbClr val="000000"/>
                </a:solidFill>
                <a:effectLst/>
                <a:latin typeface="arial" panose="020B0604020202020204" pitchFamily="34" charset="0"/>
              </a:rPr>
              <a:t>DefaultFilesOptions</a:t>
            </a:r>
            <a:r>
              <a:rPr lang="en-US" b="0" i="0" dirty="0">
                <a:solidFill>
                  <a:srgbClr val="000000"/>
                </a:solidFill>
                <a:effectLst/>
                <a:latin typeface="arial" panose="020B0604020202020204" pitchFamily="34" charset="0"/>
              </a:rPr>
              <a:t> class and adding the default file name as MyCustomPage1.html and then passing this object to the </a:t>
            </a:r>
            <a:r>
              <a:rPr lang="en-US" b="0" i="0" dirty="0" err="1">
                <a:solidFill>
                  <a:srgbClr val="000000"/>
                </a:solidFill>
                <a:effectLst/>
                <a:latin typeface="arial" panose="020B0604020202020204" pitchFamily="34" charset="0"/>
              </a:rPr>
              <a:t>UseDefaultFiles</a:t>
            </a:r>
            <a:r>
              <a:rPr lang="en-US" b="0" i="0" dirty="0">
                <a:solidFill>
                  <a:srgbClr val="000000"/>
                </a:solidFill>
                <a:effectLst/>
                <a:latin typeface="arial" panose="020B0604020202020204" pitchFamily="34" charset="0"/>
              </a:rPr>
              <a:t> middleware.</a:t>
            </a:r>
            <a:endParaRPr lang="en-US" b="0" i="0" dirty="0">
              <a:solidFill>
                <a:srgbClr val="212529"/>
              </a:solidFill>
              <a:effectLst/>
              <a:latin typeface="-apple-system"/>
            </a:endParaRPr>
          </a:p>
        </p:txBody>
      </p:sp>
      <p:sp>
        <p:nvSpPr>
          <p:cNvPr id="7" name="TextBox 6">
            <a:extLst>
              <a:ext uri="{FF2B5EF4-FFF2-40B4-BE49-F238E27FC236}">
                <a16:creationId xmlns:a16="http://schemas.microsoft.com/office/drawing/2014/main" id="{CCF3DAF5-CB01-495F-B273-09653E0C5523}"/>
              </a:ext>
            </a:extLst>
          </p:cNvPr>
          <p:cNvSpPr txBox="1"/>
          <p:nvPr/>
        </p:nvSpPr>
        <p:spPr>
          <a:xfrm>
            <a:off x="344129" y="1806135"/>
            <a:ext cx="9743767" cy="3693319"/>
          </a:xfrm>
          <a:prstGeom prst="rect">
            <a:avLst/>
          </a:prstGeom>
          <a:solidFill>
            <a:schemeClr val="tx1"/>
          </a:solidFill>
        </p:spPr>
        <p:txBody>
          <a:bodyPr wrap="square">
            <a:spAutoFit/>
          </a:bodyPr>
          <a:lstStyle/>
          <a:p>
            <a:pPr algn="l" fontAlgn="base"/>
            <a:r>
              <a:rPr lang="en-IN" b="0" i="0" dirty="0">
                <a:solidFill>
                  <a:srgbClr val="6B7C8B"/>
                </a:solidFill>
                <a:effectLst/>
                <a:latin typeface="inherit"/>
              </a:rPr>
              <a:t>//Specify the MyCustomPage1.html as the default page</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DefaultFilesOptions</a:t>
            </a:r>
            <a:r>
              <a:rPr lang="en-IN" b="0" i="0" dirty="0">
                <a:solidFill>
                  <a:srgbClr val="CFD5E0"/>
                </a:solidFill>
                <a:effectLst/>
                <a:latin typeface="inherit"/>
              </a:rPr>
              <a:t> </a:t>
            </a:r>
            <a:r>
              <a:rPr lang="en-IN" b="0" i="0" dirty="0" err="1">
                <a:solidFill>
                  <a:srgbClr val="CFD5E0"/>
                </a:solidFill>
                <a:effectLst/>
                <a:latin typeface="inherit"/>
              </a:rPr>
              <a:t>defaultFilesOptions</a:t>
            </a:r>
            <a:r>
              <a:rPr lang="en-IN" b="0" i="0" dirty="0">
                <a:solidFill>
                  <a:srgbClr val="CFD5E0"/>
                </a:solidFill>
                <a:effectLst/>
                <a:latin typeface="inherit"/>
              </a:rPr>
              <a:t> = </a:t>
            </a:r>
            <a:r>
              <a:rPr lang="en-IN" b="0" i="0" dirty="0">
                <a:solidFill>
                  <a:srgbClr val="4284AE"/>
                </a:solidFill>
                <a:effectLst/>
                <a:latin typeface="inherit"/>
              </a:rPr>
              <a:t>new</a:t>
            </a:r>
            <a:r>
              <a:rPr lang="en-IN" b="0" i="0" dirty="0">
                <a:solidFill>
                  <a:srgbClr val="CFD5E0"/>
                </a:solidFill>
                <a:effectLst/>
                <a:latin typeface="inherit"/>
              </a:rPr>
              <a:t> </a:t>
            </a:r>
            <a:r>
              <a:rPr lang="en-IN" b="0" i="0" dirty="0" err="1">
                <a:solidFill>
                  <a:srgbClr val="4284AE"/>
                </a:solidFill>
                <a:effectLst/>
                <a:latin typeface="inherit"/>
              </a:rPr>
              <a:t>DefaultFilesOptions</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defaultFilesOptions.</a:t>
            </a:r>
            <a:r>
              <a:rPr lang="en-IN" b="0" i="0" dirty="0" err="1">
                <a:solidFill>
                  <a:srgbClr val="4284AE"/>
                </a:solidFill>
                <a:effectLst/>
                <a:latin typeface="inherit"/>
              </a:rPr>
              <a:t>DefaultFileNames</a:t>
            </a:r>
            <a:r>
              <a:rPr lang="en-IN" b="0" i="0" dirty="0" err="1">
                <a:solidFill>
                  <a:srgbClr val="CFD5E0"/>
                </a:solidFill>
                <a:effectLst/>
                <a:latin typeface="inherit"/>
              </a:rPr>
              <a:t>.</a:t>
            </a:r>
            <a:r>
              <a:rPr lang="en-IN" b="0" i="0" dirty="0" err="1">
                <a:solidFill>
                  <a:srgbClr val="4284AE"/>
                </a:solidFill>
                <a:effectLst/>
                <a:latin typeface="inherit"/>
              </a:rPr>
              <a:t>Clear</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defaultFilesOptions.</a:t>
            </a:r>
            <a:r>
              <a:rPr lang="en-IN" b="0" i="0" dirty="0" err="1">
                <a:solidFill>
                  <a:srgbClr val="4284AE"/>
                </a:solidFill>
                <a:effectLst/>
                <a:latin typeface="inherit"/>
              </a:rPr>
              <a:t>DefaultFileNames</a:t>
            </a:r>
            <a:r>
              <a:rPr lang="en-IN" b="0" i="0" dirty="0" err="1">
                <a:solidFill>
                  <a:srgbClr val="CFD5E0"/>
                </a:solidFill>
                <a:effectLst/>
                <a:latin typeface="inherit"/>
              </a:rPr>
              <a:t>.</a:t>
            </a:r>
            <a:r>
              <a:rPr lang="en-IN" b="0" i="0" dirty="0" err="1">
                <a:solidFill>
                  <a:srgbClr val="4284AE"/>
                </a:solidFill>
                <a:effectLst/>
                <a:latin typeface="inherit"/>
              </a:rPr>
              <a:t>Add</a:t>
            </a:r>
            <a:r>
              <a:rPr lang="en-IN" b="1" i="0" dirty="0">
                <a:solidFill>
                  <a:srgbClr val="6B7C8B"/>
                </a:solidFill>
                <a:effectLst/>
                <a:latin typeface="inherit"/>
              </a:rPr>
              <a:t>(</a:t>
            </a:r>
            <a:r>
              <a:rPr lang="en-IN" b="0" i="0" dirty="0">
                <a:solidFill>
                  <a:srgbClr val="7CC379"/>
                </a:solidFill>
                <a:effectLst/>
                <a:latin typeface="inherit"/>
              </a:rPr>
              <a:t>"MyCustomPage1.html"</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6B7C8B"/>
                </a:solidFill>
                <a:effectLst/>
                <a:latin typeface="inherit"/>
              </a:rPr>
              <a:t>//Setting the Default Files</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UseDefaultFiles</a:t>
            </a:r>
            <a:r>
              <a:rPr lang="en-IN" b="1" i="0" dirty="0">
                <a:solidFill>
                  <a:srgbClr val="6B7C8B"/>
                </a:solidFill>
                <a:effectLst/>
                <a:latin typeface="inherit"/>
              </a:rPr>
              <a:t>(</a:t>
            </a:r>
            <a:r>
              <a:rPr lang="en-IN" b="0" i="0" dirty="0" err="1">
                <a:solidFill>
                  <a:srgbClr val="CFD5E0"/>
                </a:solidFill>
                <a:effectLst/>
                <a:latin typeface="inherit"/>
              </a:rPr>
              <a:t>defaultFilesOptions</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6B7C8B"/>
                </a:solidFill>
                <a:effectLst/>
                <a:latin typeface="inherit"/>
              </a:rPr>
              <a:t>//Adding Static Files Middleware to serve the static files</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UseStaticFiles</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Run</a:t>
            </a:r>
            <a:r>
              <a:rPr lang="en-IN" b="1" i="0" dirty="0">
                <a:solidFill>
                  <a:srgbClr val="6B7C8B"/>
                </a:solidFill>
                <a:effectLst/>
                <a:latin typeface="inherit"/>
              </a:rPr>
              <a:t>(</a:t>
            </a:r>
            <a:r>
              <a:rPr lang="en-IN" b="1" i="0" dirty="0">
                <a:solidFill>
                  <a:srgbClr val="D171DD"/>
                </a:solidFill>
                <a:effectLst/>
                <a:latin typeface="inherit"/>
              </a:rPr>
              <a:t>async</a:t>
            </a:r>
            <a:r>
              <a:rPr lang="en-IN" b="0" i="0" dirty="0">
                <a:solidFill>
                  <a:srgbClr val="CFD5E0"/>
                </a:solidFill>
                <a:effectLst/>
                <a:latin typeface="inherit"/>
              </a:rPr>
              <a:t> </a:t>
            </a:r>
            <a:r>
              <a:rPr lang="en-IN" b="1" i="0" dirty="0">
                <a:solidFill>
                  <a:srgbClr val="6B7C8B"/>
                </a:solidFill>
                <a:effectLst/>
                <a:latin typeface="inherit"/>
              </a:rPr>
              <a:t>(</a:t>
            </a:r>
            <a:r>
              <a:rPr lang="en-IN" b="0" i="0" dirty="0">
                <a:solidFill>
                  <a:srgbClr val="CFD5E0"/>
                </a:solidFill>
                <a:effectLst/>
                <a:latin typeface="inherit"/>
              </a:rPr>
              <a:t>context</a:t>
            </a:r>
            <a:r>
              <a:rPr lang="en-IN" b="1" i="0" dirty="0">
                <a:solidFill>
                  <a:srgbClr val="6B7C8B"/>
                </a:solidFill>
                <a:effectLst/>
                <a:latin typeface="inherit"/>
              </a:rPr>
              <a:t>)</a:t>
            </a:r>
            <a:r>
              <a:rPr lang="en-IN" b="0" i="0" dirty="0">
                <a:solidFill>
                  <a:srgbClr val="CFD5E0"/>
                </a:solidFill>
                <a:effectLst/>
                <a:latin typeface="inherit"/>
              </a:rPr>
              <a:t> =</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await</a:t>
            </a:r>
            <a:r>
              <a:rPr lang="en-IN" b="0" i="0" dirty="0">
                <a:solidFill>
                  <a:srgbClr val="CFD5E0"/>
                </a:solidFill>
                <a:effectLst/>
                <a:latin typeface="inherit"/>
              </a:rPr>
              <a:t> </a:t>
            </a:r>
            <a:r>
              <a:rPr lang="en-IN" b="0" i="0" dirty="0" err="1">
                <a:solidFill>
                  <a:srgbClr val="CFD5E0"/>
                </a:solidFill>
                <a:effectLst/>
                <a:latin typeface="inherit"/>
              </a:rPr>
              <a:t>context.</a:t>
            </a:r>
            <a:r>
              <a:rPr lang="en-IN" b="0" i="0" dirty="0" err="1">
                <a:solidFill>
                  <a:srgbClr val="4284AE"/>
                </a:solidFill>
                <a:effectLst/>
                <a:latin typeface="inherit"/>
              </a:rPr>
              <a:t>Response</a:t>
            </a:r>
            <a:r>
              <a:rPr lang="en-IN" b="0" i="0" dirty="0" err="1">
                <a:solidFill>
                  <a:srgbClr val="CFD5E0"/>
                </a:solidFill>
                <a:effectLst/>
                <a:latin typeface="inherit"/>
              </a:rPr>
              <a:t>.</a:t>
            </a:r>
            <a:r>
              <a:rPr lang="en-IN" b="0" i="0" dirty="0" err="1">
                <a:solidFill>
                  <a:srgbClr val="4284AE"/>
                </a:solidFill>
                <a:effectLst/>
                <a:latin typeface="inherit"/>
              </a:rPr>
              <a:t>WriteAsync</a:t>
            </a:r>
            <a:r>
              <a:rPr lang="en-IN" b="1" i="0" dirty="0">
                <a:solidFill>
                  <a:srgbClr val="6B7C8B"/>
                </a:solidFill>
                <a:effectLst/>
                <a:latin typeface="inherit"/>
              </a:rPr>
              <a:t>(</a:t>
            </a:r>
            <a:r>
              <a:rPr lang="en-IN" b="0" i="0" dirty="0">
                <a:solidFill>
                  <a:srgbClr val="7CC379"/>
                </a:solidFill>
                <a:effectLst/>
                <a:latin typeface="inherit"/>
              </a:rPr>
              <a:t>"Request handled by the terminating middleware"</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p:txBody>
      </p:sp>
    </p:spTree>
    <p:extLst>
      <p:ext uri="{BB962C8B-B14F-4D97-AF65-F5344CB8AC3E}">
        <p14:creationId xmlns:p14="http://schemas.microsoft.com/office/powerpoint/2010/main" val="183794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CBC3C54-ADAF-4A60-9335-58DC9B06B816}"/>
              </a:ext>
            </a:extLst>
          </p:cNvPr>
          <p:cNvSpPr txBox="1"/>
          <p:nvPr/>
        </p:nvSpPr>
        <p:spPr>
          <a:xfrm>
            <a:off x="117986" y="0"/>
            <a:ext cx="11916697" cy="1477328"/>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Now run the application and you will see the output as expected that is coming from the MyCustomPage1.html file as shown below. If you still see the output from the index.html page then it may be due to cache so just try to reload the page. If still, you are not getting the data from the MyCustomPage1.html file then just restart the visual studio.</a:t>
            </a:r>
            <a:endParaRPr lang="en-US" b="0" i="0" dirty="0">
              <a:solidFill>
                <a:srgbClr val="212529"/>
              </a:solidFill>
              <a:effectLst/>
              <a:latin typeface="-apple-system"/>
            </a:endParaRPr>
          </a:p>
          <a:p>
            <a:br>
              <a:rPr lang="en-US" dirty="0"/>
            </a:br>
            <a:endParaRPr lang="en-IN" dirty="0"/>
          </a:p>
        </p:txBody>
      </p:sp>
      <p:pic>
        <p:nvPicPr>
          <p:cNvPr id="6146" name="Picture 2" descr="What is the use of the UseFileServer() Middleware component?">
            <a:extLst>
              <a:ext uri="{FF2B5EF4-FFF2-40B4-BE49-F238E27FC236}">
                <a16:creationId xmlns:a16="http://schemas.microsoft.com/office/drawing/2014/main" id="{976D14DC-9A3F-4060-9E9F-78FE20F0C3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616" y="1290515"/>
            <a:ext cx="6324600" cy="174307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3BC3892-7A03-4B88-A9CC-7F0731EA4125}"/>
              </a:ext>
            </a:extLst>
          </p:cNvPr>
          <p:cNvSpPr txBox="1"/>
          <p:nvPr/>
        </p:nvSpPr>
        <p:spPr>
          <a:xfrm>
            <a:off x="983225" y="3385093"/>
            <a:ext cx="9576619"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What is the use of the </a:t>
            </a:r>
            <a:r>
              <a:rPr lang="en-US" b="1" i="0" dirty="0" err="1">
                <a:solidFill>
                  <a:srgbClr val="000000"/>
                </a:solidFill>
                <a:effectLst/>
                <a:latin typeface="arial" panose="020B0604020202020204" pitchFamily="34" charset="0"/>
              </a:rPr>
              <a:t>UseFileServer</a:t>
            </a:r>
            <a:r>
              <a:rPr lang="en-US" b="1" i="0" dirty="0">
                <a:solidFill>
                  <a:srgbClr val="000000"/>
                </a:solidFill>
                <a:effectLst/>
                <a:latin typeface="arial" panose="020B0604020202020204" pitchFamily="34" charset="0"/>
              </a:rPr>
              <a:t>() Middleware component?</a:t>
            </a:r>
            <a:endParaRPr lang="en-US" b="0" i="0" dirty="0">
              <a:solidFill>
                <a:srgbClr val="3A3A3A"/>
              </a:solidFill>
              <a:effectLst/>
              <a:latin typeface="-apple-system"/>
            </a:endParaRPr>
          </a:p>
        </p:txBody>
      </p:sp>
      <p:sp>
        <p:nvSpPr>
          <p:cNvPr id="10" name="TextBox 9">
            <a:extLst>
              <a:ext uri="{FF2B5EF4-FFF2-40B4-BE49-F238E27FC236}">
                <a16:creationId xmlns:a16="http://schemas.microsoft.com/office/drawing/2014/main" id="{2C99352A-4E25-4CE1-939A-E6CA1E771026}"/>
              </a:ext>
            </a:extLst>
          </p:cNvPr>
          <p:cNvSpPr txBox="1"/>
          <p:nvPr/>
        </p:nvSpPr>
        <p:spPr>
          <a:xfrm>
            <a:off x="255638" y="3990816"/>
            <a:ext cx="11464413" cy="2862322"/>
          </a:xfrm>
          <a:prstGeom prst="rect">
            <a:avLst/>
          </a:prstGeom>
          <a:noFill/>
        </p:spPr>
        <p:txBody>
          <a:bodyPr wrap="square">
            <a:spAutoFit/>
          </a:bodyPr>
          <a:lstStyle/>
          <a:p>
            <a:r>
              <a:rPr lang="en-US" b="0" i="0" dirty="0">
                <a:solidFill>
                  <a:srgbClr val="000000"/>
                </a:solidFill>
                <a:effectLst/>
                <a:latin typeface="arial" panose="020B0604020202020204" pitchFamily="34" charset="0"/>
              </a:rPr>
              <a:t>The </a:t>
            </a:r>
            <a:r>
              <a:rPr lang="en-US" b="0" i="0" dirty="0" err="1">
                <a:solidFill>
                  <a:srgbClr val="000000"/>
                </a:solidFill>
                <a:effectLst/>
                <a:latin typeface="arial" panose="020B0604020202020204" pitchFamily="34" charset="0"/>
              </a:rPr>
              <a:t>UseFileServer</a:t>
            </a:r>
            <a:r>
              <a:rPr lang="en-US" b="0" i="0" dirty="0">
                <a:solidFill>
                  <a:srgbClr val="000000"/>
                </a:solidFill>
                <a:effectLst/>
                <a:latin typeface="arial" panose="020B0604020202020204" pitchFamily="34" charset="0"/>
              </a:rPr>
              <a:t>() middleware components combines the functionality of </a:t>
            </a:r>
            <a:r>
              <a:rPr lang="en-US" b="0" i="0" dirty="0" err="1">
                <a:solidFill>
                  <a:srgbClr val="000000"/>
                </a:solidFill>
                <a:effectLst/>
                <a:latin typeface="arial" panose="020B0604020202020204" pitchFamily="34" charset="0"/>
              </a:rPr>
              <a:t>UseStaticFiles</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UseDefaultFiles</a:t>
            </a:r>
            <a:r>
              <a:rPr lang="en-US" b="0" i="0" dirty="0">
                <a:solidFill>
                  <a:srgbClr val="000000"/>
                </a:solidFill>
                <a:effectLst/>
                <a:latin typeface="arial" panose="020B0604020202020204" pitchFamily="34" charset="0"/>
              </a:rPr>
              <a:t> and </a:t>
            </a:r>
            <a:r>
              <a:rPr lang="en-US" b="0" i="0" dirty="0" err="1">
                <a:solidFill>
                  <a:srgbClr val="000000"/>
                </a:solidFill>
                <a:effectLst/>
                <a:latin typeface="arial" panose="020B0604020202020204" pitchFamily="34" charset="0"/>
              </a:rPr>
              <a:t>UseDirectoryBrowser</a:t>
            </a:r>
            <a:r>
              <a:rPr lang="en-US" b="0" i="0" dirty="0">
                <a:solidFill>
                  <a:srgbClr val="000000"/>
                </a:solidFill>
                <a:effectLst/>
                <a:latin typeface="arial" panose="020B0604020202020204" pitchFamily="34" charset="0"/>
              </a:rPr>
              <a:t> middleware. </a:t>
            </a:r>
          </a:p>
          <a:p>
            <a:endParaRPr lang="en-US" dirty="0">
              <a:solidFill>
                <a:srgbClr val="000000"/>
              </a:solidFill>
              <a:latin typeface="arial" panose="020B0604020202020204" pitchFamily="34" charset="0"/>
            </a:endParaRPr>
          </a:p>
          <a:p>
            <a:r>
              <a:rPr lang="en-US" b="0" i="0" dirty="0">
                <a:solidFill>
                  <a:srgbClr val="000000"/>
                </a:solidFill>
                <a:effectLst/>
                <a:latin typeface="arial" panose="020B0604020202020204" pitchFamily="34" charset="0"/>
              </a:rPr>
              <a:t>We already discussed the </a:t>
            </a:r>
            <a:r>
              <a:rPr lang="en-US" b="0" i="0" dirty="0" err="1">
                <a:solidFill>
                  <a:srgbClr val="000000"/>
                </a:solidFill>
                <a:effectLst/>
                <a:latin typeface="arial" panose="020B0604020202020204" pitchFamily="34" charset="0"/>
              </a:rPr>
              <a:t>UseStaticFiles</a:t>
            </a:r>
            <a:r>
              <a:rPr lang="en-US" b="0" i="0" dirty="0">
                <a:solidFill>
                  <a:srgbClr val="000000"/>
                </a:solidFill>
                <a:effectLst/>
                <a:latin typeface="arial" panose="020B0604020202020204" pitchFamily="34" charset="0"/>
              </a:rPr>
              <a:t> and </a:t>
            </a:r>
            <a:r>
              <a:rPr lang="en-US" b="0" i="0" dirty="0" err="1">
                <a:solidFill>
                  <a:srgbClr val="000000"/>
                </a:solidFill>
                <a:effectLst/>
                <a:latin typeface="arial" panose="020B0604020202020204" pitchFamily="34" charset="0"/>
              </a:rPr>
              <a:t>UseDefaultFiles</a:t>
            </a:r>
            <a:r>
              <a:rPr lang="en-US" b="0" i="0" dirty="0">
                <a:solidFill>
                  <a:srgbClr val="000000"/>
                </a:solidFill>
                <a:effectLst/>
                <a:latin typeface="arial" panose="020B0604020202020204" pitchFamily="34" charset="0"/>
              </a:rPr>
              <a:t> middleware. </a:t>
            </a:r>
          </a:p>
          <a:p>
            <a:endParaRPr lang="en-US" dirty="0">
              <a:solidFill>
                <a:srgbClr val="000000"/>
              </a:solidFill>
              <a:latin typeface="arial" panose="020B0604020202020204" pitchFamily="34" charset="0"/>
            </a:endParaRPr>
          </a:p>
          <a:p>
            <a:r>
              <a:rPr lang="en-US" b="0" i="0" dirty="0">
                <a:solidFill>
                  <a:srgbClr val="000000"/>
                </a:solidFill>
                <a:effectLst/>
                <a:latin typeface="arial" panose="020B0604020202020204" pitchFamily="34" charset="0"/>
              </a:rPr>
              <a:t>The </a:t>
            </a:r>
            <a:r>
              <a:rPr lang="en-US" b="0" i="0" dirty="0" err="1">
                <a:solidFill>
                  <a:srgbClr val="000000"/>
                </a:solidFill>
                <a:effectLst/>
                <a:latin typeface="arial" panose="020B0604020202020204" pitchFamily="34" charset="0"/>
              </a:rPr>
              <a:t>DirectoryBrowser</a:t>
            </a:r>
            <a:r>
              <a:rPr lang="en-US" b="0" i="0" dirty="0">
                <a:solidFill>
                  <a:srgbClr val="000000"/>
                </a:solidFill>
                <a:effectLst/>
                <a:latin typeface="arial" panose="020B0604020202020204" pitchFamily="34" charset="0"/>
              </a:rPr>
              <a:t> middleware as the name says enables the directory browsing which allows the users to see the files which are stored in a specific directory. </a:t>
            </a:r>
          </a:p>
          <a:p>
            <a:endParaRPr lang="en-US" dirty="0">
              <a:solidFill>
                <a:srgbClr val="000000"/>
              </a:solidFill>
              <a:latin typeface="arial" panose="020B0604020202020204" pitchFamily="34" charset="0"/>
            </a:endParaRPr>
          </a:p>
          <a:p>
            <a:r>
              <a:rPr lang="en-US" b="0" i="0" dirty="0">
                <a:solidFill>
                  <a:srgbClr val="000000"/>
                </a:solidFill>
                <a:effectLst/>
                <a:latin typeface="arial" panose="020B0604020202020204" pitchFamily="34" charset="0"/>
              </a:rPr>
              <a:t>In our example, we can replace the </a:t>
            </a:r>
            <a:r>
              <a:rPr lang="en-US" b="0" i="0" dirty="0" err="1">
                <a:solidFill>
                  <a:srgbClr val="000000"/>
                </a:solidFill>
                <a:effectLst/>
                <a:latin typeface="arial" panose="020B0604020202020204" pitchFamily="34" charset="0"/>
              </a:rPr>
              <a:t>UseStaticFiles</a:t>
            </a:r>
            <a:r>
              <a:rPr lang="en-US" b="0" i="0" dirty="0">
                <a:solidFill>
                  <a:srgbClr val="000000"/>
                </a:solidFill>
                <a:effectLst/>
                <a:latin typeface="arial" panose="020B0604020202020204" pitchFamily="34" charset="0"/>
              </a:rPr>
              <a:t>() and </a:t>
            </a:r>
            <a:r>
              <a:rPr lang="en-US" b="0" i="0" dirty="0" err="1">
                <a:solidFill>
                  <a:srgbClr val="000000"/>
                </a:solidFill>
                <a:effectLst/>
                <a:latin typeface="arial" panose="020B0604020202020204" pitchFamily="34" charset="0"/>
              </a:rPr>
              <a:t>UseDefaultFiles</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middlewares</a:t>
            </a:r>
            <a:r>
              <a:rPr lang="en-US" b="0" i="0" dirty="0">
                <a:solidFill>
                  <a:srgbClr val="000000"/>
                </a:solidFill>
                <a:effectLst/>
                <a:latin typeface="arial" panose="020B0604020202020204" pitchFamily="34" charset="0"/>
              </a:rPr>
              <a:t> with the </a:t>
            </a:r>
            <a:r>
              <a:rPr lang="en-US" b="0" i="0" dirty="0" err="1">
                <a:solidFill>
                  <a:srgbClr val="000000"/>
                </a:solidFill>
                <a:effectLst/>
                <a:latin typeface="arial" panose="020B0604020202020204" pitchFamily="34" charset="0"/>
              </a:rPr>
              <a:t>UseFileServer</a:t>
            </a:r>
            <a:r>
              <a:rPr lang="en-US" b="0" i="0" dirty="0">
                <a:solidFill>
                  <a:srgbClr val="000000"/>
                </a:solidFill>
                <a:effectLst/>
                <a:latin typeface="arial" panose="020B0604020202020204" pitchFamily="34" charset="0"/>
              </a:rPr>
              <a:t>() Middleware as shown below.</a:t>
            </a:r>
            <a:endParaRPr lang="en-IN" dirty="0"/>
          </a:p>
        </p:txBody>
      </p:sp>
    </p:spTree>
    <p:extLst>
      <p:ext uri="{BB962C8B-B14F-4D97-AF65-F5344CB8AC3E}">
        <p14:creationId xmlns:p14="http://schemas.microsoft.com/office/powerpoint/2010/main" val="952236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267735-4E66-4F9E-B9FF-82D5D19700BC}"/>
              </a:ext>
            </a:extLst>
          </p:cNvPr>
          <p:cNvSpPr txBox="1"/>
          <p:nvPr/>
        </p:nvSpPr>
        <p:spPr>
          <a:xfrm>
            <a:off x="471948" y="281854"/>
            <a:ext cx="10613973" cy="2862322"/>
          </a:xfrm>
          <a:prstGeom prst="rect">
            <a:avLst/>
          </a:prstGeom>
          <a:solidFill>
            <a:schemeClr val="tx1"/>
          </a:solidFill>
        </p:spPr>
        <p:txBody>
          <a:bodyPr wrap="square">
            <a:spAutoFit/>
          </a:bodyPr>
          <a:lstStyle/>
          <a:p>
            <a:pPr algn="l" fontAlgn="base"/>
            <a:r>
              <a:rPr lang="en-IN" b="0" i="0" dirty="0">
                <a:solidFill>
                  <a:srgbClr val="6B7C8B"/>
                </a:solidFill>
                <a:effectLst/>
                <a:latin typeface="inherit"/>
              </a:rPr>
              <a:t>// Use </a:t>
            </a:r>
            <a:r>
              <a:rPr lang="en-IN" b="0" i="0" dirty="0" err="1">
                <a:solidFill>
                  <a:srgbClr val="6B7C8B"/>
                </a:solidFill>
                <a:effectLst/>
                <a:latin typeface="inherit"/>
              </a:rPr>
              <a:t>UseFileServer</a:t>
            </a:r>
            <a:r>
              <a:rPr lang="en-IN" b="0" i="0" dirty="0">
                <a:solidFill>
                  <a:srgbClr val="6B7C8B"/>
                </a:solidFill>
                <a:effectLst/>
                <a:latin typeface="inherit"/>
              </a:rPr>
              <a:t> instead of </a:t>
            </a:r>
            <a:r>
              <a:rPr lang="en-IN" b="0" i="0" dirty="0" err="1">
                <a:solidFill>
                  <a:srgbClr val="6B7C8B"/>
                </a:solidFill>
                <a:effectLst/>
                <a:latin typeface="inherit"/>
              </a:rPr>
              <a:t>UseDefaultFiles</a:t>
            </a:r>
            <a:r>
              <a:rPr lang="en-IN" b="0" i="0" dirty="0">
                <a:solidFill>
                  <a:srgbClr val="6B7C8B"/>
                </a:solidFill>
                <a:effectLst/>
                <a:latin typeface="inherit"/>
              </a:rPr>
              <a:t> &amp; </a:t>
            </a:r>
            <a:r>
              <a:rPr lang="en-IN" b="0" i="0" dirty="0" err="1">
                <a:solidFill>
                  <a:srgbClr val="6B7C8B"/>
                </a:solidFill>
                <a:effectLst/>
                <a:latin typeface="inherit"/>
              </a:rPr>
              <a:t>UseStaticFiles</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FileServerOptions</a:t>
            </a:r>
            <a:r>
              <a:rPr lang="en-IN" b="0" i="0" dirty="0">
                <a:solidFill>
                  <a:srgbClr val="CFD5E0"/>
                </a:solidFill>
                <a:effectLst/>
                <a:latin typeface="inherit"/>
              </a:rPr>
              <a:t> </a:t>
            </a:r>
            <a:r>
              <a:rPr lang="en-IN" b="0" i="0" dirty="0" err="1">
                <a:solidFill>
                  <a:srgbClr val="CFD5E0"/>
                </a:solidFill>
                <a:effectLst/>
                <a:latin typeface="inherit"/>
              </a:rPr>
              <a:t>fileServerOptions</a:t>
            </a:r>
            <a:r>
              <a:rPr lang="en-IN" b="0" i="0" dirty="0">
                <a:solidFill>
                  <a:srgbClr val="CFD5E0"/>
                </a:solidFill>
                <a:effectLst/>
                <a:latin typeface="inherit"/>
              </a:rPr>
              <a:t> = </a:t>
            </a:r>
            <a:r>
              <a:rPr lang="en-IN" b="0" i="0" dirty="0">
                <a:solidFill>
                  <a:srgbClr val="4284AE"/>
                </a:solidFill>
                <a:effectLst/>
                <a:latin typeface="inherit"/>
              </a:rPr>
              <a:t>new</a:t>
            </a:r>
            <a:r>
              <a:rPr lang="en-IN" b="0" i="0" dirty="0">
                <a:solidFill>
                  <a:srgbClr val="CFD5E0"/>
                </a:solidFill>
                <a:effectLst/>
                <a:latin typeface="inherit"/>
              </a:rPr>
              <a:t> </a:t>
            </a:r>
            <a:r>
              <a:rPr lang="en-IN" b="0" i="0" dirty="0" err="1">
                <a:solidFill>
                  <a:srgbClr val="4284AE"/>
                </a:solidFill>
                <a:effectLst/>
                <a:latin typeface="inherit"/>
              </a:rPr>
              <a:t>FileServerOptions</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fileServerOptions.</a:t>
            </a:r>
            <a:r>
              <a:rPr lang="en-IN" b="0" i="0" dirty="0" err="1">
                <a:solidFill>
                  <a:srgbClr val="4284AE"/>
                </a:solidFill>
                <a:effectLst/>
                <a:latin typeface="inherit"/>
              </a:rPr>
              <a:t>DefaultFilesOptions</a:t>
            </a:r>
            <a:r>
              <a:rPr lang="en-IN" b="0" i="0" dirty="0" err="1">
                <a:solidFill>
                  <a:srgbClr val="CFD5E0"/>
                </a:solidFill>
                <a:effectLst/>
                <a:latin typeface="inherit"/>
              </a:rPr>
              <a:t>.</a:t>
            </a:r>
            <a:r>
              <a:rPr lang="en-IN" b="0" i="0" dirty="0" err="1">
                <a:solidFill>
                  <a:srgbClr val="4284AE"/>
                </a:solidFill>
                <a:effectLst/>
                <a:latin typeface="inherit"/>
              </a:rPr>
              <a:t>DefaultFileNames</a:t>
            </a:r>
            <a:r>
              <a:rPr lang="en-IN" b="0" i="0" dirty="0" err="1">
                <a:solidFill>
                  <a:srgbClr val="CFD5E0"/>
                </a:solidFill>
                <a:effectLst/>
                <a:latin typeface="inherit"/>
              </a:rPr>
              <a:t>.</a:t>
            </a:r>
            <a:r>
              <a:rPr lang="en-IN" b="0" i="0" dirty="0" err="1">
                <a:solidFill>
                  <a:srgbClr val="4284AE"/>
                </a:solidFill>
                <a:effectLst/>
                <a:latin typeface="inherit"/>
              </a:rPr>
              <a:t>Clear</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fileServerOptions.</a:t>
            </a:r>
            <a:r>
              <a:rPr lang="en-IN" b="0" i="0" dirty="0" err="1">
                <a:solidFill>
                  <a:srgbClr val="4284AE"/>
                </a:solidFill>
                <a:effectLst/>
                <a:latin typeface="inherit"/>
              </a:rPr>
              <a:t>DefaultFilesOptions</a:t>
            </a:r>
            <a:r>
              <a:rPr lang="en-IN" b="0" i="0" dirty="0" err="1">
                <a:solidFill>
                  <a:srgbClr val="CFD5E0"/>
                </a:solidFill>
                <a:effectLst/>
                <a:latin typeface="inherit"/>
              </a:rPr>
              <a:t>.</a:t>
            </a:r>
            <a:r>
              <a:rPr lang="en-IN" b="0" i="0" dirty="0" err="1">
                <a:solidFill>
                  <a:srgbClr val="4284AE"/>
                </a:solidFill>
                <a:effectLst/>
                <a:latin typeface="inherit"/>
              </a:rPr>
              <a:t>DefaultFileNames</a:t>
            </a:r>
            <a:r>
              <a:rPr lang="en-IN" b="0" i="0" dirty="0" err="1">
                <a:solidFill>
                  <a:srgbClr val="CFD5E0"/>
                </a:solidFill>
                <a:effectLst/>
                <a:latin typeface="inherit"/>
              </a:rPr>
              <a:t>.</a:t>
            </a:r>
            <a:r>
              <a:rPr lang="en-IN" b="0" i="0" dirty="0" err="1">
                <a:solidFill>
                  <a:srgbClr val="4284AE"/>
                </a:solidFill>
                <a:effectLst/>
                <a:latin typeface="inherit"/>
              </a:rPr>
              <a:t>Add</a:t>
            </a:r>
            <a:r>
              <a:rPr lang="en-IN" b="1" i="0" dirty="0">
                <a:solidFill>
                  <a:srgbClr val="6B7C8B"/>
                </a:solidFill>
                <a:effectLst/>
                <a:latin typeface="inherit"/>
              </a:rPr>
              <a:t>(</a:t>
            </a:r>
            <a:r>
              <a:rPr lang="en-IN" b="0" i="0" dirty="0">
                <a:solidFill>
                  <a:srgbClr val="7CC379"/>
                </a:solidFill>
                <a:effectLst/>
                <a:latin typeface="inherit"/>
              </a:rPr>
              <a:t>"MyCustomPage1.html"</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UseFileServer</a:t>
            </a:r>
            <a:r>
              <a:rPr lang="en-IN" b="1" i="0" dirty="0">
                <a:solidFill>
                  <a:srgbClr val="6B7C8B"/>
                </a:solidFill>
                <a:effectLst/>
                <a:latin typeface="inherit"/>
              </a:rPr>
              <a:t>(</a:t>
            </a:r>
            <a:r>
              <a:rPr lang="en-IN" b="0" i="0" dirty="0" err="1">
                <a:solidFill>
                  <a:srgbClr val="CFD5E0"/>
                </a:solidFill>
                <a:effectLst/>
                <a:latin typeface="inherit"/>
              </a:rPr>
              <a:t>fileServerOptions</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Run</a:t>
            </a:r>
            <a:r>
              <a:rPr lang="en-IN" b="1" i="0" dirty="0">
                <a:solidFill>
                  <a:srgbClr val="6B7C8B"/>
                </a:solidFill>
                <a:effectLst/>
                <a:latin typeface="inherit"/>
              </a:rPr>
              <a:t>(</a:t>
            </a:r>
            <a:r>
              <a:rPr lang="en-IN" b="1" i="0" dirty="0">
                <a:solidFill>
                  <a:srgbClr val="D171DD"/>
                </a:solidFill>
                <a:effectLst/>
                <a:latin typeface="inherit"/>
              </a:rPr>
              <a:t>async</a:t>
            </a:r>
            <a:r>
              <a:rPr lang="en-IN" b="0" i="0" dirty="0">
                <a:solidFill>
                  <a:srgbClr val="CFD5E0"/>
                </a:solidFill>
                <a:effectLst/>
                <a:latin typeface="inherit"/>
              </a:rPr>
              <a:t> </a:t>
            </a:r>
            <a:r>
              <a:rPr lang="en-IN" b="1" i="0" dirty="0">
                <a:solidFill>
                  <a:srgbClr val="6B7C8B"/>
                </a:solidFill>
                <a:effectLst/>
                <a:latin typeface="inherit"/>
              </a:rPr>
              <a:t>(</a:t>
            </a:r>
            <a:r>
              <a:rPr lang="en-IN" b="0" i="0" dirty="0">
                <a:solidFill>
                  <a:srgbClr val="CFD5E0"/>
                </a:solidFill>
                <a:effectLst/>
                <a:latin typeface="inherit"/>
              </a:rPr>
              <a:t>context</a:t>
            </a:r>
            <a:r>
              <a:rPr lang="en-IN" b="1" i="0" dirty="0">
                <a:solidFill>
                  <a:srgbClr val="6B7C8B"/>
                </a:solidFill>
                <a:effectLst/>
                <a:latin typeface="inherit"/>
              </a:rPr>
              <a:t>)</a:t>
            </a:r>
            <a:r>
              <a:rPr lang="en-IN" b="0" i="0" dirty="0">
                <a:solidFill>
                  <a:srgbClr val="CFD5E0"/>
                </a:solidFill>
                <a:effectLst/>
                <a:latin typeface="inherit"/>
              </a:rPr>
              <a:t> =</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await</a:t>
            </a:r>
            <a:r>
              <a:rPr lang="en-IN" b="0" i="0" dirty="0">
                <a:solidFill>
                  <a:srgbClr val="CFD5E0"/>
                </a:solidFill>
                <a:effectLst/>
                <a:latin typeface="inherit"/>
              </a:rPr>
              <a:t> </a:t>
            </a:r>
            <a:r>
              <a:rPr lang="en-IN" b="0" i="0" dirty="0" err="1">
                <a:solidFill>
                  <a:srgbClr val="CFD5E0"/>
                </a:solidFill>
                <a:effectLst/>
                <a:latin typeface="inherit"/>
              </a:rPr>
              <a:t>context.</a:t>
            </a:r>
            <a:r>
              <a:rPr lang="en-IN" b="0" i="0" dirty="0" err="1">
                <a:solidFill>
                  <a:srgbClr val="4284AE"/>
                </a:solidFill>
                <a:effectLst/>
                <a:latin typeface="inherit"/>
              </a:rPr>
              <a:t>Response</a:t>
            </a:r>
            <a:r>
              <a:rPr lang="en-IN" b="0" i="0" dirty="0" err="1">
                <a:solidFill>
                  <a:srgbClr val="CFD5E0"/>
                </a:solidFill>
                <a:effectLst/>
                <a:latin typeface="inherit"/>
              </a:rPr>
              <a:t>.</a:t>
            </a:r>
            <a:r>
              <a:rPr lang="en-IN" b="0" i="0" dirty="0" err="1">
                <a:solidFill>
                  <a:srgbClr val="4284AE"/>
                </a:solidFill>
                <a:effectLst/>
                <a:latin typeface="inherit"/>
              </a:rPr>
              <a:t>WriteAsync</a:t>
            </a:r>
            <a:r>
              <a:rPr lang="en-IN" b="1" i="0" dirty="0">
                <a:solidFill>
                  <a:srgbClr val="6B7C8B"/>
                </a:solidFill>
                <a:effectLst/>
                <a:latin typeface="inherit"/>
              </a:rPr>
              <a:t>(</a:t>
            </a:r>
            <a:r>
              <a:rPr lang="en-IN" b="0" i="0" dirty="0">
                <a:solidFill>
                  <a:srgbClr val="7CC379"/>
                </a:solidFill>
                <a:effectLst/>
                <a:latin typeface="inherit"/>
              </a:rPr>
              <a:t>"Request handled by the terminating middleware"</a:t>
            </a:r>
            <a:r>
              <a:rPr lang="en-IN" b="1" i="0" dirty="0">
                <a:solidFill>
                  <a:srgbClr val="6B7C8B"/>
                </a:solidFill>
                <a:effectLst/>
                <a:latin typeface="inherit"/>
              </a:rPr>
              <a:t>)</a:t>
            </a:r>
            <a:r>
              <a:rPr lang="en-IN" b="0" i="0" dirty="0">
                <a:solidFill>
                  <a:srgbClr val="CFD5E0"/>
                </a:solidFill>
                <a:effectLst/>
                <a:latin typeface="inherit"/>
              </a:rPr>
              <a:t>;</a:t>
            </a:r>
          </a:p>
          <a:p>
            <a:pPr algn="l" fontAlgn="base"/>
            <a:r>
              <a:rPr lang="en-IN" dirty="0">
                <a:solidFill>
                  <a:srgbClr val="CFD5E0"/>
                </a:solidFill>
                <a:latin typeface="inherit"/>
              </a:rPr>
              <a:t>        </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p:txBody>
      </p:sp>
      <p:sp>
        <p:nvSpPr>
          <p:cNvPr id="7" name="TextBox 6">
            <a:extLst>
              <a:ext uri="{FF2B5EF4-FFF2-40B4-BE49-F238E27FC236}">
                <a16:creationId xmlns:a16="http://schemas.microsoft.com/office/drawing/2014/main" id="{048F0F88-6FA5-4D0A-8669-087C9859DD92}"/>
              </a:ext>
            </a:extLst>
          </p:cNvPr>
          <p:cNvSpPr txBox="1"/>
          <p:nvPr/>
        </p:nvSpPr>
        <p:spPr>
          <a:xfrm>
            <a:off x="1150373" y="5645015"/>
            <a:ext cx="8121445" cy="369332"/>
          </a:xfrm>
          <a:prstGeom prst="rect">
            <a:avLst/>
          </a:prstGeom>
          <a:noFill/>
        </p:spPr>
        <p:txBody>
          <a:bodyPr wrap="square">
            <a:spAutoFit/>
          </a:bodyPr>
          <a:lstStyle/>
          <a:p>
            <a:r>
              <a:rPr lang="en-US" b="0" i="0" dirty="0">
                <a:solidFill>
                  <a:srgbClr val="000000"/>
                </a:solidFill>
                <a:effectLst/>
                <a:latin typeface="arial" panose="020B0604020202020204" pitchFamily="34" charset="0"/>
              </a:rPr>
              <a:t>Now run the application and you will see the output as expected.</a:t>
            </a:r>
            <a:endParaRPr lang="en-IN" dirty="0"/>
          </a:p>
        </p:txBody>
      </p:sp>
    </p:spTree>
    <p:extLst>
      <p:ext uri="{BB962C8B-B14F-4D97-AF65-F5344CB8AC3E}">
        <p14:creationId xmlns:p14="http://schemas.microsoft.com/office/powerpoint/2010/main" val="2760257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B48B281-332C-4727-A468-6374DC1C4BCC}"/>
              </a:ext>
            </a:extLst>
          </p:cNvPr>
          <p:cNvSpPr txBox="1"/>
          <p:nvPr/>
        </p:nvSpPr>
        <p:spPr>
          <a:xfrm>
            <a:off x="226141" y="0"/>
            <a:ext cx="10776155" cy="1200329"/>
          </a:xfrm>
          <a:prstGeom prst="rect">
            <a:avLst/>
          </a:prstGeom>
          <a:noFill/>
        </p:spPr>
        <p:txBody>
          <a:bodyPr wrap="square">
            <a:spAutoFit/>
          </a:bodyPr>
          <a:lstStyle/>
          <a:p>
            <a:pPr algn="just" fontAlgn="base">
              <a:buFont typeface="+mj-lt"/>
              <a:buAutoNum type="arabicPeriod"/>
            </a:pPr>
            <a:r>
              <a:rPr lang="en-US" b="1" i="0" dirty="0">
                <a:solidFill>
                  <a:srgbClr val="0000FF"/>
                </a:solidFill>
                <a:effectLst/>
                <a:latin typeface="arial" panose="020B0604020202020204" pitchFamily="34" charset="0"/>
              </a:rPr>
              <a:t>What is Developer Exception Page Middleware?</a:t>
            </a:r>
            <a:endParaRPr lang="en-US" b="0" i="0" dirty="0">
              <a:solidFill>
                <a:srgbClr val="212529"/>
              </a:solidFill>
              <a:effectLst/>
              <a:latin typeface="-apple-system"/>
            </a:endParaRPr>
          </a:p>
          <a:p>
            <a:pPr algn="just" fontAlgn="base">
              <a:buFont typeface="+mj-lt"/>
              <a:buAutoNum type="arabicPeriod"/>
            </a:pPr>
            <a:r>
              <a:rPr lang="en-US" b="1" i="0" dirty="0">
                <a:solidFill>
                  <a:srgbClr val="0000FF"/>
                </a:solidFill>
                <a:effectLst/>
                <a:latin typeface="arial" panose="020B0604020202020204" pitchFamily="34" charset="0"/>
              </a:rPr>
              <a:t>How to use Developer Exception Page Middleware in ASP.NET Core Application?</a:t>
            </a:r>
            <a:endParaRPr lang="en-US" b="0" i="0" dirty="0">
              <a:solidFill>
                <a:srgbClr val="212529"/>
              </a:solidFill>
              <a:effectLst/>
              <a:latin typeface="-apple-system"/>
            </a:endParaRPr>
          </a:p>
          <a:p>
            <a:pPr algn="just" fontAlgn="base">
              <a:buFont typeface="+mj-lt"/>
              <a:buAutoNum type="arabicPeriod"/>
            </a:pPr>
            <a:r>
              <a:rPr lang="en-US" b="1" i="0" dirty="0">
                <a:solidFill>
                  <a:srgbClr val="0000FF"/>
                </a:solidFill>
                <a:effectLst/>
                <a:latin typeface="arial" panose="020B0604020202020204" pitchFamily="34" charset="0"/>
              </a:rPr>
              <a:t>How to Customize the </a:t>
            </a:r>
            <a:r>
              <a:rPr lang="en-US" b="1" i="0" dirty="0" err="1">
                <a:solidFill>
                  <a:srgbClr val="0000FF"/>
                </a:solidFill>
                <a:effectLst/>
                <a:latin typeface="arial" panose="020B0604020202020204" pitchFamily="34" charset="0"/>
              </a:rPr>
              <a:t>UseDeveloperExceptionPage</a:t>
            </a:r>
            <a:r>
              <a:rPr lang="en-US" b="1" i="0" dirty="0">
                <a:solidFill>
                  <a:srgbClr val="0000FF"/>
                </a:solidFill>
                <a:effectLst/>
                <a:latin typeface="arial" panose="020B0604020202020204" pitchFamily="34" charset="0"/>
              </a:rPr>
              <a:t> Middleware in ASP.NET Core?</a:t>
            </a:r>
            <a:endParaRPr lang="en-US" b="0" i="0" dirty="0">
              <a:solidFill>
                <a:srgbClr val="212529"/>
              </a:solidFill>
              <a:effectLst/>
              <a:latin typeface="-apple-system"/>
            </a:endParaRPr>
          </a:p>
          <a:p>
            <a:pPr algn="just" fontAlgn="base">
              <a:buFont typeface="+mj-lt"/>
              <a:buAutoNum type="arabicPeriod"/>
            </a:pPr>
            <a:r>
              <a:rPr lang="en-US" b="1" i="0" dirty="0">
                <a:solidFill>
                  <a:srgbClr val="0000FF"/>
                </a:solidFill>
                <a:effectLst/>
                <a:latin typeface="arial" panose="020B0604020202020204" pitchFamily="34" charset="0"/>
              </a:rPr>
              <a:t>Where do we need to configure the </a:t>
            </a:r>
            <a:r>
              <a:rPr lang="en-US" b="1" i="0" dirty="0" err="1">
                <a:solidFill>
                  <a:srgbClr val="0000FF"/>
                </a:solidFill>
                <a:effectLst/>
                <a:latin typeface="arial" panose="020B0604020202020204" pitchFamily="34" charset="0"/>
              </a:rPr>
              <a:t>UseDeveloperExceptionPage</a:t>
            </a:r>
            <a:r>
              <a:rPr lang="en-US" b="1" i="0" dirty="0">
                <a:solidFill>
                  <a:srgbClr val="0000FF"/>
                </a:solidFill>
                <a:effectLst/>
                <a:latin typeface="arial" panose="020B0604020202020204" pitchFamily="34" charset="0"/>
              </a:rPr>
              <a:t> Middleware?</a:t>
            </a:r>
            <a:endParaRPr lang="en-US" b="0" i="0" dirty="0">
              <a:solidFill>
                <a:srgbClr val="212529"/>
              </a:solidFill>
              <a:effectLst/>
              <a:latin typeface="-apple-system"/>
            </a:endParaRPr>
          </a:p>
        </p:txBody>
      </p:sp>
      <p:sp>
        <p:nvSpPr>
          <p:cNvPr id="7" name="TextBox 6">
            <a:extLst>
              <a:ext uri="{FF2B5EF4-FFF2-40B4-BE49-F238E27FC236}">
                <a16:creationId xmlns:a16="http://schemas.microsoft.com/office/drawing/2014/main" id="{F70772F6-E062-4FFB-9779-555C4902CF4A}"/>
              </a:ext>
            </a:extLst>
          </p:cNvPr>
          <p:cNvSpPr txBox="1"/>
          <p:nvPr/>
        </p:nvSpPr>
        <p:spPr>
          <a:xfrm>
            <a:off x="245807" y="1425451"/>
            <a:ext cx="11503743" cy="923330"/>
          </a:xfrm>
          <a:prstGeom prst="rect">
            <a:avLst/>
          </a:prstGeom>
          <a:noFill/>
        </p:spPr>
        <p:txBody>
          <a:bodyPr wrap="square">
            <a:spAutoFit/>
          </a:bodyPr>
          <a:lstStyle/>
          <a:p>
            <a:r>
              <a:rPr lang="en-US" b="0" i="0" dirty="0">
                <a:solidFill>
                  <a:srgbClr val="000000"/>
                </a:solidFill>
                <a:effectLst/>
                <a:latin typeface="arial" panose="020B0604020202020204" pitchFamily="34" charset="0"/>
              </a:rPr>
              <a:t> By default, ASP.NET Core application simply returns a status code for an exception that is not handled by the application. Let us understand this with an example. Please modify the Configure() method of the startup class as shown below where we throw an </a:t>
            </a:r>
            <a:r>
              <a:rPr lang="en-US" b="0" i="0" dirty="0" err="1">
                <a:solidFill>
                  <a:srgbClr val="000000"/>
                </a:solidFill>
                <a:effectLst/>
                <a:latin typeface="arial" panose="020B0604020202020204" pitchFamily="34" charset="0"/>
              </a:rPr>
              <a:t>exceptio</a:t>
            </a:r>
            <a:endParaRPr lang="en-IN" dirty="0"/>
          </a:p>
        </p:txBody>
      </p:sp>
      <p:sp>
        <p:nvSpPr>
          <p:cNvPr id="9" name="TextBox 8">
            <a:extLst>
              <a:ext uri="{FF2B5EF4-FFF2-40B4-BE49-F238E27FC236}">
                <a16:creationId xmlns:a16="http://schemas.microsoft.com/office/drawing/2014/main" id="{A2CD460B-E02F-466F-9328-FE46C82EFE1F}"/>
              </a:ext>
            </a:extLst>
          </p:cNvPr>
          <p:cNvSpPr txBox="1"/>
          <p:nvPr/>
        </p:nvSpPr>
        <p:spPr>
          <a:xfrm>
            <a:off x="68826" y="2573904"/>
            <a:ext cx="6469624" cy="2862322"/>
          </a:xfrm>
          <a:prstGeom prst="rect">
            <a:avLst/>
          </a:prstGeom>
          <a:solidFill>
            <a:schemeClr val="tx1"/>
          </a:solidFill>
        </p:spPr>
        <p:txBody>
          <a:bodyPr wrap="square">
            <a:spAutoFit/>
          </a:bodyPr>
          <a:lstStyle/>
          <a:p>
            <a:pPr algn="l" fontAlgn="base"/>
            <a:r>
              <a:rPr lang="en-IN" b="0" i="0" dirty="0" err="1">
                <a:solidFill>
                  <a:srgbClr val="CFD5E0"/>
                </a:solidFill>
                <a:effectLst/>
                <a:latin typeface="inherit"/>
              </a:rPr>
              <a:t>app.</a:t>
            </a:r>
            <a:r>
              <a:rPr lang="en-IN" b="0" i="0" dirty="0" err="1">
                <a:solidFill>
                  <a:srgbClr val="4284AE"/>
                </a:solidFill>
                <a:effectLst/>
                <a:latin typeface="inherit"/>
              </a:rPr>
              <a:t>UseRouting</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UseEndpoints</a:t>
            </a:r>
            <a:r>
              <a:rPr lang="en-IN" b="1" i="0" dirty="0">
                <a:solidFill>
                  <a:srgbClr val="6B7C8B"/>
                </a:solidFill>
                <a:effectLst/>
                <a:latin typeface="inherit"/>
              </a:rPr>
              <a:t>(</a:t>
            </a:r>
            <a:r>
              <a:rPr lang="en-IN" b="0" i="0" dirty="0">
                <a:solidFill>
                  <a:srgbClr val="CFD5E0"/>
                </a:solidFill>
                <a:effectLst/>
                <a:latin typeface="inherit"/>
              </a:rPr>
              <a:t>endpoints =</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endpoints.</a:t>
            </a:r>
            <a:r>
              <a:rPr lang="en-IN" b="0" i="0" dirty="0" err="1">
                <a:solidFill>
                  <a:srgbClr val="4284AE"/>
                </a:solidFill>
                <a:effectLst/>
                <a:latin typeface="inherit"/>
              </a:rPr>
              <a:t>MapGet</a:t>
            </a:r>
            <a:r>
              <a:rPr lang="en-IN" b="1" i="0" dirty="0">
                <a:solidFill>
                  <a:srgbClr val="6B7C8B"/>
                </a:solidFill>
                <a:effectLst/>
                <a:latin typeface="inherit"/>
              </a:rPr>
              <a:t>(</a:t>
            </a:r>
            <a:r>
              <a:rPr lang="en-IN" b="0" i="0" dirty="0">
                <a:solidFill>
                  <a:srgbClr val="7CC379"/>
                </a:solidFill>
                <a:effectLst/>
                <a:latin typeface="inherit"/>
              </a:rPr>
              <a:t>"/"</a:t>
            </a:r>
            <a:r>
              <a:rPr lang="en-IN" b="0" i="0" dirty="0">
                <a:solidFill>
                  <a:srgbClr val="CFD5E0"/>
                </a:solidFill>
                <a:effectLst/>
                <a:latin typeface="inherit"/>
              </a:rPr>
              <a:t>, </a:t>
            </a:r>
            <a:r>
              <a:rPr lang="en-IN" b="1" i="0" dirty="0">
                <a:solidFill>
                  <a:srgbClr val="D171DD"/>
                </a:solidFill>
                <a:effectLst/>
                <a:latin typeface="inherit"/>
              </a:rPr>
              <a:t>async</a:t>
            </a:r>
            <a:r>
              <a:rPr lang="en-IN" b="0" i="0" dirty="0">
                <a:solidFill>
                  <a:srgbClr val="CFD5E0"/>
                </a:solidFill>
                <a:effectLst/>
                <a:latin typeface="inherit"/>
              </a:rPr>
              <a:t> context =</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throw</a:t>
            </a:r>
            <a:r>
              <a:rPr lang="en-IN" b="0" i="0" dirty="0">
                <a:solidFill>
                  <a:srgbClr val="CFD5E0"/>
                </a:solidFill>
                <a:effectLst/>
                <a:latin typeface="inherit"/>
              </a:rPr>
              <a:t> </a:t>
            </a:r>
            <a:r>
              <a:rPr lang="en-IN" b="0" i="0" dirty="0">
                <a:solidFill>
                  <a:srgbClr val="4284AE"/>
                </a:solidFill>
                <a:effectLst/>
                <a:latin typeface="inherit"/>
              </a:rPr>
              <a:t>new</a:t>
            </a:r>
            <a:r>
              <a:rPr lang="en-IN" b="0" i="0" dirty="0">
                <a:solidFill>
                  <a:srgbClr val="CFD5E0"/>
                </a:solidFill>
                <a:effectLst/>
                <a:latin typeface="inherit"/>
              </a:rPr>
              <a:t> </a:t>
            </a:r>
            <a:r>
              <a:rPr lang="en-IN" b="0" i="0" dirty="0">
                <a:solidFill>
                  <a:srgbClr val="4284AE"/>
                </a:solidFill>
                <a:effectLst/>
                <a:latin typeface="inherit"/>
              </a:rPr>
              <a:t>Exception</a:t>
            </a:r>
            <a:r>
              <a:rPr lang="en-IN" b="1" i="0" dirty="0">
                <a:solidFill>
                  <a:srgbClr val="6B7C8B"/>
                </a:solidFill>
                <a:effectLst/>
                <a:latin typeface="inherit"/>
              </a:rPr>
              <a:t>(</a:t>
            </a:r>
            <a:r>
              <a:rPr lang="en-IN" b="0" i="0" dirty="0">
                <a:solidFill>
                  <a:srgbClr val="7CC379"/>
                </a:solidFill>
                <a:effectLst/>
                <a:latin typeface="inherit"/>
              </a:rPr>
              <a:t>"Error Occurred while processing your request"</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await</a:t>
            </a:r>
            <a:r>
              <a:rPr lang="en-IN" b="0" i="0" dirty="0">
                <a:solidFill>
                  <a:srgbClr val="CFD5E0"/>
                </a:solidFill>
                <a:effectLst/>
                <a:latin typeface="inherit"/>
              </a:rPr>
              <a:t> </a:t>
            </a:r>
            <a:r>
              <a:rPr lang="en-IN" b="0" i="0" dirty="0" err="1">
                <a:solidFill>
                  <a:srgbClr val="CFD5E0"/>
                </a:solidFill>
                <a:effectLst/>
                <a:latin typeface="inherit"/>
              </a:rPr>
              <a:t>context.</a:t>
            </a:r>
            <a:r>
              <a:rPr lang="en-IN" b="0" i="0" dirty="0" err="1">
                <a:solidFill>
                  <a:srgbClr val="4284AE"/>
                </a:solidFill>
                <a:effectLst/>
                <a:latin typeface="inherit"/>
              </a:rPr>
              <a:t>Response</a:t>
            </a:r>
            <a:r>
              <a:rPr lang="en-IN" b="0" i="0" dirty="0" err="1">
                <a:solidFill>
                  <a:srgbClr val="CFD5E0"/>
                </a:solidFill>
                <a:effectLst/>
                <a:latin typeface="inherit"/>
              </a:rPr>
              <a:t>.</a:t>
            </a:r>
            <a:r>
              <a:rPr lang="en-IN" b="0" i="0" dirty="0" err="1">
                <a:solidFill>
                  <a:srgbClr val="4284AE"/>
                </a:solidFill>
                <a:effectLst/>
                <a:latin typeface="inherit"/>
              </a:rPr>
              <a:t>WriteAsync</a:t>
            </a:r>
            <a:r>
              <a:rPr lang="en-IN" b="1" i="0" dirty="0">
                <a:solidFill>
                  <a:srgbClr val="6B7C8B"/>
                </a:solidFill>
                <a:effectLst/>
                <a:latin typeface="inherit"/>
              </a:rPr>
              <a:t>(</a:t>
            </a:r>
            <a:r>
              <a:rPr lang="en-IN" b="0" i="0" dirty="0">
                <a:solidFill>
                  <a:srgbClr val="7CC379"/>
                </a:solidFill>
                <a:effectLst/>
                <a:latin typeface="inherit"/>
              </a:rPr>
              <a:t>"Hello World!"</a:t>
            </a:r>
            <a:r>
              <a:rPr lang="en-IN" b="1" i="0" dirty="0">
                <a:solidFill>
                  <a:srgbClr val="6B7C8B"/>
                </a:solidFill>
                <a:effectLst/>
                <a:latin typeface="inherit"/>
              </a:rPr>
              <a:t>)</a:t>
            </a:r>
            <a:r>
              <a:rPr lang="en-IN" b="0" i="0" dirty="0">
                <a:solidFill>
                  <a:srgbClr val="CFD5E0"/>
                </a:solidFill>
                <a:effectLst/>
                <a:latin typeface="inherit"/>
              </a:rPr>
              <a:t>; </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   })</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p:txBody>
      </p:sp>
      <p:sp>
        <p:nvSpPr>
          <p:cNvPr id="11" name="TextBox 10">
            <a:extLst>
              <a:ext uri="{FF2B5EF4-FFF2-40B4-BE49-F238E27FC236}">
                <a16:creationId xmlns:a16="http://schemas.microsoft.com/office/drawing/2014/main" id="{51C65EEB-5F1B-4545-AAA4-E8B76A2EBF2F}"/>
              </a:ext>
            </a:extLst>
          </p:cNvPr>
          <p:cNvSpPr txBox="1"/>
          <p:nvPr/>
        </p:nvSpPr>
        <p:spPr>
          <a:xfrm>
            <a:off x="6096000" y="2138177"/>
            <a:ext cx="6096000"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When you run the application, you will get the following output.</a:t>
            </a:r>
            <a:endParaRPr lang="en-IN" dirty="0"/>
          </a:p>
        </p:txBody>
      </p:sp>
      <p:pic>
        <p:nvPicPr>
          <p:cNvPr id="7170" name="Picture 2" descr="Understanding Developer Exception Page Middleware in ASP.NET Core">
            <a:extLst>
              <a:ext uri="{FF2B5EF4-FFF2-40B4-BE49-F238E27FC236}">
                <a16:creationId xmlns:a16="http://schemas.microsoft.com/office/drawing/2014/main" id="{8AE90083-BCDD-4933-9E7B-721BA002BF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6648" y="2573903"/>
            <a:ext cx="3992601" cy="306808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B4EC1A20-49F7-413F-BFB0-137F50D8CB89}"/>
              </a:ext>
            </a:extLst>
          </p:cNvPr>
          <p:cNvSpPr txBox="1"/>
          <p:nvPr/>
        </p:nvSpPr>
        <p:spPr>
          <a:xfrm>
            <a:off x="961717" y="5667058"/>
            <a:ext cx="10886154" cy="1200329"/>
          </a:xfrm>
          <a:prstGeom prst="rect">
            <a:avLst/>
          </a:prstGeom>
          <a:noFill/>
        </p:spPr>
        <p:txBody>
          <a:bodyPr wrap="square">
            <a:spAutoFit/>
          </a:bodyPr>
          <a:lstStyle/>
          <a:p>
            <a:r>
              <a:rPr lang="en-US" b="0" i="0" dirty="0">
                <a:solidFill>
                  <a:srgbClr val="000000"/>
                </a:solidFill>
                <a:effectLst/>
                <a:latin typeface="arial" panose="020B0604020202020204" pitchFamily="34" charset="0"/>
              </a:rPr>
              <a:t>As you can see in the above image it gives you the status code as 500 which means Internal Server Error. But as a developer when you are developing the application, you should know the detailed information about the exception on the page so that you can take necessary actions to fix the error. And this where </a:t>
            </a:r>
            <a:r>
              <a:rPr lang="en-US" b="0" i="0" dirty="0" err="1">
                <a:solidFill>
                  <a:srgbClr val="000000"/>
                </a:solidFill>
                <a:effectLst/>
                <a:latin typeface="arial" panose="020B0604020202020204" pitchFamily="34" charset="0"/>
              </a:rPr>
              <a:t>DeveloperExceptionPage</a:t>
            </a:r>
            <a:r>
              <a:rPr lang="en-US" b="0" i="0" dirty="0">
                <a:solidFill>
                  <a:srgbClr val="000000"/>
                </a:solidFill>
                <a:effectLst/>
                <a:latin typeface="arial" panose="020B0604020202020204" pitchFamily="34" charset="0"/>
              </a:rPr>
              <a:t> Middleware comes into the picture.</a:t>
            </a:r>
            <a:endParaRPr lang="en-IN" dirty="0"/>
          </a:p>
        </p:txBody>
      </p:sp>
    </p:spTree>
    <p:extLst>
      <p:ext uri="{BB962C8B-B14F-4D97-AF65-F5344CB8AC3E}">
        <p14:creationId xmlns:p14="http://schemas.microsoft.com/office/powerpoint/2010/main" val="288009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7E66104-D699-49CC-BEA0-E5ADCDF20C6C}"/>
              </a:ext>
            </a:extLst>
          </p:cNvPr>
          <p:cNvSpPr txBox="1"/>
          <p:nvPr/>
        </p:nvSpPr>
        <p:spPr>
          <a:xfrm>
            <a:off x="2182762" y="188113"/>
            <a:ext cx="9458632"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How to use </a:t>
            </a:r>
            <a:r>
              <a:rPr lang="en-US" b="1" i="0" dirty="0" err="1">
                <a:solidFill>
                  <a:srgbClr val="000000"/>
                </a:solidFill>
                <a:effectLst/>
                <a:latin typeface="arial" panose="020B0604020202020204" pitchFamily="34" charset="0"/>
              </a:rPr>
              <a:t>DeveloperExceptionPage</a:t>
            </a:r>
            <a:r>
              <a:rPr lang="en-US" b="1" i="0" dirty="0">
                <a:solidFill>
                  <a:srgbClr val="000000"/>
                </a:solidFill>
                <a:effectLst/>
                <a:latin typeface="arial" panose="020B0604020202020204" pitchFamily="34" charset="0"/>
              </a:rPr>
              <a:t> Middleware in ASP.NET Core Application?</a:t>
            </a:r>
            <a:endParaRPr lang="en-US" b="0" i="0" dirty="0">
              <a:solidFill>
                <a:srgbClr val="3A3A3A"/>
              </a:solidFill>
              <a:effectLst/>
              <a:latin typeface="-apple-system"/>
            </a:endParaRPr>
          </a:p>
        </p:txBody>
      </p:sp>
      <p:sp>
        <p:nvSpPr>
          <p:cNvPr id="7" name="TextBox 6">
            <a:extLst>
              <a:ext uri="{FF2B5EF4-FFF2-40B4-BE49-F238E27FC236}">
                <a16:creationId xmlns:a16="http://schemas.microsoft.com/office/drawing/2014/main" id="{A96031A0-D230-4432-9F20-31CCB5E654AF}"/>
              </a:ext>
            </a:extLst>
          </p:cNvPr>
          <p:cNvSpPr txBox="1"/>
          <p:nvPr/>
        </p:nvSpPr>
        <p:spPr>
          <a:xfrm>
            <a:off x="0" y="694303"/>
            <a:ext cx="12123174" cy="1200329"/>
          </a:xfrm>
          <a:prstGeom prst="rect">
            <a:avLst/>
          </a:prstGeom>
          <a:noFill/>
        </p:spPr>
        <p:txBody>
          <a:bodyPr wrap="square">
            <a:spAutoFit/>
          </a:bodyPr>
          <a:lstStyle/>
          <a:p>
            <a:r>
              <a:rPr lang="en-US" b="0" i="0" dirty="0">
                <a:solidFill>
                  <a:srgbClr val="000000"/>
                </a:solidFill>
                <a:effectLst/>
                <a:latin typeface="arial" panose="020B0604020202020204" pitchFamily="34" charset="0"/>
              </a:rPr>
              <a:t>If you want your application to display a page that shows the detailed information about the unhandled exception, then you need to configure the Developer Exception Page middleware in the request processing pipeline. To do so, modify the Configure() method of the Startup class as shown below to add the Developer Exception Page middleware which will handle the unhandled exception that occurred in your application.</a:t>
            </a:r>
            <a:endParaRPr lang="en-IN" dirty="0"/>
          </a:p>
        </p:txBody>
      </p:sp>
      <p:sp>
        <p:nvSpPr>
          <p:cNvPr id="9" name="TextBox 8">
            <a:extLst>
              <a:ext uri="{FF2B5EF4-FFF2-40B4-BE49-F238E27FC236}">
                <a16:creationId xmlns:a16="http://schemas.microsoft.com/office/drawing/2014/main" id="{332E7DE9-870C-4E60-942E-96AAC842455C}"/>
              </a:ext>
            </a:extLst>
          </p:cNvPr>
          <p:cNvSpPr txBox="1"/>
          <p:nvPr/>
        </p:nvSpPr>
        <p:spPr>
          <a:xfrm>
            <a:off x="184356" y="1894632"/>
            <a:ext cx="7681450" cy="3139321"/>
          </a:xfrm>
          <a:prstGeom prst="rect">
            <a:avLst/>
          </a:prstGeom>
          <a:solidFill>
            <a:schemeClr val="tx1"/>
          </a:solidFill>
        </p:spPr>
        <p:txBody>
          <a:bodyPr wrap="square">
            <a:spAutoFit/>
          </a:bodyPr>
          <a:lstStyle/>
          <a:p>
            <a:pPr algn="l" fontAlgn="base"/>
            <a:r>
              <a:rPr lang="en-IN" b="1" i="0" dirty="0">
                <a:solidFill>
                  <a:srgbClr val="D171DD"/>
                </a:solidFill>
                <a:effectLst/>
                <a:latin typeface="inherit"/>
              </a:rPr>
              <a:t>if</a:t>
            </a:r>
            <a:r>
              <a:rPr lang="en-IN" b="0" i="0" dirty="0">
                <a:solidFill>
                  <a:srgbClr val="CFD5E0"/>
                </a:solidFill>
                <a:effectLst/>
                <a:latin typeface="inherit"/>
              </a:rPr>
              <a:t> </a:t>
            </a:r>
            <a:r>
              <a:rPr lang="en-IN" b="1" i="0" dirty="0">
                <a:solidFill>
                  <a:srgbClr val="6B7C8B"/>
                </a:solidFill>
                <a:effectLst/>
                <a:latin typeface="inherit"/>
              </a:rPr>
              <a:t>(</a:t>
            </a:r>
            <a:r>
              <a:rPr lang="en-IN" b="0" i="0" dirty="0" err="1">
                <a:solidFill>
                  <a:srgbClr val="CFD5E0"/>
                </a:solidFill>
                <a:effectLst/>
                <a:latin typeface="inherit"/>
              </a:rPr>
              <a:t>env.</a:t>
            </a:r>
            <a:r>
              <a:rPr lang="en-IN" b="0" i="0" dirty="0" err="1">
                <a:solidFill>
                  <a:srgbClr val="4284AE"/>
                </a:solidFill>
                <a:effectLst/>
                <a:latin typeface="inherit"/>
              </a:rPr>
              <a:t>IsDevelopment</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highlight>
                  <a:srgbClr val="00FFFF"/>
                </a:highlight>
                <a:latin typeface="inherit"/>
              </a:rPr>
              <a:t>{</a:t>
            </a:r>
            <a:endParaRPr lang="en-IN" b="0" i="0" dirty="0">
              <a:solidFill>
                <a:srgbClr val="596174"/>
              </a:solidFill>
              <a:effectLst/>
              <a:highlight>
                <a:srgbClr val="00FFFF"/>
              </a:highlight>
              <a:latin typeface="Inconsolata" pitchFamily="1" charset="0"/>
            </a:endParaRPr>
          </a:p>
          <a:p>
            <a:pPr algn="l" fontAlgn="base"/>
            <a:r>
              <a:rPr lang="en-IN" b="0" i="0" dirty="0" err="1">
                <a:solidFill>
                  <a:srgbClr val="CFD5E0"/>
                </a:solidFill>
                <a:effectLst/>
                <a:highlight>
                  <a:srgbClr val="00FFFF"/>
                </a:highlight>
                <a:latin typeface="inherit"/>
              </a:rPr>
              <a:t>app.</a:t>
            </a:r>
            <a:r>
              <a:rPr lang="en-IN" b="0" i="0" dirty="0" err="1">
                <a:solidFill>
                  <a:srgbClr val="4284AE"/>
                </a:solidFill>
                <a:effectLst/>
                <a:highlight>
                  <a:srgbClr val="00FFFF"/>
                </a:highlight>
                <a:latin typeface="inherit"/>
              </a:rPr>
              <a:t>UseDeveloperExceptionPage</a:t>
            </a:r>
            <a:r>
              <a:rPr lang="en-IN" b="1" i="0" dirty="0">
                <a:solidFill>
                  <a:srgbClr val="6B7C8B"/>
                </a:solidFill>
                <a:effectLst/>
                <a:highlight>
                  <a:srgbClr val="00FFFF"/>
                </a:highlight>
                <a:latin typeface="inherit"/>
              </a:rPr>
              <a:t>()</a:t>
            </a:r>
            <a:r>
              <a:rPr lang="en-IN" b="0" i="0" dirty="0">
                <a:solidFill>
                  <a:srgbClr val="CFD5E0"/>
                </a:solidFill>
                <a:effectLst/>
                <a:highlight>
                  <a:srgbClr val="00FFFF"/>
                </a:highlight>
                <a:latin typeface="inherit"/>
              </a:rPr>
              <a:t>;</a:t>
            </a:r>
            <a:endParaRPr lang="en-IN" b="0" i="0" dirty="0">
              <a:solidFill>
                <a:srgbClr val="596174"/>
              </a:solidFill>
              <a:effectLst/>
              <a:highlight>
                <a:srgbClr val="00FFFF"/>
              </a:highligh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UseRouting</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UseEndpoints</a:t>
            </a:r>
            <a:r>
              <a:rPr lang="en-IN" b="1" i="0" dirty="0">
                <a:solidFill>
                  <a:srgbClr val="6B7C8B"/>
                </a:solidFill>
                <a:effectLst/>
                <a:latin typeface="inherit"/>
              </a:rPr>
              <a:t>(</a:t>
            </a:r>
            <a:r>
              <a:rPr lang="en-IN" b="0" i="0" dirty="0">
                <a:solidFill>
                  <a:srgbClr val="CFD5E0"/>
                </a:solidFill>
                <a:effectLst/>
                <a:latin typeface="inherit"/>
              </a:rPr>
              <a:t>endpoints =</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endpoints.</a:t>
            </a:r>
            <a:r>
              <a:rPr lang="en-IN" b="0" i="0" dirty="0" err="1">
                <a:solidFill>
                  <a:srgbClr val="4284AE"/>
                </a:solidFill>
                <a:effectLst/>
                <a:latin typeface="inherit"/>
              </a:rPr>
              <a:t>MapGet</a:t>
            </a:r>
            <a:r>
              <a:rPr lang="en-IN" b="1" i="0" dirty="0">
                <a:solidFill>
                  <a:srgbClr val="6B7C8B"/>
                </a:solidFill>
                <a:effectLst/>
                <a:latin typeface="inherit"/>
              </a:rPr>
              <a:t>(</a:t>
            </a:r>
            <a:r>
              <a:rPr lang="en-IN" b="0" i="0" dirty="0">
                <a:solidFill>
                  <a:srgbClr val="7CC379"/>
                </a:solidFill>
                <a:effectLst/>
                <a:latin typeface="inherit"/>
              </a:rPr>
              <a:t>"/"</a:t>
            </a:r>
            <a:r>
              <a:rPr lang="en-IN" b="0" i="0" dirty="0">
                <a:solidFill>
                  <a:srgbClr val="CFD5E0"/>
                </a:solidFill>
                <a:effectLst/>
                <a:latin typeface="inherit"/>
              </a:rPr>
              <a:t>, </a:t>
            </a:r>
            <a:r>
              <a:rPr lang="en-IN" b="1" i="0" dirty="0">
                <a:solidFill>
                  <a:srgbClr val="D171DD"/>
                </a:solidFill>
                <a:effectLst/>
                <a:latin typeface="inherit"/>
              </a:rPr>
              <a:t>async</a:t>
            </a:r>
            <a:r>
              <a:rPr lang="en-IN" b="0" i="0" dirty="0">
                <a:solidFill>
                  <a:srgbClr val="CFD5E0"/>
                </a:solidFill>
                <a:effectLst/>
                <a:latin typeface="inherit"/>
              </a:rPr>
              <a:t> context =</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throw</a:t>
            </a:r>
            <a:r>
              <a:rPr lang="en-IN" b="0" i="0" dirty="0">
                <a:solidFill>
                  <a:srgbClr val="CFD5E0"/>
                </a:solidFill>
                <a:effectLst/>
                <a:latin typeface="inherit"/>
              </a:rPr>
              <a:t> </a:t>
            </a:r>
            <a:r>
              <a:rPr lang="en-IN" b="0" i="0" dirty="0">
                <a:solidFill>
                  <a:srgbClr val="4284AE"/>
                </a:solidFill>
                <a:effectLst/>
                <a:latin typeface="inherit"/>
              </a:rPr>
              <a:t>new</a:t>
            </a:r>
            <a:r>
              <a:rPr lang="en-IN" b="0" i="0" dirty="0">
                <a:solidFill>
                  <a:srgbClr val="CFD5E0"/>
                </a:solidFill>
                <a:effectLst/>
                <a:latin typeface="inherit"/>
              </a:rPr>
              <a:t> </a:t>
            </a:r>
            <a:r>
              <a:rPr lang="en-IN" b="0" i="0" dirty="0">
                <a:solidFill>
                  <a:srgbClr val="4284AE"/>
                </a:solidFill>
                <a:effectLst/>
                <a:latin typeface="inherit"/>
              </a:rPr>
              <a:t>Exception</a:t>
            </a:r>
            <a:r>
              <a:rPr lang="en-IN" b="1" i="0" dirty="0">
                <a:solidFill>
                  <a:srgbClr val="6B7C8B"/>
                </a:solidFill>
                <a:effectLst/>
                <a:latin typeface="inherit"/>
              </a:rPr>
              <a:t>(</a:t>
            </a:r>
            <a:r>
              <a:rPr lang="en-IN" b="0" i="0" dirty="0">
                <a:solidFill>
                  <a:srgbClr val="7CC379"/>
                </a:solidFill>
                <a:effectLst/>
                <a:latin typeface="inherit"/>
              </a:rPr>
              <a:t>"Error Occurred while processing your request"</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await</a:t>
            </a:r>
            <a:r>
              <a:rPr lang="en-IN" b="0" i="0" dirty="0">
                <a:solidFill>
                  <a:srgbClr val="CFD5E0"/>
                </a:solidFill>
                <a:effectLst/>
                <a:latin typeface="inherit"/>
              </a:rPr>
              <a:t> </a:t>
            </a:r>
            <a:r>
              <a:rPr lang="en-IN" b="0" i="0" dirty="0" err="1">
                <a:solidFill>
                  <a:srgbClr val="CFD5E0"/>
                </a:solidFill>
                <a:effectLst/>
                <a:latin typeface="inherit"/>
              </a:rPr>
              <a:t>context.</a:t>
            </a:r>
            <a:r>
              <a:rPr lang="en-IN" b="0" i="0" dirty="0" err="1">
                <a:solidFill>
                  <a:srgbClr val="4284AE"/>
                </a:solidFill>
                <a:effectLst/>
                <a:latin typeface="inherit"/>
              </a:rPr>
              <a:t>Response</a:t>
            </a:r>
            <a:r>
              <a:rPr lang="en-IN" b="0" i="0" dirty="0" err="1">
                <a:solidFill>
                  <a:srgbClr val="CFD5E0"/>
                </a:solidFill>
                <a:effectLst/>
                <a:latin typeface="inherit"/>
              </a:rPr>
              <a:t>.</a:t>
            </a:r>
            <a:r>
              <a:rPr lang="en-IN" b="0" i="0" dirty="0" err="1">
                <a:solidFill>
                  <a:srgbClr val="4284AE"/>
                </a:solidFill>
                <a:effectLst/>
                <a:latin typeface="inherit"/>
              </a:rPr>
              <a:t>WriteAsync</a:t>
            </a:r>
            <a:r>
              <a:rPr lang="en-IN" b="1" i="0" dirty="0">
                <a:solidFill>
                  <a:srgbClr val="6B7C8B"/>
                </a:solidFill>
                <a:effectLst/>
                <a:latin typeface="inherit"/>
              </a:rPr>
              <a:t>(</a:t>
            </a:r>
            <a:r>
              <a:rPr lang="en-IN" b="0" i="0" dirty="0">
                <a:solidFill>
                  <a:srgbClr val="7CC379"/>
                </a:solidFill>
                <a:effectLst/>
                <a:latin typeface="inherit"/>
              </a:rPr>
              <a:t>"Hello World!"</a:t>
            </a:r>
            <a:r>
              <a:rPr lang="en-IN" b="1" i="0" dirty="0">
                <a:solidFill>
                  <a:srgbClr val="6B7C8B"/>
                </a:solidFill>
                <a:effectLst/>
                <a:latin typeface="inherit"/>
              </a:rPr>
              <a:t>)</a:t>
            </a:r>
            <a:r>
              <a:rPr lang="en-IN" b="0" i="0" dirty="0">
                <a:solidFill>
                  <a:srgbClr val="CFD5E0"/>
                </a:solidFill>
                <a:effectLst/>
                <a:latin typeface="inherit"/>
              </a:rPr>
              <a:t>;  </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p:txBody>
      </p:sp>
      <p:sp>
        <p:nvSpPr>
          <p:cNvPr id="11" name="TextBox 10">
            <a:extLst>
              <a:ext uri="{FF2B5EF4-FFF2-40B4-BE49-F238E27FC236}">
                <a16:creationId xmlns:a16="http://schemas.microsoft.com/office/drawing/2014/main" id="{FDE7F94B-BC1E-4A7F-A78A-3DA6D6CC9A79}"/>
              </a:ext>
            </a:extLst>
          </p:cNvPr>
          <p:cNvSpPr txBox="1"/>
          <p:nvPr/>
        </p:nvSpPr>
        <p:spPr>
          <a:xfrm>
            <a:off x="479323" y="5746557"/>
            <a:ext cx="11299722"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With the above change in place, now run the application and it should display the following page with the detailed information about the unhandled exception.</a:t>
            </a:r>
            <a:endParaRPr lang="en-IN" dirty="0"/>
          </a:p>
        </p:txBody>
      </p:sp>
    </p:spTree>
    <p:extLst>
      <p:ext uri="{BB962C8B-B14F-4D97-AF65-F5344CB8AC3E}">
        <p14:creationId xmlns:p14="http://schemas.microsoft.com/office/powerpoint/2010/main" val="3842851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ow to use DeveloperExceptionPage Middleware in ASP.NET Core Application?">
            <a:extLst>
              <a:ext uri="{FF2B5EF4-FFF2-40B4-BE49-F238E27FC236}">
                <a16:creationId xmlns:a16="http://schemas.microsoft.com/office/drawing/2014/main" id="{A2848928-9905-464F-AF6B-639DC27DAF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23" y="214927"/>
            <a:ext cx="6444321" cy="277407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7880AC4-2DC2-476F-9606-E395A848E68F}"/>
              </a:ext>
            </a:extLst>
          </p:cNvPr>
          <p:cNvSpPr txBox="1"/>
          <p:nvPr/>
        </p:nvSpPr>
        <p:spPr>
          <a:xfrm>
            <a:off x="7167716" y="0"/>
            <a:ext cx="4925961" cy="1200329"/>
          </a:xfrm>
          <a:prstGeom prst="rect">
            <a:avLst/>
          </a:prstGeom>
          <a:noFill/>
        </p:spPr>
        <p:txBody>
          <a:bodyPr wrap="square">
            <a:spAutoFit/>
          </a:bodyPr>
          <a:lstStyle/>
          <a:p>
            <a:r>
              <a:rPr lang="en-US" b="0" i="0" dirty="0">
                <a:solidFill>
                  <a:srgbClr val="000000"/>
                </a:solidFill>
                <a:effectLst/>
                <a:latin typeface="arial" panose="020B0604020202020204" pitchFamily="34" charset="0"/>
              </a:rPr>
              <a:t>As you can see in the above image, the Developer Exception Page contains five tabs such as Stack, Queue, Cookies, Headers, and Routing.</a:t>
            </a:r>
            <a:endParaRPr lang="en-IN" dirty="0"/>
          </a:p>
        </p:txBody>
      </p:sp>
      <p:sp>
        <p:nvSpPr>
          <p:cNvPr id="8" name="TextBox 7">
            <a:extLst>
              <a:ext uri="{FF2B5EF4-FFF2-40B4-BE49-F238E27FC236}">
                <a16:creationId xmlns:a16="http://schemas.microsoft.com/office/drawing/2014/main" id="{C32C7F10-22BA-4DF0-AE5F-606B8F07222F}"/>
              </a:ext>
            </a:extLst>
          </p:cNvPr>
          <p:cNvSpPr txBox="1"/>
          <p:nvPr/>
        </p:nvSpPr>
        <p:spPr>
          <a:xfrm>
            <a:off x="272483" y="3017120"/>
            <a:ext cx="11742536" cy="3970318"/>
          </a:xfrm>
          <a:prstGeom prst="rect">
            <a:avLst/>
          </a:prstGeom>
          <a:noFill/>
        </p:spPr>
        <p:txBody>
          <a:bodyPr wrap="square">
            <a:spAutoFit/>
          </a:bodyPr>
          <a:lstStyle/>
          <a:p>
            <a:pPr algn="just" fontAlgn="base">
              <a:buFont typeface="+mj-lt"/>
              <a:buAutoNum type="arabicPeriod"/>
            </a:pPr>
            <a:r>
              <a:rPr lang="en-US" b="1" i="0" dirty="0">
                <a:solidFill>
                  <a:srgbClr val="000000"/>
                </a:solidFill>
                <a:effectLst/>
                <a:latin typeface="arial" panose="020B0604020202020204" pitchFamily="34" charset="0"/>
              </a:rPr>
              <a:t>Stack</a:t>
            </a:r>
            <a:r>
              <a:rPr lang="en-US" b="0" i="0" dirty="0">
                <a:solidFill>
                  <a:srgbClr val="000000"/>
                </a:solidFill>
                <a:effectLst/>
                <a:latin typeface="arial" panose="020B0604020202020204" pitchFamily="34" charset="0"/>
              </a:rPr>
              <a:t>: The Stack tab gives the information of stack trace which indicated where exactly the exception occurred, the file name, and the line number that causes the exception.</a:t>
            </a:r>
            <a:endParaRPr lang="en-US" b="0" i="0" dirty="0">
              <a:solidFill>
                <a:srgbClr val="212529"/>
              </a:solidFill>
              <a:effectLst/>
              <a:latin typeface="-apple-system"/>
            </a:endParaRPr>
          </a:p>
          <a:p>
            <a:pPr algn="just" fontAlgn="base">
              <a:buFont typeface="+mj-lt"/>
              <a:buAutoNum type="arabicPeriod"/>
            </a:pPr>
            <a:r>
              <a:rPr lang="en-US" b="1" i="0" dirty="0">
                <a:solidFill>
                  <a:srgbClr val="000000"/>
                </a:solidFill>
                <a:effectLst/>
                <a:latin typeface="arial" panose="020B0604020202020204" pitchFamily="34" charset="0"/>
              </a:rPr>
              <a:t>Query</a:t>
            </a:r>
            <a:r>
              <a:rPr lang="en-US" b="0" i="0" dirty="0">
                <a:solidFill>
                  <a:srgbClr val="000000"/>
                </a:solidFill>
                <a:effectLst/>
                <a:latin typeface="arial" panose="020B0604020202020204" pitchFamily="34" charset="0"/>
              </a:rPr>
              <a:t>: The Query tab gives information about the query strings.</a:t>
            </a:r>
            <a:endParaRPr lang="en-US" b="0" i="0" dirty="0">
              <a:solidFill>
                <a:srgbClr val="212529"/>
              </a:solidFill>
              <a:effectLst/>
              <a:latin typeface="-apple-system"/>
            </a:endParaRPr>
          </a:p>
          <a:p>
            <a:pPr algn="just" fontAlgn="base">
              <a:buFont typeface="+mj-lt"/>
              <a:buAutoNum type="arabicPeriod"/>
            </a:pPr>
            <a:r>
              <a:rPr lang="en-US" b="1" i="0" dirty="0">
                <a:solidFill>
                  <a:srgbClr val="000000"/>
                </a:solidFill>
                <a:effectLst/>
                <a:latin typeface="arial" panose="020B0604020202020204" pitchFamily="34" charset="0"/>
              </a:rPr>
              <a:t>Cookies</a:t>
            </a:r>
            <a:r>
              <a:rPr lang="en-US" b="0" i="0" dirty="0">
                <a:solidFill>
                  <a:srgbClr val="000000"/>
                </a:solidFill>
                <a:effectLst/>
                <a:latin typeface="arial" panose="020B0604020202020204" pitchFamily="34" charset="0"/>
              </a:rPr>
              <a:t>: The Cookies tab displays the information about the cookies set by the request.</a:t>
            </a:r>
            <a:endParaRPr lang="en-US" b="0" i="0" dirty="0">
              <a:solidFill>
                <a:srgbClr val="212529"/>
              </a:solidFill>
              <a:effectLst/>
              <a:latin typeface="-apple-system"/>
            </a:endParaRPr>
          </a:p>
          <a:p>
            <a:pPr algn="just" fontAlgn="base">
              <a:buFont typeface="+mj-lt"/>
              <a:buAutoNum type="arabicPeriod"/>
            </a:pPr>
            <a:r>
              <a:rPr lang="en-US" b="1" i="0" dirty="0">
                <a:solidFill>
                  <a:srgbClr val="000000"/>
                </a:solidFill>
                <a:effectLst/>
                <a:latin typeface="arial" panose="020B0604020202020204" pitchFamily="34" charset="0"/>
              </a:rPr>
              <a:t>Header</a:t>
            </a:r>
            <a:r>
              <a:rPr lang="en-US" b="0" i="0" dirty="0">
                <a:solidFill>
                  <a:srgbClr val="000000"/>
                </a:solidFill>
                <a:effectLst/>
                <a:latin typeface="arial" panose="020B0604020202020204" pitchFamily="34" charset="0"/>
              </a:rPr>
              <a:t>: The Header tab gives information about the headers which is sent by the client when makes the request.</a:t>
            </a:r>
            <a:endParaRPr lang="en-US" b="0" i="0" dirty="0">
              <a:solidFill>
                <a:srgbClr val="212529"/>
              </a:solidFill>
              <a:effectLst/>
              <a:latin typeface="-apple-system"/>
            </a:endParaRPr>
          </a:p>
          <a:p>
            <a:pPr algn="just" fontAlgn="base">
              <a:buFont typeface="+mj-lt"/>
              <a:buAutoNum type="arabicPeriod"/>
            </a:pPr>
            <a:r>
              <a:rPr lang="en-US" b="1" i="0" dirty="0">
                <a:solidFill>
                  <a:srgbClr val="000000"/>
                </a:solidFill>
                <a:effectLst/>
                <a:latin typeface="arial" panose="020B0604020202020204" pitchFamily="34" charset="0"/>
              </a:rPr>
              <a:t>Route</a:t>
            </a:r>
            <a:r>
              <a:rPr lang="en-US" b="0" i="0" dirty="0">
                <a:solidFill>
                  <a:srgbClr val="000000"/>
                </a:solidFill>
                <a:effectLst/>
                <a:latin typeface="arial" panose="020B0604020202020204" pitchFamily="34" charset="0"/>
              </a:rPr>
              <a:t>: The Route tab gives information about the Route Pattern and Route HTTP Verb type of the method, etc.</a:t>
            </a: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Now if you verify the Query tab and Cookies tab, then you will not see any information as you are not passing any query string value in the URL or you are not setting the cookies in the request. In our upcoming articles, we will discuss the Query string and Cookies in detail.</a:t>
            </a:r>
          </a:p>
          <a:p>
            <a:pPr algn="just" fontAlgn="base"/>
            <a:endParaRPr lang="en-US" b="0" i="0" dirty="0">
              <a:solidFill>
                <a:srgbClr val="212529"/>
              </a:solidFill>
              <a:effectLst/>
              <a:latin typeface="-apple-system"/>
            </a:endParaRPr>
          </a:p>
          <a:p>
            <a:pPr algn="just" fontAlgn="base"/>
            <a:r>
              <a:rPr lang="en-US" b="1" i="0" dirty="0">
                <a:solidFill>
                  <a:srgbClr val="000000"/>
                </a:solidFill>
                <a:effectLst/>
                <a:latin typeface="arial" panose="020B0604020202020204" pitchFamily="34" charset="0"/>
              </a:rPr>
              <a:t>Note: </a:t>
            </a:r>
            <a:r>
              <a:rPr lang="en-US" b="0" i="0" dirty="0">
                <a:solidFill>
                  <a:srgbClr val="000000"/>
                </a:solidFill>
                <a:effectLst/>
                <a:latin typeface="arial" panose="020B0604020202020204" pitchFamily="34" charset="0"/>
              </a:rPr>
              <a:t>Please Enable the Developer Exception Page Middleware only when the application is running in the Development environment. You don’t want to share detailed exception information when the application is running in the production environment.</a:t>
            </a:r>
            <a:endParaRPr lang="en-US" b="0" i="0" dirty="0">
              <a:solidFill>
                <a:srgbClr val="212529"/>
              </a:solidFill>
              <a:effectLst/>
              <a:latin typeface="-apple-system"/>
            </a:endParaRPr>
          </a:p>
        </p:txBody>
      </p:sp>
    </p:spTree>
    <p:extLst>
      <p:ext uri="{BB962C8B-B14F-4D97-AF65-F5344CB8AC3E}">
        <p14:creationId xmlns:p14="http://schemas.microsoft.com/office/powerpoint/2010/main" val="3630085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72F3AA1-C45A-4D57-8545-E9EA64034DB3}"/>
              </a:ext>
            </a:extLst>
          </p:cNvPr>
          <p:cNvSpPr txBox="1"/>
          <p:nvPr/>
        </p:nvSpPr>
        <p:spPr>
          <a:xfrm>
            <a:off x="2113936" y="0"/>
            <a:ext cx="9409470"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How to Customize the </a:t>
            </a:r>
            <a:r>
              <a:rPr lang="en-US" b="1" i="0" dirty="0" err="1">
                <a:solidFill>
                  <a:srgbClr val="000000"/>
                </a:solidFill>
                <a:effectLst/>
                <a:latin typeface="arial" panose="020B0604020202020204" pitchFamily="34" charset="0"/>
              </a:rPr>
              <a:t>UseDeveloperExceptionPage</a:t>
            </a:r>
            <a:r>
              <a:rPr lang="en-US" b="1" i="0" dirty="0">
                <a:solidFill>
                  <a:srgbClr val="000000"/>
                </a:solidFill>
                <a:effectLst/>
                <a:latin typeface="arial" panose="020B0604020202020204" pitchFamily="34" charset="0"/>
              </a:rPr>
              <a:t> Middleware in ASP.NET Core?</a:t>
            </a:r>
            <a:endParaRPr lang="en-US" b="0" i="0" dirty="0">
              <a:solidFill>
                <a:srgbClr val="3A3A3A"/>
              </a:solidFill>
              <a:effectLst/>
              <a:latin typeface="-apple-system"/>
            </a:endParaRPr>
          </a:p>
        </p:txBody>
      </p:sp>
      <p:sp>
        <p:nvSpPr>
          <p:cNvPr id="7" name="TextBox 6">
            <a:extLst>
              <a:ext uri="{FF2B5EF4-FFF2-40B4-BE49-F238E27FC236}">
                <a16:creationId xmlns:a16="http://schemas.microsoft.com/office/drawing/2014/main" id="{AC7D3A77-AE47-450D-B9E1-07ED18390CEB}"/>
              </a:ext>
            </a:extLst>
          </p:cNvPr>
          <p:cNvSpPr txBox="1"/>
          <p:nvPr/>
        </p:nvSpPr>
        <p:spPr>
          <a:xfrm>
            <a:off x="0" y="369332"/>
            <a:ext cx="11755225" cy="2862322"/>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If you want then you can also customize the </a:t>
            </a:r>
            <a:r>
              <a:rPr lang="en-US" b="0" i="0" dirty="0" err="1">
                <a:solidFill>
                  <a:srgbClr val="000000"/>
                </a:solidFill>
                <a:effectLst/>
                <a:latin typeface="arial" panose="020B0604020202020204" pitchFamily="34" charset="0"/>
              </a:rPr>
              <a:t>UseDeveloperExceptionPage</a:t>
            </a:r>
            <a:r>
              <a:rPr lang="en-US" b="0" i="0" dirty="0">
                <a:solidFill>
                  <a:srgbClr val="000000"/>
                </a:solidFill>
                <a:effectLst/>
                <a:latin typeface="arial" panose="020B0604020202020204" pitchFamily="34" charset="0"/>
              </a:rPr>
              <a:t> middleware. The point that you need to remember is whenever you want to customize a middleware component in ASP.NET Core then you need to use the respective Options object. For example</a:t>
            </a:r>
            <a:endParaRPr lang="en-US" b="0" i="0" dirty="0">
              <a:solidFill>
                <a:srgbClr val="212529"/>
              </a:solidFill>
              <a:effectLst/>
              <a:latin typeface="-apple-system"/>
            </a:endParaRPr>
          </a:p>
          <a:p>
            <a:pPr algn="just" fontAlgn="base">
              <a:buFont typeface="+mj-lt"/>
              <a:buAutoNum type="arabicPeriod"/>
            </a:pPr>
            <a:r>
              <a:rPr lang="en-US" b="1" i="0" dirty="0" err="1">
                <a:solidFill>
                  <a:srgbClr val="000000"/>
                </a:solidFill>
                <a:effectLst/>
                <a:latin typeface="arial" panose="020B0604020202020204" pitchFamily="34" charset="0"/>
              </a:rPr>
              <a:t>UseDeveloperExceptionPage</a:t>
            </a:r>
            <a:r>
              <a:rPr lang="en-US" b="1" i="0" dirty="0">
                <a:solidFill>
                  <a:srgbClr val="000000"/>
                </a:solidFill>
                <a:effectLst/>
                <a:latin typeface="arial" panose="020B0604020202020204" pitchFamily="34" charset="0"/>
              </a:rPr>
              <a:t> =&gt;</a:t>
            </a:r>
            <a:r>
              <a:rPr lang="en-US" b="0" i="0" dirty="0">
                <a:solidFill>
                  <a:srgbClr val="000000"/>
                </a:solidFill>
                <a:effectLst/>
                <a:latin typeface="arial" panose="020B0604020202020204" pitchFamily="34" charset="0"/>
              </a:rPr>
              <a:t> to customize this middleware use </a:t>
            </a:r>
            <a:r>
              <a:rPr lang="en-US" b="0" i="0" dirty="0" err="1">
                <a:solidFill>
                  <a:srgbClr val="000000"/>
                </a:solidFill>
                <a:effectLst/>
                <a:latin typeface="arial" panose="020B0604020202020204" pitchFamily="34" charset="0"/>
              </a:rPr>
              <a:t>DeveloperExceptionPageOptions</a:t>
            </a:r>
            <a:r>
              <a:rPr lang="en-US" b="0" i="0" dirty="0">
                <a:solidFill>
                  <a:srgbClr val="000000"/>
                </a:solidFill>
                <a:effectLst/>
                <a:latin typeface="arial" panose="020B0604020202020204" pitchFamily="34" charset="0"/>
              </a:rPr>
              <a:t> object</a:t>
            </a:r>
            <a:endParaRPr lang="en-US" b="0" i="0" dirty="0">
              <a:solidFill>
                <a:srgbClr val="212529"/>
              </a:solidFill>
              <a:effectLst/>
              <a:latin typeface="-apple-system"/>
            </a:endParaRPr>
          </a:p>
          <a:p>
            <a:pPr algn="just" fontAlgn="base">
              <a:buFont typeface="+mj-lt"/>
              <a:buAutoNum type="arabicPeriod"/>
            </a:pPr>
            <a:r>
              <a:rPr lang="en-US" b="1" i="0" dirty="0" err="1">
                <a:solidFill>
                  <a:srgbClr val="000000"/>
                </a:solidFill>
                <a:effectLst/>
                <a:latin typeface="arial" panose="020B0604020202020204" pitchFamily="34" charset="0"/>
              </a:rPr>
              <a:t>UseDefaultFiles</a:t>
            </a:r>
            <a:r>
              <a:rPr lang="en-US" b="1" i="0" dirty="0">
                <a:solidFill>
                  <a:srgbClr val="000000"/>
                </a:solidFill>
                <a:effectLst/>
                <a:latin typeface="arial" panose="020B0604020202020204" pitchFamily="34" charset="0"/>
              </a:rPr>
              <a:t> =&gt;</a:t>
            </a:r>
            <a:r>
              <a:rPr lang="en-US" b="0" i="0" dirty="0">
                <a:solidFill>
                  <a:srgbClr val="000000"/>
                </a:solidFill>
                <a:effectLst/>
                <a:latin typeface="arial" panose="020B0604020202020204" pitchFamily="34" charset="0"/>
              </a:rPr>
              <a:t> to customize this middleware use </a:t>
            </a:r>
            <a:r>
              <a:rPr lang="en-US" b="0" i="0" dirty="0" err="1">
                <a:solidFill>
                  <a:srgbClr val="000000"/>
                </a:solidFill>
                <a:effectLst/>
                <a:latin typeface="arial" panose="020B0604020202020204" pitchFamily="34" charset="0"/>
              </a:rPr>
              <a:t>DefaultFilesOptions</a:t>
            </a:r>
            <a:r>
              <a:rPr lang="en-US" b="0" i="0" dirty="0">
                <a:solidFill>
                  <a:srgbClr val="000000"/>
                </a:solidFill>
                <a:effectLst/>
                <a:latin typeface="arial" panose="020B0604020202020204" pitchFamily="34" charset="0"/>
              </a:rPr>
              <a:t> object</a:t>
            </a:r>
            <a:endParaRPr lang="en-US" b="0" i="0" dirty="0">
              <a:solidFill>
                <a:srgbClr val="212529"/>
              </a:solidFill>
              <a:effectLst/>
              <a:latin typeface="-apple-system"/>
            </a:endParaRPr>
          </a:p>
          <a:p>
            <a:pPr algn="just" fontAlgn="base">
              <a:buFont typeface="+mj-lt"/>
              <a:buAutoNum type="arabicPeriod"/>
            </a:pPr>
            <a:r>
              <a:rPr lang="en-US" b="1" i="0" dirty="0" err="1">
                <a:solidFill>
                  <a:srgbClr val="000000"/>
                </a:solidFill>
                <a:effectLst/>
                <a:latin typeface="arial" panose="020B0604020202020204" pitchFamily="34" charset="0"/>
              </a:rPr>
              <a:t>UseStaticFiles</a:t>
            </a:r>
            <a:r>
              <a:rPr lang="en-US" b="1" i="0" dirty="0">
                <a:solidFill>
                  <a:srgbClr val="000000"/>
                </a:solidFill>
                <a:effectLst/>
                <a:latin typeface="arial" panose="020B0604020202020204" pitchFamily="34" charset="0"/>
              </a:rPr>
              <a:t> =&gt;</a:t>
            </a:r>
            <a:r>
              <a:rPr lang="en-US" b="0" i="0" dirty="0">
                <a:solidFill>
                  <a:srgbClr val="000000"/>
                </a:solidFill>
                <a:effectLst/>
                <a:latin typeface="arial" panose="020B0604020202020204" pitchFamily="34" charset="0"/>
              </a:rPr>
              <a:t> to customize this </a:t>
            </a:r>
            <a:r>
              <a:rPr lang="en-US" b="1" i="0" u="none" strike="noStrike" dirty="0">
                <a:solidFill>
                  <a:srgbClr val="007BFF"/>
                </a:solidFill>
                <a:effectLst/>
                <a:latin typeface="arial" panose="020B0604020202020204" pitchFamily="34" charset="0"/>
              </a:rPr>
              <a:t>middleware use </a:t>
            </a:r>
            <a:r>
              <a:rPr lang="en-US" b="1" i="0" u="none" strike="noStrike" dirty="0" err="1">
                <a:solidFill>
                  <a:srgbClr val="007BFF"/>
                </a:solidFill>
                <a:effectLst/>
                <a:latin typeface="arial" panose="020B0604020202020204" pitchFamily="34" charset="0"/>
              </a:rPr>
              <a:t>StaticFileOptions</a:t>
            </a:r>
            <a:r>
              <a:rPr lang="en-US" b="0" i="0" dirty="0">
                <a:solidFill>
                  <a:srgbClr val="000000"/>
                </a:solidFill>
                <a:effectLst/>
                <a:latin typeface="arial" panose="020B0604020202020204" pitchFamily="34" charset="0"/>
              </a:rPr>
              <a:t> object</a:t>
            </a:r>
            <a:endParaRPr lang="en-US" b="0" i="0" dirty="0">
              <a:solidFill>
                <a:srgbClr val="212529"/>
              </a:solidFill>
              <a:effectLst/>
              <a:latin typeface="-apple-system"/>
            </a:endParaRPr>
          </a:p>
          <a:p>
            <a:pPr algn="just" fontAlgn="base">
              <a:buFont typeface="+mj-lt"/>
              <a:buAutoNum type="arabicPeriod"/>
            </a:pPr>
            <a:r>
              <a:rPr lang="en-US" b="1" i="0" dirty="0" err="1">
                <a:solidFill>
                  <a:srgbClr val="000000"/>
                </a:solidFill>
                <a:effectLst/>
                <a:latin typeface="arial" panose="020B0604020202020204" pitchFamily="34" charset="0"/>
              </a:rPr>
              <a:t>UseFileServer</a:t>
            </a:r>
            <a:r>
              <a:rPr lang="en-US" b="1" i="0" dirty="0">
                <a:solidFill>
                  <a:srgbClr val="000000"/>
                </a:solidFill>
                <a:effectLst/>
                <a:latin typeface="arial" panose="020B0604020202020204" pitchFamily="34" charset="0"/>
              </a:rPr>
              <a:t> =&gt;</a:t>
            </a:r>
            <a:r>
              <a:rPr lang="en-US" b="0" i="0" dirty="0">
                <a:solidFill>
                  <a:srgbClr val="000000"/>
                </a:solidFill>
                <a:effectLst/>
                <a:latin typeface="arial" panose="020B0604020202020204" pitchFamily="34" charset="0"/>
              </a:rPr>
              <a:t> to customize this middleware use </a:t>
            </a:r>
            <a:r>
              <a:rPr lang="en-US" b="0" i="0" dirty="0" err="1">
                <a:solidFill>
                  <a:srgbClr val="000000"/>
                </a:solidFill>
                <a:effectLst/>
                <a:latin typeface="arial" panose="020B0604020202020204" pitchFamily="34" charset="0"/>
              </a:rPr>
              <a:t>FileServerOptions</a:t>
            </a:r>
            <a:r>
              <a:rPr lang="en-US" b="0" i="0" dirty="0">
                <a:solidFill>
                  <a:srgbClr val="000000"/>
                </a:solidFill>
                <a:effectLst/>
                <a:latin typeface="arial" panose="020B0604020202020204" pitchFamily="34" charset="0"/>
              </a:rPr>
              <a:t> object</a:t>
            </a:r>
          </a:p>
          <a:p>
            <a:pPr algn="just" fontAlgn="base">
              <a:buFont typeface="+mj-lt"/>
              <a:buAutoNum type="arabicPeriod"/>
            </a:pP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As we are going to customize the </a:t>
            </a:r>
            <a:r>
              <a:rPr lang="en-US" b="0" i="0" dirty="0" err="1">
                <a:solidFill>
                  <a:srgbClr val="000000"/>
                </a:solidFill>
                <a:effectLst/>
                <a:latin typeface="arial" panose="020B0604020202020204" pitchFamily="34" charset="0"/>
              </a:rPr>
              <a:t>UseDeveloperExceptionPage</a:t>
            </a:r>
            <a:r>
              <a:rPr lang="en-US" b="0" i="0" dirty="0">
                <a:solidFill>
                  <a:srgbClr val="000000"/>
                </a:solidFill>
                <a:effectLst/>
                <a:latin typeface="arial" panose="020B0604020202020204" pitchFamily="34" charset="0"/>
              </a:rPr>
              <a:t>() </a:t>
            </a:r>
            <a:r>
              <a:rPr lang="en-US" b="1" i="0" u="none" strike="noStrike" dirty="0">
                <a:solidFill>
                  <a:srgbClr val="007BFF"/>
                </a:solidFill>
                <a:effectLst/>
                <a:latin typeface="arial" panose="020B0604020202020204" pitchFamily="34" charset="0"/>
              </a:rPr>
              <a:t>middleware componen</a:t>
            </a:r>
            <a:r>
              <a:rPr lang="en-US" b="0" i="0" dirty="0">
                <a:solidFill>
                  <a:srgbClr val="000000"/>
                </a:solidFill>
                <a:effectLst/>
                <a:latin typeface="arial" panose="020B0604020202020204" pitchFamily="34" charset="0"/>
              </a:rPr>
              <a:t>t, so we need to use the </a:t>
            </a:r>
            <a:r>
              <a:rPr lang="en-US" b="0" i="0" dirty="0" err="1">
                <a:solidFill>
                  <a:srgbClr val="000000"/>
                </a:solidFill>
                <a:effectLst/>
                <a:latin typeface="arial" panose="020B0604020202020204" pitchFamily="34" charset="0"/>
              </a:rPr>
              <a:t>DeveloperExceptionPageOptions</a:t>
            </a:r>
            <a:r>
              <a:rPr lang="en-US" b="0" i="0" dirty="0">
                <a:solidFill>
                  <a:srgbClr val="000000"/>
                </a:solidFill>
                <a:effectLst/>
                <a:latin typeface="arial" panose="020B0604020202020204" pitchFamily="34" charset="0"/>
              </a:rPr>
              <a:t> object. So, modify Startup class as shown below.</a:t>
            </a:r>
            <a:endParaRPr lang="en-US" b="0" i="0" dirty="0">
              <a:solidFill>
                <a:srgbClr val="212529"/>
              </a:solidFill>
              <a:effectLst/>
              <a:latin typeface="-apple-system"/>
            </a:endParaRPr>
          </a:p>
        </p:txBody>
      </p:sp>
    </p:spTree>
    <p:extLst>
      <p:ext uri="{BB962C8B-B14F-4D97-AF65-F5344CB8AC3E}">
        <p14:creationId xmlns:p14="http://schemas.microsoft.com/office/powerpoint/2010/main" val="2343411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03D8F74-0459-4588-82C5-A41D48E5CB7A}"/>
              </a:ext>
            </a:extLst>
          </p:cNvPr>
          <p:cNvSpPr txBox="1"/>
          <p:nvPr/>
        </p:nvSpPr>
        <p:spPr>
          <a:xfrm>
            <a:off x="403123" y="-1"/>
            <a:ext cx="8740877" cy="5355312"/>
          </a:xfrm>
          <a:prstGeom prst="rect">
            <a:avLst/>
          </a:prstGeom>
          <a:solidFill>
            <a:schemeClr val="tx1"/>
          </a:solidFill>
        </p:spPr>
        <p:txBody>
          <a:bodyPr wrap="square">
            <a:spAutoFit/>
          </a:bodyPr>
          <a:lstStyle/>
          <a:p>
            <a:pPr algn="l" fontAlgn="base"/>
            <a:r>
              <a:rPr lang="en-IN" b="1" i="0" dirty="0">
                <a:solidFill>
                  <a:srgbClr val="D171DD"/>
                </a:solidFill>
                <a:effectLst/>
                <a:latin typeface="inherit"/>
              </a:rPr>
              <a:t>if</a:t>
            </a:r>
            <a:r>
              <a:rPr lang="en-IN" b="0" i="0" dirty="0">
                <a:solidFill>
                  <a:srgbClr val="CFD5E0"/>
                </a:solidFill>
                <a:effectLst/>
                <a:latin typeface="inherit"/>
              </a:rPr>
              <a:t> </a:t>
            </a:r>
            <a:r>
              <a:rPr lang="en-IN" b="1" i="0" dirty="0">
                <a:solidFill>
                  <a:srgbClr val="6B7C8B"/>
                </a:solidFill>
                <a:effectLst/>
                <a:latin typeface="inherit"/>
              </a:rPr>
              <a:t>(</a:t>
            </a:r>
            <a:r>
              <a:rPr lang="en-IN" b="0" i="0" dirty="0" err="1">
                <a:solidFill>
                  <a:srgbClr val="CFD5E0"/>
                </a:solidFill>
                <a:effectLst/>
                <a:latin typeface="inherit"/>
              </a:rPr>
              <a:t>env.</a:t>
            </a:r>
            <a:r>
              <a:rPr lang="en-IN" b="0" i="0" dirty="0" err="1">
                <a:solidFill>
                  <a:srgbClr val="4284AE"/>
                </a:solidFill>
                <a:effectLst/>
                <a:latin typeface="inherit"/>
              </a:rPr>
              <a:t>IsDevelopment</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DeveloperExceptionPageOptions</a:t>
            </a:r>
            <a:r>
              <a:rPr lang="en-IN" b="0" i="0" dirty="0">
                <a:solidFill>
                  <a:srgbClr val="CFD5E0"/>
                </a:solidFill>
                <a:effectLst/>
                <a:latin typeface="inherit"/>
              </a:rPr>
              <a:t> </a:t>
            </a:r>
            <a:r>
              <a:rPr lang="en-IN" b="0" i="0" dirty="0" err="1">
                <a:solidFill>
                  <a:srgbClr val="CFD5E0"/>
                </a:solidFill>
                <a:effectLst/>
                <a:latin typeface="inherit"/>
              </a:rPr>
              <a:t>developerExceptionPageOptions</a:t>
            </a:r>
            <a:r>
              <a:rPr lang="en-IN" b="0" i="0" dirty="0">
                <a:solidFill>
                  <a:srgbClr val="CFD5E0"/>
                </a:solidFill>
                <a:effectLst/>
                <a:latin typeface="inherit"/>
              </a:rPr>
              <a:t> = </a:t>
            </a:r>
            <a:r>
              <a:rPr lang="en-IN" b="0" i="0" dirty="0">
                <a:solidFill>
                  <a:srgbClr val="4284AE"/>
                </a:solidFill>
                <a:effectLst/>
                <a:latin typeface="inherit"/>
              </a:rPr>
              <a:t>new</a:t>
            </a:r>
            <a:r>
              <a:rPr lang="en-IN" b="0" i="0" dirty="0">
                <a:solidFill>
                  <a:srgbClr val="CFD5E0"/>
                </a:solidFill>
                <a:effectLst/>
                <a:latin typeface="inherit"/>
              </a:rPr>
              <a:t> </a:t>
            </a:r>
            <a:r>
              <a:rPr lang="en-IN" b="0" i="0" dirty="0" err="1">
                <a:solidFill>
                  <a:srgbClr val="CFD5E0"/>
                </a:solidFill>
                <a:effectLst/>
                <a:latin typeface="inherit"/>
              </a:rPr>
              <a:t>DeveloperExceptionPageOptions</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SourceCodeLineCount</a:t>
            </a:r>
            <a:r>
              <a:rPr lang="en-IN" b="0" i="0" dirty="0">
                <a:solidFill>
                  <a:srgbClr val="CFD5E0"/>
                </a:solidFill>
                <a:effectLst/>
                <a:latin typeface="inherit"/>
              </a:rPr>
              <a:t> = </a:t>
            </a:r>
            <a:r>
              <a:rPr lang="en-IN" b="0" i="0" dirty="0">
                <a:solidFill>
                  <a:srgbClr val="D19A66"/>
                </a:solidFill>
                <a:effectLst/>
                <a:latin typeface="inherit"/>
              </a:rPr>
              <a:t>5</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UseDeveloperExceptionPage</a:t>
            </a:r>
            <a:r>
              <a:rPr lang="en-IN" b="1" i="0" dirty="0">
                <a:solidFill>
                  <a:srgbClr val="6B7C8B"/>
                </a:solidFill>
                <a:effectLst/>
                <a:latin typeface="inherit"/>
              </a:rPr>
              <a:t>(</a:t>
            </a:r>
            <a:r>
              <a:rPr lang="en-IN" b="0" i="0" dirty="0" err="1">
                <a:solidFill>
                  <a:srgbClr val="CFD5E0"/>
                </a:solidFill>
                <a:effectLst/>
                <a:latin typeface="inherit"/>
              </a:rPr>
              <a:t>developerExceptionPageOptions</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UseRouting</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UseEndpoints</a:t>
            </a:r>
            <a:r>
              <a:rPr lang="en-IN" b="1" i="0" dirty="0">
                <a:solidFill>
                  <a:srgbClr val="6B7C8B"/>
                </a:solidFill>
                <a:effectLst/>
                <a:latin typeface="inherit"/>
              </a:rPr>
              <a:t>(</a:t>
            </a:r>
            <a:r>
              <a:rPr lang="en-IN" b="0" i="0" dirty="0">
                <a:solidFill>
                  <a:srgbClr val="CFD5E0"/>
                </a:solidFill>
                <a:effectLst/>
                <a:latin typeface="inherit"/>
              </a:rPr>
              <a:t>endpoints =</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endpoints.</a:t>
            </a:r>
            <a:r>
              <a:rPr lang="en-IN" b="0" i="0" dirty="0" err="1">
                <a:solidFill>
                  <a:srgbClr val="4284AE"/>
                </a:solidFill>
                <a:effectLst/>
                <a:latin typeface="inherit"/>
              </a:rPr>
              <a:t>MapGet</a:t>
            </a:r>
            <a:r>
              <a:rPr lang="en-IN" b="1" i="0" dirty="0">
                <a:solidFill>
                  <a:srgbClr val="6B7C8B"/>
                </a:solidFill>
                <a:effectLst/>
                <a:latin typeface="inherit"/>
              </a:rPr>
              <a:t>(</a:t>
            </a:r>
            <a:r>
              <a:rPr lang="en-IN" b="0" i="0" dirty="0">
                <a:solidFill>
                  <a:srgbClr val="7CC379"/>
                </a:solidFill>
                <a:effectLst/>
                <a:latin typeface="inherit"/>
              </a:rPr>
              <a:t>"/"</a:t>
            </a:r>
            <a:r>
              <a:rPr lang="en-IN" b="0" i="0" dirty="0">
                <a:solidFill>
                  <a:srgbClr val="CFD5E0"/>
                </a:solidFill>
                <a:effectLst/>
                <a:latin typeface="inherit"/>
              </a:rPr>
              <a:t>, </a:t>
            </a:r>
            <a:r>
              <a:rPr lang="en-IN" b="1" i="0" dirty="0">
                <a:solidFill>
                  <a:srgbClr val="D171DD"/>
                </a:solidFill>
                <a:effectLst/>
                <a:latin typeface="inherit"/>
              </a:rPr>
              <a:t>async</a:t>
            </a:r>
            <a:r>
              <a:rPr lang="en-IN" b="0" i="0" dirty="0">
                <a:solidFill>
                  <a:srgbClr val="CFD5E0"/>
                </a:solidFill>
                <a:effectLst/>
                <a:latin typeface="inherit"/>
              </a:rPr>
              <a:t> context =</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throw</a:t>
            </a:r>
            <a:r>
              <a:rPr lang="en-IN" b="0" i="0" dirty="0">
                <a:solidFill>
                  <a:srgbClr val="CFD5E0"/>
                </a:solidFill>
                <a:effectLst/>
                <a:latin typeface="inherit"/>
              </a:rPr>
              <a:t> </a:t>
            </a:r>
            <a:r>
              <a:rPr lang="en-IN" b="0" i="0" dirty="0">
                <a:solidFill>
                  <a:srgbClr val="4284AE"/>
                </a:solidFill>
                <a:effectLst/>
                <a:latin typeface="inherit"/>
              </a:rPr>
              <a:t>new</a:t>
            </a:r>
            <a:r>
              <a:rPr lang="en-IN" b="0" i="0" dirty="0">
                <a:solidFill>
                  <a:srgbClr val="CFD5E0"/>
                </a:solidFill>
                <a:effectLst/>
                <a:latin typeface="inherit"/>
              </a:rPr>
              <a:t> </a:t>
            </a:r>
            <a:r>
              <a:rPr lang="en-IN" b="0" i="0" dirty="0">
                <a:solidFill>
                  <a:srgbClr val="4284AE"/>
                </a:solidFill>
                <a:effectLst/>
                <a:latin typeface="inherit"/>
              </a:rPr>
              <a:t>Exception</a:t>
            </a:r>
            <a:r>
              <a:rPr lang="en-IN" b="1" i="0" dirty="0">
                <a:solidFill>
                  <a:srgbClr val="6B7C8B"/>
                </a:solidFill>
                <a:effectLst/>
                <a:latin typeface="inherit"/>
              </a:rPr>
              <a:t>(</a:t>
            </a:r>
            <a:r>
              <a:rPr lang="en-IN" b="0" i="0" dirty="0">
                <a:solidFill>
                  <a:srgbClr val="7CC379"/>
                </a:solidFill>
                <a:effectLst/>
                <a:latin typeface="inherit"/>
              </a:rPr>
              <a:t>"Error Occurred while processing your request"</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await</a:t>
            </a:r>
            <a:r>
              <a:rPr lang="en-IN" b="0" i="0" dirty="0">
                <a:solidFill>
                  <a:srgbClr val="CFD5E0"/>
                </a:solidFill>
                <a:effectLst/>
                <a:latin typeface="inherit"/>
              </a:rPr>
              <a:t> </a:t>
            </a:r>
            <a:r>
              <a:rPr lang="en-IN" b="0" i="0" dirty="0" err="1">
                <a:solidFill>
                  <a:srgbClr val="CFD5E0"/>
                </a:solidFill>
                <a:effectLst/>
                <a:latin typeface="inherit"/>
              </a:rPr>
              <a:t>context.</a:t>
            </a:r>
            <a:r>
              <a:rPr lang="en-IN" b="0" i="0" dirty="0" err="1">
                <a:solidFill>
                  <a:srgbClr val="4284AE"/>
                </a:solidFill>
                <a:effectLst/>
                <a:latin typeface="inherit"/>
              </a:rPr>
              <a:t>Response</a:t>
            </a:r>
            <a:r>
              <a:rPr lang="en-IN" b="0" i="0" dirty="0" err="1">
                <a:solidFill>
                  <a:srgbClr val="CFD5E0"/>
                </a:solidFill>
                <a:effectLst/>
                <a:latin typeface="inherit"/>
              </a:rPr>
              <a:t>.</a:t>
            </a:r>
            <a:r>
              <a:rPr lang="en-IN" b="0" i="0" dirty="0" err="1">
                <a:solidFill>
                  <a:srgbClr val="4284AE"/>
                </a:solidFill>
                <a:effectLst/>
                <a:latin typeface="inherit"/>
              </a:rPr>
              <a:t>WriteAsync</a:t>
            </a:r>
            <a:r>
              <a:rPr lang="en-IN" b="1" i="0" dirty="0">
                <a:solidFill>
                  <a:srgbClr val="6B7C8B"/>
                </a:solidFill>
                <a:effectLst/>
                <a:latin typeface="inherit"/>
              </a:rPr>
              <a:t>(</a:t>
            </a:r>
            <a:r>
              <a:rPr lang="en-IN" b="0" i="0" dirty="0">
                <a:solidFill>
                  <a:srgbClr val="7CC379"/>
                </a:solidFill>
                <a:effectLst/>
                <a:latin typeface="inherit"/>
              </a:rPr>
              <a:t>"Hello World!"</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p:txBody>
      </p:sp>
    </p:spTree>
    <p:extLst>
      <p:ext uri="{BB962C8B-B14F-4D97-AF65-F5344CB8AC3E}">
        <p14:creationId xmlns:p14="http://schemas.microsoft.com/office/powerpoint/2010/main" val="4236135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AD5D9-5D10-4434-A59C-26A6DD6E7E5C}"/>
              </a:ext>
            </a:extLst>
          </p:cNvPr>
          <p:cNvSpPr>
            <a:spLocks noGrp="1"/>
          </p:cNvSpPr>
          <p:nvPr>
            <p:ph type="title"/>
          </p:nvPr>
        </p:nvSpPr>
        <p:spPr/>
        <p:txBody>
          <a:bodyPr/>
          <a:lstStyle/>
          <a:p>
            <a:endParaRPr lang="en-IN"/>
          </a:p>
        </p:txBody>
      </p:sp>
      <p:pic>
        <p:nvPicPr>
          <p:cNvPr id="10242" name="Picture 2" descr="How to Customize the Developer Exception Page Middleware in ASP.NET Core?">
            <a:extLst>
              <a:ext uri="{FF2B5EF4-FFF2-40B4-BE49-F238E27FC236}">
                <a16:creationId xmlns:a16="http://schemas.microsoft.com/office/drawing/2014/main" id="{88D29F02-166B-434E-A0FB-8E4B4E86ED4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7762" y="2762341"/>
            <a:ext cx="10515600" cy="3730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6550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3EF4A-4E86-4F64-AEA4-5E081FB95480}"/>
              </a:ext>
            </a:extLst>
          </p:cNvPr>
          <p:cNvSpPr txBox="1"/>
          <p:nvPr/>
        </p:nvSpPr>
        <p:spPr>
          <a:xfrm>
            <a:off x="2330244" y="109454"/>
            <a:ext cx="9261987"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Where do we need to configure the </a:t>
            </a:r>
            <a:r>
              <a:rPr lang="en-US" b="1" i="0" dirty="0" err="1">
                <a:solidFill>
                  <a:srgbClr val="000000"/>
                </a:solidFill>
                <a:effectLst/>
                <a:latin typeface="arial" panose="020B0604020202020204" pitchFamily="34" charset="0"/>
              </a:rPr>
              <a:t>UseDeveloperExceptionPage</a:t>
            </a:r>
            <a:r>
              <a:rPr lang="en-US" b="1" i="0" dirty="0">
                <a:solidFill>
                  <a:srgbClr val="000000"/>
                </a:solidFill>
                <a:effectLst/>
                <a:latin typeface="arial" panose="020B0604020202020204" pitchFamily="34" charset="0"/>
              </a:rPr>
              <a:t> Middleware?</a:t>
            </a:r>
            <a:endParaRPr lang="en-US" b="0" i="0" dirty="0">
              <a:solidFill>
                <a:srgbClr val="3A3A3A"/>
              </a:solidFill>
              <a:effectLst/>
              <a:latin typeface="-apple-system"/>
            </a:endParaRPr>
          </a:p>
        </p:txBody>
      </p:sp>
      <p:sp>
        <p:nvSpPr>
          <p:cNvPr id="7" name="TextBox 6">
            <a:extLst>
              <a:ext uri="{FF2B5EF4-FFF2-40B4-BE49-F238E27FC236}">
                <a16:creationId xmlns:a16="http://schemas.microsoft.com/office/drawing/2014/main" id="{3B39A186-39D2-431F-A6E6-DEF92288AD94}"/>
              </a:ext>
            </a:extLst>
          </p:cNvPr>
          <p:cNvSpPr txBox="1"/>
          <p:nvPr/>
        </p:nvSpPr>
        <p:spPr>
          <a:xfrm>
            <a:off x="0" y="554955"/>
            <a:ext cx="11415251" cy="1477328"/>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We need to configure the </a:t>
            </a:r>
            <a:r>
              <a:rPr lang="en-US" b="0" i="0" dirty="0" err="1">
                <a:solidFill>
                  <a:srgbClr val="000000"/>
                </a:solidFill>
                <a:effectLst/>
                <a:latin typeface="arial" panose="020B0604020202020204" pitchFamily="34" charset="0"/>
              </a:rPr>
              <a:t>UseDeveloperExceptionPage</a:t>
            </a:r>
            <a:r>
              <a:rPr lang="en-US" b="0" i="0" dirty="0">
                <a:solidFill>
                  <a:srgbClr val="000000"/>
                </a:solidFill>
                <a:effectLst/>
                <a:latin typeface="arial" panose="020B0604020202020204" pitchFamily="34" charset="0"/>
              </a:rPr>
              <a:t>() Middleware as early as possible in the application’s request processing pipeline so that it can handle the unhandled exception and then display the Developer Exception Page with the detailed information about the exception.</a:t>
            </a: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Let us see what happened when we configure the </a:t>
            </a:r>
            <a:r>
              <a:rPr lang="en-US" b="0" i="0" dirty="0" err="1">
                <a:solidFill>
                  <a:srgbClr val="000000"/>
                </a:solidFill>
                <a:effectLst/>
                <a:latin typeface="arial" panose="020B0604020202020204" pitchFamily="34" charset="0"/>
              </a:rPr>
              <a:t>UseDeveloperExceptionPage</a:t>
            </a:r>
            <a:r>
              <a:rPr lang="en-US" b="0" i="0" dirty="0">
                <a:solidFill>
                  <a:srgbClr val="000000"/>
                </a:solidFill>
                <a:effectLst/>
                <a:latin typeface="arial" panose="020B0604020202020204" pitchFamily="34" charset="0"/>
              </a:rPr>
              <a:t>() middleware after the middleware which is causing the exception. Please modify the Configure() method as shown below.</a:t>
            </a:r>
            <a:endParaRPr lang="en-US" b="0" i="0" dirty="0">
              <a:solidFill>
                <a:srgbClr val="212529"/>
              </a:solidFill>
              <a:effectLst/>
              <a:latin typeface="-apple-system"/>
            </a:endParaRPr>
          </a:p>
        </p:txBody>
      </p:sp>
      <p:sp>
        <p:nvSpPr>
          <p:cNvPr id="9" name="TextBox 8">
            <a:extLst>
              <a:ext uri="{FF2B5EF4-FFF2-40B4-BE49-F238E27FC236}">
                <a16:creationId xmlns:a16="http://schemas.microsoft.com/office/drawing/2014/main" id="{C64EC537-76F2-46EC-9651-BCEE0A47E90D}"/>
              </a:ext>
            </a:extLst>
          </p:cNvPr>
          <p:cNvSpPr txBox="1"/>
          <p:nvPr/>
        </p:nvSpPr>
        <p:spPr>
          <a:xfrm>
            <a:off x="196645" y="1858741"/>
            <a:ext cx="11513572" cy="3139321"/>
          </a:xfrm>
          <a:prstGeom prst="rect">
            <a:avLst/>
          </a:prstGeom>
          <a:solidFill>
            <a:schemeClr val="tx1"/>
          </a:solidFill>
        </p:spPr>
        <p:txBody>
          <a:bodyPr wrap="square">
            <a:spAutoFit/>
          </a:bodyPr>
          <a:lstStyle/>
          <a:p>
            <a:pPr algn="l" rtl="0" fontAlgn="base"/>
            <a:r>
              <a:rPr lang="en-IN" b="0" i="0" dirty="0" err="1">
                <a:solidFill>
                  <a:srgbClr val="CFD5E0"/>
                </a:solidFill>
                <a:effectLst/>
                <a:latin typeface="inherit"/>
              </a:rPr>
              <a:t>app.</a:t>
            </a:r>
            <a:r>
              <a:rPr lang="en-IN" b="0" i="0" dirty="0" err="1">
                <a:solidFill>
                  <a:srgbClr val="4284AE"/>
                </a:solidFill>
                <a:effectLst/>
                <a:latin typeface="inherit"/>
              </a:rPr>
              <a:t>UseRouting</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rtl="0" fontAlgn="base"/>
            <a:r>
              <a:rPr lang="en-IN" b="0" i="0" dirty="0" err="1">
                <a:solidFill>
                  <a:srgbClr val="CFD5E0"/>
                </a:solidFill>
                <a:effectLst/>
                <a:latin typeface="inherit"/>
              </a:rPr>
              <a:t>app.</a:t>
            </a:r>
            <a:r>
              <a:rPr lang="en-IN" b="0" i="0" dirty="0" err="1">
                <a:solidFill>
                  <a:srgbClr val="4284AE"/>
                </a:solidFill>
                <a:effectLst/>
                <a:latin typeface="inherit"/>
              </a:rPr>
              <a:t>UseEndpoints</a:t>
            </a:r>
            <a:r>
              <a:rPr lang="en-IN" b="1" i="0" dirty="0">
                <a:solidFill>
                  <a:srgbClr val="6B7C8B"/>
                </a:solidFill>
                <a:effectLst/>
                <a:latin typeface="inherit"/>
              </a:rPr>
              <a:t>(</a:t>
            </a:r>
            <a:r>
              <a:rPr lang="en-IN" b="0" i="0" dirty="0">
                <a:solidFill>
                  <a:srgbClr val="CFD5E0"/>
                </a:solidFill>
                <a:effectLst/>
                <a:latin typeface="inherit"/>
              </a:rPr>
              <a:t>endpoints =</a:t>
            </a:r>
            <a:r>
              <a:rPr lang="en-IN" b="1" i="0" dirty="0">
                <a:solidFill>
                  <a:srgbClr val="6B7C8B"/>
                </a:solidFill>
                <a:effectLst/>
                <a:latin typeface="inherit"/>
              </a:rPr>
              <a:t>&gt; {</a:t>
            </a:r>
            <a:endParaRPr lang="en-IN" b="0" i="0" dirty="0">
              <a:solidFill>
                <a:srgbClr val="596174"/>
              </a:solidFill>
              <a:effectLst/>
              <a:latin typeface="Inconsolata" pitchFamily="1" charset="0"/>
            </a:endParaRPr>
          </a:p>
          <a:p>
            <a:pPr algn="l" rtl="0" fontAlgn="base"/>
            <a:r>
              <a:rPr lang="en-IN" b="0" i="0" dirty="0" err="1">
                <a:solidFill>
                  <a:srgbClr val="CFD5E0"/>
                </a:solidFill>
                <a:effectLst/>
                <a:latin typeface="inherit"/>
              </a:rPr>
              <a:t>endpoints.</a:t>
            </a:r>
            <a:r>
              <a:rPr lang="en-IN" b="0" i="0" dirty="0" err="1">
                <a:solidFill>
                  <a:srgbClr val="4284AE"/>
                </a:solidFill>
                <a:effectLst/>
                <a:latin typeface="inherit"/>
              </a:rPr>
              <a:t>MapGet</a:t>
            </a:r>
            <a:r>
              <a:rPr lang="en-IN" b="1" i="0" dirty="0">
                <a:solidFill>
                  <a:srgbClr val="6B7C8B"/>
                </a:solidFill>
                <a:effectLst/>
                <a:latin typeface="inherit"/>
              </a:rPr>
              <a:t>(</a:t>
            </a:r>
            <a:r>
              <a:rPr lang="en-IN" b="0" i="0" dirty="0">
                <a:solidFill>
                  <a:srgbClr val="7CC379"/>
                </a:solidFill>
                <a:effectLst/>
                <a:latin typeface="inherit"/>
              </a:rPr>
              <a:t>"/"</a:t>
            </a:r>
            <a:r>
              <a:rPr lang="en-IN" b="0" i="0" dirty="0">
                <a:solidFill>
                  <a:srgbClr val="CFD5E0"/>
                </a:solidFill>
                <a:effectLst/>
                <a:latin typeface="inherit"/>
              </a:rPr>
              <a:t>, </a:t>
            </a:r>
            <a:r>
              <a:rPr lang="en-IN" b="1" i="0" dirty="0">
                <a:solidFill>
                  <a:srgbClr val="D171DD"/>
                </a:solidFill>
                <a:effectLst/>
                <a:latin typeface="inherit"/>
              </a:rPr>
              <a:t>async</a:t>
            </a:r>
            <a:r>
              <a:rPr lang="en-IN" b="0" i="0" dirty="0">
                <a:solidFill>
                  <a:srgbClr val="CFD5E0"/>
                </a:solidFill>
                <a:effectLst/>
                <a:latin typeface="inherit"/>
              </a:rPr>
              <a:t> context =</a:t>
            </a:r>
            <a:r>
              <a:rPr lang="en-IN" b="1" i="0" dirty="0">
                <a:solidFill>
                  <a:srgbClr val="6B7C8B"/>
                </a:solidFill>
                <a:effectLst/>
                <a:latin typeface="inherit"/>
              </a:rPr>
              <a:t>&gt; {</a:t>
            </a:r>
            <a:endParaRPr lang="en-IN" b="0" i="0" dirty="0">
              <a:solidFill>
                <a:srgbClr val="596174"/>
              </a:solidFill>
              <a:effectLst/>
              <a:latin typeface="Inconsolata" pitchFamily="1" charset="0"/>
            </a:endParaRPr>
          </a:p>
          <a:p>
            <a:pPr algn="l" rtl="0" fontAlgn="base"/>
            <a:r>
              <a:rPr lang="en-IN" b="1" i="0" dirty="0">
                <a:solidFill>
                  <a:srgbClr val="D171DD"/>
                </a:solidFill>
                <a:effectLst/>
                <a:latin typeface="inherit"/>
              </a:rPr>
              <a:t>throw</a:t>
            </a:r>
            <a:r>
              <a:rPr lang="en-IN" b="0" i="0" dirty="0">
                <a:solidFill>
                  <a:srgbClr val="CFD5E0"/>
                </a:solidFill>
                <a:effectLst/>
                <a:latin typeface="inherit"/>
              </a:rPr>
              <a:t> </a:t>
            </a:r>
            <a:r>
              <a:rPr lang="en-IN" b="0" i="0" dirty="0">
                <a:solidFill>
                  <a:srgbClr val="4284AE"/>
                </a:solidFill>
                <a:effectLst/>
                <a:latin typeface="inherit"/>
              </a:rPr>
              <a:t>new</a:t>
            </a:r>
            <a:r>
              <a:rPr lang="en-IN" b="0" i="0" dirty="0">
                <a:solidFill>
                  <a:srgbClr val="CFD5E0"/>
                </a:solidFill>
                <a:effectLst/>
                <a:latin typeface="inherit"/>
              </a:rPr>
              <a:t> </a:t>
            </a:r>
            <a:r>
              <a:rPr lang="en-IN" b="0" i="0" dirty="0">
                <a:solidFill>
                  <a:srgbClr val="4284AE"/>
                </a:solidFill>
                <a:effectLst/>
                <a:latin typeface="inherit"/>
              </a:rPr>
              <a:t>Exception</a:t>
            </a:r>
            <a:r>
              <a:rPr lang="en-IN" b="1" i="0" dirty="0">
                <a:solidFill>
                  <a:srgbClr val="6B7C8B"/>
                </a:solidFill>
                <a:effectLst/>
                <a:latin typeface="inherit"/>
              </a:rPr>
              <a:t>(</a:t>
            </a:r>
            <a:r>
              <a:rPr lang="en-IN" b="0" i="0" dirty="0">
                <a:solidFill>
                  <a:srgbClr val="7CC379"/>
                </a:solidFill>
                <a:effectLst/>
                <a:latin typeface="inherit"/>
              </a:rPr>
              <a:t>"Error Occurred while processing your request"</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rtl="0" fontAlgn="base"/>
            <a:r>
              <a:rPr lang="en-IN" b="1" i="0" dirty="0">
                <a:solidFill>
                  <a:srgbClr val="D171DD"/>
                </a:solidFill>
                <a:effectLst/>
                <a:latin typeface="inherit"/>
              </a:rPr>
              <a:t>await</a:t>
            </a:r>
            <a:r>
              <a:rPr lang="en-IN" b="0" i="0" dirty="0">
                <a:solidFill>
                  <a:srgbClr val="CFD5E0"/>
                </a:solidFill>
                <a:effectLst/>
                <a:latin typeface="inherit"/>
              </a:rPr>
              <a:t> </a:t>
            </a:r>
            <a:r>
              <a:rPr lang="en-IN" b="0" i="0" dirty="0" err="1">
                <a:solidFill>
                  <a:srgbClr val="CFD5E0"/>
                </a:solidFill>
                <a:effectLst/>
                <a:latin typeface="inherit"/>
              </a:rPr>
              <a:t>context.</a:t>
            </a:r>
            <a:r>
              <a:rPr lang="en-IN" b="0" i="0" dirty="0" err="1">
                <a:solidFill>
                  <a:srgbClr val="4284AE"/>
                </a:solidFill>
                <a:effectLst/>
                <a:latin typeface="inherit"/>
              </a:rPr>
              <a:t>Response</a:t>
            </a:r>
            <a:r>
              <a:rPr lang="en-IN" b="0" i="0" dirty="0" err="1">
                <a:solidFill>
                  <a:srgbClr val="CFD5E0"/>
                </a:solidFill>
                <a:effectLst/>
                <a:latin typeface="inherit"/>
              </a:rPr>
              <a:t>.</a:t>
            </a:r>
            <a:r>
              <a:rPr lang="en-IN" b="0" i="0" dirty="0" err="1">
                <a:solidFill>
                  <a:srgbClr val="4284AE"/>
                </a:solidFill>
                <a:effectLst/>
                <a:latin typeface="inherit"/>
              </a:rPr>
              <a:t>WriteAsync</a:t>
            </a:r>
            <a:r>
              <a:rPr lang="en-IN" b="1" i="0" dirty="0">
                <a:solidFill>
                  <a:srgbClr val="6B7C8B"/>
                </a:solidFill>
                <a:effectLst/>
                <a:latin typeface="inherit"/>
              </a:rPr>
              <a:t>(</a:t>
            </a:r>
            <a:r>
              <a:rPr lang="en-IN" b="0" i="0" dirty="0">
                <a:solidFill>
                  <a:srgbClr val="7CC379"/>
                </a:solidFill>
                <a:effectLst/>
                <a:latin typeface="inherit"/>
              </a:rPr>
              <a:t>"Hello World!"</a:t>
            </a:r>
            <a:r>
              <a:rPr lang="en-IN" b="1" i="0" dirty="0">
                <a:solidFill>
                  <a:srgbClr val="6B7C8B"/>
                </a:solidFill>
                <a:effectLst/>
                <a:latin typeface="inherit"/>
              </a:rPr>
              <a:t>)</a:t>
            </a:r>
            <a:r>
              <a:rPr lang="en-IN" b="0" i="0" dirty="0">
                <a:solidFill>
                  <a:srgbClr val="CFD5E0"/>
                </a:solidFill>
                <a:effectLst/>
                <a:latin typeface="inherit"/>
              </a:rPr>
              <a:t>;   </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rtl="0" fontAlgn="base"/>
            <a:r>
              <a:rPr lang="en-IN" b="1" i="0" dirty="0">
                <a:solidFill>
                  <a:srgbClr val="D171DD"/>
                </a:solidFill>
                <a:effectLst/>
                <a:latin typeface="inherit"/>
              </a:rPr>
              <a:t>if</a:t>
            </a:r>
            <a:r>
              <a:rPr lang="en-IN" b="0" i="0" dirty="0">
                <a:solidFill>
                  <a:srgbClr val="CFD5E0"/>
                </a:solidFill>
                <a:effectLst/>
                <a:latin typeface="inherit"/>
              </a:rPr>
              <a:t> </a:t>
            </a:r>
            <a:r>
              <a:rPr lang="en-IN" b="1" i="0" dirty="0">
                <a:solidFill>
                  <a:srgbClr val="6B7C8B"/>
                </a:solidFill>
                <a:effectLst/>
                <a:latin typeface="inherit"/>
              </a:rPr>
              <a:t>(</a:t>
            </a:r>
            <a:r>
              <a:rPr lang="en-IN" b="0" i="0" dirty="0" err="1">
                <a:solidFill>
                  <a:srgbClr val="CFD5E0"/>
                </a:solidFill>
                <a:effectLst/>
                <a:latin typeface="inherit"/>
              </a:rPr>
              <a:t>env.</a:t>
            </a:r>
            <a:r>
              <a:rPr lang="en-IN" b="0" i="0" dirty="0" err="1">
                <a:solidFill>
                  <a:srgbClr val="4284AE"/>
                </a:solidFill>
                <a:effectLst/>
                <a:latin typeface="inherit"/>
              </a:rPr>
              <a:t>IsDevelopment</a:t>
            </a:r>
            <a:r>
              <a:rPr lang="en-IN" b="1" i="0" dirty="0">
                <a:solidFill>
                  <a:srgbClr val="6B7C8B"/>
                </a:solidFill>
                <a:effectLst/>
                <a:latin typeface="inherit"/>
              </a:rPr>
              <a:t>())  {</a:t>
            </a:r>
            <a:endParaRPr lang="en-IN" b="0" i="0" dirty="0">
              <a:solidFill>
                <a:srgbClr val="596174"/>
              </a:solidFill>
              <a:effectLst/>
              <a:latin typeface="Inconsolata" pitchFamily="1" charset="0"/>
            </a:endParaRPr>
          </a:p>
          <a:p>
            <a:pPr algn="l" rtl="0" fontAlgn="base"/>
            <a:r>
              <a:rPr lang="en-IN" b="0" i="0" dirty="0" err="1">
                <a:solidFill>
                  <a:srgbClr val="CFD5E0"/>
                </a:solidFill>
                <a:effectLst/>
                <a:latin typeface="inherit"/>
              </a:rPr>
              <a:t>DeveloperExceptionPageOptions</a:t>
            </a:r>
            <a:r>
              <a:rPr lang="en-IN" b="0" i="0" dirty="0">
                <a:solidFill>
                  <a:srgbClr val="CFD5E0"/>
                </a:solidFill>
                <a:effectLst/>
                <a:latin typeface="inherit"/>
              </a:rPr>
              <a:t> </a:t>
            </a:r>
            <a:r>
              <a:rPr lang="en-IN" b="0" i="0" dirty="0" err="1">
                <a:solidFill>
                  <a:srgbClr val="CFD5E0"/>
                </a:solidFill>
                <a:effectLst/>
                <a:latin typeface="inherit"/>
              </a:rPr>
              <a:t>developerExceptionPageOptions</a:t>
            </a:r>
            <a:r>
              <a:rPr lang="en-IN" b="0" i="0" dirty="0">
                <a:solidFill>
                  <a:srgbClr val="CFD5E0"/>
                </a:solidFill>
                <a:effectLst/>
                <a:latin typeface="inherit"/>
              </a:rPr>
              <a:t> = </a:t>
            </a:r>
            <a:r>
              <a:rPr lang="en-IN" b="0" i="0" dirty="0">
                <a:solidFill>
                  <a:srgbClr val="4284AE"/>
                </a:solidFill>
                <a:effectLst/>
                <a:latin typeface="inherit"/>
              </a:rPr>
              <a:t>new</a:t>
            </a:r>
            <a:r>
              <a:rPr lang="en-IN" b="0" i="0" dirty="0">
                <a:solidFill>
                  <a:srgbClr val="CFD5E0"/>
                </a:solidFill>
                <a:effectLst/>
                <a:latin typeface="inherit"/>
              </a:rPr>
              <a:t> </a:t>
            </a:r>
            <a:r>
              <a:rPr lang="en-IN" b="0" i="0" dirty="0" err="1">
                <a:solidFill>
                  <a:srgbClr val="CFD5E0"/>
                </a:solidFill>
                <a:effectLst/>
                <a:latin typeface="inherit"/>
              </a:rPr>
              <a:t>DeveloperExceptionPageOptions</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    </a:t>
            </a:r>
            <a:r>
              <a:rPr lang="en-IN" b="0" i="0" dirty="0" err="1">
                <a:solidFill>
                  <a:srgbClr val="CFD5E0"/>
                </a:solidFill>
                <a:effectLst/>
                <a:latin typeface="inherit"/>
              </a:rPr>
              <a:t>SourceCodeLineCount</a:t>
            </a:r>
            <a:r>
              <a:rPr lang="en-IN" b="0" i="0" dirty="0">
                <a:solidFill>
                  <a:srgbClr val="CFD5E0"/>
                </a:solidFill>
                <a:effectLst/>
                <a:latin typeface="inherit"/>
              </a:rPr>
              <a:t> = </a:t>
            </a:r>
            <a:r>
              <a:rPr lang="en-IN" b="0" i="0" dirty="0">
                <a:solidFill>
                  <a:srgbClr val="D19A66"/>
                </a:solidFill>
                <a:effectLst/>
                <a:latin typeface="inherit"/>
              </a:rPr>
              <a:t>5 </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rtl="0" fontAlgn="base"/>
            <a:r>
              <a:rPr lang="en-IN" b="0" i="0" dirty="0" err="1">
                <a:solidFill>
                  <a:srgbClr val="CFD5E0"/>
                </a:solidFill>
                <a:effectLst/>
                <a:latin typeface="inherit"/>
              </a:rPr>
              <a:t>app.</a:t>
            </a:r>
            <a:r>
              <a:rPr lang="en-IN" b="0" i="0" dirty="0" err="1">
                <a:solidFill>
                  <a:srgbClr val="4284AE"/>
                </a:solidFill>
                <a:effectLst/>
                <a:latin typeface="inherit"/>
              </a:rPr>
              <a:t>UseDeveloperExceptionPage</a:t>
            </a:r>
            <a:r>
              <a:rPr lang="en-IN" b="1" i="0" dirty="0">
                <a:solidFill>
                  <a:srgbClr val="6B7C8B"/>
                </a:solidFill>
                <a:effectLst/>
                <a:latin typeface="inherit"/>
              </a:rPr>
              <a:t>(</a:t>
            </a:r>
            <a:r>
              <a:rPr lang="en-IN" b="0" i="0" dirty="0" err="1">
                <a:solidFill>
                  <a:srgbClr val="CFD5E0"/>
                </a:solidFill>
                <a:effectLst/>
                <a:latin typeface="inherit"/>
              </a:rPr>
              <a:t>developerExceptionPageOptions</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p:txBody>
      </p:sp>
      <p:sp>
        <p:nvSpPr>
          <p:cNvPr id="6" name="TextBox 5">
            <a:extLst>
              <a:ext uri="{FF2B5EF4-FFF2-40B4-BE49-F238E27FC236}">
                <a16:creationId xmlns:a16="http://schemas.microsoft.com/office/drawing/2014/main" id="{39B7C8A3-78B3-4BBC-B548-FB8E3EE64EFC}"/>
              </a:ext>
            </a:extLst>
          </p:cNvPr>
          <p:cNvSpPr txBox="1"/>
          <p:nvPr/>
        </p:nvSpPr>
        <p:spPr>
          <a:xfrm>
            <a:off x="196645" y="5552060"/>
            <a:ext cx="11798710" cy="1200329"/>
          </a:xfrm>
          <a:prstGeom prst="rect">
            <a:avLst/>
          </a:prstGeom>
          <a:noFill/>
        </p:spPr>
        <p:txBody>
          <a:bodyPr wrap="square">
            <a:spAutoFit/>
          </a:bodyPr>
          <a:lstStyle/>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With the above changes in place, when we run the application, it will not display the developer’s exception page instead of simply returns the default error status code. This is the reason why we need to configure the </a:t>
            </a:r>
            <a:r>
              <a:rPr kumimoji="0" lang="en-IN" sz="1800" b="1" i="0" u="none" strike="noStrike" kern="1200" cap="none" spc="0" normalizeH="0" baseline="0" noProof="0" dirty="0" err="1">
                <a:ln>
                  <a:noFill/>
                </a:ln>
                <a:solidFill>
                  <a:srgbClr val="000000"/>
                </a:solidFill>
                <a:effectLst/>
                <a:uLnTx/>
                <a:uFillTx/>
                <a:latin typeface="arial" panose="020B0604020202020204" pitchFamily="34" charset="0"/>
                <a:ea typeface="+mn-ea"/>
                <a:cs typeface="+mn-cs"/>
              </a:rPr>
              <a:t>UseDeveloperExceptionPage</a:t>
            </a:r>
            <a:r>
              <a:rPr kumimoji="0" lang="en-I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r>
              <a:rPr kumimoji="0" lang="en-I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middleware as early as possible to handle the unhandled exception of the application in the </a:t>
            </a:r>
            <a:r>
              <a:rPr kumimoji="0" lang="en-IN" sz="1800" b="1" i="0" u="none" strike="noStrike" kern="1200" cap="none" spc="0" normalizeH="0" baseline="0" noProof="0" dirty="0">
                <a:ln>
                  <a:noFill/>
                </a:ln>
                <a:solidFill>
                  <a:srgbClr val="007BFF"/>
                </a:solidFill>
                <a:effectLst/>
                <a:uLnTx/>
                <a:uFillTx/>
                <a:latin typeface="arial" panose="020B0604020202020204" pitchFamily="34" charset="0"/>
                <a:ea typeface="+mn-ea"/>
                <a:cs typeface="+mn-cs"/>
              </a:rPr>
              <a:t>request </a:t>
            </a:r>
            <a:endParaRPr kumimoji="0" lang="en-IN" sz="1800" b="0" i="0" u="none" strike="noStrike" kern="1200" cap="none" spc="0" normalizeH="0" baseline="0" noProof="0" dirty="0">
              <a:ln>
                <a:noFill/>
              </a:ln>
              <a:solidFill>
                <a:srgbClr val="212529"/>
              </a:solidFill>
              <a:effectLst/>
              <a:uLnTx/>
              <a:uFillTx/>
              <a:latin typeface="-apple-system"/>
              <a:ea typeface="+mn-ea"/>
              <a:cs typeface="+mn-cs"/>
            </a:endParaRPr>
          </a:p>
        </p:txBody>
      </p:sp>
    </p:spTree>
    <p:extLst>
      <p:ext uri="{BB962C8B-B14F-4D97-AF65-F5344CB8AC3E}">
        <p14:creationId xmlns:p14="http://schemas.microsoft.com/office/powerpoint/2010/main" val="37540965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TotalTime>
  <Words>2324</Words>
  <Application>Microsoft Office PowerPoint</Application>
  <PresentationFormat>Widescreen</PresentationFormat>
  <Paragraphs>182</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-apple-system</vt:lpstr>
      <vt:lpstr>arial</vt:lpstr>
      <vt:lpstr>arial</vt:lpstr>
      <vt:lpstr>Calibri</vt:lpstr>
      <vt:lpstr>Calibri Light</vt:lpstr>
      <vt:lpstr>Inconsolata</vt:lpstr>
      <vt:lpstr>inherit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vidyanidhi school</cp:lastModifiedBy>
  <cp:revision>15</cp:revision>
  <dcterms:created xsi:type="dcterms:W3CDTF">2021-10-12T18:10:27Z</dcterms:created>
  <dcterms:modified xsi:type="dcterms:W3CDTF">2023-09-12T11:22:59Z</dcterms:modified>
</cp:coreProperties>
</file>