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72" r:id="rId8"/>
    <p:sldId id="273" r:id="rId9"/>
    <p:sldId id="274" r:id="rId10"/>
    <p:sldId id="276" r:id="rId11"/>
    <p:sldId id="277" r:id="rId12"/>
    <p:sldId id="278" r:id="rId13"/>
    <p:sldId id="25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AB92-011A-CF3F-001D-E2CD997BD0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B6DCACF-6DD1-C835-8FC5-CD93479037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768A50E-1120-CEA4-9D90-F55FC2F115F7}"/>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5" name="Footer Placeholder 4">
            <a:extLst>
              <a:ext uri="{FF2B5EF4-FFF2-40B4-BE49-F238E27FC236}">
                <a16:creationId xmlns:a16="http://schemas.microsoft.com/office/drawing/2014/main" id="{09986510-75B6-C900-2DD6-DB4E4678B5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1ED385-A328-DBA7-712D-2F013A2DD9C1}"/>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989935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91EE-6DCE-26B9-D7AF-99DF0631D3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AA00CC-359D-0483-291C-C9664AF4A2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EF9C3C-4763-D50C-FD59-AD874BB2C317}"/>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5" name="Footer Placeholder 4">
            <a:extLst>
              <a:ext uri="{FF2B5EF4-FFF2-40B4-BE49-F238E27FC236}">
                <a16:creationId xmlns:a16="http://schemas.microsoft.com/office/drawing/2014/main" id="{3F81D381-34F2-21D5-165C-70B22AD98F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4DF866-1BCC-183A-202C-04074BB7F4FC}"/>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2323271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ED6E5-1E9F-147B-5175-7A33F5F1F0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DFEC66-EABC-EC3D-3EA5-2D0F960172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6A97DA-3ED6-F22B-30D6-0DE50BAADAAF}"/>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5" name="Footer Placeholder 4">
            <a:extLst>
              <a:ext uri="{FF2B5EF4-FFF2-40B4-BE49-F238E27FC236}">
                <a16:creationId xmlns:a16="http://schemas.microsoft.com/office/drawing/2014/main" id="{AA844E23-2F3A-9C5F-3214-972D5B94F2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D45A06-8276-406B-01B0-3E6A9475F51C}"/>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1493774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94FBF-9BF5-A6CF-ABD1-2C5DDC9675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F8E85E-6AC5-4433-9E62-80ECCC0EBB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2074EE-BA62-6E73-24A5-AE43C227B6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E9724B-9510-D800-44A9-C2584268ADD9}"/>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6" name="Footer Placeholder 5">
            <a:extLst>
              <a:ext uri="{FF2B5EF4-FFF2-40B4-BE49-F238E27FC236}">
                <a16:creationId xmlns:a16="http://schemas.microsoft.com/office/drawing/2014/main" id="{36C232B9-5000-3299-46D0-A7A693CAB1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C29A22-7053-F558-74E7-AA6B1451EDD2}"/>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4110984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33FBF-D51D-1090-CCB5-4145DF8832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9ED0D1-F76F-7FF5-C35B-47E28FAF33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69CAF7-D50B-2509-0045-277A864F3F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769290-EDA6-87AB-AE4C-85EA214ADF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BC3EC0-3336-AE0C-2FAD-171407EE59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A92F546-B77A-3823-3485-B2C40086C451}"/>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8" name="Footer Placeholder 7">
            <a:extLst>
              <a:ext uri="{FF2B5EF4-FFF2-40B4-BE49-F238E27FC236}">
                <a16:creationId xmlns:a16="http://schemas.microsoft.com/office/drawing/2014/main" id="{9C2BBE7A-88B7-BF62-80B5-0F374F09726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FD02F7-2C94-93DB-4567-B760281D7450}"/>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838957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8B4C7-4813-5654-BB95-45CE38AD9F2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6BE1BE-FF46-DEA3-39E1-305DBA785C0A}"/>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4" name="Footer Placeholder 3">
            <a:extLst>
              <a:ext uri="{FF2B5EF4-FFF2-40B4-BE49-F238E27FC236}">
                <a16:creationId xmlns:a16="http://schemas.microsoft.com/office/drawing/2014/main" id="{B4BECE03-CBF6-05B3-3B43-966609EA22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64C079-9079-416E-364C-A8430F1E4E4A}"/>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3363818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B87F88-6857-3C81-2E82-71BDA45C1B7C}"/>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3" name="Footer Placeholder 2">
            <a:extLst>
              <a:ext uri="{FF2B5EF4-FFF2-40B4-BE49-F238E27FC236}">
                <a16:creationId xmlns:a16="http://schemas.microsoft.com/office/drawing/2014/main" id="{7DFF37DA-447E-3203-367A-B74562BBBDC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280DEB-6C39-EEB3-C474-E0CA1B3CAB53}"/>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338847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9C5B4-B458-E30C-CFB6-05C67D8927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E2E390-0B09-F7C6-786D-B5F25B8CE4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415986-FA5F-7481-8738-7BF6CCAA5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8D35A1-B114-A068-F41C-B9D1B04AABF1}"/>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6" name="Footer Placeholder 5">
            <a:extLst>
              <a:ext uri="{FF2B5EF4-FFF2-40B4-BE49-F238E27FC236}">
                <a16:creationId xmlns:a16="http://schemas.microsoft.com/office/drawing/2014/main" id="{82D3F880-D3FB-6DE0-FCBF-EA055BC5F7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7FAA69-5AA0-2720-5941-F10FC9116A90}"/>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3218563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2747-C412-4E60-B99A-E85DAEA29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4DC929-4163-91EA-EE92-CA4DFBA39F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A81C0F-F3EA-CCD0-F592-7965E188A0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B15DF0-793C-08B0-F75C-00A55EA40589}"/>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6" name="Footer Placeholder 5">
            <a:extLst>
              <a:ext uri="{FF2B5EF4-FFF2-40B4-BE49-F238E27FC236}">
                <a16:creationId xmlns:a16="http://schemas.microsoft.com/office/drawing/2014/main" id="{B31295CB-5E36-EB0D-AB43-AF0A384780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E55B83-A98F-5F30-1AD2-5A0A33059AAE}"/>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716548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9DBF4-5A49-F0AC-9A5F-803BC1D794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93CDFD-8134-A7FE-E48C-3948CBBA4F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75FAC1-1B35-7F0C-3C15-5427D2D3AE47}"/>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5" name="Footer Placeholder 4">
            <a:extLst>
              <a:ext uri="{FF2B5EF4-FFF2-40B4-BE49-F238E27FC236}">
                <a16:creationId xmlns:a16="http://schemas.microsoft.com/office/drawing/2014/main" id="{56A7CD65-DE51-51B8-13D6-D3B5AC1AA8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4BCA2E-AB23-F9B9-78D9-7E8617550FDB}"/>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1306743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F9ED83-B901-58E3-2D36-ED13E9E474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BF6624-0090-F6D6-3184-9F5F6E2C19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ED0645-CCE1-8388-4408-B71C61CE7F27}"/>
              </a:ext>
            </a:extLst>
          </p:cNvPr>
          <p:cNvSpPr>
            <a:spLocks noGrp="1"/>
          </p:cNvSpPr>
          <p:nvPr>
            <p:ph type="dt" sz="half" idx="10"/>
          </p:nvPr>
        </p:nvSpPr>
        <p:spPr/>
        <p:txBody>
          <a:bodyPr/>
          <a:lstStyle/>
          <a:p>
            <a:fld id="{4371CABC-96B4-4156-93F3-5C23CB3FE27E}" type="datetimeFigureOut">
              <a:rPr lang="en-IN" smtClean="0"/>
              <a:t>29-11-2024</a:t>
            </a:fld>
            <a:endParaRPr lang="en-IN"/>
          </a:p>
        </p:txBody>
      </p:sp>
      <p:sp>
        <p:nvSpPr>
          <p:cNvPr id="5" name="Footer Placeholder 4">
            <a:extLst>
              <a:ext uri="{FF2B5EF4-FFF2-40B4-BE49-F238E27FC236}">
                <a16:creationId xmlns:a16="http://schemas.microsoft.com/office/drawing/2014/main" id="{3A98E8AF-6281-52ED-28C9-1BDC8BCA01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98D2A1-3510-AF4D-C1EE-3E5FF2E71B12}"/>
              </a:ext>
            </a:extLst>
          </p:cNvPr>
          <p:cNvSpPr>
            <a:spLocks noGrp="1"/>
          </p:cNvSpPr>
          <p:nvPr>
            <p:ph type="sldNum" sz="quarter" idx="12"/>
          </p:nvPr>
        </p:nvSpPr>
        <p:spPr/>
        <p:txBody>
          <a:bodyPr/>
          <a:lstStyle/>
          <a:p>
            <a:fld id="{64661AC5-A642-4331-9D7D-E9563B78057E}" type="slidenum">
              <a:rPr lang="en-IN" smtClean="0"/>
              <a:t>‹#›</a:t>
            </a:fld>
            <a:endParaRPr lang="en-IN"/>
          </a:p>
        </p:txBody>
      </p:sp>
    </p:spTree>
    <p:extLst>
      <p:ext uri="{BB962C8B-B14F-4D97-AF65-F5344CB8AC3E}">
        <p14:creationId xmlns:p14="http://schemas.microsoft.com/office/powerpoint/2010/main" val="4100761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0465F4-D11C-0255-D511-97A53BC942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73A3E1-3C56-D796-6619-E77570A3C4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6C630E-CEBA-AB3A-76BD-83BA73674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1CABC-96B4-4156-93F3-5C23CB3FE27E}" type="datetimeFigureOut">
              <a:rPr lang="en-IN" smtClean="0"/>
              <a:t>29-11-2024</a:t>
            </a:fld>
            <a:endParaRPr lang="en-IN"/>
          </a:p>
        </p:txBody>
      </p:sp>
      <p:sp>
        <p:nvSpPr>
          <p:cNvPr id="5" name="Footer Placeholder 4">
            <a:extLst>
              <a:ext uri="{FF2B5EF4-FFF2-40B4-BE49-F238E27FC236}">
                <a16:creationId xmlns:a16="http://schemas.microsoft.com/office/drawing/2014/main" id="{69458EC6-6732-0699-7E28-70A6F33E7D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A866F4A-364E-109A-E512-DDAEF3173C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661AC5-A642-4331-9D7D-E9563B78057E}" type="slidenum">
              <a:rPr lang="en-IN" smtClean="0"/>
              <a:t>‹#›</a:t>
            </a:fld>
            <a:endParaRPr lang="en-IN"/>
          </a:p>
        </p:txBody>
      </p:sp>
    </p:spTree>
    <p:extLst>
      <p:ext uri="{BB962C8B-B14F-4D97-AF65-F5344CB8AC3E}">
        <p14:creationId xmlns:p14="http://schemas.microsoft.com/office/powerpoint/2010/main" val="39770158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99D85C-A071-E857-A6DB-0CD088DD631F}"/>
              </a:ext>
            </a:extLst>
          </p:cNvPr>
          <p:cNvSpPr txBox="1"/>
          <p:nvPr/>
        </p:nvSpPr>
        <p:spPr>
          <a:xfrm>
            <a:off x="2509887" y="239539"/>
            <a:ext cx="6094428" cy="369332"/>
          </a:xfrm>
          <a:prstGeom prst="rect">
            <a:avLst/>
          </a:prstGeom>
          <a:noFill/>
        </p:spPr>
        <p:txBody>
          <a:bodyPr wrap="square">
            <a:spAutoFit/>
          </a:bodyPr>
          <a:lstStyle/>
          <a:p>
            <a:pPr algn="l"/>
            <a:r>
              <a:rPr lang="en-IN" b="1" i="0" dirty="0">
                <a:solidFill>
                  <a:srgbClr val="000000"/>
                </a:solidFill>
                <a:effectLst/>
                <a:latin typeface="Open Sans" panose="020B0606030504020204" pitchFamily="34" charset="0"/>
              </a:rPr>
              <a:t>Global Exception Handling in .NET 6</a:t>
            </a:r>
          </a:p>
        </p:txBody>
      </p:sp>
      <p:sp>
        <p:nvSpPr>
          <p:cNvPr id="7" name="TextBox 6">
            <a:extLst>
              <a:ext uri="{FF2B5EF4-FFF2-40B4-BE49-F238E27FC236}">
                <a16:creationId xmlns:a16="http://schemas.microsoft.com/office/drawing/2014/main" id="{1294309D-6C42-A46E-B818-FB86DAAFB8C9}"/>
              </a:ext>
            </a:extLst>
          </p:cNvPr>
          <p:cNvSpPr txBox="1"/>
          <p:nvPr/>
        </p:nvSpPr>
        <p:spPr>
          <a:xfrm>
            <a:off x="360575" y="788477"/>
            <a:ext cx="11611465" cy="923330"/>
          </a:xfrm>
          <a:prstGeom prst="rect">
            <a:avLst/>
          </a:prstGeom>
          <a:noFill/>
        </p:spPr>
        <p:txBody>
          <a:bodyPr wrap="square">
            <a:spAutoFit/>
          </a:bodyPr>
          <a:lstStyle/>
          <a:p>
            <a:r>
              <a:rPr lang="en-US" b="0" i="0" dirty="0">
                <a:solidFill>
                  <a:srgbClr val="000000"/>
                </a:solidFill>
                <a:effectLst/>
                <a:latin typeface="Open Sans" panose="020B0606030504020204" pitchFamily="34" charset="0"/>
              </a:rPr>
              <a:t>Exception handling is one of the most critical areas in modern web application development. If exceptions are not handled properly, the whole app can be terminated, causing severe issues for users and developers.</a:t>
            </a:r>
            <a:endParaRPr lang="en-IN" dirty="0"/>
          </a:p>
        </p:txBody>
      </p:sp>
      <p:sp>
        <p:nvSpPr>
          <p:cNvPr id="9" name="TextBox 8">
            <a:extLst>
              <a:ext uri="{FF2B5EF4-FFF2-40B4-BE49-F238E27FC236}">
                <a16:creationId xmlns:a16="http://schemas.microsoft.com/office/drawing/2014/main" id="{09D4FEE3-4F26-91FE-C337-180314DAE925}"/>
              </a:ext>
            </a:extLst>
          </p:cNvPr>
          <p:cNvSpPr txBox="1"/>
          <p:nvPr/>
        </p:nvSpPr>
        <p:spPr>
          <a:xfrm>
            <a:off x="219960" y="1711807"/>
            <a:ext cx="5088118" cy="2092881"/>
          </a:xfrm>
          <a:prstGeom prst="rect">
            <a:avLst/>
          </a:prstGeom>
          <a:noFill/>
        </p:spPr>
        <p:txBody>
          <a:bodyPr wrap="square">
            <a:spAutoFit/>
          </a:bodyPr>
          <a:lstStyle/>
          <a:p>
            <a:pPr algn="l"/>
            <a:r>
              <a:rPr lang="en-US" b="1" i="0" dirty="0">
                <a:solidFill>
                  <a:srgbClr val="3C3950"/>
                </a:solidFill>
                <a:effectLst/>
                <a:latin typeface="Open Sans" panose="020B0606030504020204" pitchFamily="34" charset="0"/>
              </a:rPr>
              <a:t>Error handling with try-catch blocks</a:t>
            </a:r>
          </a:p>
          <a:p>
            <a:pPr algn="l"/>
            <a:r>
              <a:rPr lang="en-US" sz="1600" b="0" i="0" dirty="0">
                <a:solidFill>
                  <a:srgbClr val="000000"/>
                </a:solidFill>
                <a:effectLst/>
                <a:latin typeface="Open Sans" panose="020B0606030504020204" pitchFamily="34" charset="0"/>
              </a:rPr>
              <a:t>Try-catch blocks are widely used in apps to handle exceptions. They are the most basic way of handling exceptions. To demonstrate this, I will be using an ASP .NET Core web API project based on .NET 6.</a:t>
            </a:r>
          </a:p>
          <a:p>
            <a:pPr algn="l"/>
            <a:r>
              <a:rPr lang="en-US" sz="1600" b="0" i="0" dirty="0">
                <a:solidFill>
                  <a:srgbClr val="000000"/>
                </a:solidFill>
                <a:effectLst/>
                <a:latin typeface="Open Sans" panose="020B0606030504020204" pitchFamily="34" charset="0"/>
              </a:rPr>
              <a:t>Consider the following </a:t>
            </a:r>
            <a:r>
              <a:rPr lang="en-US" sz="1600" b="1" i="0" dirty="0" err="1">
                <a:solidFill>
                  <a:srgbClr val="000000"/>
                </a:solidFill>
                <a:effectLst/>
                <a:latin typeface="Open Sans" panose="020B0606030504020204" pitchFamily="34" charset="0"/>
              </a:rPr>
              <a:t>CustomerController</a:t>
            </a:r>
            <a:r>
              <a:rPr lang="en-US" sz="1600" b="0" i="0" dirty="0">
                <a:solidFill>
                  <a:srgbClr val="000000"/>
                </a:solidFill>
                <a:effectLst/>
                <a:latin typeface="Open Sans" panose="020B0606030504020204" pitchFamily="34" charset="0"/>
              </a:rPr>
              <a:t> class as a code example:</a:t>
            </a:r>
            <a:endParaRPr lang="en-US" b="0" i="0" dirty="0">
              <a:solidFill>
                <a:srgbClr val="000000"/>
              </a:solidFill>
              <a:effectLst/>
              <a:latin typeface="Open Sans" panose="020B0606030504020204" pitchFamily="34" charset="0"/>
            </a:endParaRPr>
          </a:p>
        </p:txBody>
      </p:sp>
      <p:sp>
        <p:nvSpPr>
          <p:cNvPr id="11" name="TextBox 10">
            <a:extLst>
              <a:ext uri="{FF2B5EF4-FFF2-40B4-BE49-F238E27FC236}">
                <a16:creationId xmlns:a16="http://schemas.microsoft.com/office/drawing/2014/main" id="{BF5F85A3-086C-32DC-A79C-B4E7AC32960D}"/>
              </a:ext>
            </a:extLst>
          </p:cNvPr>
          <p:cNvSpPr txBox="1"/>
          <p:nvPr/>
        </p:nvSpPr>
        <p:spPr>
          <a:xfrm>
            <a:off x="5308077" y="1250142"/>
            <a:ext cx="6804577" cy="6394058"/>
          </a:xfrm>
          <a:prstGeom prst="rect">
            <a:avLst/>
          </a:prstGeom>
          <a:noFill/>
        </p:spPr>
        <p:txBody>
          <a:bodyPr wrap="square">
            <a:spAutoFit/>
          </a:bodyPr>
          <a:lstStyle/>
          <a:p>
            <a:r>
              <a:rPr lang="en-IN" sz="1050" dirty="0">
                <a:solidFill>
                  <a:srgbClr val="000000"/>
                </a:solidFill>
                <a:latin typeface="Cascadia Mono" panose="020B0609020000020004" pitchFamily="49" charset="0"/>
              </a:rPr>
              <a:t>using </a:t>
            </a:r>
            <a:r>
              <a:rPr lang="en-IN" sz="1050" dirty="0" err="1">
                <a:solidFill>
                  <a:srgbClr val="000000"/>
                </a:solidFill>
                <a:latin typeface="Cascadia Mono" panose="020B0609020000020004" pitchFamily="49" charset="0"/>
              </a:rPr>
              <a:t>ExceptionHandling.Services</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Microsoft.AspNetCore.Mvc</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ExceptionHandling.Controllers</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ApiController</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[Route(</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api</a:t>
            </a:r>
            <a:r>
              <a:rPr lang="en-IN" sz="1050" dirty="0">
                <a:solidFill>
                  <a:srgbClr val="A31515"/>
                </a:solidFill>
                <a:latin typeface="Cascadia Mono" panose="020B0609020000020004" pitchFamily="49" charset="0"/>
              </a:rPr>
              <a:t>/[controller]"</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CustomerController</a:t>
            </a:r>
            <a:r>
              <a:rPr lang="en-IN" sz="1050" dirty="0">
                <a:solidFill>
                  <a:srgbClr val="000000"/>
                </a:solidFill>
                <a:latin typeface="Cascadia Mono" panose="020B0609020000020004" pitchFamily="49" charset="0"/>
              </a:rPr>
              <a:t> : Controller</a:t>
            </a:r>
          </a:p>
          <a:p>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err="1">
                <a:solidFill>
                  <a:srgbClr val="0000FF"/>
                </a:solidFill>
                <a:latin typeface="Cascadia Mono" panose="020B0609020000020004" pitchFamily="49" charset="0"/>
              </a:rPr>
              <a:t>readonly</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ICustomerService</a:t>
            </a:r>
            <a:r>
              <a:rPr lang="en-IN" sz="1050" dirty="0">
                <a:solidFill>
                  <a:srgbClr val="000000"/>
                </a:solidFill>
                <a:latin typeface="Cascadia Mono" panose="020B0609020000020004" pitchFamily="49" charset="0"/>
              </a:rPr>
              <a:t> _</a:t>
            </a:r>
            <a:r>
              <a:rPr lang="en-IN" sz="1050" dirty="0" err="1">
                <a:solidFill>
                  <a:srgbClr val="000000"/>
                </a:solidFill>
                <a:latin typeface="Cascadia Mono" panose="020B0609020000020004" pitchFamily="49" charset="0"/>
              </a:rPr>
              <a:t>customerService</a:t>
            </a:r>
            <a:r>
              <a:rPr lang="en-IN" sz="1050" dirty="0">
                <a:solidFill>
                  <a:srgbClr val="000000"/>
                </a:solidFill>
                <a:latin typeface="Cascadia Mono" panose="020B0609020000020004" pitchFamily="49" charset="0"/>
              </a:rPr>
              <a:t>;</a:t>
            </a:r>
          </a:p>
          <a:p>
            <a:r>
              <a:rPr lang="it-IT" sz="1050" dirty="0">
                <a:solidFill>
                  <a:srgbClr val="000000"/>
                </a:solidFill>
                <a:latin typeface="Cascadia Mono" panose="020B0609020000020004" pitchFamily="49" charset="0"/>
              </a:rPr>
              <a:t>    </a:t>
            </a:r>
            <a:r>
              <a:rPr lang="it-IT" sz="1050" dirty="0">
                <a:solidFill>
                  <a:srgbClr val="0000FF"/>
                </a:solidFill>
                <a:latin typeface="Cascadia Mono" panose="020B0609020000020004" pitchFamily="49" charset="0"/>
              </a:rPr>
              <a:t>private</a:t>
            </a:r>
            <a:r>
              <a:rPr lang="it-IT" sz="1050" dirty="0">
                <a:solidFill>
                  <a:srgbClr val="000000"/>
                </a:solidFill>
                <a:latin typeface="Cascadia Mono" panose="020B0609020000020004" pitchFamily="49" charset="0"/>
              </a:rPr>
              <a:t> </a:t>
            </a:r>
            <a:r>
              <a:rPr lang="it-IT" sz="1050" dirty="0">
                <a:solidFill>
                  <a:srgbClr val="0000FF"/>
                </a:solidFill>
                <a:latin typeface="Cascadia Mono" panose="020B0609020000020004" pitchFamily="49" charset="0"/>
              </a:rPr>
              <a:t>readonly</a:t>
            </a:r>
            <a:r>
              <a:rPr lang="it-IT" sz="1050" dirty="0">
                <a:solidFill>
                  <a:srgbClr val="000000"/>
                </a:solidFill>
                <a:latin typeface="Cascadia Mono" panose="020B0609020000020004" pitchFamily="49" charset="0"/>
              </a:rPr>
              <a:t> ILogger&lt;CustomerController&gt; _logger;</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CustomerController</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ICustomerService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customerService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ILogger</a:t>
            </a:r>
            <a:r>
              <a:rPr lang="en-IN" sz="1050" dirty="0">
                <a:solidFill>
                  <a:srgbClr val="000000"/>
                </a:solidFill>
                <a:latin typeface="Cascadia Mono" panose="020B0609020000020004" pitchFamily="49" charset="0"/>
              </a:rPr>
              <a:t>&lt;</a:t>
            </a:r>
            <a:r>
              <a:rPr lang="en-IN" sz="1050" dirty="0" err="1">
                <a:solidFill>
                  <a:srgbClr val="000000"/>
                </a:solidFill>
                <a:latin typeface="Cascadia Mono" panose="020B0609020000020004" pitchFamily="49" charset="0"/>
              </a:rPr>
              <a:t>CustomerController</a:t>
            </a:r>
            <a:r>
              <a:rPr lang="en-IN" sz="1050" dirty="0">
                <a:solidFill>
                  <a:srgbClr val="000000"/>
                </a:solidFill>
                <a:latin typeface="Cascadia Mono" panose="020B0609020000020004" pitchFamily="49" charset="0"/>
              </a:rPr>
              <a:t>&gt; logger)</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_</a:t>
            </a:r>
            <a:r>
              <a:rPr lang="en-IN" sz="1050" dirty="0" err="1">
                <a:solidFill>
                  <a:srgbClr val="000000"/>
                </a:solidFill>
                <a:latin typeface="Cascadia Mono" panose="020B0609020000020004" pitchFamily="49" charset="0"/>
              </a:rPr>
              <a:t>customerService</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customerService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_logger = logger;</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HttpGet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IActionResult</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GetCustomers</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try</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_</a:t>
            </a:r>
            <a:r>
              <a:rPr lang="en-US" sz="1050" dirty="0" err="1">
                <a:solidFill>
                  <a:srgbClr val="000000"/>
                </a:solidFill>
                <a:latin typeface="Cascadia Mono" panose="020B0609020000020004" pitchFamily="49" charset="0"/>
              </a:rPr>
              <a:t>logger.LogInformation</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"Getting customer details"</a:t>
            </a:r>
            <a:r>
              <a:rPr lang="en-US"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result = _</a:t>
            </a:r>
            <a:r>
              <a:rPr lang="en-IN" sz="1050" dirty="0" err="1">
                <a:solidFill>
                  <a:srgbClr val="000000"/>
                </a:solidFill>
                <a:latin typeface="Cascadia Mono" panose="020B0609020000020004" pitchFamily="49" charset="0"/>
              </a:rPr>
              <a:t>customerService.GetCustomers</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if</a:t>
            </a:r>
            <a:r>
              <a:rPr lang="en-IN" sz="1050" dirty="0">
                <a:solidFill>
                  <a:srgbClr val="000000"/>
                </a:solidFill>
                <a:latin typeface="Cascadia Mono" panose="020B0609020000020004" pitchFamily="49" charset="0"/>
              </a:rPr>
              <a:t> (result == </a:t>
            </a:r>
            <a:r>
              <a:rPr lang="en-IN" sz="1050" dirty="0">
                <a:solidFill>
                  <a:srgbClr val="0000FF"/>
                </a:solidFill>
                <a:latin typeface="Cascadia Mono" panose="020B0609020000020004" pitchFamily="49" charset="0"/>
              </a:rPr>
              <a:t>null</a:t>
            </a:r>
            <a:r>
              <a:rPr lang="en-IN" sz="1050" dirty="0">
                <a:solidFill>
                  <a:srgbClr val="000000"/>
                </a:solidFill>
                <a:latin typeface="Cascadia Mono" panose="020B0609020000020004" pitchFamily="49" charset="0"/>
              </a:rPr>
              <a:t>)</a:t>
            </a:r>
          </a:p>
          <a:p>
            <a:r>
              <a:rPr lang="en-US" sz="1050" dirty="0">
                <a:solidFill>
                  <a:srgbClr val="0000FF"/>
                </a:solidFill>
                <a:latin typeface="Cascadia Mono" panose="020B0609020000020004" pitchFamily="49" charset="0"/>
              </a:rPr>
              <a:t>throw</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ApplicationException</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"Getting errors while fetching customer details"</a:t>
            </a:r>
            <a:r>
              <a:rPr lang="en-US"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Ok(result);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catch</a:t>
            </a:r>
            <a:r>
              <a:rPr lang="en-IN" sz="1050" dirty="0">
                <a:solidFill>
                  <a:srgbClr val="000000"/>
                </a:solidFill>
                <a:latin typeface="Cascadia Mono" panose="020B0609020000020004" pitchFamily="49" charset="0"/>
              </a:rPr>
              <a:t> (Exception 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_</a:t>
            </a:r>
            <a:r>
              <a:rPr lang="en-IN" sz="1050" dirty="0" err="1">
                <a:solidFill>
                  <a:srgbClr val="000000"/>
                </a:solidFill>
                <a:latin typeface="Cascadia Mono" panose="020B0609020000020004" pitchFamily="49" charset="0"/>
              </a:rPr>
              <a:t>logger.LogError</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e.Message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BadRequest</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"Internal server error"</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a:t>
            </a:r>
            <a:endParaRPr lang="en-IN" sz="2400" dirty="0"/>
          </a:p>
        </p:txBody>
      </p:sp>
    </p:spTree>
    <p:extLst>
      <p:ext uri="{BB962C8B-B14F-4D97-AF65-F5344CB8AC3E}">
        <p14:creationId xmlns:p14="http://schemas.microsoft.com/office/powerpoint/2010/main" val="1361393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4BB503-D487-50C0-8ABB-164536DBAD2E}"/>
              </a:ext>
            </a:extLst>
          </p:cNvPr>
          <p:cNvSpPr txBox="1"/>
          <p:nvPr/>
        </p:nvSpPr>
        <p:spPr>
          <a:xfrm>
            <a:off x="106052" y="1000262"/>
            <a:ext cx="11639746" cy="4524315"/>
          </a:xfrm>
          <a:prstGeom prst="rect">
            <a:avLst/>
          </a:prstGeom>
          <a:noFill/>
        </p:spPr>
        <p:txBody>
          <a:bodyPr wrap="square">
            <a:spAutoFit/>
          </a:bodyPr>
          <a:lstStyle/>
          <a:p>
            <a:pPr algn="l"/>
            <a:r>
              <a:rPr lang="en-US" b="0" i="0" dirty="0">
                <a:solidFill>
                  <a:srgbClr val="000000"/>
                </a:solidFill>
                <a:effectLst/>
                <a:latin typeface="Open Sans" panose="020B0606030504020204" pitchFamily="34" charset="0"/>
              </a:rPr>
              <a:t>The above code example is a typical case where we use try-catch to handle the exception. Any exception thrown by the code enclosed within the try block will be caught and handled by the catch block.</a:t>
            </a:r>
          </a:p>
          <a:p>
            <a:pPr algn="l"/>
            <a:r>
              <a:rPr lang="en-US" b="0" i="0" dirty="0">
                <a:solidFill>
                  <a:srgbClr val="000000"/>
                </a:solidFill>
                <a:effectLst/>
                <a:latin typeface="Open Sans" panose="020B0606030504020204" pitchFamily="34" charset="0"/>
              </a:rPr>
              <a:t>The try-catch method is ideal for novice developers, and it is something that every developer should be aware of. However, this technique has a disadvantage when working with massive projects with complex architectures.</a:t>
            </a:r>
          </a:p>
          <a:p>
            <a:pPr algn="l"/>
            <a:endParaRPr lang="en-US" b="0" i="0" dirty="0">
              <a:solidFill>
                <a:srgbClr val="000000"/>
              </a:solidFill>
              <a:effectLst/>
              <a:latin typeface="Open Sans" panose="020B0606030504020204" pitchFamily="34" charset="0"/>
            </a:endParaRPr>
          </a:p>
          <a:p>
            <a:pPr algn="l"/>
            <a:r>
              <a:rPr lang="en-US" b="0" i="0" dirty="0">
                <a:solidFill>
                  <a:srgbClr val="000000"/>
                </a:solidFill>
                <a:effectLst/>
                <a:latin typeface="Open Sans" panose="020B0606030504020204" pitchFamily="34" charset="0"/>
              </a:rPr>
              <a:t>Consider a scenario where you have many controllers and actions in your project, and you need to utilize try-catch for each action in the controllers. In some cases, try-catch must be used in the services as well. In such instances, it will double the lines of code in your project, which is undesirable.</a:t>
            </a:r>
          </a:p>
          <a:p>
            <a:pPr algn="l"/>
            <a:r>
              <a:rPr lang="en-US" b="0" i="0" dirty="0">
                <a:solidFill>
                  <a:srgbClr val="000000"/>
                </a:solidFill>
                <a:effectLst/>
                <a:latin typeface="Open Sans" panose="020B0606030504020204" pitchFamily="34" charset="0"/>
              </a:rPr>
              <a:t>If the solution architecture contains different layers (e.g., data access, business logic, and presentation layer), you will have to map that exception in between layers when your code throws an exception. Or else you may have more severe issues, such as missing the exception where no one knows the error until checking the log/trace.</a:t>
            </a:r>
          </a:p>
          <a:p>
            <a:pPr algn="l"/>
            <a:endParaRPr lang="en-US" b="0" i="0" dirty="0">
              <a:solidFill>
                <a:srgbClr val="000000"/>
              </a:solidFill>
              <a:effectLst/>
              <a:latin typeface="Open Sans" panose="020B0606030504020204" pitchFamily="34" charset="0"/>
            </a:endParaRPr>
          </a:p>
          <a:p>
            <a:pPr algn="l"/>
            <a:r>
              <a:rPr lang="en-US" b="0" i="0" dirty="0">
                <a:solidFill>
                  <a:srgbClr val="000000"/>
                </a:solidFill>
                <a:effectLst/>
                <a:latin typeface="Open Sans" panose="020B0606030504020204" pitchFamily="34" charset="0"/>
              </a:rPr>
              <a:t>Global exception handling is a handy approach for eliminating these drawbacks. In the next section of this article, we’ll see how you can use custom middleware to handle exceptions globally in .NET 6.</a:t>
            </a:r>
          </a:p>
        </p:txBody>
      </p:sp>
    </p:spTree>
    <p:extLst>
      <p:ext uri="{BB962C8B-B14F-4D97-AF65-F5344CB8AC3E}">
        <p14:creationId xmlns:p14="http://schemas.microsoft.com/office/powerpoint/2010/main" val="398193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68FF6F-52C9-A9CD-9C3A-779D32CDF40C}"/>
              </a:ext>
            </a:extLst>
          </p:cNvPr>
          <p:cNvSpPr txBox="1"/>
          <p:nvPr/>
        </p:nvSpPr>
        <p:spPr>
          <a:xfrm>
            <a:off x="3047215" y="0"/>
            <a:ext cx="6094428" cy="369332"/>
          </a:xfrm>
          <a:prstGeom prst="rect">
            <a:avLst/>
          </a:prstGeom>
          <a:noFill/>
        </p:spPr>
        <p:txBody>
          <a:bodyPr wrap="square">
            <a:spAutoFit/>
          </a:bodyPr>
          <a:lstStyle/>
          <a:p>
            <a:pPr algn="l"/>
            <a:r>
              <a:rPr lang="en-US" b="1" i="0" dirty="0">
                <a:solidFill>
                  <a:srgbClr val="3C3950"/>
                </a:solidFill>
                <a:effectLst/>
                <a:latin typeface="Open Sans" panose="020B0606030504020204" pitchFamily="34" charset="0"/>
              </a:rPr>
              <a:t>Global exception handling with custom middleware</a:t>
            </a:r>
          </a:p>
        </p:txBody>
      </p:sp>
      <p:sp>
        <p:nvSpPr>
          <p:cNvPr id="7" name="TextBox 6">
            <a:extLst>
              <a:ext uri="{FF2B5EF4-FFF2-40B4-BE49-F238E27FC236}">
                <a16:creationId xmlns:a16="http://schemas.microsoft.com/office/drawing/2014/main" id="{5C457C66-6F48-9812-537A-C6CB9CFB2F9E}"/>
              </a:ext>
            </a:extLst>
          </p:cNvPr>
          <p:cNvSpPr txBox="1"/>
          <p:nvPr/>
        </p:nvSpPr>
        <p:spPr>
          <a:xfrm>
            <a:off x="0" y="280176"/>
            <a:ext cx="11903696" cy="2062103"/>
          </a:xfrm>
          <a:prstGeom prst="rect">
            <a:avLst/>
          </a:prstGeom>
          <a:noFill/>
        </p:spPr>
        <p:txBody>
          <a:bodyPr wrap="square">
            <a:spAutoFit/>
          </a:bodyPr>
          <a:lstStyle/>
          <a:p>
            <a:pPr algn="l"/>
            <a:r>
              <a:rPr lang="en-US" sz="1600" b="0" i="0" dirty="0">
                <a:solidFill>
                  <a:srgbClr val="000000"/>
                </a:solidFill>
                <a:effectLst/>
                <a:latin typeface="Open Sans" panose="020B0606030504020204" pitchFamily="34" charset="0"/>
              </a:rPr>
              <a:t>Global exception handling with custom middleware grants the developer much broader authority and enhances the procedure. It’s a block of code that can be added to the ASP.NET Core pipeline as middleware and holds our custom error handling mechanism. This pipeline is capable of catching a wide range of exceptions.</a:t>
            </a:r>
          </a:p>
          <a:p>
            <a:pPr algn="l"/>
            <a:endParaRPr lang="en-US" sz="1600" b="0" i="0" dirty="0">
              <a:solidFill>
                <a:srgbClr val="000000"/>
              </a:solidFill>
              <a:effectLst/>
              <a:latin typeface="Open Sans" panose="020B0606030504020204" pitchFamily="34" charset="0"/>
            </a:endParaRPr>
          </a:p>
          <a:p>
            <a:pPr algn="l"/>
            <a:r>
              <a:rPr lang="en-US" sz="1600" b="0" i="0" dirty="0">
                <a:solidFill>
                  <a:srgbClr val="000000"/>
                </a:solidFill>
                <a:effectLst/>
                <a:latin typeface="Open Sans" panose="020B0606030504020204" pitchFamily="34" charset="0"/>
              </a:rPr>
              <a:t>This approach aims to ensure your ASP.NET Core API produces consistent responses regardless of the type of request. It makes things simpler for anybody who uses your API to do their job. It also provides a better development experience.</a:t>
            </a:r>
          </a:p>
          <a:p>
            <a:pPr algn="l"/>
            <a:r>
              <a:rPr lang="en-US" sz="1600" b="0" i="0" dirty="0">
                <a:solidFill>
                  <a:srgbClr val="000000"/>
                </a:solidFill>
                <a:effectLst/>
                <a:latin typeface="Open Sans" panose="020B0606030504020204" pitchFamily="34" charset="0"/>
              </a:rPr>
              <a:t>Create a separate folder named </a:t>
            </a:r>
            <a:r>
              <a:rPr lang="en-US" sz="1600" b="1" i="0" dirty="0" err="1">
                <a:solidFill>
                  <a:srgbClr val="000000"/>
                </a:solidFill>
                <a:effectLst/>
                <a:latin typeface="Open Sans" panose="020B0606030504020204" pitchFamily="34" charset="0"/>
              </a:rPr>
              <a:t>CustomMiddlewares</a:t>
            </a:r>
            <a:r>
              <a:rPr lang="en-US" sz="1600" b="0" i="0" dirty="0">
                <a:solidFill>
                  <a:srgbClr val="000000"/>
                </a:solidFill>
                <a:effectLst/>
                <a:latin typeface="Open Sans" panose="020B0606030504020204" pitchFamily="34" charset="0"/>
              </a:rPr>
              <a:t> and add a class file named </a:t>
            </a:r>
            <a:r>
              <a:rPr lang="en-US" sz="1600" b="1" i="0" dirty="0" err="1">
                <a:solidFill>
                  <a:srgbClr val="000000"/>
                </a:solidFill>
                <a:effectLst/>
                <a:latin typeface="Open Sans" panose="020B0606030504020204" pitchFamily="34" charset="0"/>
              </a:rPr>
              <a:t>ExceptionHandlingMiddleware.cs</a:t>
            </a:r>
            <a:r>
              <a:rPr lang="en-US" sz="1600" b="0" i="0" dirty="0">
                <a:solidFill>
                  <a:srgbClr val="000000"/>
                </a:solidFill>
                <a:effectLst/>
                <a:latin typeface="Open Sans" panose="020B0606030504020204" pitchFamily="34" charset="0"/>
              </a:rPr>
              <a:t> within it.</a:t>
            </a:r>
          </a:p>
        </p:txBody>
      </p:sp>
    </p:spTree>
    <p:extLst>
      <p:ext uri="{BB962C8B-B14F-4D97-AF65-F5344CB8AC3E}">
        <p14:creationId xmlns:p14="http://schemas.microsoft.com/office/powerpoint/2010/main" val="2249725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539FD6-DC26-F51B-64E6-C877F99DBAB7}"/>
              </a:ext>
            </a:extLst>
          </p:cNvPr>
          <p:cNvSpPr txBox="1"/>
          <p:nvPr/>
        </p:nvSpPr>
        <p:spPr>
          <a:xfrm>
            <a:off x="0" y="258901"/>
            <a:ext cx="5350146" cy="526297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200" dirty="0">
                <a:solidFill>
                  <a:srgbClr val="0000FF"/>
                </a:solidFill>
                <a:highlight>
                  <a:srgbClr val="FFFFFF"/>
                </a:highlight>
                <a:latin typeface="Cascadia Mono" panose="020B0609020000020004" pitchFamily="49" charset="0"/>
              </a:rPr>
              <a:t>public</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class</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ExceptionHandlingMiddleware</a:t>
            </a:r>
            <a:endParaRPr lang="en-IN" sz="1200" dirty="0">
              <a:solidFill>
                <a:srgbClr val="2B91AF"/>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private</a:t>
            </a:r>
            <a:r>
              <a:rPr lang="en-IN" sz="1200" dirty="0">
                <a:solidFill>
                  <a:srgbClr val="000000"/>
                </a:solidFill>
                <a:highlight>
                  <a:srgbClr val="FFFFFF"/>
                </a:highlight>
                <a:latin typeface="Cascadia Mono" panose="020B0609020000020004" pitchFamily="49" charset="0"/>
              </a:rPr>
              <a:t> </a:t>
            </a:r>
            <a:r>
              <a:rPr lang="en-IN" sz="1200" dirty="0" err="1">
                <a:solidFill>
                  <a:srgbClr val="0000FF"/>
                </a:solidFill>
                <a:highlight>
                  <a:srgbClr val="FFFFFF"/>
                </a:highlight>
                <a:latin typeface="Cascadia Mono" panose="020B0609020000020004" pitchFamily="49" charset="0"/>
              </a:rPr>
              <a:t>readonly</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RequestDelegate</a:t>
            </a:r>
            <a:r>
              <a:rPr lang="en-IN" sz="1200" dirty="0">
                <a:solidFill>
                  <a:srgbClr val="000000"/>
                </a:solidFill>
                <a:highlight>
                  <a:srgbClr val="FFFFFF"/>
                </a:highlight>
                <a:latin typeface="Cascadia Mono" panose="020B0609020000020004" pitchFamily="49" charset="0"/>
              </a:rPr>
              <a:t> _next;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private</a:t>
            </a:r>
            <a:r>
              <a:rPr lang="en-IN" sz="1200" dirty="0">
                <a:solidFill>
                  <a:srgbClr val="000000"/>
                </a:solidFill>
                <a:highlight>
                  <a:srgbClr val="FFFFFF"/>
                </a:highlight>
                <a:latin typeface="Cascadia Mono" panose="020B0609020000020004" pitchFamily="49" charset="0"/>
              </a:rPr>
              <a:t> </a:t>
            </a:r>
            <a:r>
              <a:rPr lang="en-IN" sz="1200" dirty="0" err="1">
                <a:solidFill>
                  <a:srgbClr val="0000FF"/>
                </a:solidFill>
                <a:highlight>
                  <a:srgbClr val="FFFFFF"/>
                </a:highlight>
                <a:latin typeface="Cascadia Mono" panose="020B0609020000020004" pitchFamily="49" charset="0"/>
              </a:rPr>
              <a:t>readonly</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ILogger</a:t>
            </a:r>
            <a:r>
              <a:rPr lang="en-IN" sz="1200" dirty="0">
                <a:solidFill>
                  <a:srgbClr val="000000"/>
                </a:solidFill>
                <a:highlight>
                  <a:srgbClr val="FFFFFF"/>
                </a:highlight>
                <a:latin typeface="Cascadia Mono" panose="020B0609020000020004" pitchFamily="49" charset="0"/>
              </a:rPr>
              <a:t>&lt;</a:t>
            </a:r>
            <a:r>
              <a:rPr lang="en-IN" sz="1200" dirty="0" err="1">
                <a:solidFill>
                  <a:srgbClr val="2B91AF"/>
                </a:solidFill>
                <a:highlight>
                  <a:srgbClr val="FFFFFF"/>
                </a:highlight>
                <a:latin typeface="Cascadia Mono" panose="020B0609020000020004" pitchFamily="49" charset="0"/>
              </a:rPr>
              <a:t>ExceptionHandlingMiddleware</a:t>
            </a:r>
            <a:r>
              <a:rPr lang="en-IN" sz="1200" dirty="0">
                <a:solidFill>
                  <a:srgbClr val="000000"/>
                </a:solidFill>
                <a:highlight>
                  <a:srgbClr val="FFFFFF"/>
                </a:highlight>
                <a:latin typeface="Cascadia Mono" panose="020B0609020000020004" pitchFamily="49" charset="0"/>
              </a:rPr>
              <a:t>&gt; _logger;</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public</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ExceptionHandlingMiddleware</a:t>
            </a:r>
            <a:r>
              <a:rPr lang="en-IN" sz="1200" dirty="0">
                <a:solidFill>
                  <a:srgbClr val="000000"/>
                </a:solidFill>
                <a:highlight>
                  <a:srgbClr val="FFFFFF"/>
                </a:highlight>
                <a:latin typeface="Cascadia Mono" panose="020B0609020000020004" pitchFamily="49" charset="0"/>
              </a:rPr>
              <a:t>(</a:t>
            </a:r>
            <a:r>
              <a:rPr lang="en-IN" sz="1200" dirty="0" err="1">
                <a:solidFill>
                  <a:srgbClr val="2B91AF"/>
                </a:solidFill>
                <a:highlight>
                  <a:srgbClr val="FFFFFF"/>
                </a:highlight>
                <a:latin typeface="Cascadia Mono" panose="020B0609020000020004" pitchFamily="49" charset="0"/>
              </a:rPr>
              <a:t>RequestDelegate</a:t>
            </a:r>
            <a:r>
              <a:rPr lang="en-IN" sz="1200" dirty="0">
                <a:solidFill>
                  <a:srgbClr val="000000"/>
                </a:solidFill>
                <a:highlight>
                  <a:srgbClr val="FFFFFF"/>
                </a:highlight>
                <a:latin typeface="Cascadia Mono" panose="020B0609020000020004" pitchFamily="49" charset="0"/>
              </a:rPr>
              <a:t> next, </a:t>
            </a:r>
            <a:r>
              <a:rPr lang="en-IN" sz="1200" dirty="0" err="1">
                <a:solidFill>
                  <a:srgbClr val="2B91AF"/>
                </a:solidFill>
                <a:highlight>
                  <a:srgbClr val="FFFFFF"/>
                </a:highlight>
                <a:latin typeface="Cascadia Mono" panose="020B0609020000020004" pitchFamily="49" charset="0"/>
              </a:rPr>
              <a:t>ILogger</a:t>
            </a:r>
            <a:r>
              <a:rPr lang="en-IN" sz="1200" dirty="0">
                <a:solidFill>
                  <a:srgbClr val="000000"/>
                </a:solidFill>
                <a:highlight>
                  <a:srgbClr val="FFFFFF"/>
                </a:highlight>
                <a:latin typeface="Cascadia Mono" panose="020B0609020000020004" pitchFamily="49" charset="0"/>
              </a:rPr>
              <a:t>&lt;</a:t>
            </a:r>
            <a:r>
              <a:rPr lang="en-IN" sz="1200" dirty="0" err="1">
                <a:solidFill>
                  <a:srgbClr val="2B91AF"/>
                </a:solidFill>
                <a:highlight>
                  <a:srgbClr val="FFFFFF"/>
                </a:highlight>
                <a:latin typeface="Cascadia Mono" panose="020B0609020000020004" pitchFamily="49" charset="0"/>
              </a:rPr>
              <a:t>ExceptionHandlingMiddleware</a:t>
            </a:r>
            <a:r>
              <a:rPr lang="en-IN" sz="1200" dirty="0">
                <a:solidFill>
                  <a:srgbClr val="000000"/>
                </a:solidFill>
                <a:highlight>
                  <a:srgbClr val="FFFFFF"/>
                </a:highlight>
                <a:latin typeface="Cascadia Mono" panose="020B0609020000020004" pitchFamily="49" charset="0"/>
              </a:rPr>
              <a:t>&gt; logger)</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_next = next;</a:t>
            </a:r>
          </a:p>
          <a:p>
            <a:r>
              <a:rPr lang="en-IN" sz="1200" dirty="0">
                <a:solidFill>
                  <a:srgbClr val="000000"/>
                </a:solidFill>
                <a:highlight>
                  <a:srgbClr val="FFFFFF"/>
                </a:highlight>
                <a:latin typeface="Cascadia Mono" panose="020B0609020000020004" pitchFamily="49" charset="0"/>
              </a:rPr>
              <a:t>            _logger = logger;</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async</a:t>
            </a:r>
            <a:r>
              <a:rPr lang="en-US" sz="1200" dirty="0">
                <a:solidFill>
                  <a:srgbClr val="000000"/>
                </a:solidFill>
                <a:highlight>
                  <a:srgbClr val="FFFFFF"/>
                </a:highlight>
                <a:latin typeface="Cascadia Mono" panose="020B0609020000020004" pitchFamily="49" charset="0"/>
              </a:rPr>
              <a:t> </a:t>
            </a:r>
            <a:r>
              <a:rPr lang="en-US" sz="1200" dirty="0">
                <a:solidFill>
                  <a:srgbClr val="2B91AF"/>
                </a:solidFill>
                <a:highlight>
                  <a:srgbClr val="FFFFFF"/>
                </a:highlight>
                <a:latin typeface="Cascadia Mono" panose="020B0609020000020004" pitchFamily="49" charset="0"/>
              </a:rPr>
              <a:t>Task</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InvokeAsync</a:t>
            </a:r>
            <a:r>
              <a:rPr lang="en-US" sz="1200" dirty="0">
                <a:solidFill>
                  <a:srgbClr val="000000"/>
                </a:solidFill>
                <a:highlight>
                  <a:srgbClr val="FFFFFF"/>
                </a:highlight>
                <a:latin typeface="Cascadia Mono" panose="020B0609020000020004" pitchFamily="49" charset="0"/>
              </a:rPr>
              <a:t>(</a:t>
            </a:r>
            <a:r>
              <a:rPr lang="en-US" sz="1200" dirty="0" err="1">
                <a:solidFill>
                  <a:srgbClr val="2B91AF"/>
                </a:solidFill>
                <a:highlight>
                  <a:srgbClr val="FFFFFF"/>
                </a:highlight>
                <a:latin typeface="Cascadia Mono" panose="020B0609020000020004" pitchFamily="49" charset="0"/>
              </a:rPr>
              <a:t>HttpContext</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httpContext</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try</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await</a:t>
            </a:r>
            <a:r>
              <a:rPr lang="en-IN" sz="1200" dirty="0">
                <a:solidFill>
                  <a:srgbClr val="000000"/>
                </a:solidFill>
                <a:highlight>
                  <a:srgbClr val="FFFFFF"/>
                </a:highlight>
                <a:latin typeface="Cascadia Mono" panose="020B0609020000020004" pitchFamily="49" charset="0"/>
              </a:rPr>
              <a:t> _next(</a:t>
            </a:r>
            <a:r>
              <a:rPr lang="en-IN" sz="1200" dirty="0" err="1">
                <a:solidFill>
                  <a:srgbClr val="000000"/>
                </a:solidFill>
                <a:highlight>
                  <a:srgbClr val="FFFFFF"/>
                </a:highlight>
                <a:latin typeface="Cascadia Mono" panose="020B0609020000020004" pitchFamily="49" charset="0"/>
              </a:rPr>
              <a:t>httpContext</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catch</a:t>
            </a:r>
            <a:r>
              <a:rPr lang="en-IN" sz="1200" dirty="0">
                <a:solidFill>
                  <a:srgbClr val="000000"/>
                </a:solidFill>
                <a:highlight>
                  <a:srgbClr val="FFFFFF"/>
                </a:highlight>
                <a:latin typeface="Cascadia Mono" panose="020B0609020000020004" pitchFamily="49" charset="0"/>
              </a:rPr>
              <a:t> (</a:t>
            </a:r>
            <a:r>
              <a:rPr lang="en-IN" sz="1200" dirty="0">
                <a:solidFill>
                  <a:srgbClr val="2B91AF"/>
                </a:solidFill>
                <a:highlight>
                  <a:srgbClr val="FFFFFF"/>
                </a:highlight>
                <a:latin typeface="Cascadia Mono" panose="020B0609020000020004" pitchFamily="49" charset="0"/>
              </a:rPr>
              <a:t>Exception</a:t>
            </a:r>
            <a:r>
              <a:rPr lang="en-IN" sz="1200" dirty="0">
                <a:solidFill>
                  <a:srgbClr val="000000"/>
                </a:solidFill>
                <a:highlight>
                  <a:srgbClr val="FFFFFF"/>
                </a:highlight>
                <a:latin typeface="Cascadia Mono" panose="020B0609020000020004" pitchFamily="49" charset="0"/>
              </a:rPr>
              <a:t> ex)</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await</a:t>
            </a:r>
            <a:r>
              <a:rPr lang="en-IN" sz="1200" dirty="0">
                <a:solidFill>
                  <a:srgbClr val="000000"/>
                </a:solidFill>
                <a:highlight>
                  <a:srgbClr val="FFFFFF"/>
                </a:highlight>
                <a:latin typeface="Cascadia Mono" panose="020B0609020000020004" pitchFamily="49" charset="0"/>
              </a:rPr>
              <a:t> </a:t>
            </a:r>
            <a:r>
              <a:rPr lang="en-IN" sz="1200" dirty="0" err="1">
                <a:solidFill>
                  <a:srgbClr val="FF0000"/>
                </a:solidFill>
                <a:highlight>
                  <a:srgbClr val="FFFFFF"/>
                </a:highlight>
                <a:latin typeface="Cascadia Mono" panose="020B0609020000020004" pitchFamily="49" charset="0"/>
              </a:rPr>
              <a:t>HandleExceptionAsync</a:t>
            </a:r>
            <a:r>
              <a:rPr lang="en-IN" sz="1200" dirty="0">
                <a:solidFill>
                  <a:srgbClr val="000000"/>
                </a:solidFill>
                <a:highlight>
                  <a:srgbClr val="FFFFFF"/>
                </a:highlight>
                <a:latin typeface="Cascadia Mono" panose="020B0609020000020004" pitchFamily="49" charset="0"/>
              </a:rPr>
              <a:t>(</a:t>
            </a:r>
            <a:r>
              <a:rPr lang="en-IN" sz="1200" dirty="0" err="1">
                <a:solidFill>
                  <a:srgbClr val="000000"/>
                </a:solidFill>
                <a:highlight>
                  <a:srgbClr val="FFFFFF"/>
                </a:highlight>
                <a:latin typeface="Cascadia Mono" panose="020B0609020000020004" pitchFamily="49" charset="0"/>
              </a:rPr>
              <a:t>httpContext</a:t>
            </a:r>
            <a:r>
              <a:rPr lang="en-IN" sz="1200" dirty="0">
                <a:solidFill>
                  <a:srgbClr val="000000"/>
                </a:solidFill>
                <a:highlight>
                  <a:srgbClr val="FFFFFF"/>
                </a:highlight>
                <a:latin typeface="Cascadia Mono" panose="020B0609020000020004" pitchFamily="49" charset="0"/>
              </a:rPr>
              <a:t>, ex);</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a:t>
            </a:r>
            <a:endParaRPr lang="en-IN" sz="1200" dirty="0"/>
          </a:p>
        </p:txBody>
      </p:sp>
      <p:sp>
        <p:nvSpPr>
          <p:cNvPr id="6" name="TextBox 5">
            <a:extLst>
              <a:ext uri="{FF2B5EF4-FFF2-40B4-BE49-F238E27FC236}">
                <a16:creationId xmlns:a16="http://schemas.microsoft.com/office/drawing/2014/main" id="{D2A99202-711A-73A7-FEEE-B0D5F0724342}"/>
              </a:ext>
            </a:extLst>
          </p:cNvPr>
          <p:cNvSpPr txBox="1"/>
          <p:nvPr/>
        </p:nvSpPr>
        <p:spPr>
          <a:xfrm>
            <a:off x="5403916" y="117693"/>
            <a:ext cx="6788084" cy="418576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private</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async</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Task</a:t>
            </a:r>
            <a:r>
              <a:rPr lang="en-IN" sz="1400" dirty="0">
                <a:solidFill>
                  <a:srgbClr val="000000"/>
                </a:solidFill>
                <a:highlight>
                  <a:srgbClr val="FFFFFF"/>
                </a:highlight>
                <a:latin typeface="Cascadia Mono" panose="020B0609020000020004" pitchFamily="49" charset="0"/>
              </a:rPr>
              <a:t> </a:t>
            </a:r>
            <a:r>
              <a:rPr lang="en-IN" sz="1400" dirty="0" err="1">
                <a:solidFill>
                  <a:srgbClr val="FF0000"/>
                </a:solidFill>
                <a:highlight>
                  <a:srgbClr val="FFFFFF"/>
                </a:highlight>
                <a:latin typeface="Cascadia Mono" panose="020B0609020000020004" pitchFamily="49" charset="0"/>
              </a:rPr>
              <a:t>HandleExceptionAsync</a:t>
            </a:r>
            <a:r>
              <a:rPr lang="en-IN" sz="1400" dirty="0">
                <a:solidFill>
                  <a:srgbClr val="000000"/>
                </a:solidFill>
                <a:highlight>
                  <a:srgbClr val="FFFFFF"/>
                </a:highlight>
                <a:latin typeface="Cascadia Mono" panose="020B0609020000020004" pitchFamily="49" charset="0"/>
              </a:rPr>
              <a:t>(</a:t>
            </a:r>
            <a:r>
              <a:rPr lang="en-IN" sz="1400" dirty="0" err="1">
                <a:solidFill>
                  <a:srgbClr val="2B91AF"/>
                </a:solidFill>
                <a:highlight>
                  <a:srgbClr val="FFFFFF"/>
                </a:highlight>
                <a:latin typeface="Cascadia Mono" panose="020B0609020000020004" pitchFamily="49" charset="0"/>
              </a:rPr>
              <a:t>HttpContext</a:t>
            </a:r>
            <a:r>
              <a:rPr lang="en-IN" sz="1400" dirty="0">
                <a:solidFill>
                  <a:srgbClr val="000000"/>
                </a:solidFill>
                <a:highlight>
                  <a:srgbClr val="FFFFFF"/>
                </a:highlight>
                <a:latin typeface="Cascadia Mono" panose="020B0609020000020004" pitchFamily="49" charset="0"/>
              </a:rPr>
              <a:t> context, </a:t>
            </a:r>
            <a:r>
              <a:rPr lang="en-IN" sz="1400" dirty="0">
                <a:solidFill>
                  <a:srgbClr val="2B91AF"/>
                </a:solidFill>
                <a:highlight>
                  <a:srgbClr val="FFFFFF"/>
                </a:highlight>
                <a:latin typeface="Cascadia Mono" panose="020B0609020000020004" pitchFamily="49" charset="0"/>
              </a:rPr>
              <a:t>Exception</a:t>
            </a:r>
            <a:r>
              <a:rPr lang="en-IN" sz="1400" dirty="0">
                <a:solidFill>
                  <a:srgbClr val="000000"/>
                </a:solidFill>
                <a:highlight>
                  <a:srgbClr val="FFFFFF"/>
                </a:highlight>
                <a:latin typeface="Cascadia Mono" panose="020B0609020000020004" pitchFamily="49" charset="0"/>
              </a:rPr>
              <a:t> exception)</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var</a:t>
            </a:r>
            <a:r>
              <a:rPr lang="en-IN" sz="1400" dirty="0">
                <a:solidFill>
                  <a:srgbClr val="000000"/>
                </a:solidFill>
                <a:highlight>
                  <a:srgbClr val="FFFFFF"/>
                </a:highlight>
                <a:latin typeface="Cascadia Mono" panose="020B0609020000020004" pitchFamily="49" charset="0"/>
              </a:rPr>
              <a:t> code = </a:t>
            </a:r>
            <a:r>
              <a:rPr lang="en-IN" sz="1400" dirty="0" err="1">
                <a:solidFill>
                  <a:srgbClr val="2B91AF"/>
                </a:solidFill>
                <a:highlight>
                  <a:srgbClr val="FFFFFF"/>
                </a:highlight>
                <a:latin typeface="Cascadia Mono" panose="020B0609020000020004" pitchFamily="49" charset="0"/>
              </a:rPr>
              <a:t>HttpStatusCode</a:t>
            </a:r>
            <a:r>
              <a:rPr lang="en-IN" sz="1400" dirty="0" err="1">
                <a:solidFill>
                  <a:srgbClr val="000000"/>
                </a:solidFill>
                <a:highlight>
                  <a:srgbClr val="FFFFFF"/>
                </a:highlight>
                <a:latin typeface="Cascadia Mono" panose="020B0609020000020004" pitchFamily="49" charset="0"/>
              </a:rPr>
              <a:t>.InternalServerError</a:t>
            </a:r>
            <a:r>
              <a:rPr lang="en-IN" sz="1400" dirty="0">
                <a:solidFill>
                  <a:srgbClr val="000000"/>
                </a:solidFill>
                <a:highlight>
                  <a:srgbClr val="FFFFFF"/>
                </a:highlight>
                <a:latin typeface="Cascadia Mono" panose="020B0609020000020004" pitchFamily="49" charset="0"/>
              </a:rPr>
              <a:t>; </a:t>
            </a:r>
            <a:r>
              <a:rPr lang="en-IN" sz="1400" dirty="0">
                <a:solidFill>
                  <a:srgbClr val="008000"/>
                </a:solidFill>
                <a:highlight>
                  <a:srgbClr val="FFFFFF"/>
                </a:highlight>
                <a:latin typeface="Cascadia Mono" panose="020B0609020000020004" pitchFamily="49" charset="0"/>
              </a:rPr>
              <a:t>// 500 if unexpected</a:t>
            </a:r>
          </a:p>
          <a:p>
            <a:endParaRPr lang="en-IN" sz="1400" dirty="0">
              <a:solidFill>
                <a:srgbClr val="008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var</a:t>
            </a:r>
            <a:r>
              <a:rPr lang="en-IN" sz="1400" dirty="0">
                <a:solidFill>
                  <a:srgbClr val="000000"/>
                </a:solidFill>
                <a:highlight>
                  <a:srgbClr val="FFFFFF"/>
                </a:highlight>
                <a:latin typeface="Cascadia Mono" panose="020B0609020000020004" pitchFamily="49" charset="0"/>
              </a:rPr>
              <a:t> result = </a:t>
            </a:r>
            <a:r>
              <a:rPr lang="en-IN" sz="1400" dirty="0">
                <a:solidFill>
                  <a:srgbClr val="0000FF"/>
                </a:solidFill>
                <a:highlight>
                  <a:srgbClr val="FFFFFF"/>
                </a:highlight>
                <a:latin typeface="Cascadia Mono" panose="020B0609020000020004" pitchFamily="49" charset="0"/>
              </a:rPr>
              <a:t>new</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BaseResponseDTO</a:t>
            </a:r>
            <a:r>
              <a:rPr lang="en-IN" sz="1400" dirty="0">
                <a:solidFill>
                  <a:srgbClr val="000000"/>
                </a:solidFill>
                <a:highlight>
                  <a:srgbClr val="FFFFFF"/>
                </a:highlight>
                <a:latin typeface="Cascadia Mono" panose="020B0609020000020004" pitchFamily="49" charset="0"/>
              </a:rPr>
              <a:t>&lt;</a:t>
            </a:r>
            <a:r>
              <a:rPr lang="en-IN" sz="1400" dirty="0">
                <a:solidFill>
                  <a:srgbClr val="0000FF"/>
                </a:solidFill>
                <a:highlight>
                  <a:srgbClr val="FFFFFF"/>
                </a:highlight>
                <a:latin typeface="Cascadia Mono" panose="020B0609020000020004" pitchFamily="49" charset="0"/>
              </a:rPr>
              <a:t>string</a:t>
            </a:r>
            <a:r>
              <a:rPr lang="en-IN" sz="1400" dirty="0">
                <a:solidFill>
                  <a:srgbClr val="000000"/>
                </a:solidFill>
                <a:highlight>
                  <a:srgbClr val="FFFFFF"/>
                </a:highlight>
                <a:latin typeface="Cascadia Mono" panose="020B0609020000020004" pitchFamily="49" charset="0"/>
              </a:rPr>
              <a:t>&gt;()</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ErrorCode</a:t>
            </a:r>
            <a:r>
              <a:rPr lang="en-IN" sz="1400" dirty="0">
                <a:solidFill>
                  <a:srgbClr val="000000"/>
                </a:solidFill>
                <a:highlight>
                  <a:srgbClr val="FFFFFF"/>
                </a:highlight>
                <a:latin typeface="Cascadia Mono" panose="020B0609020000020004" pitchFamily="49" charset="0"/>
              </a:rPr>
              <a:t> = (</a:t>
            </a:r>
            <a:r>
              <a:rPr lang="en-IN" sz="1400" dirty="0">
                <a:solidFill>
                  <a:srgbClr val="0000FF"/>
                </a:solidFill>
                <a:highlight>
                  <a:srgbClr val="FFFFFF"/>
                </a:highlight>
                <a:latin typeface="Cascadia Mono" panose="020B0609020000020004" pitchFamily="49" charset="0"/>
              </a:rPr>
              <a:t>int</a:t>
            </a:r>
            <a:r>
              <a:rPr lang="en-IN" sz="1400" dirty="0">
                <a:solidFill>
                  <a:srgbClr val="000000"/>
                </a:solidFill>
                <a:highlight>
                  <a:srgbClr val="FFFFFF"/>
                </a:highlight>
                <a:latin typeface="Cascadia Mono" panose="020B0609020000020004" pitchFamily="49" charset="0"/>
              </a:rPr>
              <a:t>)</a:t>
            </a:r>
            <a:r>
              <a:rPr lang="en-IN" sz="1400" dirty="0" err="1">
                <a:solidFill>
                  <a:srgbClr val="2B91AF"/>
                </a:solidFill>
                <a:highlight>
                  <a:srgbClr val="FFFFFF"/>
                </a:highlight>
                <a:latin typeface="Cascadia Mono" panose="020B0609020000020004" pitchFamily="49" charset="0"/>
              </a:rPr>
              <a:t>HttpStatusCode</a:t>
            </a:r>
            <a:r>
              <a:rPr lang="en-IN" sz="1400" dirty="0" err="1">
                <a:solidFill>
                  <a:srgbClr val="000000"/>
                </a:solidFill>
                <a:highlight>
                  <a:srgbClr val="FFFFFF"/>
                </a:highlight>
                <a:latin typeface="Cascadia Mono" panose="020B0609020000020004" pitchFamily="49" charset="0"/>
              </a:rPr>
              <a:t>.InternalServerError</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ErrorMessage</a:t>
            </a:r>
            <a:r>
              <a:rPr lang="en-IN" sz="1400" dirty="0">
                <a:solidFill>
                  <a:srgbClr val="000000"/>
                </a:solidFill>
                <a:highlight>
                  <a:srgbClr val="FFFFFF"/>
                </a:highlight>
                <a:latin typeface="Cascadia Mono" panose="020B0609020000020004" pitchFamily="49" charset="0"/>
              </a:rPr>
              <a:t> = </a:t>
            </a:r>
            <a:r>
              <a:rPr lang="en-IN" sz="1400" dirty="0" err="1">
                <a:solidFill>
                  <a:srgbClr val="000000"/>
                </a:solidFill>
                <a:highlight>
                  <a:srgbClr val="FFFFFF"/>
                </a:highlight>
                <a:latin typeface="Cascadia Mono" panose="020B0609020000020004" pitchFamily="49" charset="0"/>
              </a:rPr>
              <a:t>exception.Message</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Succeed = </a:t>
            </a:r>
            <a:r>
              <a:rPr lang="en-IN" sz="1400" dirty="0">
                <a:solidFill>
                  <a:srgbClr val="0000FF"/>
                </a:solidFill>
                <a:highlight>
                  <a:srgbClr val="FFFFFF"/>
                </a:highlight>
                <a:latin typeface="Cascadia Mono" panose="020B0609020000020004" pitchFamily="49" charset="0"/>
              </a:rPr>
              <a:t>false</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p>
          <a:p>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var</a:t>
            </a: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jsonResult</a:t>
            </a:r>
            <a:r>
              <a:rPr lang="en-IN" sz="1400" dirty="0">
                <a:solidFill>
                  <a:srgbClr val="000000"/>
                </a:solidFill>
                <a:highlight>
                  <a:srgbClr val="FFFFFF"/>
                </a:highlight>
                <a:latin typeface="Cascadia Mono" panose="020B0609020000020004" pitchFamily="49" charset="0"/>
              </a:rPr>
              <a:t> = </a:t>
            </a:r>
            <a:r>
              <a:rPr lang="en-IN" sz="1400" dirty="0" err="1">
                <a:solidFill>
                  <a:srgbClr val="2B91AF"/>
                </a:solidFill>
                <a:highlight>
                  <a:srgbClr val="FFFFFF"/>
                </a:highlight>
                <a:latin typeface="Cascadia Mono" panose="020B0609020000020004" pitchFamily="49" charset="0"/>
              </a:rPr>
              <a:t>JsonConvert</a:t>
            </a:r>
            <a:r>
              <a:rPr lang="en-IN" sz="1400" dirty="0" err="1">
                <a:solidFill>
                  <a:srgbClr val="000000"/>
                </a:solidFill>
                <a:highlight>
                  <a:srgbClr val="FFFFFF"/>
                </a:highlight>
                <a:latin typeface="Cascadia Mono" panose="020B0609020000020004" pitchFamily="49" charset="0"/>
              </a:rPr>
              <a:t>.SerializeObject</a:t>
            </a:r>
            <a:r>
              <a:rPr lang="en-IN" sz="1400" dirty="0">
                <a:solidFill>
                  <a:srgbClr val="000000"/>
                </a:solidFill>
                <a:highlight>
                  <a:srgbClr val="FFFFFF"/>
                </a:highlight>
                <a:latin typeface="Cascadia Mono" panose="020B0609020000020004" pitchFamily="49" charset="0"/>
              </a:rPr>
              <a:t>(result);</a:t>
            </a:r>
          </a:p>
          <a:p>
            <a:r>
              <a:rPr lang="fr-FR" sz="1400" dirty="0">
                <a:solidFill>
                  <a:srgbClr val="000000"/>
                </a:solidFill>
                <a:highlight>
                  <a:srgbClr val="FFFFFF"/>
                </a:highlight>
                <a:latin typeface="Cascadia Mono" panose="020B0609020000020004" pitchFamily="49" charset="0"/>
              </a:rPr>
              <a:t>        </a:t>
            </a:r>
            <a:r>
              <a:rPr lang="fr-FR" sz="1400" dirty="0" err="1">
                <a:solidFill>
                  <a:srgbClr val="000000"/>
                </a:solidFill>
                <a:highlight>
                  <a:srgbClr val="FFFFFF"/>
                </a:highlight>
                <a:latin typeface="Cascadia Mono" panose="020B0609020000020004" pitchFamily="49" charset="0"/>
              </a:rPr>
              <a:t>context.Response.ContentType</a:t>
            </a:r>
            <a:r>
              <a:rPr lang="fr-FR" sz="1400" dirty="0">
                <a:solidFill>
                  <a:srgbClr val="000000"/>
                </a:solidFill>
                <a:highlight>
                  <a:srgbClr val="FFFFFF"/>
                </a:highlight>
                <a:latin typeface="Cascadia Mono" panose="020B0609020000020004" pitchFamily="49" charset="0"/>
              </a:rPr>
              <a:t> = </a:t>
            </a:r>
            <a:r>
              <a:rPr lang="fr-FR" sz="1400" dirty="0">
                <a:solidFill>
                  <a:srgbClr val="A31515"/>
                </a:solidFill>
                <a:highlight>
                  <a:srgbClr val="FFFFFF"/>
                </a:highlight>
                <a:latin typeface="Cascadia Mono" panose="020B0609020000020004" pitchFamily="49" charset="0"/>
              </a:rPr>
              <a:t>"application/</a:t>
            </a:r>
            <a:r>
              <a:rPr lang="fr-FR" sz="1400" dirty="0" err="1">
                <a:solidFill>
                  <a:srgbClr val="A31515"/>
                </a:solidFill>
                <a:highlight>
                  <a:srgbClr val="FFFFFF"/>
                </a:highlight>
                <a:latin typeface="Cascadia Mono" panose="020B0609020000020004" pitchFamily="49" charset="0"/>
              </a:rPr>
              <a:t>json</a:t>
            </a:r>
            <a:r>
              <a:rPr lang="fr-FR" sz="1400" dirty="0">
                <a:solidFill>
                  <a:srgbClr val="A31515"/>
                </a:solidFill>
                <a:highlight>
                  <a:srgbClr val="FFFFFF"/>
                </a:highlight>
                <a:latin typeface="Cascadia Mono" panose="020B0609020000020004" pitchFamily="49" charset="0"/>
              </a:rPr>
              <a:t>"</a:t>
            </a:r>
            <a:r>
              <a:rPr lang="fr-FR" sz="1400" dirty="0">
                <a:solidFill>
                  <a:srgbClr val="000000"/>
                </a:solidFill>
                <a:highlight>
                  <a:srgbClr val="FFFFFF"/>
                </a:highlight>
                <a:latin typeface="Cascadia Mono" panose="020B0609020000020004" pitchFamily="49" charset="0"/>
              </a:rPr>
              <a:t>;</a:t>
            </a:r>
          </a:p>
          <a:p>
            <a:r>
              <a:rPr lang="fr-FR" sz="1400" dirty="0">
                <a:solidFill>
                  <a:srgbClr val="000000"/>
                </a:solidFill>
                <a:highlight>
                  <a:srgbClr val="FFFFFF"/>
                </a:highlight>
                <a:latin typeface="Cascadia Mono" panose="020B0609020000020004" pitchFamily="49" charset="0"/>
              </a:rPr>
              <a:t>        </a:t>
            </a:r>
            <a:r>
              <a:rPr lang="fr-FR" sz="1400" dirty="0" err="1">
                <a:solidFill>
                  <a:srgbClr val="000000"/>
                </a:solidFill>
                <a:highlight>
                  <a:srgbClr val="FFFFFF"/>
                </a:highlight>
                <a:latin typeface="Cascadia Mono" panose="020B0609020000020004" pitchFamily="49" charset="0"/>
              </a:rPr>
              <a:t>context.Response.StatusCode</a:t>
            </a:r>
            <a:r>
              <a:rPr lang="fr-FR" sz="1400" dirty="0">
                <a:solidFill>
                  <a:srgbClr val="000000"/>
                </a:solidFill>
                <a:highlight>
                  <a:srgbClr val="FFFFFF"/>
                </a:highlight>
                <a:latin typeface="Cascadia Mono" panose="020B0609020000020004" pitchFamily="49" charset="0"/>
              </a:rPr>
              <a:t> = (</a:t>
            </a:r>
            <a:r>
              <a:rPr lang="fr-FR" sz="1400" dirty="0" err="1">
                <a:solidFill>
                  <a:srgbClr val="0000FF"/>
                </a:solidFill>
                <a:highlight>
                  <a:srgbClr val="FFFFFF"/>
                </a:highlight>
                <a:latin typeface="Cascadia Mono" panose="020B0609020000020004" pitchFamily="49" charset="0"/>
              </a:rPr>
              <a:t>int</a:t>
            </a:r>
            <a:r>
              <a:rPr lang="fr-FR" sz="1400" dirty="0">
                <a:solidFill>
                  <a:srgbClr val="000000"/>
                </a:solidFill>
                <a:highlight>
                  <a:srgbClr val="FFFFFF"/>
                </a:highlight>
                <a:latin typeface="Cascadia Mono" panose="020B0609020000020004" pitchFamily="49" charset="0"/>
              </a:rPr>
              <a:t>)code;</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await</a:t>
            </a: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context.Response.WriteAsync</a:t>
            </a:r>
            <a:r>
              <a:rPr lang="en-IN" sz="1400" dirty="0">
                <a:solidFill>
                  <a:srgbClr val="000000"/>
                </a:solidFill>
                <a:highlight>
                  <a:srgbClr val="FFFFFF"/>
                </a:highlight>
                <a:latin typeface="Cascadia Mono" panose="020B0609020000020004" pitchFamily="49" charset="0"/>
              </a:rPr>
              <a:t>(</a:t>
            </a:r>
            <a:r>
              <a:rPr lang="en-IN" sz="1400" dirty="0" err="1">
                <a:solidFill>
                  <a:srgbClr val="000000"/>
                </a:solidFill>
                <a:highlight>
                  <a:srgbClr val="FFFFFF"/>
                </a:highlight>
                <a:latin typeface="Cascadia Mono" panose="020B0609020000020004" pitchFamily="49" charset="0"/>
              </a:rPr>
              <a:t>jsonResult</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endParaRPr lang="en-IN" sz="1400" dirty="0"/>
          </a:p>
        </p:txBody>
      </p:sp>
      <p:sp>
        <p:nvSpPr>
          <p:cNvPr id="3" name="TextBox 2">
            <a:extLst>
              <a:ext uri="{FF2B5EF4-FFF2-40B4-BE49-F238E27FC236}">
                <a16:creationId xmlns:a16="http://schemas.microsoft.com/office/drawing/2014/main" id="{D6710D9A-9D84-27D7-BC2C-2BD102CCEC25}"/>
              </a:ext>
            </a:extLst>
          </p:cNvPr>
          <p:cNvSpPr txBox="1"/>
          <p:nvPr/>
        </p:nvSpPr>
        <p:spPr>
          <a:xfrm>
            <a:off x="2990849" y="5675769"/>
            <a:ext cx="8447617"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err="1">
                <a:solidFill>
                  <a:srgbClr val="000000"/>
                </a:solidFill>
                <a:highlight>
                  <a:srgbClr val="FFFFFF"/>
                </a:highlight>
                <a:latin typeface="Cascadia Mono" panose="020B0609020000020004" pitchFamily="49" charset="0"/>
              </a:rPr>
              <a:t>app.UseMiddleware</a:t>
            </a:r>
            <a:r>
              <a:rPr lang="en-IN" sz="1800" dirty="0">
                <a:solidFill>
                  <a:srgbClr val="000000"/>
                </a:solidFill>
                <a:highlight>
                  <a:srgbClr val="FFFFFF"/>
                </a:highlight>
                <a:latin typeface="Cascadia Mono" panose="020B0609020000020004" pitchFamily="49" charset="0"/>
              </a:rPr>
              <a:t>&lt;</a:t>
            </a:r>
            <a:r>
              <a:rPr lang="en-IN" sz="1800" dirty="0" err="1">
                <a:solidFill>
                  <a:srgbClr val="2B91AF"/>
                </a:solidFill>
                <a:highlight>
                  <a:srgbClr val="FFFFFF"/>
                </a:highlight>
                <a:latin typeface="Cascadia Mono" panose="020B0609020000020004" pitchFamily="49" charset="0"/>
              </a:rPr>
              <a:t>ExceptionHandlingMiddleware</a:t>
            </a:r>
            <a:r>
              <a:rPr lang="en-IN" sz="1800" dirty="0">
                <a:solidFill>
                  <a:srgbClr val="000000"/>
                </a:solidFill>
                <a:highlight>
                  <a:srgbClr val="FFFFFF"/>
                </a:highlight>
                <a:latin typeface="Cascadia Mono" panose="020B0609020000020004" pitchFamily="49" charset="0"/>
              </a:rPr>
              <a:t>&gt;();</a:t>
            </a:r>
          </a:p>
          <a:p>
            <a:endParaRPr lang="en-IN" sz="1800" dirty="0">
              <a:solidFill>
                <a:srgbClr val="000000"/>
              </a:solidFill>
              <a:highlight>
                <a:srgbClr val="FFFFFF"/>
              </a:highlight>
              <a:latin typeface="Cascadia Mono" panose="020B0609020000020004" pitchFamily="49" charset="0"/>
            </a:endParaRPr>
          </a:p>
          <a:p>
            <a:r>
              <a:rPr lang="en-IN" sz="1800" dirty="0" err="1">
                <a:solidFill>
                  <a:srgbClr val="000000"/>
                </a:solidFill>
                <a:highlight>
                  <a:srgbClr val="FFFFFF"/>
                </a:highlight>
                <a:latin typeface="Cascadia Mono" panose="020B0609020000020004" pitchFamily="49" charset="0"/>
              </a:rPr>
              <a:t>app.UseHttpsRedirection</a:t>
            </a:r>
            <a:r>
              <a:rPr lang="en-IN" sz="1800" dirty="0">
                <a:solidFill>
                  <a:srgbClr val="000000"/>
                </a:solidFill>
                <a:highlight>
                  <a:srgbClr val="FFFFFF"/>
                </a:highlight>
                <a:latin typeface="Cascadia Mono" panose="020B0609020000020004" pitchFamily="49" charset="0"/>
              </a:rPr>
              <a:t>();</a:t>
            </a:r>
            <a:endParaRPr lang="en-IN" dirty="0"/>
          </a:p>
        </p:txBody>
      </p:sp>
    </p:spTree>
    <p:extLst>
      <p:ext uri="{BB962C8B-B14F-4D97-AF65-F5344CB8AC3E}">
        <p14:creationId xmlns:p14="http://schemas.microsoft.com/office/powerpoint/2010/main" val="524406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A407CE-03AA-983C-EFF3-103F6F548FBF}"/>
              </a:ext>
            </a:extLst>
          </p:cNvPr>
          <p:cNvSpPr txBox="1"/>
          <p:nvPr/>
        </p:nvSpPr>
        <p:spPr>
          <a:xfrm>
            <a:off x="181465" y="245097"/>
            <a:ext cx="11696307" cy="3693319"/>
          </a:xfrm>
          <a:prstGeom prst="rect">
            <a:avLst/>
          </a:prstGeom>
          <a:noFill/>
        </p:spPr>
        <p:txBody>
          <a:bodyPr wrap="square">
            <a:spAutoFit/>
          </a:bodyPr>
          <a:lstStyle/>
          <a:p>
            <a:pPr algn="l"/>
            <a:r>
              <a:rPr lang="en-US" b="0" i="0" dirty="0">
                <a:solidFill>
                  <a:srgbClr val="000000"/>
                </a:solidFill>
                <a:effectLst/>
                <a:latin typeface="Open Sans" panose="020B0606030504020204" pitchFamily="34" charset="0"/>
              </a:rPr>
              <a:t>The above code is the custom middleware that handles exceptions. </a:t>
            </a:r>
          </a:p>
          <a:p>
            <a:pPr algn="l"/>
            <a:r>
              <a:rPr lang="en-US" b="0" i="0" dirty="0">
                <a:solidFill>
                  <a:srgbClr val="000000"/>
                </a:solidFill>
                <a:effectLst/>
                <a:latin typeface="Open Sans" panose="020B0606030504020204" pitchFamily="34" charset="0"/>
              </a:rPr>
              <a:t>We must first use dependency injection to register the </a:t>
            </a:r>
            <a:r>
              <a:rPr lang="en-US" b="1" i="0" dirty="0" err="1">
                <a:solidFill>
                  <a:srgbClr val="000000"/>
                </a:solidFill>
                <a:effectLst/>
                <a:latin typeface="Open Sans" panose="020B0606030504020204" pitchFamily="34" charset="0"/>
              </a:rPr>
              <a:t>ILogger</a:t>
            </a:r>
            <a:r>
              <a:rPr lang="en-US" b="0" i="0" dirty="0">
                <a:solidFill>
                  <a:srgbClr val="000000"/>
                </a:solidFill>
                <a:effectLst/>
                <a:latin typeface="Open Sans" panose="020B0606030504020204" pitchFamily="34" charset="0"/>
              </a:rPr>
              <a:t> and </a:t>
            </a:r>
            <a:r>
              <a:rPr lang="en-US" b="1" i="0" dirty="0" err="1">
                <a:solidFill>
                  <a:srgbClr val="000000"/>
                </a:solidFill>
                <a:effectLst/>
                <a:latin typeface="Open Sans" panose="020B0606030504020204" pitchFamily="34" charset="0"/>
              </a:rPr>
              <a:t>RequestDelegate</a:t>
            </a:r>
            <a:r>
              <a:rPr lang="en-US" b="0" i="0" dirty="0">
                <a:solidFill>
                  <a:srgbClr val="000000"/>
                </a:solidFill>
                <a:effectLst/>
                <a:latin typeface="Open Sans" panose="020B0606030504020204" pitchFamily="34" charset="0"/>
              </a:rPr>
              <a:t> services. The </a:t>
            </a:r>
            <a:r>
              <a:rPr lang="en-US" b="1" i="0" dirty="0">
                <a:solidFill>
                  <a:srgbClr val="000000"/>
                </a:solidFill>
                <a:effectLst/>
                <a:latin typeface="Open Sans" panose="020B0606030504020204" pitchFamily="34" charset="0"/>
              </a:rPr>
              <a:t>_next</a:t>
            </a:r>
            <a:r>
              <a:rPr lang="en-US" b="0" i="0" dirty="0">
                <a:solidFill>
                  <a:srgbClr val="000000"/>
                </a:solidFill>
                <a:effectLst/>
                <a:latin typeface="Open Sans" panose="020B0606030504020204" pitchFamily="34" charset="0"/>
              </a:rPr>
              <a:t> parameter of the </a:t>
            </a:r>
            <a:r>
              <a:rPr lang="en-US" b="1" i="0" dirty="0" err="1">
                <a:solidFill>
                  <a:srgbClr val="000000"/>
                </a:solidFill>
                <a:effectLst/>
                <a:latin typeface="Open Sans" panose="020B0606030504020204" pitchFamily="34" charset="0"/>
              </a:rPr>
              <a:t>RequestDelegate</a:t>
            </a:r>
            <a:r>
              <a:rPr lang="en-US" b="0" i="0" dirty="0">
                <a:solidFill>
                  <a:srgbClr val="000000"/>
                </a:solidFill>
                <a:effectLst/>
                <a:latin typeface="Open Sans" panose="020B0606030504020204" pitchFamily="34" charset="0"/>
              </a:rPr>
              <a:t> type is a function delegate that handles our HTTP requests. In addition, after the middleware receives the request delegate, it either processes or passes it on to the next middleware in the chain.</a:t>
            </a:r>
          </a:p>
          <a:p>
            <a:pPr algn="l"/>
            <a:r>
              <a:rPr lang="en-US" b="0" i="0" dirty="0">
                <a:solidFill>
                  <a:srgbClr val="000000"/>
                </a:solidFill>
                <a:effectLst/>
                <a:latin typeface="Open Sans" panose="020B0606030504020204" pitchFamily="34" charset="0"/>
              </a:rPr>
              <a:t>If the request fails, an exception may occur, and the </a:t>
            </a:r>
            <a:r>
              <a:rPr lang="en-US" b="1" i="0" dirty="0" err="1">
                <a:solidFill>
                  <a:srgbClr val="000000"/>
                </a:solidFill>
                <a:effectLst/>
                <a:latin typeface="Open Sans" panose="020B0606030504020204" pitchFamily="34" charset="0"/>
              </a:rPr>
              <a:t>HandleExceptionAsync</a:t>
            </a:r>
            <a:r>
              <a:rPr lang="en-US" b="0" i="0" dirty="0">
                <a:solidFill>
                  <a:srgbClr val="000000"/>
                </a:solidFill>
                <a:effectLst/>
                <a:latin typeface="Open Sans" panose="020B0606030504020204" pitchFamily="34" charset="0"/>
              </a:rPr>
              <a:t> method will be called to capture the exception as per its type. In such scenarios, use </a:t>
            </a:r>
            <a:r>
              <a:rPr lang="en-US" b="1" i="0" dirty="0">
                <a:solidFill>
                  <a:srgbClr val="000000"/>
                </a:solidFill>
                <a:effectLst/>
                <a:latin typeface="Open Sans" panose="020B0606030504020204" pitchFamily="34" charset="0"/>
              </a:rPr>
              <a:t>switch</a:t>
            </a:r>
            <a:r>
              <a:rPr lang="en-US" b="0" i="0" dirty="0">
                <a:solidFill>
                  <a:srgbClr val="000000"/>
                </a:solidFill>
                <a:effectLst/>
                <a:latin typeface="Open Sans" panose="020B0606030504020204" pitchFamily="34" charset="0"/>
              </a:rPr>
              <a:t> statements to determine the exception type and then utilize the appropriate status code for the exception.</a:t>
            </a:r>
          </a:p>
          <a:p>
            <a:pPr algn="l"/>
            <a:r>
              <a:rPr lang="en-US" b="0" i="0" dirty="0">
                <a:solidFill>
                  <a:srgbClr val="000000"/>
                </a:solidFill>
                <a:effectLst/>
                <a:latin typeface="Open Sans" panose="020B0606030504020204" pitchFamily="34" charset="0"/>
              </a:rPr>
              <a:t>Also, we need not send the exception messages to the project’s client side. Instead, use </a:t>
            </a:r>
            <a:r>
              <a:rPr lang="en-US" b="1" i="0" dirty="0" err="1">
                <a:solidFill>
                  <a:srgbClr val="000000"/>
                </a:solidFill>
                <a:effectLst/>
                <a:latin typeface="Open Sans" panose="020B0606030504020204" pitchFamily="34" charset="0"/>
              </a:rPr>
              <a:t>ILogger</a:t>
            </a:r>
            <a:r>
              <a:rPr lang="en-US" b="0" i="0" dirty="0">
                <a:solidFill>
                  <a:srgbClr val="000000"/>
                </a:solidFill>
                <a:effectLst/>
                <a:latin typeface="Open Sans" panose="020B0606030504020204" pitchFamily="34" charset="0"/>
              </a:rPr>
              <a:t> to log the exception message as an error and pass the custom message. We can then look through the logs and traces to find the exception message.</a:t>
            </a:r>
          </a:p>
          <a:p>
            <a:pPr algn="l"/>
            <a:r>
              <a:rPr lang="en-US" b="0" i="0" dirty="0">
                <a:solidFill>
                  <a:srgbClr val="000000"/>
                </a:solidFill>
                <a:effectLst/>
                <a:latin typeface="Open Sans" panose="020B0606030504020204" pitchFamily="34" charset="0"/>
              </a:rPr>
              <a:t>Next, the custom middleware must be included in the </a:t>
            </a:r>
            <a:r>
              <a:rPr lang="en-US" b="1" i="0" dirty="0" err="1">
                <a:solidFill>
                  <a:srgbClr val="000000"/>
                </a:solidFill>
                <a:effectLst/>
                <a:latin typeface="Open Sans" panose="020B0606030504020204" pitchFamily="34" charset="0"/>
              </a:rPr>
              <a:t>Program.cs</a:t>
            </a:r>
            <a:r>
              <a:rPr lang="en-US" b="0" i="0" dirty="0">
                <a:solidFill>
                  <a:srgbClr val="000000"/>
                </a:solidFill>
                <a:effectLst/>
                <a:latin typeface="Open Sans" panose="020B0606030504020204" pitchFamily="34" charset="0"/>
              </a:rPr>
              <a:t> file. Using the previous versions, you may add the custom middleware to the </a:t>
            </a:r>
            <a:r>
              <a:rPr lang="en-US" b="1" i="0" dirty="0">
                <a:solidFill>
                  <a:srgbClr val="000000"/>
                </a:solidFill>
                <a:effectLst/>
                <a:latin typeface="Open Sans" panose="020B0606030504020204" pitchFamily="34" charset="0"/>
              </a:rPr>
              <a:t>Startup</a:t>
            </a:r>
            <a:r>
              <a:rPr lang="en-US" b="0" i="0" dirty="0">
                <a:solidFill>
                  <a:srgbClr val="000000"/>
                </a:solidFill>
                <a:effectLst/>
                <a:latin typeface="Open Sans" panose="020B0606030504020204" pitchFamily="34" charset="0"/>
              </a:rPr>
              <a:t> class </a:t>
            </a:r>
            <a:r>
              <a:rPr lang="en-US" b="1" i="0" dirty="0">
                <a:solidFill>
                  <a:srgbClr val="000000"/>
                </a:solidFill>
                <a:effectLst/>
                <a:latin typeface="Open Sans" panose="020B0606030504020204" pitchFamily="34" charset="0"/>
              </a:rPr>
              <a:t>Configure</a:t>
            </a:r>
            <a:r>
              <a:rPr lang="en-US" b="0" i="0" dirty="0">
                <a:solidFill>
                  <a:srgbClr val="000000"/>
                </a:solidFill>
                <a:effectLst/>
                <a:latin typeface="Open Sans" panose="020B0606030504020204" pitchFamily="34" charset="0"/>
              </a:rPr>
              <a:t> method.</a:t>
            </a:r>
          </a:p>
        </p:txBody>
      </p:sp>
      <p:sp>
        <p:nvSpPr>
          <p:cNvPr id="7" name="TextBox 6">
            <a:extLst>
              <a:ext uri="{FF2B5EF4-FFF2-40B4-BE49-F238E27FC236}">
                <a16:creationId xmlns:a16="http://schemas.microsoft.com/office/drawing/2014/main" id="{49BE587E-869B-8D7C-A162-A94B848469CC}"/>
              </a:ext>
            </a:extLst>
          </p:cNvPr>
          <p:cNvSpPr txBox="1"/>
          <p:nvPr/>
        </p:nvSpPr>
        <p:spPr>
          <a:xfrm>
            <a:off x="813063" y="4220913"/>
            <a:ext cx="7737048" cy="40011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2000" dirty="0">
                <a:solidFill>
                  <a:srgbClr val="000000"/>
                </a:solidFill>
                <a:latin typeface="Cascadia Mono" panose="020B0609020000020004" pitchFamily="49" charset="0"/>
              </a:rPr>
              <a:t> </a:t>
            </a:r>
            <a:r>
              <a:rPr lang="en-IN" sz="2000" dirty="0" err="1">
                <a:solidFill>
                  <a:srgbClr val="000000"/>
                </a:solidFill>
                <a:latin typeface="Cascadia Mono" panose="020B0609020000020004" pitchFamily="49" charset="0"/>
              </a:rPr>
              <a:t>app.UseMiddleware</a:t>
            </a:r>
            <a:r>
              <a:rPr lang="en-IN" sz="2000" dirty="0">
                <a:solidFill>
                  <a:srgbClr val="000000"/>
                </a:solidFill>
                <a:latin typeface="Cascadia Mono" panose="020B0609020000020004" pitchFamily="49" charset="0"/>
              </a:rPr>
              <a:t>&lt;</a:t>
            </a:r>
            <a:r>
              <a:rPr lang="en-IN" sz="2000" dirty="0" err="1">
                <a:solidFill>
                  <a:srgbClr val="000000"/>
                </a:solidFill>
                <a:latin typeface="Cascadia Mono" panose="020B0609020000020004" pitchFamily="49" charset="0"/>
              </a:rPr>
              <a:t>ExceptionHandlingMiddleware</a:t>
            </a:r>
            <a:r>
              <a:rPr lang="en-IN" sz="2000" dirty="0">
                <a:solidFill>
                  <a:srgbClr val="000000"/>
                </a:solidFill>
                <a:latin typeface="Cascadia Mono" panose="020B0609020000020004" pitchFamily="49" charset="0"/>
              </a:rPr>
              <a:t>&gt;();</a:t>
            </a:r>
            <a:endParaRPr lang="en-IN" sz="4800" dirty="0"/>
          </a:p>
        </p:txBody>
      </p:sp>
    </p:spTree>
    <p:extLst>
      <p:ext uri="{BB962C8B-B14F-4D97-AF65-F5344CB8AC3E}">
        <p14:creationId xmlns:p14="http://schemas.microsoft.com/office/powerpoint/2010/main" val="1414341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A34A14-F6F9-E40F-B2AC-948BBF60F859}"/>
              </a:ext>
            </a:extLst>
          </p:cNvPr>
          <p:cNvSpPr txBox="1"/>
          <p:nvPr/>
        </p:nvSpPr>
        <p:spPr>
          <a:xfrm>
            <a:off x="511404" y="411792"/>
            <a:ext cx="7199721" cy="6186309"/>
          </a:xfrm>
          <a:prstGeom prst="rect">
            <a:avLst/>
          </a:prstGeom>
          <a:noFill/>
        </p:spPr>
        <p:txBody>
          <a:bodyPr wrap="square">
            <a:spAutoFit/>
          </a:bodyPr>
          <a:lstStyle/>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ExceptionHandling.Services</a:t>
            </a:r>
            <a:r>
              <a:rPr lang="en-IN" sz="1200" dirty="0">
                <a:solidFill>
                  <a:srgbClr val="000000"/>
                </a:solidFill>
                <a:latin typeface="Cascadia Mono" panose="020B0609020000020004" pitchFamily="49" charset="0"/>
              </a:rPr>
              <a:t>;</a:t>
            </a:r>
          </a:p>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Microsoft.AspNetCore.Mvc</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ExceptionHandling.Controllers</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ApiController</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[Route(</a:t>
            </a:r>
            <a:r>
              <a:rPr lang="en-IN" sz="1200" dirty="0">
                <a:solidFill>
                  <a:srgbClr val="A31515"/>
                </a:solidFill>
                <a:latin typeface="Cascadia Mono" panose="020B0609020000020004" pitchFamily="49" charset="0"/>
              </a:rPr>
              <a:t>"</a:t>
            </a:r>
            <a:r>
              <a:rPr lang="en-IN" sz="1200" dirty="0" err="1">
                <a:solidFill>
                  <a:srgbClr val="A31515"/>
                </a:solidFill>
                <a:latin typeface="Cascadia Mono" panose="020B0609020000020004" pitchFamily="49" charset="0"/>
              </a:rPr>
              <a:t>api</a:t>
            </a:r>
            <a:r>
              <a:rPr lang="en-IN" sz="1200" dirty="0">
                <a:solidFill>
                  <a:srgbClr val="A31515"/>
                </a:solidFill>
                <a:latin typeface="Cascadia Mono" panose="020B0609020000020004" pitchFamily="49" charset="0"/>
              </a:rPr>
              <a:t>/[controller]"</a:t>
            </a:r>
            <a:r>
              <a:rPr lang="en-IN" sz="1200" dirty="0">
                <a:solidFill>
                  <a:srgbClr val="000000"/>
                </a:solidFill>
                <a:latin typeface="Cascadia Mono" panose="020B0609020000020004" pitchFamily="49" charset="0"/>
              </a:rPr>
              <a:t>)]</a:t>
            </a:r>
          </a:p>
          <a:p>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CustomerController</a:t>
            </a:r>
            <a:r>
              <a:rPr lang="en-IN" sz="1200" dirty="0">
                <a:solidFill>
                  <a:srgbClr val="000000"/>
                </a:solidFill>
                <a:latin typeface="Cascadia Mono" panose="020B0609020000020004" pitchFamily="49" charset="0"/>
              </a:rPr>
              <a:t> : Controller</a:t>
            </a: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private</a:t>
            </a:r>
            <a:r>
              <a:rPr lang="en-IN" sz="1200" dirty="0">
                <a:solidFill>
                  <a:srgbClr val="000000"/>
                </a:solidFill>
                <a:latin typeface="Cascadia Mono" panose="020B0609020000020004" pitchFamily="49" charset="0"/>
              </a:rPr>
              <a:t> </a:t>
            </a:r>
            <a:r>
              <a:rPr lang="en-IN" sz="1200" dirty="0" err="1">
                <a:solidFill>
                  <a:srgbClr val="0000FF"/>
                </a:solidFill>
                <a:latin typeface="Cascadia Mono" panose="020B0609020000020004" pitchFamily="49" charset="0"/>
              </a:rPr>
              <a:t>readonly</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ICustomerService</a:t>
            </a:r>
            <a:r>
              <a:rPr lang="en-IN" sz="1200" dirty="0">
                <a:solidFill>
                  <a:srgbClr val="000000"/>
                </a:solidFill>
                <a:latin typeface="Cascadia Mono" panose="020B0609020000020004" pitchFamily="49" charset="0"/>
              </a:rPr>
              <a:t> _</a:t>
            </a:r>
            <a:r>
              <a:rPr lang="en-IN" sz="1200" dirty="0" err="1">
                <a:solidFill>
                  <a:srgbClr val="000000"/>
                </a:solidFill>
                <a:latin typeface="Cascadia Mono" panose="020B0609020000020004" pitchFamily="49" charset="0"/>
              </a:rPr>
              <a:t>customerService</a:t>
            </a:r>
            <a:r>
              <a:rPr lang="en-IN" sz="1200" dirty="0">
                <a:solidFill>
                  <a:srgbClr val="000000"/>
                </a:solidFill>
                <a:latin typeface="Cascadia Mono" panose="020B0609020000020004" pitchFamily="49" charset="0"/>
              </a:rPr>
              <a:t>;</a:t>
            </a:r>
          </a:p>
          <a:p>
            <a:r>
              <a:rPr lang="it-IT" sz="1200" dirty="0">
                <a:solidFill>
                  <a:srgbClr val="000000"/>
                </a:solidFill>
                <a:latin typeface="Cascadia Mono" panose="020B0609020000020004" pitchFamily="49" charset="0"/>
              </a:rPr>
              <a:t>    </a:t>
            </a:r>
            <a:r>
              <a:rPr lang="it-IT" sz="1200" dirty="0">
                <a:solidFill>
                  <a:srgbClr val="0000FF"/>
                </a:solidFill>
                <a:latin typeface="Cascadia Mono" panose="020B0609020000020004" pitchFamily="49" charset="0"/>
              </a:rPr>
              <a:t>private</a:t>
            </a:r>
            <a:r>
              <a:rPr lang="it-IT" sz="1200" dirty="0">
                <a:solidFill>
                  <a:srgbClr val="000000"/>
                </a:solidFill>
                <a:latin typeface="Cascadia Mono" panose="020B0609020000020004" pitchFamily="49" charset="0"/>
              </a:rPr>
              <a:t> </a:t>
            </a:r>
            <a:r>
              <a:rPr lang="it-IT" sz="1200" dirty="0">
                <a:solidFill>
                  <a:srgbClr val="0000FF"/>
                </a:solidFill>
                <a:latin typeface="Cascadia Mono" panose="020B0609020000020004" pitchFamily="49" charset="0"/>
              </a:rPr>
              <a:t>readonly</a:t>
            </a:r>
            <a:r>
              <a:rPr lang="it-IT" sz="1200" dirty="0">
                <a:solidFill>
                  <a:srgbClr val="000000"/>
                </a:solidFill>
                <a:latin typeface="Cascadia Mono" panose="020B0609020000020004" pitchFamily="49" charset="0"/>
              </a:rPr>
              <a:t> ILogger&lt;CustomerController&gt; _logger;</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CustomerController</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ICustomerService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customerService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ILogger</a:t>
            </a:r>
            <a:r>
              <a:rPr lang="en-IN" sz="1200" dirty="0">
                <a:solidFill>
                  <a:srgbClr val="000000"/>
                </a:solidFill>
                <a:latin typeface="Cascadia Mono" panose="020B0609020000020004" pitchFamily="49" charset="0"/>
              </a:rPr>
              <a:t>&lt;</a:t>
            </a:r>
            <a:r>
              <a:rPr lang="en-IN" sz="1200" dirty="0" err="1">
                <a:solidFill>
                  <a:srgbClr val="000000"/>
                </a:solidFill>
                <a:latin typeface="Cascadia Mono" panose="020B0609020000020004" pitchFamily="49" charset="0"/>
              </a:rPr>
              <a:t>CustomerController</a:t>
            </a:r>
            <a:r>
              <a:rPr lang="en-IN" sz="1200" dirty="0">
                <a:solidFill>
                  <a:srgbClr val="000000"/>
                </a:solidFill>
                <a:latin typeface="Cascadia Mono" panose="020B0609020000020004" pitchFamily="49" charset="0"/>
              </a:rPr>
              <a:t>&gt; logger)</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_</a:t>
            </a:r>
            <a:r>
              <a:rPr lang="en-IN" sz="1200" dirty="0" err="1">
                <a:solidFill>
                  <a:srgbClr val="000000"/>
                </a:solidFill>
                <a:latin typeface="Cascadia Mono" panose="020B0609020000020004" pitchFamily="49" charset="0"/>
              </a:rPr>
              <a:t>customerService</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customerService</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_logger = logger;</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HttpGet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IActionResult</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GetCustomers</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_</a:t>
            </a:r>
            <a:r>
              <a:rPr lang="en-US" sz="1200" dirty="0" err="1">
                <a:solidFill>
                  <a:srgbClr val="000000"/>
                </a:solidFill>
                <a:latin typeface="Cascadia Mono" panose="020B0609020000020004" pitchFamily="49" charset="0"/>
              </a:rPr>
              <a:t>logger.LogInformation</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"Getting customer details"</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var</a:t>
            </a:r>
            <a:r>
              <a:rPr lang="en-IN" sz="1200" dirty="0">
                <a:solidFill>
                  <a:srgbClr val="000000"/>
                </a:solidFill>
                <a:latin typeface="Cascadia Mono" panose="020B0609020000020004" pitchFamily="49" charset="0"/>
              </a:rPr>
              <a:t> result = _</a:t>
            </a:r>
            <a:r>
              <a:rPr lang="en-IN" sz="1200" dirty="0" err="1">
                <a:solidFill>
                  <a:srgbClr val="000000"/>
                </a:solidFill>
                <a:latin typeface="Cascadia Mono" panose="020B0609020000020004" pitchFamily="49" charset="0"/>
              </a:rPr>
              <a:t>customerService.GetCustomers</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if</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result.Count</a:t>
            </a:r>
            <a:r>
              <a:rPr lang="en-IN" sz="1200" dirty="0">
                <a:solidFill>
                  <a:srgbClr val="000000"/>
                </a:solidFill>
                <a:latin typeface="Cascadia Mono" panose="020B0609020000020004" pitchFamily="49" charset="0"/>
              </a:rPr>
              <a:t> == 0)</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throw</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ApplicationException</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"Invalid Token"</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Ok(result);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C81378E5-32FC-D559-5DDC-B1037BA559DA}"/>
              </a:ext>
            </a:extLst>
          </p:cNvPr>
          <p:cNvSpPr txBox="1"/>
          <p:nvPr/>
        </p:nvSpPr>
        <p:spPr>
          <a:xfrm>
            <a:off x="6318316" y="255847"/>
            <a:ext cx="5465975" cy="3416320"/>
          </a:xfrm>
          <a:prstGeom prst="rect">
            <a:avLst/>
          </a:prstGeom>
          <a:noFill/>
        </p:spPr>
        <p:txBody>
          <a:bodyPr wrap="square">
            <a:spAutoFit/>
          </a:bodyPr>
          <a:lstStyle/>
          <a:p>
            <a:pPr algn="l"/>
            <a:r>
              <a:rPr lang="en-US" b="0" i="0" dirty="0">
                <a:solidFill>
                  <a:srgbClr val="000000"/>
                </a:solidFill>
                <a:effectLst/>
                <a:latin typeface="Open Sans" panose="020B0606030504020204" pitchFamily="34" charset="0"/>
              </a:rPr>
              <a:t>You just have to throw the relevant exception in the </a:t>
            </a:r>
            <a:r>
              <a:rPr lang="en-US" b="1" i="0" dirty="0">
                <a:solidFill>
                  <a:srgbClr val="000000"/>
                </a:solidFill>
                <a:effectLst/>
                <a:latin typeface="Open Sans" panose="020B0606030504020204" pitchFamily="34" charset="0"/>
              </a:rPr>
              <a:t>Controller</a:t>
            </a:r>
            <a:r>
              <a:rPr lang="en-US" b="0" i="0" dirty="0">
                <a:solidFill>
                  <a:srgbClr val="000000"/>
                </a:solidFill>
                <a:effectLst/>
                <a:latin typeface="Open Sans" panose="020B0606030504020204" pitchFamily="34" charset="0"/>
              </a:rPr>
              <a:t> instead of using a try-catch block.</a:t>
            </a:r>
          </a:p>
          <a:p>
            <a:pPr algn="l"/>
            <a:r>
              <a:rPr lang="en-US" b="0" i="0" dirty="0">
                <a:solidFill>
                  <a:srgbClr val="000000"/>
                </a:solidFill>
                <a:effectLst/>
                <a:latin typeface="Open Sans" panose="020B0606030504020204" pitchFamily="34" charset="0"/>
              </a:rPr>
              <a:t>Global exception handling allows us to organize all exception handling logic in one place. Thus, we can improve the readability of the action methods and the maintainability of the error handling process. This strategy can effectively help your app throw more logical and understandable exceptions. Having global exception handling also eliminates the need to map each exception and map between architectural layers.</a:t>
            </a:r>
          </a:p>
        </p:txBody>
      </p:sp>
    </p:spTree>
    <p:extLst>
      <p:ext uri="{BB962C8B-B14F-4D97-AF65-F5344CB8AC3E}">
        <p14:creationId xmlns:p14="http://schemas.microsoft.com/office/powerpoint/2010/main" val="3149710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5946-C3C1-0EDA-65F9-D8F8458A87CE}"/>
              </a:ext>
            </a:extLst>
          </p:cNvPr>
          <p:cNvSpPr>
            <a:spLocks noGrp="1"/>
          </p:cNvSpPr>
          <p:nvPr>
            <p:ph type="title"/>
          </p:nvPr>
        </p:nvSpPr>
        <p:spPr>
          <a:xfrm>
            <a:off x="952107" y="138882"/>
            <a:ext cx="9826658" cy="634116"/>
          </a:xfrm>
        </p:spPr>
        <p:txBody>
          <a:bodyPr>
            <a:normAutofit fontScale="90000"/>
          </a:bodyPr>
          <a:lstStyle/>
          <a:p>
            <a:r>
              <a:rPr lang="en-US" dirty="0"/>
              <a:t>How to write custom middleware</a:t>
            </a:r>
            <a:endParaRPr lang="en-IN" dirty="0"/>
          </a:p>
        </p:txBody>
      </p:sp>
      <p:sp>
        <p:nvSpPr>
          <p:cNvPr id="3" name="Content Placeholder 2">
            <a:extLst>
              <a:ext uri="{FF2B5EF4-FFF2-40B4-BE49-F238E27FC236}">
                <a16:creationId xmlns:a16="http://schemas.microsoft.com/office/drawing/2014/main" id="{68DBC815-61EA-E425-593A-9142D032EDFF}"/>
              </a:ext>
            </a:extLst>
          </p:cNvPr>
          <p:cNvSpPr>
            <a:spLocks noGrp="1"/>
          </p:cNvSpPr>
          <p:nvPr>
            <p:ph idx="1"/>
          </p:nvPr>
        </p:nvSpPr>
        <p:spPr>
          <a:xfrm>
            <a:off x="376287" y="1146895"/>
            <a:ext cx="10515600" cy="4351338"/>
          </a:xfrm>
        </p:spPr>
        <p:txBody>
          <a:bodyPr>
            <a:normAutofit fontScale="92500"/>
          </a:bodyPr>
          <a:lstStyle/>
          <a:p>
            <a:pPr marL="0" indent="0" algn="l">
              <a:buNone/>
            </a:pPr>
            <a:r>
              <a:rPr lang="en-US" b="0" i="0" dirty="0">
                <a:solidFill>
                  <a:srgbClr val="212121"/>
                </a:solidFill>
                <a:effectLst/>
                <a:latin typeface="Roboto" panose="02000000000000000000" pitchFamily="2" charset="0"/>
              </a:rPr>
              <a:t>How to create custom Middleware?</a:t>
            </a:r>
          </a:p>
          <a:p>
            <a:pPr marL="0" indent="0" algn="l">
              <a:buNone/>
            </a:pPr>
            <a:r>
              <a:rPr lang="en-US" b="0" i="0" dirty="0">
                <a:solidFill>
                  <a:srgbClr val="212121"/>
                </a:solidFill>
                <a:effectLst/>
                <a:latin typeface="open sans" panose="020B0606030504020204" pitchFamily="34" charset="0"/>
              </a:rPr>
              <a:t>Asp.net core provided many in-build Middleware but in some scenarios, we need our own middleware to fulfill our requirement, in such case will go with custom middleware.</a:t>
            </a:r>
          </a:p>
          <a:p>
            <a:pPr marL="0" indent="0" algn="l">
              <a:buNone/>
            </a:pPr>
            <a:r>
              <a:rPr lang="en-US" b="0" i="0" dirty="0">
                <a:solidFill>
                  <a:srgbClr val="212121"/>
                </a:solidFill>
                <a:effectLst/>
                <a:latin typeface="open sans" panose="020B0606030504020204" pitchFamily="34" charset="0"/>
              </a:rPr>
              <a:t>In the first article, we have written inline middleware but in the real world, we will create a separate class for middleware that is called custom middleware. </a:t>
            </a:r>
          </a:p>
          <a:p>
            <a:pPr marL="0" indent="0" algn="l">
              <a:buNone/>
            </a:pPr>
            <a:r>
              <a:rPr lang="en-US" b="0" i="0" dirty="0">
                <a:solidFill>
                  <a:srgbClr val="212121"/>
                </a:solidFill>
                <a:effectLst/>
                <a:latin typeface="open sans" panose="020B0606030504020204" pitchFamily="34" charset="0"/>
              </a:rPr>
              <a:t>There are 2 ways to create Custom Middleware in Asp.net Core.</a:t>
            </a:r>
          </a:p>
          <a:p>
            <a:r>
              <a:rPr lang="en-US" b="0" i="0" dirty="0">
                <a:solidFill>
                  <a:srgbClr val="212121"/>
                </a:solidFill>
                <a:effectLst/>
                <a:latin typeface="open sans" panose="020B0606030504020204" pitchFamily="34" charset="0"/>
              </a:rPr>
              <a:t>Using </a:t>
            </a:r>
            <a:r>
              <a:rPr lang="en-US" b="0" i="1" dirty="0" err="1">
                <a:solidFill>
                  <a:srgbClr val="212121"/>
                </a:solidFill>
                <a:effectLst/>
                <a:latin typeface="open sans" panose="020B0606030504020204" pitchFamily="34" charset="0"/>
              </a:rPr>
              <a:t>IMiddleware</a:t>
            </a:r>
            <a:r>
              <a:rPr lang="en-US" b="0" i="1" dirty="0">
                <a:solidFill>
                  <a:srgbClr val="212121"/>
                </a:solidFill>
                <a:effectLst/>
                <a:latin typeface="open sans" panose="020B0606030504020204" pitchFamily="34" charset="0"/>
              </a:rPr>
              <a:t> </a:t>
            </a:r>
            <a:r>
              <a:rPr lang="en-US" b="0" i="0" dirty="0">
                <a:solidFill>
                  <a:srgbClr val="212121"/>
                </a:solidFill>
                <a:effectLst/>
                <a:latin typeface="open sans" panose="020B0606030504020204" pitchFamily="34" charset="0"/>
              </a:rPr>
              <a:t>interface</a:t>
            </a:r>
          </a:p>
          <a:p>
            <a:r>
              <a:rPr lang="en-US" b="0" i="0" dirty="0">
                <a:solidFill>
                  <a:srgbClr val="212121"/>
                </a:solidFill>
                <a:effectLst/>
                <a:latin typeface="open sans" panose="020B0606030504020204" pitchFamily="34" charset="0"/>
              </a:rPr>
              <a:t>Using the extension method.</a:t>
            </a:r>
          </a:p>
          <a:p>
            <a:pPr marL="0" indent="0">
              <a:buNone/>
            </a:pPr>
            <a:endParaRPr lang="en-IN" dirty="0"/>
          </a:p>
        </p:txBody>
      </p:sp>
    </p:spTree>
    <p:extLst>
      <p:ext uri="{BB962C8B-B14F-4D97-AF65-F5344CB8AC3E}">
        <p14:creationId xmlns:p14="http://schemas.microsoft.com/office/powerpoint/2010/main" val="1649793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B25C712-5520-2F08-C1EF-8F138EE8469D}"/>
              </a:ext>
            </a:extLst>
          </p:cNvPr>
          <p:cNvSpPr>
            <a:spLocks noChangeArrowheads="1"/>
          </p:cNvSpPr>
          <p:nvPr/>
        </p:nvSpPr>
        <p:spPr bwMode="auto">
          <a:xfrm>
            <a:off x="145016" y="95380"/>
            <a:ext cx="5439266" cy="12926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212121"/>
                </a:solidFill>
                <a:effectLst/>
                <a:latin typeface="Open Sans" panose="020B0606030504020204" pitchFamily="34" charset="0"/>
                <a:cs typeface="Open Sans" panose="020B0606030504020204" pitchFamily="34" charset="0"/>
              </a:rPr>
              <a:t>Step 1</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12121"/>
                </a:solidFill>
                <a:effectLst/>
                <a:latin typeface="Open Sans" panose="020B0606030504020204" pitchFamily="34" charset="0"/>
                <a:cs typeface="Open Sans" panose="020B0606030504020204" pitchFamily="34" charset="0"/>
              </a:rPr>
              <a:t>Create a class and name it “</a:t>
            </a:r>
            <a:r>
              <a:rPr kumimoji="0" lang="en-US" altLang="en-US" sz="1400" b="0" i="1" u="none" strike="noStrike" cap="none" normalizeH="0" baseline="0" dirty="0" err="1">
                <a:ln>
                  <a:noFill/>
                </a:ln>
                <a:solidFill>
                  <a:srgbClr val="212121"/>
                </a:solidFill>
                <a:effectLst/>
                <a:latin typeface="Open Sans" panose="020B0606030504020204" pitchFamily="34" charset="0"/>
                <a:cs typeface="Open Sans" panose="020B0606030504020204" pitchFamily="34" charset="0"/>
              </a:rPr>
              <a:t>CustomeMiddlewareDemo</a:t>
            </a:r>
            <a:r>
              <a:rPr kumimoji="0" lang="en-US" altLang="en-US" sz="1400" b="0" i="0" u="none" strike="noStrike" cap="none" normalizeH="0" baseline="0" dirty="0">
                <a:ln>
                  <a:noFill/>
                </a:ln>
                <a:solidFill>
                  <a:srgbClr val="212121"/>
                </a:solidFill>
                <a:effectLst/>
                <a:latin typeface="Open Sans" panose="020B0606030504020204" pitchFamily="34" charset="0"/>
                <a:cs typeface="Open Sans" panose="020B0606030504020204" pitchFamily="34"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1990B8"/>
              </a:solidFill>
              <a:latin typeface="Consolas" panose="020B0609020204030204" pitchFamily="49"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990B8"/>
                </a:solidFill>
                <a:effectLst/>
                <a:latin typeface="Consolas" panose="020B0609020204030204" pitchFamily="49" charset="0"/>
                <a:cs typeface="Open Sans" panose="020B0606030504020204" pitchFamily="34" charset="0"/>
              </a:rPr>
              <a:t>namespace</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WebApplication1 </a:t>
            </a:r>
            <a:r>
              <a:rPr kumimoji="0" lang="en-US" altLang="en-US" sz="1400" b="0" i="0" u="none" strike="noStrike" cap="none" normalizeH="0" baseline="0" dirty="0">
                <a:ln>
                  <a:noFill/>
                </a:ln>
                <a:solidFill>
                  <a:srgbClr val="5F6364"/>
                </a:solidFill>
                <a:effectLst/>
                <a:latin typeface="Consolas" panose="020B0609020204030204" pitchFamily="49" charset="0"/>
                <a:cs typeface="Open Sans" panose="020B0606030504020204" pitchFamily="34" charset="0"/>
              </a:rPr>
              <a:t>{</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990B8"/>
                </a:solidFill>
                <a:effectLst/>
                <a:latin typeface="Consolas" panose="020B0609020204030204" pitchFamily="49" charset="0"/>
                <a:cs typeface="Open Sans" panose="020B0606030504020204" pitchFamily="34" charset="0"/>
              </a:rPr>
              <a:t>public</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r>
              <a:rPr kumimoji="0" lang="en-US" altLang="en-US" sz="1400" b="0" i="0" u="none" strike="noStrike" cap="none" normalizeH="0" baseline="0" dirty="0">
                <a:ln>
                  <a:noFill/>
                </a:ln>
                <a:solidFill>
                  <a:srgbClr val="1990B8"/>
                </a:solidFill>
                <a:effectLst/>
                <a:latin typeface="Consolas" panose="020B0609020204030204" pitchFamily="49" charset="0"/>
                <a:cs typeface="Open Sans" panose="020B0606030504020204" pitchFamily="34" charset="0"/>
              </a:rPr>
              <a:t>class</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r>
              <a:rPr kumimoji="0" lang="en-US" altLang="en-US" sz="1400" b="0" i="0" u="none" strike="noStrike" cap="none" normalizeH="0" baseline="0" dirty="0" err="1">
                <a:ln>
                  <a:noFill/>
                </a:ln>
                <a:solidFill>
                  <a:srgbClr val="1990B8"/>
                </a:solidFill>
                <a:effectLst/>
                <a:latin typeface="Consolas" panose="020B0609020204030204" pitchFamily="49" charset="0"/>
                <a:cs typeface="Open Sans" panose="020B0606030504020204" pitchFamily="34" charset="0"/>
              </a:rPr>
              <a:t>CustomMiddlewareDemo</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r>
              <a:rPr kumimoji="0" lang="en-US" altLang="en-US" sz="1400" b="0" i="0" u="none" strike="noStrike" cap="none" normalizeH="0" baseline="0" dirty="0">
                <a:ln>
                  <a:noFill/>
                </a:ln>
                <a:solidFill>
                  <a:srgbClr val="5F6364"/>
                </a:solidFill>
                <a:effectLst/>
                <a:latin typeface="Consolas" panose="020B0609020204030204" pitchFamily="49" charset="0"/>
                <a:cs typeface="Open Sans" panose="020B0606030504020204" pitchFamily="34" charset="0"/>
              </a:rPr>
              <a:t>{}</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F6364"/>
                </a:solidFill>
                <a:effectLst/>
                <a:latin typeface="Consolas" panose="020B0609020204030204" pitchFamily="49" charset="0"/>
                <a:cs typeface="Open Sans" panose="020B0606030504020204" pitchFamily="34" charset="0"/>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8E92039-5AC0-7C51-126C-9063B7C3F337}"/>
              </a:ext>
            </a:extLst>
          </p:cNvPr>
          <p:cNvSpPr txBox="1"/>
          <p:nvPr/>
        </p:nvSpPr>
        <p:spPr>
          <a:xfrm>
            <a:off x="-75414" y="1495021"/>
            <a:ext cx="6096000" cy="738664"/>
          </a:xfrm>
          <a:prstGeom prst="rect">
            <a:avLst/>
          </a:prstGeom>
          <a:noFill/>
        </p:spPr>
        <p:txBody>
          <a:bodyPr wrap="square">
            <a:spAutoFit/>
          </a:bodyPr>
          <a:lstStyle/>
          <a:p>
            <a:pPr algn="l"/>
            <a:r>
              <a:rPr lang="en-US" sz="1400" b="1" i="0" dirty="0">
                <a:solidFill>
                  <a:srgbClr val="212121"/>
                </a:solidFill>
                <a:effectLst/>
                <a:latin typeface="open sans" panose="020B0606030504020204" pitchFamily="34" charset="0"/>
              </a:rPr>
              <a:t>Step 2</a:t>
            </a:r>
            <a:endParaRPr lang="en-US" sz="1400" b="0" i="0" dirty="0">
              <a:solidFill>
                <a:srgbClr val="212121"/>
              </a:solidFill>
              <a:effectLst/>
              <a:latin typeface="open sans" panose="020B0606030504020204" pitchFamily="34" charset="0"/>
            </a:endParaRPr>
          </a:p>
          <a:p>
            <a:pPr algn="l"/>
            <a:r>
              <a:rPr lang="en-US" sz="1400" b="0" i="0" dirty="0">
                <a:solidFill>
                  <a:srgbClr val="212121"/>
                </a:solidFill>
                <a:effectLst/>
                <a:latin typeface="open sans" panose="020B0606030504020204" pitchFamily="34" charset="0"/>
              </a:rPr>
              <a:t>Inherit “</a:t>
            </a:r>
            <a:r>
              <a:rPr lang="en-US" sz="1400" b="0" i="1" dirty="0" err="1">
                <a:solidFill>
                  <a:srgbClr val="212121"/>
                </a:solidFill>
                <a:effectLst/>
                <a:latin typeface="open sans" panose="020B0606030504020204" pitchFamily="34" charset="0"/>
              </a:rPr>
              <a:t>IMiddleware</a:t>
            </a:r>
            <a:r>
              <a:rPr lang="en-US" sz="1400" b="0" i="0" dirty="0">
                <a:solidFill>
                  <a:srgbClr val="212121"/>
                </a:solidFill>
                <a:effectLst/>
                <a:latin typeface="open sans" panose="020B0606030504020204" pitchFamily="34" charset="0"/>
              </a:rPr>
              <a:t>” interface from “</a:t>
            </a:r>
            <a:r>
              <a:rPr lang="en-US" sz="1400" b="0" i="1" dirty="0" err="1">
                <a:solidFill>
                  <a:srgbClr val="212121"/>
                </a:solidFill>
                <a:effectLst/>
                <a:latin typeface="open sans" panose="020B0606030504020204" pitchFamily="34" charset="0"/>
              </a:rPr>
              <a:t>Microsoft.AspNetCore.Http</a:t>
            </a:r>
            <a:r>
              <a:rPr lang="en-US" sz="1400" b="0" i="0" dirty="0">
                <a:solidFill>
                  <a:srgbClr val="212121"/>
                </a:solidFill>
                <a:effectLst/>
                <a:latin typeface="open sans" panose="020B0606030504020204" pitchFamily="34" charset="0"/>
              </a:rPr>
              <a:t>” namespace and implement it as per the below code.</a:t>
            </a:r>
          </a:p>
        </p:txBody>
      </p:sp>
      <p:sp>
        <p:nvSpPr>
          <p:cNvPr id="8" name="TextBox 7">
            <a:extLst>
              <a:ext uri="{FF2B5EF4-FFF2-40B4-BE49-F238E27FC236}">
                <a16:creationId xmlns:a16="http://schemas.microsoft.com/office/drawing/2014/main" id="{4E66D47A-7E66-17FC-6E34-C211F5C8C9C8}"/>
              </a:ext>
            </a:extLst>
          </p:cNvPr>
          <p:cNvSpPr txBox="1"/>
          <p:nvPr/>
        </p:nvSpPr>
        <p:spPr>
          <a:xfrm>
            <a:off x="69601" y="2281158"/>
            <a:ext cx="5275396" cy="2677656"/>
          </a:xfrm>
          <a:prstGeom prst="rect">
            <a:avLst/>
          </a:prstGeom>
          <a:noFill/>
        </p:spPr>
        <p:txBody>
          <a:bodyPr wrap="square">
            <a:spAutoFit/>
          </a:bodyPr>
          <a:lstStyle/>
          <a:p>
            <a:r>
              <a:rPr lang="en-IN" sz="1400" b="0" i="0" dirty="0">
                <a:solidFill>
                  <a:srgbClr val="1990B8"/>
                </a:solidFill>
                <a:effectLst/>
                <a:latin typeface="Consolas" panose="020B0609020204030204" pitchFamily="49" charset="0"/>
              </a:rPr>
              <a:t>using</a:t>
            </a:r>
            <a:r>
              <a:rPr lang="en-IN" sz="1400" b="0" i="0" dirty="0">
                <a:solidFill>
                  <a:srgbClr val="212121"/>
                </a:solidFill>
                <a:effectLst/>
                <a:latin typeface="Consolas" panose="020B0609020204030204" pitchFamily="49" charset="0"/>
              </a:rPr>
              <a:t> </a:t>
            </a:r>
            <a:r>
              <a:rPr lang="en-IN" sz="1400" b="0" i="0" dirty="0" err="1">
                <a:solidFill>
                  <a:srgbClr val="212121"/>
                </a:solidFill>
                <a:effectLst/>
                <a:latin typeface="Consolas" panose="020B0609020204030204" pitchFamily="49" charset="0"/>
              </a:rPr>
              <a:t>Microsoft</a:t>
            </a:r>
            <a:r>
              <a:rPr lang="en-IN" sz="1400" b="0" i="0" dirty="0" err="1">
                <a:solidFill>
                  <a:srgbClr val="5F6364"/>
                </a:solidFill>
                <a:effectLst/>
                <a:latin typeface="Consolas" panose="020B0609020204030204" pitchFamily="49" charset="0"/>
              </a:rPr>
              <a:t>.</a:t>
            </a:r>
            <a:r>
              <a:rPr lang="en-IN" sz="1400" b="0" i="0" dirty="0" err="1">
                <a:solidFill>
                  <a:srgbClr val="212121"/>
                </a:solidFill>
                <a:effectLst/>
                <a:latin typeface="Consolas" panose="020B0609020204030204" pitchFamily="49" charset="0"/>
              </a:rPr>
              <a:t>AspNetCore</a:t>
            </a:r>
            <a:r>
              <a:rPr lang="en-IN" sz="1400" b="0" i="0" dirty="0" err="1">
                <a:solidFill>
                  <a:srgbClr val="5F6364"/>
                </a:solidFill>
                <a:effectLst/>
                <a:latin typeface="Consolas" panose="020B0609020204030204" pitchFamily="49" charset="0"/>
              </a:rPr>
              <a:t>.</a:t>
            </a:r>
            <a:r>
              <a:rPr lang="en-IN" sz="1400" b="0" i="0" dirty="0" err="1">
                <a:solidFill>
                  <a:srgbClr val="212121"/>
                </a:solidFill>
                <a:effectLst/>
                <a:latin typeface="Consolas" panose="020B0609020204030204" pitchFamily="49" charset="0"/>
              </a:rPr>
              <a:t>Http</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1990B8"/>
                </a:solidFill>
                <a:effectLst/>
                <a:latin typeface="Consolas" panose="020B0609020204030204" pitchFamily="49" charset="0"/>
              </a:rPr>
              <a:t>using</a:t>
            </a:r>
            <a:r>
              <a:rPr lang="en-IN" sz="1400" b="0" i="0" dirty="0">
                <a:solidFill>
                  <a:srgbClr val="212121"/>
                </a:solidFill>
                <a:effectLst/>
                <a:latin typeface="Consolas" panose="020B0609020204030204" pitchFamily="49" charset="0"/>
              </a:rPr>
              <a:t> </a:t>
            </a:r>
            <a:r>
              <a:rPr lang="en-IN" sz="1400" b="0" i="0" dirty="0" err="1">
                <a:solidFill>
                  <a:srgbClr val="212121"/>
                </a:solidFill>
                <a:effectLst/>
                <a:latin typeface="Consolas" panose="020B0609020204030204" pitchFamily="49" charset="0"/>
              </a:rPr>
              <a:t>System</a:t>
            </a:r>
            <a:r>
              <a:rPr lang="en-IN" sz="1400" b="0" i="0" dirty="0" err="1">
                <a:solidFill>
                  <a:srgbClr val="5F6364"/>
                </a:solidFill>
                <a:effectLst/>
                <a:latin typeface="Consolas" panose="020B0609020204030204" pitchFamily="49" charset="0"/>
              </a:rPr>
              <a:t>.</a:t>
            </a:r>
            <a:r>
              <a:rPr lang="en-IN" sz="1400" b="0" i="0" dirty="0" err="1">
                <a:solidFill>
                  <a:srgbClr val="212121"/>
                </a:solidFill>
                <a:effectLst/>
                <a:latin typeface="Consolas" panose="020B0609020204030204" pitchFamily="49" charset="0"/>
              </a:rPr>
              <a:t>Threading</a:t>
            </a:r>
            <a:r>
              <a:rPr lang="en-IN" sz="1400" b="0" i="0" dirty="0" err="1">
                <a:solidFill>
                  <a:srgbClr val="5F6364"/>
                </a:solidFill>
                <a:effectLst/>
                <a:latin typeface="Consolas" panose="020B0609020204030204" pitchFamily="49" charset="0"/>
              </a:rPr>
              <a:t>.</a:t>
            </a:r>
            <a:r>
              <a:rPr lang="en-IN" sz="1400" b="0" i="0" dirty="0" err="1">
                <a:solidFill>
                  <a:srgbClr val="212121"/>
                </a:solidFill>
                <a:effectLst/>
                <a:latin typeface="Consolas" panose="020B0609020204030204" pitchFamily="49" charset="0"/>
              </a:rPr>
              <a:t>Tasks</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1990B8"/>
                </a:solidFill>
                <a:effectLst/>
                <a:latin typeface="Consolas" panose="020B0609020204030204" pitchFamily="49" charset="0"/>
              </a:rPr>
              <a:t>namespace</a:t>
            </a:r>
            <a:r>
              <a:rPr lang="en-IN" sz="1400" b="0" i="0" dirty="0">
                <a:solidFill>
                  <a:srgbClr val="212121"/>
                </a:solidFill>
                <a:effectLst/>
                <a:latin typeface="Consolas" panose="020B0609020204030204" pitchFamily="49" charset="0"/>
              </a:rPr>
              <a:t> WebApplication1</a:t>
            </a:r>
          </a:p>
          <a:p>
            <a:r>
              <a:rPr lang="en-IN" sz="1400" b="0" i="0" dirty="0">
                <a:solidFill>
                  <a:srgbClr val="212121"/>
                </a:solidFill>
                <a:effectLst/>
                <a:latin typeface="Consolas" panose="020B0609020204030204" pitchFamily="49" charset="0"/>
              </a:rPr>
              <a:t> </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1990B8"/>
                </a:solidFill>
                <a:effectLst/>
                <a:latin typeface="Consolas" panose="020B0609020204030204" pitchFamily="49" charset="0"/>
              </a:rPr>
              <a:t>public</a:t>
            </a:r>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class</a:t>
            </a:r>
            <a:r>
              <a:rPr lang="en-IN" sz="1400" b="0" i="0" dirty="0">
                <a:solidFill>
                  <a:srgbClr val="212121"/>
                </a:solidFill>
                <a:effectLst/>
                <a:latin typeface="Consolas" panose="020B0609020204030204" pitchFamily="49" charset="0"/>
              </a:rPr>
              <a:t> </a:t>
            </a:r>
            <a:r>
              <a:rPr lang="en-IN" sz="1400" b="0" i="0" dirty="0" err="1">
                <a:solidFill>
                  <a:srgbClr val="1990B8"/>
                </a:solidFill>
                <a:effectLst/>
                <a:latin typeface="Consolas" panose="020B0609020204030204" pitchFamily="49" charset="0"/>
              </a:rPr>
              <a:t>CustomMiddlewareDemo</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r>
              <a:rPr lang="en-IN" sz="1400" b="0" i="0" dirty="0" err="1">
                <a:solidFill>
                  <a:srgbClr val="1990B8"/>
                </a:solidFill>
                <a:effectLst/>
                <a:latin typeface="Consolas" panose="020B0609020204030204" pitchFamily="49" charset="0"/>
              </a:rPr>
              <a:t>IMiddleware</a:t>
            </a:r>
            <a:r>
              <a:rPr lang="en-IN" sz="1400" b="0" i="0" dirty="0">
                <a:solidFill>
                  <a:srgbClr val="212121"/>
                </a:solidFill>
                <a:effectLst/>
                <a:latin typeface="Consolas" panose="020B0609020204030204" pitchFamily="49" charset="0"/>
              </a:rPr>
              <a:t> </a:t>
            </a:r>
          </a:p>
          <a:p>
            <a:r>
              <a:rPr lang="en-IN" sz="1400" b="0" i="0" dirty="0">
                <a:solidFill>
                  <a:srgbClr val="5F6364"/>
                </a:solidFill>
                <a:effectLst/>
                <a:latin typeface="Consolas" panose="020B0609020204030204" pitchFamily="49" charset="0"/>
              </a:rPr>
              <a:t>{</a:t>
            </a:r>
          </a:p>
          <a:p>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public</a:t>
            </a:r>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Task</a:t>
            </a:r>
            <a:r>
              <a:rPr lang="en-IN" sz="1400" b="0" i="0" dirty="0">
                <a:solidFill>
                  <a:srgbClr val="212121"/>
                </a:solidFill>
                <a:effectLst/>
                <a:latin typeface="Consolas" panose="020B0609020204030204" pitchFamily="49" charset="0"/>
              </a:rPr>
              <a:t> </a:t>
            </a:r>
            <a:r>
              <a:rPr lang="en-IN" sz="1400" b="0" i="0" dirty="0" err="1">
                <a:solidFill>
                  <a:srgbClr val="2F9C0A"/>
                </a:solidFill>
                <a:effectLst/>
                <a:latin typeface="Consolas" panose="020B0609020204030204" pitchFamily="49" charset="0"/>
              </a:rPr>
              <a:t>InvokeAsync</a:t>
            </a:r>
            <a:r>
              <a:rPr lang="en-IN" sz="1400" b="0" i="0" dirty="0">
                <a:solidFill>
                  <a:srgbClr val="5F6364"/>
                </a:solidFill>
                <a:effectLst/>
                <a:latin typeface="Consolas" panose="020B0609020204030204" pitchFamily="49" charset="0"/>
              </a:rPr>
              <a:t>(</a:t>
            </a:r>
            <a:r>
              <a:rPr lang="en-IN" sz="1400" b="0" i="0" dirty="0" err="1">
                <a:solidFill>
                  <a:srgbClr val="1990B8"/>
                </a:solidFill>
                <a:effectLst/>
                <a:latin typeface="Consolas" panose="020B0609020204030204" pitchFamily="49" charset="0"/>
              </a:rPr>
              <a:t>HttpContext</a:t>
            </a:r>
            <a:r>
              <a:rPr lang="en-IN" sz="1400" b="0" i="0" dirty="0">
                <a:solidFill>
                  <a:srgbClr val="212121"/>
                </a:solidFill>
                <a:effectLst/>
                <a:latin typeface="Consolas" panose="020B0609020204030204" pitchFamily="49" charset="0"/>
              </a:rPr>
              <a:t> context</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r>
              <a:rPr lang="en-IN" sz="1400" b="0" i="0" dirty="0" err="1">
                <a:solidFill>
                  <a:srgbClr val="1990B8"/>
                </a:solidFill>
                <a:effectLst/>
                <a:latin typeface="Consolas" panose="020B0609020204030204" pitchFamily="49" charset="0"/>
              </a:rPr>
              <a:t>RequestDelegate</a:t>
            </a:r>
            <a:r>
              <a:rPr lang="en-IN" sz="1400" b="0" i="0" dirty="0">
                <a:solidFill>
                  <a:srgbClr val="212121"/>
                </a:solidFill>
                <a:effectLst/>
                <a:latin typeface="Consolas" panose="020B0609020204030204" pitchFamily="49" charset="0"/>
              </a:rPr>
              <a:t> next</a:t>
            </a:r>
            <a:r>
              <a:rPr lang="en-IN" sz="1400" b="0" i="0" dirty="0">
                <a:solidFill>
                  <a:srgbClr val="5F6364"/>
                </a:solidFill>
                <a:effectLst/>
                <a:latin typeface="Consolas" panose="020B0609020204030204" pitchFamily="49" charset="0"/>
              </a:rPr>
              <a:t>)</a:t>
            </a:r>
          </a:p>
          <a:p>
            <a:r>
              <a:rPr lang="en-IN" sz="1400" b="0" i="0" dirty="0">
                <a:solidFill>
                  <a:srgbClr val="212121"/>
                </a:solidFill>
                <a:effectLst/>
                <a:latin typeface="Consolas" panose="020B0609020204030204" pitchFamily="49" charset="0"/>
              </a:rPr>
              <a:t> </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throw</a:t>
            </a:r>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new</a:t>
            </a:r>
            <a:r>
              <a:rPr lang="en-IN" sz="1400" b="0" i="0" dirty="0">
                <a:solidFill>
                  <a:srgbClr val="212121"/>
                </a:solidFill>
                <a:effectLst/>
                <a:latin typeface="Consolas" panose="020B0609020204030204" pitchFamily="49" charset="0"/>
              </a:rPr>
              <a:t> </a:t>
            </a:r>
            <a:r>
              <a:rPr lang="en-IN" sz="1400" b="0" i="0" dirty="0" err="1">
                <a:solidFill>
                  <a:srgbClr val="1990B8"/>
                </a:solidFill>
                <a:effectLst/>
                <a:latin typeface="Consolas" panose="020B0609020204030204" pitchFamily="49" charset="0"/>
              </a:rPr>
              <a:t>System</a:t>
            </a:r>
            <a:r>
              <a:rPr lang="en-IN" sz="1400" b="0" i="0" dirty="0" err="1">
                <a:solidFill>
                  <a:srgbClr val="5F6364"/>
                </a:solidFill>
                <a:effectLst/>
                <a:latin typeface="Consolas" panose="020B0609020204030204" pitchFamily="49" charset="0"/>
              </a:rPr>
              <a:t>.</a:t>
            </a:r>
            <a:r>
              <a:rPr lang="en-IN" sz="1400" b="0" i="0" dirty="0" err="1">
                <a:solidFill>
                  <a:srgbClr val="1990B8"/>
                </a:solidFill>
                <a:effectLst/>
                <a:latin typeface="Consolas" panose="020B0609020204030204" pitchFamily="49" charset="0"/>
              </a:rPr>
              <a:t>NotImplementedException</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5F6364"/>
                </a:solidFill>
                <a:effectLst/>
                <a:latin typeface="Consolas" panose="020B0609020204030204" pitchFamily="49" charset="0"/>
              </a:rPr>
              <a:t>   }</a:t>
            </a:r>
          </a:p>
          <a:p>
            <a:r>
              <a:rPr lang="en-IN" sz="1400" b="0" i="0" dirty="0">
                <a:solidFill>
                  <a:srgbClr val="212121"/>
                </a:solidFill>
                <a:effectLst/>
                <a:latin typeface="Consolas" panose="020B0609020204030204" pitchFamily="49" charset="0"/>
              </a:rPr>
              <a:t> </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5F6364"/>
                </a:solidFill>
                <a:effectLst/>
                <a:latin typeface="Consolas" panose="020B0609020204030204" pitchFamily="49" charset="0"/>
              </a:rPr>
              <a:t>}</a:t>
            </a:r>
            <a:endParaRPr lang="en-IN" sz="1400" dirty="0"/>
          </a:p>
        </p:txBody>
      </p:sp>
      <p:sp>
        <p:nvSpPr>
          <p:cNvPr id="10" name="TextBox 9">
            <a:extLst>
              <a:ext uri="{FF2B5EF4-FFF2-40B4-BE49-F238E27FC236}">
                <a16:creationId xmlns:a16="http://schemas.microsoft.com/office/drawing/2014/main" id="{67A66D24-915D-947B-0BC4-96F7779EA854}"/>
              </a:ext>
            </a:extLst>
          </p:cNvPr>
          <p:cNvSpPr txBox="1"/>
          <p:nvPr/>
        </p:nvSpPr>
        <p:spPr>
          <a:xfrm>
            <a:off x="6592480" y="132695"/>
            <a:ext cx="5439264" cy="738664"/>
          </a:xfrm>
          <a:prstGeom prst="rect">
            <a:avLst/>
          </a:prstGeom>
          <a:noFill/>
        </p:spPr>
        <p:txBody>
          <a:bodyPr wrap="square">
            <a:spAutoFit/>
          </a:bodyPr>
          <a:lstStyle/>
          <a:p>
            <a:pPr algn="l"/>
            <a:r>
              <a:rPr lang="en-US" sz="1400" b="1" i="0" dirty="0">
                <a:solidFill>
                  <a:srgbClr val="212121"/>
                </a:solidFill>
                <a:effectLst/>
                <a:latin typeface="open sans" panose="020B0606030504020204" pitchFamily="34" charset="0"/>
              </a:rPr>
              <a:t>Step 3</a:t>
            </a:r>
            <a:endParaRPr lang="en-US" sz="1400" b="0" i="0" dirty="0">
              <a:solidFill>
                <a:srgbClr val="212121"/>
              </a:solidFill>
              <a:effectLst/>
              <a:latin typeface="open sans" panose="020B0606030504020204" pitchFamily="34" charset="0"/>
            </a:endParaRPr>
          </a:p>
          <a:p>
            <a:pPr algn="l"/>
            <a:r>
              <a:rPr lang="en-US" sz="1400" b="0" i="0" dirty="0">
                <a:solidFill>
                  <a:srgbClr val="212121"/>
                </a:solidFill>
                <a:effectLst/>
                <a:latin typeface="open sans" panose="020B0606030504020204" pitchFamily="34" charset="0"/>
              </a:rPr>
              <a:t>Now we will add code for Custom middleware in the “</a:t>
            </a:r>
            <a:r>
              <a:rPr lang="en-US" sz="1400" b="0" i="1" dirty="0" err="1">
                <a:solidFill>
                  <a:srgbClr val="212121"/>
                </a:solidFill>
                <a:effectLst/>
                <a:latin typeface="open sans" panose="020B0606030504020204" pitchFamily="34" charset="0"/>
              </a:rPr>
              <a:t>InvokeAsync</a:t>
            </a:r>
            <a:r>
              <a:rPr lang="en-US" sz="1400" b="0" i="0" dirty="0">
                <a:solidFill>
                  <a:srgbClr val="212121"/>
                </a:solidFill>
                <a:effectLst/>
                <a:latin typeface="open sans" panose="020B0606030504020204" pitchFamily="34" charset="0"/>
              </a:rPr>
              <a:t>” method.</a:t>
            </a:r>
          </a:p>
        </p:txBody>
      </p:sp>
      <p:sp>
        <p:nvSpPr>
          <p:cNvPr id="14" name="TextBox 13">
            <a:extLst>
              <a:ext uri="{FF2B5EF4-FFF2-40B4-BE49-F238E27FC236}">
                <a16:creationId xmlns:a16="http://schemas.microsoft.com/office/drawing/2014/main" id="{4D372760-D16A-C492-D809-B386AF1DB0D7}"/>
              </a:ext>
            </a:extLst>
          </p:cNvPr>
          <p:cNvSpPr txBox="1"/>
          <p:nvPr/>
        </p:nvSpPr>
        <p:spPr>
          <a:xfrm>
            <a:off x="6088144" y="762588"/>
            <a:ext cx="6103856" cy="3785652"/>
          </a:xfrm>
          <a:prstGeom prst="rect">
            <a:avLst/>
          </a:prstGeom>
          <a:noFill/>
        </p:spPr>
        <p:txBody>
          <a:bodyPr wrap="square">
            <a:spAutoFit/>
          </a:bodyPr>
          <a:lstStyle/>
          <a:p>
            <a:r>
              <a:rPr lang="en-IN" sz="1600" b="0" i="0" dirty="0">
                <a:solidFill>
                  <a:srgbClr val="1990B8"/>
                </a:solidFill>
                <a:effectLst/>
                <a:latin typeface="Consolas" panose="020B0609020204030204" pitchFamily="49" charset="0"/>
              </a:rPr>
              <a:t>using</a:t>
            </a:r>
            <a:r>
              <a:rPr lang="en-IN" sz="1600" b="0" i="0" dirty="0">
                <a:solidFill>
                  <a:srgbClr val="212121"/>
                </a:solidFill>
                <a:effectLst/>
                <a:latin typeface="Consolas" panose="020B0609020204030204" pitchFamily="49" charset="0"/>
              </a:rPr>
              <a:t> </a:t>
            </a:r>
            <a:r>
              <a:rPr lang="en-IN" sz="1600" b="0" i="0" dirty="0" err="1">
                <a:solidFill>
                  <a:srgbClr val="212121"/>
                </a:solidFill>
                <a:effectLst/>
                <a:latin typeface="Consolas" panose="020B0609020204030204" pitchFamily="49" charset="0"/>
              </a:rPr>
              <a:t>Microsoft</a:t>
            </a:r>
            <a:r>
              <a:rPr lang="en-IN" sz="1600" b="0" i="0" dirty="0" err="1">
                <a:solidFill>
                  <a:srgbClr val="5F6364"/>
                </a:solidFill>
                <a:effectLst/>
                <a:latin typeface="Consolas" panose="020B0609020204030204" pitchFamily="49" charset="0"/>
              </a:rPr>
              <a:t>.</a:t>
            </a:r>
            <a:r>
              <a:rPr lang="en-IN" sz="1600" b="0" i="0" dirty="0" err="1">
                <a:solidFill>
                  <a:srgbClr val="212121"/>
                </a:solidFill>
                <a:effectLst/>
                <a:latin typeface="Consolas" panose="020B0609020204030204" pitchFamily="49" charset="0"/>
              </a:rPr>
              <a:t>AspNetCore</a:t>
            </a:r>
            <a:r>
              <a:rPr lang="en-IN" sz="1600" b="0" i="0" dirty="0" err="1">
                <a:solidFill>
                  <a:srgbClr val="5F6364"/>
                </a:solidFill>
                <a:effectLst/>
                <a:latin typeface="Consolas" panose="020B0609020204030204" pitchFamily="49" charset="0"/>
              </a:rPr>
              <a:t>.</a:t>
            </a:r>
            <a:r>
              <a:rPr lang="en-IN" sz="1600" b="0" i="0" dirty="0" err="1">
                <a:solidFill>
                  <a:srgbClr val="212121"/>
                </a:solidFill>
                <a:effectLst/>
                <a:latin typeface="Consolas" panose="020B0609020204030204" pitchFamily="49" charset="0"/>
              </a:rPr>
              <a:t>Http</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r>
              <a:rPr lang="en-IN" sz="1600" b="0" i="0" dirty="0">
                <a:solidFill>
                  <a:srgbClr val="1990B8"/>
                </a:solidFill>
                <a:effectLst/>
                <a:latin typeface="Consolas" panose="020B0609020204030204" pitchFamily="49" charset="0"/>
              </a:rPr>
              <a:t>using</a:t>
            </a:r>
            <a:r>
              <a:rPr lang="en-IN" sz="1600" b="0" i="0" dirty="0">
                <a:solidFill>
                  <a:srgbClr val="212121"/>
                </a:solidFill>
                <a:effectLst/>
                <a:latin typeface="Consolas" panose="020B0609020204030204" pitchFamily="49" charset="0"/>
              </a:rPr>
              <a:t> </a:t>
            </a:r>
            <a:r>
              <a:rPr lang="en-IN" sz="1600" b="0" i="0" dirty="0" err="1">
                <a:solidFill>
                  <a:srgbClr val="212121"/>
                </a:solidFill>
                <a:effectLst/>
                <a:latin typeface="Consolas" panose="020B0609020204030204" pitchFamily="49" charset="0"/>
              </a:rPr>
              <a:t>System</a:t>
            </a:r>
            <a:r>
              <a:rPr lang="en-IN" sz="1600" b="0" i="0" dirty="0" err="1">
                <a:solidFill>
                  <a:srgbClr val="5F6364"/>
                </a:solidFill>
                <a:effectLst/>
                <a:latin typeface="Consolas" panose="020B0609020204030204" pitchFamily="49" charset="0"/>
              </a:rPr>
              <a:t>.</a:t>
            </a:r>
            <a:r>
              <a:rPr lang="en-IN" sz="1600" b="0" i="0" dirty="0" err="1">
                <a:solidFill>
                  <a:srgbClr val="212121"/>
                </a:solidFill>
                <a:effectLst/>
                <a:latin typeface="Consolas" panose="020B0609020204030204" pitchFamily="49" charset="0"/>
              </a:rPr>
              <a:t>Threading</a:t>
            </a:r>
            <a:r>
              <a:rPr lang="en-IN" sz="1600" b="0" i="0" dirty="0" err="1">
                <a:solidFill>
                  <a:srgbClr val="5F6364"/>
                </a:solidFill>
                <a:effectLst/>
                <a:latin typeface="Consolas" panose="020B0609020204030204" pitchFamily="49" charset="0"/>
              </a:rPr>
              <a:t>.</a:t>
            </a:r>
            <a:r>
              <a:rPr lang="en-IN" sz="1600" b="0" i="0" dirty="0" err="1">
                <a:solidFill>
                  <a:srgbClr val="212121"/>
                </a:solidFill>
                <a:effectLst/>
                <a:latin typeface="Consolas" panose="020B0609020204030204" pitchFamily="49" charset="0"/>
              </a:rPr>
              <a:t>Tasks</a:t>
            </a:r>
            <a:r>
              <a:rPr lang="en-IN" sz="1600" b="0" i="0" dirty="0">
                <a:solidFill>
                  <a:srgbClr val="5F6364"/>
                </a:solidFill>
                <a:effectLst/>
                <a:latin typeface="Consolas" panose="020B0609020204030204" pitchFamily="49" charset="0"/>
              </a:rPr>
              <a:t>;</a:t>
            </a:r>
          </a:p>
          <a:p>
            <a:r>
              <a:rPr lang="en-IN" sz="1600" b="0" i="0" dirty="0">
                <a:solidFill>
                  <a:srgbClr val="212121"/>
                </a:solidFill>
                <a:effectLst/>
                <a:latin typeface="Consolas" panose="020B0609020204030204" pitchFamily="49" charset="0"/>
              </a:rPr>
              <a:t> </a:t>
            </a:r>
            <a:r>
              <a:rPr lang="en-IN" sz="1600" b="0" i="0" dirty="0">
                <a:solidFill>
                  <a:srgbClr val="1990B8"/>
                </a:solidFill>
                <a:effectLst/>
                <a:latin typeface="Consolas" panose="020B0609020204030204" pitchFamily="49" charset="0"/>
              </a:rPr>
              <a:t>namespace</a:t>
            </a:r>
            <a:r>
              <a:rPr lang="en-IN" sz="1600" b="0" i="0" dirty="0">
                <a:solidFill>
                  <a:srgbClr val="212121"/>
                </a:solidFill>
                <a:effectLst/>
                <a:latin typeface="Consolas" panose="020B0609020204030204" pitchFamily="49" charset="0"/>
              </a:rPr>
              <a:t> WebApplication1 </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p>
          <a:p>
            <a:r>
              <a:rPr lang="en-IN" sz="1600" b="0" i="0" dirty="0">
                <a:solidFill>
                  <a:srgbClr val="1990B8"/>
                </a:solidFill>
                <a:effectLst/>
                <a:latin typeface="Consolas" panose="020B0609020204030204" pitchFamily="49" charset="0"/>
              </a:rPr>
              <a:t>public</a:t>
            </a:r>
            <a:r>
              <a:rPr lang="en-IN" sz="1600" b="0" i="0" dirty="0">
                <a:solidFill>
                  <a:srgbClr val="212121"/>
                </a:solidFill>
                <a:effectLst/>
                <a:latin typeface="Consolas" panose="020B0609020204030204" pitchFamily="49" charset="0"/>
              </a:rPr>
              <a:t> </a:t>
            </a:r>
            <a:r>
              <a:rPr lang="en-IN" sz="1600" b="0" i="0" dirty="0">
                <a:solidFill>
                  <a:srgbClr val="1990B8"/>
                </a:solidFill>
                <a:effectLst/>
                <a:latin typeface="Consolas" panose="020B0609020204030204" pitchFamily="49" charset="0"/>
              </a:rPr>
              <a:t>class</a:t>
            </a:r>
            <a:r>
              <a:rPr lang="en-IN" sz="1600" b="0" i="0" dirty="0">
                <a:solidFill>
                  <a:srgbClr val="212121"/>
                </a:solidFill>
                <a:effectLst/>
                <a:latin typeface="Consolas" panose="020B0609020204030204" pitchFamily="49" charset="0"/>
              </a:rPr>
              <a:t> </a:t>
            </a:r>
            <a:r>
              <a:rPr lang="en-IN" sz="1600" b="0" i="0" dirty="0" err="1">
                <a:solidFill>
                  <a:srgbClr val="1990B8"/>
                </a:solidFill>
                <a:effectLst/>
                <a:latin typeface="Consolas" panose="020B0609020204030204" pitchFamily="49" charset="0"/>
              </a:rPr>
              <a:t>CustomMiddlewareDemo</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r>
              <a:rPr lang="en-IN" sz="1600" b="0" i="0" dirty="0" err="1">
                <a:solidFill>
                  <a:srgbClr val="1990B8"/>
                </a:solidFill>
                <a:effectLst/>
                <a:latin typeface="Consolas" panose="020B0609020204030204" pitchFamily="49" charset="0"/>
              </a:rPr>
              <a:t>IMiddleware</a:t>
            </a:r>
            <a:r>
              <a:rPr lang="en-IN" sz="1600" b="0" i="0" dirty="0">
                <a:solidFill>
                  <a:srgbClr val="212121"/>
                </a:solidFill>
                <a:effectLst/>
                <a:latin typeface="Consolas" panose="020B0609020204030204" pitchFamily="49" charset="0"/>
              </a:rPr>
              <a:t> </a:t>
            </a:r>
            <a:r>
              <a:rPr lang="en-IN" sz="1600" b="0" i="0" dirty="0">
                <a:solidFill>
                  <a:srgbClr val="5F6364"/>
                </a:solidFill>
                <a:effectLst/>
                <a:latin typeface="Consolas" panose="020B0609020204030204" pitchFamily="49" charset="0"/>
              </a:rPr>
              <a:t>{</a:t>
            </a:r>
          </a:p>
          <a:p>
            <a:r>
              <a:rPr lang="en-IN" sz="1600" b="0" i="0" dirty="0">
                <a:solidFill>
                  <a:srgbClr val="212121"/>
                </a:solidFill>
                <a:effectLst/>
                <a:latin typeface="Consolas" panose="020B0609020204030204" pitchFamily="49" charset="0"/>
              </a:rPr>
              <a:t> </a:t>
            </a:r>
          </a:p>
          <a:p>
            <a:r>
              <a:rPr lang="en-IN" sz="1600" b="0" i="0" dirty="0">
                <a:solidFill>
                  <a:srgbClr val="1990B8"/>
                </a:solidFill>
                <a:effectLst/>
                <a:latin typeface="Consolas" panose="020B0609020204030204" pitchFamily="49" charset="0"/>
              </a:rPr>
              <a:t>public</a:t>
            </a:r>
            <a:r>
              <a:rPr lang="en-IN" sz="1600" b="0" i="0" dirty="0">
                <a:solidFill>
                  <a:srgbClr val="212121"/>
                </a:solidFill>
                <a:effectLst/>
                <a:latin typeface="Consolas" panose="020B0609020204030204" pitchFamily="49" charset="0"/>
              </a:rPr>
              <a:t> </a:t>
            </a:r>
            <a:r>
              <a:rPr lang="en-IN" sz="1600" b="0" i="0" dirty="0">
                <a:solidFill>
                  <a:srgbClr val="1990B8"/>
                </a:solidFill>
                <a:effectLst/>
                <a:highlight>
                  <a:srgbClr val="FFFF00"/>
                </a:highlight>
                <a:latin typeface="Consolas" panose="020B0609020204030204" pitchFamily="49" charset="0"/>
              </a:rPr>
              <a:t>async</a:t>
            </a:r>
            <a:r>
              <a:rPr lang="en-IN" sz="1600" b="0" i="0" dirty="0">
                <a:solidFill>
                  <a:srgbClr val="212121"/>
                </a:solidFill>
                <a:effectLst/>
                <a:latin typeface="Consolas" panose="020B0609020204030204" pitchFamily="49" charset="0"/>
              </a:rPr>
              <a:t> </a:t>
            </a:r>
            <a:r>
              <a:rPr lang="en-IN" sz="1600" b="0" i="0" dirty="0">
                <a:solidFill>
                  <a:srgbClr val="1990B8"/>
                </a:solidFill>
                <a:effectLst/>
                <a:latin typeface="Consolas" panose="020B0609020204030204" pitchFamily="49" charset="0"/>
              </a:rPr>
              <a:t>Task</a:t>
            </a:r>
            <a:r>
              <a:rPr lang="en-IN" sz="1600" b="0" i="0" dirty="0">
                <a:solidFill>
                  <a:srgbClr val="212121"/>
                </a:solidFill>
                <a:effectLst/>
                <a:latin typeface="Consolas" panose="020B0609020204030204" pitchFamily="49" charset="0"/>
              </a:rPr>
              <a:t> </a:t>
            </a:r>
            <a:r>
              <a:rPr lang="en-IN" sz="1600" b="0" i="0" dirty="0" err="1">
                <a:solidFill>
                  <a:srgbClr val="2F9C0A"/>
                </a:solidFill>
                <a:effectLst/>
                <a:latin typeface="Consolas" panose="020B0609020204030204" pitchFamily="49" charset="0"/>
              </a:rPr>
              <a:t>InvokeAsync</a:t>
            </a:r>
            <a:r>
              <a:rPr lang="en-IN" sz="1600" b="0" i="0" dirty="0">
                <a:solidFill>
                  <a:srgbClr val="5F6364"/>
                </a:solidFill>
                <a:effectLst/>
                <a:latin typeface="Consolas" panose="020B0609020204030204" pitchFamily="49" charset="0"/>
              </a:rPr>
              <a:t>(</a:t>
            </a:r>
            <a:r>
              <a:rPr lang="en-IN" sz="1600" b="0" i="0" dirty="0" err="1">
                <a:solidFill>
                  <a:srgbClr val="1990B8"/>
                </a:solidFill>
                <a:effectLst/>
                <a:latin typeface="Consolas" panose="020B0609020204030204" pitchFamily="49" charset="0"/>
              </a:rPr>
              <a:t>HttpContext</a:t>
            </a:r>
            <a:r>
              <a:rPr lang="en-IN" sz="1600" b="0" i="0" dirty="0">
                <a:solidFill>
                  <a:srgbClr val="212121"/>
                </a:solidFill>
                <a:effectLst/>
                <a:latin typeface="Consolas" panose="020B0609020204030204" pitchFamily="49" charset="0"/>
              </a:rPr>
              <a:t> context</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r>
              <a:rPr lang="en-IN" sz="1600" b="0" i="0" dirty="0" err="1">
                <a:solidFill>
                  <a:srgbClr val="1990B8"/>
                </a:solidFill>
                <a:effectLst/>
                <a:latin typeface="Consolas" panose="020B0609020204030204" pitchFamily="49" charset="0"/>
              </a:rPr>
              <a:t>RequestDelegate</a:t>
            </a:r>
            <a:r>
              <a:rPr lang="en-IN" sz="1600" b="0" i="0" dirty="0">
                <a:solidFill>
                  <a:srgbClr val="212121"/>
                </a:solidFill>
                <a:effectLst/>
                <a:latin typeface="Consolas" panose="020B0609020204030204" pitchFamily="49" charset="0"/>
              </a:rPr>
              <a:t> next</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p>
          <a:p>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p>
          <a:p>
            <a:r>
              <a:rPr lang="en-IN" sz="1600" b="0" i="0" dirty="0">
                <a:solidFill>
                  <a:srgbClr val="1990B8"/>
                </a:solidFill>
                <a:effectLst/>
                <a:highlight>
                  <a:srgbClr val="FFFF00"/>
                </a:highlight>
                <a:latin typeface="Consolas" panose="020B0609020204030204" pitchFamily="49" charset="0"/>
              </a:rPr>
              <a:t>await</a:t>
            </a:r>
            <a:r>
              <a:rPr lang="en-IN" sz="1600" b="0" i="0" dirty="0">
                <a:solidFill>
                  <a:srgbClr val="212121"/>
                </a:solidFill>
                <a:effectLst/>
                <a:highlight>
                  <a:srgbClr val="FFFF00"/>
                </a:highlight>
                <a:latin typeface="Consolas" panose="020B0609020204030204" pitchFamily="49" charset="0"/>
              </a:rPr>
              <a:t> </a:t>
            </a:r>
            <a:r>
              <a:rPr lang="en-IN" sz="1600" b="0" i="0" dirty="0" err="1">
                <a:solidFill>
                  <a:srgbClr val="212121"/>
                </a:solidFill>
                <a:effectLst/>
                <a:highlight>
                  <a:srgbClr val="FFFF00"/>
                </a:highlight>
                <a:latin typeface="Consolas" panose="020B0609020204030204" pitchFamily="49" charset="0"/>
              </a:rPr>
              <a:t>context</a:t>
            </a:r>
            <a:r>
              <a:rPr lang="en-IN" sz="1600" b="0" i="0" dirty="0" err="1">
                <a:solidFill>
                  <a:srgbClr val="5F6364"/>
                </a:solidFill>
                <a:effectLst/>
                <a:highlight>
                  <a:srgbClr val="FFFF00"/>
                </a:highlight>
                <a:latin typeface="Consolas" panose="020B0609020204030204" pitchFamily="49" charset="0"/>
              </a:rPr>
              <a:t>.</a:t>
            </a:r>
            <a:r>
              <a:rPr lang="en-IN" sz="1600" b="0" i="0" dirty="0" err="1">
                <a:solidFill>
                  <a:srgbClr val="212121"/>
                </a:solidFill>
                <a:effectLst/>
                <a:highlight>
                  <a:srgbClr val="FFFF00"/>
                </a:highlight>
                <a:latin typeface="Consolas" panose="020B0609020204030204" pitchFamily="49" charset="0"/>
              </a:rPr>
              <a:t>Response</a:t>
            </a:r>
            <a:r>
              <a:rPr lang="en-IN" sz="1600" b="0" i="0" dirty="0" err="1">
                <a:solidFill>
                  <a:srgbClr val="5F6364"/>
                </a:solidFill>
                <a:effectLst/>
                <a:highlight>
                  <a:srgbClr val="FFFF00"/>
                </a:highlight>
                <a:latin typeface="Consolas" panose="020B0609020204030204" pitchFamily="49" charset="0"/>
              </a:rPr>
              <a:t>.</a:t>
            </a:r>
            <a:r>
              <a:rPr lang="en-IN" sz="1600" b="0" i="0" dirty="0" err="1">
                <a:solidFill>
                  <a:srgbClr val="2F9C0A"/>
                </a:solidFill>
                <a:effectLst/>
                <a:highlight>
                  <a:srgbClr val="FFFF00"/>
                </a:highlight>
                <a:latin typeface="Consolas" panose="020B0609020204030204" pitchFamily="49" charset="0"/>
              </a:rPr>
              <a:t>WriteAsync</a:t>
            </a:r>
            <a:r>
              <a:rPr lang="en-IN" sz="1600" b="0" i="0" dirty="0">
                <a:solidFill>
                  <a:srgbClr val="5F6364"/>
                </a:solidFill>
                <a:effectLst/>
                <a:highlight>
                  <a:srgbClr val="FFFF00"/>
                </a:highlight>
                <a:latin typeface="Consolas" panose="020B0609020204030204" pitchFamily="49" charset="0"/>
              </a:rPr>
              <a:t>(</a:t>
            </a:r>
            <a:r>
              <a:rPr lang="en-IN" sz="1600" b="0" i="0" dirty="0">
                <a:solidFill>
                  <a:srgbClr val="2F9C0A"/>
                </a:solidFill>
                <a:effectLst/>
                <a:highlight>
                  <a:srgbClr val="FFFF00"/>
                </a:highlight>
                <a:latin typeface="Consolas" panose="020B0609020204030204" pitchFamily="49" charset="0"/>
              </a:rPr>
              <a:t>"</a:t>
            </a:r>
            <a:r>
              <a:rPr lang="en-IN" sz="1600" b="0" i="0" dirty="0" err="1">
                <a:solidFill>
                  <a:srgbClr val="2F9C0A"/>
                </a:solidFill>
                <a:effectLst/>
                <a:highlight>
                  <a:srgbClr val="FFFF00"/>
                </a:highlight>
                <a:latin typeface="Consolas" panose="020B0609020204030204" pitchFamily="49" charset="0"/>
              </a:rPr>
              <a:t>Hellow</a:t>
            </a:r>
            <a:r>
              <a:rPr lang="en-IN" sz="1600" b="0" i="0" dirty="0">
                <a:solidFill>
                  <a:srgbClr val="2F9C0A"/>
                </a:solidFill>
                <a:effectLst/>
                <a:highlight>
                  <a:srgbClr val="FFFF00"/>
                </a:highlight>
                <a:latin typeface="Consolas" panose="020B0609020204030204" pitchFamily="49" charset="0"/>
              </a:rPr>
              <a:t> from Custom Middleware"</a:t>
            </a:r>
            <a:r>
              <a:rPr lang="en-IN" sz="1600" b="0" i="0" dirty="0">
                <a:solidFill>
                  <a:srgbClr val="5F6364"/>
                </a:solidFill>
                <a:effectLst/>
                <a:highlight>
                  <a:srgbClr val="FFFF00"/>
                </a:highlight>
                <a:latin typeface="Consolas" panose="020B0609020204030204" pitchFamily="49" charset="0"/>
              </a:rPr>
              <a:t>);</a:t>
            </a:r>
            <a:r>
              <a:rPr lang="en-IN" sz="1600" b="0" i="0" dirty="0">
                <a:solidFill>
                  <a:srgbClr val="212121"/>
                </a:solidFill>
                <a:effectLst/>
                <a:highlight>
                  <a:srgbClr val="FFFF00"/>
                </a:highlight>
                <a:latin typeface="Consolas" panose="020B0609020204030204" pitchFamily="49" charset="0"/>
              </a:rPr>
              <a:t> </a:t>
            </a:r>
          </a:p>
          <a:p>
            <a:endParaRPr lang="en-IN" sz="1600" b="0" i="0" dirty="0">
              <a:solidFill>
                <a:srgbClr val="212121"/>
              </a:solidFill>
              <a:effectLst/>
              <a:highlight>
                <a:srgbClr val="FFFF00"/>
              </a:highlight>
              <a:latin typeface="Consolas" panose="020B0609020204030204" pitchFamily="49" charset="0"/>
            </a:endParaRPr>
          </a:p>
          <a:p>
            <a:r>
              <a:rPr lang="en-IN" sz="1600" b="0" i="0" dirty="0">
                <a:solidFill>
                  <a:srgbClr val="1990B8"/>
                </a:solidFill>
                <a:effectLst/>
                <a:highlight>
                  <a:srgbClr val="FFFF00"/>
                </a:highlight>
                <a:latin typeface="Consolas" panose="020B0609020204030204" pitchFamily="49" charset="0"/>
              </a:rPr>
              <a:t>await</a:t>
            </a:r>
            <a:r>
              <a:rPr lang="en-IN" sz="1600" b="0" i="0" dirty="0">
                <a:solidFill>
                  <a:srgbClr val="212121"/>
                </a:solidFill>
                <a:effectLst/>
                <a:highlight>
                  <a:srgbClr val="FFFF00"/>
                </a:highlight>
                <a:latin typeface="Consolas" panose="020B0609020204030204" pitchFamily="49" charset="0"/>
              </a:rPr>
              <a:t> </a:t>
            </a:r>
            <a:r>
              <a:rPr lang="en-IN" sz="1600" b="0" i="0" dirty="0">
                <a:solidFill>
                  <a:srgbClr val="2F9C0A"/>
                </a:solidFill>
                <a:effectLst/>
                <a:highlight>
                  <a:srgbClr val="FFFF00"/>
                </a:highlight>
                <a:latin typeface="Consolas" panose="020B0609020204030204" pitchFamily="49" charset="0"/>
              </a:rPr>
              <a:t>next</a:t>
            </a:r>
            <a:r>
              <a:rPr lang="en-IN" sz="1600" b="0" i="0" dirty="0">
                <a:solidFill>
                  <a:srgbClr val="5F6364"/>
                </a:solidFill>
                <a:effectLst/>
                <a:highlight>
                  <a:srgbClr val="FFFF00"/>
                </a:highlight>
                <a:latin typeface="Consolas" panose="020B0609020204030204" pitchFamily="49" charset="0"/>
              </a:rPr>
              <a:t>(</a:t>
            </a:r>
            <a:r>
              <a:rPr lang="en-IN" sz="1600" b="0" i="0" dirty="0">
                <a:solidFill>
                  <a:srgbClr val="212121"/>
                </a:solidFill>
                <a:effectLst/>
                <a:highlight>
                  <a:srgbClr val="FFFF00"/>
                </a:highlight>
                <a:latin typeface="Consolas" panose="020B0609020204030204" pitchFamily="49" charset="0"/>
              </a:rPr>
              <a:t>context</a:t>
            </a:r>
            <a:r>
              <a:rPr lang="en-IN" sz="1600" b="0" i="0" dirty="0">
                <a:solidFill>
                  <a:srgbClr val="5F6364"/>
                </a:solidFill>
                <a:effectLst/>
                <a:highlight>
                  <a:srgbClr val="FFFF00"/>
                </a:highlight>
                <a:latin typeface="Consolas" panose="020B0609020204030204" pitchFamily="49" charset="0"/>
              </a:rPr>
              <a:t>);</a:t>
            </a:r>
            <a:r>
              <a:rPr lang="en-IN" sz="1600" b="0" i="0" dirty="0">
                <a:solidFill>
                  <a:srgbClr val="212121"/>
                </a:solidFill>
                <a:effectLst/>
                <a:highlight>
                  <a:srgbClr val="FFFF00"/>
                </a:highlight>
                <a:latin typeface="Consolas" panose="020B0609020204030204" pitchFamily="49" charset="0"/>
              </a:rPr>
              <a:t> </a:t>
            </a:r>
          </a:p>
          <a:p>
            <a:r>
              <a:rPr lang="en-IN" sz="1600" b="0" i="0" dirty="0">
                <a:solidFill>
                  <a:srgbClr val="5F6364"/>
                </a:solidFill>
                <a:effectLst/>
                <a:latin typeface="Consolas" panose="020B0609020204030204" pitchFamily="49" charset="0"/>
              </a:rPr>
              <a:t>}</a:t>
            </a:r>
          </a:p>
          <a:p>
            <a:r>
              <a:rPr lang="en-IN" sz="1600" b="0" i="0" dirty="0">
                <a:solidFill>
                  <a:srgbClr val="212121"/>
                </a:solidFill>
                <a:effectLst/>
                <a:latin typeface="Consolas" panose="020B0609020204030204" pitchFamily="49" charset="0"/>
              </a:rPr>
              <a:t> </a:t>
            </a:r>
            <a:r>
              <a:rPr lang="en-IN" sz="1600" b="0" i="0" dirty="0">
                <a:solidFill>
                  <a:srgbClr val="5F6364"/>
                </a:solidFill>
                <a:effectLst/>
                <a:latin typeface="Consolas" panose="020B0609020204030204" pitchFamily="49" charset="0"/>
              </a:rPr>
              <a:t>}</a:t>
            </a:r>
          </a:p>
          <a:p>
            <a:r>
              <a:rPr lang="en-IN" sz="1600" b="0" i="0" dirty="0">
                <a:solidFill>
                  <a:srgbClr val="212121"/>
                </a:solidFill>
                <a:effectLst/>
                <a:latin typeface="Consolas" panose="020B0609020204030204" pitchFamily="49" charset="0"/>
              </a:rPr>
              <a:t> </a:t>
            </a:r>
            <a:r>
              <a:rPr lang="en-IN" sz="1600" b="0" i="0" dirty="0">
                <a:solidFill>
                  <a:srgbClr val="5F6364"/>
                </a:solidFill>
                <a:effectLst/>
                <a:latin typeface="Consolas" panose="020B0609020204030204" pitchFamily="49" charset="0"/>
              </a:rPr>
              <a:t>}</a:t>
            </a:r>
            <a:endParaRPr lang="en-IN" sz="1600" dirty="0"/>
          </a:p>
        </p:txBody>
      </p:sp>
      <p:sp>
        <p:nvSpPr>
          <p:cNvPr id="15" name="TextBox 14">
            <a:extLst>
              <a:ext uri="{FF2B5EF4-FFF2-40B4-BE49-F238E27FC236}">
                <a16:creationId xmlns:a16="http://schemas.microsoft.com/office/drawing/2014/main" id="{F64AFE33-3E44-B5D1-59D3-C775CDA6A4AA}"/>
              </a:ext>
            </a:extLst>
          </p:cNvPr>
          <p:cNvSpPr txBox="1"/>
          <p:nvPr/>
        </p:nvSpPr>
        <p:spPr>
          <a:xfrm>
            <a:off x="6306532" y="4713402"/>
            <a:ext cx="5885468" cy="923330"/>
          </a:xfrm>
          <a:prstGeom prst="rect">
            <a:avLst/>
          </a:prstGeom>
          <a:noFill/>
        </p:spPr>
        <p:txBody>
          <a:bodyPr wrap="square" rtlCol="0">
            <a:spAutoFit/>
          </a:bodyPr>
          <a:lstStyle/>
          <a:p>
            <a:r>
              <a:rPr lang="en-US" b="1" dirty="0"/>
              <a:t>Step 4</a:t>
            </a:r>
          </a:p>
          <a:p>
            <a:r>
              <a:rPr lang="en-IN" b="0" i="0" dirty="0" err="1">
                <a:solidFill>
                  <a:srgbClr val="212121"/>
                </a:solidFill>
                <a:effectLst/>
                <a:latin typeface="Consolas" panose="020B0609020204030204" pitchFamily="49" charset="0"/>
              </a:rPr>
              <a:t>Builder.Services</a:t>
            </a:r>
            <a:r>
              <a:rPr lang="en-IN" b="0" i="0" dirty="0" err="1">
                <a:solidFill>
                  <a:srgbClr val="5F6364"/>
                </a:solidFill>
                <a:effectLst/>
                <a:latin typeface="Consolas" panose="020B0609020204030204" pitchFamily="49" charset="0"/>
              </a:rPr>
              <a:t>.</a:t>
            </a:r>
            <a:r>
              <a:rPr lang="en-IN" b="0" i="0" dirty="0" err="1">
                <a:solidFill>
                  <a:srgbClr val="2F9C0A"/>
                </a:solidFill>
                <a:effectLst/>
                <a:latin typeface="Consolas" panose="020B0609020204030204" pitchFamily="49" charset="0"/>
              </a:rPr>
              <a:t>AddTransient</a:t>
            </a:r>
            <a:r>
              <a:rPr lang="en-IN" b="0" i="0" dirty="0">
                <a:solidFill>
                  <a:srgbClr val="212121"/>
                </a:solidFill>
                <a:effectLst/>
                <a:latin typeface="Consolas" panose="020B0609020204030204" pitchFamily="49" charset="0"/>
              </a:rPr>
              <a:t> </a:t>
            </a:r>
            <a:r>
              <a:rPr lang="en-IN" b="0" i="0" dirty="0">
                <a:solidFill>
                  <a:srgbClr val="5F6364"/>
                </a:solidFill>
                <a:effectLst/>
                <a:latin typeface="Consolas" panose="020B0609020204030204" pitchFamily="49" charset="0"/>
              </a:rPr>
              <a:t>&lt;</a:t>
            </a:r>
            <a:r>
              <a:rPr lang="en-IN" b="0" i="0" dirty="0">
                <a:solidFill>
                  <a:srgbClr val="1990B8"/>
                </a:solidFill>
                <a:effectLst/>
                <a:latin typeface="Consolas" panose="020B0609020204030204" pitchFamily="49" charset="0"/>
              </a:rPr>
              <a:t> </a:t>
            </a:r>
            <a:r>
              <a:rPr lang="en-IN" b="0" i="0" dirty="0" err="1">
                <a:solidFill>
                  <a:srgbClr val="1990B8"/>
                </a:solidFill>
                <a:effectLst/>
                <a:latin typeface="Consolas" panose="020B0609020204030204" pitchFamily="49" charset="0"/>
              </a:rPr>
              <a:t>CustomMiddlewareDemo</a:t>
            </a:r>
            <a:r>
              <a:rPr lang="en-IN" b="0" i="0" dirty="0">
                <a:solidFill>
                  <a:srgbClr val="1990B8"/>
                </a:solidFill>
                <a:effectLst/>
                <a:latin typeface="Consolas" panose="020B0609020204030204" pitchFamily="49" charset="0"/>
              </a:rPr>
              <a:t> </a:t>
            </a:r>
            <a:r>
              <a:rPr lang="en-IN" b="0" i="0" dirty="0">
                <a:solidFill>
                  <a:srgbClr val="5F6364"/>
                </a:solidFill>
                <a:effectLst/>
                <a:latin typeface="Consolas" panose="020B0609020204030204" pitchFamily="49" charset="0"/>
              </a:rPr>
              <a:t>&gt;</a:t>
            </a:r>
            <a:r>
              <a:rPr lang="en-IN" b="0" i="0" dirty="0">
                <a:solidFill>
                  <a:srgbClr val="212121"/>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endParaRPr lang="en-IN" b="1" dirty="0"/>
          </a:p>
        </p:txBody>
      </p:sp>
      <p:sp>
        <p:nvSpPr>
          <p:cNvPr id="17" name="TextBox 16">
            <a:extLst>
              <a:ext uri="{FF2B5EF4-FFF2-40B4-BE49-F238E27FC236}">
                <a16:creationId xmlns:a16="http://schemas.microsoft.com/office/drawing/2014/main" id="{093E3F10-957B-689E-9CF8-FBA90B60B6D3}"/>
              </a:ext>
            </a:extLst>
          </p:cNvPr>
          <p:cNvSpPr txBox="1"/>
          <p:nvPr/>
        </p:nvSpPr>
        <p:spPr>
          <a:xfrm>
            <a:off x="6210694" y="6089855"/>
            <a:ext cx="6202836" cy="369332"/>
          </a:xfrm>
          <a:prstGeom prst="rect">
            <a:avLst/>
          </a:prstGeom>
          <a:noFill/>
        </p:spPr>
        <p:txBody>
          <a:bodyPr wrap="square">
            <a:spAutoFit/>
          </a:bodyPr>
          <a:lstStyle/>
          <a:p>
            <a:r>
              <a:rPr lang="en-IN" b="0" i="0" dirty="0" err="1">
                <a:solidFill>
                  <a:srgbClr val="212121"/>
                </a:solidFill>
                <a:effectLst/>
                <a:latin typeface="Consolas" panose="020B0609020204030204" pitchFamily="49" charset="0"/>
              </a:rPr>
              <a:t>app</a:t>
            </a:r>
            <a:r>
              <a:rPr lang="en-IN" b="0" i="0" dirty="0" err="1">
                <a:solidFill>
                  <a:srgbClr val="5F6364"/>
                </a:solidFill>
                <a:effectLst/>
                <a:latin typeface="Consolas" panose="020B0609020204030204" pitchFamily="49" charset="0"/>
              </a:rPr>
              <a:t>.</a:t>
            </a:r>
            <a:r>
              <a:rPr lang="en-IN" b="0" i="0" dirty="0" err="1">
                <a:solidFill>
                  <a:srgbClr val="2F9C0A"/>
                </a:solidFill>
                <a:effectLst/>
                <a:latin typeface="Consolas" panose="020B0609020204030204" pitchFamily="49" charset="0"/>
              </a:rPr>
              <a:t>UseMiddleware</a:t>
            </a:r>
            <a:r>
              <a:rPr lang="en-IN" b="0" i="0" dirty="0">
                <a:solidFill>
                  <a:srgbClr val="212121"/>
                </a:solidFill>
                <a:effectLst/>
                <a:latin typeface="Consolas" panose="020B0609020204030204" pitchFamily="49" charset="0"/>
              </a:rPr>
              <a:t> </a:t>
            </a:r>
            <a:r>
              <a:rPr lang="en-IN" b="0" i="0" dirty="0">
                <a:solidFill>
                  <a:srgbClr val="5F6364"/>
                </a:solidFill>
                <a:effectLst/>
                <a:latin typeface="Consolas" panose="020B0609020204030204" pitchFamily="49" charset="0"/>
              </a:rPr>
              <a:t>&lt;</a:t>
            </a:r>
            <a:r>
              <a:rPr lang="en-IN" b="0" i="0" dirty="0">
                <a:solidFill>
                  <a:srgbClr val="1990B8"/>
                </a:solidFill>
                <a:effectLst/>
                <a:latin typeface="Consolas" panose="020B0609020204030204" pitchFamily="49" charset="0"/>
              </a:rPr>
              <a:t> </a:t>
            </a:r>
            <a:r>
              <a:rPr lang="en-IN" b="0" i="0" dirty="0" err="1">
                <a:solidFill>
                  <a:srgbClr val="1990B8"/>
                </a:solidFill>
                <a:effectLst/>
                <a:latin typeface="Consolas" panose="020B0609020204030204" pitchFamily="49" charset="0"/>
              </a:rPr>
              <a:t>CustomMiddlewareDemo</a:t>
            </a:r>
            <a:r>
              <a:rPr lang="en-IN" b="0" i="0" dirty="0">
                <a:solidFill>
                  <a:srgbClr val="1990B8"/>
                </a:solidFill>
                <a:effectLst/>
                <a:latin typeface="Consolas" panose="020B0609020204030204" pitchFamily="49" charset="0"/>
              </a:rPr>
              <a:t> </a:t>
            </a:r>
            <a:r>
              <a:rPr lang="en-IN" b="0" i="0" dirty="0">
                <a:solidFill>
                  <a:srgbClr val="5F6364"/>
                </a:solidFill>
                <a:effectLst/>
                <a:latin typeface="Consolas" panose="020B0609020204030204" pitchFamily="49" charset="0"/>
              </a:rPr>
              <a:t>&gt;</a:t>
            </a:r>
            <a:r>
              <a:rPr lang="en-IN" b="0" i="0" dirty="0">
                <a:solidFill>
                  <a:srgbClr val="212121"/>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1174886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5FDB79-02A0-AD70-B56B-DD884598E8C0}"/>
              </a:ext>
            </a:extLst>
          </p:cNvPr>
          <p:cNvSpPr txBox="1"/>
          <p:nvPr/>
        </p:nvSpPr>
        <p:spPr>
          <a:xfrm>
            <a:off x="407708" y="0"/>
            <a:ext cx="7595647" cy="7201972"/>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MVCMiddleware.Models</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MVCMiddleware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var</a:t>
            </a:r>
            <a:r>
              <a:rPr lang="en-US" sz="1100" dirty="0">
                <a:solidFill>
                  <a:srgbClr val="000000"/>
                </a:solidFill>
                <a:latin typeface="Cascadia Mono" panose="020B0609020000020004" pitchFamily="49" charset="0"/>
              </a:rPr>
              <a:t> builder = </a:t>
            </a:r>
            <a:r>
              <a:rPr lang="en-US" sz="1100" dirty="0" err="1">
                <a:solidFill>
                  <a:srgbClr val="000000"/>
                </a:solidFill>
                <a:latin typeface="Cascadia Mono" panose="020B0609020000020004" pitchFamily="49" charset="0"/>
              </a:rPr>
              <a:t>WebApplication.CreateBuilder</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Add services to the container.</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builder.Services.AddControllersWithViews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builder.Services.AddTransient</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CustomMiddlewareDemo</a:t>
            </a:r>
            <a:r>
              <a:rPr lang="en-IN" sz="1100" dirty="0">
                <a:solidFill>
                  <a:srgbClr val="000000"/>
                </a:solidFill>
                <a:latin typeface="Cascadia Mono" panose="020B0609020000020004" pitchFamily="49" charset="0"/>
              </a:rPr>
              <a:t>&gt;();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app = </a:t>
            </a:r>
            <a:r>
              <a:rPr lang="en-IN" sz="1100" dirty="0" err="1">
                <a:solidFill>
                  <a:srgbClr val="000000"/>
                </a:solidFill>
                <a:latin typeface="Cascadia Mono" panose="020B0609020000020004" pitchFamily="49" charset="0"/>
              </a:rPr>
              <a:t>builder.Build</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Configure the HTTP request pipeline.</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app.Environment.IsDevelopment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app.UseExceptionHandler</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"/Home/Error"</a:t>
            </a:r>
            <a:r>
              <a:rPr lang="en-IN"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app.UseHsts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app.UseMiddleware</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CustomMiddlewareDemo</a:t>
            </a:r>
            <a:r>
              <a:rPr lang="en-IN" sz="1100" dirty="0">
                <a:solidFill>
                  <a:srgbClr val="000000"/>
                </a:solidFill>
                <a:latin typeface="Cascadia Mono" panose="020B0609020000020004" pitchFamily="49" charset="0"/>
              </a:rPr>
              <a:t>&gt;();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app.Run</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async</a:t>
            </a:r>
            <a:r>
              <a:rPr lang="en-IN" sz="1100" dirty="0">
                <a:solidFill>
                  <a:srgbClr val="000000"/>
                </a:solidFill>
                <a:latin typeface="Cascadia Mono" panose="020B0609020000020004" pitchFamily="49" charset="0"/>
              </a:rPr>
              <a:t> context =&gt; </a:t>
            </a:r>
            <a:r>
              <a:rPr lang="en-IN" sz="1100" dirty="0">
                <a:solidFill>
                  <a:srgbClr val="0000FF"/>
                </a:solidFill>
                <a:latin typeface="Cascadia Mono" panose="020B0609020000020004" pitchFamily="49" charset="0"/>
              </a:rPr>
              <a:t>await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context.Response.WriteAsync</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"Hello"</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app.UseHttpsRedirection</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app.UseStaticFiles</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app.UseRouting</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app.UseAuthorization</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app.MapControllerRoute</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//name: "default",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//pattern: "{controller=Home}/{action=Index}/{id?}");</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app.Run</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2800" dirty="0"/>
          </a:p>
        </p:txBody>
      </p:sp>
    </p:spTree>
    <p:extLst>
      <p:ext uri="{BB962C8B-B14F-4D97-AF65-F5344CB8AC3E}">
        <p14:creationId xmlns:p14="http://schemas.microsoft.com/office/powerpoint/2010/main" val="975561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54AB3F-7E33-A62F-426D-787254E61E37}"/>
              </a:ext>
            </a:extLst>
          </p:cNvPr>
          <p:cNvSpPr txBox="1"/>
          <p:nvPr/>
        </p:nvSpPr>
        <p:spPr>
          <a:xfrm>
            <a:off x="313441" y="167028"/>
            <a:ext cx="10414261" cy="369332"/>
          </a:xfrm>
          <a:prstGeom prst="rect">
            <a:avLst/>
          </a:prstGeom>
          <a:noFill/>
        </p:spPr>
        <p:txBody>
          <a:bodyPr wrap="square">
            <a:spAutoFit/>
          </a:bodyPr>
          <a:lstStyle/>
          <a:p>
            <a:r>
              <a:rPr lang="en-US" b="0" i="0" dirty="0">
                <a:solidFill>
                  <a:srgbClr val="212121"/>
                </a:solidFill>
                <a:effectLst/>
                <a:latin typeface="open sans" panose="020B0606030504020204" pitchFamily="34" charset="0"/>
              </a:rPr>
              <a:t>Now we will create custom middleware using the extension method,</a:t>
            </a:r>
            <a:endParaRPr lang="en-IN" dirty="0"/>
          </a:p>
        </p:txBody>
      </p:sp>
      <p:sp>
        <p:nvSpPr>
          <p:cNvPr id="7" name="TextBox 6">
            <a:extLst>
              <a:ext uri="{FF2B5EF4-FFF2-40B4-BE49-F238E27FC236}">
                <a16:creationId xmlns:a16="http://schemas.microsoft.com/office/drawing/2014/main" id="{CB01F51D-CD16-921C-6BFF-8DFBD31FA063}"/>
              </a:ext>
            </a:extLst>
          </p:cNvPr>
          <p:cNvSpPr txBox="1"/>
          <p:nvPr/>
        </p:nvSpPr>
        <p:spPr>
          <a:xfrm>
            <a:off x="134331" y="638368"/>
            <a:ext cx="8557181"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212121"/>
                </a:solidFill>
                <a:effectLst/>
                <a:latin typeface="open sans" panose="020B0606030504020204" pitchFamily="34" charset="0"/>
              </a:rPr>
              <a:t>Right Click on </a:t>
            </a:r>
            <a:r>
              <a:rPr lang="en-US" b="0" i="1" dirty="0">
                <a:solidFill>
                  <a:srgbClr val="212121"/>
                </a:solidFill>
                <a:effectLst/>
                <a:latin typeface="open sans" panose="020B0606030504020204" pitchFamily="34" charset="0"/>
              </a:rPr>
              <a:t>Project -&gt; Add -&gt; new item -&gt; Asp.net Core -&gt; Middleware class</a:t>
            </a:r>
            <a:endParaRPr lang="en-IN" dirty="0"/>
          </a:p>
        </p:txBody>
      </p:sp>
      <p:sp>
        <p:nvSpPr>
          <p:cNvPr id="9" name="TextBox 8">
            <a:extLst>
              <a:ext uri="{FF2B5EF4-FFF2-40B4-BE49-F238E27FC236}">
                <a16:creationId xmlns:a16="http://schemas.microsoft.com/office/drawing/2014/main" id="{9D1F3E28-A157-F47A-8653-288CB1701F72}"/>
              </a:ext>
            </a:extLst>
          </p:cNvPr>
          <p:cNvSpPr txBox="1"/>
          <p:nvPr/>
        </p:nvSpPr>
        <p:spPr>
          <a:xfrm>
            <a:off x="313441" y="1181529"/>
            <a:ext cx="7388258" cy="5424562"/>
          </a:xfrm>
          <a:prstGeom prst="rect">
            <a:avLst/>
          </a:prstGeom>
          <a:noFill/>
        </p:spPr>
        <p:txBody>
          <a:bodyPr wrap="square">
            <a:spAutoFit/>
          </a:bodyPr>
          <a:lstStyle/>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Microsoft.AspNetCore.Builder</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Microsoft.AspNetCore.Http</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System.Threading.Tasks</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MVCMiddleware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You may need to install the </a:t>
            </a:r>
            <a:r>
              <a:rPr lang="en-US" sz="1050" dirty="0" err="1">
                <a:solidFill>
                  <a:srgbClr val="008000"/>
                </a:solidFill>
                <a:latin typeface="Cascadia Mono" panose="020B0609020000020004" pitchFamily="49" charset="0"/>
              </a:rPr>
              <a:t>Microsoft.AspNetCore.Http.Abstractions</a:t>
            </a:r>
            <a:r>
              <a:rPr lang="en-US" sz="1050" dirty="0">
                <a:solidFill>
                  <a:srgbClr val="008000"/>
                </a:solidFill>
                <a:latin typeface="Cascadia Mono" panose="020B0609020000020004" pitchFamily="49" charset="0"/>
              </a:rPr>
              <a:t> package into your project</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Middleware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err="1">
                <a:solidFill>
                  <a:srgbClr val="0000FF"/>
                </a:solidFill>
                <a:latin typeface="Cascadia Mono" panose="020B0609020000020004" pitchFamily="49" charset="0"/>
              </a:rPr>
              <a:t>readonly</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RequestDelegate</a:t>
            </a:r>
            <a:r>
              <a:rPr lang="en-IN" sz="1050" dirty="0">
                <a:solidFill>
                  <a:srgbClr val="000000"/>
                </a:solidFill>
                <a:latin typeface="Cascadia Mono" panose="020B0609020000020004" pitchFamily="49" charset="0"/>
              </a:rPr>
              <a:t> _next;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Middleware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RequestDelegate</a:t>
            </a:r>
            <a:r>
              <a:rPr lang="en-IN" sz="1050" dirty="0">
                <a:solidFill>
                  <a:srgbClr val="000000"/>
                </a:solidFill>
                <a:latin typeface="Cascadia Mono" panose="020B0609020000020004" pitchFamily="49" charset="0"/>
              </a:rPr>
              <a:t> next)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_next = next;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Task Invoke(</a:t>
            </a:r>
            <a:r>
              <a:rPr lang="en-US" sz="1050" dirty="0" err="1">
                <a:solidFill>
                  <a:srgbClr val="000000"/>
                </a:solidFill>
                <a:latin typeface="Cascadia Mono" panose="020B0609020000020004" pitchFamily="49" charset="0"/>
              </a:rPr>
              <a:t>HttpContext</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httpContext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_next(</a:t>
            </a:r>
            <a:r>
              <a:rPr lang="en-IN" sz="1050" dirty="0" err="1">
                <a:solidFill>
                  <a:srgbClr val="000000"/>
                </a:solidFill>
                <a:latin typeface="Cascadia Mono" panose="020B0609020000020004" pitchFamily="49" charset="0"/>
              </a:rPr>
              <a:t>httpContext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Extension method used to add the middleware to the HTTP request pipeline.</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MiddlewareExtensions</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static</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IApplicationBuilder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UseMiddleware</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this</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IApplicationBuilder</a:t>
            </a:r>
            <a:r>
              <a:rPr lang="en-US" sz="1050" dirty="0">
                <a:solidFill>
                  <a:srgbClr val="000000"/>
                </a:solidFill>
                <a:latin typeface="Cascadia Mono" panose="020B0609020000020004" pitchFamily="49" charset="0"/>
              </a:rPr>
              <a:t> builder)</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builder.UseMiddleware</a:t>
            </a:r>
            <a:r>
              <a:rPr lang="en-IN" sz="1050" dirty="0">
                <a:solidFill>
                  <a:srgbClr val="000000"/>
                </a:solidFill>
                <a:latin typeface="Cascadia Mono" panose="020B0609020000020004" pitchFamily="49" charset="0"/>
              </a:rPr>
              <a:t>&lt;Middleware&gt;();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446764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A6897F-FBD4-28B2-4D53-219693515FFE}"/>
              </a:ext>
            </a:extLst>
          </p:cNvPr>
          <p:cNvSpPr txBox="1"/>
          <p:nvPr/>
        </p:nvSpPr>
        <p:spPr>
          <a:xfrm>
            <a:off x="370003" y="245011"/>
            <a:ext cx="7567366" cy="5586145"/>
          </a:xfrm>
          <a:prstGeom prst="rect">
            <a:avLst/>
          </a:prstGeom>
          <a:noFill/>
        </p:spPr>
        <p:txBody>
          <a:bodyPr wrap="square">
            <a:spAutoFit/>
          </a:bodyPr>
          <a:lstStyle/>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Microsoft.AspNetCore.Builder</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Microsoft.AspNetCore.Http</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System.Threading.Tasks</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MVCMiddleware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You may need to install the </a:t>
            </a:r>
            <a:r>
              <a:rPr lang="en-US" sz="1050" dirty="0" err="1">
                <a:solidFill>
                  <a:srgbClr val="008000"/>
                </a:solidFill>
                <a:latin typeface="Cascadia Mono" panose="020B0609020000020004" pitchFamily="49" charset="0"/>
              </a:rPr>
              <a:t>Microsoft.AspNetCore.Http.Abstractions</a:t>
            </a:r>
            <a:r>
              <a:rPr lang="en-US" sz="1050" dirty="0">
                <a:solidFill>
                  <a:srgbClr val="008000"/>
                </a:solidFill>
                <a:latin typeface="Cascadia Mono" panose="020B0609020000020004" pitchFamily="49" charset="0"/>
              </a:rPr>
              <a:t> package into your project</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Middleware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err="1">
                <a:solidFill>
                  <a:srgbClr val="0000FF"/>
                </a:solidFill>
                <a:latin typeface="Cascadia Mono" panose="020B0609020000020004" pitchFamily="49" charset="0"/>
              </a:rPr>
              <a:t>readonly</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RequestDelegate</a:t>
            </a:r>
            <a:r>
              <a:rPr lang="en-IN" sz="1050" dirty="0">
                <a:solidFill>
                  <a:srgbClr val="000000"/>
                </a:solidFill>
                <a:latin typeface="Cascadia Mono" panose="020B0609020000020004" pitchFamily="49" charset="0"/>
              </a:rPr>
              <a:t> _next;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Middleware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RequestDelegate</a:t>
            </a:r>
            <a:r>
              <a:rPr lang="en-IN" sz="1050" dirty="0">
                <a:solidFill>
                  <a:srgbClr val="000000"/>
                </a:solidFill>
                <a:latin typeface="Cascadia Mono" panose="020B0609020000020004" pitchFamily="49" charset="0"/>
              </a:rPr>
              <a:t> next)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_next = next;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async</a:t>
            </a:r>
            <a:r>
              <a:rPr lang="en-US" sz="1050" dirty="0">
                <a:solidFill>
                  <a:srgbClr val="000000"/>
                </a:solidFill>
                <a:latin typeface="Cascadia Mono" panose="020B0609020000020004" pitchFamily="49" charset="0"/>
              </a:rPr>
              <a:t> Task Invoke(</a:t>
            </a:r>
            <a:r>
              <a:rPr lang="en-US" sz="1050" dirty="0" err="1">
                <a:solidFill>
                  <a:srgbClr val="000000"/>
                </a:solidFill>
                <a:latin typeface="Cascadia Mono" panose="020B0609020000020004" pitchFamily="49" charset="0"/>
              </a:rPr>
              <a:t>HttpContext</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httpContext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highlight>
                  <a:srgbClr val="FFFF00"/>
                </a:highlight>
                <a:latin typeface="Cascadia Mono" panose="020B0609020000020004" pitchFamily="49" charset="0"/>
              </a:rPr>
              <a:t>await</a:t>
            </a:r>
            <a:r>
              <a:rPr lang="en-US" sz="1050" dirty="0">
                <a:solidFill>
                  <a:srgbClr val="000000"/>
                </a:solidFill>
                <a:highlight>
                  <a:srgbClr val="FFFF00"/>
                </a:highlight>
                <a:latin typeface="Cascadia Mono" panose="020B0609020000020004" pitchFamily="49" charset="0"/>
              </a:rPr>
              <a:t> </a:t>
            </a:r>
            <a:r>
              <a:rPr lang="en-US" sz="1050" dirty="0" err="1">
                <a:solidFill>
                  <a:srgbClr val="000000"/>
                </a:solidFill>
                <a:highlight>
                  <a:srgbClr val="FFFF00"/>
                </a:highlight>
                <a:latin typeface="Cascadia Mono" panose="020B0609020000020004" pitchFamily="49" charset="0"/>
              </a:rPr>
              <a:t>httpContext.Response.WriteAsync</a:t>
            </a:r>
            <a:r>
              <a:rPr lang="en-US" sz="1050" dirty="0">
                <a:solidFill>
                  <a:srgbClr val="000000"/>
                </a:solidFill>
                <a:highlight>
                  <a:srgbClr val="FFFF00"/>
                </a:highlight>
                <a:latin typeface="Cascadia Mono" panose="020B0609020000020004" pitchFamily="49" charset="0"/>
              </a:rPr>
              <a:t>(</a:t>
            </a:r>
            <a:r>
              <a:rPr lang="en-US" sz="1050" dirty="0">
                <a:solidFill>
                  <a:srgbClr val="A31515"/>
                </a:solidFill>
                <a:highlight>
                  <a:srgbClr val="FFFF00"/>
                </a:highlight>
                <a:latin typeface="Cascadia Mono" panose="020B0609020000020004" pitchFamily="49" charset="0"/>
              </a:rPr>
              <a:t>"Hello </a:t>
            </a:r>
            <a:r>
              <a:rPr lang="en-US" sz="1050" dirty="0" err="1">
                <a:solidFill>
                  <a:srgbClr val="A31515"/>
                </a:solidFill>
                <a:highlight>
                  <a:srgbClr val="FFFF00"/>
                </a:highlight>
                <a:latin typeface="Cascadia Mono" panose="020B0609020000020004" pitchFamily="49" charset="0"/>
              </a:rPr>
              <a:t>mmmmm</a:t>
            </a:r>
            <a:r>
              <a:rPr lang="en-US" sz="1050" dirty="0">
                <a:solidFill>
                  <a:srgbClr val="A31515"/>
                </a:solidFill>
                <a:highlight>
                  <a:srgbClr val="FFFF00"/>
                </a:highlight>
                <a:latin typeface="Cascadia Mono" panose="020B0609020000020004" pitchFamily="49" charset="0"/>
              </a:rPr>
              <a:t> Custom Middleware \n"</a:t>
            </a:r>
            <a:r>
              <a:rPr lang="en-US" sz="1050" dirty="0">
                <a:solidFill>
                  <a:srgbClr val="000000"/>
                </a:solidFill>
                <a:highlight>
                  <a:srgbClr val="FFFF00"/>
                </a:highlight>
                <a:latin typeface="Cascadia Mono" panose="020B0609020000020004" pitchFamily="49" charset="0"/>
              </a:rPr>
              <a:t>);</a:t>
            </a:r>
          </a:p>
          <a:p>
            <a:r>
              <a:rPr lang="en-IN" sz="1050" dirty="0">
                <a:solidFill>
                  <a:srgbClr val="000000"/>
                </a:solidFill>
                <a:highlight>
                  <a:srgbClr val="FFFF00"/>
                </a:highlight>
                <a:latin typeface="Cascadia Mono" panose="020B0609020000020004" pitchFamily="49" charset="0"/>
              </a:rPr>
              <a:t>            </a:t>
            </a:r>
            <a:r>
              <a:rPr lang="en-IN" sz="1050" dirty="0">
                <a:solidFill>
                  <a:srgbClr val="0000FF"/>
                </a:solidFill>
                <a:highlight>
                  <a:srgbClr val="FFFF00"/>
                </a:highlight>
                <a:latin typeface="Cascadia Mono" panose="020B0609020000020004" pitchFamily="49" charset="0"/>
              </a:rPr>
              <a:t>await</a:t>
            </a:r>
            <a:r>
              <a:rPr lang="en-IN" sz="1050" dirty="0">
                <a:solidFill>
                  <a:srgbClr val="000000"/>
                </a:solidFill>
                <a:highlight>
                  <a:srgbClr val="FFFF00"/>
                </a:highlight>
                <a:latin typeface="Cascadia Mono" panose="020B0609020000020004" pitchFamily="49" charset="0"/>
              </a:rPr>
              <a:t> _next(</a:t>
            </a:r>
            <a:r>
              <a:rPr lang="en-IN" sz="1050" dirty="0" err="1">
                <a:solidFill>
                  <a:srgbClr val="000000"/>
                </a:solidFill>
                <a:highlight>
                  <a:srgbClr val="FFFF00"/>
                </a:highlight>
                <a:latin typeface="Cascadia Mono" panose="020B0609020000020004" pitchFamily="49" charset="0"/>
              </a:rPr>
              <a:t>httpContext</a:t>
            </a:r>
            <a:r>
              <a:rPr lang="en-IN" sz="1050" dirty="0">
                <a:solidFill>
                  <a:srgbClr val="000000"/>
                </a:solidFill>
                <a:highlight>
                  <a:srgbClr val="FFFF00"/>
                </a:highlight>
                <a:latin typeface="Cascadia Mono" panose="020B0609020000020004" pitchFamily="49" charset="0"/>
              </a:rPr>
              <a:t>);</a:t>
            </a:r>
          </a:p>
          <a:p>
            <a:r>
              <a:rPr lang="en-IN" sz="1050" dirty="0">
                <a:solidFill>
                  <a:srgbClr val="000000"/>
                </a:solidFill>
                <a:highlight>
                  <a:srgbClr val="FFFF00"/>
                </a:highlight>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Extension method used to add the middleware to the HTTP request pipeline.</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MiddlewareExtensions</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static</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IApplicationBuilder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UseMiddleware</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this</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IApplicationBuilder</a:t>
            </a:r>
            <a:r>
              <a:rPr lang="en-US" sz="1050" dirty="0">
                <a:solidFill>
                  <a:srgbClr val="000000"/>
                </a:solidFill>
                <a:latin typeface="Cascadia Mono" panose="020B0609020000020004" pitchFamily="49" charset="0"/>
              </a:rPr>
              <a:t> builder)</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builder.UseMiddleware</a:t>
            </a:r>
            <a:r>
              <a:rPr lang="en-IN" sz="1050" dirty="0">
                <a:solidFill>
                  <a:srgbClr val="000000"/>
                </a:solidFill>
                <a:latin typeface="Cascadia Mono" panose="020B0609020000020004" pitchFamily="49" charset="0"/>
              </a:rPr>
              <a:t>&lt;Middleware&gt;();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679717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7CEBB0-642F-2B1B-2410-5B43044F52CA}"/>
              </a:ext>
            </a:extLst>
          </p:cNvPr>
          <p:cNvSpPr txBox="1"/>
          <p:nvPr/>
        </p:nvSpPr>
        <p:spPr>
          <a:xfrm>
            <a:off x="869622" y="74251"/>
            <a:ext cx="6539845" cy="7709803"/>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Microsoft.AspNetCore.Builder</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MVCMiddleware.Models</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MVCMiddleware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var</a:t>
            </a:r>
            <a:r>
              <a:rPr lang="en-US" sz="1100" dirty="0">
                <a:solidFill>
                  <a:srgbClr val="000000"/>
                </a:solidFill>
                <a:latin typeface="Cascadia Mono" panose="020B0609020000020004" pitchFamily="49" charset="0"/>
              </a:rPr>
              <a:t> builder = </a:t>
            </a:r>
            <a:r>
              <a:rPr lang="en-US" sz="1100" dirty="0" err="1">
                <a:solidFill>
                  <a:srgbClr val="000000"/>
                </a:solidFill>
                <a:latin typeface="Cascadia Mono" panose="020B0609020000020004" pitchFamily="49" charset="0"/>
              </a:rPr>
              <a:t>WebApplication.CreateBuilder</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Add services to the container.</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builder.Services.AddControllersWithViews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builder.Services.AddTransient</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CustomMiddlewareDemo</a:t>
            </a:r>
            <a:r>
              <a:rPr lang="en-IN" sz="1100" dirty="0">
                <a:solidFill>
                  <a:srgbClr val="000000"/>
                </a:solidFill>
                <a:latin typeface="Cascadia Mono" panose="020B0609020000020004" pitchFamily="49" charset="0"/>
              </a:rPr>
              <a:t>&gt;();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app = </a:t>
            </a:r>
            <a:r>
              <a:rPr lang="en-IN" sz="1100" dirty="0" err="1">
                <a:solidFill>
                  <a:srgbClr val="000000"/>
                </a:solidFill>
                <a:latin typeface="Cascadia Mono" panose="020B0609020000020004" pitchFamily="49" charset="0"/>
              </a:rPr>
              <a:t>builder.Build</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Configure the HTTP request pipeline.</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app.Environment.IsDevelopment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app.UseExceptionHandler</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"/Home/Error"</a:t>
            </a:r>
            <a:r>
              <a:rPr lang="en-IN"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app.UseHsts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app.UseMiddleware</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CustomMiddlewareDemo</a:t>
            </a:r>
            <a:r>
              <a:rPr lang="en-IN" sz="1100" dirty="0">
                <a:solidFill>
                  <a:srgbClr val="000000"/>
                </a:solidFill>
                <a:latin typeface="Cascadia Mono" panose="020B0609020000020004" pitchFamily="49" charset="0"/>
              </a:rPr>
              <a:t>&gt;();</a:t>
            </a:r>
          </a:p>
          <a:p>
            <a:r>
              <a:rPr lang="en-IN" sz="1100" dirty="0">
                <a:solidFill>
                  <a:srgbClr val="000000"/>
                </a:solidFill>
                <a:latin typeface="Cascadia Mono" panose="020B0609020000020004" pitchFamily="49" charset="0"/>
              </a:rPr>
              <a:t>            </a:t>
            </a:r>
            <a:r>
              <a:rPr lang="en-IN" sz="1100" dirty="0" err="1">
                <a:solidFill>
                  <a:srgbClr val="000000"/>
                </a:solidFill>
                <a:highlight>
                  <a:srgbClr val="FFFF00"/>
                </a:highlight>
                <a:latin typeface="Cascadia Mono" panose="020B0609020000020004" pitchFamily="49" charset="0"/>
              </a:rPr>
              <a:t>app.UseMiddleware</a:t>
            </a:r>
            <a:r>
              <a:rPr lang="en-IN" sz="1100" dirty="0">
                <a:solidFill>
                  <a:srgbClr val="000000"/>
                </a:solidFill>
                <a:highlight>
                  <a:srgbClr val="FFFF00"/>
                </a:highlight>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app.Run</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async</a:t>
            </a:r>
            <a:r>
              <a:rPr lang="en-IN" sz="1100" dirty="0">
                <a:solidFill>
                  <a:srgbClr val="000000"/>
                </a:solidFill>
                <a:latin typeface="Cascadia Mono" panose="020B0609020000020004" pitchFamily="49" charset="0"/>
              </a:rPr>
              <a:t> context =&gt; </a:t>
            </a:r>
            <a:r>
              <a:rPr lang="en-IN" sz="1100" dirty="0">
                <a:solidFill>
                  <a:srgbClr val="0000FF"/>
                </a:solidFill>
                <a:latin typeface="Cascadia Mono" panose="020B0609020000020004" pitchFamily="49" charset="0"/>
              </a:rPr>
              <a:t>await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context.Response.WriteAsync</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"Hello"</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app.UseHttpsRedirection</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app.UseStaticFiles</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app.UseRouting</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app.UseAuthorization</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app.MapControllerRoute</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//name: "default",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//pattern: "{controller=Home}/{action=Index}/{id?}");</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app.Run</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2800" dirty="0"/>
          </a:p>
        </p:txBody>
      </p:sp>
    </p:spTree>
    <p:extLst>
      <p:ext uri="{BB962C8B-B14F-4D97-AF65-F5344CB8AC3E}">
        <p14:creationId xmlns:p14="http://schemas.microsoft.com/office/powerpoint/2010/main" val="903445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FAA5CC-01A1-C83E-83AB-03EA82D12EFE}"/>
              </a:ext>
            </a:extLst>
          </p:cNvPr>
          <p:cNvSpPr txBox="1"/>
          <p:nvPr/>
        </p:nvSpPr>
        <p:spPr>
          <a:xfrm>
            <a:off x="3047215" y="3108191"/>
            <a:ext cx="6094428" cy="646331"/>
          </a:xfrm>
          <a:prstGeom prst="rect">
            <a:avLst/>
          </a:prstGeom>
          <a:noFill/>
        </p:spPr>
        <p:txBody>
          <a:bodyPr wrap="square">
            <a:spAutoFit/>
          </a:bodyPr>
          <a:lstStyle/>
          <a:p>
            <a:r>
              <a:rPr lang="en-IN" dirty="0"/>
              <a:t>https://www.syncfusion.com/blogs/post/global-exception-handling-in-net-6.aspx</a:t>
            </a:r>
          </a:p>
        </p:txBody>
      </p:sp>
    </p:spTree>
    <p:extLst>
      <p:ext uri="{BB962C8B-B14F-4D97-AF65-F5344CB8AC3E}">
        <p14:creationId xmlns:p14="http://schemas.microsoft.com/office/powerpoint/2010/main" val="3750232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2343</Words>
  <Application>Microsoft Office PowerPoint</Application>
  <PresentationFormat>Widescreen</PresentationFormat>
  <Paragraphs>332</Paragraphs>
  <Slides>13</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Calibri Light</vt:lpstr>
      <vt:lpstr>Cascadia Mono</vt:lpstr>
      <vt:lpstr>Consolas</vt:lpstr>
      <vt:lpstr>open sans</vt:lpstr>
      <vt:lpstr>open sans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How to write custom middleware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17</cp:revision>
  <dcterms:created xsi:type="dcterms:W3CDTF">2023-06-22T05:20:24Z</dcterms:created>
  <dcterms:modified xsi:type="dcterms:W3CDTF">2024-11-29T14:14:02Z</dcterms:modified>
</cp:coreProperties>
</file>