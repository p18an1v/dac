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63" r:id="rId3"/>
    <p:sldId id="264" r:id="rId4"/>
    <p:sldId id="265" r:id="rId5"/>
    <p:sldId id="256" r:id="rId6"/>
    <p:sldId id="261" r:id="rId7"/>
    <p:sldId id="266" r:id="rId8"/>
    <p:sldId id="257" r:id="rId9"/>
    <p:sldId id="258" r:id="rId10"/>
    <p:sldId id="259" r:id="rId11"/>
    <p:sldId id="262"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3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D4508-C9B2-EBBA-9C2C-99055D8E58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42F07C-D4CF-1470-4422-80387C980D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DE8305-7BA9-B0F6-FAAF-EEA6E66904C7}"/>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C2151DB5-4C72-7058-2CFA-8712994E3F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B53132-C1E7-6FCF-97B7-AC9D2E35F3F6}"/>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212427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ADED-3C03-CC55-A7E1-3CB141F5CF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863080-029D-18C5-1B76-E99BE0CC4F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3D0C99-BC62-65FE-35F5-C08ED89EF43A}"/>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8FB02135-B156-A9D4-8D9A-0A89DB7003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77201E-100E-E21D-6FF3-BF338A98E73B}"/>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2609509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DBEB5-E4A6-A5D2-CD4E-631287396E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E952C2-FADE-0AD0-6F6E-E576011C5E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0D0C5E-74FF-3852-B450-B0FE13387ACF}"/>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35A62C59-010B-B9B5-B887-232D1F8AA0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C2F6CD-A343-14D4-D9CB-9C10B7FC070F}"/>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2976003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AAFB-56D4-DD8A-D05E-F942F46BB4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CD566D-75E0-482D-8AC5-51890032F1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628281-F151-1C91-E1DB-70FCD9A4F1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1B4AD2-8CD0-08EC-0F2F-D38F6936183A}"/>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6" name="Footer Placeholder 5">
            <a:extLst>
              <a:ext uri="{FF2B5EF4-FFF2-40B4-BE49-F238E27FC236}">
                <a16:creationId xmlns:a16="http://schemas.microsoft.com/office/drawing/2014/main" id="{B3E53A34-3358-882F-4A54-174053B084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F48C2E-7D29-826F-6A0C-F911D6694064}"/>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284308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E3015-0F3E-34F1-F409-C4B740998D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628E0E-508B-DBD1-574C-EAF6992226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CD969E-BB4E-3B1F-A10D-D1837498D1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5E3D58-7D14-FFB1-E012-58C39A2D40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5FAD37-9792-63B9-7349-9CC221AAC6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FF5559-AE47-1AF1-A919-DAF43A04E6D1}"/>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8" name="Footer Placeholder 7">
            <a:extLst>
              <a:ext uri="{FF2B5EF4-FFF2-40B4-BE49-F238E27FC236}">
                <a16:creationId xmlns:a16="http://schemas.microsoft.com/office/drawing/2014/main" id="{9001E040-288A-F04A-BFA6-3F663B8DBD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7CF1E1F-3489-2D7C-C35B-71A5AF539903}"/>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3474960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389CD-A610-1A99-A083-C759EBEB9EF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69DA8B9-B276-7065-D162-AC5B9900829A}"/>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4" name="Footer Placeholder 3">
            <a:extLst>
              <a:ext uri="{FF2B5EF4-FFF2-40B4-BE49-F238E27FC236}">
                <a16:creationId xmlns:a16="http://schemas.microsoft.com/office/drawing/2014/main" id="{599FF863-0903-61A5-BEDE-6B00DB16381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381EFD0-B082-309C-848B-F1ED89DA653B}"/>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1673475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EDA34-237E-9800-8F42-E873A321FDC8}"/>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3" name="Footer Placeholder 2">
            <a:extLst>
              <a:ext uri="{FF2B5EF4-FFF2-40B4-BE49-F238E27FC236}">
                <a16:creationId xmlns:a16="http://schemas.microsoft.com/office/drawing/2014/main" id="{DBCFF5EF-F719-47F5-3E62-F62AEA940F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F89AD80-7171-D2A5-7E0D-C7A964BBBB95}"/>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0834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85F2-ED45-D208-7AA1-29F7D78C9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1E7DB25-061A-3F81-8540-CE11585A92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0B91D7-783E-7C42-498B-0D61713C01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7FD889-2319-8604-6036-F82C422A2448}"/>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6" name="Footer Placeholder 5">
            <a:extLst>
              <a:ext uri="{FF2B5EF4-FFF2-40B4-BE49-F238E27FC236}">
                <a16:creationId xmlns:a16="http://schemas.microsoft.com/office/drawing/2014/main" id="{BFA63D23-59A2-B7D2-ADB5-43F1722FA8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E0C78-F293-EEE3-9C43-B613013B3840}"/>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3103429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09FA-F54B-0672-684A-19CBB44DEB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E6A271E-6690-D37D-FAAE-FA811E02D2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2D77F3-B916-8CB4-24BE-55A1021A6E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BA49CE-DE0A-2CA6-0AB6-E5A134F4E6DC}"/>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6" name="Footer Placeholder 5">
            <a:extLst>
              <a:ext uri="{FF2B5EF4-FFF2-40B4-BE49-F238E27FC236}">
                <a16:creationId xmlns:a16="http://schemas.microsoft.com/office/drawing/2014/main" id="{6E011D7C-6E6D-DD78-2528-55730DBF1C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06010B-ACBE-13FD-6BCC-87CD30CA36C3}"/>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1870836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16A1-41CC-286E-2859-EA712CD47C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E66962-E9E2-DCCB-2686-59FE577784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F28161-60D1-1F08-9E2F-101FA3422F7B}"/>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2A5F73EF-DBD4-24C4-1BD3-954E02807A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0D3603-1BB5-57A2-7995-0DC8719D9E02}"/>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3480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BDDA7E-907F-F7CC-B6D0-B563BB9F6C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4F697A-FE3A-1EAD-7820-EDBEC411A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31E4C1-A4A3-898A-6601-594308B00054}"/>
              </a:ext>
            </a:extLst>
          </p:cNvPr>
          <p:cNvSpPr>
            <a:spLocks noGrp="1"/>
          </p:cNvSpPr>
          <p:nvPr>
            <p:ph type="dt" sz="half" idx="10"/>
          </p:nvPr>
        </p:nvSpPr>
        <p:spPr/>
        <p:txBody>
          <a:body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7B29DE23-6648-BFD1-D5D3-8AFB0BF292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4A4D97-EA0D-F2E1-946C-BE9D0985D020}"/>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517203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D2B0-4A09-4077-A16F-47EF53C7B9AB}"/>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F999B8F7-FB15-4E52-99EA-D5C8DA45F0CB}"/>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2A00E3-0B9B-461E-8769-6733F6B06C82}"/>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B2DB9E8-792D-48AB-B5DC-6339AF8C50C3}"/>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8AE14BD-A444-4EE6-9F1F-9FDA24758213}"/>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
        <p:nvSpPr>
          <p:cNvPr id="8" name="Rectangle 7">
            <a:extLst>
              <a:ext uri="{FF2B5EF4-FFF2-40B4-BE49-F238E27FC236}">
                <a16:creationId xmlns:a16="http://schemas.microsoft.com/office/drawing/2014/main" id="{BABFEB1C-F450-428A-83D7-340C83DC860D}"/>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473028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AC40-2D59-4D63-A85F-88A1B05AB556}"/>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2D14418-9775-4183-8BED-2D31C2F1878C}"/>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8AB95571-159D-4E16-9442-1A64A5950E6D}"/>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9178B35A-86EE-4F1D-B326-E2422DD54D04}"/>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pic>
        <p:nvPicPr>
          <p:cNvPr id="8" name="Picture 7">
            <a:extLst>
              <a:ext uri="{FF2B5EF4-FFF2-40B4-BE49-F238E27FC236}">
                <a16:creationId xmlns:a16="http://schemas.microsoft.com/office/drawing/2014/main" id="{EFFFF0A3-15C6-4568-91D3-BE507A6C52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99" y="-76200"/>
            <a:ext cx="1710265" cy="857534"/>
          </a:xfrm>
          <a:prstGeom prst="rect">
            <a:avLst/>
          </a:prstGeom>
        </p:spPr>
      </p:pic>
      <p:sp>
        <p:nvSpPr>
          <p:cNvPr id="10" name="Rectangle 9">
            <a:extLst>
              <a:ext uri="{FF2B5EF4-FFF2-40B4-BE49-F238E27FC236}">
                <a16:creationId xmlns:a16="http://schemas.microsoft.com/office/drawing/2014/main" id="{B441817B-44DC-4B7A-A4C7-D59F40D65C9C}"/>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138286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270A-6F8F-4629-BAF7-7FD05F1541E8}"/>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F87B2F-F56F-4E5D-9CBE-9507142DA187}"/>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206FFD-1B08-439C-A38C-0E7806B715BD}"/>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4674952C-2D91-4955-807D-D44B144062EA}"/>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C85896C4-BDA4-4F8B-B0CB-A3F2D6DF2912}"/>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
        <p:nvSpPr>
          <p:cNvPr id="10" name="Rectangle 9">
            <a:extLst>
              <a:ext uri="{FF2B5EF4-FFF2-40B4-BE49-F238E27FC236}">
                <a16:creationId xmlns:a16="http://schemas.microsoft.com/office/drawing/2014/main" id="{2C19E40E-1E09-4FBD-93DB-5D61896E4676}"/>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219650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E53C5E-BCDC-4D34-9F70-040FD30B4319}"/>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F84DEE8A-AA47-4E02-ACE2-30603FDF46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2DF106-7445-4B25-88A6-F8375332AE0D}"/>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A886E2C9-014B-4C9D-865C-277DE1779706}"/>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D1D34B14-67D2-4200-A9A1-E02FB5F859D0}"/>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
        <p:nvSpPr>
          <p:cNvPr id="11" name="Rectangle 10">
            <a:extLst>
              <a:ext uri="{FF2B5EF4-FFF2-40B4-BE49-F238E27FC236}">
                <a16:creationId xmlns:a16="http://schemas.microsoft.com/office/drawing/2014/main" id="{632970CB-1007-426F-8BAF-20E17DC48EBB}"/>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206660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03A8-E3C2-4521-BAB0-EEA84642CD60}"/>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05B118-C53A-4E78-BEC8-3F4EAA240CA0}"/>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45913-94E8-4A79-8EF4-F9C118ED014D}"/>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531397-8C84-4B9B-B5B8-CEEEFC58857E}"/>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FDF4B68-3FC3-4FB2-A053-7B0FCDAFFEAC}"/>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58C094-6BBF-4769-B9C8-0267561CC4F6}"/>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F65B6ED7-A64A-4564-A7BC-AF2199FEF3D8}"/>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15FDBFF9-C2DC-47A6-A290-9D0B53D2A49B}"/>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pic>
        <p:nvPicPr>
          <p:cNvPr id="11" name="Picture 10">
            <a:extLst>
              <a:ext uri="{FF2B5EF4-FFF2-40B4-BE49-F238E27FC236}">
                <a16:creationId xmlns:a16="http://schemas.microsoft.com/office/drawing/2014/main" id="{F44B7B4C-9242-41F9-9EFA-37803263D9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710265" cy="857534"/>
          </a:xfrm>
          <a:prstGeom prst="rect">
            <a:avLst/>
          </a:prstGeom>
        </p:spPr>
      </p:pic>
      <p:sp>
        <p:nvSpPr>
          <p:cNvPr id="13" name="Rectangle 12">
            <a:extLst>
              <a:ext uri="{FF2B5EF4-FFF2-40B4-BE49-F238E27FC236}">
                <a16:creationId xmlns:a16="http://schemas.microsoft.com/office/drawing/2014/main" id="{5ADFB1EB-EA8A-4B40-B65B-E5F97A5BDEA6}"/>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89432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67875B-CA21-4A34-815A-AC8E46B65D10}"/>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22051392-43F0-4389-8EE8-963F90F1AC58}"/>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399F3021-3732-4E7B-B105-8D53733AED62}"/>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37389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105B1C-D14F-4038-92D6-2AD4B375CE08}"/>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8439ADE9-7ED1-44FE-9A63-2DF37671EAE7}"/>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94E109B7-7EF5-44C2-8821-DFB5084812E5}"/>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130401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C241-CE34-485A-B25B-5B17F619639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6EDE76-2F56-4722-A19F-90CF92396944}"/>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2879C-E670-44C6-B777-E4CC693E3ADC}"/>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2F925B6-8CF3-455D-B73D-119D0B4E441A}"/>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DC7BEC62-2B2D-47D8-814E-CEB11FBDE0BA}"/>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CD4B180D-9A69-407A-B767-849DC3F09309}"/>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00514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B198-AFEA-40C2-BE37-C68CFDF483DD}"/>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B8C5B-9A98-470A-8110-499A6518DD56}"/>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F09FA6F1-1813-4B57-B473-833646D2E825}"/>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4D1A94-0748-4E41-9D2F-C83D9F732710}"/>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34FA210D-43D8-47ED-9949-2CED61B4BAD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DE342B31-3A2B-4E1F-B426-BCF9E3DD68BE}"/>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706030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AF5E7-A24A-4D4F-9251-D3C3CD538475}"/>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A5469C26-5F35-4403-BB25-270B7A428F03}"/>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37C1B4A1-1332-4B3D-9570-914A118EEFE5}"/>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877695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866256-29E0-4FB4-B70D-23F0615B4331}"/>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49EE83-F08B-4085-92DD-887191E74932}"/>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C09255-745E-47C1-A734-54C4277C6AAF}"/>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FEE1911-73E7-44C4-8A47-7A3E73020DEE}"/>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EA76C518-9C28-479C-BDDC-CCEAD9D83CC2}"/>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178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22BF8B-654C-2F12-4046-E70703C371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16728B-A586-BAFE-9DCC-EAFD6DF137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620C42-98A1-1D39-8F61-1FDA53FE3D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F467D2-E74D-46C8-BA02-6E672330983D}" type="datetimeFigureOut">
              <a:rPr lang="en-IN" smtClean="0"/>
              <a:t>06-02-2025</a:t>
            </a:fld>
            <a:endParaRPr lang="en-IN"/>
          </a:p>
        </p:txBody>
      </p:sp>
      <p:sp>
        <p:nvSpPr>
          <p:cNvPr id="5" name="Footer Placeholder 4">
            <a:extLst>
              <a:ext uri="{FF2B5EF4-FFF2-40B4-BE49-F238E27FC236}">
                <a16:creationId xmlns:a16="http://schemas.microsoft.com/office/drawing/2014/main" id="{E21281C6-FB79-4472-C7B1-083C10D8A0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12AE8A-AF99-6B94-17AB-8D7631027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630799-1BE9-4B39-A2B1-458EB8870F9F}" type="slidenum">
              <a:rPr lang="en-IN" smtClean="0"/>
              <a:t>‹#›</a:t>
            </a:fld>
            <a:endParaRPr lang="en-IN"/>
          </a:p>
        </p:txBody>
      </p:sp>
    </p:spTree>
    <p:extLst>
      <p:ext uri="{BB962C8B-B14F-4D97-AF65-F5344CB8AC3E}">
        <p14:creationId xmlns:p14="http://schemas.microsoft.com/office/powerpoint/2010/main" val="3313660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40FBA-4B31-4400-8703-448B6BB92946}"/>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A55A2560-6694-4066-9BBE-CDBCA95271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CE10E3E-5C9C-477B-9737-59527A0399B4}"/>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solidFill>
                  <a:prstClr val="black">
                    <a:tint val="75000"/>
                  </a:prstClr>
                </a:solidFill>
              </a:rPr>
              <a:pPr/>
              <a:t>2/6/2025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3D5B4180-7DA2-4E7A-9EAC-CB2B7A99B58B}"/>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485689F4-61E0-46DF-9DC0-37CC35E22E28}"/>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pic>
        <p:nvPicPr>
          <p:cNvPr id="8" name="Picture 7">
            <a:extLst>
              <a:ext uri="{FF2B5EF4-FFF2-40B4-BE49-F238E27FC236}">
                <a16:creationId xmlns:a16="http://schemas.microsoft.com/office/drawing/2014/main" id="{662FD64A-3AB0-4FC1-8ED4-0FDB131B238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1599" y="-76200"/>
            <a:ext cx="1710265" cy="857534"/>
          </a:xfrm>
          <a:prstGeom prst="rect">
            <a:avLst/>
          </a:prstGeom>
        </p:spPr>
      </p:pic>
      <p:sp>
        <p:nvSpPr>
          <p:cNvPr id="10" name="Rectangle 9">
            <a:extLst>
              <a:ext uri="{FF2B5EF4-FFF2-40B4-BE49-F238E27FC236}">
                <a16:creationId xmlns:a16="http://schemas.microsoft.com/office/drawing/2014/main" id="{877C570F-9E57-4117-ADC2-587B1CB76B7C}"/>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534382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78FD-B8E3-4F06-AA2F-ADC044FB5795}"/>
              </a:ext>
            </a:extLst>
          </p:cNvPr>
          <p:cNvSpPr>
            <a:spLocks noGrp="1"/>
          </p:cNvSpPr>
          <p:nvPr>
            <p:ph type="title"/>
          </p:nvPr>
        </p:nvSpPr>
        <p:spPr>
          <a:xfrm>
            <a:off x="2743200" y="152400"/>
            <a:ext cx="5391150" cy="625474"/>
          </a:xfrm>
        </p:spPr>
        <p:txBody>
          <a:bodyPr/>
          <a:lstStyle/>
          <a:p>
            <a:r>
              <a:rPr lang="en-US" dirty="0"/>
              <a:t>What is a JWT Token?</a:t>
            </a:r>
            <a:endParaRPr lang="en-IN" dirty="0"/>
          </a:p>
        </p:txBody>
      </p:sp>
      <p:sp>
        <p:nvSpPr>
          <p:cNvPr id="3" name="Content Placeholder 2">
            <a:extLst>
              <a:ext uri="{FF2B5EF4-FFF2-40B4-BE49-F238E27FC236}">
                <a16:creationId xmlns:a16="http://schemas.microsoft.com/office/drawing/2014/main" id="{A5A5650B-D88A-4C5D-AFF6-6DCDCFE98A2C}"/>
              </a:ext>
            </a:extLst>
          </p:cNvPr>
          <p:cNvSpPr>
            <a:spLocks noGrp="1"/>
          </p:cNvSpPr>
          <p:nvPr>
            <p:ph idx="1"/>
          </p:nvPr>
        </p:nvSpPr>
        <p:spPr>
          <a:xfrm>
            <a:off x="228600" y="777874"/>
            <a:ext cx="11506200" cy="5399090"/>
          </a:xfrm>
        </p:spPr>
        <p:txBody>
          <a:bodyPr>
            <a:normAutofit/>
          </a:bodyPr>
          <a:lstStyle/>
          <a:p>
            <a:r>
              <a:rPr lang="en-US" dirty="0"/>
              <a:t>JWT stands for JSON Web Token. It is open standard and defines a better way for transferring data securely between two entities (client and server).</a:t>
            </a:r>
          </a:p>
          <a:p>
            <a:endParaRPr lang="en-US" dirty="0"/>
          </a:p>
          <a:p>
            <a:r>
              <a:rPr lang="en-US" dirty="0"/>
              <a:t>A JWT is digitally signed using a secret key by a token provider or authentication server. A JWT helps the resource server verify the token data using the same secret key, so that you can trust the data.</a:t>
            </a:r>
          </a:p>
          <a:p>
            <a:endParaRPr lang="en-US" dirty="0"/>
          </a:p>
          <a:p>
            <a:pPr marL="0" indent="0">
              <a:buNone/>
            </a:pPr>
            <a:r>
              <a:rPr lang="en-US" dirty="0"/>
              <a:t>JWT consists of the following three parts:</a:t>
            </a:r>
          </a:p>
          <a:p>
            <a:endParaRPr lang="en-US" dirty="0"/>
          </a:p>
          <a:p>
            <a:r>
              <a:rPr lang="en-US" b="1" dirty="0"/>
              <a:t>Header</a:t>
            </a:r>
            <a:r>
              <a:rPr lang="en-US" dirty="0"/>
              <a:t>: encoded data of token type and the algorithm used to sign the data.</a:t>
            </a:r>
          </a:p>
          <a:p>
            <a:endParaRPr lang="en-US" dirty="0"/>
          </a:p>
          <a:p>
            <a:r>
              <a:rPr lang="en-US" b="1" dirty="0"/>
              <a:t>Payload</a:t>
            </a:r>
            <a:r>
              <a:rPr lang="en-US" dirty="0"/>
              <a:t>: encoded data of claims intended to share.</a:t>
            </a:r>
          </a:p>
          <a:p>
            <a:endParaRPr lang="en-US" dirty="0"/>
          </a:p>
          <a:p>
            <a:r>
              <a:rPr lang="en-US" b="1" dirty="0"/>
              <a:t>Signature</a:t>
            </a:r>
            <a:r>
              <a:rPr lang="en-US" dirty="0"/>
              <a:t>: created by signing (encoded header + encoded payload) using a secret key</a:t>
            </a:r>
            <a:endParaRPr lang="en-IN" dirty="0"/>
          </a:p>
        </p:txBody>
      </p:sp>
    </p:spTree>
    <p:extLst>
      <p:ext uri="{BB962C8B-B14F-4D97-AF65-F5344CB8AC3E}">
        <p14:creationId xmlns:p14="http://schemas.microsoft.com/office/powerpoint/2010/main" val="2154875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15DAF2-0EA6-4B4B-99E2-75BCF16EFC6F}"/>
              </a:ext>
            </a:extLst>
          </p:cNvPr>
          <p:cNvSpPr>
            <a:spLocks noGrp="1"/>
          </p:cNvSpPr>
          <p:nvPr>
            <p:ph idx="1"/>
          </p:nvPr>
        </p:nvSpPr>
        <p:spPr>
          <a:xfrm>
            <a:off x="333375" y="742950"/>
            <a:ext cx="11258550" cy="5434014"/>
          </a:xfrm>
        </p:spPr>
        <p:txBody>
          <a:bodyPr>
            <a:normAutofit fontScale="77500" lnSpcReduction="20000"/>
          </a:bodyPr>
          <a:lstStyle/>
          <a:p>
            <a:pPr marL="0" indent="0">
              <a:buNone/>
            </a:pPr>
            <a:r>
              <a:rPr lang="en-US" b="1" dirty="0"/>
              <a:t>Token workflow</a:t>
            </a:r>
          </a:p>
          <a:p>
            <a:pPr marL="0" indent="0">
              <a:buNone/>
            </a:pPr>
            <a:r>
              <a:rPr lang="en-US" b="1" i="0" dirty="0">
                <a:solidFill>
                  <a:srgbClr val="3D3D3D"/>
                </a:solidFill>
                <a:effectLst/>
                <a:latin typeface="Open Sans"/>
              </a:rPr>
              <a:t>Step 1: Client requesting token</a:t>
            </a:r>
            <a:endParaRPr lang="en-US" b="0" i="0" dirty="0">
              <a:solidFill>
                <a:srgbClr val="3D3D3D"/>
              </a:solidFill>
              <a:effectLst/>
              <a:latin typeface="Open Sans"/>
            </a:endParaRPr>
          </a:p>
          <a:p>
            <a:pPr algn="l"/>
            <a:r>
              <a:rPr lang="en-US" b="0" i="0" dirty="0">
                <a:solidFill>
                  <a:srgbClr val="3D3D3D"/>
                </a:solidFill>
                <a:effectLst/>
                <a:latin typeface="Open Sans"/>
              </a:rPr>
              <a:t>The client sends a request to the authentication server with the necessary information to prove its identity.</a:t>
            </a:r>
          </a:p>
          <a:p>
            <a:pPr marL="0" indent="0">
              <a:buNone/>
            </a:pPr>
            <a:r>
              <a:rPr lang="en-US" b="1" i="0" dirty="0">
                <a:solidFill>
                  <a:srgbClr val="3D3D3D"/>
                </a:solidFill>
                <a:effectLst/>
                <a:latin typeface="Open Sans"/>
              </a:rPr>
              <a:t>Step 2: Token creation</a:t>
            </a:r>
            <a:endParaRPr lang="en-US" b="0" i="0" dirty="0">
              <a:solidFill>
                <a:srgbClr val="3D3D3D"/>
              </a:solidFill>
              <a:effectLst/>
              <a:latin typeface="Open Sans"/>
            </a:endParaRPr>
          </a:p>
          <a:p>
            <a:pPr algn="l"/>
            <a:r>
              <a:rPr lang="en-US" b="0" i="0" dirty="0">
                <a:solidFill>
                  <a:srgbClr val="3D3D3D"/>
                </a:solidFill>
                <a:effectLst/>
                <a:latin typeface="Open Sans"/>
              </a:rPr>
              <a:t>The authentication server receives the token request and verifies the identity. If it is found valid, a token will be created (as explained previously) with the necessary claims, and a JWT token will be sent back to the client.</a:t>
            </a:r>
          </a:p>
          <a:p>
            <a:pPr marL="0" indent="0">
              <a:buNone/>
            </a:pPr>
            <a:r>
              <a:rPr lang="en-US" b="1" i="0" dirty="0">
                <a:solidFill>
                  <a:srgbClr val="3D3D3D"/>
                </a:solidFill>
                <a:effectLst/>
                <a:latin typeface="Open Sans"/>
              </a:rPr>
              <a:t>Step 3: Client sends token to resource server</a:t>
            </a:r>
            <a:endParaRPr lang="en-US" b="0" i="0" dirty="0">
              <a:solidFill>
                <a:srgbClr val="3D3D3D"/>
              </a:solidFill>
              <a:effectLst/>
              <a:latin typeface="Open Sans"/>
            </a:endParaRPr>
          </a:p>
          <a:p>
            <a:pPr algn="l"/>
            <a:r>
              <a:rPr lang="en-US" b="0" i="0" dirty="0">
                <a:solidFill>
                  <a:srgbClr val="3D3D3D"/>
                </a:solidFill>
                <a:effectLst/>
                <a:latin typeface="Open Sans"/>
              </a:rPr>
              <a:t>For each request to Resource or the API server, the client needs to include a token in the header and request the resource using its URI.</a:t>
            </a:r>
          </a:p>
          <a:p>
            <a:pPr marL="0" indent="0">
              <a:buNone/>
            </a:pPr>
            <a:r>
              <a:rPr lang="en-US" b="1" i="0" dirty="0">
                <a:solidFill>
                  <a:srgbClr val="3D3D3D"/>
                </a:solidFill>
                <a:effectLst/>
                <a:latin typeface="Open Sans"/>
              </a:rPr>
              <a:t>Step 4: Resource server verifies the token</a:t>
            </a:r>
            <a:endParaRPr lang="en-US" b="0" i="0" dirty="0">
              <a:solidFill>
                <a:srgbClr val="3D3D3D"/>
              </a:solidFill>
              <a:effectLst/>
              <a:latin typeface="Open Sans"/>
            </a:endParaRPr>
          </a:p>
          <a:p>
            <a:pPr algn="l"/>
            <a:r>
              <a:rPr lang="en-US" b="0" i="0" dirty="0">
                <a:solidFill>
                  <a:srgbClr val="3D3D3D"/>
                </a:solidFill>
                <a:effectLst/>
                <a:latin typeface="Open Sans"/>
              </a:rPr>
              <a:t>Follow these steps to verify the token:</a:t>
            </a:r>
          </a:p>
          <a:p>
            <a:pPr algn="l">
              <a:buFont typeface="Arial" panose="020B0604020202020204" pitchFamily="34" charset="0"/>
              <a:buChar char="•"/>
            </a:pPr>
            <a:r>
              <a:rPr lang="en-US" b="0" i="0" dirty="0">
                <a:solidFill>
                  <a:srgbClr val="3D3D3D"/>
                </a:solidFill>
                <a:effectLst/>
                <a:latin typeface="Open Sans"/>
              </a:rPr>
              <a:t>Read the token from authentication header.</a:t>
            </a:r>
          </a:p>
          <a:p>
            <a:pPr algn="l">
              <a:buFont typeface="Arial" panose="020B0604020202020204" pitchFamily="34" charset="0"/>
              <a:buChar char="•"/>
            </a:pPr>
            <a:r>
              <a:rPr lang="en-US" b="0" i="0" dirty="0">
                <a:solidFill>
                  <a:srgbClr val="3D3D3D"/>
                </a:solidFill>
                <a:effectLst/>
                <a:latin typeface="Open Sans"/>
              </a:rPr>
              <a:t>Split the </a:t>
            </a:r>
            <a:r>
              <a:rPr lang="en-US" b="1" i="0" dirty="0">
                <a:solidFill>
                  <a:srgbClr val="3D3D3D"/>
                </a:solidFill>
                <a:effectLst/>
                <a:latin typeface="Open Sans"/>
              </a:rPr>
              <a:t>header</a:t>
            </a:r>
            <a:r>
              <a:rPr lang="en-US" b="0" i="0" dirty="0">
                <a:solidFill>
                  <a:srgbClr val="3D3D3D"/>
                </a:solidFill>
                <a:effectLst/>
                <a:latin typeface="Open Sans"/>
              </a:rPr>
              <a:t>, </a:t>
            </a:r>
            <a:r>
              <a:rPr lang="en-US" b="1" i="0" dirty="0">
                <a:solidFill>
                  <a:srgbClr val="3D3D3D"/>
                </a:solidFill>
                <a:effectLst/>
                <a:latin typeface="Open Sans"/>
              </a:rPr>
              <a:t>payload</a:t>
            </a:r>
            <a:r>
              <a:rPr lang="en-US" b="0" i="0" dirty="0">
                <a:solidFill>
                  <a:srgbClr val="3D3D3D"/>
                </a:solidFill>
                <a:effectLst/>
                <a:latin typeface="Open Sans"/>
              </a:rPr>
              <a:t>, and </a:t>
            </a:r>
            <a:r>
              <a:rPr lang="en-US" b="1" i="0" dirty="0">
                <a:solidFill>
                  <a:srgbClr val="3D3D3D"/>
                </a:solidFill>
                <a:effectLst/>
                <a:latin typeface="Open Sans"/>
              </a:rPr>
              <a:t>signature</a:t>
            </a:r>
            <a:r>
              <a:rPr lang="en-US" b="0" i="0" dirty="0">
                <a:solidFill>
                  <a:srgbClr val="3D3D3D"/>
                </a:solidFill>
                <a:effectLst/>
                <a:latin typeface="Open Sans"/>
              </a:rPr>
              <a:t> from token.</a:t>
            </a:r>
          </a:p>
          <a:p>
            <a:pPr algn="l">
              <a:buFont typeface="Arial" panose="020B0604020202020204" pitchFamily="34" charset="0"/>
              <a:buChar char="•"/>
            </a:pPr>
            <a:r>
              <a:rPr lang="en-US" b="0" i="0" dirty="0">
                <a:solidFill>
                  <a:srgbClr val="3D3D3D"/>
                </a:solidFill>
                <a:effectLst/>
                <a:latin typeface="Open Sans"/>
              </a:rPr>
              <a:t>Create signature of received header and payload using the same secret key used when creating the token.</a:t>
            </a:r>
          </a:p>
          <a:p>
            <a:pPr algn="l">
              <a:buFont typeface="Arial" panose="020B0604020202020204" pitchFamily="34" charset="0"/>
              <a:buChar char="•"/>
            </a:pPr>
            <a:r>
              <a:rPr lang="en-US" b="0" i="0" dirty="0">
                <a:solidFill>
                  <a:srgbClr val="3D3D3D"/>
                </a:solidFill>
                <a:effectLst/>
                <a:latin typeface="Open Sans"/>
              </a:rPr>
              <a:t>Check whether both newly created signature and signature received from token are valid.</a:t>
            </a:r>
          </a:p>
          <a:p>
            <a:pPr algn="l">
              <a:buFont typeface="Arial" panose="020B0604020202020204" pitchFamily="34" charset="0"/>
              <a:buChar char="•"/>
            </a:pPr>
            <a:r>
              <a:rPr lang="en-US" b="0" i="0" dirty="0">
                <a:solidFill>
                  <a:srgbClr val="3D3D3D"/>
                </a:solidFill>
                <a:effectLst/>
                <a:latin typeface="Open Sans"/>
              </a:rPr>
              <a:t>If the signatures are the same, the tokens are valid (not altered in the middle) and they provide access to the requested resource.</a:t>
            </a:r>
          </a:p>
          <a:p>
            <a:pPr algn="l">
              <a:buFont typeface="Arial" panose="020B0604020202020204" pitchFamily="34" charset="0"/>
              <a:buChar char="•"/>
            </a:pPr>
            <a:r>
              <a:rPr lang="en-US" b="0" i="0" dirty="0">
                <a:solidFill>
                  <a:srgbClr val="3D3D3D"/>
                </a:solidFill>
                <a:effectLst/>
                <a:latin typeface="Open Sans"/>
              </a:rPr>
              <a:t>If the signatures are different, an </a:t>
            </a:r>
            <a:r>
              <a:rPr lang="en-US" b="1" i="0" dirty="0">
                <a:solidFill>
                  <a:srgbClr val="3D3D3D"/>
                </a:solidFill>
                <a:effectLst/>
                <a:latin typeface="Open Sans"/>
              </a:rPr>
              <a:t>unauthorized</a:t>
            </a:r>
            <a:r>
              <a:rPr lang="en-US" b="0" i="0" dirty="0">
                <a:solidFill>
                  <a:srgbClr val="3D3D3D"/>
                </a:solidFill>
                <a:effectLst/>
                <a:latin typeface="Open Sans"/>
              </a:rPr>
              <a:t> response will be sent back to the client. (In the middle, if claims are alerted, they will generate a different signature, hence resource access will be restricted.)</a:t>
            </a:r>
          </a:p>
          <a:p>
            <a:pPr algn="l"/>
            <a:r>
              <a:rPr lang="en-US" b="0" i="0" dirty="0">
                <a:solidFill>
                  <a:srgbClr val="3D3D3D"/>
                </a:solidFill>
                <a:effectLst/>
                <a:latin typeface="Open Sans"/>
              </a:rPr>
              <a:t>Don’t share confidential information using a JWT, since a JWT can be decoded and the claims or data it possesses can be viewed.</a:t>
            </a:r>
          </a:p>
          <a:p>
            <a:pPr marL="0" indent="0">
              <a:buNone/>
            </a:pPr>
            <a:endParaRPr lang="en-IN" b="1" dirty="0"/>
          </a:p>
        </p:txBody>
      </p:sp>
    </p:spTree>
    <p:extLst>
      <p:ext uri="{BB962C8B-B14F-4D97-AF65-F5344CB8AC3E}">
        <p14:creationId xmlns:p14="http://schemas.microsoft.com/office/powerpoint/2010/main" val="235300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841F09-6FB3-49A0-9A63-9AD153F1F8C8}"/>
              </a:ext>
            </a:extLst>
          </p:cNvPr>
          <p:cNvSpPr>
            <a:spLocks noGrp="1"/>
          </p:cNvSpPr>
          <p:nvPr>
            <p:ph idx="1"/>
          </p:nvPr>
        </p:nvSpPr>
        <p:spPr>
          <a:xfrm>
            <a:off x="1781175" y="-7374"/>
            <a:ext cx="10086975" cy="1600200"/>
          </a:xfrm>
        </p:spPr>
        <p:txBody>
          <a:bodyPr>
            <a:normAutofit/>
          </a:bodyPr>
          <a:lstStyle/>
          <a:p>
            <a:pPr marL="0" indent="0">
              <a:buNone/>
            </a:pPr>
            <a:r>
              <a:rPr lang="en-US" b="1" dirty="0"/>
              <a:t>Create a JWT</a:t>
            </a:r>
          </a:p>
          <a:p>
            <a:pPr marL="0" indent="0">
              <a:buNone/>
            </a:pPr>
            <a:r>
              <a:rPr lang="en-US" dirty="0"/>
              <a:t>We can consume and test our API using Postman, but the problem here is anyone who knows the endpoint can consume it. So this is not the case, we need an option to control who can consume our service. This is achieved by a JWT bearer token.</a:t>
            </a:r>
            <a:endParaRPr lang="en-IN" dirty="0"/>
          </a:p>
        </p:txBody>
      </p:sp>
      <p:sp>
        <p:nvSpPr>
          <p:cNvPr id="5" name="TextBox 4">
            <a:extLst>
              <a:ext uri="{FF2B5EF4-FFF2-40B4-BE49-F238E27FC236}">
                <a16:creationId xmlns:a16="http://schemas.microsoft.com/office/drawing/2014/main" id="{ED80C18F-10E0-4EA3-91CD-FFA2436DBBD7}"/>
              </a:ext>
            </a:extLst>
          </p:cNvPr>
          <p:cNvSpPr txBox="1"/>
          <p:nvPr/>
        </p:nvSpPr>
        <p:spPr>
          <a:xfrm>
            <a:off x="1600200" y="1524000"/>
            <a:ext cx="4611328" cy="369332"/>
          </a:xfrm>
          <a:prstGeom prst="rect">
            <a:avLst/>
          </a:prstGeom>
          <a:noFill/>
        </p:spPr>
        <p:txBody>
          <a:bodyPr wrap="square">
            <a:spAutoFit/>
          </a:bodyPr>
          <a:lstStyle/>
          <a:p>
            <a:r>
              <a:rPr lang="en-US" dirty="0">
                <a:solidFill>
                  <a:prstClr val="black"/>
                </a:solidFill>
              </a:rPr>
              <a:t>Here, we will see how to create a token:</a:t>
            </a:r>
            <a:endParaRPr lang="en-IN" dirty="0">
              <a:solidFill>
                <a:prstClr val="black"/>
              </a:solidFill>
            </a:endParaRPr>
          </a:p>
        </p:txBody>
      </p:sp>
      <p:sp>
        <p:nvSpPr>
          <p:cNvPr id="7" name="TextBox 6">
            <a:extLst>
              <a:ext uri="{FF2B5EF4-FFF2-40B4-BE49-F238E27FC236}">
                <a16:creationId xmlns:a16="http://schemas.microsoft.com/office/drawing/2014/main" id="{BACECC3B-4057-4DE7-A886-AD140E9DD7CE}"/>
              </a:ext>
            </a:extLst>
          </p:cNvPr>
          <p:cNvSpPr txBox="1"/>
          <p:nvPr/>
        </p:nvSpPr>
        <p:spPr>
          <a:xfrm>
            <a:off x="1524000" y="1893332"/>
            <a:ext cx="8991600" cy="923330"/>
          </a:xfrm>
          <a:prstGeom prst="rect">
            <a:avLst/>
          </a:prstGeom>
          <a:noFill/>
        </p:spPr>
        <p:txBody>
          <a:bodyPr wrap="square">
            <a:spAutoFit/>
          </a:bodyPr>
          <a:lstStyle/>
          <a:p>
            <a:r>
              <a:rPr lang="en-US" dirty="0">
                <a:solidFill>
                  <a:prstClr val="black"/>
                </a:solidFill>
              </a:rPr>
              <a:t>Step 1: Create an empty API controller called </a:t>
            </a:r>
            <a:r>
              <a:rPr lang="en-US" dirty="0" err="1">
                <a:solidFill>
                  <a:prstClr val="black"/>
                </a:solidFill>
              </a:rPr>
              <a:t>TokenController</a:t>
            </a:r>
            <a:r>
              <a:rPr lang="en-US" dirty="0">
                <a:solidFill>
                  <a:prstClr val="black"/>
                </a:solidFill>
              </a:rPr>
              <a:t>.</a:t>
            </a:r>
          </a:p>
          <a:p>
            <a:endParaRPr lang="en-US" dirty="0">
              <a:solidFill>
                <a:prstClr val="black"/>
              </a:solidFill>
            </a:endParaRPr>
          </a:p>
          <a:p>
            <a:r>
              <a:rPr lang="en-US" dirty="0">
                <a:solidFill>
                  <a:prstClr val="black"/>
                </a:solidFill>
              </a:rPr>
              <a:t>Step 2: Paste the below JWT configuration into the </a:t>
            </a:r>
            <a:r>
              <a:rPr lang="en-US" dirty="0" err="1">
                <a:solidFill>
                  <a:prstClr val="black"/>
                </a:solidFill>
              </a:rPr>
              <a:t>appsetting.json</a:t>
            </a:r>
            <a:r>
              <a:rPr lang="en-US" dirty="0">
                <a:solidFill>
                  <a:prstClr val="black"/>
                </a:solidFill>
              </a:rPr>
              <a:t> file.</a:t>
            </a:r>
            <a:endParaRPr lang="en-IN" dirty="0">
              <a:solidFill>
                <a:prstClr val="black"/>
              </a:solidFill>
            </a:endParaRPr>
          </a:p>
        </p:txBody>
      </p:sp>
      <p:sp>
        <p:nvSpPr>
          <p:cNvPr id="14" name="TextBox 13">
            <a:extLst>
              <a:ext uri="{FF2B5EF4-FFF2-40B4-BE49-F238E27FC236}">
                <a16:creationId xmlns:a16="http://schemas.microsoft.com/office/drawing/2014/main" id="{552D955E-5D19-437D-9B1B-A8611FF05834}"/>
              </a:ext>
            </a:extLst>
          </p:cNvPr>
          <p:cNvSpPr txBox="1"/>
          <p:nvPr/>
        </p:nvSpPr>
        <p:spPr>
          <a:xfrm>
            <a:off x="7162799" y="2816663"/>
            <a:ext cx="4410075" cy="2585323"/>
          </a:xfrm>
          <a:prstGeom prst="rect">
            <a:avLst/>
          </a:prstGeom>
          <a:noFill/>
        </p:spPr>
        <p:txBody>
          <a:bodyPr wrap="square">
            <a:spAutoFit/>
          </a:bodyPr>
          <a:lstStyle/>
          <a:p>
            <a:r>
              <a:rPr lang="en-US" dirty="0">
                <a:solidFill>
                  <a:prstClr val="black"/>
                </a:solidFill>
              </a:rPr>
              <a:t>Step 3: Add the action method under </a:t>
            </a:r>
            <a:r>
              <a:rPr lang="en-US" dirty="0" err="1">
                <a:solidFill>
                  <a:prstClr val="black"/>
                </a:solidFill>
              </a:rPr>
              <a:t>TokenController</a:t>
            </a:r>
            <a:r>
              <a:rPr lang="en-US" dirty="0">
                <a:solidFill>
                  <a:prstClr val="black"/>
                </a:solidFill>
              </a:rPr>
              <a:t> to perform the following operations:</a:t>
            </a:r>
          </a:p>
          <a:p>
            <a:endParaRPr lang="en-US" dirty="0">
              <a:solidFill>
                <a:prstClr val="black"/>
              </a:solidFill>
            </a:endParaRPr>
          </a:p>
          <a:p>
            <a:pPr marL="285750" indent="-285750">
              <a:buFont typeface="Arial" panose="020B0604020202020204" pitchFamily="34" charset="0"/>
              <a:buChar char="•"/>
            </a:pPr>
            <a:r>
              <a:rPr lang="en-US" dirty="0">
                <a:solidFill>
                  <a:prstClr val="black"/>
                </a:solidFill>
              </a:rPr>
              <a:t>Accept username and password as input.</a:t>
            </a:r>
          </a:p>
          <a:p>
            <a:pPr marL="285750" indent="-285750">
              <a:buFont typeface="Arial" panose="020B0604020202020204" pitchFamily="34" charset="0"/>
              <a:buChar char="•"/>
            </a:pPr>
            <a:r>
              <a:rPr lang="en-US" dirty="0">
                <a:solidFill>
                  <a:prstClr val="black"/>
                </a:solidFill>
              </a:rPr>
              <a:t>Check users’ credentials with database to ensure users’ identity:</a:t>
            </a:r>
          </a:p>
          <a:p>
            <a:r>
              <a:rPr lang="en-US" dirty="0">
                <a:solidFill>
                  <a:prstClr val="black"/>
                </a:solidFill>
              </a:rPr>
              <a:t>If valid, access token will be returned.</a:t>
            </a:r>
          </a:p>
          <a:p>
            <a:r>
              <a:rPr lang="en-US" dirty="0">
                <a:solidFill>
                  <a:prstClr val="black"/>
                </a:solidFill>
              </a:rPr>
              <a:t>If invalid, bad request error will be returned.</a:t>
            </a:r>
            <a:endParaRPr lang="en-IN" dirty="0">
              <a:solidFill>
                <a:prstClr val="black"/>
              </a:solidFill>
            </a:endParaRPr>
          </a:p>
        </p:txBody>
      </p:sp>
      <p:sp>
        <p:nvSpPr>
          <p:cNvPr id="4" name="TextBox 3">
            <a:extLst>
              <a:ext uri="{FF2B5EF4-FFF2-40B4-BE49-F238E27FC236}">
                <a16:creationId xmlns:a16="http://schemas.microsoft.com/office/drawing/2014/main" id="{03A029A4-A3FB-4DB0-82B9-3E9237EFE5E2}"/>
              </a:ext>
            </a:extLst>
          </p:cNvPr>
          <p:cNvSpPr txBox="1"/>
          <p:nvPr/>
        </p:nvSpPr>
        <p:spPr>
          <a:xfrm>
            <a:off x="7162800" y="6006468"/>
            <a:ext cx="4675392" cy="646331"/>
          </a:xfrm>
          <a:prstGeom prst="rect">
            <a:avLst/>
          </a:prstGeom>
          <a:noFill/>
        </p:spPr>
        <p:txBody>
          <a:bodyPr wrap="square" rtlCol="0">
            <a:spAutoFit/>
          </a:bodyPr>
          <a:lstStyle/>
          <a:p>
            <a:r>
              <a:rPr lang="en-US" b="1" dirty="0" err="1">
                <a:solidFill>
                  <a:prstClr val="black"/>
                </a:solidFill>
              </a:rPr>
              <a:t>Note</a:t>
            </a:r>
            <a:r>
              <a:rPr lang="en-US" dirty="0" err="1">
                <a:solidFill>
                  <a:prstClr val="black"/>
                </a:solidFill>
              </a:rPr>
              <a:t>:Audience</a:t>
            </a:r>
            <a:endParaRPr lang="en-US" dirty="0">
              <a:solidFill>
                <a:prstClr val="black"/>
              </a:solidFill>
            </a:endParaRPr>
          </a:p>
          <a:p>
            <a:r>
              <a:rPr lang="en-US" dirty="0">
                <a:solidFill>
                  <a:prstClr val="black"/>
                </a:solidFill>
              </a:rPr>
              <a:t>Subject should hold name of application</a:t>
            </a:r>
            <a:endParaRPr lang="en-IN" dirty="0">
              <a:solidFill>
                <a:prstClr val="black"/>
              </a:solidFill>
            </a:endParaRPr>
          </a:p>
        </p:txBody>
      </p:sp>
      <p:sp>
        <p:nvSpPr>
          <p:cNvPr id="8" name="Rectangle 7"/>
          <p:cNvSpPr/>
          <p:nvPr/>
        </p:nvSpPr>
        <p:spPr>
          <a:xfrm>
            <a:off x="581025" y="2914650"/>
            <a:ext cx="6324600" cy="3939540"/>
          </a:xfrm>
          <a:prstGeom prst="rect">
            <a:avLst/>
          </a:prstGeom>
        </p:spPr>
        <p:txBody>
          <a:bodyPr wrap="square">
            <a:spAutoFit/>
          </a:bodyPr>
          <a:lstStyle/>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"Logging"</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LogLevel</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"Default"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"Information"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Microsoft.AspNetCore</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"Warning"</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AllowedHosts</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ConnectionStrings</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EmployeeDBConnection</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"Data Source=(</a:t>
            </a:r>
            <a:r>
              <a:rPr lang="en-IN" sz="1000" dirty="0" err="1">
                <a:solidFill>
                  <a:srgbClr val="A31515"/>
                </a:solidFill>
                <a:latin typeface="Cascadia Mono" panose="020B0609020000020004" pitchFamily="49" charset="0"/>
              </a:rPr>
              <a:t>localdb</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ProjectModels;Initial</a:t>
            </a:r>
            <a:r>
              <a:rPr lang="en-IN" sz="1000" dirty="0">
                <a:solidFill>
                  <a:srgbClr val="A31515"/>
                </a:solidFill>
                <a:latin typeface="Cascadia Mono" panose="020B0609020000020004" pitchFamily="49" charset="0"/>
              </a:rPr>
              <a:t> </a:t>
            </a:r>
            <a:r>
              <a:rPr lang="en-IN" sz="1000" dirty="0" err="1">
                <a:solidFill>
                  <a:srgbClr val="A31515"/>
                </a:solidFill>
                <a:latin typeface="Cascadia Mono" panose="020B0609020000020004" pitchFamily="49" charset="0"/>
              </a:rPr>
              <a:t>Catalog</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DemoData_Student;Integrated</a:t>
            </a:r>
            <a:r>
              <a:rPr lang="en-IN" sz="1000" dirty="0">
                <a:solidFill>
                  <a:srgbClr val="A31515"/>
                </a:solidFill>
                <a:latin typeface="Cascadia Mono" panose="020B0609020000020004" pitchFamily="49" charset="0"/>
              </a:rPr>
              <a:t> Security=True"</a:t>
            </a:r>
            <a:endParaRPr lang="en-IN" sz="1000" dirty="0">
              <a:solidFill>
                <a:srgbClr val="000000"/>
              </a:solidFill>
              <a:latin typeface="Cascadia Mono" panose="020B0609020000020004" pitchFamily="49" charset="0"/>
            </a:endParaRP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//IDX10603: The algorithm: 'HS256' requires the </a:t>
            </a:r>
            <a:r>
              <a:rPr lang="en-US" sz="1000" dirty="0" err="1">
                <a:solidFill>
                  <a:srgbClr val="008000"/>
                </a:solidFill>
                <a:latin typeface="Cascadia Mono" panose="020B0609020000020004" pitchFamily="49" charset="0"/>
              </a:rPr>
              <a:t>SecurityKey.KeySize</a:t>
            </a:r>
            <a:r>
              <a:rPr lang="en-US" sz="1000" dirty="0">
                <a:solidFill>
                  <a:srgbClr val="008000"/>
                </a:solidFill>
                <a:latin typeface="Cascadia Mono" panose="020B0609020000020004" pitchFamily="49" charset="0"/>
              </a:rPr>
              <a:t> to be greater than '128' bits. </a:t>
            </a:r>
            <a:r>
              <a:rPr lang="en-US" sz="1000" dirty="0" err="1">
                <a:solidFill>
                  <a:srgbClr val="008000"/>
                </a:solidFill>
                <a:latin typeface="Cascadia Mono" panose="020B0609020000020004" pitchFamily="49" charset="0"/>
              </a:rPr>
              <a:t>KeySize</a:t>
            </a:r>
            <a:r>
              <a:rPr lang="en-US" sz="1000" dirty="0">
                <a:solidFill>
                  <a:srgbClr val="008000"/>
                </a:solidFill>
                <a:latin typeface="Cascadia Mono" panose="020B0609020000020004" pitchFamily="49" charset="0"/>
              </a:rPr>
              <a:t> reported: '32'. Parameter name: </a:t>
            </a:r>
            <a:r>
              <a:rPr lang="en-US" sz="1000" dirty="0" err="1">
                <a:solidFill>
                  <a:srgbClr val="008000"/>
                </a:solidFill>
                <a:latin typeface="Cascadia Mono" panose="020B0609020000020004" pitchFamily="49" charset="0"/>
              </a:rPr>
              <a:t>key.KeySize</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//key has to be very long else err </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Jwt</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"Key"</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MykeySMVITAVidyanidhiInfotechAcademy</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"Issuer"</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AuthenticatorServer</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"Audience"</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EmployeeService</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"Subject"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GiveToken</a:t>
            </a:r>
            <a:r>
              <a:rPr lang="en-IN" sz="1000" dirty="0">
                <a:solidFill>
                  <a:srgbClr val="A31515"/>
                </a:solidFill>
                <a:latin typeface="Cascadia Mono" panose="020B0609020000020004" pitchFamily="49" charset="0"/>
              </a:rPr>
              <a:t>"</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960558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4B7C0D-A775-E928-7D5B-119CDFAE2316}"/>
              </a:ext>
            </a:extLst>
          </p:cNvPr>
          <p:cNvSpPr txBox="1"/>
          <p:nvPr/>
        </p:nvSpPr>
        <p:spPr>
          <a:xfrm>
            <a:off x="96625" y="849984"/>
            <a:ext cx="8686800" cy="35394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Microsoft.VisualStudio.Web.CodeGeneration.Design</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3.1.4</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This package helps create database context and model classes from the database.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Microsoft.EntityFrameworkCore.Tools</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3.1.8</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Database provider allows Entity Framework Core to work with SQL Server.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Microsoft.EntityFrameworkCore.SqlServer -Version 3.1.8</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It provides support for creating and validating a JWT token.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System.IdentityModel.Tokens.Jwt</a:t>
            </a:r>
            <a:r>
              <a:rPr kumimoji="0" lang="en-IN" sz="1600" b="0" i="0" u="none" strike="noStrike" kern="1200" cap="none" spc="0" normalizeH="0" baseline="0" noProof="0" dirty="0">
                <a:ln>
                  <a:noFill/>
                </a:ln>
                <a:solidFill>
                  <a:srgbClr val="3D3D3D"/>
                </a:solidFill>
                <a:effectLst/>
                <a:uLnTx/>
                <a:uFillTx/>
                <a:latin typeface="Open Sans"/>
                <a:ea typeface="+mn-ea"/>
                <a:cs typeface="+mn-cs"/>
              </a:rPr>
              <a:t> </a:t>
            </a:r>
            <a:r>
              <a:rPr kumimoji="0" lang="en-IN" sz="1600" b="1" i="0" u="none" strike="noStrike" kern="1200" cap="none" spc="0" normalizeH="0" baseline="0" noProof="0" dirty="0">
                <a:ln>
                  <a:noFill/>
                </a:ln>
                <a:solidFill>
                  <a:srgbClr val="3D3D3D"/>
                </a:solidFill>
                <a:effectLst/>
                <a:uLnTx/>
                <a:uFillTx/>
                <a:latin typeface="Open Sans"/>
                <a:ea typeface="+mn-ea"/>
                <a:cs typeface="+mn-cs"/>
              </a:rPr>
              <a:t>-Version 5.6.0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This is the middleware that enables an ASP.NET Core application to receive a bearer token in the request pipeline.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Microsoft.AspNetCore.Authentication.JwtBearer</a:t>
            </a:r>
            <a:r>
              <a:rPr kumimoji="0" lang="en-IN" sz="1600" b="1" i="0" u="none" strike="noStrike" kern="1200" cap="none" spc="0" normalizeH="0" baseline="0" noProof="0" dirty="0">
                <a:ln>
                  <a:noFill/>
                </a:ln>
                <a:solidFill>
                  <a:srgbClr val="3D3D3D"/>
                </a:solidFill>
                <a:effectLst/>
                <a:uLnTx/>
                <a:uFillTx/>
                <a:latin typeface="Open Sans"/>
                <a:ea typeface="+mn-ea"/>
                <a:cs typeface="+mn-cs"/>
              </a:rPr>
              <a:t> </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p:txBody>
      </p:sp>
      <p:sp>
        <p:nvSpPr>
          <p:cNvPr id="3" name="TextBox 2">
            <a:extLst>
              <a:ext uri="{FF2B5EF4-FFF2-40B4-BE49-F238E27FC236}">
                <a16:creationId xmlns:a16="http://schemas.microsoft.com/office/drawing/2014/main" id="{AEEB40A3-C868-69BE-E039-6AB1F9A7BB89}"/>
              </a:ext>
            </a:extLst>
          </p:cNvPr>
          <p:cNvSpPr txBox="1"/>
          <p:nvPr/>
        </p:nvSpPr>
        <p:spPr>
          <a:xfrm>
            <a:off x="905932" y="4863868"/>
            <a:ext cx="10727267" cy="369332"/>
          </a:xfrm>
          <a:prstGeom prst="rect">
            <a:avLst/>
          </a:prstGeom>
          <a:noFill/>
        </p:spPr>
        <p:txBody>
          <a:bodyPr wrap="square">
            <a:spAutoFit/>
          </a:bodyPr>
          <a:lstStyle/>
          <a:p>
            <a:r>
              <a:rPr lang="en-IN" sz="1800" dirty="0">
                <a:solidFill>
                  <a:srgbClr val="000000"/>
                </a:solidFill>
                <a:highlight>
                  <a:srgbClr val="FFFFFF"/>
                </a:highlight>
                <a:latin typeface="Cascadia Mono" panose="020B0609020000020004" pitchFamily="49" charset="0"/>
              </a:rPr>
              <a:t>Install-Package </a:t>
            </a:r>
            <a:r>
              <a:rPr lang="en-IN" sz="1800" dirty="0" err="1">
                <a:solidFill>
                  <a:srgbClr val="000000"/>
                </a:solidFill>
                <a:highlight>
                  <a:srgbClr val="FFFFFF"/>
                </a:highlight>
                <a:latin typeface="Cascadia Mono" panose="020B0609020000020004" pitchFamily="49" charset="0"/>
              </a:rPr>
              <a:t>Microsoft.AspNetCore.Authentication.JwtBearer</a:t>
            </a:r>
            <a:r>
              <a:rPr lang="en-IN" sz="1800" dirty="0">
                <a:solidFill>
                  <a:srgbClr val="000000"/>
                </a:solidFill>
                <a:highlight>
                  <a:srgbClr val="FFFFFF"/>
                </a:highlight>
                <a:latin typeface="Cascadia Mono" panose="020B0609020000020004" pitchFamily="49" charset="0"/>
              </a:rPr>
              <a:t> -version 8.0.1</a:t>
            </a:r>
            <a:endParaRPr lang="en-IN" dirty="0"/>
          </a:p>
        </p:txBody>
      </p:sp>
    </p:spTree>
    <p:extLst>
      <p:ext uri="{BB962C8B-B14F-4D97-AF65-F5344CB8AC3E}">
        <p14:creationId xmlns:p14="http://schemas.microsoft.com/office/powerpoint/2010/main" val="1826328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AB5A02-B65C-1644-E3B0-A825D17CC222}"/>
              </a:ext>
            </a:extLst>
          </p:cNvPr>
          <p:cNvSpPr>
            <a:spLocks noGrp="1"/>
          </p:cNvSpPr>
          <p:nvPr>
            <p:ph idx="1"/>
          </p:nvPr>
        </p:nvSpPr>
        <p:spPr>
          <a:xfrm>
            <a:off x="6321286" y="363070"/>
            <a:ext cx="6097656" cy="6743408"/>
          </a:xfrm>
        </p:spPr>
        <p:txBody>
          <a:bodyPr>
            <a:noAutofit/>
          </a:bodyPr>
          <a:lstStyle/>
          <a:p>
            <a:pPr marL="0" indent="0">
              <a:buNone/>
            </a:pPr>
            <a:r>
              <a:rPr lang="en-US" sz="2000" dirty="0"/>
              <a:t>In this demo simply add  </a:t>
            </a:r>
            <a:r>
              <a:rPr lang="en-IN" sz="2000" dirty="0">
                <a:solidFill>
                  <a:srgbClr val="000000"/>
                </a:solidFill>
                <a:highlight>
                  <a:srgbClr val="FFFF00"/>
                </a:highlight>
                <a:latin typeface="Cascadia Mono" panose="020B0609020000020004" pitchFamily="49" charset="0"/>
              </a:rPr>
              <a:t>[Authorize]</a:t>
            </a:r>
          </a:p>
          <a:p>
            <a:pPr marL="0" indent="0">
              <a:buNone/>
            </a:pPr>
            <a:r>
              <a:rPr lang="en-IN" sz="2000" dirty="0"/>
              <a:t> on controller which should get executed only after reading token</a:t>
            </a:r>
          </a:p>
          <a:p>
            <a:pPr marL="0" indent="0">
              <a:buNone/>
            </a:pPr>
            <a:r>
              <a:rPr lang="en-IN" sz="2000" dirty="0"/>
              <a:t>So when you call </a:t>
            </a:r>
            <a:r>
              <a:rPr lang="en-IN" sz="2000" dirty="0" err="1">
                <a:solidFill>
                  <a:srgbClr val="2B91AF"/>
                </a:solidFill>
                <a:latin typeface="Cascadia Mono" panose="020B0609020000020004" pitchFamily="49" charset="0"/>
              </a:rPr>
              <a:t>WeatherForecast</a:t>
            </a:r>
            <a:r>
              <a:rPr lang="en-IN" sz="2000" dirty="0">
                <a:solidFill>
                  <a:srgbClr val="2B91AF"/>
                </a:solidFill>
                <a:latin typeface="Cascadia Mono" panose="020B0609020000020004" pitchFamily="49" charset="0"/>
              </a:rPr>
              <a:t> Get </a:t>
            </a:r>
            <a:r>
              <a:rPr lang="en-IN" sz="2000" dirty="0">
                <a:latin typeface="Cascadia Mono" panose="020B0609020000020004" pitchFamily="49" charset="0"/>
              </a:rPr>
              <a:t>method you will get </a:t>
            </a:r>
          </a:p>
          <a:p>
            <a:pPr marL="0" indent="0">
              <a:buNone/>
            </a:pPr>
            <a:endParaRPr lang="en-IN" sz="2000" dirty="0">
              <a:latin typeface="Cascadia Mono" panose="020B0609020000020004" pitchFamily="49" charset="0"/>
            </a:endParaRPr>
          </a:p>
          <a:p>
            <a:pPr marL="0" indent="0">
              <a:buNone/>
            </a:pPr>
            <a:r>
              <a:rPr lang="en-IN" sz="2000" dirty="0">
                <a:latin typeface="Cascadia Mono" panose="020B0609020000020004" pitchFamily="49" charset="0"/>
              </a:rPr>
              <a:t>message Unauthorised[see next slide]</a:t>
            </a:r>
          </a:p>
          <a:p>
            <a:pPr marL="0" indent="0">
              <a:buNone/>
            </a:pPr>
            <a:r>
              <a:rPr lang="en-IN" sz="2000" dirty="0">
                <a:latin typeface="Cascadia Mono" panose="020B0609020000020004" pitchFamily="49" charset="0"/>
              </a:rPr>
              <a:t>But when you run </a:t>
            </a:r>
            <a:r>
              <a:rPr lang="en-IN" sz="2000" dirty="0" err="1">
                <a:solidFill>
                  <a:srgbClr val="2B91AF"/>
                </a:solidFill>
                <a:latin typeface="Cascadia Mono" panose="020B0609020000020004" pitchFamily="49" charset="0"/>
              </a:rPr>
              <a:t>TokenController</a:t>
            </a:r>
            <a:r>
              <a:rPr lang="en-IN" sz="2000" dirty="0">
                <a:solidFill>
                  <a:srgbClr val="2B91AF"/>
                </a:solidFill>
                <a:latin typeface="Cascadia Mono" panose="020B0609020000020004" pitchFamily="49" charset="0"/>
              </a:rPr>
              <a:t> </a:t>
            </a:r>
            <a:r>
              <a:rPr lang="en-IN" sz="2000" dirty="0">
                <a:latin typeface="Cascadia Mono" panose="020B0609020000020004" pitchFamily="49" charset="0"/>
              </a:rPr>
              <a:t>with post method and give user ID password you will get token</a:t>
            </a:r>
          </a:p>
          <a:p>
            <a:pPr marL="0" indent="0">
              <a:buNone/>
            </a:pPr>
            <a:endParaRPr lang="en-IN" sz="2000" dirty="0">
              <a:latin typeface="Cascadia Mono" panose="020B0609020000020004" pitchFamily="49" charset="0"/>
            </a:endParaRPr>
          </a:p>
          <a:p>
            <a:pPr marL="0" indent="0">
              <a:buNone/>
            </a:pPr>
            <a:r>
              <a:rPr lang="en-IN" sz="2000" dirty="0">
                <a:latin typeface="Cascadia Mono" panose="020B0609020000020004" pitchFamily="49" charset="0"/>
              </a:rPr>
              <a:t>In postman after running Token controller call </a:t>
            </a:r>
            <a:r>
              <a:rPr lang="en-IN" sz="2000" dirty="0" err="1">
                <a:solidFill>
                  <a:srgbClr val="2B91AF"/>
                </a:solidFill>
                <a:latin typeface="Cascadia Mono" panose="020B0609020000020004" pitchFamily="49" charset="0"/>
              </a:rPr>
              <a:t>WeatherForecast</a:t>
            </a:r>
            <a:r>
              <a:rPr lang="en-IN" sz="2000" dirty="0">
                <a:solidFill>
                  <a:srgbClr val="2B91AF"/>
                </a:solidFill>
                <a:latin typeface="Cascadia Mono" panose="020B0609020000020004" pitchFamily="49" charset="0"/>
              </a:rPr>
              <a:t> </a:t>
            </a:r>
            <a:r>
              <a:rPr lang="en-IN" sz="2000" dirty="0">
                <a:latin typeface="Cascadia Mono" panose="020B0609020000020004" pitchFamily="49" charset="0"/>
              </a:rPr>
              <a:t>Get</a:t>
            </a:r>
          </a:p>
          <a:p>
            <a:pPr marL="0" indent="0">
              <a:buNone/>
            </a:pPr>
            <a:r>
              <a:rPr lang="en-IN" sz="2000" dirty="0">
                <a:latin typeface="Cascadia Mono" panose="020B0609020000020004" pitchFamily="49" charset="0"/>
              </a:rPr>
              <a:t>Method and in  postman </a:t>
            </a:r>
            <a:r>
              <a:rPr lang="en-US" sz="1400" dirty="0">
                <a:highlight>
                  <a:srgbClr val="FFFF00"/>
                </a:highlight>
              </a:rPr>
              <a:t>Bearer field  </a:t>
            </a:r>
            <a:r>
              <a:rPr lang="en-US" sz="2000" dirty="0">
                <a:latin typeface="Cascadia Mono" panose="020B0609020000020004" pitchFamily="49" charset="0"/>
              </a:rPr>
              <a:t>paste token now your </a:t>
            </a:r>
            <a:r>
              <a:rPr lang="en-IN" sz="2000" dirty="0" err="1">
                <a:solidFill>
                  <a:srgbClr val="2B91AF"/>
                </a:solidFill>
                <a:latin typeface="Cascadia Mono" panose="020B0609020000020004" pitchFamily="49" charset="0"/>
              </a:rPr>
              <a:t>WeatherForecast</a:t>
            </a:r>
            <a:r>
              <a:rPr lang="en-IN" sz="2000" dirty="0">
                <a:solidFill>
                  <a:srgbClr val="2B91AF"/>
                </a:solidFill>
                <a:latin typeface="Cascadia Mono" panose="020B0609020000020004" pitchFamily="49" charset="0"/>
              </a:rPr>
              <a:t> Get </a:t>
            </a:r>
            <a:r>
              <a:rPr lang="en-IN" sz="2000" dirty="0">
                <a:latin typeface="Cascadia Mono" panose="020B0609020000020004" pitchFamily="49" charset="0"/>
              </a:rPr>
              <a:t>will work and give data</a:t>
            </a:r>
          </a:p>
        </p:txBody>
      </p:sp>
      <p:sp>
        <p:nvSpPr>
          <p:cNvPr id="5" name="TextBox 4">
            <a:extLst>
              <a:ext uri="{FF2B5EF4-FFF2-40B4-BE49-F238E27FC236}">
                <a16:creationId xmlns:a16="http://schemas.microsoft.com/office/drawing/2014/main" id="{AFAA3E38-4BF5-6313-D280-C3963729D9DE}"/>
              </a:ext>
            </a:extLst>
          </p:cNvPr>
          <p:cNvSpPr txBox="1"/>
          <p:nvPr/>
        </p:nvSpPr>
        <p:spPr>
          <a:xfrm>
            <a:off x="223630" y="74835"/>
            <a:ext cx="6097656" cy="6863417"/>
          </a:xfrm>
          <a:prstGeom prst="rect">
            <a:avLst/>
          </a:prstGeom>
          <a:noFill/>
        </p:spPr>
        <p:txBody>
          <a:bodyPr wrap="square">
            <a:spAutoFit/>
          </a:bodyPr>
          <a:lstStyle/>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Microsoft.AspNetCore.Authorization</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Microsoft.AspNetCore.Mvc</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WebAppJWTService.Controllers</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ApiController</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[Route(</a:t>
            </a:r>
            <a:r>
              <a:rPr lang="en-IN" sz="1100" dirty="0">
                <a:solidFill>
                  <a:srgbClr val="A31515"/>
                </a:solidFill>
                <a:latin typeface="Cascadia Mono" panose="020B0609020000020004" pitchFamily="49" charset="0"/>
              </a:rPr>
              <a:t>"[controller]"</a:t>
            </a:r>
            <a:r>
              <a:rPr lang="en-IN" sz="1100" dirty="0">
                <a:solidFill>
                  <a:srgbClr val="000000"/>
                </a:solidFill>
                <a:latin typeface="Cascadia Mono" panose="020B0609020000020004" pitchFamily="49" charset="0"/>
              </a:rPr>
              <a:t>)]</a:t>
            </a:r>
          </a:p>
          <a:p>
            <a:r>
              <a:rPr lang="en-IN" sz="1100" dirty="0">
                <a:solidFill>
                  <a:srgbClr val="000000"/>
                </a:solidFill>
                <a:highlight>
                  <a:srgbClr val="FFFF00"/>
                </a:highlight>
                <a:latin typeface="Cascadia Mono" panose="020B0609020000020004" pitchFamily="49" charset="0"/>
              </a:rPr>
              <a:t>    [Authorize]</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WeatherForecastController</a:t>
            </a: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ControllerBase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private</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err="1">
                <a:solidFill>
                  <a:srgbClr val="0000FF"/>
                </a:solidFill>
                <a:latin typeface="Cascadia Mono" panose="020B0609020000020004" pitchFamily="49" charset="0"/>
              </a:rPr>
              <a:t>readonly</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Summaries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"Freezing"</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"Bracing"</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"Chilly"</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"Cool"</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"Mild"</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"Warm"</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"Balmy"</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"Hot"</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"Sweltering"</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"Scorching"</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private</a:t>
            </a:r>
            <a:r>
              <a:rPr lang="en-US" sz="1100" dirty="0">
                <a:solidFill>
                  <a:srgbClr val="000000"/>
                </a:solidFill>
                <a:latin typeface="Cascadia Mono" panose="020B0609020000020004" pitchFamily="49" charset="0"/>
              </a:rPr>
              <a:t> </a:t>
            </a:r>
            <a:r>
              <a:rPr lang="en-US" sz="1100" dirty="0" err="1">
                <a:solidFill>
                  <a:srgbClr val="0000FF"/>
                </a:solidFill>
                <a:latin typeface="Cascadia Mono" panose="020B0609020000020004" pitchFamily="49" charset="0"/>
              </a:rPr>
              <a:t>readonly</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ILogger</a:t>
            </a:r>
            <a:r>
              <a:rPr lang="en-US" sz="1100" dirty="0">
                <a:solidFill>
                  <a:srgbClr val="000000"/>
                </a:solidFill>
                <a:latin typeface="Cascadia Mono" panose="020B0609020000020004" pitchFamily="49" charset="0"/>
              </a:rPr>
              <a:t>&lt;</a:t>
            </a:r>
            <a:r>
              <a:rPr lang="en-US" sz="1100" dirty="0" err="1">
                <a:solidFill>
                  <a:srgbClr val="000000"/>
                </a:solidFill>
                <a:latin typeface="Cascadia Mono" panose="020B0609020000020004" pitchFamily="49" charset="0"/>
              </a:rPr>
              <a:t>WeatherForecastController</a:t>
            </a:r>
            <a:r>
              <a:rPr lang="en-US" sz="1100" dirty="0">
                <a:solidFill>
                  <a:srgbClr val="000000"/>
                </a:solidFill>
                <a:latin typeface="Cascadia Mono" panose="020B0609020000020004" pitchFamily="49" charset="0"/>
              </a:rPr>
              <a:t>&gt; _logger;</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err="1">
                <a:solidFill>
                  <a:srgbClr val="2B91AF"/>
                </a:solidFill>
                <a:latin typeface="Cascadia Mono" panose="020B0609020000020004" pitchFamily="49" charset="0"/>
              </a:rPr>
              <a:t>WeatherForecastController</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ILogger</a:t>
            </a:r>
            <a:r>
              <a:rPr lang="en-US" sz="1100" dirty="0">
                <a:solidFill>
                  <a:srgbClr val="000000"/>
                </a:solidFill>
                <a:latin typeface="Cascadia Mono" panose="020B0609020000020004" pitchFamily="49" charset="0"/>
              </a:rPr>
              <a:t>&lt;</a:t>
            </a:r>
            <a:r>
              <a:rPr lang="en-US" sz="1100" dirty="0" err="1">
                <a:solidFill>
                  <a:srgbClr val="000000"/>
                </a:solidFill>
                <a:latin typeface="Cascadia Mono" panose="020B0609020000020004" pitchFamily="49" charset="0"/>
              </a:rPr>
              <a:t>WeatherForecastController</a:t>
            </a:r>
            <a:r>
              <a:rPr lang="en-US" sz="1100" dirty="0">
                <a:solidFill>
                  <a:srgbClr val="000000"/>
                </a:solidFill>
                <a:latin typeface="Cascadia Mono" panose="020B0609020000020004" pitchFamily="49" charset="0"/>
              </a:rPr>
              <a:t>&gt; logger)</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_logger = logger;</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HttpGet</a:t>
            </a:r>
            <a:r>
              <a:rPr lang="en-IN" sz="1100" dirty="0">
                <a:solidFill>
                  <a:srgbClr val="000000"/>
                </a:solidFill>
                <a:latin typeface="Cascadia Mono" panose="020B0609020000020004" pitchFamily="49" charset="0"/>
              </a:rPr>
              <a:t>(Name = </a:t>
            </a:r>
            <a:r>
              <a:rPr lang="en-IN" sz="1100" dirty="0">
                <a:solidFill>
                  <a:srgbClr val="A31515"/>
                </a:solidFill>
                <a:latin typeface="Cascadia Mono" panose="020B0609020000020004" pitchFamily="49" charset="0"/>
              </a:rPr>
              <a:t>"</a:t>
            </a:r>
            <a:r>
              <a:rPr lang="en-IN" sz="1100" dirty="0" err="1">
                <a:solidFill>
                  <a:srgbClr val="A31515"/>
                </a:solidFill>
                <a:latin typeface="Cascadia Mono" panose="020B0609020000020004" pitchFamily="49" charset="0"/>
              </a:rPr>
              <a:t>GetWeatherForecast</a:t>
            </a:r>
            <a:r>
              <a:rPr lang="en-IN" sz="1100" dirty="0">
                <a:solidFill>
                  <a:srgbClr val="A31515"/>
                </a:solidFill>
                <a:latin typeface="Cascadia Mono" panose="020B0609020000020004" pitchFamily="49" charset="0"/>
              </a:rPr>
              <a: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IEnumerable</a:t>
            </a:r>
            <a:r>
              <a:rPr lang="en-IN" sz="1100" dirty="0">
                <a:solidFill>
                  <a:srgbClr val="000000"/>
                </a:solidFill>
                <a:latin typeface="Cascadia Mono" panose="020B0609020000020004" pitchFamily="49" charset="0"/>
              </a:rPr>
              <a:t>&lt;</a:t>
            </a:r>
            <a:r>
              <a:rPr lang="en-IN" sz="1100" dirty="0" err="1">
                <a:solidFill>
                  <a:srgbClr val="000000"/>
                </a:solidFill>
                <a:latin typeface="Cascadia Mono" panose="020B0609020000020004" pitchFamily="49" charset="0"/>
              </a:rPr>
              <a:t>WeatherForecast</a:t>
            </a:r>
            <a:r>
              <a:rPr lang="en-IN" sz="1100" dirty="0">
                <a:solidFill>
                  <a:srgbClr val="000000"/>
                </a:solidFill>
                <a:latin typeface="Cascadia Mono" panose="020B0609020000020004" pitchFamily="49" charset="0"/>
              </a:rPr>
              <a:t>&gt; Get()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return</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Enumerable.Range</a:t>
            </a:r>
            <a:r>
              <a:rPr lang="en-US" sz="1100" dirty="0">
                <a:solidFill>
                  <a:srgbClr val="000000"/>
                </a:solidFill>
                <a:latin typeface="Cascadia Mono" panose="020B0609020000020004" pitchFamily="49" charset="0"/>
              </a:rPr>
              <a:t>(1, 5).Select(index =&gt;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WeatherForecast</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Date = </a:t>
            </a:r>
            <a:r>
              <a:rPr lang="en-IN" sz="1100" dirty="0" err="1">
                <a:solidFill>
                  <a:srgbClr val="000000"/>
                </a:solidFill>
                <a:latin typeface="Cascadia Mono" panose="020B0609020000020004" pitchFamily="49" charset="0"/>
              </a:rPr>
              <a:t>DateOnly.FromDateTime</a:t>
            </a:r>
            <a:r>
              <a:rPr lang="en-IN" sz="1100" dirty="0">
                <a:solidFill>
                  <a:srgbClr val="000000"/>
                </a:solidFill>
                <a:latin typeface="Cascadia Mono" panose="020B0609020000020004" pitchFamily="49" charset="0"/>
              </a:rPr>
              <a:t>(</a:t>
            </a:r>
            <a:r>
              <a:rPr lang="en-IN" sz="1100" dirty="0" err="1">
                <a:solidFill>
                  <a:srgbClr val="000000"/>
                </a:solidFill>
                <a:latin typeface="Cascadia Mono" panose="020B0609020000020004" pitchFamily="49" charset="0"/>
              </a:rPr>
              <a:t>DateTime.Now.AddDays</a:t>
            </a:r>
            <a:r>
              <a:rPr lang="en-IN" sz="1100" dirty="0">
                <a:solidFill>
                  <a:srgbClr val="000000"/>
                </a:solidFill>
                <a:latin typeface="Cascadia Mono" panose="020B0609020000020004" pitchFamily="49" charset="0"/>
              </a:rPr>
              <a:t>(index)),</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TemperatureC</a:t>
            </a:r>
            <a:r>
              <a:rPr lang="en-US" sz="1100" dirty="0">
                <a:solidFill>
                  <a:srgbClr val="000000"/>
                </a:solidFill>
                <a:latin typeface="Cascadia Mono" panose="020B0609020000020004" pitchFamily="49" charset="0"/>
              </a:rPr>
              <a:t> = </a:t>
            </a:r>
            <a:r>
              <a:rPr lang="en-US" sz="1100" dirty="0" err="1">
                <a:solidFill>
                  <a:srgbClr val="000000"/>
                </a:solidFill>
                <a:latin typeface="Cascadia Mono" panose="020B0609020000020004" pitchFamily="49" charset="0"/>
              </a:rPr>
              <a:t>Random.Shared.Next</a:t>
            </a:r>
            <a:r>
              <a:rPr lang="en-US" sz="1100" dirty="0">
                <a:solidFill>
                  <a:srgbClr val="000000"/>
                </a:solidFill>
                <a:latin typeface="Cascadia Mono" panose="020B0609020000020004" pitchFamily="49" charset="0"/>
              </a:rPr>
              <a:t>(-20, 55),</a:t>
            </a:r>
          </a:p>
          <a:p>
            <a:r>
              <a:rPr lang="en-US" sz="1100" dirty="0">
                <a:solidFill>
                  <a:srgbClr val="000000"/>
                </a:solidFill>
                <a:latin typeface="Cascadia Mono" panose="020B0609020000020004" pitchFamily="49" charset="0"/>
              </a:rPr>
              <a:t>                Summary = Summaries[</a:t>
            </a:r>
            <a:r>
              <a:rPr lang="en-US" sz="1100" dirty="0" err="1">
                <a:solidFill>
                  <a:srgbClr val="000000"/>
                </a:solidFill>
                <a:latin typeface="Cascadia Mono" panose="020B0609020000020004" pitchFamily="49" charset="0"/>
              </a:rPr>
              <a:t>Random.Shared.Next</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Summaries.Length</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ToArray</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endParaRPr lang="en-IN" sz="2800" dirty="0"/>
          </a:p>
        </p:txBody>
      </p:sp>
    </p:spTree>
    <p:extLst>
      <p:ext uri="{BB962C8B-B14F-4D97-AF65-F5344CB8AC3E}">
        <p14:creationId xmlns:p14="http://schemas.microsoft.com/office/powerpoint/2010/main" val="3881557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904" y="-519664"/>
            <a:ext cx="12955808" cy="7897327"/>
          </a:xfrm>
          <a:prstGeom prst="rect">
            <a:avLst/>
          </a:prstGeom>
        </p:spPr>
      </p:pic>
    </p:spTree>
    <p:extLst>
      <p:ext uri="{BB962C8B-B14F-4D97-AF65-F5344CB8AC3E}">
        <p14:creationId xmlns:p14="http://schemas.microsoft.com/office/powerpoint/2010/main" val="3678883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CDCB48-886C-ED6F-A4D1-895E9EE423DC}"/>
              </a:ext>
            </a:extLst>
          </p:cNvPr>
          <p:cNvSpPr txBox="1"/>
          <p:nvPr/>
        </p:nvSpPr>
        <p:spPr>
          <a:xfrm>
            <a:off x="86174" y="292575"/>
            <a:ext cx="6094428" cy="2800767"/>
          </a:xfrm>
          <a:prstGeom prst="rect">
            <a:avLst/>
          </a:prstGeom>
          <a:noFill/>
        </p:spPr>
        <p:txBody>
          <a:bodyPr wrap="square">
            <a:spAutoFit/>
          </a:bodyPr>
          <a:lstStyle/>
          <a:p>
            <a:r>
              <a:rPr lang="en-IN" sz="1600" dirty="0">
                <a:solidFill>
                  <a:srgbClr val="0000FF"/>
                </a:solidFill>
                <a:latin typeface="Cascadia Mono" panose="020B0609020000020004" pitchFamily="49" charset="0"/>
              </a:rPr>
              <a:t>public</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partial</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class</a:t>
            </a:r>
            <a:r>
              <a:rPr lang="en-IN" sz="1600" dirty="0">
                <a:solidFill>
                  <a:srgbClr val="000000"/>
                </a:solidFill>
                <a:latin typeface="Cascadia Mono" panose="020B0609020000020004" pitchFamily="49" charset="0"/>
              </a:rPr>
              <a:t> </a:t>
            </a:r>
            <a:r>
              <a:rPr lang="en-IN" sz="1600" dirty="0" err="1">
                <a:solidFill>
                  <a:srgbClr val="2B91AF"/>
                </a:solidFill>
                <a:latin typeface="Cascadia Mono" panose="020B0609020000020004" pitchFamily="49" charset="0"/>
              </a:rPr>
              <a:t>UserInfo</a:t>
            </a:r>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[Key]</a:t>
            </a:r>
            <a:endParaRPr lang="en-IN" sz="1600" dirty="0">
              <a:solidFill>
                <a:srgbClr val="000000"/>
              </a:solidFill>
              <a:latin typeface="Cascadia Mono" panose="020B0609020000020004" pitchFamily="49" charset="0"/>
            </a:endParaRP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int</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UserId</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a:t>
            </a:r>
            <a:r>
              <a:rPr lang="en-US" sz="1600" dirty="0">
                <a:solidFill>
                  <a:srgbClr val="000000"/>
                </a:solidFill>
                <a:latin typeface="Cascadia Mono" panose="020B0609020000020004" pitchFamily="49" charset="0"/>
              </a:rPr>
              <a:t> FirstName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LastName</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UserName</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Email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Password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DateTime</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CreatedDate</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p>
        </p:txBody>
      </p:sp>
      <p:sp>
        <p:nvSpPr>
          <p:cNvPr id="7" name="TextBox 6">
            <a:extLst>
              <a:ext uri="{FF2B5EF4-FFF2-40B4-BE49-F238E27FC236}">
                <a16:creationId xmlns:a16="http://schemas.microsoft.com/office/drawing/2014/main" id="{CEDF5F47-0D86-951E-B085-651D60191830}"/>
              </a:ext>
            </a:extLst>
          </p:cNvPr>
          <p:cNvSpPr txBox="1"/>
          <p:nvPr/>
        </p:nvSpPr>
        <p:spPr>
          <a:xfrm>
            <a:off x="1840174" y="2993727"/>
            <a:ext cx="9955695" cy="2092881"/>
          </a:xfrm>
          <a:prstGeom prst="rect">
            <a:avLst/>
          </a:prstGeom>
          <a:noFill/>
        </p:spPr>
        <p:txBody>
          <a:bodyPr wrap="square">
            <a:spAutoFit/>
          </a:bodyPr>
          <a:lstStyle/>
          <a:p>
            <a:r>
              <a:rPr lang="en-IN" sz="18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public</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class</a:t>
            </a:r>
            <a:r>
              <a:rPr lang="en-IN" sz="1600" dirty="0">
                <a:solidFill>
                  <a:srgbClr val="000000"/>
                </a:solidFill>
                <a:latin typeface="Cascadia Mono" panose="020B0609020000020004" pitchFamily="49" charset="0"/>
              </a:rPr>
              <a:t> </a:t>
            </a:r>
            <a:r>
              <a:rPr lang="en-IN" sz="1600" dirty="0" err="1">
                <a:solidFill>
                  <a:srgbClr val="2B91AF"/>
                </a:solidFill>
                <a:latin typeface="Cascadia Mono" panose="020B0609020000020004" pitchFamily="49" charset="0"/>
              </a:rPr>
              <a:t>UserDbContext</a:t>
            </a:r>
            <a:endParaRPr lang="en-IN"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      </a:t>
            </a:r>
            <a:r>
              <a:rPr lang="fr-FR" sz="1600" dirty="0">
                <a:solidFill>
                  <a:srgbClr val="0000FF"/>
                </a:solidFill>
                <a:latin typeface="Cascadia Mono" panose="020B0609020000020004" pitchFamily="49" charset="0"/>
              </a:rPr>
              <a:t>public</a:t>
            </a:r>
            <a:r>
              <a:rPr lang="fr-FR" sz="1600" dirty="0">
                <a:solidFill>
                  <a:srgbClr val="000000"/>
                </a:solidFill>
                <a:latin typeface="Cascadia Mono" panose="020B0609020000020004" pitchFamily="49" charset="0"/>
              </a:rPr>
              <a:t> </a:t>
            </a:r>
            <a:r>
              <a:rPr lang="fr-FR" sz="1600" dirty="0" err="1">
                <a:solidFill>
                  <a:srgbClr val="2B91AF"/>
                </a:solidFill>
                <a:latin typeface="Cascadia Mono" panose="020B0609020000020004" pitchFamily="49" charset="0"/>
              </a:rPr>
              <a:t>UserDbContext</a:t>
            </a:r>
            <a:r>
              <a:rPr lang="fr-FR" sz="1600" dirty="0">
                <a:solidFill>
                  <a:srgbClr val="2B91AF"/>
                </a:solidFill>
                <a:latin typeface="Cascadia Mono" panose="020B0609020000020004" pitchFamily="49" charset="0"/>
              </a:rPr>
              <a:t> </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DbContextOptions</a:t>
            </a:r>
            <a:r>
              <a:rPr lang="fr-FR" sz="1600" dirty="0">
                <a:solidFill>
                  <a:srgbClr val="000000"/>
                </a:solidFill>
                <a:latin typeface="Cascadia Mono" panose="020B0609020000020004" pitchFamily="49" charset="0"/>
              </a:rPr>
              <a:t>&lt;</a:t>
            </a:r>
            <a:r>
              <a:rPr lang="fr-FR" sz="1600" dirty="0" err="1">
                <a:solidFill>
                  <a:srgbClr val="000000"/>
                </a:solidFill>
                <a:latin typeface="Cascadia Mono" panose="020B0609020000020004" pitchFamily="49" charset="0"/>
              </a:rPr>
              <a:t>Appdbcontext</a:t>
            </a:r>
            <a:r>
              <a:rPr lang="fr-FR" sz="1600" dirty="0">
                <a:solidFill>
                  <a:srgbClr val="000000"/>
                </a:solidFill>
                <a:latin typeface="Cascadia Mono" panose="020B0609020000020004" pitchFamily="49" charset="0"/>
              </a:rPr>
              <a:t>&gt; options )</a:t>
            </a:r>
          </a:p>
          <a:p>
            <a:r>
              <a:rPr lang="en-IN" sz="1600" dirty="0">
                <a:solidFill>
                  <a:srgbClr val="000000"/>
                </a:solidFill>
                <a:latin typeface="Cascadia Mono" panose="020B0609020000020004" pitchFamily="49" charset="0"/>
              </a:rPr>
              <a:t>             : </a:t>
            </a:r>
            <a:r>
              <a:rPr lang="en-IN" sz="1600" dirty="0">
                <a:solidFill>
                  <a:srgbClr val="0000FF"/>
                </a:solidFill>
                <a:latin typeface="Cascadia Mono" panose="020B0609020000020004" pitchFamily="49" charset="0"/>
              </a:rPr>
              <a:t>base</a:t>
            </a:r>
            <a:r>
              <a:rPr lang="en-IN" sz="1600" dirty="0">
                <a:solidFill>
                  <a:srgbClr val="000000"/>
                </a:solidFill>
                <a:latin typeface="Cascadia Mono" panose="020B0609020000020004" pitchFamily="49" charset="0"/>
              </a:rPr>
              <a:t>(options)</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DbSet</a:t>
            </a:r>
            <a:r>
              <a:rPr lang="en-US" sz="1600" dirty="0">
                <a:solidFill>
                  <a:srgbClr val="000000"/>
                </a:solidFill>
                <a:latin typeface="Cascadia Mono" panose="020B0609020000020004" pitchFamily="49" charset="0"/>
              </a:rPr>
              <a:t>&lt;</a:t>
            </a:r>
            <a:r>
              <a:rPr lang="en-US" sz="1600" dirty="0" err="1">
                <a:solidFill>
                  <a:srgbClr val="000000"/>
                </a:solidFill>
                <a:latin typeface="Cascadia Mono" panose="020B0609020000020004" pitchFamily="49" charset="0"/>
              </a:rPr>
              <a:t>UserInfo</a:t>
            </a:r>
            <a:r>
              <a:rPr lang="en-US" sz="1600" dirty="0">
                <a:solidFill>
                  <a:srgbClr val="000000"/>
                </a:solidFill>
                <a:latin typeface="Cascadia Mono" panose="020B0609020000020004" pitchFamily="49" charset="0"/>
              </a:rPr>
              <a:t>&gt; </a:t>
            </a:r>
            <a:r>
              <a:rPr lang="en-US" sz="1600" dirty="0" err="1">
                <a:solidFill>
                  <a:srgbClr val="000000"/>
                </a:solidFill>
                <a:latin typeface="Cascadia Mono" panose="020B0609020000020004" pitchFamily="49" charset="0"/>
              </a:rPr>
              <a:t>userInfos</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endParaRPr lang="en-IN" sz="1600" dirty="0"/>
          </a:p>
        </p:txBody>
      </p:sp>
      <p:sp>
        <p:nvSpPr>
          <p:cNvPr id="3" name="TextBox 2">
            <a:extLst>
              <a:ext uri="{FF2B5EF4-FFF2-40B4-BE49-F238E27FC236}">
                <a16:creationId xmlns:a16="http://schemas.microsoft.com/office/drawing/2014/main" id="{D6F6FB70-3B2A-1DBC-0E66-78481E0B7FEC}"/>
              </a:ext>
            </a:extLst>
          </p:cNvPr>
          <p:cNvSpPr txBox="1"/>
          <p:nvPr/>
        </p:nvSpPr>
        <p:spPr>
          <a:xfrm>
            <a:off x="6412584" y="964400"/>
            <a:ext cx="5135251"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800" dirty="0">
                <a:solidFill>
                  <a:srgbClr val="000000"/>
                </a:solidFill>
                <a:latin typeface="Cascadia Mono" panose="020B0609020000020004" pitchFamily="49" charset="0"/>
              </a:rPr>
              <a:t>[</a:t>
            </a:r>
            <a:r>
              <a:rPr lang="en-US" sz="1800" dirty="0" err="1">
                <a:solidFill>
                  <a:srgbClr val="000000"/>
                </a:solidFill>
                <a:latin typeface="Cascadia Mono" panose="020B0609020000020004" pitchFamily="49" charset="0"/>
              </a:rPr>
              <a:t>CreatedDate</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DATETIME</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DEFAULT </a:t>
            </a:r>
            <a:r>
              <a:rPr lang="en-US" sz="1800" dirty="0">
                <a:solidFill>
                  <a:srgbClr val="808080"/>
                </a:solidFill>
                <a:latin typeface="Cascadia Mono" panose="020B0609020000020004" pitchFamily="49" charset="0"/>
              </a:rPr>
              <a:t>(</a:t>
            </a:r>
            <a:r>
              <a:rPr lang="en-US" sz="1800" dirty="0" err="1">
                <a:solidFill>
                  <a:srgbClr val="FF00FF"/>
                </a:solidFill>
                <a:latin typeface="Cascadia Mono" panose="020B0609020000020004" pitchFamily="49" charset="0"/>
              </a:rPr>
              <a:t>getdate</a:t>
            </a:r>
            <a:r>
              <a:rPr lang="en-US" sz="1800" dirty="0">
                <a:solidFill>
                  <a:srgbClr val="808080"/>
                </a:solidFill>
                <a:latin typeface="Cascadia Mono" panose="020B0609020000020004" pitchFamily="49" charset="0"/>
              </a:rPr>
              <a: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NOT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NULL,</a:t>
            </a:r>
          </a:p>
          <a:p>
            <a:r>
              <a:rPr lang="en-US" dirty="0">
                <a:solidFill>
                  <a:srgbClr val="808080"/>
                </a:solidFill>
                <a:latin typeface="Cascadia Mono" panose="020B0609020000020004" pitchFamily="49" charset="0"/>
              </a:rPr>
              <a:t>AT table level set default value</a:t>
            </a:r>
            <a:endParaRPr lang="en-IN" dirty="0"/>
          </a:p>
        </p:txBody>
      </p:sp>
      <p:sp>
        <p:nvSpPr>
          <p:cNvPr id="4" name="TextBox 3">
            <a:extLst>
              <a:ext uri="{FF2B5EF4-FFF2-40B4-BE49-F238E27FC236}">
                <a16:creationId xmlns:a16="http://schemas.microsoft.com/office/drawing/2014/main" id="{7FB4AF55-CBE6-489E-81E9-31B19B67C530}"/>
              </a:ext>
            </a:extLst>
          </p:cNvPr>
          <p:cNvSpPr txBox="1"/>
          <p:nvPr/>
        </p:nvSpPr>
        <p:spPr>
          <a:xfrm>
            <a:off x="162203" y="5521881"/>
            <a:ext cx="3355942" cy="1200329"/>
          </a:xfrm>
          <a:prstGeom prst="rect">
            <a:avLst/>
          </a:prstGeom>
          <a:noFill/>
        </p:spPr>
        <p:txBody>
          <a:bodyPr wrap="square" rtlCol="0">
            <a:spAutoFit/>
          </a:bodyPr>
          <a:lstStyle/>
          <a:p>
            <a:r>
              <a:rPr lang="en-US" dirty="0"/>
              <a:t>Add-</a:t>
            </a:r>
            <a:r>
              <a:rPr lang="en-US" dirty="0" err="1"/>
              <a:t>Migeration</a:t>
            </a:r>
            <a:endParaRPr lang="en-US" dirty="0"/>
          </a:p>
          <a:p>
            <a:r>
              <a:rPr lang="en-US" dirty="0"/>
              <a:t>Update-Database</a:t>
            </a:r>
          </a:p>
          <a:p>
            <a:endParaRPr lang="en-US" dirty="0"/>
          </a:p>
          <a:p>
            <a:r>
              <a:rPr lang="en-US" dirty="0"/>
              <a:t>Above command will create table </a:t>
            </a:r>
            <a:endParaRPr lang="en-IN" dirty="0"/>
          </a:p>
        </p:txBody>
      </p:sp>
      <p:pic>
        <p:nvPicPr>
          <p:cNvPr id="2" name="Picture 1"/>
          <p:cNvPicPr>
            <a:picLocks noChangeAspect="1"/>
          </p:cNvPicPr>
          <p:nvPr/>
        </p:nvPicPr>
        <p:blipFill>
          <a:blip r:embed="rId2"/>
          <a:stretch>
            <a:fillRect/>
          </a:stretch>
        </p:blipFill>
        <p:spPr>
          <a:xfrm>
            <a:off x="4833286" y="4986992"/>
            <a:ext cx="6626206" cy="1871008"/>
          </a:xfrm>
          <a:prstGeom prst="rect">
            <a:avLst/>
          </a:prstGeom>
        </p:spPr>
      </p:pic>
    </p:spTree>
    <p:extLst>
      <p:ext uri="{BB962C8B-B14F-4D97-AF65-F5344CB8AC3E}">
        <p14:creationId xmlns:p14="http://schemas.microsoft.com/office/powerpoint/2010/main" val="2205622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C22359-456F-E99D-3D27-2ECFF2AFE986}"/>
              </a:ext>
            </a:extLst>
          </p:cNvPr>
          <p:cNvSpPr txBox="1"/>
          <p:nvPr/>
        </p:nvSpPr>
        <p:spPr>
          <a:xfrm>
            <a:off x="228601" y="370437"/>
            <a:ext cx="5247860" cy="203132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IN" sz="1050" dirty="0">
                <a:solidFill>
                  <a:srgbClr val="2E75B6"/>
                </a:solidFill>
                <a:latin typeface="Cascadia Mono" panose="020B0609020000020004" pitchFamily="49" charset="0"/>
              </a:rPr>
              <a:t>"</a:t>
            </a:r>
            <a:r>
              <a:rPr lang="en-IN" sz="1050" dirty="0" err="1">
                <a:solidFill>
                  <a:srgbClr val="2E75B6"/>
                </a:solidFill>
                <a:latin typeface="Cascadia Mono" panose="020B0609020000020004" pitchFamily="49" charset="0"/>
              </a:rPr>
              <a:t>ConnectionStrings</a:t>
            </a:r>
            <a:r>
              <a:rPr lang="en-IN" sz="1050" dirty="0">
                <a:solidFill>
                  <a:srgbClr val="2E75B6"/>
                </a:solidFill>
                <a:latin typeface="Cascadia Mono" panose="020B0609020000020004" pitchFamily="49" charset="0"/>
              </a:rPr>
              <a:t>"</a:t>
            </a:r>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a:t>
            </a:r>
            <a:r>
              <a:rPr lang="en-IN" sz="1050" dirty="0" err="1">
                <a:solidFill>
                  <a:srgbClr val="2E75B6"/>
                </a:solidFill>
                <a:latin typeface="Cascadia Mono" panose="020B0609020000020004" pitchFamily="49" charset="0"/>
              </a:rPr>
              <a:t>EmployeeDBConnection</a:t>
            </a:r>
            <a:r>
              <a:rPr lang="en-IN" sz="1050" dirty="0">
                <a:solidFill>
                  <a:srgbClr val="2E75B6"/>
                </a:solidFill>
                <a:latin typeface="Cascadia Mono" panose="020B0609020000020004" pitchFamily="49" charset="0"/>
              </a:rPr>
              <a:t>"</a:t>
            </a:r>
            <a:r>
              <a:rPr lang="en-IN" sz="1050" dirty="0">
                <a:solidFill>
                  <a:srgbClr val="000000"/>
                </a:solidFill>
                <a:latin typeface="Cascadia Mono" panose="020B0609020000020004" pitchFamily="49" charset="0"/>
              </a:rPr>
              <a:t>: </a:t>
            </a:r>
            <a:r>
              <a:rPr lang="en-IN" sz="1050" dirty="0">
                <a:solidFill>
                  <a:srgbClr val="A31515"/>
                </a:solidFill>
                <a:latin typeface="Cascadia Mono" panose="020B0609020000020004" pitchFamily="49" charset="0"/>
              </a:rPr>
              <a:t>"Data Source=(</a:t>
            </a:r>
            <a:r>
              <a:rPr lang="en-IN" sz="1050" dirty="0" err="1">
                <a:solidFill>
                  <a:srgbClr val="A31515"/>
                </a:solidFill>
                <a:latin typeface="Cascadia Mono" panose="020B0609020000020004" pitchFamily="49" charset="0"/>
              </a:rPr>
              <a:t>localdb</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ProjectModels;Initial</a:t>
            </a:r>
            <a:r>
              <a:rPr lang="en-IN" sz="1050" dirty="0">
                <a:solidFill>
                  <a:srgbClr val="A31515"/>
                </a:solidFill>
                <a:latin typeface="Cascadia Mono" panose="020B0609020000020004" pitchFamily="49" charset="0"/>
              </a:rPr>
              <a:t> </a:t>
            </a:r>
            <a:r>
              <a:rPr lang="en-IN" sz="1050" dirty="0" err="1">
                <a:solidFill>
                  <a:srgbClr val="A31515"/>
                </a:solidFill>
                <a:latin typeface="Cascadia Mono" panose="020B0609020000020004" pitchFamily="49" charset="0"/>
              </a:rPr>
              <a:t>Catalog</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DemoData_Student;Integrated</a:t>
            </a:r>
            <a:r>
              <a:rPr lang="en-IN" sz="1050" dirty="0">
                <a:solidFill>
                  <a:srgbClr val="A31515"/>
                </a:solidFill>
                <a:latin typeface="Cascadia Mono" panose="020B0609020000020004" pitchFamily="49" charset="0"/>
              </a:rPr>
              <a:t> Security=True"</a:t>
            </a:r>
            <a:endParaRPr lang="en-IN" sz="1050" dirty="0">
              <a:solidFill>
                <a:srgbClr val="000000"/>
              </a:solidFill>
              <a:latin typeface="Cascadia Mono" panose="020B0609020000020004" pitchFamily="49" charset="0"/>
            </a:endParaRP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a:t>
            </a:r>
            <a:r>
              <a:rPr lang="en-IN" sz="1050" dirty="0" err="1">
                <a:solidFill>
                  <a:srgbClr val="2E75B6"/>
                </a:solidFill>
                <a:latin typeface="Cascadia Mono" panose="020B0609020000020004" pitchFamily="49" charset="0"/>
              </a:rPr>
              <a:t>Jwt</a:t>
            </a:r>
            <a:r>
              <a:rPr lang="en-IN" sz="1050" dirty="0">
                <a:solidFill>
                  <a:srgbClr val="2E75B6"/>
                </a:solidFill>
                <a:latin typeface="Cascadia Mono" panose="020B0609020000020004" pitchFamily="49" charset="0"/>
              </a:rPr>
              <a:t>"</a:t>
            </a:r>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"Key"</a:t>
            </a:r>
            <a:r>
              <a:rPr lang="en-IN" sz="1050" dirty="0">
                <a:solidFill>
                  <a:srgbClr val="000000"/>
                </a:solidFill>
                <a:latin typeface="Cascadia Mono" panose="020B0609020000020004" pitchFamily="49" charset="0"/>
              </a:rPr>
              <a:t>: </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Mykeyvidyanidhicom</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"Issuer"</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AuthenticatorServer</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"Audience"</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EmployeeService</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"Subject"</a:t>
            </a:r>
            <a:r>
              <a:rPr lang="en-IN" sz="1050" dirty="0">
                <a:solidFill>
                  <a:srgbClr val="000000"/>
                </a:solidFill>
                <a:latin typeface="Cascadia Mono" panose="020B0609020000020004" pitchFamily="49" charset="0"/>
              </a:rPr>
              <a:t>: </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GiveToken</a:t>
            </a:r>
            <a:r>
              <a:rPr lang="en-IN" sz="1050" dirty="0">
                <a:solidFill>
                  <a:srgbClr val="A31515"/>
                </a:solidFill>
                <a:latin typeface="Cascadia Mono" panose="020B0609020000020004" pitchFamily="49" charset="0"/>
              </a:rPr>
              <a:t>"</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endParaRPr lang="en-IN" sz="2400" dirty="0"/>
          </a:p>
        </p:txBody>
      </p:sp>
      <p:sp>
        <p:nvSpPr>
          <p:cNvPr id="2" name="TextBox 1">
            <a:extLst>
              <a:ext uri="{FF2B5EF4-FFF2-40B4-BE49-F238E27FC236}">
                <a16:creationId xmlns:a16="http://schemas.microsoft.com/office/drawing/2014/main" id="{B0396062-FAF2-E097-AF4D-2EC8B28552A1}"/>
              </a:ext>
            </a:extLst>
          </p:cNvPr>
          <p:cNvSpPr txBox="1"/>
          <p:nvPr/>
        </p:nvSpPr>
        <p:spPr>
          <a:xfrm>
            <a:off x="367645" y="2762054"/>
            <a:ext cx="9370244" cy="646331"/>
          </a:xfrm>
          <a:prstGeom prst="rect">
            <a:avLst/>
          </a:prstGeom>
          <a:noFill/>
        </p:spPr>
        <p:txBody>
          <a:bodyPr wrap="square" rtlCol="0">
            <a:spAutoFit/>
          </a:bodyPr>
          <a:lstStyle/>
          <a:p>
            <a:r>
              <a:rPr lang="en-US" dirty="0"/>
              <a:t>IN </a:t>
            </a:r>
            <a:r>
              <a:rPr lang="en-US" dirty="0" err="1"/>
              <a:t>appsettings,json</a:t>
            </a:r>
            <a:r>
              <a:rPr lang="en-US" dirty="0"/>
              <a:t> file set connection string and </a:t>
            </a:r>
            <a:r>
              <a:rPr lang="en-US" dirty="0" err="1"/>
              <a:t>Jwt</a:t>
            </a:r>
            <a:r>
              <a:rPr lang="en-US" dirty="0"/>
              <a:t> token details</a:t>
            </a:r>
          </a:p>
          <a:p>
            <a:endParaRPr lang="en-IN" dirty="0"/>
          </a:p>
        </p:txBody>
      </p:sp>
      <p:cxnSp>
        <p:nvCxnSpPr>
          <p:cNvPr id="4" name="Straight Arrow Connector 3">
            <a:extLst>
              <a:ext uri="{FF2B5EF4-FFF2-40B4-BE49-F238E27FC236}">
                <a16:creationId xmlns:a16="http://schemas.microsoft.com/office/drawing/2014/main" id="{477FE977-0B8E-5D93-1769-3D0163025C6C}"/>
              </a:ext>
            </a:extLst>
          </p:cNvPr>
          <p:cNvCxnSpPr>
            <a:cxnSpLocks/>
          </p:cNvCxnSpPr>
          <p:nvPr/>
        </p:nvCxnSpPr>
        <p:spPr>
          <a:xfrm flipV="1">
            <a:off x="2405269" y="1013791"/>
            <a:ext cx="4581940" cy="407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79C5CC-E03A-A144-E5A9-D81A5F5B80E4}"/>
              </a:ext>
            </a:extLst>
          </p:cNvPr>
          <p:cNvSpPr txBox="1"/>
          <p:nvPr/>
        </p:nvSpPr>
        <p:spPr>
          <a:xfrm>
            <a:off x="7146235" y="258417"/>
            <a:ext cx="4293704" cy="1200329"/>
          </a:xfrm>
          <a:prstGeom prst="rect">
            <a:avLst/>
          </a:prstGeom>
          <a:noFill/>
        </p:spPr>
        <p:txBody>
          <a:bodyPr wrap="square" rtlCol="0">
            <a:spAutoFit/>
          </a:bodyPr>
          <a:lstStyle/>
          <a:p>
            <a:r>
              <a:rPr lang="en-US" dirty="0"/>
              <a:t>This Variables are used at 2 other place</a:t>
            </a:r>
          </a:p>
          <a:p>
            <a:endParaRPr lang="en-US" dirty="0"/>
          </a:p>
          <a:p>
            <a:r>
              <a:rPr lang="en-US" b="1" dirty="0"/>
              <a:t>1</a:t>
            </a:r>
            <a:r>
              <a:rPr lang="en-US" dirty="0"/>
              <a:t>. </a:t>
            </a:r>
            <a:r>
              <a:rPr lang="en-IN" sz="1800" dirty="0" err="1">
                <a:solidFill>
                  <a:srgbClr val="2B91AF"/>
                </a:solidFill>
                <a:latin typeface="Cascadia Mono" panose="020B0609020000020004" pitchFamily="49" charset="0"/>
              </a:rPr>
              <a:t>TokenController</a:t>
            </a:r>
            <a:r>
              <a:rPr lang="en-IN" sz="1800" dirty="0">
                <a:solidFill>
                  <a:srgbClr val="000000"/>
                </a:solidFill>
                <a:latin typeface="Cascadia Mono" panose="020B0609020000020004" pitchFamily="49" charset="0"/>
              </a:rPr>
              <a:t> class</a:t>
            </a:r>
          </a:p>
          <a:p>
            <a:r>
              <a:rPr lang="en-IN" dirty="0">
                <a:solidFill>
                  <a:srgbClr val="000000"/>
                </a:solidFill>
                <a:latin typeface="Cascadia Mono" panose="020B0609020000020004" pitchFamily="49" charset="0"/>
              </a:rPr>
              <a:t>2. </a:t>
            </a:r>
            <a:r>
              <a:rPr lang="en-IN" sz="1800" dirty="0">
                <a:solidFill>
                  <a:srgbClr val="2B91AF"/>
                </a:solidFill>
                <a:latin typeface="Cascadia Mono" panose="020B0609020000020004" pitchFamily="49" charset="0"/>
              </a:rPr>
              <a:t>Program </a:t>
            </a:r>
            <a:r>
              <a:rPr lang="en-IN" sz="1800" dirty="0">
                <a:latin typeface="Cascadia Mono" panose="020B0609020000020004" pitchFamily="49" charset="0"/>
              </a:rPr>
              <a:t>class</a:t>
            </a:r>
            <a:endParaRPr lang="en-IN" dirty="0"/>
          </a:p>
        </p:txBody>
      </p:sp>
      <p:pic>
        <p:nvPicPr>
          <p:cNvPr id="3" name="Picture 2"/>
          <p:cNvPicPr>
            <a:picLocks noChangeAspect="1"/>
          </p:cNvPicPr>
          <p:nvPr/>
        </p:nvPicPr>
        <p:blipFill>
          <a:blip r:embed="rId2"/>
          <a:stretch>
            <a:fillRect/>
          </a:stretch>
        </p:blipFill>
        <p:spPr>
          <a:xfrm>
            <a:off x="3094766" y="3162299"/>
            <a:ext cx="8102937" cy="4124325"/>
          </a:xfrm>
          <a:prstGeom prst="rect">
            <a:avLst/>
          </a:prstGeom>
        </p:spPr>
      </p:pic>
      <p:sp>
        <p:nvSpPr>
          <p:cNvPr id="6" name="TextBox 5"/>
          <p:cNvSpPr txBox="1"/>
          <p:nvPr/>
        </p:nvSpPr>
        <p:spPr>
          <a:xfrm>
            <a:off x="6987209" y="1781588"/>
            <a:ext cx="4928566" cy="646331"/>
          </a:xfrm>
          <a:prstGeom prst="rect">
            <a:avLst/>
          </a:prstGeom>
          <a:noFill/>
        </p:spPr>
        <p:txBody>
          <a:bodyPr wrap="square" rtlCol="0">
            <a:spAutoFit/>
          </a:bodyPr>
          <a:lstStyle/>
          <a:p>
            <a:r>
              <a:rPr lang="en-US" dirty="0"/>
              <a:t>Ensure that Key size must be &gt;256 else you get following error</a:t>
            </a:r>
            <a:endParaRPr lang="en-IN" dirty="0"/>
          </a:p>
        </p:txBody>
      </p:sp>
      <p:cxnSp>
        <p:nvCxnSpPr>
          <p:cNvPr id="9" name="Straight Arrow Connector 8"/>
          <p:cNvCxnSpPr/>
          <p:nvPr/>
        </p:nvCxnSpPr>
        <p:spPr>
          <a:xfrm>
            <a:off x="2981325" y="1625813"/>
            <a:ext cx="3867150" cy="476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806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D98BC3-67E0-FC5D-B6F6-3EC93817323D}"/>
              </a:ext>
            </a:extLst>
          </p:cNvPr>
          <p:cNvSpPr txBox="1"/>
          <p:nvPr/>
        </p:nvSpPr>
        <p:spPr>
          <a:xfrm>
            <a:off x="285160" y="14096"/>
            <a:ext cx="11649173" cy="7848302"/>
          </a:xfrm>
          <a:prstGeom prst="rect">
            <a:avLst/>
          </a:prstGeom>
          <a:noFill/>
        </p:spPr>
        <p:txBody>
          <a:bodyPr wrap="square">
            <a:spAutoFit/>
          </a:bodyPr>
          <a:lstStyle/>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WebAppJWTService.Controllers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[Route(</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api</a:t>
            </a:r>
            <a:r>
              <a:rPr lang="en-IN" sz="900" dirty="0">
                <a:solidFill>
                  <a:srgbClr val="A31515"/>
                </a:solidFill>
                <a:latin typeface="Cascadia Mono" panose="020B0609020000020004" pitchFamily="49" charset="0"/>
              </a:rPr>
              <a:t>/[controller]"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ApiController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TokenController</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ControllerBase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_configuration;</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private</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readonly</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UserDbContext</a:t>
            </a:r>
            <a:r>
              <a:rPr lang="en-IN" sz="900" dirty="0">
                <a:solidFill>
                  <a:srgbClr val="000000"/>
                </a:solidFill>
                <a:latin typeface="Cascadia Mono" panose="020B0609020000020004" pitchFamily="49" charset="0"/>
              </a:rPr>
              <a:t> _context;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TokenController</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_configuration, </a:t>
            </a:r>
            <a:r>
              <a:rPr lang="en-IN" sz="900" dirty="0" err="1">
                <a:solidFill>
                  <a:srgbClr val="000000"/>
                </a:solidFill>
                <a:latin typeface="Cascadia Mono" panose="020B0609020000020004" pitchFamily="49" charset="0"/>
              </a:rPr>
              <a:t>UserDbContext</a:t>
            </a:r>
            <a:r>
              <a:rPr lang="en-IN" sz="900" dirty="0">
                <a:solidFill>
                  <a:srgbClr val="000000"/>
                </a:solidFill>
                <a:latin typeface="Cascadia Mono" panose="020B0609020000020004" pitchFamily="49" charset="0"/>
              </a:rPr>
              <a:t> _context)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this</a:t>
            </a:r>
            <a:r>
              <a:rPr lang="en-IN" sz="900" dirty="0" err="1">
                <a:solidFill>
                  <a:srgbClr val="000000"/>
                </a:solidFill>
                <a:latin typeface="Cascadia Mono" panose="020B0609020000020004" pitchFamily="49" charset="0"/>
              </a:rPr>
              <a:t>._configuration</a:t>
            </a:r>
            <a:r>
              <a:rPr lang="en-IN" sz="900" dirty="0">
                <a:solidFill>
                  <a:srgbClr val="000000"/>
                </a:solidFill>
                <a:latin typeface="Cascadia Mono" panose="020B0609020000020004" pitchFamily="49" charset="0"/>
              </a:rPr>
              <a:t> = _configuration;</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this</a:t>
            </a:r>
            <a:r>
              <a:rPr lang="en-IN" sz="900" dirty="0" err="1">
                <a:solidFill>
                  <a:srgbClr val="000000"/>
                </a:solidFill>
                <a:latin typeface="Cascadia Mono" panose="020B0609020000020004" pitchFamily="49" charset="0"/>
              </a:rPr>
              <a:t>._context</a:t>
            </a:r>
            <a:r>
              <a:rPr lang="en-IN" sz="900" dirty="0">
                <a:solidFill>
                  <a:srgbClr val="000000"/>
                </a:solidFill>
                <a:latin typeface="Cascadia Mono" panose="020B0609020000020004" pitchFamily="49" charset="0"/>
              </a:rPr>
              <a:t> = _context;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HttpPost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async</a:t>
            </a:r>
            <a:r>
              <a:rPr lang="en-US" sz="900" dirty="0">
                <a:solidFill>
                  <a:srgbClr val="000000"/>
                </a:solidFill>
                <a:latin typeface="Cascadia Mono" panose="020B0609020000020004" pitchFamily="49" charset="0"/>
              </a:rPr>
              <a:t> Task&lt;</a:t>
            </a:r>
            <a:r>
              <a:rPr lang="en-US" sz="900" dirty="0" err="1">
                <a:solidFill>
                  <a:srgbClr val="000000"/>
                </a:solidFill>
                <a:latin typeface="Cascadia Mono" panose="020B0609020000020004" pitchFamily="49" charset="0"/>
              </a:rPr>
              <a:t>IActionResult</a:t>
            </a:r>
            <a:r>
              <a:rPr lang="en-US" sz="900" dirty="0">
                <a:solidFill>
                  <a:srgbClr val="000000"/>
                </a:solidFill>
                <a:latin typeface="Cascadia Mono" panose="020B0609020000020004" pitchFamily="49" charset="0"/>
              </a:rPr>
              <a:t>&gt; Post(</a:t>
            </a:r>
            <a:r>
              <a:rPr lang="en-US" sz="900" dirty="0" err="1">
                <a:solidFill>
                  <a:srgbClr val="000000"/>
                </a:solidFill>
                <a:latin typeface="Cascadia Mono" panose="020B0609020000020004" pitchFamily="49" charset="0"/>
              </a:rPr>
              <a:t>UserInfo</a:t>
            </a:r>
            <a:r>
              <a:rPr lang="en-US" sz="900" dirty="0">
                <a:solidFill>
                  <a:srgbClr val="000000"/>
                </a:solidFill>
                <a:latin typeface="Cascadia Mono" panose="020B0609020000020004" pitchFamily="49" charset="0"/>
              </a:rPr>
              <a:t> _</a:t>
            </a:r>
            <a:r>
              <a:rPr lang="en-US" sz="900" dirty="0" err="1">
                <a:solidFill>
                  <a:srgbClr val="000000"/>
                </a:solidFill>
                <a:latin typeface="Cascadia Mono" panose="020B0609020000020004" pitchFamily="49" charset="0"/>
              </a:rPr>
              <a:t>userData</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userData</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 &amp;&amp; _</a:t>
            </a:r>
            <a:r>
              <a:rPr lang="en-IN" sz="900" dirty="0" err="1">
                <a:solidFill>
                  <a:srgbClr val="000000"/>
                </a:solidFill>
                <a:latin typeface="Cascadia Mono" panose="020B0609020000020004" pitchFamily="49" charset="0"/>
              </a:rPr>
              <a:t>userData.Email</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 &amp;&amp; _</a:t>
            </a:r>
            <a:r>
              <a:rPr lang="en-IN" sz="900" dirty="0" err="1">
                <a:solidFill>
                  <a:srgbClr val="000000"/>
                </a:solidFill>
                <a:latin typeface="Cascadia Mono" panose="020B0609020000020004" pitchFamily="49" charset="0"/>
              </a:rPr>
              <a:t>userData.Password</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user = </a:t>
            </a:r>
            <a:r>
              <a:rPr lang="en-IN" sz="900" dirty="0">
                <a:solidFill>
                  <a:srgbClr val="0000FF"/>
                </a:solidFill>
                <a:highlight>
                  <a:srgbClr val="FFFF00"/>
                </a:highlight>
                <a:latin typeface="Cascadia Mono" panose="020B0609020000020004" pitchFamily="49" charset="0"/>
              </a:rPr>
              <a:t>await</a:t>
            </a:r>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00FFFF"/>
                </a:highlight>
                <a:latin typeface="Cascadia Mono" panose="020B0609020000020004" pitchFamily="49" charset="0"/>
              </a:rPr>
              <a:t>GetUser</a:t>
            </a:r>
            <a:r>
              <a:rPr lang="en-IN" sz="900" dirty="0">
                <a:solidFill>
                  <a:srgbClr val="000000"/>
                </a:solidFill>
                <a:highlight>
                  <a:srgbClr val="00FFFF"/>
                </a:highlight>
                <a:latin typeface="Cascadia Mono" panose="020B0609020000020004" pitchFamily="49" charset="0"/>
              </a:rPr>
              <a:t>(_</a:t>
            </a:r>
            <a:r>
              <a:rPr lang="en-IN" sz="900" dirty="0" err="1">
                <a:solidFill>
                  <a:srgbClr val="000000"/>
                </a:solidFill>
                <a:highlight>
                  <a:srgbClr val="00FFFF"/>
                </a:highlight>
                <a:latin typeface="Cascadia Mono" panose="020B0609020000020004" pitchFamily="49" charset="0"/>
              </a:rPr>
              <a:t>userData.Email</a:t>
            </a:r>
            <a:r>
              <a:rPr lang="en-IN" sz="900" dirty="0">
                <a:solidFill>
                  <a:srgbClr val="000000"/>
                </a:solidFill>
                <a:highlight>
                  <a:srgbClr val="00FFFF"/>
                </a:highlight>
                <a:latin typeface="Cascadia Mono" panose="020B0609020000020004" pitchFamily="49" charset="0"/>
              </a:rPr>
              <a:t>, _</a:t>
            </a:r>
            <a:r>
              <a:rPr lang="en-IN" sz="900" dirty="0" err="1">
                <a:solidFill>
                  <a:srgbClr val="000000"/>
                </a:solidFill>
                <a:highlight>
                  <a:srgbClr val="00FFFF"/>
                </a:highlight>
                <a:latin typeface="Cascadia Mono" panose="020B0609020000020004" pitchFamily="49" charset="0"/>
              </a:rPr>
              <a:t>userData.Password</a:t>
            </a:r>
            <a:r>
              <a:rPr lang="en-IN" sz="900" dirty="0">
                <a:solidFill>
                  <a:srgbClr val="000000"/>
                </a:solidFill>
                <a:highlight>
                  <a:srgbClr val="00FFFF"/>
                </a:highlight>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(user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//create claims details based on the user </a:t>
            </a:r>
            <a:r>
              <a:rPr lang="en-US" sz="900" dirty="0" err="1">
                <a:solidFill>
                  <a:srgbClr val="008000"/>
                </a:solidFill>
                <a:latin typeface="Cascadia Mono" panose="020B0609020000020004" pitchFamily="49" charset="0"/>
              </a:rPr>
              <a:t>informatio</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claims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err="1">
                <a:solidFill>
                  <a:srgbClr val="000000"/>
                </a:solidFill>
                <a:latin typeface="Cascadia Mono" panose="020B0609020000020004" pitchFamily="49" charset="0"/>
              </a:rPr>
              <a:t>JwtRegisteredClaimNames.Sub</a:t>
            </a:r>
            <a:r>
              <a:rPr lang="en-US" sz="900" dirty="0">
                <a:solidFill>
                  <a:srgbClr val="000000"/>
                </a:solidFill>
                <a:latin typeface="Cascadia Mono" panose="020B0609020000020004" pitchFamily="49" charset="0"/>
              </a:rPr>
              <a:t>, _configuration[</a:t>
            </a:r>
            <a:r>
              <a:rPr lang="en-US" sz="900" dirty="0">
                <a:solidFill>
                  <a:srgbClr val="A31515"/>
                </a:solidFill>
                <a:latin typeface="Cascadia Mono" panose="020B0609020000020004" pitchFamily="49" charset="0"/>
              </a:rPr>
              <a:t>"</a:t>
            </a:r>
            <a:r>
              <a:rPr lang="en-US" sz="900" dirty="0" err="1">
                <a:solidFill>
                  <a:srgbClr val="A31515"/>
                </a:solidFill>
                <a:highlight>
                  <a:srgbClr val="FFFF00"/>
                </a:highlight>
                <a:latin typeface="Cascadia Mono" panose="020B0609020000020004" pitchFamily="49" charset="0"/>
              </a:rPr>
              <a:t>Jwt</a:t>
            </a:r>
            <a:r>
              <a:rPr lang="en-US" sz="900" dirty="0" err="1">
                <a:solidFill>
                  <a:srgbClr val="A31515"/>
                </a:solidFill>
                <a:latin typeface="Cascadia Mono" panose="020B0609020000020004" pitchFamily="49" charset="0"/>
              </a:rPr>
              <a:t>:Subject</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Claim(</a:t>
            </a:r>
            <a:r>
              <a:rPr lang="en-IN" sz="900" dirty="0" err="1">
                <a:solidFill>
                  <a:srgbClr val="000000"/>
                </a:solidFill>
                <a:latin typeface="Cascadia Mono" panose="020B0609020000020004" pitchFamily="49" charset="0"/>
              </a:rPr>
              <a:t>JwtRegisteredClaimNames.Jti</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Guid.NewGuid</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ToString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Claim(</a:t>
            </a:r>
            <a:r>
              <a:rPr lang="en-IN" sz="900" dirty="0" err="1">
                <a:solidFill>
                  <a:srgbClr val="000000"/>
                </a:solidFill>
                <a:latin typeface="Cascadia Mono" panose="020B0609020000020004" pitchFamily="49" charset="0"/>
              </a:rPr>
              <a:t>JwtRegisteredClaimNames.Iat</a:t>
            </a:r>
            <a:r>
              <a:rPr lang="en-IN" sz="900" dirty="0">
                <a:solidFill>
                  <a:srgbClr val="000000"/>
                </a:solidFill>
                <a:latin typeface="Cascadia Mono" panose="020B0609020000020004" pitchFamily="49" charset="0"/>
              </a:rPr>
              <a:t>, </a:t>
            </a:r>
            <a:r>
              <a:rPr lang="en-IN" sz="900" b="1" dirty="0" err="1">
                <a:solidFill>
                  <a:srgbClr val="FF0000"/>
                </a:solidFill>
                <a:latin typeface="Cascadia Mono" panose="020B0609020000020004" pitchFamily="49" charset="0"/>
              </a:rPr>
              <a:t>DateTimeOffset.UtcNow.ToUnixTimeSeconds</a:t>
            </a:r>
            <a:r>
              <a:rPr lang="en-IN" sz="900" b="1" dirty="0">
                <a:solidFill>
                  <a:srgbClr val="FF0000"/>
                </a:solidFill>
                <a:latin typeface="Cascadia Mono" panose="020B0609020000020004" pitchFamily="49" charset="0"/>
              </a:rPr>
              <a:t>().</a:t>
            </a:r>
            <a:r>
              <a:rPr lang="en-IN" sz="900" b="1" dirty="0" err="1">
                <a:solidFill>
                  <a:srgbClr val="FF0000"/>
                </a:solidFill>
                <a:latin typeface="Cascadia Mono" panose="020B0609020000020004" pitchFamily="49" charset="0"/>
              </a:rPr>
              <a:t>ToString</a:t>
            </a:r>
            <a:r>
              <a:rPr lang="en-IN" sz="900" b="1" dirty="0">
                <a:solidFill>
                  <a:srgbClr val="FF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user.UserId.ToString</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"FirstName"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user.FirstName</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LastName</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user.LastName</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UserName</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user.UserName</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"Email"</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user.Email</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key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SymmetricSecurityKey</a:t>
            </a:r>
            <a:r>
              <a:rPr lang="en-IN" sz="900" dirty="0">
                <a:solidFill>
                  <a:srgbClr val="000000"/>
                </a:solidFill>
                <a:latin typeface="Cascadia Mono" panose="020B0609020000020004" pitchFamily="49" charset="0"/>
              </a:rPr>
              <a:t>(Encoding.UTF8.GetBytes(_configuration[</a:t>
            </a:r>
            <a:r>
              <a:rPr lang="en-IN" sz="900" dirty="0">
                <a:solidFill>
                  <a:srgbClr val="A31515"/>
                </a:solidFill>
                <a:latin typeface="Cascadia Mono" panose="020B0609020000020004" pitchFamily="49" charset="0"/>
              </a:rPr>
              <a:t>"</a:t>
            </a:r>
            <a:r>
              <a:rPr lang="en-IN" sz="900" dirty="0" err="1">
                <a:solidFill>
                  <a:srgbClr val="A31515"/>
                </a:solidFill>
                <a:highlight>
                  <a:srgbClr val="FFFF00"/>
                </a:highlight>
                <a:latin typeface="Cascadia Mono" panose="020B0609020000020004" pitchFamily="49" charset="0"/>
              </a:rPr>
              <a:t>Jwt</a:t>
            </a:r>
            <a:r>
              <a:rPr lang="en-IN" sz="900" dirty="0" err="1">
                <a:solidFill>
                  <a:srgbClr val="A31515"/>
                </a:solidFill>
                <a:latin typeface="Cascadia Mono" panose="020B0609020000020004" pitchFamily="49" charset="0"/>
              </a:rPr>
              <a:t>:Key</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var</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signIn</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SigningCredentials</a:t>
            </a:r>
            <a:r>
              <a:rPr lang="en-US" sz="900" dirty="0">
                <a:solidFill>
                  <a:srgbClr val="000000"/>
                </a:solidFill>
                <a:latin typeface="Cascadia Mono" panose="020B0609020000020004" pitchFamily="49" charset="0"/>
              </a:rPr>
              <a:t>(key, SecurityAlgorithms.HmacSha256);</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token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JwtSecurityToken</a:t>
            </a:r>
            <a:r>
              <a:rPr lang="en-IN" sz="900" dirty="0">
                <a:solidFill>
                  <a:srgbClr val="000000"/>
                </a:solidFill>
                <a:latin typeface="Cascadia Mono" panose="020B0609020000020004" pitchFamily="49" charset="0"/>
              </a:rPr>
              <a:t>(_configuration[</a:t>
            </a:r>
            <a:r>
              <a:rPr lang="en-IN" sz="900" dirty="0">
                <a:solidFill>
                  <a:srgbClr val="A31515"/>
                </a:solidFill>
                <a:latin typeface="Cascadia Mono" panose="020B0609020000020004" pitchFamily="49" charset="0"/>
              </a:rPr>
              <a:t>"</a:t>
            </a:r>
            <a:r>
              <a:rPr lang="en-IN" sz="900" dirty="0" err="1">
                <a:solidFill>
                  <a:srgbClr val="A31515"/>
                </a:solidFill>
                <a:highlight>
                  <a:srgbClr val="FFFF00"/>
                </a:highlight>
                <a:latin typeface="Cascadia Mono" panose="020B0609020000020004" pitchFamily="49" charset="0"/>
              </a:rPr>
              <a:t>Jwt</a:t>
            </a:r>
            <a:r>
              <a:rPr lang="en-IN" sz="900" dirty="0" err="1">
                <a:solidFill>
                  <a:srgbClr val="A31515"/>
                </a:solidFill>
                <a:latin typeface="Cascadia Mono" panose="020B0609020000020004" pitchFamily="49" charset="0"/>
              </a:rPr>
              <a:t>:Issuer</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_configuration[</a:t>
            </a:r>
            <a:r>
              <a:rPr lang="en-IN" sz="900" dirty="0">
                <a:solidFill>
                  <a:srgbClr val="A31515"/>
                </a:solidFill>
                <a:latin typeface="Cascadia Mono" panose="020B0609020000020004" pitchFamily="49" charset="0"/>
              </a:rPr>
              <a:t>"</a:t>
            </a:r>
            <a:r>
              <a:rPr lang="en-IN" sz="900" dirty="0" err="1">
                <a:solidFill>
                  <a:srgbClr val="A31515"/>
                </a:solidFill>
                <a:highlight>
                  <a:srgbClr val="FFFF00"/>
                </a:highlight>
                <a:latin typeface="Cascadia Mono" panose="020B0609020000020004" pitchFamily="49" charset="0"/>
              </a:rPr>
              <a:t>Jwt</a:t>
            </a:r>
            <a:r>
              <a:rPr lang="en-IN" sz="900" dirty="0" err="1">
                <a:solidFill>
                  <a:srgbClr val="A31515"/>
                </a:solidFill>
                <a:latin typeface="Cascadia Mono" panose="020B0609020000020004" pitchFamily="49" charset="0"/>
              </a:rPr>
              <a:t>:Audience</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claims, expires: </a:t>
            </a:r>
            <a:r>
              <a:rPr lang="en-IN" sz="900" dirty="0" err="1">
                <a:solidFill>
                  <a:srgbClr val="000000"/>
                </a:solidFill>
                <a:latin typeface="Cascadia Mono" panose="020B0609020000020004" pitchFamily="49" charset="0"/>
              </a:rPr>
              <a:t>DateTime.UtcNow.AddDays</a:t>
            </a:r>
            <a:r>
              <a:rPr lang="en-IN" sz="900" dirty="0">
                <a:solidFill>
                  <a:srgbClr val="000000"/>
                </a:solidFill>
                <a:latin typeface="Cascadia Mono" panose="020B0609020000020004" pitchFamily="49" charset="0"/>
              </a:rPr>
              <a:t>(1), </a:t>
            </a:r>
            <a:r>
              <a:rPr lang="en-IN" sz="900" dirty="0" err="1">
                <a:solidFill>
                  <a:srgbClr val="000000"/>
                </a:solidFill>
                <a:latin typeface="Cascadia Mono" panose="020B0609020000020004" pitchFamily="49" charset="0"/>
              </a:rPr>
              <a:t>signingCredentials</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signIn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a:t>
            </a:r>
            <a:r>
              <a:rPr lang="en-US" sz="900" dirty="0">
                <a:solidFill>
                  <a:srgbClr val="000000"/>
                </a:solidFill>
                <a:highlight>
                  <a:srgbClr val="FFFF00"/>
                </a:highlight>
                <a:latin typeface="Cascadia Mono" panose="020B0609020000020004" pitchFamily="49" charset="0"/>
              </a:rPr>
              <a:t>Ok(</a:t>
            </a:r>
            <a:r>
              <a:rPr lang="en-US" sz="900" dirty="0">
                <a:solidFill>
                  <a:srgbClr val="0000FF"/>
                </a:solidFill>
                <a:highlight>
                  <a:srgbClr val="FFFF00"/>
                </a:highlight>
                <a:latin typeface="Cascadia Mono" panose="020B0609020000020004" pitchFamily="49" charset="0"/>
              </a:rPr>
              <a:t>new</a:t>
            </a:r>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JwtSecurityTokenHandler</a:t>
            </a:r>
            <a:r>
              <a:rPr lang="en-US" sz="900" dirty="0">
                <a:solidFill>
                  <a:srgbClr val="000000"/>
                </a:solidFill>
                <a:highlight>
                  <a:srgbClr val="FFFF00"/>
                </a:highlight>
                <a:latin typeface="Cascadia Mono" panose="020B0609020000020004" pitchFamily="49" charset="0"/>
              </a:rPr>
              <a:t>().</a:t>
            </a:r>
            <a:r>
              <a:rPr lang="en-US" sz="900" dirty="0" err="1">
                <a:solidFill>
                  <a:srgbClr val="000000"/>
                </a:solidFill>
                <a:highlight>
                  <a:srgbClr val="FFFF00"/>
                </a:highlight>
                <a:latin typeface="Cascadia Mono" panose="020B0609020000020004" pitchFamily="49" charset="0"/>
              </a:rPr>
              <a:t>WriteToken</a:t>
            </a:r>
            <a:r>
              <a:rPr lang="en-US" sz="900" dirty="0">
                <a:solidFill>
                  <a:srgbClr val="000000"/>
                </a:solidFill>
                <a:highlight>
                  <a:srgbClr val="FFFF00"/>
                </a:highlight>
                <a:latin typeface="Cascadia Mono" panose="020B0609020000020004" pitchFamily="49" charset="0"/>
              </a:rPr>
              <a:t>(token));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else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BadRequest</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"Invalid credentials"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else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BadRequest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nb-NO" sz="900" dirty="0">
                <a:solidFill>
                  <a:srgbClr val="000000"/>
                </a:solidFill>
                <a:latin typeface="Cascadia Mono" panose="020B0609020000020004" pitchFamily="49" charset="0"/>
              </a:rPr>
              <a:t>        </a:t>
            </a:r>
            <a:r>
              <a:rPr lang="nb-NO" sz="900" dirty="0">
                <a:solidFill>
                  <a:srgbClr val="0000FF"/>
                </a:solidFill>
                <a:latin typeface="Cascadia Mono" panose="020B0609020000020004" pitchFamily="49" charset="0"/>
              </a:rPr>
              <a:t>private</a:t>
            </a:r>
            <a:r>
              <a:rPr lang="nb-NO" sz="900" dirty="0">
                <a:solidFill>
                  <a:srgbClr val="000000"/>
                </a:solidFill>
                <a:latin typeface="Cascadia Mono" panose="020B0609020000020004" pitchFamily="49" charset="0"/>
              </a:rPr>
              <a:t> </a:t>
            </a:r>
            <a:r>
              <a:rPr lang="nb-NO" sz="900" dirty="0">
                <a:solidFill>
                  <a:srgbClr val="0000FF"/>
                </a:solidFill>
                <a:latin typeface="Cascadia Mono" panose="020B0609020000020004" pitchFamily="49" charset="0"/>
              </a:rPr>
              <a:t>async</a:t>
            </a:r>
            <a:r>
              <a:rPr lang="nb-NO" sz="900" dirty="0">
                <a:solidFill>
                  <a:srgbClr val="000000"/>
                </a:solidFill>
                <a:latin typeface="Cascadia Mono" panose="020B0609020000020004" pitchFamily="49" charset="0"/>
              </a:rPr>
              <a:t> Task&lt;UserInfo&gt; </a:t>
            </a:r>
            <a:r>
              <a:rPr lang="nb-NO" sz="900" dirty="0">
                <a:solidFill>
                  <a:srgbClr val="000000"/>
                </a:solidFill>
                <a:highlight>
                  <a:srgbClr val="00FFFF"/>
                </a:highlight>
                <a:latin typeface="Cascadia Mono" panose="020B0609020000020004" pitchFamily="49" charset="0"/>
              </a:rPr>
              <a:t>GetUser(</a:t>
            </a:r>
            <a:r>
              <a:rPr lang="nb-NO" sz="900" dirty="0">
                <a:solidFill>
                  <a:srgbClr val="0000FF"/>
                </a:solidFill>
                <a:highlight>
                  <a:srgbClr val="00FFFF"/>
                </a:highlight>
                <a:latin typeface="Cascadia Mono" panose="020B0609020000020004" pitchFamily="49" charset="0"/>
              </a:rPr>
              <a:t>string</a:t>
            </a:r>
            <a:r>
              <a:rPr lang="nb-NO" sz="900" dirty="0">
                <a:solidFill>
                  <a:srgbClr val="000000"/>
                </a:solidFill>
                <a:highlight>
                  <a:srgbClr val="00FFFF"/>
                </a:highlight>
                <a:latin typeface="Cascadia Mono" panose="020B0609020000020004" pitchFamily="49" charset="0"/>
              </a:rPr>
              <a:t> email, </a:t>
            </a:r>
            <a:r>
              <a:rPr lang="nb-NO" sz="900" dirty="0">
                <a:solidFill>
                  <a:srgbClr val="0000FF"/>
                </a:solidFill>
                <a:highlight>
                  <a:srgbClr val="00FFFF"/>
                </a:highlight>
                <a:latin typeface="Cascadia Mono" panose="020B0609020000020004" pitchFamily="49" charset="0"/>
              </a:rPr>
              <a:t>string</a:t>
            </a:r>
            <a:r>
              <a:rPr lang="nb-NO" sz="900" dirty="0">
                <a:solidFill>
                  <a:srgbClr val="000000"/>
                </a:solidFill>
                <a:highlight>
                  <a:srgbClr val="00FFFF"/>
                </a:highlight>
                <a:latin typeface="Cascadia Mono" panose="020B0609020000020004" pitchFamily="49" charset="0"/>
              </a:rPr>
              <a:t> password)</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context.userInfo.FirstOrDefaultAsync</a:t>
            </a:r>
            <a:r>
              <a:rPr lang="en-IN" sz="900" dirty="0">
                <a:solidFill>
                  <a:srgbClr val="000000"/>
                </a:solidFill>
                <a:latin typeface="Cascadia Mono" panose="020B0609020000020004" pitchFamily="49" charset="0"/>
              </a:rPr>
              <a:t>(u =&gt; </a:t>
            </a:r>
            <a:r>
              <a:rPr lang="en-IN" sz="900" dirty="0" err="1">
                <a:solidFill>
                  <a:srgbClr val="000000"/>
                </a:solidFill>
                <a:latin typeface="Cascadia Mono" panose="020B0609020000020004" pitchFamily="49" charset="0"/>
              </a:rPr>
              <a:t>u.Email</a:t>
            </a:r>
            <a:r>
              <a:rPr lang="en-IN" sz="900" dirty="0">
                <a:solidFill>
                  <a:srgbClr val="000000"/>
                </a:solidFill>
                <a:latin typeface="Cascadia Mono" panose="020B0609020000020004" pitchFamily="49" charset="0"/>
              </a:rPr>
              <a:t> == email &amp;&amp; </a:t>
            </a:r>
            <a:r>
              <a:rPr lang="en-IN" sz="900" dirty="0" err="1">
                <a:solidFill>
                  <a:srgbClr val="000000"/>
                </a:solidFill>
                <a:latin typeface="Cascadia Mono" panose="020B0609020000020004" pitchFamily="49" charset="0"/>
              </a:rPr>
              <a:t>u.Password</a:t>
            </a:r>
            <a:r>
              <a:rPr lang="en-IN" sz="900" dirty="0">
                <a:solidFill>
                  <a:srgbClr val="000000"/>
                </a:solidFill>
                <a:latin typeface="Cascadia Mono" panose="020B0609020000020004" pitchFamily="49" charset="0"/>
              </a:rPr>
              <a:t> == password);</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p:txBody>
      </p:sp>
      <p:sp>
        <p:nvSpPr>
          <p:cNvPr id="9" name="TextBox 8">
            <a:extLst>
              <a:ext uri="{FF2B5EF4-FFF2-40B4-BE49-F238E27FC236}">
                <a16:creationId xmlns:a16="http://schemas.microsoft.com/office/drawing/2014/main" id="{1EBD58A7-CC0D-72D6-4068-E43406EEC384}"/>
              </a:ext>
            </a:extLst>
          </p:cNvPr>
          <p:cNvSpPr txBox="1"/>
          <p:nvPr/>
        </p:nvSpPr>
        <p:spPr>
          <a:xfrm>
            <a:off x="7622357" y="89510"/>
            <a:ext cx="3906624" cy="14619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Microsoft.AspNetCore.Http</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Microsoft.AspNetCore.Mvc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Microsoft.EntityFrameworkCore</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Microsoft.IdentityModel.Tokens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System.IdentityModel.Tokens.Jwt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System.Security.Claims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System.Text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a:defRPr/>
            </a:pPr>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WebAppJWTService.Models</a:t>
            </a:r>
            <a:r>
              <a:rPr lang="en-IN" sz="1000" dirty="0">
                <a:solidFill>
                  <a:srgbClr val="000000"/>
                </a:solidFill>
                <a:latin typeface="Cascadia Mono" panose="020B06090200000200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p:txBody>
      </p:sp>
    </p:spTree>
    <p:extLst>
      <p:ext uri="{BB962C8B-B14F-4D97-AF65-F5344CB8AC3E}">
        <p14:creationId xmlns:p14="http://schemas.microsoft.com/office/powerpoint/2010/main" val="542441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C4B7BB5-F951-939E-39F7-6E95985D8DD2}"/>
              </a:ext>
            </a:extLst>
          </p:cNvPr>
          <p:cNvSpPr txBox="1"/>
          <p:nvPr/>
        </p:nvSpPr>
        <p:spPr>
          <a:xfrm>
            <a:off x="330892" y="95251"/>
            <a:ext cx="8500441" cy="7171194"/>
          </a:xfrm>
          <a:prstGeom prst="rect">
            <a:avLst/>
          </a:prstGeom>
          <a:noFill/>
        </p:spPr>
        <p:txBody>
          <a:bodyPr wrap="square">
            <a:spAutoFit/>
          </a:bodyPr>
          <a:lstStyle/>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WebAppJWTService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a:solidFill>
                  <a:srgbClr val="2B91AF"/>
                </a:solidFill>
                <a:latin typeface="Cascadia Mono" panose="020B0609020000020004" pitchFamily="49" charset="0"/>
              </a:rPr>
              <a:t>Program</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static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void</a:t>
            </a:r>
            <a:r>
              <a:rPr lang="en-US" sz="1000" dirty="0">
                <a:solidFill>
                  <a:srgbClr val="000000"/>
                </a:solidFill>
                <a:latin typeface="Cascadia Mono" panose="020B0609020000020004" pitchFamily="49" charset="0"/>
              </a:rPr>
              <a:t> Main(</a:t>
            </a:r>
            <a:r>
              <a:rPr lang="en-US" sz="1000" dirty="0">
                <a:solidFill>
                  <a:srgbClr val="0000FF"/>
                </a:solidFill>
                <a:latin typeface="Cascadia Mono" panose="020B0609020000020004" pitchFamily="49" charset="0"/>
              </a:rPr>
              <a:t>string</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var</a:t>
            </a:r>
            <a:r>
              <a:rPr lang="en-US" sz="1000" dirty="0">
                <a:solidFill>
                  <a:srgbClr val="000000"/>
                </a:solidFill>
                <a:latin typeface="Cascadia Mono" panose="020B0609020000020004" pitchFamily="49" charset="0"/>
              </a:rPr>
              <a:t> builder = </a:t>
            </a:r>
            <a:r>
              <a:rPr lang="en-US" sz="1000" dirty="0" err="1">
                <a:solidFill>
                  <a:srgbClr val="000000"/>
                </a:solidFill>
                <a:latin typeface="Cascadia Mono" panose="020B0609020000020004" pitchFamily="49" charset="0"/>
              </a:rPr>
              <a:t>WebApplication.CreateBuilder</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Add services to the container.</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builder.Services.AddControllers</a:t>
            </a:r>
            <a:r>
              <a:rPr lang="en-IN" sz="1000" dirty="0">
                <a:solidFill>
                  <a:srgbClr val="000000"/>
                </a:solidFill>
                <a:latin typeface="Cascadia Mono" panose="020B0609020000020004" pitchFamily="49" charset="0"/>
              </a:rPr>
              <a:t>();</a:t>
            </a:r>
          </a:p>
          <a:p>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Learn more about configuring Swagger/</a:t>
            </a:r>
            <a:r>
              <a:rPr lang="en-US" sz="1000" dirty="0" err="1">
                <a:solidFill>
                  <a:srgbClr val="008000"/>
                </a:solidFill>
                <a:latin typeface="Cascadia Mono" panose="020B0609020000020004" pitchFamily="49" charset="0"/>
              </a:rPr>
              <a:t>OpenAPI</a:t>
            </a:r>
            <a:r>
              <a:rPr lang="en-US" sz="1000" dirty="0">
                <a:solidFill>
                  <a:srgbClr val="008000"/>
                </a:solidFill>
                <a:latin typeface="Cascadia Mono" panose="020B0609020000020004" pitchFamily="49" charset="0"/>
              </a:rPr>
              <a:t> at https://aka.ms/aspnetcore/swashbuckle</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builder.Services.AddEndpointsApiExplorer</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builder.Services.AddSwaggerGen</a:t>
            </a:r>
            <a:r>
              <a:rPr lang="en-IN" sz="1000" dirty="0">
                <a:solidFill>
                  <a:srgbClr val="000000"/>
                </a:solidFill>
                <a:latin typeface="Cascadia Mono" panose="020B0609020000020004" pitchFamily="49" charset="0"/>
              </a:rPr>
              <a:t>();</a:t>
            </a:r>
          </a:p>
          <a:p>
            <a:r>
              <a:rPr lang="en-IN" sz="1000" dirty="0">
                <a:solidFill>
                  <a:srgbClr val="FF0000"/>
                </a:solidFill>
                <a:latin typeface="Cascadia Mono" panose="020B0609020000020004" pitchFamily="49" charset="0"/>
              </a:rPr>
              <a:t>            </a:t>
            </a:r>
            <a:r>
              <a:rPr lang="en-IN" sz="1000" dirty="0" err="1">
                <a:solidFill>
                  <a:srgbClr val="FF0000"/>
                </a:solidFill>
                <a:latin typeface="Cascadia Mono" panose="020B0609020000020004" pitchFamily="49" charset="0"/>
              </a:rPr>
              <a:t>builder.Services.AddDbContextPool</a:t>
            </a:r>
            <a:r>
              <a:rPr lang="en-IN" sz="1000" dirty="0">
                <a:solidFill>
                  <a:srgbClr val="FF0000"/>
                </a:solidFill>
                <a:latin typeface="Cascadia Mono" panose="020B0609020000020004" pitchFamily="49" charset="0"/>
              </a:rPr>
              <a:t>&lt;</a:t>
            </a:r>
            <a:r>
              <a:rPr lang="en-IN" sz="1000" dirty="0" err="1">
                <a:solidFill>
                  <a:srgbClr val="FF0000"/>
                </a:solidFill>
                <a:latin typeface="Cascadia Mono" panose="020B0609020000020004" pitchFamily="49" charset="0"/>
              </a:rPr>
              <a:t>UserDbContext</a:t>
            </a:r>
            <a:r>
              <a:rPr lang="en-IN" sz="1000" dirty="0">
                <a:solidFill>
                  <a:srgbClr val="FF0000"/>
                </a:solidFill>
                <a:latin typeface="Cascadia Mono" panose="020B0609020000020004" pitchFamily="49" charset="0"/>
              </a:rPr>
              <a:t>&gt;(option =&gt; </a:t>
            </a:r>
            <a:r>
              <a:rPr lang="en-IN" sz="1000" dirty="0" err="1">
                <a:solidFill>
                  <a:srgbClr val="FF0000"/>
                </a:solidFill>
                <a:latin typeface="Cascadia Mono" panose="020B0609020000020004" pitchFamily="49" charset="0"/>
              </a:rPr>
              <a:t>option.UseSqlServer</a:t>
            </a:r>
            <a:r>
              <a:rPr lang="en-IN" sz="1000" dirty="0">
                <a:solidFill>
                  <a:srgbClr val="FF0000"/>
                </a:solidFill>
                <a:latin typeface="Cascadia Mono" panose="020B0609020000020004" pitchFamily="49" charset="0"/>
              </a:rPr>
              <a:t>(</a:t>
            </a:r>
            <a:r>
              <a:rPr lang="en-IN" sz="1000" dirty="0" err="1">
                <a:solidFill>
                  <a:srgbClr val="FF0000"/>
                </a:solidFill>
                <a:latin typeface="Cascadia Mono" panose="020B0609020000020004" pitchFamily="49" charset="0"/>
              </a:rPr>
              <a:t>builder.Configuration.GetConnectionString</a:t>
            </a:r>
            <a:r>
              <a:rPr lang="en-IN" sz="1000" dirty="0">
                <a:solidFill>
                  <a:srgbClr val="FF0000"/>
                </a:solidFill>
                <a:latin typeface="Cascadia Mono" panose="020B0609020000020004" pitchFamily="49" charset="0"/>
              </a:rPr>
              <a:t>("</a:t>
            </a:r>
            <a:r>
              <a:rPr lang="en-IN" sz="1000" dirty="0" err="1">
                <a:solidFill>
                  <a:srgbClr val="FF0000"/>
                </a:solidFill>
                <a:latin typeface="Cascadia Mono" panose="020B0609020000020004" pitchFamily="49" charset="0"/>
              </a:rPr>
              <a:t>EmployeeDBConnection</a:t>
            </a:r>
            <a:r>
              <a:rPr lang="en-IN" sz="1000" dirty="0">
                <a:solidFill>
                  <a:srgbClr val="FF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builder.Services.AddAuthentication</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JwtBearerDefaults.AuthenticationScheme</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AddJwtBearer</a:t>
            </a:r>
            <a:r>
              <a:rPr lang="en-IN" sz="1000" dirty="0">
                <a:solidFill>
                  <a:srgbClr val="000000"/>
                </a:solidFill>
                <a:latin typeface="Cascadia Mono" panose="020B0609020000020004" pitchFamily="49" charset="0"/>
              </a:rPr>
              <a:t>(option=&gt;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option.RequireHttpsMetadata</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false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option.SaveToken</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true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option.TokenValidationParameters</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new</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TokenValidationParameters</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ValidateIssuer</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true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ValidateAudience</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true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ValidAudience</a:t>
            </a:r>
            <a:r>
              <a:rPr lang="en-IN" sz="1000" dirty="0">
                <a:solidFill>
                  <a:srgbClr val="000000"/>
                </a:solidFill>
                <a:latin typeface="Cascadia Mono" panose="020B0609020000020004" pitchFamily="49" charset="0"/>
              </a:rPr>
              <a:t> = </a:t>
            </a:r>
            <a:r>
              <a:rPr lang="en-IN" sz="1000" dirty="0" err="1">
                <a:solidFill>
                  <a:srgbClr val="000000"/>
                </a:solidFill>
                <a:latin typeface="Cascadia Mono" panose="020B0609020000020004" pitchFamily="49" charset="0"/>
              </a:rPr>
              <a:t>builder.Configuration</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a:t>
            </a:r>
            <a:r>
              <a:rPr lang="en-IN" sz="1000" dirty="0" err="1">
                <a:solidFill>
                  <a:srgbClr val="A31515"/>
                </a:solidFill>
                <a:highlight>
                  <a:srgbClr val="FFFF00"/>
                </a:highlight>
                <a:latin typeface="Cascadia Mono" panose="020B0609020000020004" pitchFamily="49" charset="0"/>
              </a:rPr>
              <a:t>Jwt</a:t>
            </a:r>
            <a:r>
              <a:rPr lang="en-IN" sz="1000" dirty="0" err="1">
                <a:solidFill>
                  <a:srgbClr val="A31515"/>
                </a:solidFill>
                <a:latin typeface="Cascadia Mono" panose="020B0609020000020004" pitchFamily="49" charset="0"/>
              </a:rPr>
              <a:t>:Audience</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ValidIssuer</a:t>
            </a:r>
            <a:r>
              <a:rPr lang="en-US" sz="1000" dirty="0">
                <a:solidFill>
                  <a:srgbClr val="000000"/>
                </a:solidFill>
                <a:latin typeface="Cascadia Mono" panose="020B0609020000020004" pitchFamily="49" charset="0"/>
              </a:rPr>
              <a:t> = </a:t>
            </a:r>
            <a:r>
              <a:rPr lang="en-US" sz="1000" dirty="0" err="1">
                <a:solidFill>
                  <a:srgbClr val="000000"/>
                </a:solidFill>
                <a:latin typeface="Cascadia Mono" panose="020B0609020000020004" pitchFamily="49" charset="0"/>
              </a:rPr>
              <a:t>builder.Configuration</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a:t>
            </a:r>
            <a:r>
              <a:rPr lang="en-US" sz="1000" dirty="0" err="1">
                <a:solidFill>
                  <a:srgbClr val="A31515"/>
                </a:solidFill>
                <a:highlight>
                  <a:srgbClr val="FFFF00"/>
                </a:highlight>
                <a:latin typeface="Cascadia Mono" panose="020B0609020000020004" pitchFamily="49" charset="0"/>
              </a:rPr>
              <a:t>Jwt</a:t>
            </a:r>
            <a:r>
              <a:rPr lang="en-US" sz="1000" dirty="0" err="1">
                <a:solidFill>
                  <a:srgbClr val="A31515"/>
                </a:solidFill>
                <a:latin typeface="Cascadia Mono" panose="020B0609020000020004" pitchFamily="49" charset="0"/>
              </a:rPr>
              <a:t>:Issuer</a:t>
            </a:r>
            <a:r>
              <a:rPr lang="en-US" sz="1000" dirty="0">
                <a:solidFill>
                  <a:srgbClr val="A31515"/>
                </a:solidFill>
                <a:latin typeface="Cascadia Mono" panose="020B0609020000020004" pitchFamily="49" charset="0"/>
              </a:rPr>
              <a:t>"</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IssuerSigningKey</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new</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SymmetricSecurityKey</a:t>
            </a:r>
            <a:r>
              <a:rPr lang="en-IN" sz="1000" dirty="0">
                <a:solidFill>
                  <a:srgbClr val="000000"/>
                </a:solidFill>
                <a:latin typeface="Cascadia Mono" panose="020B0609020000020004" pitchFamily="49" charset="0"/>
              </a:rPr>
              <a:t>(Encoding.UTF8.GetBytes(</a:t>
            </a:r>
            <a:r>
              <a:rPr lang="en-IN" sz="1000" dirty="0" err="1">
                <a:solidFill>
                  <a:srgbClr val="000000"/>
                </a:solidFill>
                <a:latin typeface="Cascadia Mono" panose="020B0609020000020004" pitchFamily="49" charset="0"/>
              </a:rPr>
              <a:t>builder.Configuration</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a:t>
            </a:r>
            <a:r>
              <a:rPr lang="en-IN" sz="1000" dirty="0" err="1">
                <a:solidFill>
                  <a:srgbClr val="A31515"/>
                </a:solidFill>
                <a:highlight>
                  <a:srgbClr val="FFFF00"/>
                </a:highlight>
                <a:latin typeface="Cascadia Mono" panose="020B0609020000020004" pitchFamily="49" charset="0"/>
              </a:rPr>
              <a:t>Jwt</a:t>
            </a:r>
            <a:r>
              <a:rPr lang="en-IN" sz="1000" dirty="0" err="1">
                <a:solidFill>
                  <a:srgbClr val="A31515"/>
                </a:solidFill>
                <a:latin typeface="Cascadia Mono" panose="020B0609020000020004" pitchFamily="49" charset="0"/>
              </a:rPr>
              <a:t>:Key</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builder.Services.AddSwaggerGen</a:t>
            </a:r>
            <a:r>
              <a:rPr lang="en-IN" sz="1000" dirty="0">
                <a:solidFill>
                  <a:srgbClr val="000000"/>
                </a:solidFill>
                <a:latin typeface="Cascadia Mono" panose="020B0609020000020004" pitchFamily="49" charset="0"/>
              </a:rPr>
              <a:t>(c =&gt;</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c.SwaggerDoc</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"v1"</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new</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OpenApiInfo</a:t>
            </a:r>
            <a:r>
              <a:rPr lang="en-US" sz="1000" dirty="0">
                <a:solidFill>
                  <a:srgbClr val="000000"/>
                </a:solidFill>
                <a:latin typeface="Cascadia Mono" panose="020B0609020000020004" pitchFamily="49" charset="0"/>
              </a:rPr>
              <a:t> { Title = </a:t>
            </a:r>
            <a:r>
              <a:rPr lang="en-US" sz="1000" dirty="0">
                <a:solidFill>
                  <a:srgbClr val="A31515"/>
                </a:solidFill>
                <a:latin typeface="Cascadia Mono" panose="020B0609020000020004" pitchFamily="49" charset="0"/>
              </a:rPr>
              <a:t>"Test01"</a:t>
            </a:r>
            <a:r>
              <a:rPr lang="en-US" sz="1000" dirty="0">
                <a:solidFill>
                  <a:srgbClr val="000000"/>
                </a:solidFill>
                <a:latin typeface="Cascadia Mono" panose="020B0609020000020004" pitchFamily="49" charset="0"/>
              </a:rPr>
              <a:t>, Version = </a:t>
            </a:r>
            <a:r>
              <a:rPr lang="en-US" sz="1000" dirty="0">
                <a:solidFill>
                  <a:srgbClr val="A31515"/>
                </a:solidFill>
                <a:latin typeface="Cascadia Mono" panose="020B0609020000020004" pitchFamily="49" charset="0"/>
              </a:rPr>
              <a:t>"v1"</a:t>
            </a:r>
            <a:r>
              <a:rPr lang="en-US"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c.AddSecurityDefinition</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"Bearer"</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new</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OpenApiSecurityScheme</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Name = </a:t>
            </a:r>
            <a:r>
              <a:rPr lang="en-IN" sz="1000" dirty="0">
                <a:solidFill>
                  <a:srgbClr val="A31515"/>
                </a:solidFill>
                <a:latin typeface="Cascadia Mono" panose="020B0609020000020004" pitchFamily="49" charset="0"/>
              </a:rPr>
              <a:t>"Authorization"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Type = </a:t>
            </a:r>
            <a:r>
              <a:rPr lang="en-IN" sz="1000" dirty="0" err="1">
                <a:solidFill>
                  <a:srgbClr val="000000"/>
                </a:solidFill>
                <a:latin typeface="Cascadia Mono" panose="020B0609020000020004" pitchFamily="49" charset="0"/>
              </a:rPr>
              <a:t>SecuritySchemeType.ApiKey</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Scheme = </a:t>
            </a:r>
            <a:r>
              <a:rPr lang="en-IN" sz="1000" dirty="0">
                <a:solidFill>
                  <a:srgbClr val="A31515"/>
                </a:solidFill>
                <a:latin typeface="Cascadia Mono" panose="020B0609020000020004" pitchFamily="49" charset="0"/>
              </a:rPr>
              <a:t>"Bearer"</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BearerFormat</a:t>
            </a:r>
            <a:r>
              <a:rPr lang="en-IN" sz="1000" dirty="0">
                <a:solidFill>
                  <a:srgbClr val="000000"/>
                </a:solidFill>
                <a:latin typeface="Cascadia Mono" panose="020B0609020000020004" pitchFamily="49" charset="0"/>
              </a:rPr>
              <a:t> = </a:t>
            </a:r>
            <a:r>
              <a:rPr lang="en-IN" sz="1000" dirty="0">
                <a:solidFill>
                  <a:srgbClr val="A31515"/>
                </a:solidFill>
                <a:latin typeface="Cascadia Mono" panose="020B0609020000020004" pitchFamily="49" charset="0"/>
              </a:rPr>
              <a:t>"JWT"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In = </a:t>
            </a:r>
            <a:r>
              <a:rPr lang="en-IN" sz="1000" dirty="0" err="1">
                <a:solidFill>
                  <a:srgbClr val="000000"/>
                </a:solidFill>
                <a:latin typeface="Cascadia Mono" panose="020B0609020000020004" pitchFamily="49" charset="0"/>
              </a:rPr>
              <a:t>ParameterLocation.Header</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Description = </a:t>
            </a:r>
            <a:r>
              <a:rPr lang="en-US" sz="1000" dirty="0">
                <a:solidFill>
                  <a:srgbClr val="A31515"/>
                </a:solidFill>
                <a:latin typeface="Cascadia Mono" panose="020B0609020000020004" pitchFamily="49" charset="0"/>
              </a:rPr>
              <a:t>"JWT Authorization header using the Bearer scheme."</a:t>
            </a:r>
            <a:endParaRPr lang="en-US" sz="1000" dirty="0">
              <a:solidFill>
                <a:srgbClr val="000000"/>
              </a:solidFill>
              <a:latin typeface="Cascadia Mono" panose="020B0609020000020004" pitchFamily="49" charset="0"/>
            </a:endParaRP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endParaRPr lang="en-IN" sz="1000" dirty="0"/>
          </a:p>
        </p:txBody>
      </p:sp>
      <p:sp>
        <p:nvSpPr>
          <p:cNvPr id="7" name="TextBox 6">
            <a:extLst>
              <a:ext uri="{FF2B5EF4-FFF2-40B4-BE49-F238E27FC236}">
                <a16:creationId xmlns:a16="http://schemas.microsoft.com/office/drawing/2014/main" id="{8A7BBFA0-3CBD-BD19-1CC2-6188FC0AA7E2}"/>
              </a:ext>
            </a:extLst>
          </p:cNvPr>
          <p:cNvSpPr txBox="1"/>
          <p:nvPr/>
        </p:nvSpPr>
        <p:spPr>
          <a:xfrm>
            <a:off x="7610888" y="95251"/>
            <a:ext cx="4196799" cy="923330"/>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Microsoft.AspNetCore.Authentication.JwtBearer</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Microsoft.EntityFrameworkCore</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Microsoft.IdentityModel.Tokens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Microsoft.OpenApi.Models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System.Text</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WebAppJWTService.Models</a:t>
            </a:r>
            <a:r>
              <a:rPr lang="en-IN" sz="900" dirty="0">
                <a:solidFill>
                  <a:srgbClr val="000000"/>
                </a:solidFill>
                <a:latin typeface="Cascadia Mono" panose="020B0609020000020004" pitchFamily="49" charset="0"/>
              </a:rPr>
              <a:t>;</a:t>
            </a:r>
          </a:p>
        </p:txBody>
      </p:sp>
      <p:sp>
        <p:nvSpPr>
          <p:cNvPr id="3" name="TextBox 2">
            <a:extLst>
              <a:ext uri="{FF2B5EF4-FFF2-40B4-BE49-F238E27FC236}">
                <a16:creationId xmlns:a16="http://schemas.microsoft.com/office/drawing/2014/main" id="{B096E11D-E8AA-4859-E73C-3F56A835F9F0}"/>
              </a:ext>
            </a:extLst>
          </p:cNvPr>
          <p:cNvSpPr txBox="1"/>
          <p:nvPr/>
        </p:nvSpPr>
        <p:spPr>
          <a:xfrm>
            <a:off x="7067550" y="1114426"/>
            <a:ext cx="5634659" cy="5648324"/>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c.AddSecurityRequirement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OpenApiSecurityRequirement</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OpenApiSecurityScheme</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Reference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OpenApiReference</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Type =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ReferenceType.SecurityScheme</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 </a:t>
            </a:r>
            <a:r>
              <a:rPr kumimoji="0" lang="en-IN"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"Bearer"</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var</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app =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builder.Build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Configure the HTTP request pipeline.</a:t>
            </a:r>
            <a:endPar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app.Environment.IsDevelopment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app.UseSwagger</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app.UseSwaggerUI</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app.UseHttpsRedirection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rgbClr val="FF0000"/>
                </a:solidFill>
                <a:effectLst/>
                <a:uLnTx/>
                <a:uFillTx/>
                <a:latin typeface="Cascadia Mono" panose="020B0609020000020004" pitchFamily="49" charset="0"/>
                <a:ea typeface="+mn-ea"/>
                <a:cs typeface="+mn-cs"/>
              </a:rPr>
              <a:t>            </a:t>
            </a:r>
            <a:r>
              <a:rPr kumimoji="0" lang="en-IN" sz="1100" b="1" i="0" u="none" strike="noStrike" kern="1200" cap="none" spc="0" normalizeH="0" baseline="0" noProof="0" dirty="0" err="1">
                <a:ln>
                  <a:noFill/>
                </a:ln>
                <a:solidFill>
                  <a:srgbClr val="FF0000"/>
                </a:solidFill>
                <a:effectLst/>
                <a:uLnTx/>
                <a:uFillTx/>
                <a:latin typeface="Cascadia Mono" panose="020B0609020000020004" pitchFamily="49" charset="0"/>
                <a:ea typeface="+mn-ea"/>
                <a:cs typeface="+mn-cs"/>
              </a:rPr>
              <a:t>app.UseAuthentication</a:t>
            </a:r>
            <a:r>
              <a:rPr kumimoji="0" lang="en-IN" sz="1100" b="1" i="0" u="none" strike="noStrike" kern="1200" cap="none" spc="0" normalizeH="0" baseline="0" noProof="0" dirty="0">
                <a:ln>
                  <a:noFill/>
                </a:ln>
                <a:solidFill>
                  <a:srgbClr val="FF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app.UseAuthorization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app.MapControllers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app.Run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endParaRPr lang="en-IN" dirty="0"/>
          </a:p>
        </p:txBody>
      </p:sp>
    </p:spTree>
    <p:extLst>
      <p:ext uri="{BB962C8B-B14F-4D97-AF65-F5344CB8AC3E}">
        <p14:creationId xmlns:p14="http://schemas.microsoft.com/office/powerpoint/2010/main" val="476274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0EEDFF-DA6B-E3A1-34F8-87EC5D6E5A6A}"/>
              </a:ext>
            </a:extLst>
          </p:cNvPr>
          <p:cNvSpPr txBox="1"/>
          <p:nvPr/>
        </p:nvSpPr>
        <p:spPr>
          <a:xfrm>
            <a:off x="0" y="0"/>
            <a:ext cx="4793529" cy="2585323"/>
          </a:xfrm>
          <a:prstGeom prst="rect">
            <a:avLst/>
          </a:prstGeom>
          <a:noFill/>
        </p:spPr>
        <p:txBody>
          <a:bodyPr wrap="square" rtlCol="0">
            <a:spAutoFit/>
          </a:bodyPr>
          <a:lstStyle/>
          <a:p>
            <a:r>
              <a:rPr lang="en-US" dirty="0"/>
              <a:t>Run above code and execute post method </a:t>
            </a:r>
          </a:p>
          <a:p>
            <a:endParaRPr lang="en-US" dirty="0"/>
          </a:p>
          <a:p>
            <a:r>
              <a:rPr lang="en-US" dirty="0"/>
              <a:t>Send </a:t>
            </a:r>
            <a:r>
              <a:rPr lang="en-US" dirty="0" err="1"/>
              <a:t>json</a:t>
            </a:r>
            <a:r>
              <a:rPr lang="en-US" dirty="0"/>
              <a:t> data</a:t>
            </a:r>
          </a:p>
          <a:p>
            <a:r>
              <a:rPr lang="en-US" dirty="0"/>
              <a:t>{</a:t>
            </a:r>
          </a:p>
          <a:p>
            <a:r>
              <a:rPr lang="en-US" dirty="0"/>
              <a:t>“</a:t>
            </a:r>
            <a:r>
              <a:rPr lang="en-US" dirty="0" err="1"/>
              <a:t>email”:”abc@gmail.com</a:t>
            </a:r>
            <a:r>
              <a:rPr lang="en-US" dirty="0"/>
              <a:t>” ,</a:t>
            </a:r>
          </a:p>
          <a:p>
            <a:r>
              <a:rPr lang="en-US" dirty="0"/>
              <a:t>“password”:”123”</a:t>
            </a:r>
          </a:p>
          <a:p>
            <a:r>
              <a:rPr lang="en-US" dirty="0"/>
              <a:t>}</a:t>
            </a:r>
          </a:p>
          <a:p>
            <a:endParaRPr lang="en-US" dirty="0"/>
          </a:p>
          <a:p>
            <a:r>
              <a:rPr lang="en-US" dirty="0"/>
              <a:t>You will get </a:t>
            </a:r>
            <a:r>
              <a:rPr lang="en-US" dirty="0" err="1"/>
              <a:t>JwtToken</a:t>
            </a:r>
            <a:r>
              <a:rPr lang="en-US" dirty="0"/>
              <a:t> </a:t>
            </a:r>
            <a:endParaRPr lang="en-IN" dirty="0"/>
          </a:p>
        </p:txBody>
      </p:sp>
      <p:sp>
        <p:nvSpPr>
          <p:cNvPr id="6" name="TextBox 5">
            <a:extLst>
              <a:ext uri="{FF2B5EF4-FFF2-40B4-BE49-F238E27FC236}">
                <a16:creationId xmlns:a16="http://schemas.microsoft.com/office/drawing/2014/main" id="{7CBEF6BD-7B3F-46AC-D67C-9F29C67179B3}"/>
              </a:ext>
            </a:extLst>
          </p:cNvPr>
          <p:cNvSpPr txBox="1"/>
          <p:nvPr/>
        </p:nvSpPr>
        <p:spPr>
          <a:xfrm>
            <a:off x="0" y="3813142"/>
            <a:ext cx="5667375" cy="2862322"/>
          </a:xfrm>
          <a:prstGeom prst="rect">
            <a:avLst/>
          </a:prstGeom>
          <a:noFill/>
        </p:spPr>
        <p:txBody>
          <a:bodyPr wrap="square">
            <a:spAutoFit/>
          </a:bodyPr>
          <a:lstStyle/>
          <a:p>
            <a:r>
              <a:rPr lang="en-IN" b="0" i="0" dirty="0">
                <a:solidFill>
                  <a:srgbClr val="212121"/>
                </a:solidFill>
                <a:effectLst/>
                <a:latin typeface="Inter"/>
              </a:rPr>
              <a:t>eyJhbGciOiJIUzI1NiIsInR5cCI6IkpXVCJ9.eyJzdWIiOiJHaXZlVG9rZW4iLCJqdGkiOiI1M2ZjZDY2Yy1kYWM0LTQzYWItYTM0Yi0zNDA4ZWEzN2UyYWEiLCJpYXQiOiIyMC0wNi0yMDIzIDA1OjA3OjUyIiwiSWQiOiIyIiwiRmlyc3ROYW1lIjoiUmFqIiwiTGFzdE5hbWUiOiJEaGFuaSIsIlVzZXJOYW1lIjoiUmFqIiwiRW1haWwiOiJhYmNAZ21haWwuY29tIiwiZXhwIjoxNjg3MzI0MDcyLCJpc3MiOiJBdXRoZW50aWNhdG9yU2VydmVyIiwiYXVkIjoiRW1wbG95ZWVTZXJ2aWNlIn0.CsgkQhkn17Eo-j5pdg74GfvTwv7WuYwHr2bb_hru-dQ</a:t>
            </a:r>
            <a:endParaRPr lang="en-IN" dirty="0"/>
          </a:p>
        </p:txBody>
      </p:sp>
      <p:sp>
        <p:nvSpPr>
          <p:cNvPr id="7" name="TextBox 6">
            <a:extLst>
              <a:ext uri="{FF2B5EF4-FFF2-40B4-BE49-F238E27FC236}">
                <a16:creationId xmlns:a16="http://schemas.microsoft.com/office/drawing/2014/main" id="{03AF15AB-C964-2EF6-8CA3-F56BDEA865E4}"/>
              </a:ext>
            </a:extLst>
          </p:cNvPr>
          <p:cNvSpPr txBox="1"/>
          <p:nvPr/>
        </p:nvSpPr>
        <p:spPr>
          <a:xfrm>
            <a:off x="336223" y="3355942"/>
            <a:ext cx="3610466" cy="369332"/>
          </a:xfrm>
          <a:prstGeom prst="rect">
            <a:avLst/>
          </a:prstGeom>
          <a:noFill/>
        </p:spPr>
        <p:txBody>
          <a:bodyPr wrap="square" rtlCol="0">
            <a:spAutoFit/>
          </a:bodyPr>
          <a:lstStyle/>
          <a:p>
            <a:r>
              <a:rPr lang="en-US" dirty="0"/>
              <a:t> Bearer </a:t>
            </a:r>
            <a:endParaRPr lang="en-IN" dirty="0"/>
          </a:p>
        </p:txBody>
      </p:sp>
      <p:pic>
        <p:nvPicPr>
          <p:cNvPr id="2" name="Picture 1"/>
          <p:cNvPicPr>
            <a:picLocks noChangeAspect="1"/>
          </p:cNvPicPr>
          <p:nvPr/>
        </p:nvPicPr>
        <p:blipFill>
          <a:blip r:embed="rId2"/>
          <a:stretch>
            <a:fillRect/>
          </a:stretch>
        </p:blipFill>
        <p:spPr>
          <a:xfrm>
            <a:off x="5771918" y="314326"/>
            <a:ext cx="6192115" cy="5419724"/>
          </a:xfrm>
          <a:prstGeom prst="rect">
            <a:avLst/>
          </a:prstGeom>
        </p:spPr>
      </p:pic>
    </p:spTree>
    <p:extLst>
      <p:ext uri="{BB962C8B-B14F-4D97-AF65-F5344CB8AC3E}">
        <p14:creationId xmlns:p14="http://schemas.microsoft.com/office/powerpoint/2010/main" val="3970391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1616</TotalTime>
  <Words>2306</Words>
  <Application>Microsoft Office PowerPoint</Application>
  <PresentationFormat>Widescreen</PresentationFormat>
  <Paragraphs>320</Paragraphs>
  <Slides>11</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Arial</vt:lpstr>
      <vt:lpstr>Calibri</vt:lpstr>
      <vt:lpstr>Calibri Light</vt:lpstr>
      <vt:lpstr>Cambria</vt:lpstr>
      <vt:lpstr>Cascadia Mono</vt:lpstr>
      <vt:lpstr>Garamond</vt:lpstr>
      <vt:lpstr>Inter</vt:lpstr>
      <vt:lpstr>Open Sans</vt:lpstr>
      <vt:lpstr>Office Theme</vt:lpstr>
      <vt:lpstr>1_Office Theme</vt:lpstr>
      <vt:lpstr>What is a JWT Token?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43</cp:revision>
  <dcterms:created xsi:type="dcterms:W3CDTF">2023-06-19T13:40:49Z</dcterms:created>
  <dcterms:modified xsi:type="dcterms:W3CDTF">2025-02-06T14:48:50Z</dcterms:modified>
</cp:coreProperties>
</file>