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7" r:id="rId3"/>
    <p:sldId id="261" r:id="rId4"/>
    <p:sldId id="262" r:id="rId5"/>
    <p:sldId id="264" r:id="rId6"/>
    <p:sldId id="263" r:id="rId7"/>
    <p:sldId id="265" r:id="rId8"/>
    <p:sldId id="269" r:id="rId9"/>
    <p:sldId id="275" r:id="rId10"/>
    <p:sldId id="276" r:id="rId11"/>
    <p:sldId id="266" r:id="rId12"/>
    <p:sldId id="267" r:id="rId13"/>
    <p:sldId id="270" r:id="rId14"/>
    <p:sldId id="268" r:id="rId15"/>
    <p:sldId id="271" r:id="rId16"/>
    <p:sldId id="272" r:id="rId17"/>
    <p:sldId id="274"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27" autoAdjust="0"/>
  </p:normalViewPr>
  <p:slideViewPr>
    <p:cSldViewPr snapToGrid="0">
      <p:cViewPr varScale="1">
        <p:scale>
          <a:sx n="89" d="100"/>
          <a:sy n="89" d="100"/>
        </p:scale>
        <p:origin x="43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EE8CD-945F-4597-93B6-494C818BD3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04063FB-9572-4C91-8509-D1408179A8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6BF8103-E2EC-44EC-BA4B-402F5A004470}"/>
              </a:ext>
            </a:extLst>
          </p:cNvPr>
          <p:cNvSpPr>
            <a:spLocks noGrp="1"/>
          </p:cNvSpPr>
          <p:nvPr>
            <p:ph type="dt" sz="half" idx="10"/>
          </p:nvPr>
        </p:nvSpPr>
        <p:spPr/>
        <p:txBody>
          <a:bodyPr/>
          <a:lstStyle/>
          <a:p>
            <a:fld id="{E7F59FEE-C098-4018-AC49-E1889D5B9E5A}" type="datetimeFigureOut">
              <a:rPr lang="en-IN" smtClean="0"/>
              <a:t>07-04-2025</a:t>
            </a:fld>
            <a:endParaRPr lang="en-IN"/>
          </a:p>
        </p:txBody>
      </p:sp>
      <p:sp>
        <p:nvSpPr>
          <p:cNvPr id="5" name="Footer Placeholder 4">
            <a:extLst>
              <a:ext uri="{FF2B5EF4-FFF2-40B4-BE49-F238E27FC236}">
                <a16:creationId xmlns:a16="http://schemas.microsoft.com/office/drawing/2014/main" id="{201C8172-40FD-4998-98C1-05ABBF25E6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3D3140-4A98-4F1A-A9F3-4F45BC41AE91}"/>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2391262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0AABF-B751-48EA-9DF3-3CECAA43AE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7235A7-3A2A-435E-98F6-F14E9ABAD0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8FFB24-4AA5-4BAC-BA3B-EA8BBFDDDB50}"/>
              </a:ext>
            </a:extLst>
          </p:cNvPr>
          <p:cNvSpPr>
            <a:spLocks noGrp="1"/>
          </p:cNvSpPr>
          <p:nvPr>
            <p:ph type="dt" sz="half" idx="10"/>
          </p:nvPr>
        </p:nvSpPr>
        <p:spPr/>
        <p:txBody>
          <a:bodyPr/>
          <a:lstStyle/>
          <a:p>
            <a:fld id="{E7F59FEE-C098-4018-AC49-E1889D5B9E5A}" type="datetimeFigureOut">
              <a:rPr lang="en-IN" smtClean="0"/>
              <a:t>07-04-2025</a:t>
            </a:fld>
            <a:endParaRPr lang="en-IN"/>
          </a:p>
        </p:txBody>
      </p:sp>
      <p:sp>
        <p:nvSpPr>
          <p:cNvPr id="5" name="Footer Placeholder 4">
            <a:extLst>
              <a:ext uri="{FF2B5EF4-FFF2-40B4-BE49-F238E27FC236}">
                <a16:creationId xmlns:a16="http://schemas.microsoft.com/office/drawing/2014/main" id="{B2A32515-8976-4A8C-A98B-466F4B39C3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5B1BFC-8227-4272-9AC7-A60CFC59119E}"/>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3800040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21847-00FD-45F0-BBD2-DB6195B0F6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96A178-FF0D-445F-AA3D-E36DD5E8F6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78C3E3-C68E-490D-B031-B51FCA7709D7}"/>
              </a:ext>
            </a:extLst>
          </p:cNvPr>
          <p:cNvSpPr>
            <a:spLocks noGrp="1"/>
          </p:cNvSpPr>
          <p:nvPr>
            <p:ph type="dt" sz="half" idx="10"/>
          </p:nvPr>
        </p:nvSpPr>
        <p:spPr/>
        <p:txBody>
          <a:bodyPr/>
          <a:lstStyle/>
          <a:p>
            <a:fld id="{E7F59FEE-C098-4018-AC49-E1889D5B9E5A}" type="datetimeFigureOut">
              <a:rPr lang="en-IN" smtClean="0"/>
              <a:t>07-04-2025</a:t>
            </a:fld>
            <a:endParaRPr lang="en-IN"/>
          </a:p>
        </p:txBody>
      </p:sp>
      <p:sp>
        <p:nvSpPr>
          <p:cNvPr id="5" name="Footer Placeholder 4">
            <a:extLst>
              <a:ext uri="{FF2B5EF4-FFF2-40B4-BE49-F238E27FC236}">
                <a16:creationId xmlns:a16="http://schemas.microsoft.com/office/drawing/2014/main" id="{5CFD2235-97FE-4D47-B345-C3CEA67C77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21C507-3560-4CB7-A4C9-14B2753CE9E6}"/>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2775725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74C50-8616-4B46-A60D-4370FE90A0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3FF16C-8939-48E7-9527-83412BBAB4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E77627A-6773-458F-9527-BF8E33A55F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1C0662B-D73A-4F8B-AFCE-34C2E5E13255}"/>
              </a:ext>
            </a:extLst>
          </p:cNvPr>
          <p:cNvSpPr>
            <a:spLocks noGrp="1"/>
          </p:cNvSpPr>
          <p:nvPr>
            <p:ph type="dt" sz="half" idx="10"/>
          </p:nvPr>
        </p:nvSpPr>
        <p:spPr/>
        <p:txBody>
          <a:bodyPr/>
          <a:lstStyle/>
          <a:p>
            <a:fld id="{E7F59FEE-C098-4018-AC49-E1889D5B9E5A}" type="datetimeFigureOut">
              <a:rPr lang="en-IN" smtClean="0"/>
              <a:t>07-04-2025</a:t>
            </a:fld>
            <a:endParaRPr lang="en-IN"/>
          </a:p>
        </p:txBody>
      </p:sp>
      <p:sp>
        <p:nvSpPr>
          <p:cNvPr id="6" name="Footer Placeholder 5">
            <a:extLst>
              <a:ext uri="{FF2B5EF4-FFF2-40B4-BE49-F238E27FC236}">
                <a16:creationId xmlns:a16="http://schemas.microsoft.com/office/drawing/2014/main" id="{5E63EB66-2CA1-4E75-94BE-5E421146EF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F4B418-4637-43EB-AAC1-1D9B77D4FBD9}"/>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382246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92E27-B211-4F90-897F-CBA0B518E7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82A38F-0EF5-4A23-B184-2B78EF0F1E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E2B7A6-4155-4264-B0E2-6EBA5AEA46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9BE3C2-4860-4D1A-AEE4-99FF3149B1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8370D4-B7BF-4046-900D-8D0164C4B0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13F551-A311-486C-B3F0-DF737EA07F5D}"/>
              </a:ext>
            </a:extLst>
          </p:cNvPr>
          <p:cNvSpPr>
            <a:spLocks noGrp="1"/>
          </p:cNvSpPr>
          <p:nvPr>
            <p:ph type="dt" sz="half" idx="10"/>
          </p:nvPr>
        </p:nvSpPr>
        <p:spPr/>
        <p:txBody>
          <a:bodyPr/>
          <a:lstStyle/>
          <a:p>
            <a:fld id="{E7F59FEE-C098-4018-AC49-E1889D5B9E5A}" type="datetimeFigureOut">
              <a:rPr lang="en-IN" smtClean="0"/>
              <a:t>07-04-2025</a:t>
            </a:fld>
            <a:endParaRPr lang="en-IN"/>
          </a:p>
        </p:txBody>
      </p:sp>
      <p:sp>
        <p:nvSpPr>
          <p:cNvPr id="8" name="Footer Placeholder 7">
            <a:extLst>
              <a:ext uri="{FF2B5EF4-FFF2-40B4-BE49-F238E27FC236}">
                <a16:creationId xmlns:a16="http://schemas.microsoft.com/office/drawing/2014/main" id="{66A2F8EF-FF77-4FC0-9DE4-BEC112642CD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96FF2FD-E25E-4971-985B-71474B3C9C38}"/>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3652161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2ACA6-6684-4C03-B4CD-713F0557B84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D44EB8-779E-40CD-85B7-C7F6BBBA08BE}"/>
              </a:ext>
            </a:extLst>
          </p:cNvPr>
          <p:cNvSpPr>
            <a:spLocks noGrp="1"/>
          </p:cNvSpPr>
          <p:nvPr>
            <p:ph type="dt" sz="half" idx="10"/>
          </p:nvPr>
        </p:nvSpPr>
        <p:spPr/>
        <p:txBody>
          <a:bodyPr/>
          <a:lstStyle/>
          <a:p>
            <a:fld id="{E7F59FEE-C098-4018-AC49-E1889D5B9E5A}" type="datetimeFigureOut">
              <a:rPr lang="en-IN" smtClean="0"/>
              <a:t>07-04-2025</a:t>
            </a:fld>
            <a:endParaRPr lang="en-IN"/>
          </a:p>
        </p:txBody>
      </p:sp>
      <p:sp>
        <p:nvSpPr>
          <p:cNvPr id="4" name="Footer Placeholder 3">
            <a:extLst>
              <a:ext uri="{FF2B5EF4-FFF2-40B4-BE49-F238E27FC236}">
                <a16:creationId xmlns:a16="http://schemas.microsoft.com/office/drawing/2014/main" id="{691B3C73-D474-4683-80FA-A9316D945F7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CDFAEE-B2E0-4AF6-B4C8-07F2A22CFDA9}"/>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1783710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35FBB8-3531-4141-916E-276DBB876910}"/>
              </a:ext>
            </a:extLst>
          </p:cNvPr>
          <p:cNvSpPr>
            <a:spLocks noGrp="1"/>
          </p:cNvSpPr>
          <p:nvPr>
            <p:ph type="dt" sz="half" idx="10"/>
          </p:nvPr>
        </p:nvSpPr>
        <p:spPr/>
        <p:txBody>
          <a:bodyPr/>
          <a:lstStyle/>
          <a:p>
            <a:fld id="{E7F59FEE-C098-4018-AC49-E1889D5B9E5A}" type="datetimeFigureOut">
              <a:rPr lang="en-IN" smtClean="0"/>
              <a:t>07-04-2025</a:t>
            </a:fld>
            <a:endParaRPr lang="en-IN"/>
          </a:p>
        </p:txBody>
      </p:sp>
      <p:sp>
        <p:nvSpPr>
          <p:cNvPr id="3" name="Footer Placeholder 2">
            <a:extLst>
              <a:ext uri="{FF2B5EF4-FFF2-40B4-BE49-F238E27FC236}">
                <a16:creationId xmlns:a16="http://schemas.microsoft.com/office/drawing/2014/main" id="{BD03F5BF-02F6-4353-80ED-3AD3A8ADE53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A1EF23E-5E12-4330-9E41-13946FA928DB}"/>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2161929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B9E54-F86D-470C-8563-E7D2AC5FE8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4042018-E81D-45A8-93BF-9064DC23D1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6515376-0035-484C-A1EE-D2EE02065A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FB5D73-EF60-4059-B04F-A4C24D8E88A8}"/>
              </a:ext>
            </a:extLst>
          </p:cNvPr>
          <p:cNvSpPr>
            <a:spLocks noGrp="1"/>
          </p:cNvSpPr>
          <p:nvPr>
            <p:ph type="dt" sz="half" idx="10"/>
          </p:nvPr>
        </p:nvSpPr>
        <p:spPr/>
        <p:txBody>
          <a:bodyPr/>
          <a:lstStyle/>
          <a:p>
            <a:fld id="{E7F59FEE-C098-4018-AC49-E1889D5B9E5A}" type="datetimeFigureOut">
              <a:rPr lang="en-IN" smtClean="0"/>
              <a:t>07-04-2025</a:t>
            </a:fld>
            <a:endParaRPr lang="en-IN"/>
          </a:p>
        </p:txBody>
      </p:sp>
      <p:sp>
        <p:nvSpPr>
          <p:cNvPr id="6" name="Footer Placeholder 5">
            <a:extLst>
              <a:ext uri="{FF2B5EF4-FFF2-40B4-BE49-F238E27FC236}">
                <a16:creationId xmlns:a16="http://schemas.microsoft.com/office/drawing/2014/main" id="{C2E76C7C-54C4-4F27-B342-86232B546C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5AF672-46F8-4425-A842-78164522C6E4}"/>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1258030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DADAE-F31E-4CA3-825B-885361ACDD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0D397F-121B-49FB-A43E-C55B18CA2A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973AECD-E281-473C-957D-E92F5C3C81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2C9270-ED1E-42AB-9A93-D1FA2B8DCAE2}"/>
              </a:ext>
            </a:extLst>
          </p:cNvPr>
          <p:cNvSpPr>
            <a:spLocks noGrp="1"/>
          </p:cNvSpPr>
          <p:nvPr>
            <p:ph type="dt" sz="half" idx="10"/>
          </p:nvPr>
        </p:nvSpPr>
        <p:spPr/>
        <p:txBody>
          <a:bodyPr/>
          <a:lstStyle/>
          <a:p>
            <a:fld id="{E7F59FEE-C098-4018-AC49-E1889D5B9E5A}" type="datetimeFigureOut">
              <a:rPr lang="en-IN" smtClean="0"/>
              <a:t>07-04-2025</a:t>
            </a:fld>
            <a:endParaRPr lang="en-IN"/>
          </a:p>
        </p:txBody>
      </p:sp>
      <p:sp>
        <p:nvSpPr>
          <p:cNvPr id="6" name="Footer Placeholder 5">
            <a:extLst>
              <a:ext uri="{FF2B5EF4-FFF2-40B4-BE49-F238E27FC236}">
                <a16:creationId xmlns:a16="http://schemas.microsoft.com/office/drawing/2014/main" id="{37CD1734-5BF0-4C4D-A352-2252E6155E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1C2B45-1A06-4477-84B7-737D8F02B2F5}"/>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2120217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0DA7B-D420-4BC8-8626-8F82E1F691D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ABDA77-87E5-4F2E-8149-0701041CE5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C41C0B-06F3-4944-8B37-8906E4547384}"/>
              </a:ext>
            </a:extLst>
          </p:cNvPr>
          <p:cNvSpPr>
            <a:spLocks noGrp="1"/>
          </p:cNvSpPr>
          <p:nvPr>
            <p:ph type="dt" sz="half" idx="10"/>
          </p:nvPr>
        </p:nvSpPr>
        <p:spPr/>
        <p:txBody>
          <a:bodyPr/>
          <a:lstStyle/>
          <a:p>
            <a:fld id="{E7F59FEE-C098-4018-AC49-E1889D5B9E5A}" type="datetimeFigureOut">
              <a:rPr lang="en-IN" smtClean="0"/>
              <a:t>07-04-2025</a:t>
            </a:fld>
            <a:endParaRPr lang="en-IN"/>
          </a:p>
        </p:txBody>
      </p:sp>
      <p:sp>
        <p:nvSpPr>
          <p:cNvPr id="5" name="Footer Placeholder 4">
            <a:extLst>
              <a:ext uri="{FF2B5EF4-FFF2-40B4-BE49-F238E27FC236}">
                <a16:creationId xmlns:a16="http://schemas.microsoft.com/office/drawing/2014/main" id="{D7FFC235-11B6-45AB-A5F9-40A9460FAE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198A46-150E-4081-BD40-271D5BAC54E7}"/>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4061409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0B47C2-9637-42D3-A52E-380157B6AB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30A7B0-063A-4683-B900-DC0B9A172C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D1D772-8F6D-492D-BAC0-C7FBB9C20B3F}"/>
              </a:ext>
            </a:extLst>
          </p:cNvPr>
          <p:cNvSpPr>
            <a:spLocks noGrp="1"/>
          </p:cNvSpPr>
          <p:nvPr>
            <p:ph type="dt" sz="half" idx="10"/>
          </p:nvPr>
        </p:nvSpPr>
        <p:spPr/>
        <p:txBody>
          <a:bodyPr/>
          <a:lstStyle/>
          <a:p>
            <a:fld id="{E7F59FEE-C098-4018-AC49-E1889D5B9E5A}" type="datetimeFigureOut">
              <a:rPr lang="en-IN" smtClean="0"/>
              <a:t>07-04-2025</a:t>
            </a:fld>
            <a:endParaRPr lang="en-IN"/>
          </a:p>
        </p:txBody>
      </p:sp>
      <p:sp>
        <p:nvSpPr>
          <p:cNvPr id="5" name="Footer Placeholder 4">
            <a:extLst>
              <a:ext uri="{FF2B5EF4-FFF2-40B4-BE49-F238E27FC236}">
                <a16:creationId xmlns:a16="http://schemas.microsoft.com/office/drawing/2014/main" id="{728CED5B-3625-4005-9EA3-57FA283556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9F9671-D3D2-4D55-98AD-981B2AB9EDCF}"/>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239351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0AE2BF-3361-4EFC-8A18-E8166B9DE5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C3CEF5-65DD-4612-B41A-6C12A419A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A44716-3FFF-4603-AD86-72234C7476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F59FEE-C098-4018-AC49-E1889D5B9E5A}" type="datetimeFigureOut">
              <a:rPr lang="en-IN" smtClean="0"/>
              <a:t>07-04-2025</a:t>
            </a:fld>
            <a:endParaRPr lang="en-IN"/>
          </a:p>
        </p:txBody>
      </p:sp>
      <p:sp>
        <p:nvSpPr>
          <p:cNvPr id="5" name="Footer Placeholder 4">
            <a:extLst>
              <a:ext uri="{FF2B5EF4-FFF2-40B4-BE49-F238E27FC236}">
                <a16:creationId xmlns:a16="http://schemas.microsoft.com/office/drawing/2014/main" id="{8EFC84BE-A44E-4A14-8F34-8B7559F08B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4634EB4-76FC-4F68-8F2E-287888B5C5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B958DC-360D-405C-A52D-37D22593CF7F}" type="slidenum">
              <a:rPr lang="en-IN" smtClean="0"/>
              <a:t>‹#›</a:t>
            </a:fld>
            <a:endParaRPr lang="en-IN"/>
          </a:p>
        </p:txBody>
      </p:sp>
      <p:pic>
        <p:nvPicPr>
          <p:cNvPr id="8" name="Picture 7">
            <a:extLst>
              <a:ext uri="{FF2B5EF4-FFF2-40B4-BE49-F238E27FC236}">
                <a16:creationId xmlns:a16="http://schemas.microsoft.com/office/drawing/2014/main" id="{439F6CC7-DB66-4EDA-B69B-B44E1C1843D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88D522DD-3471-470C-8E81-9413C0CE4774}"/>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5215816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
        <p:nvSpPr>
          <p:cNvPr id="2" name="TextBox 1">
            <a:extLst>
              <a:ext uri="{FF2B5EF4-FFF2-40B4-BE49-F238E27FC236}">
                <a16:creationId xmlns:a16="http://schemas.microsoft.com/office/drawing/2014/main" id="{4500979A-A60F-470C-A852-DEA7DD056AE3}"/>
              </a:ext>
            </a:extLst>
          </p:cNvPr>
          <p:cNvSpPr txBox="1"/>
          <p:nvPr/>
        </p:nvSpPr>
        <p:spPr>
          <a:xfrm>
            <a:off x="2880852" y="1415845"/>
            <a:ext cx="6567948" cy="1077218"/>
          </a:xfrm>
          <a:prstGeom prst="rect">
            <a:avLst/>
          </a:prstGeom>
          <a:noFill/>
        </p:spPr>
        <p:txBody>
          <a:bodyPr wrap="square" rtlCol="0">
            <a:spAutoFit/>
          </a:bodyPr>
          <a:lstStyle/>
          <a:p>
            <a:pPr algn="ctr"/>
            <a:r>
              <a:rPr lang="en-IN" sz="3200" dirty="0"/>
              <a:t>C# </a:t>
            </a:r>
            <a:r>
              <a:rPr lang="en-IN" sz="3200" dirty="0" err="1"/>
              <a:t>Laguage</a:t>
            </a:r>
            <a:endParaRPr lang="en-IN" sz="3200" dirty="0"/>
          </a:p>
          <a:p>
            <a:r>
              <a:rPr lang="en-IN" sz="3200" dirty="0"/>
              <a:t>Call By Value and Call By  Reference</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F42F8-6E97-47FC-879C-2460BB0BE538}"/>
              </a:ext>
            </a:extLst>
          </p:cNvPr>
          <p:cNvSpPr>
            <a:spLocks noGrp="1"/>
          </p:cNvSpPr>
          <p:nvPr>
            <p:ph type="title"/>
          </p:nvPr>
        </p:nvSpPr>
        <p:spPr>
          <a:xfrm>
            <a:off x="996520" y="-122393"/>
            <a:ext cx="3463719" cy="1136607"/>
          </a:xfrm>
        </p:spPr>
        <p:txBody>
          <a:bodyPr>
            <a:normAutofit/>
          </a:bodyPr>
          <a:lstStyle/>
          <a:p>
            <a:r>
              <a:rPr lang="en-IN" dirty="0"/>
              <a:t>   Call by value</a:t>
            </a:r>
          </a:p>
        </p:txBody>
      </p:sp>
      <p:sp>
        <p:nvSpPr>
          <p:cNvPr id="3" name="Content Placeholder 2">
            <a:extLst>
              <a:ext uri="{FF2B5EF4-FFF2-40B4-BE49-F238E27FC236}">
                <a16:creationId xmlns:a16="http://schemas.microsoft.com/office/drawing/2014/main" id="{443E9A69-4BDB-4683-B4FA-B58AD4021E21}"/>
              </a:ext>
            </a:extLst>
          </p:cNvPr>
          <p:cNvSpPr>
            <a:spLocks noGrp="1"/>
          </p:cNvSpPr>
          <p:nvPr>
            <p:ph idx="1"/>
          </p:nvPr>
        </p:nvSpPr>
        <p:spPr>
          <a:xfrm>
            <a:off x="5299587" y="-44572"/>
            <a:ext cx="6454099" cy="6587612"/>
          </a:xfrm>
        </p:spPr>
        <p:txBody>
          <a:bodyPr>
            <a:noAutofit/>
          </a:bodyPr>
          <a:lstStyle/>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 Simple types are passed by value.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Test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method causes no change to the arguments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8000"/>
                </a:solidFill>
                <a:highlight>
                  <a:srgbClr val="FFFFFF"/>
                </a:highlight>
                <a:latin typeface="Consolas" panose="020B0609020204030204" pitchFamily="49" charset="0"/>
              </a:rPr>
              <a:t>       used in the call.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noChange</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j)</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 5;</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j += 5;</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CallByValue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Test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Test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 = 15, b = 20;</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 and b before call: "</a:t>
            </a:r>
            <a:r>
              <a:rPr lang="en-US" sz="1200" dirty="0">
                <a:solidFill>
                  <a:srgbClr val="000000"/>
                </a:solidFill>
                <a:highlight>
                  <a:srgbClr val="FFFFFF"/>
                </a:highlight>
                <a:latin typeface="Consolas" panose="020B0609020204030204" pitchFamily="49" charset="0"/>
              </a:rPr>
              <a:t> + a + </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 b);//15 20</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ob.noChange</a:t>
            </a:r>
            <a:r>
              <a:rPr lang="en-IN" sz="1200" dirty="0">
                <a:solidFill>
                  <a:srgbClr val="000000"/>
                </a:solidFill>
                <a:highlight>
                  <a:srgbClr val="FFFFFF"/>
                </a:highlight>
                <a:latin typeface="Consolas" panose="020B0609020204030204" pitchFamily="49" charset="0"/>
              </a:rPr>
              <a:t>(a, b);</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 and b after call: "</a:t>
            </a:r>
            <a:r>
              <a:rPr lang="en-US" sz="1200" dirty="0">
                <a:solidFill>
                  <a:srgbClr val="000000"/>
                </a:solidFill>
                <a:highlight>
                  <a:srgbClr val="FFFFFF"/>
                </a:highlight>
                <a:latin typeface="Consolas" panose="020B0609020204030204" pitchFamily="49" charset="0"/>
              </a:rPr>
              <a:t> +  a + </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 b);//15 20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0EFE04A5-279E-4377-9F8F-F05FAD92EFA3}"/>
              </a:ext>
            </a:extLst>
          </p:cNvPr>
          <p:cNvSpPr txBox="1"/>
          <p:nvPr/>
        </p:nvSpPr>
        <p:spPr>
          <a:xfrm>
            <a:off x="166984" y="882608"/>
            <a:ext cx="4943167" cy="1477328"/>
          </a:xfrm>
          <a:prstGeom prst="rect">
            <a:avLst/>
          </a:prstGeom>
          <a:noFill/>
        </p:spPr>
        <p:txBody>
          <a:bodyPr wrap="square" rtlCol="0">
            <a:spAutoFit/>
          </a:bodyPr>
          <a:lstStyle/>
          <a:p>
            <a:r>
              <a:rPr lang="en-IN" dirty="0"/>
              <a:t>When you pass primitive type in a function another memory block get created and data get copied to new memory block. So if you make some changes to the parameter in a function original data does not get affected see the diagram </a:t>
            </a:r>
          </a:p>
        </p:txBody>
      </p:sp>
      <p:sp>
        <p:nvSpPr>
          <p:cNvPr id="5" name="Rectangle 4">
            <a:extLst>
              <a:ext uri="{FF2B5EF4-FFF2-40B4-BE49-F238E27FC236}">
                <a16:creationId xmlns:a16="http://schemas.microsoft.com/office/drawing/2014/main" id="{72EF3970-BFAD-4EED-9087-E1D1D419B1B6}"/>
              </a:ext>
            </a:extLst>
          </p:cNvPr>
          <p:cNvSpPr/>
          <p:nvPr/>
        </p:nvSpPr>
        <p:spPr>
          <a:xfrm>
            <a:off x="3311013" y="4606052"/>
            <a:ext cx="660400" cy="497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15</a:t>
            </a:r>
          </a:p>
        </p:txBody>
      </p:sp>
      <p:sp>
        <p:nvSpPr>
          <p:cNvPr id="6" name="TextBox 5">
            <a:extLst>
              <a:ext uri="{FF2B5EF4-FFF2-40B4-BE49-F238E27FC236}">
                <a16:creationId xmlns:a16="http://schemas.microsoft.com/office/drawing/2014/main" id="{51946F71-64A0-4994-8858-B12DBF1B113C}"/>
              </a:ext>
            </a:extLst>
          </p:cNvPr>
          <p:cNvSpPr txBox="1"/>
          <p:nvPr/>
        </p:nvSpPr>
        <p:spPr>
          <a:xfrm>
            <a:off x="3402453" y="4128733"/>
            <a:ext cx="599440" cy="369332"/>
          </a:xfrm>
          <a:prstGeom prst="rect">
            <a:avLst/>
          </a:prstGeom>
          <a:noFill/>
        </p:spPr>
        <p:txBody>
          <a:bodyPr wrap="square" rtlCol="0">
            <a:spAutoFit/>
          </a:bodyPr>
          <a:lstStyle/>
          <a:p>
            <a:r>
              <a:rPr lang="en-IN" dirty="0"/>
              <a:t>a</a:t>
            </a:r>
          </a:p>
        </p:txBody>
      </p:sp>
      <p:sp>
        <p:nvSpPr>
          <p:cNvPr id="8" name="Rectangle 7">
            <a:extLst>
              <a:ext uri="{FF2B5EF4-FFF2-40B4-BE49-F238E27FC236}">
                <a16:creationId xmlns:a16="http://schemas.microsoft.com/office/drawing/2014/main" id="{1193ABE4-400B-4E0D-8A31-2457F7B2F934}"/>
              </a:ext>
            </a:extLst>
          </p:cNvPr>
          <p:cNvSpPr/>
          <p:nvPr/>
        </p:nvSpPr>
        <p:spPr>
          <a:xfrm>
            <a:off x="4191329" y="4630145"/>
            <a:ext cx="660400" cy="497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20</a:t>
            </a:r>
          </a:p>
        </p:txBody>
      </p:sp>
      <p:sp>
        <p:nvSpPr>
          <p:cNvPr id="10" name="TextBox 9">
            <a:extLst>
              <a:ext uri="{FF2B5EF4-FFF2-40B4-BE49-F238E27FC236}">
                <a16:creationId xmlns:a16="http://schemas.microsoft.com/office/drawing/2014/main" id="{053FB560-C953-4E7A-9B3F-625A5CAB6CB7}"/>
              </a:ext>
            </a:extLst>
          </p:cNvPr>
          <p:cNvSpPr txBox="1"/>
          <p:nvPr/>
        </p:nvSpPr>
        <p:spPr>
          <a:xfrm>
            <a:off x="4282769" y="4152826"/>
            <a:ext cx="599440" cy="369332"/>
          </a:xfrm>
          <a:prstGeom prst="rect">
            <a:avLst/>
          </a:prstGeom>
          <a:noFill/>
        </p:spPr>
        <p:txBody>
          <a:bodyPr wrap="square" rtlCol="0">
            <a:spAutoFit/>
          </a:bodyPr>
          <a:lstStyle/>
          <a:p>
            <a:r>
              <a:rPr lang="en-IN" dirty="0"/>
              <a:t>b</a:t>
            </a:r>
          </a:p>
        </p:txBody>
      </p:sp>
      <p:sp>
        <p:nvSpPr>
          <p:cNvPr id="11" name="Rectangle 10">
            <a:extLst>
              <a:ext uri="{FF2B5EF4-FFF2-40B4-BE49-F238E27FC236}">
                <a16:creationId xmlns:a16="http://schemas.microsoft.com/office/drawing/2014/main" id="{1D329FEA-2475-40F5-BFC9-B1F86D1EE4C6}"/>
              </a:ext>
            </a:extLst>
          </p:cNvPr>
          <p:cNvSpPr/>
          <p:nvPr/>
        </p:nvSpPr>
        <p:spPr>
          <a:xfrm>
            <a:off x="8578110" y="1300480"/>
            <a:ext cx="1098632" cy="629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15  20</a:t>
            </a:r>
          </a:p>
        </p:txBody>
      </p:sp>
      <p:sp>
        <p:nvSpPr>
          <p:cNvPr id="13" name="Rectangle 12">
            <a:extLst>
              <a:ext uri="{FF2B5EF4-FFF2-40B4-BE49-F238E27FC236}">
                <a16:creationId xmlns:a16="http://schemas.microsoft.com/office/drawing/2014/main" id="{F2FB4FCA-03AB-454F-9B35-4FD634622D30}"/>
              </a:ext>
            </a:extLst>
          </p:cNvPr>
          <p:cNvSpPr/>
          <p:nvPr/>
        </p:nvSpPr>
        <p:spPr>
          <a:xfrm>
            <a:off x="9856018" y="1300480"/>
            <a:ext cx="1098632" cy="558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20 25</a:t>
            </a:r>
          </a:p>
        </p:txBody>
      </p:sp>
      <p:sp>
        <p:nvSpPr>
          <p:cNvPr id="15" name="TextBox 14">
            <a:extLst>
              <a:ext uri="{FF2B5EF4-FFF2-40B4-BE49-F238E27FC236}">
                <a16:creationId xmlns:a16="http://schemas.microsoft.com/office/drawing/2014/main" id="{A4251B39-9749-45F2-B63C-8D08CD63924C}"/>
              </a:ext>
            </a:extLst>
          </p:cNvPr>
          <p:cNvSpPr txBox="1"/>
          <p:nvPr/>
        </p:nvSpPr>
        <p:spPr>
          <a:xfrm>
            <a:off x="9866178" y="961274"/>
            <a:ext cx="599440" cy="369332"/>
          </a:xfrm>
          <a:prstGeom prst="rect">
            <a:avLst/>
          </a:prstGeom>
          <a:noFill/>
        </p:spPr>
        <p:txBody>
          <a:bodyPr wrap="square" rtlCol="0">
            <a:spAutoFit/>
          </a:bodyPr>
          <a:lstStyle/>
          <a:p>
            <a:r>
              <a:rPr lang="en-IN" dirty="0"/>
              <a:t>j</a:t>
            </a:r>
          </a:p>
        </p:txBody>
      </p:sp>
      <p:sp>
        <p:nvSpPr>
          <p:cNvPr id="17" name="TextBox 16">
            <a:extLst>
              <a:ext uri="{FF2B5EF4-FFF2-40B4-BE49-F238E27FC236}">
                <a16:creationId xmlns:a16="http://schemas.microsoft.com/office/drawing/2014/main" id="{3A97F182-99AC-40A4-9463-D58A822E1D51}"/>
              </a:ext>
            </a:extLst>
          </p:cNvPr>
          <p:cNvSpPr txBox="1"/>
          <p:nvPr/>
        </p:nvSpPr>
        <p:spPr>
          <a:xfrm>
            <a:off x="8888364" y="1014214"/>
            <a:ext cx="529956" cy="369332"/>
          </a:xfrm>
          <a:prstGeom prst="rect">
            <a:avLst/>
          </a:prstGeom>
          <a:noFill/>
        </p:spPr>
        <p:txBody>
          <a:bodyPr wrap="square" rtlCol="0">
            <a:spAutoFit/>
          </a:bodyPr>
          <a:lstStyle/>
          <a:p>
            <a:r>
              <a:rPr lang="en-IN" dirty="0"/>
              <a:t>i</a:t>
            </a:r>
          </a:p>
        </p:txBody>
      </p:sp>
      <p:cxnSp>
        <p:nvCxnSpPr>
          <p:cNvPr id="19" name="Straight Connector 18">
            <a:extLst>
              <a:ext uri="{FF2B5EF4-FFF2-40B4-BE49-F238E27FC236}">
                <a16:creationId xmlns:a16="http://schemas.microsoft.com/office/drawing/2014/main" id="{C07E6177-EC56-43B3-BD5C-C460FB737D9B}"/>
              </a:ext>
            </a:extLst>
          </p:cNvPr>
          <p:cNvCxnSpPr>
            <a:cxnSpLocks/>
          </p:cNvCxnSpPr>
          <p:nvPr/>
        </p:nvCxnSpPr>
        <p:spPr>
          <a:xfrm flipV="1">
            <a:off x="8566848" y="1383546"/>
            <a:ext cx="678343" cy="629920"/>
          </a:xfrm>
          <a:prstGeom prst="line">
            <a:avLst/>
          </a:prstGeom>
        </p:spPr>
        <p:style>
          <a:lnRef idx="2">
            <a:schemeClr val="accent4"/>
          </a:lnRef>
          <a:fillRef idx="0">
            <a:schemeClr val="accent4"/>
          </a:fillRef>
          <a:effectRef idx="1">
            <a:schemeClr val="accent4"/>
          </a:effectRef>
          <a:fontRef idx="minor">
            <a:schemeClr val="tx1"/>
          </a:fontRef>
        </p:style>
      </p:cxnSp>
      <p:cxnSp>
        <p:nvCxnSpPr>
          <p:cNvPr id="22" name="Straight Connector 21">
            <a:extLst>
              <a:ext uri="{FF2B5EF4-FFF2-40B4-BE49-F238E27FC236}">
                <a16:creationId xmlns:a16="http://schemas.microsoft.com/office/drawing/2014/main" id="{D7063221-C7D6-4741-A893-8CF05E2BE542}"/>
              </a:ext>
            </a:extLst>
          </p:cNvPr>
          <p:cNvCxnSpPr/>
          <p:nvPr/>
        </p:nvCxnSpPr>
        <p:spPr>
          <a:xfrm flipV="1">
            <a:off x="10124600" y="1383546"/>
            <a:ext cx="591414" cy="435094"/>
          </a:xfrm>
          <a:prstGeom prst="line">
            <a:avLst/>
          </a:prstGeom>
        </p:spPr>
        <p:style>
          <a:lnRef idx="2">
            <a:schemeClr val="accent4"/>
          </a:lnRef>
          <a:fillRef idx="0">
            <a:schemeClr val="accent4"/>
          </a:fillRef>
          <a:effectRef idx="1">
            <a:schemeClr val="accent4"/>
          </a:effectRef>
          <a:fontRef idx="minor">
            <a:schemeClr val="tx1"/>
          </a:fontRef>
        </p:style>
      </p:cxnSp>
      <p:cxnSp>
        <p:nvCxnSpPr>
          <p:cNvPr id="9" name="Straight Arrow Connector 8">
            <a:extLst>
              <a:ext uri="{FF2B5EF4-FFF2-40B4-BE49-F238E27FC236}">
                <a16:creationId xmlns:a16="http://schemas.microsoft.com/office/drawing/2014/main" id="{22EEFE39-0512-4636-8920-160A72FE19AD}"/>
              </a:ext>
            </a:extLst>
          </p:cNvPr>
          <p:cNvCxnSpPr/>
          <p:nvPr/>
        </p:nvCxnSpPr>
        <p:spPr>
          <a:xfrm flipV="1">
            <a:off x="7157884" y="1484671"/>
            <a:ext cx="580103" cy="3333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EB156CD-E28C-4F28-87D0-6521509DE2FA}"/>
              </a:ext>
            </a:extLst>
          </p:cNvPr>
          <p:cNvCxnSpPr/>
          <p:nvPr/>
        </p:nvCxnSpPr>
        <p:spPr>
          <a:xfrm flipV="1">
            <a:off x="7452852" y="1612490"/>
            <a:ext cx="884903" cy="3244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3108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3F458-E31F-41F7-BA6F-5B9F5585F4CF}"/>
              </a:ext>
            </a:extLst>
          </p:cNvPr>
          <p:cNvSpPr>
            <a:spLocks noGrp="1"/>
          </p:cNvSpPr>
          <p:nvPr>
            <p:ph type="title"/>
          </p:nvPr>
        </p:nvSpPr>
        <p:spPr>
          <a:xfrm>
            <a:off x="1107440" y="1"/>
            <a:ext cx="3108960" cy="1270000"/>
          </a:xfrm>
        </p:spPr>
        <p:txBody>
          <a:bodyPr>
            <a:noAutofit/>
          </a:bodyPr>
          <a:lstStyle/>
          <a:p>
            <a:r>
              <a:rPr lang="en-IN" sz="2800" dirty="0"/>
              <a:t>Passing object in a function is call by value</a:t>
            </a:r>
          </a:p>
        </p:txBody>
      </p:sp>
      <p:sp>
        <p:nvSpPr>
          <p:cNvPr id="3" name="Content Placeholder 2">
            <a:extLst>
              <a:ext uri="{FF2B5EF4-FFF2-40B4-BE49-F238E27FC236}">
                <a16:creationId xmlns:a16="http://schemas.microsoft.com/office/drawing/2014/main" id="{01243050-36A8-4CE5-BA9C-543130E83594}"/>
              </a:ext>
            </a:extLst>
          </p:cNvPr>
          <p:cNvSpPr>
            <a:spLocks noGrp="1"/>
          </p:cNvSpPr>
          <p:nvPr>
            <p:ph idx="1"/>
          </p:nvPr>
        </p:nvSpPr>
        <p:spPr>
          <a:xfrm>
            <a:off x="4490720" y="182880"/>
            <a:ext cx="6863080" cy="5994083"/>
          </a:xfrm>
        </p:spPr>
        <p:txBody>
          <a:bodyPr>
            <a:noAutofit/>
          </a:bodyPr>
          <a:lstStyle/>
          <a:p>
            <a:pPr marL="0" indent="0">
              <a:lnSpc>
                <a:spcPct val="120000"/>
              </a:lnSpc>
              <a:spcBef>
                <a:spcPts val="0"/>
              </a:spcBef>
              <a:buNone/>
            </a:pPr>
            <a:r>
              <a:rPr lang="en-US" sz="1100" dirty="0">
                <a:solidFill>
                  <a:srgbClr val="008000"/>
                </a:solidFill>
                <a:highlight>
                  <a:srgbClr val="FFFFFF"/>
                </a:highlight>
                <a:latin typeface="Consolas" panose="020B0609020204030204" pitchFamily="49" charset="0"/>
              </a:rPr>
              <a:t>// Objects are reference but pass by as value. </a:t>
            </a:r>
            <a:endParaRPr lang="en-US"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a:t>
            </a:r>
          </a:p>
          <a:p>
            <a:pPr marL="0" indent="0">
              <a:lnSpc>
                <a:spcPct val="120000"/>
              </a:lnSpc>
              <a:spcBef>
                <a:spcPts val="0"/>
              </a:spcBef>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Test</a:t>
            </a:r>
            <a:endParaRPr lang="en-IN"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 b;</a:t>
            </a:r>
          </a:p>
          <a:p>
            <a:pPr marL="0" indent="0">
              <a:lnSpc>
                <a:spcPct val="12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Test(</a:t>
            </a:r>
            <a:r>
              <a:rPr lang="en-US" sz="1100" dirty="0">
                <a:solidFill>
                  <a:srgbClr val="0000FF"/>
                </a:solidFill>
                <a:highlight>
                  <a:srgbClr val="FFFFFF"/>
                </a:highlight>
                <a:latin typeface="Consolas" panose="020B0609020204030204" pitchFamily="49" charset="0"/>
              </a:rPr>
              <a:t>int</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i</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int</a:t>
            </a:r>
            <a:r>
              <a:rPr lang="en-US" sz="1100" dirty="0">
                <a:solidFill>
                  <a:srgbClr val="000000"/>
                </a:solidFill>
                <a:highlight>
                  <a:srgbClr val="FFFFFF"/>
                </a:highlight>
                <a:latin typeface="Consolas" panose="020B0609020204030204" pitchFamily="49" charset="0"/>
              </a:rPr>
              <a:t> j)</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 =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b = j;</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Pass an object. Now, </a:t>
            </a:r>
            <a:r>
              <a:rPr lang="en-US" sz="1100" dirty="0" err="1">
                <a:solidFill>
                  <a:srgbClr val="008000"/>
                </a:solidFill>
                <a:highlight>
                  <a:srgbClr val="FFFFFF"/>
                </a:highlight>
                <a:latin typeface="Consolas" panose="020B0609020204030204" pitchFamily="49" charset="0"/>
              </a:rPr>
              <a:t>ob.a</a:t>
            </a:r>
            <a:r>
              <a:rPr lang="en-US" sz="1100" dirty="0">
                <a:solidFill>
                  <a:srgbClr val="008000"/>
                </a:solidFill>
                <a:highlight>
                  <a:srgbClr val="FFFFFF"/>
                </a:highlight>
                <a:latin typeface="Consolas" panose="020B0609020204030204" pitchFamily="49" charset="0"/>
              </a:rPr>
              <a:t> and </a:t>
            </a:r>
            <a:r>
              <a:rPr lang="en-US" sz="1100" dirty="0" err="1">
                <a:solidFill>
                  <a:srgbClr val="008000"/>
                </a:solidFill>
                <a:highlight>
                  <a:srgbClr val="FFFFFF"/>
                </a:highlight>
                <a:latin typeface="Consolas" panose="020B0609020204030204" pitchFamily="49" charset="0"/>
              </a:rPr>
              <a:t>ob.b</a:t>
            </a:r>
            <a:r>
              <a:rPr lang="en-US" sz="1100" dirty="0">
                <a:solidFill>
                  <a:srgbClr val="008000"/>
                </a:solidFill>
                <a:highlight>
                  <a:srgbClr val="FFFFFF"/>
                </a:highlight>
                <a:latin typeface="Consolas" panose="020B0609020204030204" pitchFamily="49" charset="0"/>
              </a:rPr>
              <a:t> in object </a:t>
            </a:r>
            <a:endParaRPr lang="en-US"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US" sz="1100" dirty="0">
                <a:solidFill>
                  <a:srgbClr val="008000"/>
                </a:solidFill>
                <a:highlight>
                  <a:srgbClr val="FFFFFF"/>
                </a:highlight>
                <a:latin typeface="Consolas" panose="020B0609020204030204" pitchFamily="49" charset="0"/>
              </a:rPr>
              <a:t>       used in the call will be changed. */</a:t>
            </a:r>
            <a:endParaRPr lang="en-US"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change(</a:t>
            </a:r>
            <a:r>
              <a:rPr lang="en-US" sz="1100" dirty="0">
                <a:solidFill>
                  <a:srgbClr val="2B91AF"/>
                </a:solidFill>
                <a:highlight>
                  <a:srgbClr val="FFFFFF"/>
                </a:highlight>
                <a:latin typeface="Consolas" panose="020B0609020204030204" pitchFamily="49" charset="0"/>
              </a:rPr>
              <a:t>Test</a:t>
            </a:r>
            <a:r>
              <a:rPr lang="en-US" sz="1100" dirty="0">
                <a:solidFill>
                  <a:srgbClr val="000000"/>
                </a:solidFill>
                <a:highlight>
                  <a:srgbClr val="FFFFFF"/>
                </a:highlight>
                <a:latin typeface="Consolas" panose="020B0609020204030204" pitchFamily="49" charset="0"/>
              </a:rPr>
              <a:t> obj)</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obj.a</a:t>
            </a:r>
            <a:r>
              <a:rPr lang="en-IN" sz="1100" dirty="0">
                <a:solidFill>
                  <a:srgbClr val="000000"/>
                </a:solidFill>
                <a:highlight>
                  <a:srgbClr val="FFFFFF"/>
                </a:highlight>
                <a:latin typeface="Consolas" panose="020B0609020204030204" pitchFamily="49" charset="0"/>
              </a:rPr>
              <a:t> += 5;</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obj.b</a:t>
            </a:r>
            <a:r>
              <a:rPr lang="en-IN" sz="1100" dirty="0">
                <a:solidFill>
                  <a:srgbClr val="000000"/>
                </a:solidFill>
                <a:highlight>
                  <a:srgbClr val="FFFFFF"/>
                </a:highlight>
                <a:latin typeface="Consolas" panose="020B0609020204030204" pitchFamily="49" charset="0"/>
              </a:rPr>
              <a:t> += 5;</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CallByRef</a:t>
            </a:r>
            <a:endParaRPr lang="en-IN"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Test</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ob</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Test</a:t>
            </a:r>
            <a:r>
              <a:rPr lang="en-US" sz="1100" dirty="0">
                <a:solidFill>
                  <a:srgbClr val="000000"/>
                </a:solidFill>
                <a:highlight>
                  <a:srgbClr val="FFFFFF"/>
                </a:highlight>
                <a:latin typeface="Consolas" panose="020B0609020204030204" pitchFamily="49" charset="0"/>
              </a:rPr>
              <a:t>(15, 20);</a:t>
            </a:r>
          </a:p>
          <a:p>
            <a:pPr marL="0" indent="0">
              <a:lnSpc>
                <a:spcPct val="12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ob.a</a:t>
            </a:r>
            <a:r>
              <a:rPr lang="en-US" sz="1100" dirty="0">
                <a:solidFill>
                  <a:srgbClr val="A31515"/>
                </a:solidFill>
                <a:highlight>
                  <a:srgbClr val="FFFFFF"/>
                </a:highlight>
                <a:latin typeface="Consolas" panose="020B0609020204030204" pitchFamily="49" charset="0"/>
              </a:rPr>
              <a:t> and </a:t>
            </a:r>
            <a:r>
              <a:rPr lang="en-US" sz="1100" dirty="0" err="1">
                <a:solidFill>
                  <a:srgbClr val="A31515"/>
                </a:solidFill>
                <a:highlight>
                  <a:srgbClr val="FFFFFF"/>
                </a:highlight>
                <a:latin typeface="Consolas" panose="020B0609020204030204" pitchFamily="49" charset="0"/>
              </a:rPr>
              <a:t>ob.b</a:t>
            </a:r>
            <a:r>
              <a:rPr lang="en-US" sz="1100" dirty="0">
                <a:solidFill>
                  <a:srgbClr val="A31515"/>
                </a:solidFill>
                <a:highlight>
                  <a:srgbClr val="FFFFFF"/>
                </a:highlight>
                <a:latin typeface="Consolas" panose="020B0609020204030204" pitchFamily="49" charset="0"/>
              </a:rPr>
              <a:t> before call: "</a:t>
            </a:r>
            <a:r>
              <a:rPr lang="en-US" sz="1100" dirty="0">
                <a:solidFill>
                  <a:srgbClr val="000000"/>
                </a:solidFill>
                <a:highlight>
                  <a:srgbClr val="FFFFFF"/>
                </a:highlight>
                <a:latin typeface="Consolas" panose="020B0609020204030204" pitchFamily="49" charset="0"/>
              </a:rPr>
              <a:t> + </a:t>
            </a:r>
            <a:r>
              <a:rPr lang="en-US" sz="1100" dirty="0" err="1">
                <a:solidFill>
                  <a:srgbClr val="000000"/>
                </a:solidFill>
                <a:highlight>
                  <a:srgbClr val="FFFFFF"/>
                </a:highlight>
                <a:latin typeface="Consolas" panose="020B0609020204030204" pitchFamily="49" charset="0"/>
              </a:rPr>
              <a:t>ob.a</a:t>
            </a:r>
            <a:r>
              <a:rPr lang="en-US" sz="1100" dirty="0">
                <a:solidFill>
                  <a:srgbClr val="000000"/>
                </a:solidFill>
                <a:highlight>
                  <a:srgbClr val="FFFFFF"/>
                </a:highlight>
                <a:latin typeface="Consolas" panose="020B0609020204030204" pitchFamily="49" charset="0"/>
              </a:rPr>
              <a:t> + </a:t>
            </a:r>
            <a:r>
              <a:rPr lang="en-US" sz="1100" dirty="0">
                <a:solidFill>
                  <a:srgbClr val="A31515"/>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 + </a:t>
            </a:r>
            <a:r>
              <a:rPr lang="en-US" sz="1100" dirty="0" err="1">
                <a:solidFill>
                  <a:srgbClr val="000000"/>
                </a:solidFill>
                <a:highlight>
                  <a:srgbClr val="FFFFFF"/>
                </a:highlight>
                <a:latin typeface="Consolas" panose="020B0609020204030204" pitchFamily="49" charset="0"/>
              </a:rPr>
              <a:t>ob.b</a:t>
            </a:r>
            <a:r>
              <a:rPr lang="en-US"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ob.change</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ob</a:t>
            </a:r>
            <a:r>
              <a:rPr lang="en-IN"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ob.a</a:t>
            </a:r>
            <a:r>
              <a:rPr lang="en-US" sz="1100" dirty="0">
                <a:solidFill>
                  <a:srgbClr val="A31515"/>
                </a:solidFill>
                <a:highlight>
                  <a:srgbClr val="FFFFFF"/>
                </a:highlight>
                <a:latin typeface="Consolas" panose="020B0609020204030204" pitchFamily="49" charset="0"/>
              </a:rPr>
              <a:t> and </a:t>
            </a:r>
            <a:r>
              <a:rPr lang="en-US" sz="1100" dirty="0" err="1">
                <a:solidFill>
                  <a:srgbClr val="A31515"/>
                </a:solidFill>
                <a:highlight>
                  <a:srgbClr val="FFFFFF"/>
                </a:highlight>
                <a:latin typeface="Consolas" panose="020B0609020204030204" pitchFamily="49" charset="0"/>
              </a:rPr>
              <a:t>ob.b</a:t>
            </a:r>
            <a:r>
              <a:rPr lang="en-US" sz="1100" dirty="0">
                <a:solidFill>
                  <a:srgbClr val="A31515"/>
                </a:solidFill>
                <a:highlight>
                  <a:srgbClr val="FFFFFF"/>
                </a:highlight>
                <a:latin typeface="Consolas" panose="020B0609020204030204" pitchFamily="49" charset="0"/>
              </a:rPr>
              <a:t> after call: "</a:t>
            </a:r>
            <a:r>
              <a:rPr lang="en-US" sz="1100" dirty="0">
                <a:solidFill>
                  <a:srgbClr val="000000"/>
                </a:solidFill>
                <a:highlight>
                  <a:srgbClr val="FFFFFF"/>
                </a:highlight>
                <a:latin typeface="Consolas" panose="020B0609020204030204" pitchFamily="49" charset="0"/>
              </a:rPr>
              <a:t> + </a:t>
            </a:r>
            <a:r>
              <a:rPr lang="en-US" sz="1100" dirty="0" err="1">
                <a:solidFill>
                  <a:srgbClr val="000000"/>
                </a:solidFill>
                <a:highlight>
                  <a:srgbClr val="FFFFFF"/>
                </a:highlight>
                <a:latin typeface="Consolas" panose="020B0609020204030204" pitchFamily="49" charset="0"/>
              </a:rPr>
              <a:t>ob.a</a:t>
            </a:r>
            <a:r>
              <a:rPr lang="en-US" sz="1100" dirty="0">
                <a:solidFill>
                  <a:srgbClr val="000000"/>
                </a:solidFill>
                <a:highlight>
                  <a:srgbClr val="FFFFFF"/>
                </a:highlight>
                <a:latin typeface="Consolas" panose="020B0609020204030204" pitchFamily="49" charset="0"/>
              </a:rPr>
              <a:t> + </a:t>
            </a:r>
            <a:r>
              <a:rPr lang="en-US" sz="1100" dirty="0">
                <a:solidFill>
                  <a:srgbClr val="A31515"/>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 + </a:t>
            </a:r>
            <a:r>
              <a:rPr lang="en-US" sz="1100" dirty="0" err="1">
                <a:solidFill>
                  <a:srgbClr val="000000"/>
                </a:solidFill>
                <a:highlight>
                  <a:srgbClr val="FFFFFF"/>
                </a:highlight>
                <a:latin typeface="Consolas" panose="020B0609020204030204" pitchFamily="49" charset="0"/>
              </a:rPr>
              <a:t>ob.b</a:t>
            </a:r>
            <a:r>
              <a:rPr lang="en-US"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endParaRPr lang="en-IN" sz="1100" dirty="0"/>
          </a:p>
        </p:txBody>
      </p:sp>
      <p:sp>
        <p:nvSpPr>
          <p:cNvPr id="4" name="Rectangle 3">
            <a:extLst>
              <a:ext uri="{FF2B5EF4-FFF2-40B4-BE49-F238E27FC236}">
                <a16:creationId xmlns:a16="http://schemas.microsoft.com/office/drawing/2014/main" id="{DA5AF8E4-D6D6-4049-B82A-DC2D79E17F27}"/>
              </a:ext>
            </a:extLst>
          </p:cNvPr>
          <p:cNvSpPr/>
          <p:nvPr/>
        </p:nvSpPr>
        <p:spPr>
          <a:xfrm>
            <a:off x="660070" y="5428391"/>
            <a:ext cx="511278"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FE8525B7-D26A-4467-995E-6B8A7A54599F}"/>
              </a:ext>
            </a:extLst>
          </p:cNvPr>
          <p:cNvSpPr/>
          <p:nvPr/>
        </p:nvSpPr>
        <p:spPr>
          <a:xfrm>
            <a:off x="1823882" y="4916130"/>
            <a:ext cx="1478118" cy="6784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a=15     20</a:t>
            </a:r>
          </a:p>
          <a:p>
            <a:pPr algn="ctr"/>
            <a:r>
              <a:rPr lang="en-IN" dirty="0"/>
              <a:t>b=20      25</a:t>
            </a:r>
          </a:p>
        </p:txBody>
      </p:sp>
      <p:sp>
        <p:nvSpPr>
          <p:cNvPr id="7" name="TextBox 6">
            <a:extLst>
              <a:ext uri="{FF2B5EF4-FFF2-40B4-BE49-F238E27FC236}">
                <a16:creationId xmlns:a16="http://schemas.microsoft.com/office/drawing/2014/main" id="{6C06A173-9722-46EF-ACF7-D49425168B60}"/>
              </a:ext>
            </a:extLst>
          </p:cNvPr>
          <p:cNvSpPr txBox="1"/>
          <p:nvPr/>
        </p:nvSpPr>
        <p:spPr>
          <a:xfrm>
            <a:off x="747252" y="4995115"/>
            <a:ext cx="511278" cy="369332"/>
          </a:xfrm>
          <a:prstGeom prst="rect">
            <a:avLst/>
          </a:prstGeom>
          <a:noFill/>
        </p:spPr>
        <p:txBody>
          <a:bodyPr wrap="square" rtlCol="0">
            <a:spAutoFit/>
          </a:bodyPr>
          <a:lstStyle/>
          <a:p>
            <a:r>
              <a:rPr lang="en-IN" dirty="0" err="1"/>
              <a:t>ob</a:t>
            </a:r>
            <a:endParaRPr lang="en-IN" dirty="0"/>
          </a:p>
        </p:txBody>
      </p:sp>
      <p:cxnSp>
        <p:nvCxnSpPr>
          <p:cNvPr id="9" name="Straight Arrow Connector 8">
            <a:extLst>
              <a:ext uri="{FF2B5EF4-FFF2-40B4-BE49-F238E27FC236}">
                <a16:creationId xmlns:a16="http://schemas.microsoft.com/office/drawing/2014/main" id="{5FB50AF0-24FC-4B41-8C8F-85E76A94DC15}"/>
              </a:ext>
            </a:extLst>
          </p:cNvPr>
          <p:cNvCxnSpPr>
            <a:cxnSpLocks/>
            <a:stCxn id="4" idx="3"/>
          </p:cNvCxnSpPr>
          <p:nvPr/>
        </p:nvCxnSpPr>
        <p:spPr>
          <a:xfrm flipV="1">
            <a:off x="1171348" y="5529664"/>
            <a:ext cx="652534" cy="149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38E0497-C04D-42B6-AD7A-5D0561657549}"/>
              </a:ext>
            </a:extLst>
          </p:cNvPr>
          <p:cNvSpPr/>
          <p:nvPr/>
        </p:nvSpPr>
        <p:spPr>
          <a:xfrm>
            <a:off x="578790" y="4199031"/>
            <a:ext cx="511278"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C5E68AA4-5ADD-41AD-BA4E-F9181772B64D}"/>
              </a:ext>
            </a:extLst>
          </p:cNvPr>
          <p:cNvSpPr txBox="1"/>
          <p:nvPr/>
        </p:nvSpPr>
        <p:spPr>
          <a:xfrm>
            <a:off x="665972" y="3786075"/>
            <a:ext cx="511278" cy="369332"/>
          </a:xfrm>
          <a:prstGeom prst="rect">
            <a:avLst/>
          </a:prstGeom>
          <a:noFill/>
        </p:spPr>
        <p:txBody>
          <a:bodyPr wrap="square" rtlCol="0">
            <a:spAutoFit/>
          </a:bodyPr>
          <a:lstStyle/>
          <a:p>
            <a:r>
              <a:rPr lang="en-IN" dirty="0" err="1"/>
              <a:t>obj</a:t>
            </a:r>
            <a:endParaRPr lang="en-IN" dirty="0"/>
          </a:p>
        </p:txBody>
      </p:sp>
      <p:cxnSp>
        <p:nvCxnSpPr>
          <p:cNvPr id="14" name="Straight Arrow Connector 13">
            <a:extLst>
              <a:ext uri="{FF2B5EF4-FFF2-40B4-BE49-F238E27FC236}">
                <a16:creationId xmlns:a16="http://schemas.microsoft.com/office/drawing/2014/main" id="{1C63E581-E7E2-4591-A408-4E17937BC181}"/>
              </a:ext>
            </a:extLst>
          </p:cNvPr>
          <p:cNvCxnSpPr>
            <a:cxnSpLocks/>
          </p:cNvCxnSpPr>
          <p:nvPr/>
        </p:nvCxnSpPr>
        <p:spPr>
          <a:xfrm>
            <a:off x="1006167" y="4577227"/>
            <a:ext cx="904897" cy="4722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D775378-4B3A-405D-8AE6-53A6BB65082F}"/>
              </a:ext>
            </a:extLst>
          </p:cNvPr>
          <p:cNvCxnSpPr/>
          <p:nvPr/>
        </p:nvCxnSpPr>
        <p:spPr>
          <a:xfrm flipV="1">
            <a:off x="2249127" y="4995115"/>
            <a:ext cx="280713" cy="184666"/>
          </a:xfrm>
          <a:prstGeom prst="line">
            <a:avLst/>
          </a:prstGeom>
        </p:spPr>
        <p:style>
          <a:lnRef idx="3">
            <a:schemeClr val="accent4"/>
          </a:lnRef>
          <a:fillRef idx="0">
            <a:schemeClr val="accent4"/>
          </a:fillRef>
          <a:effectRef idx="2">
            <a:schemeClr val="accent4"/>
          </a:effectRef>
          <a:fontRef idx="minor">
            <a:schemeClr val="tx1"/>
          </a:fontRef>
        </p:style>
      </p:cxnSp>
      <p:cxnSp>
        <p:nvCxnSpPr>
          <p:cNvPr id="20" name="Straight Connector 19">
            <a:extLst>
              <a:ext uri="{FF2B5EF4-FFF2-40B4-BE49-F238E27FC236}">
                <a16:creationId xmlns:a16="http://schemas.microsoft.com/office/drawing/2014/main" id="{3774C475-CDE7-437F-BFED-52DE09DD07FF}"/>
              </a:ext>
            </a:extLst>
          </p:cNvPr>
          <p:cNvCxnSpPr/>
          <p:nvPr/>
        </p:nvCxnSpPr>
        <p:spPr>
          <a:xfrm flipV="1">
            <a:off x="2249127" y="5289755"/>
            <a:ext cx="280713" cy="184666"/>
          </a:xfrm>
          <a:prstGeom prst="line">
            <a:avLst/>
          </a:prstGeom>
        </p:spPr>
        <p:style>
          <a:lnRef idx="3">
            <a:schemeClr val="accent4"/>
          </a:lnRef>
          <a:fillRef idx="0">
            <a:schemeClr val="accent4"/>
          </a:fillRef>
          <a:effectRef idx="2">
            <a:schemeClr val="accent4"/>
          </a:effectRef>
          <a:fontRef idx="minor">
            <a:schemeClr val="tx1"/>
          </a:fontRef>
        </p:style>
      </p:cxnSp>
      <p:sp>
        <p:nvSpPr>
          <p:cNvPr id="21" name="TextBox 20">
            <a:extLst>
              <a:ext uri="{FF2B5EF4-FFF2-40B4-BE49-F238E27FC236}">
                <a16:creationId xmlns:a16="http://schemas.microsoft.com/office/drawing/2014/main" id="{92524140-A736-471D-BE22-7371379171E4}"/>
              </a:ext>
            </a:extLst>
          </p:cNvPr>
          <p:cNvSpPr txBox="1"/>
          <p:nvPr/>
        </p:nvSpPr>
        <p:spPr>
          <a:xfrm>
            <a:off x="71593" y="1127614"/>
            <a:ext cx="4533036" cy="2308324"/>
          </a:xfrm>
          <a:prstGeom prst="rect">
            <a:avLst/>
          </a:prstGeom>
          <a:noFill/>
        </p:spPr>
        <p:txBody>
          <a:bodyPr wrap="none" rtlCol="0">
            <a:spAutoFit/>
          </a:bodyPr>
          <a:lstStyle/>
          <a:p>
            <a:r>
              <a:rPr lang="en-IN" dirty="0"/>
              <a:t>In call by value when you pass data it get copied </a:t>
            </a:r>
          </a:p>
          <a:p>
            <a:r>
              <a:rPr lang="en-IN" dirty="0"/>
              <a:t>to another  memory block. But when you pass </a:t>
            </a:r>
          </a:p>
          <a:p>
            <a:r>
              <a:rPr lang="en-IN" dirty="0"/>
              <a:t>reference in a function another memory block </a:t>
            </a:r>
          </a:p>
          <a:p>
            <a:r>
              <a:rPr lang="en-IN" dirty="0"/>
              <a:t>get created, since reference variable is holding </a:t>
            </a:r>
          </a:p>
          <a:p>
            <a:r>
              <a:rPr lang="en-IN" dirty="0"/>
              <a:t>Reference(arrow)  , same reference (arrow ) </a:t>
            </a:r>
          </a:p>
          <a:p>
            <a:r>
              <a:rPr lang="en-IN" dirty="0"/>
              <a:t>get copied</a:t>
            </a:r>
          </a:p>
          <a:p>
            <a:r>
              <a:rPr lang="en-IN" dirty="0"/>
              <a:t>So now both </a:t>
            </a:r>
            <a:r>
              <a:rPr lang="en-IN" dirty="0" err="1"/>
              <a:t>ob</a:t>
            </a:r>
            <a:r>
              <a:rPr lang="en-IN" dirty="0"/>
              <a:t> and </a:t>
            </a:r>
            <a:r>
              <a:rPr lang="en-IN" dirty="0" err="1"/>
              <a:t>obj</a:t>
            </a:r>
            <a:r>
              <a:rPr lang="en-IN" dirty="0"/>
              <a:t> pointing to same</a:t>
            </a:r>
          </a:p>
          <a:p>
            <a:r>
              <a:rPr lang="en-IN" dirty="0"/>
              <a:t>Memory bloc.</a:t>
            </a:r>
          </a:p>
        </p:txBody>
      </p:sp>
    </p:spTree>
    <p:extLst>
      <p:ext uri="{BB962C8B-B14F-4D97-AF65-F5344CB8AC3E}">
        <p14:creationId xmlns:p14="http://schemas.microsoft.com/office/powerpoint/2010/main" val="2651086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F42F8-6E97-47FC-879C-2460BB0BE538}"/>
              </a:ext>
            </a:extLst>
          </p:cNvPr>
          <p:cNvSpPr>
            <a:spLocks noGrp="1"/>
          </p:cNvSpPr>
          <p:nvPr>
            <p:ph type="title"/>
          </p:nvPr>
        </p:nvSpPr>
        <p:spPr>
          <a:xfrm>
            <a:off x="438313" y="-182879"/>
            <a:ext cx="4413415" cy="1136607"/>
          </a:xfrm>
        </p:spPr>
        <p:txBody>
          <a:bodyPr>
            <a:noAutofit/>
          </a:bodyPr>
          <a:lstStyle/>
          <a:p>
            <a:r>
              <a:rPr lang="en-IN" sz="3200" dirty="0"/>
              <a:t>     Call by  Reference</a:t>
            </a:r>
          </a:p>
        </p:txBody>
      </p:sp>
      <p:sp>
        <p:nvSpPr>
          <p:cNvPr id="3" name="Content Placeholder 2">
            <a:extLst>
              <a:ext uri="{FF2B5EF4-FFF2-40B4-BE49-F238E27FC236}">
                <a16:creationId xmlns:a16="http://schemas.microsoft.com/office/drawing/2014/main" id="{443E9A69-4BDB-4683-B4FA-B58AD4021E21}"/>
              </a:ext>
            </a:extLst>
          </p:cNvPr>
          <p:cNvSpPr>
            <a:spLocks noGrp="1"/>
          </p:cNvSpPr>
          <p:nvPr>
            <p:ph idx="1"/>
          </p:nvPr>
        </p:nvSpPr>
        <p:spPr>
          <a:xfrm>
            <a:off x="5299587" y="-44572"/>
            <a:ext cx="6454099" cy="6587612"/>
          </a:xfrm>
        </p:spPr>
        <p:txBody>
          <a:bodyPr>
            <a:noAutofit/>
          </a:bodyPr>
          <a:lstStyle/>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 Use ref to pass a value type by reference.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RefTest</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This method changes its arguments.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       Notice the use of ref.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sqr</a:t>
            </a:r>
            <a:r>
              <a:rPr lang="en-US" sz="1400" dirty="0">
                <a:solidFill>
                  <a:srgbClr val="000000"/>
                </a:solidFill>
                <a:highlight>
                  <a:srgbClr val="FFFFFF"/>
                </a:highlight>
                <a:latin typeface="Consolas" panose="020B0609020204030204" pitchFamily="49" charset="0"/>
              </a:rPr>
              <a:t>(</a:t>
            </a:r>
            <a:r>
              <a:rPr lang="en-US" sz="1400" b="1" dirty="0">
                <a:solidFill>
                  <a:srgbClr val="0000FF"/>
                </a:solidFill>
                <a:highlight>
                  <a:srgbClr val="FFFFFF"/>
                </a:highlight>
                <a:latin typeface="Consolas" panose="020B0609020204030204" pitchFamily="49" charset="0"/>
              </a:rPr>
              <a:t>ref</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RefDemo</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RefTest</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ob</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RefTest</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a = 10;</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"a before call: "</a:t>
            </a:r>
            <a:r>
              <a:rPr lang="en-US" sz="1400" dirty="0">
                <a:solidFill>
                  <a:srgbClr val="000000"/>
                </a:solidFill>
                <a:highlight>
                  <a:srgbClr val="FFFFFF"/>
                </a:highlight>
                <a:latin typeface="Consolas" panose="020B0609020204030204" pitchFamily="49" charset="0"/>
              </a:rPr>
              <a:t> + a);</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ob.sqr</a:t>
            </a:r>
            <a:r>
              <a:rPr lang="en-US" sz="1400" dirty="0">
                <a:solidFill>
                  <a:srgbClr val="000000"/>
                </a:solidFill>
                <a:highlight>
                  <a:srgbClr val="FFFFFF"/>
                </a:highlight>
                <a:latin typeface="Consolas" panose="020B0609020204030204" pitchFamily="49" charset="0"/>
              </a:rPr>
              <a:t>(</a:t>
            </a:r>
            <a:r>
              <a:rPr lang="en-US" sz="1400" b="1" dirty="0">
                <a:solidFill>
                  <a:srgbClr val="0000FF"/>
                </a:solidFill>
                <a:highlight>
                  <a:srgbClr val="FFFFFF"/>
                </a:highlight>
                <a:latin typeface="Consolas" panose="020B0609020204030204" pitchFamily="49" charset="0"/>
              </a:rPr>
              <a:t>ref</a:t>
            </a:r>
            <a:r>
              <a:rPr lang="en-US" sz="1400" dirty="0">
                <a:solidFill>
                  <a:srgbClr val="000000"/>
                </a:solidFill>
                <a:highlight>
                  <a:srgbClr val="FFFFFF"/>
                </a:highlight>
                <a:latin typeface="Consolas" panose="020B0609020204030204" pitchFamily="49" charset="0"/>
              </a:rPr>
              <a:t> a); </a:t>
            </a:r>
            <a:r>
              <a:rPr lang="en-US" sz="1400" dirty="0">
                <a:solidFill>
                  <a:srgbClr val="008000"/>
                </a:solidFill>
                <a:highlight>
                  <a:srgbClr val="FFFFFF"/>
                </a:highlight>
                <a:latin typeface="Consolas" panose="020B0609020204030204" pitchFamily="49" charset="0"/>
              </a:rPr>
              <a:t>// notice the use of ref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"a after call: "</a:t>
            </a:r>
            <a:r>
              <a:rPr lang="en-US" sz="1400" dirty="0">
                <a:solidFill>
                  <a:srgbClr val="000000"/>
                </a:solidFill>
                <a:highlight>
                  <a:srgbClr val="FFFFFF"/>
                </a:highlight>
                <a:latin typeface="Consolas" panose="020B0609020204030204" pitchFamily="49" charset="0"/>
              </a:rPr>
              <a:t> + a);</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400" dirty="0"/>
          </a:p>
        </p:txBody>
      </p:sp>
      <p:sp>
        <p:nvSpPr>
          <p:cNvPr id="4" name="TextBox 3">
            <a:extLst>
              <a:ext uri="{FF2B5EF4-FFF2-40B4-BE49-F238E27FC236}">
                <a16:creationId xmlns:a16="http://schemas.microsoft.com/office/drawing/2014/main" id="{0EFE04A5-279E-4377-9F8F-F05FAD92EFA3}"/>
              </a:ext>
            </a:extLst>
          </p:cNvPr>
          <p:cNvSpPr txBox="1"/>
          <p:nvPr/>
        </p:nvSpPr>
        <p:spPr>
          <a:xfrm>
            <a:off x="166984" y="882608"/>
            <a:ext cx="4943167" cy="4801314"/>
          </a:xfrm>
          <a:prstGeom prst="rect">
            <a:avLst/>
          </a:prstGeom>
          <a:noFill/>
        </p:spPr>
        <p:txBody>
          <a:bodyPr wrap="square" rtlCol="0">
            <a:spAutoFit/>
          </a:bodyPr>
          <a:lstStyle/>
          <a:p>
            <a:r>
              <a:rPr lang="en-IN" dirty="0"/>
              <a:t>When you pass primitive type in a function using ref</a:t>
            </a:r>
          </a:p>
          <a:p>
            <a:r>
              <a:rPr lang="en-IN" dirty="0"/>
              <a:t>Key another memory block </a:t>
            </a:r>
            <a:r>
              <a:rPr lang="en-IN" b="1" dirty="0"/>
              <a:t>does not </a:t>
            </a:r>
            <a:r>
              <a:rPr lang="en-IN" dirty="0"/>
              <a:t>get created but</a:t>
            </a:r>
          </a:p>
          <a:p>
            <a:r>
              <a:rPr lang="en-IN" dirty="0"/>
              <a:t>It is just </a:t>
            </a:r>
            <a:r>
              <a:rPr lang="en-IN" b="1" dirty="0"/>
              <a:t>another name to same  memory block</a:t>
            </a:r>
            <a:r>
              <a:rPr lang="en-IN" dirty="0"/>
              <a:t>. So if you make some changes to the parameter in a function original data will get modified</a:t>
            </a:r>
          </a:p>
          <a:p>
            <a:r>
              <a:rPr lang="en-IN" dirty="0"/>
              <a:t> see the diagram</a:t>
            </a:r>
          </a:p>
          <a:p>
            <a:r>
              <a:rPr lang="en-US" b="1" dirty="0"/>
              <a:t>Here is one important point to understand about ref</a:t>
            </a:r>
            <a:r>
              <a:rPr lang="en-US" dirty="0"/>
              <a:t>: An argument passed by ref must be assigned a value prior to the call. The reason is that the method that receives such an argument assumes that the parameter refers to a valid value. </a:t>
            </a:r>
            <a:endParaRPr lang="en-IN" dirty="0"/>
          </a:p>
          <a:p>
            <a:r>
              <a:rPr lang="en-IN" dirty="0"/>
              <a:t> </a:t>
            </a:r>
          </a:p>
          <a:p>
            <a:endParaRPr lang="en-IN" dirty="0"/>
          </a:p>
          <a:p>
            <a:endParaRPr lang="en-IN" dirty="0"/>
          </a:p>
          <a:p>
            <a:endParaRPr lang="en-IN" dirty="0"/>
          </a:p>
          <a:p>
            <a:r>
              <a:rPr lang="en-IN" dirty="0"/>
              <a:t>When you pass data using ref key word we are using concept of pass(call) by reference</a:t>
            </a:r>
          </a:p>
        </p:txBody>
      </p:sp>
      <p:sp>
        <p:nvSpPr>
          <p:cNvPr id="5" name="Rectangle 4">
            <a:extLst>
              <a:ext uri="{FF2B5EF4-FFF2-40B4-BE49-F238E27FC236}">
                <a16:creationId xmlns:a16="http://schemas.microsoft.com/office/drawing/2014/main" id="{72EF3970-BFAD-4EED-9087-E1D1D419B1B6}"/>
              </a:ext>
            </a:extLst>
          </p:cNvPr>
          <p:cNvSpPr/>
          <p:nvPr/>
        </p:nvSpPr>
        <p:spPr>
          <a:xfrm>
            <a:off x="4397272" y="3826232"/>
            <a:ext cx="979047" cy="9717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10</a:t>
            </a:r>
          </a:p>
          <a:p>
            <a:pPr algn="ctr"/>
            <a:r>
              <a:rPr lang="en-IN" dirty="0"/>
              <a:t>100</a:t>
            </a:r>
          </a:p>
        </p:txBody>
      </p:sp>
      <p:sp>
        <p:nvSpPr>
          <p:cNvPr id="6" name="TextBox 5">
            <a:extLst>
              <a:ext uri="{FF2B5EF4-FFF2-40B4-BE49-F238E27FC236}">
                <a16:creationId xmlns:a16="http://schemas.microsoft.com/office/drawing/2014/main" id="{51946F71-64A0-4994-8858-B12DBF1B113C}"/>
              </a:ext>
            </a:extLst>
          </p:cNvPr>
          <p:cNvSpPr txBox="1"/>
          <p:nvPr/>
        </p:nvSpPr>
        <p:spPr>
          <a:xfrm>
            <a:off x="3880218" y="4019922"/>
            <a:ext cx="422336" cy="369332"/>
          </a:xfrm>
          <a:prstGeom prst="rect">
            <a:avLst/>
          </a:prstGeom>
          <a:noFill/>
        </p:spPr>
        <p:txBody>
          <a:bodyPr wrap="square" rtlCol="0">
            <a:spAutoFit/>
          </a:bodyPr>
          <a:lstStyle/>
          <a:p>
            <a:r>
              <a:rPr lang="en-IN" dirty="0"/>
              <a:t>a</a:t>
            </a:r>
          </a:p>
        </p:txBody>
      </p:sp>
      <p:sp>
        <p:nvSpPr>
          <p:cNvPr id="7" name="TextBox 6">
            <a:extLst>
              <a:ext uri="{FF2B5EF4-FFF2-40B4-BE49-F238E27FC236}">
                <a16:creationId xmlns:a16="http://schemas.microsoft.com/office/drawing/2014/main" id="{D4748CBA-B205-47C5-8997-0D75387F2273}"/>
              </a:ext>
            </a:extLst>
          </p:cNvPr>
          <p:cNvSpPr txBox="1"/>
          <p:nvPr/>
        </p:nvSpPr>
        <p:spPr>
          <a:xfrm>
            <a:off x="3592318" y="4500467"/>
            <a:ext cx="422336" cy="369332"/>
          </a:xfrm>
          <a:prstGeom prst="rect">
            <a:avLst/>
          </a:prstGeom>
          <a:noFill/>
        </p:spPr>
        <p:txBody>
          <a:bodyPr wrap="square" rtlCol="0">
            <a:spAutoFit/>
          </a:bodyPr>
          <a:lstStyle/>
          <a:p>
            <a:r>
              <a:rPr lang="en-IN" dirty="0"/>
              <a:t>i</a:t>
            </a:r>
          </a:p>
        </p:txBody>
      </p:sp>
      <p:cxnSp>
        <p:nvCxnSpPr>
          <p:cNvPr id="12" name="Straight Connector 11">
            <a:extLst>
              <a:ext uri="{FF2B5EF4-FFF2-40B4-BE49-F238E27FC236}">
                <a16:creationId xmlns:a16="http://schemas.microsoft.com/office/drawing/2014/main" id="{CF70E314-01FD-4AFE-975F-AF03D91DD824}"/>
              </a:ext>
            </a:extLst>
          </p:cNvPr>
          <p:cNvCxnSpPr/>
          <p:nvPr/>
        </p:nvCxnSpPr>
        <p:spPr>
          <a:xfrm flipV="1">
            <a:off x="4587394" y="4073194"/>
            <a:ext cx="528668" cy="262787"/>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1469129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5C06E-C3C0-4277-A23B-722016FB5200}"/>
              </a:ext>
            </a:extLst>
          </p:cNvPr>
          <p:cNvSpPr>
            <a:spLocks noGrp="1"/>
          </p:cNvSpPr>
          <p:nvPr>
            <p:ph type="title"/>
          </p:nvPr>
        </p:nvSpPr>
        <p:spPr>
          <a:xfrm>
            <a:off x="1097280" y="218439"/>
            <a:ext cx="4775200" cy="925195"/>
          </a:xfrm>
        </p:spPr>
        <p:txBody>
          <a:bodyPr/>
          <a:lstStyle/>
          <a:p>
            <a:r>
              <a:rPr lang="en-IN" dirty="0"/>
              <a:t>Swap two number</a:t>
            </a:r>
          </a:p>
        </p:txBody>
      </p:sp>
      <p:sp>
        <p:nvSpPr>
          <p:cNvPr id="3" name="Content Placeholder 2">
            <a:extLst>
              <a:ext uri="{FF2B5EF4-FFF2-40B4-BE49-F238E27FC236}">
                <a16:creationId xmlns:a16="http://schemas.microsoft.com/office/drawing/2014/main" id="{33DF07E1-3A16-43B2-BA03-5E639D4228EF}"/>
              </a:ext>
            </a:extLst>
          </p:cNvPr>
          <p:cNvSpPr>
            <a:spLocks noGrp="1"/>
          </p:cNvSpPr>
          <p:nvPr>
            <p:ph idx="1"/>
          </p:nvPr>
        </p:nvSpPr>
        <p:spPr>
          <a:xfrm>
            <a:off x="5415280" y="218439"/>
            <a:ext cx="5938520" cy="5958524"/>
          </a:xfrm>
        </p:spPr>
        <p:txBody>
          <a:bodyPr>
            <a:noAutofit/>
          </a:bodyPr>
          <a:lstStyle/>
          <a:p>
            <a:pPr marL="0" indent="0">
              <a:buNone/>
            </a:pPr>
            <a:r>
              <a:rPr lang="en-IN" sz="1400" dirty="0">
                <a:solidFill>
                  <a:srgbClr val="008000"/>
                </a:solidFill>
                <a:highlight>
                  <a:srgbClr val="FFFFFF"/>
                </a:highlight>
                <a:latin typeface="Consolas" panose="020B0609020204030204" pitchFamily="49" charset="0"/>
              </a:rPr>
              <a:t>// Swap two values.</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ValueSwap</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This method now changes its arguments.</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Swap(</a:t>
            </a:r>
            <a:r>
              <a:rPr lang="en-US" sz="1400" dirty="0">
                <a:solidFill>
                  <a:srgbClr val="0000FF"/>
                </a:solidFill>
                <a:highlight>
                  <a:srgbClr val="FFFFFF"/>
                </a:highlight>
                <a:latin typeface="Consolas" panose="020B0609020204030204" pitchFamily="49" charset="0"/>
              </a:rPr>
              <a:t>ref</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a, </a:t>
            </a:r>
            <a:r>
              <a:rPr lang="en-US" sz="1400" dirty="0">
                <a:solidFill>
                  <a:srgbClr val="0000FF"/>
                </a:solidFill>
                <a:highlight>
                  <a:srgbClr val="FFFFFF"/>
                </a:highlight>
                <a:latin typeface="Consolas" panose="020B0609020204030204" pitchFamily="49" charset="0"/>
              </a:rPr>
              <a:t>ref</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b)</a:t>
            </a:r>
          </a:p>
          <a:p>
            <a:pPr marL="0" indent="0">
              <a:buNone/>
            </a:pP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t;</a:t>
            </a:r>
          </a:p>
          <a:p>
            <a:pPr marL="0" indent="0">
              <a:buNone/>
            </a:pPr>
            <a:r>
              <a:rPr lang="en-IN" sz="1400" dirty="0">
                <a:solidFill>
                  <a:srgbClr val="000000"/>
                </a:solidFill>
                <a:highlight>
                  <a:srgbClr val="FFFFFF"/>
                </a:highlight>
                <a:latin typeface="Consolas" panose="020B0609020204030204" pitchFamily="49" charset="0"/>
              </a:rPr>
              <a:t>        t = a;</a:t>
            </a:r>
          </a:p>
          <a:p>
            <a:pPr marL="0" indent="0">
              <a:buNone/>
            </a:pPr>
            <a:r>
              <a:rPr lang="en-IN" sz="1400" dirty="0">
                <a:solidFill>
                  <a:srgbClr val="000000"/>
                </a:solidFill>
                <a:highlight>
                  <a:srgbClr val="FFFFFF"/>
                </a:highlight>
                <a:latin typeface="Consolas" panose="020B0609020204030204" pitchFamily="49" charset="0"/>
              </a:rPr>
              <a:t>        a = b;</a:t>
            </a:r>
          </a:p>
          <a:p>
            <a:pPr marL="0" indent="0">
              <a:buNone/>
            </a:pPr>
            <a:r>
              <a:rPr lang="en-IN" sz="1400" dirty="0">
                <a:solidFill>
                  <a:srgbClr val="000000"/>
                </a:solidFill>
                <a:highlight>
                  <a:srgbClr val="FFFFFF"/>
                </a:highlight>
                <a:latin typeface="Consolas" panose="020B0609020204030204" pitchFamily="49" charset="0"/>
              </a:rPr>
              <a:t>        b = 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ValueSwapDemo</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buNone/>
            </a:pPr>
            <a:r>
              <a:rPr lang="en-IN" sz="1400" dirty="0">
                <a:solidFill>
                  <a:srgbClr val="000000"/>
                </a:solidFill>
                <a:highlight>
                  <a:srgbClr val="FFFFFF"/>
                </a:highlight>
                <a:latin typeface="Consolas" panose="020B0609020204030204" pitchFamily="49" charset="0"/>
              </a:rPr>
              <a:t>    {   </a:t>
            </a:r>
            <a:r>
              <a:rPr lang="en-IN" sz="1400" dirty="0" err="1">
                <a:solidFill>
                  <a:srgbClr val="2B91AF"/>
                </a:solidFill>
                <a:highlight>
                  <a:srgbClr val="FFFFFF"/>
                </a:highlight>
                <a:latin typeface="Consolas" panose="020B0609020204030204" pitchFamily="49" charset="0"/>
              </a:rPr>
              <a:t>ValueSwap</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ob</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ValueSwap</a:t>
            </a:r>
            <a:r>
              <a:rPr lang="en-IN" sz="1400" dirty="0">
                <a:solidFill>
                  <a:srgbClr val="000000"/>
                </a:solidFill>
                <a:highlight>
                  <a:srgbClr val="FFFFFF"/>
                </a:highlight>
                <a:latin typeface="Consolas" panose="020B0609020204030204" pitchFamily="49" charset="0"/>
              </a:rPr>
              <a:t>();</a:t>
            </a:r>
          </a:p>
          <a:p>
            <a:pPr marL="0" indent="0">
              <a:buNone/>
            </a:pPr>
            <a:r>
              <a:rPr lang="es-ES" sz="1400" dirty="0">
                <a:solidFill>
                  <a:srgbClr val="000000"/>
                </a:solidFill>
                <a:highlight>
                  <a:srgbClr val="FFFFFF"/>
                </a:highlight>
                <a:latin typeface="Consolas" panose="020B0609020204030204" pitchFamily="49" charset="0"/>
              </a:rPr>
              <a:t>        </a:t>
            </a:r>
            <a:r>
              <a:rPr lang="es-ES" sz="1400" dirty="0">
                <a:solidFill>
                  <a:srgbClr val="0000FF"/>
                </a:solidFill>
                <a:highlight>
                  <a:srgbClr val="FFFFFF"/>
                </a:highlight>
                <a:latin typeface="Consolas" panose="020B0609020204030204" pitchFamily="49" charset="0"/>
              </a:rPr>
              <a:t>int</a:t>
            </a:r>
            <a:r>
              <a:rPr lang="es-ES" sz="1400" dirty="0">
                <a:solidFill>
                  <a:srgbClr val="000000"/>
                </a:solidFill>
                <a:highlight>
                  <a:srgbClr val="FFFFFF"/>
                </a:highlight>
                <a:latin typeface="Consolas" panose="020B0609020204030204" pitchFamily="49" charset="0"/>
              </a:rPr>
              <a:t> x = 10, y = 20;</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"x and y before call: "</a:t>
            </a:r>
            <a:r>
              <a:rPr lang="en-US" sz="1400" dirty="0">
                <a:solidFill>
                  <a:srgbClr val="000000"/>
                </a:solidFill>
                <a:highlight>
                  <a:srgbClr val="FFFFFF"/>
                </a:highlight>
                <a:latin typeface="Consolas" panose="020B0609020204030204" pitchFamily="49" charset="0"/>
              </a:rPr>
              <a:t> + x + </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 y);</a:t>
            </a:r>
          </a:p>
          <a:p>
            <a:pPr marL="0" indent="0">
              <a:buNone/>
            </a:pPr>
            <a:r>
              <a:rPr lang="es-ES" sz="1400" dirty="0">
                <a:solidFill>
                  <a:srgbClr val="000000"/>
                </a:solidFill>
                <a:highlight>
                  <a:srgbClr val="FFFFFF"/>
                </a:highlight>
                <a:latin typeface="Consolas" panose="020B0609020204030204" pitchFamily="49" charset="0"/>
              </a:rPr>
              <a:t>        ob.Swap(</a:t>
            </a:r>
            <a:r>
              <a:rPr lang="es-ES" sz="1400" dirty="0">
                <a:solidFill>
                  <a:srgbClr val="0000FF"/>
                </a:solidFill>
                <a:highlight>
                  <a:srgbClr val="FFFFFF"/>
                </a:highlight>
                <a:latin typeface="Consolas" panose="020B0609020204030204" pitchFamily="49" charset="0"/>
              </a:rPr>
              <a:t>ref</a:t>
            </a:r>
            <a:r>
              <a:rPr lang="es-ES" sz="1400" dirty="0">
                <a:solidFill>
                  <a:srgbClr val="000000"/>
                </a:solidFill>
                <a:highlight>
                  <a:srgbClr val="FFFFFF"/>
                </a:highlight>
                <a:latin typeface="Consolas" panose="020B0609020204030204" pitchFamily="49" charset="0"/>
              </a:rPr>
              <a:t> x, </a:t>
            </a:r>
            <a:r>
              <a:rPr lang="es-ES" sz="1400" dirty="0">
                <a:solidFill>
                  <a:srgbClr val="0000FF"/>
                </a:solidFill>
                <a:highlight>
                  <a:srgbClr val="FFFFFF"/>
                </a:highlight>
                <a:latin typeface="Consolas" panose="020B0609020204030204" pitchFamily="49" charset="0"/>
              </a:rPr>
              <a:t>ref</a:t>
            </a:r>
            <a:r>
              <a:rPr lang="es-ES" sz="1400" dirty="0">
                <a:solidFill>
                  <a:srgbClr val="000000"/>
                </a:solidFill>
                <a:highlight>
                  <a:srgbClr val="FFFFFF"/>
                </a:highlight>
                <a:latin typeface="Consolas" panose="020B0609020204030204" pitchFamily="49" charset="0"/>
              </a:rPr>
              <a:t> y);</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"x and y after call: "</a:t>
            </a:r>
            <a:r>
              <a:rPr lang="en-US" sz="1400" dirty="0">
                <a:solidFill>
                  <a:srgbClr val="000000"/>
                </a:solidFill>
                <a:highlight>
                  <a:srgbClr val="FFFFFF"/>
                </a:highlight>
                <a:latin typeface="Consolas" panose="020B0609020204030204" pitchFamily="49" charset="0"/>
              </a:rPr>
              <a:t> + x + </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 y);</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endParaRPr lang="en-IN" sz="1400" dirty="0"/>
          </a:p>
        </p:txBody>
      </p:sp>
      <p:sp>
        <p:nvSpPr>
          <p:cNvPr id="4" name="Rectangle 3">
            <a:extLst>
              <a:ext uri="{FF2B5EF4-FFF2-40B4-BE49-F238E27FC236}">
                <a16:creationId xmlns:a16="http://schemas.microsoft.com/office/drawing/2014/main" id="{0099B0BC-4B33-1759-2624-0F10C5BBAF05}"/>
              </a:ext>
            </a:extLst>
          </p:cNvPr>
          <p:cNvSpPr/>
          <p:nvPr/>
        </p:nvSpPr>
        <p:spPr>
          <a:xfrm>
            <a:off x="934278" y="3969026"/>
            <a:ext cx="1053548" cy="9442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a:t>
            </a:r>
          </a:p>
          <a:p>
            <a:pPr algn="ctr"/>
            <a:r>
              <a:rPr lang="en-US" dirty="0"/>
              <a:t>20</a:t>
            </a:r>
            <a:endParaRPr lang="en-IN" dirty="0"/>
          </a:p>
        </p:txBody>
      </p:sp>
      <p:sp>
        <p:nvSpPr>
          <p:cNvPr id="5" name="TextBox 4">
            <a:extLst>
              <a:ext uri="{FF2B5EF4-FFF2-40B4-BE49-F238E27FC236}">
                <a16:creationId xmlns:a16="http://schemas.microsoft.com/office/drawing/2014/main" id="{42013047-DD4D-9501-5397-296855F1E06C}"/>
              </a:ext>
            </a:extLst>
          </p:cNvPr>
          <p:cNvSpPr txBox="1"/>
          <p:nvPr/>
        </p:nvSpPr>
        <p:spPr>
          <a:xfrm>
            <a:off x="934278" y="3607904"/>
            <a:ext cx="934279" cy="369332"/>
          </a:xfrm>
          <a:prstGeom prst="rect">
            <a:avLst/>
          </a:prstGeom>
          <a:noFill/>
        </p:spPr>
        <p:txBody>
          <a:bodyPr wrap="square" rtlCol="0">
            <a:spAutoFit/>
          </a:bodyPr>
          <a:lstStyle/>
          <a:p>
            <a:r>
              <a:rPr lang="en-US" dirty="0"/>
              <a:t>x</a:t>
            </a:r>
            <a:endParaRPr lang="en-IN" dirty="0"/>
          </a:p>
        </p:txBody>
      </p:sp>
      <p:sp>
        <p:nvSpPr>
          <p:cNvPr id="6" name="Rectangle 5">
            <a:extLst>
              <a:ext uri="{FF2B5EF4-FFF2-40B4-BE49-F238E27FC236}">
                <a16:creationId xmlns:a16="http://schemas.microsoft.com/office/drawing/2014/main" id="{A1DBBD4F-6148-2F2A-AB97-9D0915C694A3}"/>
              </a:ext>
            </a:extLst>
          </p:cNvPr>
          <p:cNvSpPr/>
          <p:nvPr/>
        </p:nvSpPr>
        <p:spPr>
          <a:xfrm>
            <a:off x="2322001" y="3969026"/>
            <a:ext cx="934279" cy="6460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20</a:t>
            </a:r>
          </a:p>
          <a:p>
            <a:pPr algn="ctr"/>
            <a:r>
              <a:rPr lang="en-US" dirty="0"/>
              <a:t>10</a:t>
            </a:r>
            <a:endParaRPr lang="en-IN" dirty="0"/>
          </a:p>
        </p:txBody>
      </p:sp>
      <p:sp>
        <p:nvSpPr>
          <p:cNvPr id="7" name="TextBox 6">
            <a:extLst>
              <a:ext uri="{FF2B5EF4-FFF2-40B4-BE49-F238E27FC236}">
                <a16:creationId xmlns:a16="http://schemas.microsoft.com/office/drawing/2014/main" id="{3D37AB95-C87D-6F8D-1CAB-99F892332445}"/>
              </a:ext>
            </a:extLst>
          </p:cNvPr>
          <p:cNvSpPr txBox="1"/>
          <p:nvPr/>
        </p:nvSpPr>
        <p:spPr>
          <a:xfrm>
            <a:off x="2322001" y="3611217"/>
            <a:ext cx="934279" cy="369332"/>
          </a:xfrm>
          <a:prstGeom prst="rect">
            <a:avLst/>
          </a:prstGeom>
          <a:noFill/>
        </p:spPr>
        <p:txBody>
          <a:bodyPr wrap="square" rtlCol="0">
            <a:spAutoFit/>
          </a:bodyPr>
          <a:lstStyle/>
          <a:p>
            <a:r>
              <a:rPr lang="en-US" dirty="0"/>
              <a:t>y</a:t>
            </a:r>
            <a:endParaRPr lang="en-IN" dirty="0"/>
          </a:p>
        </p:txBody>
      </p:sp>
      <p:sp>
        <p:nvSpPr>
          <p:cNvPr id="8" name="TextBox 7">
            <a:extLst>
              <a:ext uri="{FF2B5EF4-FFF2-40B4-BE49-F238E27FC236}">
                <a16:creationId xmlns:a16="http://schemas.microsoft.com/office/drawing/2014/main" id="{148D8BC6-1AC1-F316-4783-2BF90908CBDC}"/>
              </a:ext>
            </a:extLst>
          </p:cNvPr>
          <p:cNvSpPr txBox="1"/>
          <p:nvPr/>
        </p:nvSpPr>
        <p:spPr>
          <a:xfrm>
            <a:off x="1311965" y="3697357"/>
            <a:ext cx="457200" cy="369332"/>
          </a:xfrm>
          <a:prstGeom prst="rect">
            <a:avLst/>
          </a:prstGeom>
          <a:noFill/>
        </p:spPr>
        <p:txBody>
          <a:bodyPr wrap="square" rtlCol="0">
            <a:spAutoFit/>
          </a:bodyPr>
          <a:lstStyle/>
          <a:p>
            <a:r>
              <a:rPr lang="en-US" dirty="0"/>
              <a:t>a</a:t>
            </a:r>
            <a:endParaRPr lang="en-IN" dirty="0"/>
          </a:p>
        </p:txBody>
      </p:sp>
      <p:sp>
        <p:nvSpPr>
          <p:cNvPr id="9" name="TextBox 8">
            <a:extLst>
              <a:ext uri="{FF2B5EF4-FFF2-40B4-BE49-F238E27FC236}">
                <a16:creationId xmlns:a16="http://schemas.microsoft.com/office/drawing/2014/main" id="{705E3B72-4DAA-867F-1F97-C45664F26C6D}"/>
              </a:ext>
            </a:extLst>
          </p:cNvPr>
          <p:cNvSpPr txBox="1"/>
          <p:nvPr/>
        </p:nvSpPr>
        <p:spPr>
          <a:xfrm>
            <a:off x="2763078" y="3697357"/>
            <a:ext cx="493202" cy="369332"/>
          </a:xfrm>
          <a:prstGeom prst="rect">
            <a:avLst/>
          </a:prstGeom>
          <a:noFill/>
        </p:spPr>
        <p:txBody>
          <a:bodyPr wrap="square" rtlCol="0">
            <a:spAutoFit/>
          </a:bodyPr>
          <a:lstStyle/>
          <a:p>
            <a:r>
              <a:rPr lang="en-US" dirty="0"/>
              <a:t>b</a:t>
            </a:r>
            <a:endParaRPr lang="en-IN" dirty="0"/>
          </a:p>
        </p:txBody>
      </p:sp>
      <p:sp>
        <p:nvSpPr>
          <p:cNvPr id="10" name="Rectangle 9">
            <a:extLst>
              <a:ext uri="{FF2B5EF4-FFF2-40B4-BE49-F238E27FC236}">
                <a16:creationId xmlns:a16="http://schemas.microsoft.com/office/drawing/2014/main" id="{86FC8833-9C9B-F10D-BF08-A29AC0E792C8}"/>
              </a:ext>
            </a:extLst>
          </p:cNvPr>
          <p:cNvSpPr/>
          <p:nvPr/>
        </p:nvSpPr>
        <p:spPr>
          <a:xfrm>
            <a:off x="2146852" y="1361661"/>
            <a:ext cx="616226" cy="526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a:t>
            </a:r>
            <a:endParaRPr lang="en-IN" dirty="0"/>
          </a:p>
        </p:txBody>
      </p:sp>
      <p:sp>
        <p:nvSpPr>
          <p:cNvPr id="11" name="TextBox 10">
            <a:extLst>
              <a:ext uri="{FF2B5EF4-FFF2-40B4-BE49-F238E27FC236}">
                <a16:creationId xmlns:a16="http://schemas.microsoft.com/office/drawing/2014/main" id="{2C0651C3-268F-2600-00A6-E8CEE028EBE4}"/>
              </a:ext>
            </a:extLst>
          </p:cNvPr>
          <p:cNvSpPr txBox="1"/>
          <p:nvPr/>
        </p:nvSpPr>
        <p:spPr>
          <a:xfrm>
            <a:off x="1683688" y="1113026"/>
            <a:ext cx="771277" cy="369332"/>
          </a:xfrm>
          <a:prstGeom prst="rect">
            <a:avLst/>
          </a:prstGeom>
          <a:noFill/>
        </p:spPr>
        <p:txBody>
          <a:bodyPr wrap="square" rtlCol="0">
            <a:spAutoFit/>
          </a:bodyPr>
          <a:lstStyle/>
          <a:p>
            <a:r>
              <a:rPr lang="en-US" dirty="0"/>
              <a:t>t</a:t>
            </a:r>
            <a:endParaRPr lang="en-IN" dirty="0"/>
          </a:p>
        </p:txBody>
      </p:sp>
      <p:cxnSp>
        <p:nvCxnSpPr>
          <p:cNvPr id="13" name="Straight Connector 12">
            <a:extLst>
              <a:ext uri="{FF2B5EF4-FFF2-40B4-BE49-F238E27FC236}">
                <a16:creationId xmlns:a16="http://schemas.microsoft.com/office/drawing/2014/main" id="{6DABBB89-E1F7-47ED-B88F-D736A58A4DD3}"/>
              </a:ext>
            </a:extLst>
          </p:cNvPr>
          <p:cNvCxnSpPr>
            <a:cxnSpLocks/>
          </p:cNvCxnSpPr>
          <p:nvPr/>
        </p:nvCxnSpPr>
        <p:spPr>
          <a:xfrm>
            <a:off x="1029584" y="4248868"/>
            <a:ext cx="890546" cy="64604"/>
          </a:xfrm>
          <a:prstGeom prst="line">
            <a:avLst/>
          </a:prstGeom>
        </p:spPr>
        <p:style>
          <a:lnRef idx="3">
            <a:schemeClr val="accent2"/>
          </a:lnRef>
          <a:fillRef idx="0">
            <a:schemeClr val="accent2"/>
          </a:fillRef>
          <a:effectRef idx="2">
            <a:schemeClr val="accent2"/>
          </a:effectRef>
          <a:fontRef idx="minor">
            <a:schemeClr val="tx1"/>
          </a:fontRef>
        </p:style>
      </p:cxnSp>
      <p:cxnSp>
        <p:nvCxnSpPr>
          <p:cNvPr id="16" name="Straight Connector 15">
            <a:extLst>
              <a:ext uri="{FF2B5EF4-FFF2-40B4-BE49-F238E27FC236}">
                <a16:creationId xmlns:a16="http://schemas.microsoft.com/office/drawing/2014/main" id="{4FED7D80-4D91-4474-4EE5-5D8C85CEDB3E}"/>
              </a:ext>
            </a:extLst>
          </p:cNvPr>
          <p:cNvCxnSpPr/>
          <p:nvPr/>
        </p:nvCxnSpPr>
        <p:spPr>
          <a:xfrm flipV="1">
            <a:off x="2554357" y="4144617"/>
            <a:ext cx="477078" cy="11927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53878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F42F8-6E97-47FC-879C-2460BB0BE538}"/>
              </a:ext>
            </a:extLst>
          </p:cNvPr>
          <p:cNvSpPr>
            <a:spLocks noGrp="1"/>
          </p:cNvSpPr>
          <p:nvPr>
            <p:ph type="title"/>
          </p:nvPr>
        </p:nvSpPr>
        <p:spPr>
          <a:xfrm>
            <a:off x="438313" y="-182879"/>
            <a:ext cx="4413415" cy="1136607"/>
          </a:xfrm>
        </p:spPr>
        <p:txBody>
          <a:bodyPr>
            <a:noAutofit/>
          </a:bodyPr>
          <a:lstStyle/>
          <a:p>
            <a:r>
              <a:rPr lang="en-IN" sz="3200" dirty="0"/>
              <a:t>     Call by  Reference</a:t>
            </a:r>
          </a:p>
        </p:txBody>
      </p:sp>
      <p:sp>
        <p:nvSpPr>
          <p:cNvPr id="3" name="Content Placeholder 2">
            <a:extLst>
              <a:ext uri="{FF2B5EF4-FFF2-40B4-BE49-F238E27FC236}">
                <a16:creationId xmlns:a16="http://schemas.microsoft.com/office/drawing/2014/main" id="{443E9A69-4BDB-4683-B4FA-B58AD4021E21}"/>
              </a:ext>
            </a:extLst>
          </p:cNvPr>
          <p:cNvSpPr>
            <a:spLocks noGrp="1"/>
          </p:cNvSpPr>
          <p:nvPr>
            <p:ph idx="1"/>
          </p:nvPr>
        </p:nvSpPr>
        <p:spPr>
          <a:xfrm>
            <a:off x="5299587" y="-44572"/>
            <a:ext cx="6454099" cy="6587612"/>
          </a:xfrm>
        </p:spPr>
        <p:txBody>
          <a:bodyPr>
            <a:noAutofit/>
          </a:bodyPr>
          <a:lstStyle/>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 Objects are reference but pass by as value.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Test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 b;</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Test(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j)</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b = j;</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Pass an object. Now, </a:t>
            </a:r>
            <a:r>
              <a:rPr lang="en-US" sz="1200" dirty="0" err="1">
                <a:solidFill>
                  <a:srgbClr val="008000"/>
                </a:solidFill>
                <a:highlight>
                  <a:srgbClr val="FFFFFF"/>
                </a:highlight>
                <a:latin typeface="Consolas" panose="020B0609020204030204" pitchFamily="49" charset="0"/>
              </a:rPr>
              <a:t>ob.a</a:t>
            </a:r>
            <a:r>
              <a:rPr lang="en-US" sz="1200" dirty="0">
                <a:solidFill>
                  <a:srgbClr val="008000"/>
                </a:solidFill>
                <a:highlight>
                  <a:srgbClr val="FFFFFF"/>
                </a:highlight>
                <a:latin typeface="Consolas" panose="020B0609020204030204" pitchFamily="49" charset="0"/>
              </a:rPr>
              <a:t> and </a:t>
            </a:r>
            <a:r>
              <a:rPr lang="en-US" sz="1200" dirty="0" err="1">
                <a:solidFill>
                  <a:srgbClr val="008000"/>
                </a:solidFill>
                <a:highlight>
                  <a:srgbClr val="FFFFFF"/>
                </a:highlight>
                <a:latin typeface="Consolas" panose="020B0609020204030204" pitchFamily="49" charset="0"/>
              </a:rPr>
              <a:t>ob.b</a:t>
            </a:r>
            <a:r>
              <a:rPr lang="en-US" sz="1200" dirty="0">
                <a:solidFill>
                  <a:srgbClr val="008000"/>
                </a:solidFill>
                <a:highlight>
                  <a:srgbClr val="FFFFFF"/>
                </a:highlight>
                <a:latin typeface="Consolas" panose="020B0609020204030204" pitchFamily="49" charset="0"/>
              </a:rPr>
              <a:t> in object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       used in the call will be changed.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change(</a:t>
            </a:r>
            <a:r>
              <a:rPr lang="en-US" sz="1200" dirty="0">
                <a:solidFill>
                  <a:srgbClr val="0000FF"/>
                </a:solidFill>
                <a:highlight>
                  <a:srgbClr val="FFFFFF"/>
                </a:highlight>
                <a:latin typeface="Consolas" panose="020B0609020204030204" pitchFamily="49" charset="0"/>
              </a:rPr>
              <a:t>ref</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Test</a:t>
            </a:r>
            <a:r>
              <a:rPr lang="en-US" sz="1200" dirty="0">
                <a:solidFill>
                  <a:srgbClr val="000000"/>
                </a:solidFill>
                <a:highlight>
                  <a:srgbClr val="FFFFFF"/>
                </a:highlight>
                <a:latin typeface="Consolas" panose="020B0609020204030204" pitchFamily="49" charset="0"/>
              </a:rPr>
              <a:t> obj)</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obj.a</a:t>
            </a:r>
            <a:r>
              <a:rPr lang="en-IN" sz="1200" dirty="0">
                <a:solidFill>
                  <a:srgbClr val="000000"/>
                </a:solidFill>
                <a:highlight>
                  <a:srgbClr val="FFFFFF"/>
                </a:highlight>
                <a:latin typeface="Consolas" panose="020B0609020204030204" pitchFamily="49" charset="0"/>
              </a:rPr>
              <a:t> += 5;</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obj.b</a:t>
            </a:r>
            <a:r>
              <a:rPr lang="en-IN" sz="1200" dirty="0">
                <a:solidFill>
                  <a:srgbClr val="000000"/>
                </a:solidFill>
                <a:highlight>
                  <a:srgbClr val="FFFFFF"/>
                </a:highlight>
                <a:latin typeface="Consolas" panose="020B0609020204030204" pitchFamily="49" charset="0"/>
              </a:rPr>
              <a:t> += 5;</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CallByRef</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Test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ob</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Test</a:t>
            </a:r>
            <a:r>
              <a:rPr lang="en-US" sz="1200" dirty="0">
                <a:solidFill>
                  <a:srgbClr val="000000"/>
                </a:solidFill>
                <a:highlight>
                  <a:srgbClr val="FFFFFF"/>
                </a:highlight>
                <a:latin typeface="Consolas" panose="020B0609020204030204" pitchFamily="49" charset="0"/>
              </a:rPr>
              <a:t>(15, 20);</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ob.a</a:t>
            </a:r>
            <a:r>
              <a:rPr lang="en-US" sz="1200" dirty="0">
                <a:solidFill>
                  <a:srgbClr val="A31515"/>
                </a:solidFill>
                <a:highlight>
                  <a:srgbClr val="FFFFFF"/>
                </a:highlight>
                <a:latin typeface="Consolas" panose="020B0609020204030204" pitchFamily="49" charset="0"/>
              </a:rPr>
              <a:t> and </a:t>
            </a:r>
            <a:r>
              <a:rPr lang="en-US" sz="1200" dirty="0" err="1">
                <a:solidFill>
                  <a:srgbClr val="A31515"/>
                </a:solidFill>
                <a:highlight>
                  <a:srgbClr val="FFFFFF"/>
                </a:highlight>
                <a:latin typeface="Consolas" panose="020B0609020204030204" pitchFamily="49" charset="0"/>
              </a:rPr>
              <a:t>ob.b</a:t>
            </a:r>
            <a:r>
              <a:rPr lang="en-US" sz="1200" dirty="0">
                <a:solidFill>
                  <a:srgbClr val="A31515"/>
                </a:solidFill>
                <a:highlight>
                  <a:srgbClr val="FFFFFF"/>
                </a:highlight>
                <a:latin typeface="Consolas" panose="020B0609020204030204" pitchFamily="49" charset="0"/>
              </a:rPr>
              <a:t> before call: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ob.a</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ob.b</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ob.change</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ref</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ob.a</a:t>
            </a:r>
            <a:r>
              <a:rPr lang="en-US" sz="1200" dirty="0">
                <a:solidFill>
                  <a:srgbClr val="A31515"/>
                </a:solidFill>
                <a:highlight>
                  <a:srgbClr val="FFFFFF"/>
                </a:highlight>
                <a:latin typeface="Consolas" panose="020B0609020204030204" pitchFamily="49" charset="0"/>
              </a:rPr>
              <a:t> and </a:t>
            </a:r>
            <a:r>
              <a:rPr lang="en-US" sz="1200" dirty="0" err="1">
                <a:solidFill>
                  <a:srgbClr val="A31515"/>
                </a:solidFill>
                <a:highlight>
                  <a:srgbClr val="FFFFFF"/>
                </a:highlight>
                <a:latin typeface="Consolas" panose="020B0609020204030204" pitchFamily="49" charset="0"/>
              </a:rPr>
              <a:t>ob.b</a:t>
            </a:r>
            <a:r>
              <a:rPr lang="en-US" sz="1200" dirty="0">
                <a:solidFill>
                  <a:srgbClr val="A31515"/>
                </a:solidFill>
                <a:highlight>
                  <a:srgbClr val="FFFFFF"/>
                </a:highlight>
                <a:latin typeface="Consolas" panose="020B0609020204030204" pitchFamily="49" charset="0"/>
              </a:rPr>
              <a:t> after call: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ob.a</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ob.b</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p>
        </p:txBody>
      </p:sp>
      <p:sp>
        <p:nvSpPr>
          <p:cNvPr id="4" name="TextBox 3">
            <a:extLst>
              <a:ext uri="{FF2B5EF4-FFF2-40B4-BE49-F238E27FC236}">
                <a16:creationId xmlns:a16="http://schemas.microsoft.com/office/drawing/2014/main" id="{0EFE04A5-279E-4377-9F8F-F05FAD92EFA3}"/>
              </a:ext>
            </a:extLst>
          </p:cNvPr>
          <p:cNvSpPr txBox="1"/>
          <p:nvPr/>
        </p:nvSpPr>
        <p:spPr>
          <a:xfrm>
            <a:off x="166984" y="882608"/>
            <a:ext cx="4943167" cy="2031325"/>
          </a:xfrm>
          <a:prstGeom prst="rect">
            <a:avLst/>
          </a:prstGeom>
          <a:noFill/>
        </p:spPr>
        <p:txBody>
          <a:bodyPr wrap="square" rtlCol="0">
            <a:spAutoFit/>
          </a:bodyPr>
          <a:lstStyle/>
          <a:p>
            <a:r>
              <a:rPr lang="en-IN" dirty="0"/>
              <a:t>When you pass object in  a function using ref</a:t>
            </a:r>
          </a:p>
          <a:p>
            <a:r>
              <a:rPr lang="en-IN" dirty="0"/>
              <a:t>Key another memory block </a:t>
            </a:r>
            <a:r>
              <a:rPr lang="en-IN" b="1" dirty="0"/>
              <a:t>does not </a:t>
            </a:r>
            <a:r>
              <a:rPr lang="en-IN" dirty="0"/>
              <a:t>get created but</a:t>
            </a:r>
          </a:p>
          <a:p>
            <a:r>
              <a:rPr lang="en-IN" dirty="0"/>
              <a:t>It is jut another name to same  memory block. So if you make some changes to the parameter in a function original data will get modified</a:t>
            </a:r>
          </a:p>
          <a:p>
            <a:r>
              <a:rPr lang="en-IN" dirty="0"/>
              <a:t> see the diagram </a:t>
            </a:r>
          </a:p>
          <a:p>
            <a:endParaRPr lang="en-IN" dirty="0"/>
          </a:p>
        </p:txBody>
      </p:sp>
      <p:sp>
        <p:nvSpPr>
          <p:cNvPr id="5" name="Rectangle 4">
            <a:extLst>
              <a:ext uri="{FF2B5EF4-FFF2-40B4-BE49-F238E27FC236}">
                <a16:creationId xmlns:a16="http://schemas.microsoft.com/office/drawing/2014/main" id="{72EF3970-BFAD-4EED-9087-E1D1D419B1B6}"/>
              </a:ext>
            </a:extLst>
          </p:cNvPr>
          <p:cNvSpPr/>
          <p:nvPr/>
        </p:nvSpPr>
        <p:spPr>
          <a:xfrm>
            <a:off x="3607087" y="4382532"/>
            <a:ext cx="1503064" cy="9717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a=15 20</a:t>
            </a:r>
          </a:p>
          <a:p>
            <a:pPr algn="ctr"/>
            <a:r>
              <a:rPr lang="en-IN" dirty="0"/>
              <a:t>b=20  25</a:t>
            </a:r>
          </a:p>
        </p:txBody>
      </p:sp>
      <p:sp>
        <p:nvSpPr>
          <p:cNvPr id="8" name="Rectangle 7">
            <a:extLst>
              <a:ext uri="{FF2B5EF4-FFF2-40B4-BE49-F238E27FC236}">
                <a16:creationId xmlns:a16="http://schemas.microsoft.com/office/drawing/2014/main" id="{8DBC3EB7-BB63-4BE8-958D-CD17381B69A1}"/>
              </a:ext>
            </a:extLst>
          </p:cNvPr>
          <p:cNvSpPr/>
          <p:nvPr/>
        </p:nvSpPr>
        <p:spPr>
          <a:xfrm>
            <a:off x="2017201" y="4592320"/>
            <a:ext cx="599440" cy="629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767F4312-355E-4E7E-8DF6-5C1748547B20}"/>
              </a:ext>
            </a:extLst>
          </p:cNvPr>
          <p:cNvCxnSpPr>
            <a:cxnSpLocks/>
            <a:stCxn id="8" idx="3"/>
          </p:cNvCxnSpPr>
          <p:nvPr/>
        </p:nvCxnSpPr>
        <p:spPr>
          <a:xfrm flipV="1">
            <a:off x="2616641" y="4795520"/>
            <a:ext cx="933594" cy="111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621E859-8CB5-459A-B7BD-75C0868A822B}"/>
              </a:ext>
            </a:extLst>
          </p:cNvPr>
          <p:cNvSpPr txBox="1"/>
          <p:nvPr/>
        </p:nvSpPr>
        <p:spPr>
          <a:xfrm>
            <a:off x="2017202" y="4277360"/>
            <a:ext cx="599440" cy="369332"/>
          </a:xfrm>
          <a:prstGeom prst="rect">
            <a:avLst/>
          </a:prstGeom>
          <a:noFill/>
        </p:spPr>
        <p:txBody>
          <a:bodyPr wrap="square" rtlCol="0">
            <a:spAutoFit/>
          </a:bodyPr>
          <a:lstStyle/>
          <a:p>
            <a:r>
              <a:rPr lang="en-IN" dirty="0" err="1"/>
              <a:t>ob</a:t>
            </a:r>
            <a:endParaRPr lang="en-IN" dirty="0"/>
          </a:p>
        </p:txBody>
      </p:sp>
      <p:sp>
        <p:nvSpPr>
          <p:cNvPr id="15" name="TextBox 14">
            <a:extLst>
              <a:ext uri="{FF2B5EF4-FFF2-40B4-BE49-F238E27FC236}">
                <a16:creationId xmlns:a16="http://schemas.microsoft.com/office/drawing/2014/main" id="{E0E89D5F-3ED9-41D6-B701-FEE7E549AFAE}"/>
              </a:ext>
            </a:extLst>
          </p:cNvPr>
          <p:cNvSpPr txBox="1"/>
          <p:nvPr/>
        </p:nvSpPr>
        <p:spPr>
          <a:xfrm>
            <a:off x="1335796" y="4851400"/>
            <a:ext cx="599440" cy="369332"/>
          </a:xfrm>
          <a:prstGeom prst="rect">
            <a:avLst/>
          </a:prstGeom>
          <a:noFill/>
        </p:spPr>
        <p:txBody>
          <a:bodyPr wrap="square" rtlCol="0">
            <a:spAutoFit/>
          </a:bodyPr>
          <a:lstStyle/>
          <a:p>
            <a:r>
              <a:rPr lang="en-IN" dirty="0" err="1"/>
              <a:t>obj</a:t>
            </a:r>
            <a:endParaRPr lang="en-IN" dirty="0"/>
          </a:p>
        </p:txBody>
      </p:sp>
      <p:cxnSp>
        <p:nvCxnSpPr>
          <p:cNvPr id="17" name="Straight Connector 16">
            <a:extLst>
              <a:ext uri="{FF2B5EF4-FFF2-40B4-BE49-F238E27FC236}">
                <a16:creationId xmlns:a16="http://schemas.microsoft.com/office/drawing/2014/main" id="{6CD6FE3D-6059-4CD1-B344-A86055FA7AC6}"/>
              </a:ext>
            </a:extLst>
          </p:cNvPr>
          <p:cNvCxnSpPr/>
          <p:nvPr/>
        </p:nvCxnSpPr>
        <p:spPr>
          <a:xfrm flipV="1">
            <a:off x="4096610" y="4646692"/>
            <a:ext cx="282350" cy="148828"/>
          </a:xfrm>
          <a:prstGeom prst="line">
            <a:avLst/>
          </a:prstGeom>
        </p:spPr>
        <p:style>
          <a:lnRef idx="3">
            <a:schemeClr val="accent4"/>
          </a:lnRef>
          <a:fillRef idx="0">
            <a:schemeClr val="accent4"/>
          </a:fillRef>
          <a:effectRef idx="2">
            <a:schemeClr val="accent4"/>
          </a:effectRef>
          <a:fontRef idx="minor">
            <a:schemeClr val="tx1"/>
          </a:fontRef>
        </p:style>
      </p:cxnSp>
      <p:cxnSp>
        <p:nvCxnSpPr>
          <p:cNvPr id="18" name="Straight Connector 17">
            <a:extLst>
              <a:ext uri="{FF2B5EF4-FFF2-40B4-BE49-F238E27FC236}">
                <a16:creationId xmlns:a16="http://schemas.microsoft.com/office/drawing/2014/main" id="{D17D161C-C480-40E8-8BA3-77094B71DB81}"/>
              </a:ext>
            </a:extLst>
          </p:cNvPr>
          <p:cNvCxnSpPr/>
          <p:nvPr/>
        </p:nvCxnSpPr>
        <p:spPr>
          <a:xfrm flipV="1">
            <a:off x="4188050" y="4910852"/>
            <a:ext cx="282350" cy="148828"/>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901317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B315-F5D8-4630-B584-2995DD6873EC}"/>
              </a:ext>
            </a:extLst>
          </p:cNvPr>
          <p:cNvSpPr>
            <a:spLocks noGrp="1"/>
          </p:cNvSpPr>
          <p:nvPr>
            <p:ph type="title"/>
          </p:nvPr>
        </p:nvSpPr>
        <p:spPr>
          <a:xfrm>
            <a:off x="1076960" y="1"/>
            <a:ext cx="4185920" cy="914400"/>
          </a:xfrm>
        </p:spPr>
        <p:txBody>
          <a:bodyPr/>
          <a:lstStyle/>
          <a:p>
            <a:r>
              <a:rPr lang="en-IN" dirty="0"/>
              <a:t>Call by  Reference</a:t>
            </a:r>
          </a:p>
        </p:txBody>
      </p:sp>
      <p:sp>
        <p:nvSpPr>
          <p:cNvPr id="3" name="Content Placeholder 2">
            <a:extLst>
              <a:ext uri="{FF2B5EF4-FFF2-40B4-BE49-F238E27FC236}">
                <a16:creationId xmlns:a16="http://schemas.microsoft.com/office/drawing/2014/main" id="{F15B570D-7984-4452-934D-ECEEE78FD205}"/>
              </a:ext>
            </a:extLst>
          </p:cNvPr>
          <p:cNvSpPr>
            <a:spLocks noGrp="1"/>
          </p:cNvSpPr>
          <p:nvPr>
            <p:ph idx="1"/>
          </p:nvPr>
        </p:nvSpPr>
        <p:spPr>
          <a:xfrm>
            <a:off x="5262880" y="91440"/>
            <a:ext cx="6090920" cy="6176963"/>
          </a:xfrm>
        </p:spPr>
        <p:txBody>
          <a:bodyPr>
            <a:noAutofit/>
          </a:bodyPr>
          <a:lstStyle/>
          <a:p>
            <a:pPr marL="0" indent="0">
              <a:buNone/>
            </a:pPr>
            <a:r>
              <a:rPr lang="en-IN" sz="1200" dirty="0">
                <a:solidFill>
                  <a:srgbClr val="008000"/>
                </a:solidFill>
                <a:latin typeface="Consolas" panose="020B0609020204030204" pitchFamily="49" charset="0"/>
              </a:rPr>
              <a:t>// Use out. </a:t>
            </a:r>
            <a:endParaRPr lang="en-IN" sz="1200" dirty="0">
              <a:solidFill>
                <a:prstClr val="black"/>
              </a:solidFill>
              <a:latin typeface="Consolas" panose="020B0609020204030204" pitchFamily="49" charset="0"/>
            </a:endParaRPr>
          </a:p>
          <a:p>
            <a:pPr marL="0" indent="0">
              <a:buNone/>
            </a:pPr>
            <a:r>
              <a:rPr lang="en-IN" sz="1200" dirty="0">
                <a:solidFill>
                  <a:prstClr val="black"/>
                </a:solidFill>
                <a:latin typeface="Consolas" panose="020B0609020204030204" pitchFamily="49" charset="0"/>
              </a:rPr>
              <a:t> </a:t>
            </a:r>
            <a:r>
              <a:rPr lang="en-IN" sz="1200" dirty="0">
                <a:solidFill>
                  <a:srgbClr val="0000FF"/>
                </a:solidFill>
                <a:latin typeface="Consolas" panose="020B0609020204030204" pitchFamily="49" charset="0"/>
              </a:rPr>
              <a:t>using</a:t>
            </a:r>
            <a:r>
              <a:rPr lang="en-IN" sz="1200" dirty="0">
                <a:solidFill>
                  <a:prstClr val="black"/>
                </a:solidFill>
                <a:latin typeface="Consolas" panose="020B0609020204030204" pitchFamily="49" charset="0"/>
              </a:rPr>
              <a:t> System; </a:t>
            </a:r>
          </a:p>
          <a:p>
            <a:pPr marL="0" indent="0">
              <a:buNone/>
            </a:pPr>
            <a:r>
              <a:rPr lang="en-IN" sz="1200" dirty="0">
                <a:solidFill>
                  <a:prstClr val="black"/>
                </a:solidFill>
                <a:latin typeface="Consolas" panose="020B0609020204030204" pitchFamily="49" charset="0"/>
              </a:rPr>
              <a:t> </a:t>
            </a:r>
            <a:r>
              <a:rPr lang="en-IN" sz="1200" dirty="0">
                <a:solidFill>
                  <a:srgbClr val="0000FF"/>
                </a:solidFill>
                <a:latin typeface="Consolas" panose="020B0609020204030204" pitchFamily="49" charset="0"/>
              </a:rPr>
              <a:t>class</a:t>
            </a:r>
            <a:r>
              <a:rPr lang="en-IN" sz="1200" dirty="0">
                <a:solidFill>
                  <a:prstClr val="black"/>
                </a:solidFill>
                <a:latin typeface="Consolas" panose="020B0609020204030204" pitchFamily="49" charset="0"/>
              </a:rPr>
              <a:t> </a:t>
            </a:r>
            <a:r>
              <a:rPr lang="en-IN" sz="1200" dirty="0">
                <a:solidFill>
                  <a:srgbClr val="2B91AF"/>
                </a:solidFill>
                <a:latin typeface="Consolas" panose="020B0609020204030204" pitchFamily="49" charset="0"/>
              </a:rPr>
              <a:t>Decompose</a:t>
            </a:r>
            <a:r>
              <a:rPr lang="en-IN" sz="1200" dirty="0">
                <a:solidFill>
                  <a:prstClr val="black"/>
                </a:solidFill>
                <a:latin typeface="Consolas" panose="020B0609020204030204" pitchFamily="49" charset="0"/>
              </a:rPr>
              <a:t> { </a:t>
            </a:r>
          </a:p>
          <a:p>
            <a:pPr marL="0" indent="0">
              <a:buNone/>
            </a:pPr>
            <a:r>
              <a:rPr lang="en-IN" sz="1200" dirty="0">
                <a:solidFill>
                  <a:prstClr val="black"/>
                </a:solidFill>
                <a:latin typeface="Consolas" panose="020B0609020204030204" pitchFamily="49" charset="0"/>
              </a:rPr>
              <a:t> </a:t>
            </a:r>
            <a:r>
              <a:rPr lang="en-US" sz="1200" dirty="0">
                <a:solidFill>
                  <a:prstClr val="black"/>
                </a:solidFill>
                <a:latin typeface="Consolas" panose="020B0609020204030204" pitchFamily="49" charset="0"/>
              </a:rPr>
              <a:t>  </a:t>
            </a:r>
            <a:r>
              <a:rPr lang="en-US" sz="1200" dirty="0">
                <a:solidFill>
                  <a:srgbClr val="008000"/>
                </a:solidFill>
                <a:latin typeface="Consolas" panose="020B0609020204030204" pitchFamily="49" charset="0"/>
              </a:rPr>
              <a:t>/* Decompose a floating-point value into its </a:t>
            </a:r>
            <a:endParaRPr lang="en-US" sz="1200" dirty="0">
              <a:solidFill>
                <a:prstClr val="black"/>
              </a:solidFill>
              <a:latin typeface="Consolas" panose="020B0609020204030204" pitchFamily="49" charset="0"/>
            </a:endParaRPr>
          </a:p>
          <a:p>
            <a:pPr marL="0" indent="0">
              <a:buNone/>
            </a:pPr>
            <a:r>
              <a:rPr lang="en-IN" sz="1200" dirty="0">
                <a:solidFill>
                  <a:srgbClr val="008000"/>
                </a:solidFill>
                <a:latin typeface="Consolas" panose="020B0609020204030204" pitchFamily="49" charset="0"/>
              </a:rPr>
              <a:t>      integer and fractional parts. */</a:t>
            </a:r>
            <a:r>
              <a:rPr lang="en-IN" sz="1200" dirty="0">
                <a:solidFill>
                  <a:prstClr val="black"/>
                </a:solidFill>
                <a:latin typeface="Consolas" panose="020B0609020204030204" pitchFamily="49" charset="0"/>
              </a:rPr>
              <a:t> </a:t>
            </a:r>
          </a:p>
          <a:p>
            <a:pPr marL="0" indent="0">
              <a:buNone/>
            </a:pPr>
            <a:r>
              <a:rPr lang="en-IN" sz="1200" dirty="0">
                <a:solidFill>
                  <a:prstClr val="black"/>
                </a:solidFill>
                <a:latin typeface="Consolas" panose="020B0609020204030204" pitchFamily="49" charset="0"/>
              </a:rPr>
              <a:t> </a:t>
            </a:r>
            <a:r>
              <a:rPr lang="fr-FR" sz="1200" dirty="0">
                <a:solidFill>
                  <a:prstClr val="black"/>
                </a:solidFill>
                <a:latin typeface="Consolas" panose="020B0609020204030204" pitchFamily="49" charset="0"/>
              </a:rPr>
              <a:t> </a:t>
            </a:r>
            <a:r>
              <a:rPr lang="fr-FR" sz="1200" dirty="0">
                <a:solidFill>
                  <a:srgbClr val="0000FF"/>
                </a:solidFill>
                <a:latin typeface="Consolas" panose="020B0609020204030204" pitchFamily="49" charset="0"/>
              </a:rPr>
              <a:t>public</a:t>
            </a:r>
            <a:r>
              <a:rPr lang="fr-FR" sz="1200" dirty="0">
                <a:solidFill>
                  <a:prstClr val="black"/>
                </a:solidFill>
                <a:latin typeface="Consolas" panose="020B0609020204030204" pitchFamily="49" charset="0"/>
              </a:rPr>
              <a:t> </a:t>
            </a:r>
            <a:r>
              <a:rPr lang="fr-FR" sz="1200" dirty="0">
                <a:solidFill>
                  <a:srgbClr val="0000FF"/>
                </a:solidFill>
                <a:latin typeface="Consolas" panose="020B0609020204030204" pitchFamily="49" charset="0"/>
              </a:rPr>
              <a:t>int</a:t>
            </a:r>
            <a:r>
              <a:rPr lang="fr-FR" sz="1200" dirty="0">
                <a:solidFill>
                  <a:prstClr val="black"/>
                </a:solidFill>
                <a:latin typeface="Consolas" panose="020B0609020204030204" pitchFamily="49" charset="0"/>
              </a:rPr>
              <a:t> parts(</a:t>
            </a:r>
            <a:r>
              <a:rPr lang="fr-FR" sz="1200" dirty="0">
                <a:solidFill>
                  <a:srgbClr val="0000FF"/>
                </a:solidFill>
                <a:latin typeface="Consolas" panose="020B0609020204030204" pitchFamily="49" charset="0"/>
              </a:rPr>
              <a:t>double</a:t>
            </a:r>
            <a:r>
              <a:rPr lang="fr-FR" sz="1200" dirty="0">
                <a:solidFill>
                  <a:prstClr val="black"/>
                </a:solidFill>
                <a:latin typeface="Consolas" panose="020B0609020204030204" pitchFamily="49" charset="0"/>
              </a:rPr>
              <a:t> n, </a:t>
            </a:r>
            <a:r>
              <a:rPr lang="fr-FR" sz="1200" dirty="0">
                <a:solidFill>
                  <a:srgbClr val="0000FF"/>
                </a:solidFill>
                <a:latin typeface="Consolas" panose="020B0609020204030204" pitchFamily="49" charset="0"/>
              </a:rPr>
              <a:t>out</a:t>
            </a:r>
            <a:r>
              <a:rPr lang="fr-FR" sz="1200" dirty="0">
                <a:solidFill>
                  <a:prstClr val="black"/>
                </a:solidFill>
                <a:latin typeface="Consolas" panose="020B0609020204030204" pitchFamily="49" charset="0"/>
              </a:rPr>
              <a:t> </a:t>
            </a:r>
            <a:r>
              <a:rPr lang="fr-FR" sz="1200" dirty="0">
                <a:solidFill>
                  <a:srgbClr val="0000FF"/>
                </a:solidFill>
                <a:latin typeface="Consolas" panose="020B0609020204030204" pitchFamily="49" charset="0"/>
              </a:rPr>
              <a:t>double</a:t>
            </a:r>
            <a:r>
              <a:rPr lang="fr-FR" sz="1200" dirty="0">
                <a:solidFill>
                  <a:prstClr val="black"/>
                </a:solidFill>
                <a:latin typeface="Consolas" panose="020B0609020204030204" pitchFamily="49" charset="0"/>
              </a:rPr>
              <a:t> frac) { </a:t>
            </a:r>
          </a:p>
          <a:p>
            <a:pPr marL="0" indent="0">
              <a:buNone/>
            </a:pPr>
            <a:r>
              <a:rPr lang="en-IN" sz="1200" dirty="0">
                <a:solidFill>
                  <a:prstClr val="black"/>
                </a:solidFill>
                <a:latin typeface="Consolas" panose="020B0609020204030204" pitchFamily="49" charset="0"/>
              </a:rPr>
              <a:t>    </a:t>
            </a:r>
            <a:r>
              <a:rPr lang="en-IN" sz="1200" dirty="0">
                <a:solidFill>
                  <a:srgbClr val="0000FF"/>
                </a:solidFill>
                <a:latin typeface="Consolas" panose="020B0609020204030204" pitchFamily="49" charset="0"/>
              </a:rPr>
              <a:t>int</a:t>
            </a:r>
            <a:r>
              <a:rPr lang="en-IN" sz="1200" dirty="0">
                <a:solidFill>
                  <a:prstClr val="black"/>
                </a:solidFill>
                <a:latin typeface="Consolas" panose="020B0609020204030204" pitchFamily="49" charset="0"/>
              </a:rPr>
              <a:t> whole;  </a:t>
            </a:r>
          </a:p>
          <a:p>
            <a:pPr marL="0" indent="0">
              <a:buNone/>
            </a:pPr>
            <a:r>
              <a:rPr lang="en-IN" sz="1200" dirty="0">
                <a:solidFill>
                  <a:prstClr val="black"/>
                </a:solidFill>
                <a:latin typeface="Consolas" panose="020B0609020204030204" pitchFamily="49" charset="0"/>
              </a:rPr>
              <a:t>    whole = (</a:t>
            </a:r>
            <a:r>
              <a:rPr lang="en-IN" sz="1200" dirty="0">
                <a:solidFill>
                  <a:srgbClr val="0000FF"/>
                </a:solidFill>
                <a:latin typeface="Consolas" panose="020B0609020204030204" pitchFamily="49" charset="0"/>
              </a:rPr>
              <a:t>int</a:t>
            </a:r>
            <a:r>
              <a:rPr lang="en-IN" sz="1200" dirty="0">
                <a:solidFill>
                  <a:prstClr val="black"/>
                </a:solidFill>
                <a:latin typeface="Consolas" panose="020B0609020204030204" pitchFamily="49" charset="0"/>
              </a:rPr>
              <a:t>) n; </a:t>
            </a:r>
          </a:p>
          <a:p>
            <a:pPr marL="0" indent="0">
              <a:buNone/>
            </a:pPr>
            <a:r>
              <a:rPr lang="en-US" sz="1200" dirty="0">
                <a:solidFill>
                  <a:prstClr val="black"/>
                </a:solidFill>
                <a:latin typeface="Consolas" panose="020B0609020204030204" pitchFamily="49" charset="0"/>
              </a:rPr>
              <a:t>    frac = n - whole; </a:t>
            </a:r>
            <a:r>
              <a:rPr lang="en-US" sz="1200" dirty="0">
                <a:solidFill>
                  <a:srgbClr val="008000"/>
                </a:solidFill>
                <a:latin typeface="Consolas" panose="020B0609020204030204" pitchFamily="49" charset="0"/>
              </a:rPr>
              <a:t>// pass fractional part back through frac </a:t>
            </a:r>
            <a:endParaRPr lang="en-US" sz="1200" dirty="0">
              <a:solidFill>
                <a:prstClr val="black"/>
              </a:solidFill>
              <a:latin typeface="Consolas" panose="020B0609020204030204" pitchFamily="49" charset="0"/>
            </a:endParaRPr>
          </a:p>
          <a:p>
            <a:pPr marL="0" indent="0">
              <a:buNone/>
            </a:pPr>
            <a:r>
              <a:rPr lang="en-US" sz="1200" dirty="0">
                <a:solidFill>
                  <a:prstClr val="black"/>
                </a:solidFill>
                <a:latin typeface="Consolas" panose="020B0609020204030204" pitchFamily="49" charset="0"/>
              </a:rPr>
              <a:t>    </a:t>
            </a:r>
            <a:r>
              <a:rPr lang="en-US" sz="1200" dirty="0">
                <a:solidFill>
                  <a:srgbClr val="0000FF"/>
                </a:solidFill>
                <a:latin typeface="Consolas" panose="020B0609020204030204" pitchFamily="49" charset="0"/>
              </a:rPr>
              <a:t>return</a:t>
            </a:r>
            <a:r>
              <a:rPr lang="en-US" sz="1200" dirty="0">
                <a:solidFill>
                  <a:prstClr val="black"/>
                </a:solidFill>
                <a:latin typeface="Consolas" panose="020B0609020204030204" pitchFamily="49" charset="0"/>
              </a:rPr>
              <a:t> whole; </a:t>
            </a:r>
            <a:r>
              <a:rPr lang="en-US" sz="1200" dirty="0">
                <a:solidFill>
                  <a:srgbClr val="008000"/>
                </a:solidFill>
                <a:latin typeface="Consolas" panose="020B0609020204030204" pitchFamily="49" charset="0"/>
              </a:rPr>
              <a:t>// return integer portion </a:t>
            </a:r>
            <a:endParaRPr lang="en-US" sz="1200" dirty="0">
              <a:solidFill>
                <a:prstClr val="black"/>
              </a:solidFill>
              <a:latin typeface="Consolas" panose="020B0609020204030204" pitchFamily="49" charset="0"/>
            </a:endParaRPr>
          </a:p>
          <a:p>
            <a:pPr marL="0" indent="0">
              <a:buNone/>
            </a:pPr>
            <a:r>
              <a:rPr lang="en-IN" sz="1200" dirty="0">
                <a:solidFill>
                  <a:prstClr val="black"/>
                </a:solidFill>
                <a:latin typeface="Consolas" panose="020B0609020204030204" pitchFamily="49" charset="0"/>
              </a:rPr>
              <a:t>  } </a:t>
            </a:r>
          </a:p>
          <a:p>
            <a:pPr marL="0" indent="0">
              <a:buNone/>
            </a:pPr>
            <a:r>
              <a:rPr lang="en-IN" sz="1200" dirty="0">
                <a:solidFill>
                  <a:prstClr val="black"/>
                </a:solidFill>
                <a:latin typeface="Consolas" panose="020B0609020204030204" pitchFamily="49" charset="0"/>
              </a:rPr>
              <a:t>} </a:t>
            </a:r>
          </a:p>
          <a:p>
            <a:pPr marL="0" indent="0">
              <a:buNone/>
            </a:pPr>
            <a:r>
              <a:rPr lang="en-IN" sz="1200" dirty="0">
                <a:solidFill>
                  <a:srgbClr val="0000FF"/>
                </a:solidFill>
                <a:latin typeface="Consolas" panose="020B0609020204030204" pitchFamily="49" charset="0"/>
              </a:rPr>
              <a:t>class</a:t>
            </a:r>
            <a:r>
              <a:rPr lang="en-IN" sz="1200" dirty="0">
                <a:solidFill>
                  <a:prstClr val="black"/>
                </a:solidFill>
                <a:latin typeface="Consolas" panose="020B0609020204030204" pitchFamily="49" charset="0"/>
              </a:rPr>
              <a:t> </a:t>
            </a:r>
            <a:r>
              <a:rPr lang="en-IN" sz="1200" dirty="0" err="1">
                <a:solidFill>
                  <a:srgbClr val="2B91AF"/>
                </a:solidFill>
                <a:latin typeface="Consolas" panose="020B0609020204030204" pitchFamily="49" charset="0"/>
              </a:rPr>
              <a:t>UseOut</a:t>
            </a:r>
            <a:r>
              <a:rPr lang="en-IN" sz="1200" dirty="0">
                <a:solidFill>
                  <a:prstClr val="black"/>
                </a:solidFill>
                <a:latin typeface="Consolas" panose="020B0609020204030204" pitchFamily="49" charset="0"/>
              </a:rPr>
              <a:t> { </a:t>
            </a:r>
          </a:p>
          <a:p>
            <a:pPr marL="0" indent="0">
              <a:buNone/>
            </a:pPr>
            <a:r>
              <a:rPr lang="en-IN" sz="1200" dirty="0">
                <a:solidFill>
                  <a:prstClr val="black"/>
                </a:solidFill>
                <a:latin typeface="Consolas" panose="020B0609020204030204" pitchFamily="49" charset="0"/>
              </a:rPr>
              <a:t>  </a:t>
            </a:r>
            <a:r>
              <a:rPr lang="en-IN" sz="1200" dirty="0">
                <a:solidFill>
                  <a:srgbClr val="0000FF"/>
                </a:solidFill>
                <a:latin typeface="Consolas" panose="020B0609020204030204" pitchFamily="49" charset="0"/>
              </a:rPr>
              <a:t>public</a:t>
            </a:r>
            <a:r>
              <a:rPr lang="en-IN" sz="1200" dirty="0">
                <a:solidFill>
                  <a:prstClr val="black"/>
                </a:solidFill>
                <a:latin typeface="Consolas" panose="020B0609020204030204" pitchFamily="49" charset="0"/>
              </a:rPr>
              <a:t> </a:t>
            </a:r>
            <a:r>
              <a:rPr lang="en-IN" sz="1200" dirty="0">
                <a:solidFill>
                  <a:srgbClr val="0000FF"/>
                </a:solidFill>
                <a:latin typeface="Consolas" panose="020B0609020204030204" pitchFamily="49" charset="0"/>
              </a:rPr>
              <a:t>static</a:t>
            </a:r>
            <a:r>
              <a:rPr lang="en-IN" sz="1200" dirty="0">
                <a:solidFill>
                  <a:prstClr val="black"/>
                </a:solidFill>
                <a:latin typeface="Consolas" panose="020B0609020204030204" pitchFamily="49" charset="0"/>
              </a:rPr>
              <a:t> </a:t>
            </a:r>
            <a:r>
              <a:rPr lang="en-IN" sz="1200" dirty="0">
                <a:solidFill>
                  <a:srgbClr val="0000FF"/>
                </a:solidFill>
                <a:latin typeface="Consolas" panose="020B0609020204030204" pitchFamily="49" charset="0"/>
              </a:rPr>
              <a:t>void</a:t>
            </a:r>
            <a:r>
              <a:rPr lang="en-IN" sz="1200" dirty="0">
                <a:solidFill>
                  <a:prstClr val="black"/>
                </a:solidFill>
                <a:latin typeface="Consolas" panose="020B0609020204030204" pitchFamily="49" charset="0"/>
              </a:rPr>
              <a:t> Main() {   </a:t>
            </a:r>
          </a:p>
          <a:p>
            <a:pPr marL="0" indent="0">
              <a:buNone/>
            </a:pPr>
            <a:r>
              <a:rPr lang="en-IN" sz="1200" dirty="0">
                <a:solidFill>
                  <a:prstClr val="black"/>
                </a:solidFill>
                <a:latin typeface="Consolas" panose="020B0609020204030204" pitchFamily="49" charset="0"/>
              </a:rPr>
              <a:t>   Decompose </a:t>
            </a:r>
            <a:r>
              <a:rPr lang="en-IN" sz="1200" dirty="0" err="1">
                <a:solidFill>
                  <a:prstClr val="black"/>
                </a:solidFill>
                <a:latin typeface="Consolas" panose="020B0609020204030204" pitchFamily="49" charset="0"/>
              </a:rPr>
              <a:t>ob</a:t>
            </a:r>
            <a:r>
              <a:rPr lang="en-IN" sz="1200" dirty="0">
                <a:solidFill>
                  <a:prstClr val="black"/>
                </a:solidFill>
                <a:latin typeface="Consolas" panose="020B0609020204030204" pitchFamily="49" charset="0"/>
              </a:rPr>
              <a:t> = </a:t>
            </a:r>
            <a:r>
              <a:rPr lang="en-IN" sz="1200" dirty="0">
                <a:solidFill>
                  <a:srgbClr val="0000FF"/>
                </a:solidFill>
                <a:latin typeface="Consolas" panose="020B0609020204030204" pitchFamily="49" charset="0"/>
              </a:rPr>
              <a:t>new</a:t>
            </a:r>
            <a:r>
              <a:rPr lang="en-IN" sz="1200" dirty="0">
                <a:solidFill>
                  <a:prstClr val="black"/>
                </a:solidFill>
                <a:latin typeface="Consolas" panose="020B0609020204030204" pitchFamily="49" charset="0"/>
              </a:rPr>
              <a:t> Decompose(); </a:t>
            </a:r>
          </a:p>
          <a:p>
            <a:pPr marL="0" indent="0">
              <a:buNone/>
            </a:pPr>
            <a:r>
              <a:rPr lang="en-IN" sz="1200" dirty="0">
                <a:solidFill>
                  <a:prstClr val="black"/>
                </a:solidFill>
                <a:latin typeface="Consolas" panose="020B0609020204030204" pitchFamily="49" charset="0"/>
              </a:rPr>
              <a:t>    </a:t>
            </a:r>
            <a:r>
              <a:rPr lang="en-IN" sz="1200" dirty="0">
                <a:solidFill>
                  <a:srgbClr val="0000FF"/>
                </a:solidFill>
                <a:latin typeface="Consolas" panose="020B0609020204030204" pitchFamily="49" charset="0"/>
              </a:rPr>
              <a:t>int</a:t>
            </a:r>
            <a:r>
              <a:rPr lang="en-IN" sz="1200" dirty="0">
                <a:solidFill>
                  <a:prstClr val="black"/>
                </a:solidFill>
                <a:latin typeface="Consolas" panose="020B0609020204030204" pitchFamily="49" charset="0"/>
              </a:rPr>
              <a:t> </a:t>
            </a:r>
            <a:r>
              <a:rPr lang="en-IN" sz="1200" dirty="0" err="1">
                <a:solidFill>
                  <a:prstClr val="black"/>
                </a:solidFill>
                <a:latin typeface="Consolas" panose="020B0609020204030204" pitchFamily="49" charset="0"/>
              </a:rPr>
              <a:t>i</a:t>
            </a:r>
            <a:r>
              <a:rPr lang="en-IN" sz="1200" dirty="0">
                <a:solidFill>
                  <a:prstClr val="black"/>
                </a:solidFill>
                <a:latin typeface="Consolas" panose="020B0609020204030204" pitchFamily="49" charset="0"/>
              </a:rPr>
              <a:t>; </a:t>
            </a:r>
          </a:p>
          <a:p>
            <a:pPr marL="0" indent="0">
              <a:buNone/>
            </a:pPr>
            <a:r>
              <a:rPr lang="en-US" sz="1200" dirty="0">
                <a:solidFill>
                  <a:prstClr val="black"/>
                </a:solidFill>
                <a:latin typeface="Consolas" panose="020B0609020204030204" pitchFamily="49" charset="0"/>
              </a:rPr>
              <a:t>    </a:t>
            </a:r>
            <a:r>
              <a:rPr lang="en-US" sz="1200" dirty="0">
                <a:solidFill>
                  <a:srgbClr val="0000FF"/>
                </a:solidFill>
                <a:latin typeface="Consolas" panose="020B0609020204030204" pitchFamily="49" charset="0"/>
              </a:rPr>
              <a:t>double</a:t>
            </a:r>
            <a:r>
              <a:rPr lang="en-US" sz="1200" dirty="0">
                <a:solidFill>
                  <a:prstClr val="black"/>
                </a:solidFill>
                <a:latin typeface="Consolas" panose="020B0609020204030204" pitchFamily="49" charset="0"/>
              </a:rPr>
              <a:t> f; </a:t>
            </a:r>
            <a:r>
              <a:rPr lang="en-US" sz="1200" dirty="0">
                <a:solidFill>
                  <a:srgbClr val="008000"/>
                </a:solidFill>
                <a:latin typeface="Consolas" panose="020B0609020204030204" pitchFamily="49" charset="0"/>
              </a:rPr>
              <a:t>//observed f is not initialized</a:t>
            </a:r>
            <a:endParaRPr lang="en-US" sz="1200" dirty="0">
              <a:solidFill>
                <a:prstClr val="black"/>
              </a:solidFill>
              <a:latin typeface="Consolas" panose="020B0609020204030204" pitchFamily="49" charset="0"/>
            </a:endParaRPr>
          </a:p>
          <a:p>
            <a:pPr marL="0" indent="0">
              <a:buNone/>
            </a:pPr>
            <a:r>
              <a:rPr lang="en-IN" sz="1200" dirty="0">
                <a:solidFill>
                  <a:prstClr val="black"/>
                </a:solidFill>
                <a:latin typeface="Consolas" panose="020B0609020204030204" pitchFamily="49" charset="0"/>
              </a:rPr>
              <a:t> </a:t>
            </a:r>
            <a:r>
              <a:rPr lang="en-US" sz="1200" dirty="0">
                <a:solidFill>
                  <a:prstClr val="black"/>
                </a:solidFill>
                <a:latin typeface="Consolas" panose="020B0609020204030204" pitchFamily="49" charset="0"/>
              </a:rPr>
              <a:t>    </a:t>
            </a:r>
            <a:r>
              <a:rPr lang="en-US" sz="1200" dirty="0" err="1">
                <a:solidFill>
                  <a:prstClr val="black"/>
                </a:solidFill>
                <a:latin typeface="Consolas" panose="020B0609020204030204" pitchFamily="49" charset="0"/>
              </a:rPr>
              <a:t>i</a:t>
            </a:r>
            <a:r>
              <a:rPr lang="en-US" sz="1200" dirty="0">
                <a:solidFill>
                  <a:prstClr val="black"/>
                </a:solidFill>
                <a:latin typeface="Consolas" panose="020B0609020204030204" pitchFamily="49" charset="0"/>
              </a:rPr>
              <a:t> = </a:t>
            </a:r>
            <a:r>
              <a:rPr lang="en-US" sz="1200" dirty="0" err="1">
                <a:solidFill>
                  <a:prstClr val="black"/>
                </a:solidFill>
                <a:latin typeface="Consolas" panose="020B0609020204030204" pitchFamily="49" charset="0"/>
              </a:rPr>
              <a:t>ob.parts</a:t>
            </a:r>
            <a:r>
              <a:rPr lang="en-US" sz="1200" dirty="0">
                <a:solidFill>
                  <a:prstClr val="black"/>
                </a:solidFill>
                <a:latin typeface="Consolas" panose="020B0609020204030204" pitchFamily="49" charset="0"/>
              </a:rPr>
              <a:t>(10.125, </a:t>
            </a:r>
            <a:r>
              <a:rPr lang="en-US" sz="1200" dirty="0">
                <a:solidFill>
                  <a:srgbClr val="0000FF"/>
                </a:solidFill>
                <a:latin typeface="Consolas" panose="020B0609020204030204" pitchFamily="49" charset="0"/>
              </a:rPr>
              <a:t>out</a:t>
            </a:r>
            <a:r>
              <a:rPr lang="en-US" sz="1200" dirty="0">
                <a:solidFill>
                  <a:prstClr val="black"/>
                </a:solidFill>
                <a:latin typeface="Consolas" panose="020B0609020204030204" pitchFamily="49" charset="0"/>
              </a:rPr>
              <a:t> f); </a:t>
            </a:r>
          </a:p>
          <a:p>
            <a:pPr marL="0" indent="0">
              <a:buNone/>
            </a:pPr>
            <a:r>
              <a:rPr lang="en-IN" sz="1200" dirty="0">
                <a:solidFill>
                  <a:prstClr val="black"/>
                </a:solidFill>
                <a:latin typeface="Consolas" panose="020B0609020204030204" pitchFamily="49" charset="0"/>
              </a:rPr>
              <a:t>     </a:t>
            </a:r>
            <a:r>
              <a:rPr lang="en-IN" sz="1200" dirty="0" err="1">
                <a:solidFill>
                  <a:srgbClr val="2B91AF"/>
                </a:solidFill>
                <a:latin typeface="Consolas" panose="020B0609020204030204" pitchFamily="49" charset="0"/>
              </a:rPr>
              <a:t>Console</a:t>
            </a:r>
            <a:r>
              <a:rPr lang="en-IN" sz="1200" dirty="0" err="1">
                <a:solidFill>
                  <a:prstClr val="black"/>
                </a:solidFill>
                <a:latin typeface="Consolas" panose="020B0609020204030204" pitchFamily="49" charset="0"/>
              </a:rPr>
              <a:t>.WriteLine</a:t>
            </a:r>
            <a:r>
              <a:rPr lang="en-IN" sz="1200" dirty="0">
                <a:solidFill>
                  <a:prstClr val="black"/>
                </a:solidFill>
                <a:latin typeface="Consolas" panose="020B0609020204030204" pitchFamily="49" charset="0"/>
              </a:rPr>
              <a:t>(</a:t>
            </a:r>
            <a:r>
              <a:rPr lang="en-IN" sz="1200" dirty="0">
                <a:solidFill>
                  <a:srgbClr val="A31515"/>
                </a:solidFill>
                <a:latin typeface="Consolas" panose="020B0609020204030204" pitchFamily="49" charset="0"/>
              </a:rPr>
              <a:t>"Integer portion is "</a:t>
            </a:r>
            <a:r>
              <a:rPr lang="en-IN" sz="1200" dirty="0">
                <a:solidFill>
                  <a:prstClr val="black"/>
                </a:solidFill>
                <a:latin typeface="Consolas" panose="020B0609020204030204" pitchFamily="49" charset="0"/>
              </a:rPr>
              <a:t> + </a:t>
            </a:r>
            <a:r>
              <a:rPr lang="en-IN" sz="1200" dirty="0" err="1">
                <a:solidFill>
                  <a:prstClr val="black"/>
                </a:solidFill>
                <a:latin typeface="Consolas" panose="020B0609020204030204" pitchFamily="49" charset="0"/>
              </a:rPr>
              <a:t>i</a:t>
            </a:r>
            <a:r>
              <a:rPr lang="en-IN" sz="1200" dirty="0">
                <a:solidFill>
                  <a:prstClr val="black"/>
                </a:solidFill>
                <a:latin typeface="Consolas" panose="020B0609020204030204" pitchFamily="49" charset="0"/>
              </a:rPr>
              <a:t>); </a:t>
            </a:r>
          </a:p>
          <a:p>
            <a:pPr marL="0" indent="0">
              <a:buNone/>
            </a:pPr>
            <a:r>
              <a:rPr lang="en-IN" sz="1200" dirty="0">
                <a:solidFill>
                  <a:prstClr val="black"/>
                </a:solidFill>
                <a:latin typeface="Consolas" panose="020B0609020204030204" pitchFamily="49" charset="0"/>
              </a:rPr>
              <a:t>    </a:t>
            </a:r>
            <a:r>
              <a:rPr lang="en-IN" sz="1200" dirty="0" err="1">
                <a:solidFill>
                  <a:srgbClr val="2B91AF"/>
                </a:solidFill>
                <a:latin typeface="Consolas" panose="020B0609020204030204" pitchFamily="49" charset="0"/>
              </a:rPr>
              <a:t>Console</a:t>
            </a:r>
            <a:r>
              <a:rPr lang="en-IN" sz="1200" dirty="0" err="1">
                <a:solidFill>
                  <a:prstClr val="black"/>
                </a:solidFill>
                <a:latin typeface="Consolas" panose="020B0609020204030204" pitchFamily="49" charset="0"/>
              </a:rPr>
              <a:t>.WriteLine</a:t>
            </a:r>
            <a:r>
              <a:rPr lang="en-IN" sz="1200" dirty="0">
                <a:solidFill>
                  <a:prstClr val="black"/>
                </a:solidFill>
                <a:latin typeface="Consolas" panose="020B0609020204030204" pitchFamily="49" charset="0"/>
              </a:rPr>
              <a:t>(</a:t>
            </a:r>
            <a:r>
              <a:rPr lang="en-IN" sz="1200" dirty="0">
                <a:solidFill>
                  <a:srgbClr val="A31515"/>
                </a:solidFill>
                <a:latin typeface="Consolas" panose="020B0609020204030204" pitchFamily="49" charset="0"/>
              </a:rPr>
              <a:t>"Fractional part is "</a:t>
            </a:r>
            <a:r>
              <a:rPr lang="en-IN" sz="1200" dirty="0">
                <a:solidFill>
                  <a:prstClr val="black"/>
                </a:solidFill>
                <a:latin typeface="Consolas" panose="020B0609020204030204" pitchFamily="49" charset="0"/>
              </a:rPr>
              <a:t> + f); </a:t>
            </a:r>
          </a:p>
          <a:p>
            <a:pPr marL="0" indent="0">
              <a:buNone/>
            </a:pPr>
            <a:r>
              <a:rPr lang="en-IN" sz="1200" dirty="0">
                <a:solidFill>
                  <a:prstClr val="black"/>
                </a:solidFill>
                <a:latin typeface="Consolas" panose="020B0609020204030204" pitchFamily="49" charset="0"/>
              </a:rPr>
              <a:t>  } </a:t>
            </a:r>
          </a:p>
          <a:p>
            <a:pPr marL="0" indent="0">
              <a:buNone/>
            </a:pPr>
            <a:r>
              <a:rPr lang="en-IN" sz="1200" dirty="0">
                <a:solidFill>
                  <a:prstClr val="black"/>
                </a:solidFill>
                <a:latin typeface="Consolas" panose="020B0609020204030204" pitchFamily="49" charset="0"/>
              </a:rPr>
              <a:t>}</a:t>
            </a:r>
          </a:p>
          <a:p>
            <a:pPr marL="0" indent="0">
              <a:buNone/>
            </a:pPr>
            <a:endParaRPr lang="en-IN" sz="1200" dirty="0">
              <a:solidFill>
                <a:prstClr val="black"/>
              </a:solidFill>
              <a:latin typeface="Consolas" panose="020B0609020204030204" pitchFamily="49" charset="0"/>
            </a:endParaRPr>
          </a:p>
          <a:p>
            <a:pPr marL="0" indent="0">
              <a:buNone/>
            </a:pPr>
            <a:endParaRPr lang="en-IN" sz="1200" dirty="0"/>
          </a:p>
        </p:txBody>
      </p:sp>
      <p:sp>
        <p:nvSpPr>
          <p:cNvPr id="4" name="TextBox 3">
            <a:extLst>
              <a:ext uri="{FF2B5EF4-FFF2-40B4-BE49-F238E27FC236}">
                <a16:creationId xmlns:a16="http://schemas.microsoft.com/office/drawing/2014/main" id="{A5A05A28-E0BA-4229-9184-5A6D36415F18}"/>
              </a:ext>
            </a:extLst>
          </p:cNvPr>
          <p:cNvSpPr txBox="1"/>
          <p:nvPr/>
        </p:nvSpPr>
        <p:spPr>
          <a:xfrm>
            <a:off x="91441" y="812800"/>
            <a:ext cx="5171440" cy="5355312"/>
          </a:xfrm>
          <a:prstGeom prst="rect">
            <a:avLst/>
          </a:prstGeom>
          <a:noFill/>
        </p:spPr>
        <p:txBody>
          <a:bodyPr wrap="square" rtlCol="0">
            <a:spAutoFit/>
          </a:bodyPr>
          <a:lstStyle/>
          <a:p>
            <a:r>
              <a:rPr lang="en-IN" dirty="0"/>
              <a:t>Out is also pass data by reference</a:t>
            </a:r>
          </a:p>
          <a:p>
            <a:endParaRPr lang="en-US" dirty="0"/>
          </a:p>
          <a:p>
            <a:r>
              <a:rPr lang="en-US" b="1" dirty="0"/>
              <a:t>the out parameter.</a:t>
            </a:r>
          </a:p>
          <a:p>
            <a:r>
              <a:rPr lang="en-US" dirty="0"/>
              <a:t>An out parameter is similar to a ref parameter with </a:t>
            </a:r>
          </a:p>
          <a:p>
            <a:r>
              <a:rPr lang="en-US" dirty="0"/>
              <a:t>this one exception: It can only be used to pass a value out of a method.</a:t>
            </a:r>
          </a:p>
          <a:p>
            <a:endParaRPr lang="en-US" dirty="0"/>
          </a:p>
          <a:p>
            <a:r>
              <a:rPr lang="en-US" dirty="0"/>
              <a:t> It is not necessary (or useful) to give the variable used as an out parameter an initial value prior to calling the method. </a:t>
            </a:r>
          </a:p>
          <a:p>
            <a:endParaRPr lang="en-US" dirty="0"/>
          </a:p>
          <a:p>
            <a:r>
              <a:rPr lang="en-US" dirty="0"/>
              <a:t>The method will give the variable a value. Furthermore, inside the method, an out parameter is considered unassigned; that is, it is assumed to have no initial value.</a:t>
            </a:r>
          </a:p>
          <a:p>
            <a:endParaRPr lang="en-US" dirty="0"/>
          </a:p>
          <a:p>
            <a:r>
              <a:rPr lang="en-US" dirty="0"/>
              <a:t> This implies that the </a:t>
            </a:r>
            <a:r>
              <a:rPr lang="en-US" b="1" dirty="0"/>
              <a:t>method must assign the</a:t>
            </a:r>
          </a:p>
          <a:p>
            <a:r>
              <a:rPr lang="en-US" b="1" dirty="0"/>
              <a:t>parameter a value prior to the method’s termination</a:t>
            </a:r>
            <a:r>
              <a:rPr lang="en-US" dirty="0"/>
              <a:t>. Thus, after the call to the method, an</a:t>
            </a:r>
          </a:p>
          <a:p>
            <a:r>
              <a:rPr lang="en-US" dirty="0"/>
              <a:t>out parameter will contain a value.</a:t>
            </a:r>
            <a:endParaRPr lang="en-IN" dirty="0"/>
          </a:p>
        </p:txBody>
      </p:sp>
      <p:sp>
        <p:nvSpPr>
          <p:cNvPr id="5" name="Rectangle 4">
            <a:extLst>
              <a:ext uri="{FF2B5EF4-FFF2-40B4-BE49-F238E27FC236}">
                <a16:creationId xmlns:a16="http://schemas.microsoft.com/office/drawing/2014/main" id="{0A91D173-CAE7-4AD1-B791-927747899DCE}"/>
              </a:ext>
            </a:extLst>
          </p:cNvPr>
          <p:cNvSpPr/>
          <p:nvPr/>
        </p:nvSpPr>
        <p:spPr>
          <a:xfrm>
            <a:off x="9538520" y="4249681"/>
            <a:ext cx="727587" cy="5506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0.125</a:t>
            </a:r>
          </a:p>
        </p:txBody>
      </p:sp>
      <p:sp>
        <p:nvSpPr>
          <p:cNvPr id="6" name="TextBox 5">
            <a:extLst>
              <a:ext uri="{FF2B5EF4-FFF2-40B4-BE49-F238E27FC236}">
                <a16:creationId xmlns:a16="http://schemas.microsoft.com/office/drawing/2014/main" id="{8C1A3F8E-4A7A-4085-A8E8-7EE6F7AFBE16}"/>
              </a:ext>
            </a:extLst>
          </p:cNvPr>
          <p:cNvSpPr txBox="1"/>
          <p:nvPr/>
        </p:nvSpPr>
        <p:spPr>
          <a:xfrm>
            <a:off x="9114503" y="4198374"/>
            <a:ext cx="432620" cy="369332"/>
          </a:xfrm>
          <a:prstGeom prst="rect">
            <a:avLst/>
          </a:prstGeom>
          <a:noFill/>
        </p:spPr>
        <p:txBody>
          <a:bodyPr wrap="square" rtlCol="0">
            <a:spAutoFit/>
          </a:bodyPr>
          <a:lstStyle/>
          <a:p>
            <a:r>
              <a:rPr lang="en-IN" dirty="0"/>
              <a:t>f</a:t>
            </a:r>
          </a:p>
        </p:txBody>
      </p:sp>
      <p:sp>
        <p:nvSpPr>
          <p:cNvPr id="7" name="TextBox 6">
            <a:extLst>
              <a:ext uri="{FF2B5EF4-FFF2-40B4-BE49-F238E27FC236}">
                <a16:creationId xmlns:a16="http://schemas.microsoft.com/office/drawing/2014/main" id="{49D97F43-6081-47C5-AFEC-F5D17C5BEEF4}"/>
              </a:ext>
            </a:extLst>
          </p:cNvPr>
          <p:cNvSpPr txBox="1"/>
          <p:nvPr/>
        </p:nvSpPr>
        <p:spPr>
          <a:xfrm>
            <a:off x="8991601" y="4524985"/>
            <a:ext cx="555522" cy="369332"/>
          </a:xfrm>
          <a:prstGeom prst="rect">
            <a:avLst/>
          </a:prstGeom>
          <a:noFill/>
        </p:spPr>
        <p:txBody>
          <a:bodyPr wrap="square" rtlCol="0">
            <a:spAutoFit/>
          </a:bodyPr>
          <a:lstStyle/>
          <a:p>
            <a:r>
              <a:rPr lang="en-IN" dirty="0"/>
              <a:t>frac</a:t>
            </a:r>
          </a:p>
        </p:txBody>
      </p:sp>
      <p:sp>
        <p:nvSpPr>
          <p:cNvPr id="8" name="Rectangle 7">
            <a:extLst>
              <a:ext uri="{FF2B5EF4-FFF2-40B4-BE49-F238E27FC236}">
                <a16:creationId xmlns:a16="http://schemas.microsoft.com/office/drawing/2014/main" id="{5F555B6D-B8D3-5033-C48F-6B9DCC01CEC4}"/>
              </a:ext>
            </a:extLst>
          </p:cNvPr>
          <p:cNvSpPr/>
          <p:nvPr/>
        </p:nvSpPr>
        <p:spPr>
          <a:xfrm>
            <a:off x="9660835" y="1510748"/>
            <a:ext cx="1003852" cy="3876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10.125</a:t>
            </a:r>
            <a:endParaRPr lang="en-IN" dirty="0"/>
          </a:p>
        </p:txBody>
      </p:sp>
      <p:sp>
        <p:nvSpPr>
          <p:cNvPr id="9" name="TextBox 8">
            <a:extLst>
              <a:ext uri="{FF2B5EF4-FFF2-40B4-BE49-F238E27FC236}">
                <a16:creationId xmlns:a16="http://schemas.microsoft.com/office/drawing/2014/main" id="{C0A13C4F-C359-6AB3-36B0-4829FAEC779C}"/>
              </a:ext>
            </a:extLst>
          </p:cNvPr>
          <p:cNvSpPr txBox="1"/>
          <p:nvPr/>
        </p:nvSpPr>
        <p:spPr>
          <a:xfrm>
            <a:off x="9760226" y="1133061"/>
            <a:ext cx="505881" cy="369331"/>
          </a:xfrm>
          <a:prstGeom prst="rect">
            <a:avLst/>
          </a:prstGeom>
          <a:noFill/>
        </p:spPr>
        <p:txBody>
          <a:bodyPr wrap="square" rtlCol="0">
            <a:spAutoFit/>
          </a:bodyPr>
          <a:lstStyle/>
          <a:p>
            <a:r>
              <a:rPr lang="en-US" dirty="0"/>
              <a:t>n</a:t>
            </a:r>
            <a:endParaRPr lang="en-IN" dirty="0"/>
          </a:p>
        </p:txBody>
      </p:sp>
      <p:sp>
        <p:nvSpPr>
          <p:cNvPr id="10" name="Rectangle 9">
            <a:extLst>
              <a:ext uri="{FF2B5EF4-FFF2-40B4-BE49-F238E27FC236}">
                <a16:creationId xmlns:a16="http://schemas.microsoft.com/office/drawing/2014/main" id="{2CCF799F-FCDC-0FB7-A279-C8D7000645EB}"/>
              </a:ext>
            </a:extLst>
          </p:cNvPr>
          <p:cNvSpPr/>
          <p:nvPr/>
        </p:nvSpPr>
        <p:spPr>
          <a:xfrm>
            <a:off x="10982739" y="1510748"/>
            <a:ext cx="715618" cy="4671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a:t>
            </a:r>
            <a:endParaRPr lang="en-IN" dirty="0"/>
          </a:p>
        </p:txBody>
      </p:sp>
      <p:sp>
        <p:nvSpPr>
          <p:cNvPr id="11" name="TextBox 10">
            <a:extLst>
              <a:ext uri="{FF2B5EF4-FFF2-40B4-BE49-F238E27FC236}">
                <a16:creationId xmlns:a16="http://schemas.microsoft.com/office/drawing/2014/main" id="{8551CE7D-E78C-EB8D-BD07-95DA5841DA13}"/>
              </a:ext>
            </a:extLst>
          </p:cNvPr>
          <p:cNvSpPr txBox="1"/>
          <p:nvPr/>
        </p:nvSpPr>
        <p:spPr>
          <a:xfrm>
            <a:off x="11103023" y="948395"/>
            <a:ext cx="715618" cy="369332"/>
          </a:xfrm>
          <a:prstGeom prst="rect">
            <a:avLst/>
          </a:prstGeom>
          <a:noFill/>
        </p:spPr>
        <p:txBody>
          <a:bodyPr wrap="square" rtlCol="0">
            <a:spAutoFit/>
          </a:bodyPr>
          <a:lstStyle/>
          <a:p>
            <a:r>
              <a:rPr lang="en-US" dirty="0"/>
              <a:t>whole</a:t>
            </a:r>
            <a:endParaRPr lang="en-IN" dirty="0"/>
          </a:p>
        </p:txBody>
      </p:sp>
      <p:cxnSp>
        <p:nvCxnSpPr>
          <p:cNvPr id="13" name="Straight Connector 12">
            <a:extLst>
              <a:ext uri="{FF2B5EF4-FFF2-40B4-BE49-F238E27FC236}">
                <a16:creationId xmlns:a16="http://schemas.microsoft.com/office/drawing/2014/main" id="{E855F5D6-5A11-355C-69FD-D83A4CA16943}"/>
              </a:ext>
            </a:extLst>
          </p:cNvPr>
          <p:cNvCxnSpPr/>
          <p:nvPr/>
        </p:nvCxnSpPr>
        <p:spPr>
          <a:xfrm flipV="1">
            <a:off x="6248399" y="5068957"/>
            <a:ext cx="1390706" cy="278295"/>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818F1BB-4DC1-F0C3-71BB-F4BDF46C88D8}"/>
              </a:ext>
            </a:extLst>
          </p:cNvPr>
          <p:cNvSpPr/>
          <p:nvPr/>
        </p:nvSpPr>
        <p:spPr>
          <a:xfrm>
            <a:off x="10535478" y="4979504"/>
            <a:ext cx="567545" cy="4671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a:t>
            </a:r>
            <a:endParaRPr lang="en-IN" dirty="0"/>
          </a:p>
        </p:txBody>
      </p:sp>
      <p:sp>
        <p:nvSpPr>
          <p:cNvPr id="15" name="TextBox 14">
            <a:extLst>
              <a:ext uri="{FF2B5EF4-FFF2-40B4-BE49-F238E27FC236}">
                <a16:creationId xmlns:a16="http://schemas.microsoft.com/office/drawing/2014/main" id="{AFDB9775-B368-358E-0787-579AAD885238}"/>
              </a:ext>
            </a:extLst>
          </p:cNvPr>
          <p:cNvSpPr txBox="1"/>
          <p:nvPr/>
        </p:nvSpPr>
        <p:spPr>
          <a:xfrm>
            <a:off x="10690124" y="4564453"/>
            <a:ext cx="387626" cy="369332"/>
          </a:xfrm>
          <a:prstGeom prst="rect">
            <a:avLst/>
          </a:prstGeom>
          <a:noFill/>
        </p:spPr>
        <p:txBody>
          <a:bodyPr wrap="square" rtlCol="0">
            <a:spAutoFit/>
          </a:bodyPr>
          <a:lstStyle/>
          <a:p>
            <a:r>
              <a:rPr lang="en-US" dirty="0" err="1"/>
              <a:t>i</a:t>
            </a:r>
            <a:endParaRPr lang="en-IN" dirty="0"/>
          </a:p>
        </p:txBody>
      </p:sp>
    </p:spTree>
    <p:extLst>
      <p:ext uri="{BB962C8B-B14F-4D97-AF65-F5344CB8AC3E}">
        <p14:creationId xmlns:p14="http://schemas.microsoft.com/office/powerpoint/2010/main" val="2350913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810E13-B632-4AEF-A0BA-D311F519564F}"/>
              </a:ext>
            </a:extLst>
          </p:cNvPr>
          <p:cNvSpPr>
            <a:spLocks noGrp="1"/>
          </p:cNvSpPr>
          <p:nvPr>
            <p:ph idx="1"/>
          </p:nvPr>
        </p:nvSpPr>
        <p:spPr>
          <a:xfrm>
            <a:off x="462116" y="589935"/>
            <a:ext cx="10891684" cy="5587028"/>
          </a:xfrm>
        </p:spPr>
        <p:txBody>
          <a:bodyPr/>
          <a:lstStyle/>
          <a:p>
            <a:pPr marL="0" indent="0">
              <a:buNone/>
            </a:pPr>
            <a:r>
              <a:rPr lang="en-IN" dirty="0"/>
              <a:t>TASK</a:t>
            </a:r>
          </a:p>
          <a:p>
            <a:r>
              <a:rPr lang="en-IN" dirty="0"/>
              <a:t>Write a method which will return sum of digit and using out variable let it send count of digit also.</a:t>
            </a:r>
          </a:p>
          <a:p>
            <a:r>
              <a:rPr lang="en-IN" dirty="0" err="1"/>
              <a:t>Eg.</a:t>
            </a:r>
            <a:r>
              <a:rPr lang="en-IN" dirty="0"/>
              <a:t> input 123  return(6) in out variable (3)</a:t>
            </a:r>
          </a:p>
        </p:txBody>
      </p:sp>
    </p:spTree>
    <p:extLst>
      <p:ext uri="{BB962C8B-B14F-4D97-AF65-F5344CB8AC3E}">
        <p14:creationId xmlns:p14="http://schemas.microsoft.com/office/powerpoint/2010/main" val="4054981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175CBC7-7E13-1951-8BED-9CE96D4B8EAE}"/>
              </a:ext>
            </a:extLst>
          </p:cNvPr>
          <p:cNvSpPr>
            <a:spLocks noChangeArrowheads="1"/>
          </p:cNvSpPr>
          <p:nvPr/>
        </p:nvSpPr>
        <p:spPr bwMode="auto">
          <a:xfrm>
            <a:off x="646043" y="862066"/>
            <a:ext cx="9829800" cy="123110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222222"/>
                </a:solidFill>
                <a:effectLst/>
                <a:latin typeface="museo-sans"/>
              </a:rPr>
              <a:t>The in keyword in 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4E4242"/>
                </a:solidFill>
                <a:effectLst/>
                <a:latin typeface="museo-sans"/>
              </a:rPr>
              <a:t>The </a:t>
            </a:r>
            <a:r>
              <a:rPr kumimoji="0" lang="en-US" altLang="en-US" b="0" i="0" u="none" strike="noStrike" cap="none" normalizeH="0" baseline="0" dirty="0">
                <a:ln>
                  <a:noFill/>
                </a:ln>
                <a:solidFill>
                  <a:srgbClr val="7C1806"/>
                </a:solidFill>
                <a:effectLst/>
                <a:latin typeface="Courier New" panose="02070309020205020404" pitchFamily="49" charset="0"/>
                <a:cs typeface="Courier New" panose="02070309020205020404" pitchFamily="49" charset="0"/>
              </a:rPr>
              <a:t>in</a:t>
            </a:r>
            <a:r>
              <a:rPr kumimoji="0" lang="en-US" altLang="en-US" b="0" i="0" u="none" strike="noStrike" cap="none" normalizeH="0" baseline="0" dirty="0">
                <a:ln>
                  <a:noFill/>
                </a:ln>
                <a:solidFill>
                  <a:srgbClr val="4E4242"/>
                </a:solidFill>
                <a:effectLst/>
                <a:latin typeface="museo-sans"/>
              </a:rPr>
              <a:t> </a:t>
            </a:r>
            <a:r>
              <a:rPr kumimoji="0" lang="en-US" altLang="en-US" sz="1800" b="0" i="0" u="none" strike="noStrike" cap="none" normalizeH="0" baseline="0" dirty="0">
                <a:ln>
                  <a:noFill/>
                </a:ln>
                <a:solidFill>
                  <a:srgbClr val="4E4242"/>
                </a:solidFill>
                <a:effectLst/>
                <a:latin typeface="museo-sans"/>
              </a:rPr>
              <a:t>keyword in C# is used to specify that a method parameter is passed by reference, but the called method cannot modify the argument. This is useful for parameters that are not modified by the called method, but must be passed by reference in order for the calling method to access the results.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E2A541AD-06BB-200A-E708-96A638706E5F}"/>
              </a:ext>
            </a:extLst>
          </p:cNvPr>
          <p:cNvPicPr>
            <a:picLocks noChangeAspect="1"/>
          </p:cNvPicPr>
          <p:nvPr/>
        </p:nvPicPr>
        <p:blipFill>
          <a:blip r:embed="rId2"/>
          <a:stretch>
            <a:fillRect/>
          </a:stretch>
        </p:blipFill>
        <p:spPr>
          <a:xfrm>
            <a:off x="977349" y="2859143"/>
            <a:ext cx="5334000" cy="2458085"/>
          </a:xfrm>
          <a:prstGeom prst="rect">
            <a:avLst/>
          </a:prstGeom>
        </p:spPr>
      </p:pic>
    </p:spTree>
    <p:extLst>
      <p:ext uri="{BB962C8B-B14F-4D97-AF65-F5344CB8AC3E}">
        <p14:creationId xmlns:p14="http://schemas.microsoft.com/office/powerpoint/2010/main" val="2285317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19E485-16EC-8D3E-63E0-B5D0F8E7C922}"/>
              </a:ext>
            </a:extLst>
          </p:cNvPr>
          <p:cNvSpPr txBox="1"/>
          <p:nvPr/>
        </p:nvSpPr>
        <p:spPr>
          <a:xfrm>
            <a:off x="285750" y="906262"/>
            <a:ext cx="6137412" cy="1631216"/>
          </a:xfrm>
          <a:prstGeom prst="rect">
            <a:avLst/>
          </a:prstGeom>
          <a:noFill/>
        </p:spPr>
        <p:txBody>
          <a:bodyPr wrap="square">
            <a:spAutoFit/>
          </a:bodyPr>
          <a:lstStyle/>
          <a:p>
            <a:r>
              <a:rPr lang="en-US" sz="2000" dirty="0"/>
              <a:t>The in modifier is most often used for performance reasons and was introduced in C# 7.2. The motivation of in is to be used with a struct to improve performance by declaring that the value will not be modified. When using with reference types, it only prevents you from assigning a new reference</a:t>
            </a:r>
            <a:r>
              <a:rPr lang="en-US" dirty="0"/>
              <a:t>.</a:t>
            </a:r>
            <a:endParaRPr lang="en-IN" dirty="0"/>
          </a:p>
        </p:txBody>
      </p:sp>
      <p:sp>
        <p:nvSpPr>
          <p:cNvPr id="7" name="TextBox 6">
            <a:extLst>
              <a:ext uri="{FF2B5EF4-FFF2-40B4-BE49-F238E27FC236}">
                <a16:creationId xmlns:a16="http://schemas.microsoft.com/office/drawing/2014/main" id="{15BD6023-F625-A285-78E8-F1A76640D76F}"/>
              </a:ext>
            </a:extLst>
          </p:cNvPr>
          <p:cNvSpPr txBox="1"/>
          <p:nvPr/>
        </p:nvSpPr>
        <p:spPr>
          <a:xfrm>
            <a:off x="6308863" y="-291398"/>
            <a:ext cx="6137412" cy="7848302"/>
          </a:xfrm>
          <a:prstGeom prst="rect">
            <a:avLst/>
          </a:prstGeom>
          <a:noFill/>
        </p:spPr>
        <p:txBody>
          <a:bodyPr wrap="square">
            <a:spAutoFit/>
          </a:bodyPr>
          <a:lstStyle/>
          <a:p>
            <a:endParaRPr lang="en-IN" sz="1800" dirty="0">
              <a:solidFill>
                <a:srgbClr val="000000"/>
              </a:solidFill>
              <a:latin typeface="Cascadia Mono" panose="020B0609020000020004" pitchFamily="49" charset="0"/>
            </a:endParaRPr>
          </a:p>
          <a:p>
            <a:r>
              <a:rPr lang="en-IN" sz="1800" dirty="0">
                <a:solidFill>
                  <a:srgbClr val="0000FF"/>
                </a:solidFill>
                <a:latin typeface="Cascadia Mono" panose="020B0609020000020004" pitchFamily="49" charset="0"/>
              </a:rPr>
              <a:t>class</a:t>
            </a:r>
            <a:r>
              <a:rPr lang="en-IN" sz="1800" dirty="0">
                <a:solidFill>
                  <a:srgbClr val="000000"/>
                </a:solidFill>
                <a:latin typeface="Cascadia Mono" panose="020B0609020000020004" pitchFamily="49" charset="0"/>
              </a:rPr>
              <a:t> </a:t>
            </a:r>
            <a:r>
              <a:rPr lang="en-IN" sz="1800" dirty="0" err="1">
                <a:solidFill>
                  <a:srgbClr val="2B91AF"/>
                </a:solidFill>
                <a:latin typeface="Cascadia Mono" panose="020B0609020000020004" pitchFamily="49" charset="0"/>
              </a:rPr>
              <a:t>ReferenceTypeExample</a:t>
            </a:r>
            <a:endParaRPr lang="en-IN"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a:t>
            </a:r>
          </a:p>
          <a:p>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static</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void</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Enroll</a:t>
            </a:r>
            <a:r>
              <a:rPr lang="en-IN" sz="1800" dirty="0">
                <a:solidFill>
                  <a:srgbClr val="000000"/>
                </a:solidFill>
                <a:latin typeface="Cascadia Mono" panose="020B0609020000020004" pitchFamily="49" charset="0"/>
              </a:rPr>
              <a:t>(</a:t>
            </a:r>
            <a:r>
              <a:rPr lang="en-IN" sz="1800" dirty="0">
                <a:solidFill>
                  <a:srgbClr val="0000FF"/>
                </a:solidFill>
                <a:latin typeface="Cascadia Mono" panose="020B0609020000020004" pitchFamily="49" charset="0"/>
              </a:rPr>
              <a:t>in</a:t>
            </a:r>
            <a:r>
              <a:rPr lang="en-IN" sz="1800" dirty="0">
                <a:solidFill>
                  <a:srgbClr val="000000"/>
                </a:solidFill>
                <a:latin typeface="Cascadia Mono" panose="020B0609020000020004" pitchFamily="49" charset="0"/>
              </a:rPr>
              <a:t> Student student)</a:t>
            </a:r>
          </a:p>
          <a:p>
            <a:r>
              <a:rPr lang="en-IN" sz="1800" dirty="0">
                <a:solidFill>
                  <a:srgbClr val="000000"/>
                </a:solidFill>
                <a:latin typeface="Cascadia Mono" panose="020B0609020000020004" pitchFamily="49" charset="0"/>
              </a:rPr>
              <a:t>    {</a:t>
            </a:r>
          </a:p>
          <a:p>
            <a:r>
              <a:rPr lang="en-US" sz="1800" dirty="0">
                <a:solidFill>
                  <a:srgbClr val="000000"/>
                </a:solidFill>
                <a:latin typeface="Cascadia Mono" panose="020B0609020000020004" pitchFamily="49" charset="0"/>
              </a:rPr>
              <a:t>        </a:t>
            </a:r>
            <a:r>
              <a:rPr lang="en-US" sz="1800" dirty="0">
                <a:solidFill>
                  <a:srgbClr val="008000"/>
                </a:solidFill>
                <a:latin typeface="Cascadia Mono" panose="020B0609020000020004" pitchFamily="49" charset="0"/>
              </a:rPr>
              <a:t>// With in assigning a new object would throw an error</a:t>
            </a:r>
            <a:endParaRPr lang="en-US"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        </a:t>
            </a:r>
            <a:r>
              <a:rPr lang="en-IN" sz="1800" dirty="0">
                <a:solidFill>
                  <a:srgbClr val="008000"/>
                </a:solidFill>
                <a:latin typeface="Cascadia Mono" panose="020B0609020000020004" pitchFamily="49" charset="0"/>
              </a:rPr>
              <a:t>// student = new Student();</a:t>
            </a:r>
            <a:endParaRPr lang="en-IN"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a:t>
            </a:r>
            <a:r>
              <a:rPr lang="en-US" sz="1800" dirty="0">
                <a:solidFill>
                  <a:srgbClr val="008000"/>
                </a:solidFill>
                <a:latin typeface="Cascadia Mono" panose="020B0609020000020004" pitchFamily="49" charset="0"/>
              </a:rPr>
              <a:t>// We can still do this with reference types though</a:t>
            </a:r>
            <a:endParaRPr lang="en-US"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student.Enrolled</a:t>
            </a:r>
            <a:r>
              <a:rPr lang="en-IN" sz="1800" dirty="0">
                <a:solidFill>
                  <a:srgbClr val="000000"/>
                </a:solidFill>
                <a:latin typeface="Cascadia Mono" panose="020B0609020000020004" pitchFamily="49" charset="0"/>
              </a:rPr>
              <a:t> = </a:t>
            </a:r>
            <a:r>
              <a:rPr lang="en-IN" sz="1800" dirty="0">
                <a:solidFill>
                  <a:srgbClr val="0000FF"/>
                </a:solidFill>
                <a:latin typeface="Cascadia Mono" panose="020B0609020000020004" pitchFamily="49" charset="0"/>
              </a:rPr>
              <a:t>true</a:t>
            </a:r>
            <a:r>
              <a:rPr lang="en-IN" sz="1800" dirty="0">
                <a:solidFill>
                  <a:srgbClr val="000000"/>
                </a:solidFill>
                <a:latin typeface="Cascadia Mono" panose="020B0609020000020004" pitchFamily="49" charset="0"/>
              </a:rPr>
              <a:t>;</a:t>
            </a:r>
          </a:p>
          <a:p>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static</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void</a:t>
            </a:r>
            <a:r>
              <a:rPr lang="en-IN" sz="1800" dirty="0">
                <a:solidFill>
                  <a:srgbClr val="000000"/>
                </a:solidFill>
                <a:latin typeface="Cascadia Mono" panose="020B0609020000020004" pitchFamily="49" charset="0"/>
              </a:rPr>
              <a:t> Main()</a:t>
            </a:r>
          </a:p>
          <a:p>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var</a:t>
            </a:r>
            <a:r>
              <a:rPr lang="en-IN" sz="1800" dirty="0">
                <a:solidFill>
                  <a:srgbClr val="000000"/>
                </a:solidFill>
                <a:latin typeface="Cascadia Mono" panose="020B0609020000020004" pitchFamily="49" charset="0"/>
              </a:rPr>
              <a:t> student = </a:t>
            </a:r>
            <a:r>
              <a:rPr lang="en-IN" sz="1800" dirty="0">
                <a:solidFill>
                  <a:srgbClr val="0000FF"/>
                </a:solidFill>
                <a:latin typeface="Cascadia Mono" panose="020B0609020000020004" pitchFamily="49" charset="0"/>
              </a:rPr>
              <a:t>new</a:t>
            </a:r>
            <a:r>
              <a:rPr lang="en-IN" sz="1800" dirty="0">
                <a:solidFill>
                  <a:srgbClr val="000000"/>
                </a:solidFill>
                <a:latin typeface="Cascadia Mono" panose="020B0609020000020004" pitchFamily="49" charset="0"/>
              </a:rPr>
              <a:t> Student</a:t>
            </a:r>
          </a:p>
          <a:p>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            Name = </a:t>
            </a:r>
            <a:r>
              <a:rPr lang="en-IN" sz="1800" dirty="0">
                <a:solidFill>
                  <a:srgbClr val="A31515"/>
                </a:solidFill>
                <a:latin typeface="Cascadia Mono" panose="020B0609020000020004" pitchFamily="49" charset="0"/>
              </a:rPr>
              <a:t>"Susan"</a:t>
            </a:r>
            <a:r>
              <a:rPr lang="en-IN" sz="1800" dirty="0">
                <a:solidFill>
                  <a:srgbClr val="000000"/>
                </a:solidFill>
                <a:latin typeface="Cascadia Mono" panose="020B0609020000020004" pitchFamily="49" charset="0"/>
              </a:rPr>
              <a:t>,</a:t>
            </a:r>
          </a:p>
          <a:p>
            <a:r>
              <a:rPr lang="en-IN" sz="1800" dirty="0">
                <a:solidFill>
                  <a:srgbClr val="000000"/>
                </a:solidFill>
                <a:latin typeface="Cascadia Mono" panose="020B0609020000020004" pitchFamily="49" charset="0"/>
              </a:rPr>
              <a:t>            Enrolled = </a:t>
            </a:r>
            <a:r>
              <a:rPr lang="en-IN" sz="1800" dirty="0">
                <a:solidFill>
                  <a:srgbClr val="0000FF"/>
                </a:solidFill>
                <a:latin typeface="Cascadia Mono" panose="020B0609020000020004" pitchFamily="49" charset="0"/>
              </a:rPr>
              <a:t>false</a:t>
            </a:r>
            <a:endParaRPr lang="en-IN"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Enroll</a:t>
            </a:r>
            <a:r>
              <a:rPr lang="en-IN" sz="1800" dirty="0">
                <a:solidFill>
                  <a:srgbClr val="000000"/>
                </a:solidFill>
                <a:latin typeface="Cascadia Mono" panose="020B0609020000020004" pitchFamily="49" charset="0"/>
              </a:rPr>
              <a:t>(student);</a:t>
            </a:r>
          </a:p>
          <a:p>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a:t>
            </a:r>
          </a:p>
          <a:p>
            <a:r>
              <a:rPr lang="en-IN" sz="1800" dirty="0">
                <a:solidFill>
                  <a:srgbClr val="0000FF"/>
                </a:solidFill>
                <a:latin typeface="Cascadia Mono" panose="020B0609020000020004" pitchFamily="49" charset="0"/>
              </a:rPr>
              <a:t>public</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class</a:t>
            </a:r>
            <a:r>
              <a:rPr lang="en-IN" sz="1800" dirty="0">
                <a:solidFill>
                  <a:srgbClr val="000000"/>
                </a:solidFill>
                <a:latin typeface="Cascadia Mono" panose="020B0609020000020004" pitchFamily="49" charset="0"/>
              </a:rPr>
              <a:t> </a:t>
            </a:r>
            <a:r>
              <a:rPr lang="en-IN" sz="1800" dirty="0">
                <a:solidFill>
                  <a:srgbClr val="2B91AF"/>
                </a:solidFill>
                <a:latin typeface="Cascadia Mono" panose="020B0609020000020004" pitchFamily="49" charset="0"/>
              </a:rPr>
              <a:t>Student</a:t>
            </a:r>
            <a:endParaRPr lang="en-IN"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Name { </a:t>
            </a:r>
            <a:r>
              <a:rPr lang="en-US" sz="1800" dirty="0">
                <a:solidFill>
                  <a:srgbClr val="0000FF"/>
                </a:solidFill>
                <a:latin typeface="Cascadia Mono" panose="020B0609020000020004" pitchFamily="49" charset="0"/>
              </a:rPr>
              <a:t>get</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set</a:t>
            </a:r>
            <a:r>
              <a:rPr lang="en-US" sz="1800" dirty="0">
                <a:solidFill>
                  <a:srgbClr val="000000"/>
                </a:solidFill>
                <a:latin typeface="Cascadia Mono" panose="020B0609020000020004" pitchFamily="49" charset="0"/>
              </a:rPr>
              <a:t>; }</a:t>
            </a: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bool</a:t>
            </a:r>
            <a:r>
              <a:rPr lang="en-US" sz="1800" dirty="0">
                <a:solidFill>
                  <a:srgbClr val="000000"/>
                </a:solidFill>
                <a:latin typeface="Cascadia Mono" panose="020B0609020000020004" pitchFamily="49" charset="0"/>
              </a:rPr>
              <a:t> Enrolled { </a:t>
            </a:r>
            <a:r>
              <a:rPr lang="en-US" sz="1800" dirty="0">
                <a:solidFill>
                  <a:srgbClr val="0000FF"/>
                </a:solidFill>
                <a:latin typeface="Cascadia Mono" panose="020B0609020000020004" pitchFamily="49" charset="0"/>
              </a:rPr>
              <a:t>get</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set</a:t>
            </a:r>
            <a:r>
              <a:rPr lang="en-US"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a:t>
            </a:r>
          </a:p>
          <a:p>
            <a:endParaRPr lang="en-IN" dirty="0"/>
          </a:p>
        </p:txBody>
      </p:sp>
      <p:sp>
        <p:nvSpPr>
          <p:cNvPr id="2" name="TextBox 1"/>
          <p:cNvSpPr txBox="1"/>
          <p:nvPr/>
        </p:nvSpPr>
        <p:spPr>
          <a:xfrm>
            <a:off x="561975" y="4010025"/>
            <a:ext cx="104775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student</a:t>
            </a:r>
            <a:endParaRPr lang="en-IN" dirty="0"/>
          </a:p>
        </p:txBody>
      </p:sp>
      <p:cxnSp>
        <p:nvCxnSpPr>
          <p:cNvPr id="4" name="Straight Arrow Connector 3"/>
          <p:cNvCxnSpPr/>
          <p:nvPr/>
        </p:nvCxnSpPr>
        <p:spPr>
          <a:xfrm flipV="1">
            <a:off x="1524000" y="4200525"/>
            <a:ext cx="752475" cy="95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543175" y="3619500"/>
            <a:ext cx="1428750" cy="1238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Susan</a:t>
            </a:r>
          </a:p>
          <a:p>
            <a:pPr algn="ctr"/>
            <a:r>
              <a:rPr lang="en-US" dirty="0"/>
              <a:t>False  True</a:t>
            </a:r>
            <a:endParaRPr lang="en-IN" dirty="0"/>
          </a:p>
        </p:txBody>
      </p:sp>
      <p:sp>
        <p:nvSpPr>
          <p:cNvPr id="8" name="Rectangle 7"/>
          <p:cNvSpPr/>
          <p:nvPr/>
        </p:nvSpPr>
        <p:spPr>
          <a:xfrm>
            <a:off x="323850" y="4857750"/>
            <a:ext cx="1127232" cy="369332"/>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en-IN" dirty="0">
                <a:solidFill>
                  <a:srgbClr val="000000"/>
                </a:solidFill>
                <a:latin typeface="Cascadia Mono" panose="020B0609020000020004" pitchFamily="49" charset="0"/>
              </a:rPr>
              <a:t>student</a:t>
            </a:r>
            <a:endParaRPr lang="en-IN" dirty="0"/>
          </a:p>
        </p:txBody>
      </p:sp>
      <p:cxnSp>
        <p:nvCxnSpPr>
          <p:cNvPr id="12" name="Straight Connector 11"/>
          <p:cNvCxnSpPr/>
          <p:nvPr/>
        </p:nvCxnSpPr>
        <p:spPr>
          <a:xfrm flipH="1">
            <a:off x="2651056" y="4295775"/>
            <a:ext cx="558869" cy="233375"/>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690411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95C53-66E9-4F51-B005-94594C502DAE}"/>
              </a:ext>
            </a:extLst>
          </p:cNvPr>
          <p:cNvSpPr>
            <a:spLocks noGrp="1"/>
          </p:cNvSpPr>
          <p:nvPr>
            <p:ph type="title"/>
          </p:nvPr>
        </p:nvSpPr>
        <p:spPr>
          <a:xfrm>
            <a:off x="1146687" y="1"/>
            <a:ext cx="4949313" cy="521110"/>
          </a:xfrm>
        </p:spPr>
        <p:txBody>
          <a:bodyPr>
            <a:noAutofit/>
          </a:bodyPr>
          <a:lstStyle/>
          <a:p>
            <a:r>
              <a:rPr lang="en-IN" sz="3200" dirty="0"/>
              <a:t>Variable length of arguments</a:t>
            </a:r>
          </a:p>
        </p:txBody>
      </p:sp>
      <p:sp>
        <p:nvSpPr>
          <p:cNvPr id="3" name="Content Placeholder 2">
            <a:extLst>
              <a:ext uri="{FF2B5EF4-FFF2-40B4-BE49-F238E27FC236}">
                <a16:creationId xmlns:a16="http://schemas.microsoft.com/office/drawing/2014/main" id="{58ADA53F-3C78-489F-9BA3-457A0CDE2D01}"/>
              </a:ext>
            </a:extLst>
          </p:cNvPr>
          <p:cNvSpPr>
            <a:spLocks noGrp="1"/>
          </p:cNvSpPr>
          <p:nvPr>
            <p:ph idx="1"/>
          </p:nvPr>
        </p:nvSpPr>
        <p:spPr>
          <a:xfrm>
            <a:off x="6096000" y="9836"/>
            <a:ext cx="5257799" cy="6848163"/>
          </a:xfrm>
        </p:spPr>
        <p:txBody>
          <a:bodyPr>
            <a:noAutofit/>
          </a:bodyPr>
          <a:lstStyle/>
          <a:p>
            <a:pPr marL="0" indent="0">
              <a:lnSpc>
                <a:spcPct val="100000"/>
              </a:lnSpc>
              <a:spcBef>
                <a:spcPts val="0"/>
              </a:spcBef>
              <a:buNone/>
            </a:pPr>
            <a:r>
              <a:rPr lang="en-US" sz="1050" dirty="0">
                <a:solidFill>
                  <a:srgbClr val="008000"/>
                </a:solidFill>
                <a:highlight>
                  <a:srgbClr val="FFFFFF"/>
                </a:highlight>
                <a:latin typeface="Consolas" panose="020B0609020204030204" pitchFamily="49" charset="0"/>
              </a:rPr>
              <a:t>//  public static void Write(string format, params object[] </a:t>
            </a:r>
            <a:r>
              <a:rPr lang="en-US" sz="1050" dirty="0" err="1">
                <a:solidFill>
                  <a:srgbClr val="008000"/>
                </a:solidFill>
                <a:highlight>
                  <a:srgbClr val="FFFFFF"/>
                </a:highlight>
                <a:latin typeface="Consolas" panose="020B0609020204030204" pitchFamily="49" charset="0"/>
              </a:rPr>
              <a:t>arg</a:t>
            </a:r>
            <a:r>
              <a:rPr lang="en-US" sz="1050" dirty="0">
                <a:solidFill>
                  <a:srgbClr val="008000"/>
                </a:solidFill>
                <a:highlight>
                  <a:srgbClr val="FFFFFF"/>
                </a:highlight>
                <a:latin typeface="Consolas" panose="020B0609020204030204" pitchFamily="49" charset="0"/>
              </a:rPr>
              <a:t>);</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Min</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int</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minVal</a:t>
            </a:r>
            <a:r>
              <a:rPr lang="en-US" sz="1050" dirty="0">
                <a:solidFill>
                  <a:srgbClr val="000000"/>
                </a:solidFill>
                <a:highlight>
                  <a:srgbClr val="FFFFFF"/>
                </a:highlight>
                <a:latin typeface="Consolas" panose="020B0609020204030204" pitchFamily="49" charset="0"/>
              </a:rPr>
              <a:t>(</a:t>
            </a:r>
            <a:r>
              <a:rPr lang="en-US" sz="1050" dirty="0">
                <a:solidFill>
                  <a:srgbClr val="0000FF"/>
                </a:solidFill>
                <a:highlight>
                  <a:srgbClr val="FFFFFF"/>
                </a:highlight>
                <a:latin typeface="Consolas" panose="020B0609020204030204" pitchFamily="49" charset="0"/>
              </a:rPr>
              <a:t>params</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int</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nums</a:t>
            </a:r>
            <a:r>
              <a:rPr lang="en-US"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m;</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if</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nums.Length</a:t>
            </a:r>
            <a:r>
              <a:rPr lang="en-IN" sz="1050" dirty="0">
                <a:solidFill>
                  <a:srgbClr val="000000"/>
                </a:solidFill>
                <a:highlight>
                  <a:srgbClr val="FFFFFF"/>
                </a:highlight>
                <a:latin typeface="Consolas" panose="020B0609020204030204" pitchFamily="49" charset="0"/>
              </a:rPr>
              <a:t> == 0)</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s-ES" sz="1050" dirty="0">
                <a:solidFill>
                  <a:srgbClr val="000000"/>
                </a:solidFill>
                <a:highlight>
                  <a:srgbClr val="FFFFFF"/>
                </a:highlight>
                <a:latin typeface="Consolas" panose="020B0609020204030204" pitchFamily="49" charset="0"/>
              </a:rPr>
              <a:t>            </a:t>
            </a:r>
            <a:r>
              <a:rPr lang="es-ES" sz="1050" dirty="0">
                <a:solidFill>
                  <a:srgbClr val="2B91AF"/>
                </a:solidFill>
                <a:highlight>
                  <a:srgbClr val="FFFFFF"/>
                </a:highlight>
                <a:latin typeface="Consolas" panose="020B0609020204030204" pitchFamily="49" charset="0"/>
              </a:rPr>
              <a:t>Console</a:t>
            </a:r>
            <a:r>
              <a:rPr lang="es-ES" sz="1050" dirty="0">
                <a:solidFill>
                  <a:srgbClr val="000000"/>
                </a:solidFill>
                <a:highlight>
                  <a:srgbClr val="FFFFFF"/>
                </a:highlight>
                <a:latin typeface="Consolas" panose="020B0609020204030204" pitchFamily="49" charset="0"/>
              </a:rPr>
              <a:t>.WriteLine(</a:t>
            </a:r>
            <a:r>
              <a:rPr lang="es-ES" sz="1050" dirty="0">
                <a:solidFill>
                  <a:srgbClr val="A31515"/>
                </a:solidFill>
                <a:highlight>
                  <a:srgbClr val="FFFFFF"/>
                </a:highlight>
                <a:latin typeface="Consolas" panose="020B0609020204030204" pitchFamily="49" charset="0"/>
              </a:rPr>
              <a:t>"Error: no arguments."</a:t>
            </a:r>
            <a:r>
              <a:rPr lang="es-ES"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0;</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m = </a:t>
            </a:r>
            <a:r>
              <a:rPr lang="en-IN" sz="1050" dirty="0" err="1">
                <a:solidFill>
                  <a:srgbClr val="000000"/>
                </a:solidFill>
                <a:highlight>
                  <a:srgbClr val="FFFFFF"/>
                </a:highlight>
                <a:latin typeface="Consolas" panose="020B0609020204030204" pitchFamily="49" charset="0"/>
              </a:rPr>
              <a:t>nums</a:t>
            </a:r>
            <a:r>
              <a:rPr lang="en-IN" sz="1050" dirty="0">
                <a:solidFill>
                  <a:srgbClr val="000000"/>
                </a:solidFill>
                <a:highlight>
                  <a:srgbClr val="FFFFFF"/>
                </a:highlight>
                <a:latin typeface="Consolas" panose="020B0609020204030204" pitchFamily="49" charset="0"/>
              </a:rPr>
              <a:t>[0];</a:t>
            </a:r>
          </a:p>
          <a:p>
            <a:pPr marL="0" indent="0">
              <a:lnSpc>
                <a:spcPct val="100000"/>
              </a:lnSpc>
              <a:spcBef>
                <a:spcPts val="0"/>
              </a:spcBef>
              <a:buNone/>
            </a:pPr>
            <a:r>
              <a:rPr lang="nn-NO" sz="1050" dirty="0">
                <a:solidFill>
                  <a:srgbClr val="000000"/>
                </a:solidFill>
                <a:highlight>
                  <a:srgbClr val="FFFFFF"/>
                </a:highlight>
                <a:latin typeface="Consolas" panose="020B0609020204030204" pitchFamily="49" charset="0"/>
              </a:rPr>
              <a:t>        </a:t>
            </a:r>
            <a:r>
              <a:rPr lang="nn-NO" sz="1050" dirty="0">
                <a:solidFill>
                  <a:srgbClr val="0000FF"/>
                </a:solidFill>
                <a:highlight>
                  <a:srgbClr val="FFFFFF"/>
                </a:highlight>
                <a:latin typeface="Consolas" panose="020B0609020204030204" pitchFamily="49" charset="0"/>
              </a:rPr>
              <a:t>for</a:t>
            </a:r>
            <a:r>
              <a:rPr lang="nn-NO" sz="1050" dirty="0">
                <a:solidFill>
                  <a:srgbClr val="000000"/>
                </a:solidFill>
                <a:highlight>
                  <a:srgbClr val="FFFFFF"/>
                </a:highlight>
                <a:latin typeface="Consolas" panose="020B0609020204030204" pitchFamily="49" charset="0"/>
              </a:rPr>
              <a:t> (</a:t>
            </a:r>
            <a:r>
              <a:rPr lang="nn-NO" sz="1050" dirty="0">
                <a:solidFill>
                  <a:srgbClr val="0000FF"/>
                </a:solidFill>
                <a:highlight>
                  <a:srgbClr val="FFFFFF"/>
                </a:highlight>
                <a:latin typeface="Consolas" panose="020B0609020204030204" pitchFamily="49" charset="0"/>
              </a:rPr>
              <a:t>int</a:t>
            </a:r>
            <a:r>
              <a:rPr lang="nn-NO" sz="1050" dirty="0">
                <a:solidFill>
                  <a:srgbClr val="000000"/>
                </a:solidFill>
                <a:highlight>
                  <a:srgbClr val="FFFFFF"/>
                </a:highlight>
                <a:latin typeface="Consolas" panose="020B0609020204030204" pitchFamily="49" charset="0"/>
              </a:rPr>
              <a:t> i = 1; i &lt; nums.Length; i++)</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if</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nums</a:t>
            </a:r>
            <a:r>
              <a:rPr lang="en-US" sz="1050" dirty="0">
                <a:solidFill>
                  <a:srgbClr val="000000"/>
                </a:solidFill>
                <a:highlight>
                  <a:srgbClr val="FFFFFF"/>
                </a:highlight>
                <a:latin typeface="Consolas" panose="020B0609020204030204" pitchFamily="49" charset="0"/>
              </a:rPr>
              <a:t>[</a:t>
            </a:r>
            <a:r>
              <a:rPr lang="en-US" sz="1050" dirty="0" err="1">
                <a:solidFill>
                  <a:srgbClr val="000000"/>
                </a:solidFill>
                <a:highlight>
                  <a:srgbClr val="FFFFFF"/>
                </a:highlight>
                <a:latin typeface="Consolas" panose="020B0609020204030204" pitchFamily="49" charset="0"/>
              </a:rPr>
              <a:t>i</a:t>
            </a:r>
            <a:r>
              <a:rPr lang="en-US" sz="1050" dirty="0">
                <a:solidFill>
                  <a:srgbClr val="000000"/>
                </a:solidFill>
                <a:highlight>
                  <a:srgbClr val="FFFFFF"/>
                </a:highlight>
                <a:latin typeface="Consolas" panose="020B0609020204030204" pitchFamily="49" charset="0"/>
              </a:rPr>
              <a:t>] &lt; m) </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m = </a:t>
            </a:r>
            <a:r>
              <a:rPr lang="en-US" sz="1050" dirty="0" err="1">
                <a:solidFill>
                  <a:srgbClr val="000000"/>
                </a:solidFill>
                <a:highlight>
                  <a:srgbClr val="FFFFFF"/>
                </a:highlight>
                <a:latin typeface="Consolas" panose="020B0609020204030204" pitchFamily="49" charset="0"/>
              </a:rPr>
              <a:t>nums</a:t>
            </a:r>
            <a:r>
              <a:rPr lang="en-US" sz="1050" dirty="0">
                <a:solidFill>
                  <a:srgbClr val="000000"/>
                </a:solidFill>
                <a:highlight>
                  <a:srgbClr val="FFFFFF"/>
                </a:highlight>
                <a:latin typeface="Consolas" panose="020B0609020204030204" pitchFamily="49" charset="0"/>
              </a:rPr>
              <a:t>[</a:t>
            </a:r>
            <a:r>
              <a:rPr lang="en-US" sz="1050" dirty="0" err="1">
                <a:solidFill>
                  <a:srgbClr val="000000"/>
                </a:solidFill>
                <a:highlight>
                  <a:srgbClr val="FFFFFF"/>
                </a:highlight>
                <a:latin typeface="Consolas" panose="020B0609020204030204" pitchFamily="49" charset="0"/>
              </a:rPr>
              <a:t>i</a:t>
            </a:r>
            <a:r>
              <a:rPr lang="en-US"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m;</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ParamsDemo</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static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   </a:t>
            </a:r>
            <a:r>
              <a:rPr lang="en-IN" sz="1050" dirty="0">
                <a:solidFill>
                  <a:srgbClr val="2B91AF"/>
                </a:solidFill>
                <a:highlight>
                  <a:srgbClr val="FFFFFF"/>
                </a:highlight>
                <a:latin typeface="Consolas" panose="020B0609020204030204" pitchFamily="49" charset="0"/>
              </a:rPr>
              <a:t>Min</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ob</a:t>
            </a:r>
            <a:r>
              <a:rPr lang="en-IN" sz="1050" dirty="0">
                <a:solidFill>
                  <a:srgbClr val="000000"/>
                </a:solidFill>
                <a:highlight>
                  <a:srgbClr val="FFFFFF"/>
                </a:highlight>
                <a:latin typeface="Consolas" panose="020B0609020204030204" pitchFamily="49" charset="0"/>
              </a:rPr>
              <a:t> =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Min</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min;</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int</a:t>
            </a:r>
            <a:r>
              <a:rPr lang="en-US" sz="1050" dirty="0">
                <a:solidFill>
                  <a:srgbClr val="000000"/>
                </a:solidFill>
                <a:highlight>
                  <a:srgbClr val="FFFFFF"/>
                </a:highlight>
                <a:latin typeface="Consolas" panose="020B0609020204030204" pitchFamily="49" charset="0"/>
              </a:rPr>
              <a:t> a = 10, b = 20;</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call with two values </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sv-SE" sz="1050" dirty="0">
                <a:solidFill>
                  <a:srgbClr val="000000"/>
                </a:solidFill>
                <a:highlight>
                  <a:srgbClr val="FFFFFF"/>
                </a:highlight>
                <a:latin typeface="Consolas" panose="020B0609020204030204" pitchFamily="49" charset="0"/>
              </a:rPr>
              <a:t>        min = ob.minVal(a, b);</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a:solidFill>
                  <a:srgbClr val="A31515"/>
                </a:solidFill>
                <a:highlight>
                  <a:srgbClr val="FFFFFF"/>
                </a:highlight>
                <a:latin typeface="Consolas" panose="020B0609020204030204" pitchFamily="49" charset="0"/>
              </a:rPr>
              <a:t>"Minimum is "</a:t>
            </a:r>
            <a:r>
              <a:rPr lang="en-IN" sz="1050" dirty="0">
                <a:solidFill>
                  <a:srgbClr val="000000"/>
                </a:solidFill>
                <a:highlight>
                  <a:srgbClr val="FFFFFF"/>
                </a:highlight>
                <a:latin typeface="Consolas" panose="020B0609020204030204" pitchFamily="49" charset="0"/>
              </a:rPr>
              <a:t> + min);</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call with 3 values </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sv-SE" sz="1050" dirty="0">
                <a:solidFill>
                  <a:srgbClr val="000000"/>
                </a:solidFill>
                <a:highlight>
                  <a:srgbClr val="FFFFFF"/>
                </a:highlight>
                <a:latin typeface="Consolas" panose="020B0609020204030204" pitchFamily="49" charset="0"/>
              </a:rPr>
              <a:t>        min = ob.minVal(a, b, -1);</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a:solidFill>
                  <a:srgbClr val="A31515"/>
                </a:solidFill>
                <a:highlight>
                  <a:srgbClr val="FFFFFF"/>
                </a:highlight>
                <a:latin typeface="Consolas" panose="020B0609020204030204" pitchFamily="49" charset="0"/>
              </a:rPr>
              <a:t>"Minimum is "</a:t>
            </a:r>
            <a:r>
              <a:rPr lang="en-IN" sz="1050" dirty="0">
                <a:solidFill>
                  <a:srgbClr val="000000"/>
                </a:solidFill>
                <a:highlight>
                  <a:srgbClr val="FFFFFF"/>
                </a:highlight>
                <a:latin typeface="Consolas" panose="020B0609020204030204" pitchFamily="49" charset="0"/>
              </a:rPr>
              <a:t> + min);</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call with 5 values </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sv-SE" sz="1050" dirty="0">
                <a:solidFill>
                  <a:srgbClr val="000000"/>
                </a:solidFill>
                <a:highlight>
                  <a:srgbClr val="FFFFFF"/>
                </a:highlight>
                <a:latin typeface="Consolas" panose="020B0609020204030204" pitchFamily="49" charset="0"/>
              </a:rPr>
              <a:t>        min = ob.minVal(18, 23, 3, 14, 25);</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a:solidFill>
                  <a:srgbClr val="A31515"/>
                </a:solidFill>
                <a:highlight>
                  <a:srgbClr val="FFFFFF"/>
                </a:highlight>
                <a:latin typeface="Consolas" panose="020B0609020204030204" pitchFamily="49" charset="0"/>
              </a:rPr>
              <a:t>"Minimum is "</a:t>
            </a:r>
            <a:r>
              <a:rPr lang="en-IN" sz="1050" dirty="0">
                <a:solidFill>
                  <a:srgbClr val="000000"/>
                </a:solidFill>
                <a:highlight>
                  <a:srgbClr val="FFFFFF"/>
                </a:highlight>
                <a:latin typeface="Consolas" panose="020B0609020204030204" pitchFamily="49" charset="0"/>
              </a:rPr>
              <a:t> + min);</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can call with an int array, too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sv-SE" sz="1050" dirty="0">
                <a:solidFill>
                  <a:srgbClr val="000000"/>
                </a:solidFill>
                <a:highlight>
                  <a:srgbClr val="FFFFFF"/>
                </a:highlight>
                <a:latin typeface="Consolas" panose="020B0609020204030204" pitchFamily="49" charset="0"/>
              </a:rPr>
              <a:t>        </a:t>
            </a:r>
            <a:r>
              <a:rPr lang="sv-SE" sz="1050" dirty="0">
                <a:solidFill>
                  <a:srgbClr val="0000FF"/>
                </a:solidFill>
                <a:highlight>
                  <a:srgbClr val="FFFFFF"/>
                </a:highlight>
                <a:latin typeface="Consolas" panose="020B0609020204030204" pitchFamily="49" charset="0"/>
              </a:rPr>
              <a:t>int</a:t>
            </a:r>
            <a:r>
              <a:rPr lang="sv-SE" sz="1050" dirty="0">
                <a:solidFill>
                  <a:srgbClr val="000000"/>
                </a:solidFill>
                <a:highlight>
                  <a:srgbClr val="FFFFFF"/>
                </a:highlight>
                <a:latin typeface="Consolas" panose="020B0609020204030204" pitchFamily="49" charset="0"/>
              </a:rPr>
              <a:t>[] args = { 45, 67, 34, 9, 112, 8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min = </a:t>
            </a:r>
            <a:r>
              <a:rPr lang="en-IN" sz="1050" dirty="0" err="1">
                <a:solidFill>
                  <a:srgbClr val="000000"/>
                </a:solidFill>
                <a:highlight>
                  <a:srgbClr val="FFFFFF"/>
                </a:highlight>
                <a:latin typeface="Consolas" panose="020B0609020204030204" pitchFamily="49" charset="0"/>
              </a:rPr>
              <a:t>ob.minVal</a:t>
            </a:r>
            <a:r>
              <a:rPr lang="en-IN" sz="1050" dirty="0">
                <a:solidFill>
                  <a:srgbClr val="000000"/>
                </a:solidFill>
                <a:highlight>
                  <a:srgbClr val="FFFFFF"/>
                </a:highlight>
                <a:latin typeface="Consolas" panose="020B0609020204030204" pitchFamily="49" charset="0"/>
              </a:rPr>
              <a:t>(</a:t>
            </a:r>
            <a:r>
              <a:rPr lang="en-IN" sz="1050" dirty="0" err="1">
                <a:solidFill>
                  <a:srgbClr val="000000"/>
                </a:solidFill>
                <a:highlight>
                  <a:srgbClr val="FFFFFF"/>
                </a:highlight>
                <a:latin typeface="Consolas" panose="020B0609020204030204" pitchFamily="49" charset="0"/>
              </a:rPr>
              <a:t>args</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a:solidFill>
                  <a:srgbClr val="A31515"/>
                </a:solidFill>
                <a:highlight>
                  <a:srgbClr val="FFFFFF"/>
                </a:highlight>
                <a:latin typeface="Consolas" panose="020B0609020204030204" pitchFamily="49" charset="0"/>
              </a:rPr>
              <a:t>"Minimum is "</a:t>
            </a:r>
            <a:r>
              <a:rPr lang="en-IN" sz="1050" dirty="0">
                <a:solidFill>
                  <a:srgbClr val="000000"/>
                </a:solidFill>
                <a:highlight>
                  <a:srgbClr val="FFFFFF"/>
                </a:highlight>
                <a:latin typeface="Consolas" panose="020B0609020204030204" pitchFamily="49" charset="0"/>
              </a:rPr>
              <a:t> + min);</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050" dirty="0"/>
          </a:p>
        </p:txBody>
      </p:sp>
      <p:sp>
        <p:nvSpPr>
          <p:cNvPr id="4" name="TextBox 3">
            <a:extLst>
              <a:ext uri="{FF2B5EF4-FFF2-40B4-BE49-F238E27FC236}">
                <a16:creationId xmlns:a16="http://schemas.microsoft.com/office/drawing/2014/main" id="{8025C4A3-F6C4-4B71-AF1D-3726916B8414}"/>
              </a:ext>
            </a:extLst>
          </p:cNvPr>
          <p:cNvSpPr txBox="1"/>
          <p:nvPr/>
        </p:nvSpPr>
        <p:spPr>
          <a:xfrm>
            <a:off x="432619" y="934065"/>
            <a:ext cx="4463846" cy="3970318"/>
          </a:xfrm>
          <a:prstGeom prst="rect">
            <a:avLst/>
          </a:prstGeom>
          <a:noFill/>
        </p:spPr>
        <p:txBody>
          <a:bodyPr wrap="square" rtlCol="0">
            <a:spAutoFit/>
          </a:bodyPr>
          <a:lstStyle/>
          <a:p>
            <a:r>
              <a:rPr lang="en-IN" dirty="0"/>
              <a:t>Params is a key word which will accept parameter as array so that it will work irrespective of the number of data pass while calling function.</a:t>
            </a:r>
          </a:p>
          <a:p>
            <a:r>
              <a:rPr lang="en-IN" dirty="0"/>
              <a:t>Think about</a:t>
            </a:r>
          </a:p>
          <a:p>
            <a:r>
              <a:rPr lang="en-US" dirty="0">
                <a:solidFill>
                  <a:srgbClr val="008000"/>
                </a:solidFill>
                <a:highlight>
                  <a:srgbClr val="FFFFFF"/>
                </a:highlight>
                <a:latin typeface="Consolas" panose="020B0609020204030204" pitchFamily="49" charset="0"/>
              </a:rPr>
              <a:t>public static void Write(string format, params object[] </a:t>
            </a:r>
            <a:r>
              <a:rPr lang="en-US" dirty="0" err="1">
                <a:solidFill>
                  <a:srgbClr val="008000"/>
                </a:solidFill>
                <a:highlight>
                  <a:srgbClr val="FFFFFF"/>
                </a:highlight>
                <a:latin typeface="Consolas" panose="020B0609020204030204" pitchFamily="49" charset="0"/>
              </a:rPr>
              <a:t>arg</a:t>
            </a:r>
            <a:r>
              <a:rPr lang="en-US" dirty="0">
                <a:solidFill>
                  <a:srgbClr val="008000"/>
                </a:solidFill>
                <a:highlight>
                  <a:srgbClr val="FFFFFF"/>
                </a:highlight>
                <a:latin typeface="Consolas" panose="020B0609020204030204" pitchFamily="49" charset="0"/>
              </a:rPr>
              <a:t>);</a:t>
            </a:r>
          </a:p>
          <a:p>
            <a:endParaRPr lang="en-US" dirty="0">
              <a:solidFill>
                <a:srgbClr val="008000"/>
              </a:solidFill>
              <a:highlight>
                <a:srgbClr val="FFFFFF"/>
              </a:highlight>
              <a:latin typeface="Consolas" panose="020B0609020204030204" pitchFamily="49" charset="0"/>
            </a:endParaRPr>
          </a:p>
          <a:p>
            <a:r>
              <a:rPr lang="en-US" dirty="0">
                <a:highlight>
                  <a:srgbClr val="FFFFFF"/>
                </a:highlight>
                <a:latin typeface="Consolas" panose="020B0609020204030204" pitchFamily="49" charset="0"/>
              </a:rPr>
              <a:t>We don’t know how many variable user is going to print using write method that is why signature of write method has used params key word</a:t>
            </a:r>
            <a:endParaRPr lang="en-IN" dirty="0"/>
          </a:p>
          <a:p>
            <a:endParaRPr lang="en-IN" dirty="0"/>
          </a:p>
        </p:txBody>
      </p:sp>
      <p:cxnSp>
        <p:nvCxnSpPr>
          <p:cNvPr id="6" name="Straight Arrow Connector 5">
            <a:extLst>
              <a:ext uri="{FF2B5EF4-FFF2-40B4-BE49-F238E27FC236}">
                <a16:creationId xmlns:a16="http://schemas.microsoft.com/office/drawing/2014/main" id="{492AEAB6-42B0-45EA-8524-1BF0CDA279B7}"/>
              </a:ext>
            </a:extLst>
          </p:cNvPr>
          <p:cNvCxnSpPr/>
          <p:nvPr/>
        </p:nvCxnSpPr>
        <p:spPr>
          <a:xfrm flipH="1">
            <a:off x="4572000" y="5393949"/>
            <a:ext cx="2192593" cy="147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Table 7">
            <a:extLst>
              <a:ext uri="{FF2B5EF4-FFF2-40B4-BE49-F238E27FC236}">
                <a16:creationId xmlns:a16="http://schemas.microsoft.com/office/drawing/2014/main" id="{59D13754-82F7-4E51-9D6B-E10A18DC3BEB}"/>
              </a:ext>
            </a:extLst>
          </p:cNvPr>
          <p:cNvGraphicFramePr>
            <a:graphicFrameLocks noGrp="1"/>
          </p:cNvGraphicFramePr>
          <p:nvPr>
            <p:extLst>
              <p:ext uri="{D42A27DB-BD31-4B8C-83A1-F6EECF244321}">
                <p14:modId xmlns:p14="http://schemas.microsoft.com/office/powerpoint/2010/main" val="3475008119"/>
              </p:ext>
            </p:extLst>
          </p:nvPr>
        </p:nvGraphicFramePr>
        <p:xfrm>
          <a:off x="2189316" y="5365407"/>
          <a:ext cx="2382684" cy="731520"/>
        </p:xfrm>
        <a:graphic>
          <a:graphicData uri="http://schemas.openxmlformats.org/drawingml/2006/table">
            <a:tbl>
              <a:tblPr firstRow="1" bandRow="1">
                <a:tableStyleId>{5C22544A-7EE6-4342-B048-85BDC9FD1C3A}</a:tableStyleId>
              </a:tblPr>
              <a:tblGrid>
                <a:gridCol w="794228">
                  <a:extLst>
                    <a:ext uri="{9D8B030D-6E8A-4147-A177-3AD203B41FA5}">
                      <a16:colId xmlns:a16="http://schemas.microsoft.com/office/drawing/2014/main" val="401452989"/>
                    </a:ext>
                  </a:extLst>
                </a:gridCol>
                <a:gridCol w="794228">
                  <a:extLst>
                    <a:ext uri="{9D8B030D-6E8A-4147-A177-3AD203B41FA5}">
                      <a16:colId xmlns:a16="http://schemas.microsoft.com/office/drawing/2014/main" val="4146033278"/>
                    </a:ext>
                  </a:extLst>
                </a:gridCol>
                <a:gridCol w="794228">
                  <a:extLst>
                    <a:ext uri="{9D8B030D-6E8A-4147-A177-3AD203B41FA5}">
                      <a16:colId xmlns:a16="http://schemas.microsoft.com/office/drawing/2014/main" val="1339692335"/>
                    </a:ext>
                  </a:extLst>
                </a:gridCol>
              </a:tblGrid>
              <a:tr h="311697">
                <a:tc>
                  <a:txBody>
                    <a:bodyPr/>
                    <a:lstStyle/>
                    <a:p>
                      <a:r>
                        <a:rPr lang="en-IN" dirty="0"/>
                        <a:t>0</a:t>
                      </a:r>
                    </a:p>
                  </a:txBody>
                  <a:tcPr/>
                </a:tc>
                <a:tc>
                  <a:txBody>
                    <a:bodyPr/>
                    <a:lstStyle/>
                    <a:p>
                      <a:r>
                        <a:rPr lang="en-IN" dirty="0"/>
                        <a:t>1</a:t>
                      </a:r>
                    </a:p>
                  </a:txBody>
                  <a:tcPr/>
                </a:tc>
                <a:tc>
                  <a:txBody>
                    <a:bodyPr/>
                    <a:lstStyle/>
                    <a:p>
                      <a:r>
                        <a:rPr lang="en-IN" dirty="0"/>
                        <a:t>2</a:t>
                      </a:r>
                    </a:p>
                  </a:txBody>
                  <a:tcPr/>
                </a:tc>
                <a:extLst>
                  <a:ext uri="{0D108BD9-81ED-4DB2-BD59-A6C34878D82A}">
                    <a16:rowId xmlns:a16="http://schemas.microsoft.com/office/drawing/2014/main" val="2000854630"/>
                  </a:ext>
                </a:extLst>
              </a:tr>
              <a:tr h="311697">
                <a:tc>
                  <a:txBody>
                    <a:bodyPr/>
                    <a:lstStyle/>
                    <a:p>
                      <a:r>
                        <a:rPr lang="en-IN" dirty="0"/>
                        <a:t>10</a:t>
                      </a:r>
                    </a:p>
                  </a:txBody>
                  <a:tcPr/>
                </a:tc>
                <a:tc>
                  <a:txBody>
                    <a:bodyPr/>
                    <a:lstStyle/>
                    <a:p>
                      <a:r>
                        <a:rPr lang="en-IN" dirty="0"/>
                        <a:t>20</a:t>
                      </a:r>
                    </a:p>
                  </a:txBody>
                  <a:tcPr/>
                </a:tc>
                <a:tc>
                  <a:txBody>
                    <a:bodyPr/>
                    <a:lstStyle/>
                    <a:p>
                      <a:r>
                        <a:rPr lang="en-IN" dirty="0"/>
                        <a:t>-1</a:t>
                      </a:r>
                    </a:p>
                  </a:txBody>
                  <a:tcPr/>
                </a:tc>
                <a:extLst>
                  <a:ext uri="{0D108BD9-81ED-4DB2-BD59-A6C34878D82A}">
                    <a16:rowId xmlns:a16="http://schemas.microsoft.com/office/drawing/2014/main" val="3083249083"/>
                  </a:ext>
                </a:extLst>
              </a:tr>
            </a:tbl>
          </a:graphicData>
        </a:graphic>
      </p:graphicFrame>
      <p:cxnSp>
        <p:nvCxnSpPr>
          <p:cNvPr id="8" name="Straight Arrow Connector 7">
            <a:extLst>
              <a:ext uri="{FF2B5EF4-FFF2-40B4-BE49-F238E27FC236}">
                <a16:creationId xmlns:a16="http://schemas.microsoft.com/office/drawing/2014/main" id="{030E1DD8-3611-4A49-AD00-78A5CF843F94}"/>
              </a:ext>
            </a:extLst>
          </p:cNvPr>
          <p:cNvCxnSpPr/>
          <p:nvPr/>
        </p:nvCxnSpPr>
        <p:spPr>
          <a:xfrm flipH="1">
            <a:off x="4571999" y="4662429"/>
            <a:ext cx="2192593" cy="147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Table 7">
            <a:extLst>
              <a:ext uri="{FF2B5EF4-FFF2-40B4-BE49-F238E27FC236}">
                <a16:creationId xmlns:a16="http://schemas.microsoft.com/office/drawing/2014/main" id="{98734B9B-17F6-4BBC-A127-970E915F5EA3}"/>
              </a:ext>
            </a:extLst>
          </p:cNvPr>
          <p:cNvGraphicFramePr>
            <a:graphicFrameLocks noGrp="1"/>
          </p:cNvGraphicFramePr>
          <p:nvPr>
            <p:extLst>
              <p:ext uri="{D42A27DB-BD31-4B8C-83A1-F6EECF244321}">
                <p14:modId xmlns:p14="http://schemas.microsoft.com/office/powerpoint/2010/main" val="2180569262"/>
              </p:ext>
            </p:extLst>
          </p:nvPr>
        </p:nvGraphicFramePr>
        <p:xfrm>
          <a:off x="2946399" y="4444152"/>
          <a:ext cx="1588456" cy="731520"/>
        </p:xfrm>
        <a:graphic>
          <a:graphicData uri="http://schemas.openxmlformats.org/drawingml/2006/table">
            <a:tbl>
              <a:tblPr firstRow="1" bandRow="1">
                <a:tableStyleId>{5C22544A-7EE6-4342-B048-85BDC9FD1C3A}</a:tableStyleId>
              </a:tblPr>
              <a:tblGrid>
                <a:gridCol w="794228">
                  <a:extLst>
                    <a:ext uri="{9D8B030D-6E8A-4147-A177-3AD203B41FA5}">
                      <a16:colId xmlns:a16="http://schemas.microsoft.com/office/drawing/2014/main" val="401452989"/>
                    </a:ext>
                  </a:extLst>
                </a:gridCol>
                <a:gridCol w="794228">
                  <a:extLst>
                    <a:ext uri="{9D8B030D-6E8A-4147-A177-3AD203B41FA5}">
                      <a16:colId xmlns:a16="http://schemas.microsoft.com/office/drawing/2014/main" val="4146033278"/>
                    </a:ext>
                  </a:extLst>
                </a:gridCol>
              </a:tblGrid>
              <a:tr h="311697">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2000854630"/>
                  </a:ext>
                </a:extLst>
              </a:tr>
              <a:tr h="311697">
                <a:tc>
                  <a:txBody>
                    <a:bodyPr/>
                    <a:lstStyle/>
                    <a:p>
                      <a:r>
                        <a:rPr lang="en-IN" dirty="0"/>
                        <a:t>10</a:t>
                      </a:r>
                    </a:p>
                  </a:txBody>
                  <a:tcPr/>
                </a:tc>
                <a:tc>
                  <a:txBody>
                    <a:bodyPr/>
                    <a:lstStyle/>
                    <a:p>
                      <a:r>
                        <a:rPr lang="en-IN" dirty="0"/>
                        <a:t>20</a:t>
                      </a:r>
                    </a:p>
                  </a:txBody>
                  <a:tcPr/>
                </a:tc>
                <a:extLst>
                  <a:ext uri="{0D108BD9-81ED-4DB2-BD59-A6C34878D82A}">
                    <a16:rowId xmlns:a16="http://schemas.microsoft.com/office/drawing/2014/main" val="3083249083"/>
                  </a:ext>
                </a:extLst>
              </a:tr>
            </a:tbl>
          </a:graphicData>
        </a:graphic>
      </p:graphicFrame>
    </p:spTree>
    <p:extLst>
      <p:ext uri="{BB962C8B-B14F-4D97-AF65-F5344CB8AC3E}">
        <p14:creationId xmlns:p14="http://schemas.microsoft.com/office/powerpoint/2010/main" val="941137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92C19-E5D2-4B92-ADAC-4BC749A12EBC}"/>
              </a:ext>
            </a:extLst>
          </p:cNvPr>
          <p:cNvSpPr>
            <a:spLocks noGrp="1"/>
          </p:cNvSpPr>
          <p:nvPr>
            <p:ph type="title"/>
          </p:nvPr>
        </p:nvSpPr>
        <p:spPr>
          <a:xfrm>
            <a:off x="982980" y="172402"/>
            <a:ext cx="5113020" cy="508635"/>
          </a:xfrm>
        </p:spPr>
        <p:txBody>
          <a:bodyPr>
            <a:normAutofit fontScale="90000"/>
          </a:bodyPr>
          <a:lstStyle/>
          <a:p>
            <a:r>
              <a:rPr lang="en-IN" dirty="0"/>
              <a:t>Method returning Array</a:t>
            </a:r>
          </a:p>
        </p:txBody>
      </p:sp>
      <p:sp>
        <p:nvSpPr>
          <p:cNvPr id="3" name="Content Placeholder 2">
            <a:extLst>
              <a:ext uri="{FF2B5EF4-FFF2-40B4-BE49-F238E27FC236}">
                <a16:creationId xmlns:a16="http://schemas.microsoft.com/office/drawing/2014/main" id="{7E716BBF-3AE2-4908-926D-FD9A185681CA}"/>
              </a:ext>
            </a:extLst>
          </p:cNvPr>
          <p:cNvSpPr>
            <a:spLocks noGrp="1"/>
          </p:cNvSpPr>
          <p:nvPr>
            <p:ph idx="1"/>
          </p:nvPr>
        </p:nvSpPr>
        <p:spPr>
          <a:xfrm>
            <a:off x="5994400" y="172402"/>
            <a:ext cx="5948680" cy="6248718"/>
          </a:xfrm>
        </p:spPr>
        <p:txBody>
          <a:bodyPr>
            <a:noAutofit/>
          </a:bodyPr>
          <a:lstStyle/>
          <a:p>
            <a:pPr marL="0" indent="0">
              <a:lnSpc>
                <a:spcPct val="100000"/>
              </a:lnSpc>
              <a:spcBef>
                <a:spcPts val="0"/>
              </a:spcBef>
              <a:buNone/>
            </a:pPr>
            <a:r>
              <a:rPr lang="en-IN" sz="900" dirty="0">
                <a:solidFill>
                  <a:srgbClr val="008000"/>
                </a:solidFill>
                <a:highlight>
                  <a:srgbClr val="FFFFFF"/>
                </a:highlight>
                <a:latin typeface="Consolas" panose="020B0609020204030204" pitchFamily="49" charset="0"/>
              </a:rPr>
              <a:t>// Return an array. </a:t>
            </a: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FF"/>
                </a:solidFill>
                <a:highlight>
                  <a:srgbClr val="FFFFFF"/>
                </a:highlight>
                <a:latin typeface="Consolas" panose="020B0609020204030204" pitchFamily="49" charset="0"/>
              </a:rPr>
              <a:t>using</a:t>
            </a:r>
            <a:r>
              <a:rPr lang="en-IN" sz="9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Factor</a:t>
            </a: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Return an array containing the factors of num. </a:t>
            </a:r>
            <a:endParaRPr lang="en-US"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900" dirty="0">
                <a:solidFill>
                  <a:srgbClr val="008000"/>
                </a:solidFill>
                <a:highlight>
                  <a:srgbClr val="FFFFFF"/>
                </a:highlight>
                <a:latin typeface="Consolas" panose="020B0609020204030204" pitchFamily="49" charset="0"/>
              </a:rPr>
              <a:t>       On return, </a:t>
            </a:r>
            <a:r>
              <a:rPr lang="en-US" sz="900" dirty="0" err="1">
                <a:solidFill>
                  <a:srgbClr val="008000"/>
                </a:solidFill>
                <a:highlight>
                  <a:srgbClr val="FFFFFF"/>
                </a:highlight>
                <a:latin typeface="Consolas" panose="020B0609020204030204" pitchFamily="49" charset="0"/>
              </a:rPr>
              <a:t>numfactors</a:t>
            </a:r>
            <a:r>
              <a:rPr lang="en-US" sz="900" dirty="0">
                <a:solidFill>
                  <a:srgbClr val="008000"/>
                </a:solidFill>
                <a:highlight>
                  <a:srgbClr val="FFFFFF"/>
                </a:highlight>
                <a:latin typeface="Consolas" panose="020B0609020204030204" pitchFamily="49" charset="0"/>
              </a:rPr>
              <a:t> will contain the number of </a:t>
            </a:r>
            <a:endParaRPr lang="en-US"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8000"/>
                </a:solidFill>
                <a:highlight>
                  <a:srgbClr val="FFFFFF"/>
                </a:highlight>
                <a:latin typeface="Consolas" panose="020B0609020204030204" pitchFamily="49" charset="0"/>
              </a:rPr>
              <a:t>       factors found. */</a:t>
            </a: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findfactors</a:t>
            </a:r>
            <a:r>
              <a:rPr lang="en-US" sz="900" dirty="0">
                <a:solidFill>
                  <a:srgbClr val="000000"/>
                </a:solidFill>
                <a:highlight>
                  <a:srgbClr val="FFFFFF"/>
                </a:highlight>
                <a:latin typeface="Consolas" panose="020B0609020204030204" pitchFamily="49" charset="0"/>
              </a:rPr>
              <a:t>(</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num, </a:t>
            </a:r>
            <a:r>
              <a:rPr lang="en-US" sz="900" dirty="0">
                <a:solidFill>
                  <a:srgbClr val="0000FF"/>
                </a:solidFill>
                <a:highlight>
                  <a:srgbClr val="FFFFFF"/>
                </a:highlight>
                <a:latin typeface="Consolas" panose="020B0609020204030204" pitchFamily="49" charset="0"/>
              </a:rPr>
              <a:t>out</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numfactors</a:t>
            </a:r>
            <a:r>
              <a:rPr lang="en-US"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facts = </a:t>
            </a:r>
            <a:r>
              <a:rPr lang="en-US" sz="900" dirty="0">
                <a:solidFill>
                  <a:srgbClr val="0000FF"/>
                </a:solidFill>
                <a:highlight>
                  <a:srgbClr val="FFFFFF"/>
                </a:highlight>
                <a:latin typeface="Consolas" panose="020B0609020204030204" pitchFamily="49" charset="0"/>
              </a:rPr>
              <a:t>new</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[10]; </a:t>
            </a:r>
            <a:r>
              <a:rPr lang="en-US" sz="900" dirty="0">
                <a:solidFill>
                  <a:srgbClr val="008000"/>
                </a:solidFill>
                <a:highlight>
                  <a:srgbClr val="FFFFFF"/>
                </a:highlight>
                <a:latin typeface="Consolas" panose="020B0609020204030204" pitchFamily="49" charset="0"/>
              </a:rPr>
              <a:t>// size of 10 is arbitrary </a:t>
            </a:r>
            <a:endParaRPr lang="en-US"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i</a:t>
            </a:r>
            <a:r>
              <a:rPr lang="en-IN" sz="900" dirty="0">
                <a:solidFill>
                  <a:srgbClr val="000000"/>
                </a:solidFill>
                <a:highlight>
                  <a:srgbClr val="FFFFFF"/>
                </a:highlight>
                <a:latin typeface="Consolas" panose="020B0609020204030204" pitchFamily="49" charset="0"/>
              </a:rPr>
              <a:t>, j;</a:t>
            </a:r>
          </a:p>
          <a:p>
            <a:pPr marL="0" indent="0">
              <a:lnSpc>
                <a:spcPct val="100000"/>
              </a:lnSpc>
              <a:spcBef>
                <a:spcPts val="0"/>
              </a:spcBef>
              <a:buNone/>
            </a:pPr>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find factors and put them in the facts array </a:t>
            </a:r>
            <a:endParaRPr lang="en-US"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nn-NO" sz="900" dirty="0">
                <a:solidFill>
                  <a:srgbClr val="000000"/>
                </a:solidFill>
                <a:highlight>
                  <a:srgbClr val="FFFFFF"/>
                </a:highlight>
                <a:latin typeface="Consolas" panose="020B0609020204030204" pitchFamily="49" charset="0"/>
              </a:rPr>
              <a:t>        </a:t>
            </a:r>
            <a:r>
              <a:rPr lang="nn-NO" sz="900" dirty="0">
                <a:solidFill>
                  <a:srgbClr val="0000FF"/>
                </a:solidFill>
                <a:highlight>
                  <a:srgbClr val="FFFFFF"/>
                </a:highlight>
                <a:latin typeface="Consolas" panose="020B0609020204030204" pitchFamily="49" charset="0"/>
              </a:rPr>
              <a:t>for</a:t>
            </a:r>
            <a:r>
              <a:rPr lang="nn-NO" sz="900" dirty="0">
                <a:solidFill>
                  <a:srgbClr val="000000"/>
                </a:solidFill>
                <a:highlight>
                  <a:srgbClr val="FFFFFF"/>
                </a:highlight>
                <a:latin typeface="Consolas" panose="020B0609020204030204" pitchFamily="49" charset="0"/>
              </a:rPr>
              <a:t> (i = 1, j = 0; i &lt;= num; i++)</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if</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num</a:t>
            </a:r>
            <a:r>
              <a:rPr lang="en-IN" sz="900" dirty="0">
                <a:solidFill>
                  <a:srgbClr val="000000"/>
                </a:solidFill>
                <a:highlight>
                  <a:srgbClr val="FFFFFF"/>
                </a:highlight>
                <a:latin typeface="Consolas" panose="020B0609020204030204" pitchFamily="49" charset="0"/>
              </a:rPr>
              <a:t> % </a:t>
            </a:r>
            <a:r>
              <a:rPr lang="en-IN" sz="900" dirty="0" err="1">
                <a:solidFill>
                  <a:srgbClr val="000000"/>
                </a:solidFill>
                <a:highlight>
                  <a:srgbClr val="FFFFFF"/>
                </a:highlight>
                <a:latin typeface="Consolas" panose="020B0609020204030204" pitchFamily="49" charset="0"/>
              </a:rPr>
              <a:t>i</a:t>
            </a:r>
            <a:r>
              <a:rPr lang="en-IN" sz="900" dirty="0">
                <a:solidFill>
                  <a:srgbClr val="000000"/>
                </a:solidFill>
                <a:highlight>
                  <a:srgbClr val="FFFFFF"/>
                </a:highlight>
                <a:latin typeface="Consolas" panose="020B0609020204030204" pitchFamily="49" charset="0"/>
              </a:rPr>
              <a:t>) == 0)</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facts[j] = </a:t>
            </a:r>
            <a:r>
              <a:rPr lang="en-IN" sz="900" dirty="0" err="1">
                <a:solidFill>
                  <a:srgbClr val="000000"/>
                </a:solidFill>
                <a:highlight>
                  <a:srgbClr val="FFFFFF"/>
                </a:highlight>
                <a:latin typeface="Consolas" panose="020B0609020204030204" pitchFamily="49" charset="0"/>
              </a:rPr>
              <a:t>i</a:t>
            </a: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j++</a:t>
            </a:r>
            <a:r>
              <a:rPr lang="en-IN" sz="900" dirty="0">
                <a:solidFill>
                  <a:srgbClr val="000000"/>
                </a:solidFill>
                <a:highlight>
                  <a:srgbClr val="FFFFFF"/>
                </a:highlight>
                <a:latin typeface="Consolas" panose="020B0609020204030204" pitchFamily="49" charset="0"/>
              </a:rPr>
              <a:t>;//1 2 3 4 5 6 </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numfactors</a:t>
            </a:r>
            <a:r>
              <a:rPr lang="en-IN" sz="900" dirty="0">
                <a:solidFill>
                  <a:srgbClr val="000000"/>
                </a:solidFill>
                <a:highlight>
                  <a:srgbClr val="FFFFFF"/>
                </a:highlight>
                <a:latin typeface="Consolas" panose="020B0609020204030204" pitchFamily="49" charset="0"/>
              </a:rPr>
              <a:t> = j;</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return</a:t>
            </a:r>
            <a:r>
              <a:rPr lang="en-IN" sz="900" dirty="0">
                <a:solidFill>
                  <a:srgbClr val="000000"/>
                </a:solidFill>
                <a:highlight>
                  <a:srgbClr val="FFFFFF"/>
                </a:highlight>
                <a:latin typeface="Consolas" panose="020B0609020204030204" pitchFamily="49" charset="0"/>
              </a:rPr>
              <a:t> facts;</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FindFactors</a:t>
            </a: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static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void</a:t>
            </a:r>
            <a:r>
              <a:rPr lang="en-IN" sz="9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Factor</a:t>
            </a:r>
            <a:r>
              <a:rPr lang="en-IN" sz="900" dirty="0">
                <a:solidFill>
                  <a:srgbClr val="000000"/>
                </a:solidFill>
                <a:highlight>
                  <a:srgbClr val="FFFFFF"/>
                </a:highlight>
                <a:latin typeface="Consolas" panose="020B0609020204030204" pitchFamily="49" charset="0"/>
              </a:rPr>
              <a:t> f = </a:t>
            </a:r>
            <a:r>
              <a:rPr lang="en-IN" sz="900" dirty="0">
                <a:solidFill>
                  <a:srgbClr val="0000FF"/>
                </a:solidFill>
                <a:highlight>
                  <a:srgbClr val="FFFFFF"/>
                </a:highlight>
                <a:latin typeface="Consolas" panose="020B0609020204030204" pitchFamily="49" charset="0"/>
              </a:rPr>
              <a:t>new</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Factor</a:t>
            </a: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numfactors</a:t>
            </a: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factors;</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900" dirty="0">
                <a:solidFill>
                  <a:srgbClr val="000000"/>
                </a:solidFill>
                <a:highlight>
                  <a:srgbClr val="FFFFFF"/>
                </a:highlight>
                <a:latin typeface="Consolas" panose="020B0609020204030204" pitchFamily="49" charset="0"/>
              </a:rPr>
              <a:t>        factors = </a:t>
            </a:r>
            <a:r>
              <a:rPr lang="en-US" sz="900" dirty="0" err="1">
                <a:solidFill>
                  <a:srgbClr val="000000"/>
                </a:solidFill>
                <a:highlight>
                  <a:srgbClr val="FFFFFF"/>
                </a:highlight>
                <a:latin typeface="Consolas" panose="020B0609020204030204" pitchFamily="49" charset="0"/>
              </a:rPr>
              <a:t>f.findfactors</a:t>
            </a:r>
            <a:r>
              <a:rPr lang="en-US" sz="900" dirty="0">
                <a:solidFill>
                  <a:srgbClr val="000000"/>
                </a:solidFill>
                <a:highlight>
                  <a:srgbClr val="FFFFFF"/>
                </a:highlight>
                <a:latin typeface="Consolas" panose="020B0609020204030204" pitchFamily="49" charset="0"/>
              </a:rPr>
              <a:t>(12, </a:t>
            </a:r>
            <a:r>
              <a:rPr lang="en-US" sz="900" dirty="0">
                <a:solidFill>
                  <a:srgbClr val="0000FF"/>
                </a:solidFill>
                <a:highlight>
                  <a:srgbClr val="FFFFFF"/>
                </a:highlight>
                <a:latin typeface="Consolas" panose="020B0609020204030204" pitchFamily="49" charset="0"/>
              </a:rPr>
              <a:t>out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numfactors</a:t>
            </a:r>
            <a:r>
              <a:rPr lang="en-US"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900" dirty="0">
                <a:solidFill>
                  <a:srgbClr val="000000"/>
                </a:solidFill>
                <a:highlight>
                  <a:srgbClr val="FFFFFF"/>
                </a:highlight>
                <a:latin typeface="Consolas" panose="020B0609020204030204" pitchFamily="49" charset="0"/>
              </a:rPr>
              <a:t>        </a:t>
            </a:r>
            <a:r>
              <a:rPr lang="en-US" sz="900" dirty="0" err="1">
                <a:solidFill>
                  <a:srgbClr val="2B91AF"/>
                </a:solidFill>
                <a:highlight>
                  <a:srgbClr val="FFFFFF"/>
                </a:highlight>
                <a:latin typeface="Consolas" panose="020B0609020204030204" pitchFamily="49" charset="0"/>
              </a:rPr>
              <a:t>Console</a:t>
            </a:r>
            <a:r>
              <a:rPr lang="en-US" sz="900" dirty="0" err="1">
                <a:solidFill>
                  <a:srgbClr val="000000"/>
                </a:solidFill>
                <a:highlight>
                  <a:srgbClr val="FFFFFF"/>
                </a:highlight>
                <a:latin typeface="Consolas" panose="020B0609020204030204" pitchFamily="49" charset="0"/>
              </a:rPr>
              <a:t>.WriteLine</a:t>
            </a:r>
            <a:r>
              <a:rPr lang="en-US" sz="900" dirty="0">
                <a:solidFill>
                  <a:srgbClr val="000000"/>
                </a:solidFill>
                <a:highlight>
                  <a:srgbClr val="FFFFFF"/>
                </a:highlight>
                <a:latin typeface="Consolas" panose="020B0609020204030204" pitchFamily="49" charset="0"/>
              </a:rPr>
              <a:t>(</a:t>
            </a:r>
            <a:r>
              <a:rPr lang="en-US" sz="900" dirty="0">
                <a:solidFill>
                  <a:srgbClr val="A31515"/>
                </a:solidFill>
                <a:highlight>
                  <a:srgbClr val="FFFFFF"/>
                </a:highlight>
                <a:latin typeface="Consolas" panose="020B0609020204030204" pitchFamily="49" charset="0"/>
              </a:rPr>
              <a:t>"Factors for 12 are:{0} "</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numfactors</a:t>
            </a:r>
            <a:r>
              <a:rPr lang="en-US"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for</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i</a:t>
            </a:r>
            <a:r>
              <a:rPr lang="en-IN" sz="900" dirty="0">
                <a:solidFill>
                  <a:srgbClr val="000000"/>
                </a:solidFill>
                <a:highlight>
                  <a:srgbClr val="FFFFFF"/>
                </a:highlight>
                <a:latin typeface="Consolas" panose="020B0609020204030204" pitchFamily="49" charset="0"/>
              </a:rPr>
              <a:t> = 0; </a:t>
            </a:r>
            <a:r>
              <a:rPr lang="en-IN" sz="900" dirty="0" err="1">
                <a:solidFill>
                  <a:srgbClr val="000000"/>
                </a:solidFill>
                <a:highlight>
                  <a:srgbClr val="FFFFFF"/>
                </a:highlight>
                <a:latin typeface="Consolas" panose="020B0609020204030204" pitchFamily="49" charset="0"/>
              </a:rPr>
              <a:t>i</a:t>
            </a:r>
            <a:r>
              <a:rPr lang="en-IN" sz="900" dirty="0">
                <a:solidFill>
                  <a:srgbClr val="000000"/>
                </a:solidFill>
                <a:highlight>
                  <a:srgbClr val="FFFFFF"/>
                </a:highlight>
                <a:latin typeface="Consolas" panose="020B0609020204030204" pitchFamily="49" charset="0"/>
              </a:rPr>
              <a:t> &lt; </a:t>
            </a:r>
            <a:r>
              <a:rPr lang="en-IN" sz="900" dirty="0" err="1">
                <a:solidFill>
                  <a:srgbClr val="000000"/>
                </a:solidFill>
                <a:highlight>
                  <a:srgbClr val="FFFFFF"/>
                </a:highlight>
                <a:latin typeface="Consolas" panose="020B0609020204030204" pitchFamily="49" charset="0"/>
              </a:rPr>
              <a:t>numfactors</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i</a:t>
            </a: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a:t>
            </a:r>
            <a:r>
              <a:rPr lang="en-IN" sz="900" dirty="0">
                <a:solidFill>
                  <a:srgbClr val="000000"/>
                </a:solidFill>
                <a:highlight>
                  <a:srgbClr val="FFFFFF"/>
                </a:highlight>
                <a:latin typeface="Consolas" panose="020B0609020204030204" pitchFamily="49" charset="0"/>
              </a:rPr>
              <a:t>(factors[</a:t>
            </a:r>
            <a:r>
              <a:rPr lang="en-IN" sz="900" dirty="0" err="1">
                <a:solidFill>
                  <a:srgbClr val="000000"/>
                </a:solidFill>
                <a:highlight>
                  <a:srgbClr val="FFFFFF"/>
                </a:highlight>
                <a:latin typeface="Consolas" panose="020B0609020204030204" pitchFamily="49" charset="0"/>
              </a:rPr>
              <a:t>i</a:t>
            </a:r>
            <a:r>
              <a:rPr lang="en-IN" sz="900" dirty="0">
                <a:solidFill>
                  <a:srgbClr val="000000"/>
                </a:solidFill>
                <a:highlight>
                  <a:srgbClr val="FFFFFF"/>
                </a:highlight>
                <a:latin typeface="Consolas" panose="020B0609020204030204" pitchFamily="49" charset="0"/>
              </a:rPr>
              <a:t>] + </a:t>
            </a:r>
            <a:r>
              <a:rPr lang="en-IN" sz="900" dirty="0">
                <a:solidFill>
                  <a:srgbClr val="A31515"/>
                </a:solidFill>
                <a:highlight>
                  <a:srgbClr val="FFFFFF"/>
                </a:highlight>
                <a:latin typeface="Consolas" panose="020B0609020204030204" pitchFamily="49" charset="0"/>
              </a:rPr>
              <a:t>" "</a:t>
            </a: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900" dirty="0"/>
          </a:p>
        </p:txBody>
      </p:sp>
      <p:sp>
        <p:nvSpPr>
          <p:cNvPr id="4" name="Rectangle 3">
            <a:extLst>
              <a:ext uri="{FF2B5EF4-FFF2-40B4-BE49-F238E27FC236}">
                <a16:creationId xmlns:a16="http://schemas.microsoft.com/office/drawing/2014/main" id="{1D401F44-2E04-4CA1-87A6-5394730EF178}"/>
              </a:ext>
            </a:extLst>
          </p:cNvPr>
          <p:cNvSpPr/>
          <p:nvPr/>
        </p:nvSpPr>
        <p:spPr>
          <a:xfrm>
            <a:off x="314960" y="2652932"/>
            <a:ext cx="584200" cy="483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9CA7A96A-0A02-4751-B9AC-A6685DE7B4E0}"/>
              </a:ext>
            </a:extLst>
          </p:cNvPr>
          <p:cNvSpPr/>
          <p:nvPr/>
        </p:nvSpPr>
        <p:spPr>
          <a:xfrm>
            <a:off x="1584960" y="2509520"/>
            <a:ext cx="955040" cy="930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A6E3BBAF-49CA-4965-913A-E2518C5DF313}"/>
              </a:ext>
            </a:extLst>
          </p:cNvPr>
          <p:cNvSpPr/>
          <p:nvPr/>
        </p:nvSpPr>
        <p:spPr>
          <a:xfrm>
            <a:off x="3225800" y="2550160"/>
            <a:ext cx="1249680" cy="325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86DAF9E-E6B5-4854-80F3-467AFB55BC9D}"/>
              </a:ext>
            </a:extLst>
          </p:cNvPr>
          <p:cNvSpPr txBox="1"/>
          <p:nvPr/>
        </p:nvSpPr>
        <p:spPr>
          <a:xfrm>
            <a:off x="2834640" y="2225040"/>
            <a:ext cx="3423920" cy="276999"/>
          </a:xfrm>
          <a:prstGeom prst="rect">
            <a:avLst/>
          </a:prstGeom>
          <a:noFill/>
        </p:spPr>
        <p:txBody>
          <a:bodyPr wrap="square" rtlCol="0">
            <a:spAutoFit/>
          </a:bodyPr>
          <a:lstStyle/>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findfactors</a:t>
            </a:r>
            <a:endParaRPr lang="en-IN" sz="1200" dirty="0"/>
          </a:p>
        </p:txBody>
      </p:sp>
      <p:sp>
        <p:nvSpPr>
          <p:cNvPr id="9" name="TextBox 8">
            <a:extLst>
              <a:ext uri="{FF2B5EF4-FFF2-40B4-BE49-F238E27FC236}">
                <a16:creationId xmlns:a16="http://schemas.microsoft.com/office/drawing/2014/main" id="{82D39AD5-6112-4130-9D7B-B544104AA8C0}"/>
              </a:ext>
            </a:extLst>
          </p:cNvPr>
          <p:cNvSpPr txBox="1"/>
          <p:nvPr/>
        </p:nvSpPr>
        <p:spPr>
          <a:xfrm>
            <a:off x="248920" y="2225040"/>
            <a:ext cx="360680" cy="369332"/>
          </a:xfrm>
          <a:prstGeom prst="rect">
            <a:avLst/>
          </a:prstGeom>
          <a:noFill/>
        </p:spPr>
        <p:txBody>
          <a:bodyPr wrap="square" rtlCol="0">
            <a:spAutoFit/>
          </a:bodyPr>
          <a:lstStyle/>
          <a:p>
            <a:r>
              <a:rPr lang="en-IN" dirty="0"/>
              <a:t>f</a:t>
            </a:r>
          </a:p>
        </p:txBody>
      </p:sp>
      <p:sp>
        <p:nvSpPr>
          <p:cNvPr id="10" name="TextBox 9">
            <a:extLst>
              <a:ext uri="{FF2B5EF4-FFF2-40B4-BE49-F238E27FC236}">
                <a16:creationId xmlns:a16="http://schemas.microsoft.com/office/drawing/2014/main" id="{7869C8F8-7482-4E76-B9D0-6D681C3B57BF}"/>
              </a:ext>
            </a:extLst>
          </p:cNvPr>
          <p:cNvSpPr txBox="1"/>
          <p:nvPr/>
        </p:nvSpPr>
        <p:spPr>
          <a:xfrm>
            <a:off x="721360" y="4775200"/>
            <a:ext cx="1818640" cy="369332"/>
          </a:xfrm>
          <a:prstGeom prst="rect">
            <a:avLst/>
          </a:prstGeom>
          <a:noFill/>
        </p:spPr>
        <p:txBody>
          <a:bodyPr wrap="square" rtlCol="0">
            <a:spAutoFit/>
          </a:bodyPr>
          <a:lstStyle/>
          <a:p>
            <a:r>
              <a:rPr lang="en-IN" dirty="0" err="1">
                <a:solidFill>
                  <a:srgbClr val="000000"/>
                </a:solidFill>
                <a:highlight>
                  <a:srgbClr val="FFFFFF"/>
                </a:highlight>
                <a:latin typeface="Consolas" panose="020B0609020204030204" pitchFamily="49" charset="0"/>
              </a:rPr>
              <a:t>numfactors</a:t>
            </a:r>
            <a:endParaRPr lang="en-IN" dirty="0"/>
          </a:p>
        </p:txBody>
      </p:sp>
      <p:sp>
        <p:nvSpPr>
          <p:cNvPr id="11" name="Rectangle 10">
            <a:extLst>
              <a:ext uri="{FF2B5EF4-FFF2-40B4-BE49-F238E27FC236}">
                <a16:creationId xmlns:a16="http://schemas.microsoft.com/office/drawing/2014/main" id="{CFCDCA84-B95A-4E8C-B18A-1EF0868518B1}"/>
              </a:ext>
            </a:extLst>
          </p:cNvPr>
          <p:cNvSpPr/>
          <p:nvPr/>
        </p:nvSpPr>
        <p:spPr>
          <a:xfrm>
            <a:off x="1087120" y="5394959"/>
            <a:ext cx="851794" cy="9448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a:p>
            <a:pPr algn="ctr"/>
            <a:r>
              <a:rPr lang="en-IN" dirty="0"/>
              <a:t>6</a:t>
            </a:r>
          </a:p>
        </p:txBody>
      </p:sp>
      <p:sp>
        <p:nvSpPr>
          <p:cNvPr id="12" name="Rectangle 11">
            <a:extLst>
              <a:ext uri="{FF2B5EF4-FFF2-40B4-BE49-F238E27FC236}">
                <a16:creationId xmlns:a16="http://schemas.microsoft.com/office/drawing/2014/main" id="{34B222BD-1AAC-4C29-88D2-225943F73EE6}"/>
              </a:ext>
            </a:extLst>
          </p:cNvPr>
          <p:cNvSpPr/>
          <p:nvPr/>
        </p:nvSpPr>
        <p:spPr>
          <a:xfrm>
            <a:off x="234601" y="4395073"/>
            <a:ext cx="1704313" cy="369332"/>
          </a:xfrm>
          <a:prstGeom prst="rect">
            <a:avLst/>
          </a:prstGeom>
        </p:spPr>
        <p:txBody>
          <a:bodyPr wrap="none">
            <a:spAutoFit/>
          </a:bodyPr>
          <a:lstStyle/>
          <a:p>
            <a:r>
              <a:rPr lang="en-US" dirty="0">
                <a:solidFill>
                  <a:srgbClr val="000000"/>
                </a:solidFill>
                <a:highlight>
                  <a:srgbClr val="FFFFFF"/>
                </a:highlight>
                <a:latin typeface="Consolas" panose="020B0609020204030204" pitchFamily="49" charset="0"/>
              </a:rPr>
              <a:t>{</a:t>
            </a:r>
            <a:r>
              <a:rPr lang="en-US" dirty="0" err="1">
                <a:solidFill>
                  <a:srgbClr val="000000"/>
                </a:solidFill>
                <a:highlight>
                  <a:srgbClr val="FFFFFF"/>
                </a:highlight>
                <a:latin typeface="Consolas" panose="020B0609020204030204" pitchFamily="49" charset="0"/>
              </a:rPr>
              <a:t>numfactors</a:t>
            </a:r>
            <a:r>
              <a:rPr lang="en-US" dirty="0">
                <a:solidFill>
                  <a:srgbClr val="000000"/>
                </a:solidFill>
                <a:highlight>
                  <a:srgbClr val="FFFFFF"/>
                </a:highlight>
                <a:latin typeface="Consolas" panose="020B0609020204030204" pitchFamily="49" charset="0"/>
              </a:rPr>
              <a:t>}</a:t>
            </a:r>
            <a:endParaRPr lang="en-IN" dirty="0"/>
          </a:p>
        </p:txBody>
      </p:sp>
      <p:cxnSp>
        <p:nvCxnSpPr>
          <p:cNvPr id="14" name="Straight Connector 13">
            <a:extLst>
              <a:ext uri="{FF2B5EF4-FFF2-40B4-BE49-F238E27FC236}">
                <a16:creationId xmlns:a16="http://schemas.microsoft.com/office/drawing/2014/main" id="{94938E7D-4AD1-435F-8AB9-696A6E552FDB}"/>
              </a:ext>
            </a:extLst>
          </p:cNvPr>
          <p:cNvCxnSpPr/>
          <p:nvPr/>
        </p:nvCxnSpPr>
        <p:spPr>
          <a:xfrm flipV="1">
            <a:off x="1341120" y="5499497"/>
            <a:ext cx="406400" cy="401002"/>
          </a:xfrm>
          <a:prstGeom prst="line">
            <a:avLst/>
          </a:prstGeom>
        </p:spPr>
        <p:style>
          <a:lnRef idx="3">
            <a:schemeClr val="accent4"/>
          </a:lnRef>
          <a:fillRef idx="0">
            <a:schemeClr val="accent4"/>
          </a:fillRef>
          <a:effectRef idx="2">
            <a:schemeClr val="accent4"/>
          </a:effectRef>
          <a:fontRef idx="minor">
            <a:schemeClr val="tx1"/>
          </a:fontRef>
        </p:style>
      </p:cxnSp>
      <p:graphicFrame>
        <p:nvGraphicFramePr>
          <p:cNvPr id="15" name="Table 15">
            <a:extLst>
              <a:ext uri="{FF2B5EF4-FFF2-40B4-BE49-F238E27FC236}">
                <a16:creationId xmlns:a16="http://schemas.microsoft.com/office/drawing/2014/main" id="{884EE192-3C99-4EFE-AFA0-1A17397EB0C5}"/>
              </a:ext>
            </a:extLst>
          </p:cNvPr>
          <p:cNvGraphicFramePr>
            <a:graphicFrameLocks noGrp="1"/>
          </p:cNvGraphicFramePr>
          <p:nvPr>
            <p:extLst>
              <p:ext uri="{D42A27DB-BD31-4B8C-83A1-F6EECF244321}">
                <p14:modId xmlns:p14="http://schemas.microsoft.com/office/powerpoint/2010/main" val="2316429685"/>
              </p:ext>
            </p:extLst>
          </p:nvPr>
        </p:nvGraphicFramePr>
        <p:xfrm>
          <a:off x="3116168" y="3136057"/>
          <a:ext cx="2564956" cy="365760"/>
        </p:xfrm>
        <a:graphic>
          <a:graphicData uri="http://schemas.openxmlformats.org/drawingml/2006/table">
            <a:tbl>
              <a:tblPr firstRow="1" bandRow="1">
                <a:tableStyleId>{5C22544A-7EE6-4342-B048-85BDC9FD1C3A}</a:tableStyleId>
              </a:tblPr>
              <a:tblGrid>
                <a:gridCol w="239776">
                  <a:extLst>
                    <a:ext uri="{9D8B030D-6E8A-4147-A177-3AD203B41FA5}">
                      <a16:colId xmlns:a16="http://schemas.microsoft.com/office/drawing/2014/main" val="2405385280"/>
                    </a:ext>
                  </a:extLst>
                </a:gridCol>
                <a:gridCol w="239776">
                  <a:extLst>
                    <a:ext uri="{9D8B030D-6E8A-4147-A177-3AD203B41FA5}">
                      <a16:colId xmlns:a16="http://schemas.microsoft.com/office/drawing/2014/main" val="1601069202"/>
                    </a:ext>
                  </a:extLst>
                </a:gridCol>
                <a:gridCol w="239776">
                  <a:extLst>
                    <a:ext uri="{9D8B030D-6E8A-4147-A177-3AD203B41FA5}">
                      <a16:colId xmlns:a16="http://schemas.microsoft.com/office/drawing/2014/main" val="196248853"/>
                    </a:ext>
                  </a:extLst>
                </a:gridCol>
                <a:gridCol w="239776">
                  <a:extLst>
                    <a:ext uri="{9D8B030D-6E8A-4147-A177-3AD203B41FA5}">
                      <a16:colId xmlns:a16="http://schemas.microsoft.com/office/drawing/2014/main" val="1505175497"/>
                    </a:ext>
                  </a:extLst>
                </a:gridCol>
                <a:gridCol w="239776">
                  <a:extLst>
                    <a:ext uri="{9D8B030D-6E8A-4147-A177-3AD203B41FA5}">
                      <a16:colId xmlns:a16="http://schemas.microsoft.com/office/drawing/2014/main" val="205784669"/>
                    </a:ext>
                  </a:extLst>
                </a:gridCol>
                <a:gridCol w="438468">
                  <a:extLst>
                    <a:ext uri="{9D8B030D-6E8A-4147-A177-3AD203B41FA5}">
                      <a16:colId xmlns:a16="http://schemas.microsoft.com/office/drawing/2014/main" val="47959036"/>
                    </a:ext>
                  </a:extLst>
                </a:gridCol>
                <a:gridCol w="208280">
                  <a:extLst>
                    <a:ext uri="{9D8B030D-6E8A-4147-A177-3AD203B41FA5}">
                      <a16:colId xmlns:a16="http://schemas.microsoft.com/office/drawing/2014/main" val="3522006960"/>
                    </a:ext>
                  </a:extLst>
                </a:gridCol>
                <a:gridCol w="239776">
                  <a:extLst>
                    <a:ext uri="{9D8B030D-6E8A-4147-A177-3AD203B41FA5}">
                      <a16:colId xmlns:a16="http://schemas.microsoft.com/office/drawing/2014/main" val="3044197962"/>
                    </a:ext>
                  </a:extLst>
                </a:gridCol>
                <a:gridCol w="239776">
                  <a:extLst>
                    <a:ext uri="{9D8B030D-6E8A-4147-A177-3AD203B41FA5}">
                      <a16:colId xmlns:a16="http://schemas.microsoft.com/office/drawing/2014/main" val="2108594838"/>
                    </a:ext>
                  </a:extLst>
                </a:gridCol>
                <a:gridCol w="239776">
                  <a:extLst>
                    <a:ext uri="{9D8B030D-6E8A-4147-A177-3AD203B41FA5}">
                      <a16:colId xmlns:a16="http://schemas.microsoft.com/office/drawing/2014/main" val="949354959"/>
                    </a:ext>
                  </a:extLst>
                </a:gridCol>
              </a:tblGrid>
              <a:tr h="276999">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tc>
                  <a:txBody>
                    <a:bodyPr/>
                    <a:lstStyle/>
                    <a:p>
                      <a:r>
                        <a:rPr lang="en-IN" dirty="0"/>
                        <a:t>6</a:t>
                      </a:r>
                    </a:p>
                  </a:txBody>
                  <a:tcPr/>
                </a:tc>
                <a:tc>
                  <a:txBody>
                    <a:bodyPr/>
                    <a:lstStyle/>
                    <a:p>
                      <a:r>
                        <a:rPr lang="en-IN" dirty="0"/>
                        <a:t>12</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2565621351"/>
                  </a:ext>
                </a:extLst>
              </a:tr>
            </a:tbl>
          </a:graphicData>
        </a:graphic>
      </p:graphicFrame>
      <p:sp>
        <p:nvSpPr>
          <p:cNvPr id="18" name="TextBox 17">
            <a:extLst>
              <a:ext uri="{FF2B5EF4-FFF2-40B4-BE49-F238E27FC236}">
                <a16:creationId xmlns:a16="http://schemas.microsoft.com/office/drawing/2014/main" id="{E9E6C259-5F87-4E17-A380-58D751789F61}"/>
              </a:ext>
            </a:extLst>
          </p:cNvPr>
          <p:cNvSpPr txBox="1"/>
          <p:nvPr/>
        </p:nvSpPr>
        <p:spPr>
          <a:xfrm>
            <a:off x="1877954" y="3830498"/>
            <a:ext cx="1220023" cy="461665"/>
          </a:xfrm>
          <a:prstGeom prst="rect">
            <a:avLst/>
          </a:prstGeom>
          <a:noFill/>
        </p:spPr>
        <p:txBody>
          <a:bodyPr wrap="square" rtlCol="0">
            <a:spAutoFit/>
          </a:bodyPr>
          <a:lstStyle/>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factS</a:t>
            </a:r>
            <a:endParaRPr lang="en-IN" sz="1200" dirty="0"/>
          </a:p>
        </p:txBody>
      </p:sp>
      <p:sp>
        <p:nvSpPr>
          <p:cNvPr id="19" name="Rectangle 18">
            <a:extLst>
              <a:ext uri="{FF2B5EF4-FFF2-40B4-BE49-F238E27FC236}">
                <a16:creationId xmlns:a16="http://schemas.microsoft.com/office/drawing/2014/main" id="{F720D6B3-824D-4EC1-8C03-C99712B8F38E}"/>
              </a:ext>
            </a:extLst>
          </p:cNvPr>
          <p:cNvSpPr/>
          <p:nvPr/>
        </p:nvSpPr>
        <p:spPr>
          <a:xfrm>
            <a:off x="2849573" y="4036199"/>
            <a:ext cx="361914"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Arrow Connector 20">
            <a:extLst>
              <a:ext uri="{FF2B5EF4-FFF2-40B4-BE49-F238E27FC236}">
                <a16:creationId xmlns:a16="http://schemas.microsoft.com/office/drawing/2014/main" id="{588C40B9-0BE0-4D7A-B647-56F829C96DFC}"/>
              </a:ext>
            </a:extLst>
          </p:cNvPr>
          <p:cNvCxnSpPr>
            <a:cxnSpLocks/>
            <a:stCxn id="19" idx="0"/>
          </p:cNvCxnSpPr>
          <p:nvPr/>
        </p:nvCxnSpPr>
        <p:spPr>
          <a:xfrm flipV="1">
            <a:off x="3030530" y="3611881"/>
            <a:ext cx="185110" cy="4243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6A6DED6-8BFE-493C-956E-6657AC056610}"/>
              </a:ext>
            </a:extLst>
          </p:cNvPr>
          <p:cNvSpPr txBox="1"/>
          <p:nvPr/>
        </p:nvSpPr>
        <p:spPr>
          <a:xfrm>
            <a:off x="2001520" y="5364658"/>
            <a:ext cx="1259017" cy="246221"/>
          </a:xfrm>
          <a:prstGeom prst="rect">
            <a:avLst/>
          </a:prstGeom>
          <a:noFill/>
        </p:spPr>
        <p:txBody>
          <a:bodyPr wrap="square" rtlCol="0">
            <a:spAutoFit/>
          </a:bodyPr>
          <a:lstStyle/>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int</a:t>
            </a:r>
            <a:r>
              <a:rPr lang="en-US" sz="1000" dirty="0">
                <a:solidFill>
                  <a:srgbClr val="000000"/>
                </a:solidFill>
                <a:highlight>
                  <a:srgbClr val="FFFFFF"/>
                </a:highlight>
                <a:latin typeface="Consolas" panose="020B0609020204030204" pitchFamily="49" charset="0"/>
              </a:rPr>
              <a:t>[] factors</a:t>
            </a:r>
            <a:endParaRPr lang="en-IN" sz="1000" dirty="0"/>
          </a:p>
        </p:txBody>
      </p:sp>
      <p:sp>
        <p:nvSpPr>
          <p:cNvPr id="26" name="Rectangle 25">
            <a:extLst>
              <a:ext uri="{FF2B5EF4-FFF2-40B4-BE49-F238E27FC236}">
                <a16:creationId xmlns:a16="http://schemas.microsoft.com/office/drawing/2014/main" id="{0100E0D1-4749-4045-B5A4-1E6F95477C42}"/>
              </a:ext>
            </a:extLst>
          </p:cNvPr>
          <p:cNvSpPr/>
          <p:nvPr/>
        </p:nvSpPr>
        <p:spPr>
          <a:xfrm>
            <a:off x="3208915" y="5320277"/>
            <a:ext cx="361914"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7" name="Straight Arrow Connector 26">
            <a:extLst>
              <a:ext uri="{FF2B5EF4-FFF2-40B4-BE49-F238E27FC236}">
                <a16:creationId xmlns:a16="http://schemas.microsoft.com/office/drawing/2014/main" id="{4CA346B5-85D9-4D10-BF6F-6297B6282915}"/>
              </a:ext>
            </a:extLst>
          </p:cNvPr>
          <p:cNvCxnSpPr>
            <a:cxnSpLocks/>
          </p:cNvCxnSpPr>
          <p:nvPr/>
        </p:nvCxnSpPr>
        <p:spPr>
          <a:xfrm flipV="1">
            <a:off x="3586480" y="3830499"/>
            <a:ext cx="548640" cy="14120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B019EA38-4EFA-4D15-B5D2-1D6C47CA504A}"/>
              </a:ext>
            </a:extLst>
          </p:cNvPr>
          <p:cNvSpPr txBox="1"/>
          <p:nvPr/>
        </p:nvSpPr>
        <p:spPr>
          <a:xfrm>
            <a:off x="4928214" y="2225040"/>
            <a:ext cx="956275" cy="276999"/>
          </a:xfrm>
          <a:prstGeom prst="rect">
            <a:avLst/>
          </a:prstGeom>
          <a:noFill/>
        </p:spPr>
        <p:txBody>
          <a:bodyPr wrap="square" rtlCol="0">
            <a:spAutoFit/>
          </a:bodyPr>
          <a:lstStyle/>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 num</a:t>
            </a:r>
            <a:endParaRPr lang="en-IN" sz="1200" dirty="0"/>
          </a:p>
        </p:txBody>
      </p:sp>
      <p:sp>
        <p:nvSpPr>
          <p:cNvPr id="33" name="Rectangle 32">
            <a:extLst>
              <a:ext uri="{FF2B5EF4-FFF2-40B4-BE49-F238E27FC236}">
                <a16:creationId xmlns:a16="http://schemas.microsoft.com/office/drawing/2014/main" id="{F67F0FA3-D43C-46CC-ACE3-D4DEA3C56052}"/>
              </a:ext>
            </a:extLst>
          </p:cNvPr>
          <p:cNvSpPr/>
          <p:nvPr/>
        </p:nvSpPr>
        <p:spPr>
          <a:xfrm>
            <a:off x="5161280" y="2457697"/>
            <a:ext cx="588047"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12</a:t>
            </a:r>
          </a:p>
        </p:txBody>
      </p:sp>
      <p:sp>
        <p:nvSpPr>
          <p:cNvPr id="34" name="Rectangle 33">
            <a:extLst>
              <a:ext uri="{FF2B5EF4-FFF2-40B4-BE49-F238E27FC236}">
                <a16:creationId xmlns:a16="http://schemas.microsoft.com/office/drawing/2014/main" id="{1025F3DF-2D80-4B0D-8758-4AAA86002294}"/>
              </a:ext>
            </a:extLst>
          </p:cNvPr>
          <p:cNvSpPr/>
          <p:nvPr/>
        </p:nvSpPr>
        <p:spPr>
          <a:xfrm>
            <a:off x="1417912" y="2065465"/>
            <a:ext cx="1289135" cy="276999"/>
          </a:xfrm>
          <a:prstGeom prst="rect">
            <a:avLst/>
          </a:prstGeom>
        </p:spPr>
        <p:txBody>
          <a:bodyPr wrap="none">
            <a:spAutoFit/>
          </a:bodyPr>
          <a:lstStyle/>
          <a:p>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Factor</a:t>
            </a:r>
            <a:r>
              <a:rPr lang="en-IN" sz="1200" dirty="0">
                <a:solidFill>
                  <a:srgbClr val="000000"/>
                </a:solidFill>
                <a:highlight>
                  <a:srgbClr val="FFFFFF"/>
                </a:highlight>
                <a:latin typeface="Consolas" panose="020B0609020204030204" pitchFamily="49" charset="0"/>
              </a:rPr>
              <a:t>();</a:t>
            </a:r>
            <a:endParaRPr lang="en-IN" sz="1200" dirty="0"/>
          </a:p>
        </p:txBody>
      </p:sp>
      <p:cxnSp>
        <p:nvCxnSpPr>
          <p:cNvPr id="13" name="Straight Arrow Connector 12">
            <a:extLst>
              <a:ext uri="{FF2B5EF4-FFF2-40B4-BE49-F238E27FC236}">
                <a16:creationId xmlns:a16="http://schemas.microsoft.com/office/drawing/2014/main" id="{22A7A710-BCC6-4BC0-B830-2E95835F89AB}"/>
              </a:ext>
            </a:extLst>
          </p:cNvPr>
          <p:cNvCxnSpPr/>
          <p:nvPr/>
        </p:nvCxnSpPr>
        <p:spPr>
          <a:xfrm flipV="1">
            <a:off x="899160" y="2823457"/>
            <a:ext cx="440727" cy="198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4935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A6A2DE-7634-46CB-AD29-682C0B84A96A}"/>
              </a:ext>
            </a:extLst>
          </p:cNvPr>
          <p:cNvSpPr>
            <a:spLocks noGrp="1"/>
          </p:cNvSpPr>
          <p:nvPr>
            <p:ph idx="1"/>
          </p:nvPr>
        </p:nvSpPr>
        <p:spPr>
          <a:xfrm>
            <a:off x="766916" y="776748"/>
            <a:ext cx="10586884" cy="5400215"/>
          </a:xfrm>
        </p:spPr>
        <p:txBody>
          <a:bodyPr/>
          <a:lstStyle/>
          <a:p>
            <a:pPr marL="0" indent="0">
              <a:buNone/>
            </a:pPr>
            <a:r>
              <a:rPr lang="en-IN" dirty="0"/>
              <a:t>TASK</a:t>
            </a:r>
          </a:p>
          <a:p>
            <a:pPr marL="0" indent="0">
              <a:buNone/>
            </a:pPr>
            <a:r>
              <a:rPr lang="en-IN" dirty="0"/>
              <a:t>Write a method which will accept two number and return all even number between it as array and also give count in out variable.</a:t>
            </a:r>
          </a:p>
          <a:p>
            <a:pPr marL="0" indent="0">
              <a:buNone/>
            </a:pPr>
            <a:r>
              <a:rPr lang="en-IN" dirty="0"/>
              <a:t>Int count=</a:t>
            </a:r>
          </a:p>
          <a:p>
            <a:pPr marL="0" indent="0">
              <a:buNone/>
            </a:pPr>
            <a:r>
              <a:rPr lang="en-IN" dirty="0"/>
              <a:t>Int [] result=</a:t>
            </a:r>
            <a:r>
              <a:rPr lang="en-IN" dirty="0" err="1"/>
              <a:t>Dojob</a:t>
            </a:r>
            <a:r>
              <a:rPr lang="en-IN" dirty="0"/>
              <a:t>(5,30)</a:t>
            </a:r>
          </a:p>
          <a:p>
            <a:pPr marL="0" indent="0">
              <a:buNone/>
            </a:pPr>
            <a:endParaRPr lang="en-IN" dirty="0"/>
          </a:p>
          <a:p>
            <a:pPr marL="0" indent="0">
              <a:buNone/>
            </a:pPr>
            <a:r>
              <a:rPr lang="en-IN" dirty="0"/>
              <a:t>Create class </a:t>
            </a:r>
            <a:r>
              <a:rPr lang="en-IN" dirty="0" err="1"/>
              <a:t>Mymath</a:t>
            </a:r>
            <a:r>
              <a:rPr lang="en-IN" dirty="0"/>
              <a:t> having instance method </a:t>
            </a:r>
          </a:p>
          <a:p>
            <a:pPr marL="0" indent="0">
              <a:buNone/>
            </a:pPr>
            <a:r>
              <a:rPr lang="en-IN" dirty="0"/>
              <a:t>Public int[] </a:t>
            </a:r>
            <a:r>
              <a:rPr lang="en-IN" dirty="0" err="1"/>
              <a:t>getfactor</a:t>
            </a:r>
            <a:r>
              <a:rPr lang="en-IN" dirty="0"/>
              <a:t>(int no, out int count){}</a:t>
            </a:r>
          </a:p>
          <a:p>
            <a:pPr marL="0" indent="0">
              <a:buNone/>
            </a:pPr>
            <a:r>
              <a:rPr lang="en-IN" dirty="0"/>
              <a:t>Which will return all factor of number as array and set value in count </a:t>
            </a:r>
            <a:r>
              <a:rPr lang="en-IN" dirty="0" err="1"/>
              <a:t>ie</a:t>
            </a:r>
            <a:r>
              <a:rPr lang="en-IN" dirty="0"/>
              <a:t>. Total number of factor.</a:t>
            </a:r>
          </a:p>
          <a:p>
            <a:pPr marL="0" indent="0">
              <a:buNone/>
            </a:pPr>
            <a:r>
              <a:rPr lang="en-IN" dirty="0" err="1"/>
              <a:t>Eg</a:t>
            </a:r>
            <a:r>
              <a:rPr lang="en-IN" dirty="0"/>
              <a:t> no=12 </a:t>
            </a:r>
            <a:r>
              <a:rPr lang="en-IN" dirty="0">
                <a:sym typeface="Wingdings" panose="05000000000000000000" pitchFamily="2" charset="2"/>
              </a:rPr>
              <a:t> [1,2,3,4,6,12]  count6 print this data in entry point class.</a:t>
            </a:r>
            <a:endParaRPr lang="en-IN" dirty="0"/>
          </a:p>
        </p:txBody>
      </p:sp>
    </p:spTree>
    <p:extLst>
      <p:ext uri="{BB962C8B-B14F-4D97-AF65-F5344CB8AC3E}">
        <p14:creationId xmlns:p14="http://schemas.microsoft.com/office/powerpoint/2010/main" val="3551165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10F41-8569-4A70-8B22-3B23B92EEB56}"/>
              </a:ext>
            </a:extLst>
          </p:cNvPr>
          <p:cNvSpPr>
            <a:spLocks noGrp="1"/>
          </p:cNvSpPr>
          <p:nvPr>
            <p:ph type="title"/>
          </p:nvPr>
        </p:nvSpPr>
        <p:spPr>
          <a:xfrm>
            <a:off x="1061545" y="92457"/>
            <a:ext cx="10250214" cy="822544"/>
          </a:xfrm>
        </p:spPr>
        <p:txBody>
          <a:bodyPr/>
          <a:lstStyle/>
          <a:p>
            <a:r>
              <a:rPr lang="en-IN" dirty="0"/>
              <a:t>Default </a:t>
            </a:r>
            <a:r>
              <a:rPr lang="en-IN" dirty="0" err="1"/>
              <a:t>Agument</a:t>
            </a:r>
            <a:endParaRPr lang="en-IN" dirty="0"/>
          </a:p>
        </p:txBody>
      </p:sp>
      <p:sp>
        <p:nvSpPr>
          <p:cNvPr id="3" name="Content Placeholder 2">
            <a:extLst>
              <a:ext uri="{FF2B5EF4-FFF2-40B4-BE49-F238E27FC236}">
                <a16:creationId xmlns:a16="http://schemas.microsoft.com/office/drawing/2014/main" id="{67D1B53B-8AB5-4724-8A8C-946F65C99D67}"/>
              </a:ext>
            </a:extLst>
          </p:cNvPr>
          <p:cNvSpPr>
            <a:spLocks noGrp="1"/>
          </p:cNvSpPr>
          <p:nvPr>
            <p:ph idx="1"/>
          </p:nvPr>
        </p:nvSpPr>
        <p:spPr>
          <a:xfrm>
            <a:off x="157655" y="915002"/>
            <a:ext cx="4866290" cy="2731432"/>
          </a:xfrm>
        </p:spPr>
        <p:txBody>
          <a:bodyPr>
            <a:noAutofit/>
          </a:bodyPr>
          <a:lstStyle/>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Named_param</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mycall</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"vita"</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mycall</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"vita"</a:t>
            </a:r>
            <a:r>
              <a:rPr lang="en-IN" sz="1400" dirty="0">
                <a:solidFill>
                  <a:srgbClr val="000000"/>
                </a:solidFill>
                <a:highlight>
                  <a:srgbClr val="FFFFFF"/>
                </a:highlight>
                <a:latin typeface="Consolas" panose="020B0609020204030204" pitchFamily="49" charset="0"/>
              </a:rPr>
              <a:t>, 20);</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.ReadLine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endParaRPr lang="en-IN" sz="1400" dirty="0"/>
          </a:p>
        </p:txBody>
      </p:sp>
      <p:sp>
        <p:nvSpPr>
          <p:cNvPr id="4" name="TextBox 3">
            <a:extLst>
              <a:ext uri="{FF2B5EF4-FFF2-40B4-BE49-F238E27FC236}">
                <a16:creationId xmlns:a16="http://schemas.microsoft.com/office/drawing/2014/main" id="{76FC7B23-6625-4E57-9111-AAA412888819}"/>
              </a:ext>
            </a:extLst>
          </p:cNvPr>
          <p:cNvSpPr txBox="1"/>
          <p:nvPr/>
        </p:nvSpPr>
        <p:spPr>
          <a:xfrm>
            <a:off x="515007" y="3646434"/>
            <a:ext cx="11550869" cy="24622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Error! The default value for an optional </a:t>
            </a:r>
            <a:r>
              <a:rPr kumimoji="0" lang="en-US" sz="1400" b="0" i="0" u="none" strike="noStrike" kern="1200" cap="none" spc="0" normalizeH="0" baseline="0" noProof="0" dirty="0" err="1">
                <a:ln>
                  <a:noFill/>
                </a:ln>
                <a:solidFill>
                  <a:srgbClr val="008000"/>
                </a:solidFill>
                <a:effectLst/>
                <a:highlight>
                  <a:srgbClr val="FFFFFF"/>
                </a:highlight>
                <a:uLnTx/>
                <a:uFillTx/>
                <a:latin typeface="Consolas" panose="020B0609020204030204" pitchFamily="49" charset="0"/>
                <a:ea typeface="+mn-ea"/>
                <a:cs typeface="+mn-cs"/>
              </a:rPr>
              <a:t>arg</a:t>
            </a:r>
            <a:r>
              <a:rPr kumimoji="0" lang="en-US" sz="14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must be known</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at compile time!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IN" sz="1400" dirty="0">
              <a:solidFill>
                <a:srgbClr val="000000"/>
              </a:solidFill>
              <a:highlight>
                <a:srgbClr val="FFFFFF"/>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EnterLogData</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message,</a:t>
            </a:r>
            <a:r>
              <a:rPr kumimoji="0" lang="en-IN" sz="1400" b="0" i="0" u="none" strike="noStrike" kern="1200" cap="none" spc="0" normalizeH="0" baseline="0" noProof="0" dirty="0" err="1">
                <a:ln>
                  <a:noFill/>
                </a:ln>
                <a:solidFill>
                  <a:srgbClr val="0000FF"/>
                </a:solidFill>
                <a:effectLst/>
                <a:highlight>
                  <a:srgbClr val="FFFFFF"/>
                </a:highlight>
                <a:uLnTx/>
                <a:uFillTx/>
                <a:latin typeface="Consolas" panose="020B0609020204030204" pitchFamily="49" charset="0"/>
                <a:ea typeface="+mn-ea"/>
                <a:cs typeface="+mn-cs"/>
              </a:rPr>
              <a:t>string</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owner = </a:t>
            </a:r>
            <a:r>
              <a:rPr kumimoji="0" lang="en-IN" sz="14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"Programmer"</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DateTime</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timeStamp</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DateTime</a:t>
            </a:r>
            <a:r>
              <a:rPr kumimoji="0" lang="en-IN"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.Now</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IN"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.Beep</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IN"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"Error: {0}"</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message);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4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4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"Owner of Error: {0}"</a:t>
            </a: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owner);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4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4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"Time of Error: {0}"</a:t>
            </a: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timeStamp</a:t>
            </a: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4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This will not compile, as the value of the Now property of the </a:t>
            </a:r>
            <a:r>
              <a:rPr kumimoji="0" lang="en-US" sz="1400" b="0" i="0" u="none" strike="noStrike" kern="1200" cap="none" spc="0" normalizeH="0" baseline="0" noProof="0" dirty="0" err="1">
                <a:ln>
                  <a:noFill/>
                </a:ln>
                <a:solidFill>
                  <a:srgbClr val="008000"/>
                </a:solidFill>
                <a:effectLst/>
                <a:highlight>
                  <a:srgbClr val="FFFFFF"/>
                </a:highlight>
                <a:uLnTx/>
                <a:uFillTx/>
                <a:latin typeface="Consolas" panose="020B0609020204030204" pitchFamily="49" charset="0"/>
                <a:ea typeface="+mn-ea"/>
                <a:cs typeface="+mn-cs"/>
              </a:rPr>
              <a:t>DateTime</a:t>
            </a:r>
            <a:r>
              <a:rPr kumimoji="0" lang="en-US" sz="14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class is resolved at runtime,</a:t>
            </a:r>
            <a:endPar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not compile time.*/</a:t>
            </a:r>
            <a:endPar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p:txBody>
      </p:sp>
      <p:sp>
        <p:nvSpPr>
          <p:cNvPr id="5" name="TextBox 4">
            <a:extLst>
              <a:ext uri="{FF2B5EF4-FFF2-40B4-BE49-F238E27FC236}">
                <a16:creationId xmlns:a16="http://schemas.microsoft.com/office/drawing/2014/main" id="{1057BAEC-4F98-43AE-8B46-F0FC73471ACE}"/>
              </a:ext>
            </a:extLst>
          </p:cNvPr>
          <p:cNvSpPr txBox="1"/>
          <p:nvPr/>
        </p:nvSpPr>
        <p:spPr>
          <a:xfrm>
            <a:off x="5023945" y="638339"/>
            <a:ext cx="6726620" cy="2462213"/>
          </a:xfrm>
          <a:prstGeom prst="rect">
            <a:avLst/>
          </a:prstGeom>
          <a:noFill/>
        </p:spPr>
        <p:txBody>
          <a:bodyPr wrap="square" rtlCol="0">
            <a:spAutoFit/>
          </a:bodyPr>
          <a:lstStyle/>
          <a:p>
            <a:pPr marL="0" indent="0">
              <a:lnSpc>
                <a:spcPct val="100000"/>
              </a:lnSpc>
              <a:spcBef>
                <a:spcPts val="0"/>
              </a:spcBef>
              <a:buNone/>
            </a:pP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mycall</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message,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age = 25)</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.Beep</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 {0}"</a:t>
            </a:r>
            <a:r>
              <a:rPr lang="en-IN" sz="1400" dirty="0">
                <a:solidFill>
                  <a:srgbClr val="000000"/>
                </a:solidFill>
                <a:highlight>
                  <a:srgbClr val="FFFFFF"/>
                </a:highlight>
                <a:latin typeface="Consolas" panose="020B0609020204030204" pitchFamily="49" charset="0"/>
              </a:rPr>
              <a:t>, message);</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 {0}"</a:t>
            </a:r>
            <a:r>
              <a:rPr lang="en-US" sz="1400" dirty="0">
                <a:solidFill>
                  <a:srgbClr val="000000"/>
                </a:solidFill>
                <a:highlight>
                  <a:srgbClr val="FFFFFF"/>
                </a:highlight>
                <a:latin typeface="Consolas" panose="020B0609020204030204" pitchFamily="49" charset="0"/>
              </a:rPr>
              <a:t>, age);</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endParaRPr lang="en-IN" dirty="0"/>
          </a:p>
        </p:txBody>
      </p:sp>
    </p:spTree>
    <p:extLst>
      <p:ext uri="{BB962C8B-B14F-4D97-AF65-F5344CB8AC3E}">
        <p14:creationId xmlns:p14="http://schemas.microsoft.com/office/powerpoint/2010/main" val="1627422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DA0DE3-A3A9-4CED-B6D7-4D34B5190AA3}"/>
              </a:ext>
            </a:extLst>
          </p:cNvPr>
          <p:cNvSpPr>
            <a:spLocks noGrp="1"/>
          </p:cNvSpPr>
          <p:nvPr>
            <p:ph idx="1"/>
          </p:nvPr>
        </p:nvSpPr>
        <p:spPr>
          <a:xfrm>
            <a:off x="157316" y="894735"/>
            <a:ext cx="4286865" cy="5282228"/>
          </a:xfrm>
        </p:spPr>
        <p:style>
          <a:lnRef idx="2">
            <a:schemeClr val="accent4"/>
          </a:lnRef>
          <a:fillRef idx="1">
            <a:schemeClr val="lt1"/>
          </a:fillRef>
          <a:effectRef idx="0">
            <a:schemeClr val="accent4"/>
          </a:effectRef>
          <a:fontRef idx="minor">
            <a:schemeClr val="dk1"/>
          </a:fontRef>
        </p:style>
        <p:txBody>
          <a:bodyPr/>
          <a:lstStyle/>
          <a:p>
            <a:pPr marL="0" indent="0">
              <a:buNone/>
            </a:pPr>
            <a:r>
              <a:rPr lang="en-IN" dirty="0"/>
              <a:t>Call by Value</a:t>
            </a:r>
          </a:p>
          <a:p>
            <a:pPr marL="0" indent="0">
              <a:buNone/>
            </a:pPr>
            <a:r>
              <a:rPr lang="en-IN" dirty="0"/>
              <a:t>int </a:t>
            </a:r>
            <a:r>
              <a:rPr lang="en-IN" dirty="0" err="1"/>
              <a:t>a,b</a:t>
            </a:r>
            <a:r>
              <a:rPr lang="en-IN" dirty="0"/>
              <a:t>;</a:t>
            </a:r>
          </a:p>
          <a:p>
            <a:pPr marL="0" indent="0">
              <a:buNone/>
            </a:pPr>
            <a:r>
              <a:rPr lang="en-IN" dirty="0"/>
              <a:t>a=5;</a:t>
            </a:r>
          </a:p>
          <a:p>
            <a:pPr marL="0" indent="0">
              <a:buNone/>
            </a:pPr>
            <a:r>
              <a:rPr lang="en-IN" dirty="0"/>
              <a:t>b=a;</a:t>
            </a:r>
          </a:p>
        </p:txBody>
      </p:sp>
      <p:sp>
        <p:nvSpPr>
          <p:cNvPr id="4" name="Rectangle 3">
            <a:extLst>
              <a:ext uri="{FF2B5EF4-FFF2-40B4-BE49-F238E27FC236}">
                <a16:creationId xmlns:a16="http://schemas.microsoft.com/office/drawing/2014/main" id="{41D7A70B-BB09-4AF9-9C69-E13938FB12A7}"/>
              </a:ext>
            </a:extLst>
          </p:cNvPr>
          <p:cNvSpPr/>
          <p:nvPr/>
        </p:nvSpPr>
        <p:spPr>
          <a:xfrm>
            <a:off x="609600" y="3578942"/>
            <a:ext cx="884903" cy="6784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5" name="Rectangle 4">
            <a:extLst>
              <a:ext uri="{FF2B5EF4-FFF2-40B4-BE49-F238E27FC236}">
                <a16:creationId xmlns:a16="http://schemas.microsoft.com/office/drawing/2014/main" id="{88C8FDF5-947C-4D98-8FF4-47BE532C6C87}"/>
              </a:ext>
            </a:extLst>
          </p:cNvPr>
          <p:cNvSpPr/>
          <p:nvPr/>
        </p:nvSpPr>
        <p:spPr>
          <a:xfrm>
            <a:off x="422787" y="3106995"/>
            <a:ext cx="1238865" cy="3220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a:t>
            </a:r>
          </a:p>
        </p:txBody>
      </p:sp>
      <p:sp>
        <p:nvSpPr>
          <p:cNvPr id="6" name="Rectangle 5">
            <a:extLst>
              <a:ext uri="{FF2B5EF4-FFF2-40B4-BE49-F238E27FC236}">
                <a16:creationId xmlns:a16="http://schemas.microsoft.com/office/drawing/2014/main" id="{DFB949A0-1904-48A7-BE49-A3E7A9675DEB}"/>
              </a:ext>
            </a:extLst>
          </p:cNvPr>
          <p:cNvSpPr/>
          <p:nvPr/>
        </p:nvSpPr>
        <p:spPr>
          <a:xfrm>
            <a:off x="2207342" y="2197509"/>
            <a:ext cx="884903" cy="6784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7" name="Rectangle 6">
            <a:extLst>
              <a:ext uri="{FF2B5EF4-FFF2-40B4-BE49-F238E27FC236}">
                <a16:creationId xmlns:a16="http://schemas.microsoft.com/office/drawing/2014/main" id="{DD998D48-B706-4469-93E9-85FE05BD4A1B}"/>
              </a:ext>
            </a:extLst>
          </p:cNvPr>
          <p:cNvSpPr/>
          <p:nvPr/>
        </p:nvSpPr>
        <p:spPr>
          <a:xfrm>
            <a:off x="2020529" y="1725562"/>
            <a:ext cx="1238865" cy="3220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b</a:t>
            </a:r>
          </a:p>
        </p:txBody>
      </p:sp>
      <p:sp>
        <p:nvSpPr>
          <p:cNvPr id="9" name="TextBox 8">
            <a:extLst>
              <a:ext uri="{FF2B5EF4-FFF2-40B4-BE49-F238E27FC236}">
                <a16:creationId xmlns:a16="http://schemas.microsoft.com/office/drawing/2014/main" id="{DD976253-4DC5-40C5-B8DF-D04DD4CCBEE9}"/>
              </a:ext>
            </a:extLst>
          </p:cNvPr>
          <p:cNvSpPr txBox="1"/>
          <p:nvPr/>
        </p:nvSpPr>
        <p:spPr>
          <a:xfrm>
            <a:off x="4444181" y="196644"/>
            <a:ext cx="4680153" cy="6555641"/>
          </a:xfrm>
          <a:prstGeom prst="rect">
            <a:avLst/>
          </a:prstGeom>
          <a:noFill/>
        </p:spPr>
        <p:txBody>
          <a:bodyPr wrap="square">
            <a:spAutoFit/>
          </a:bodyPr>
          <a:lstStyle/>
          <a:p>
            <a:r>
              <a:rPr lang="en-IN" sz="1400" dirty="0">
                <a:solidFill>
                  <a:srgbClr val="0000FF"/>
                </a:solidFill>
                <a:latin typeface="Consolas" panose="020B0609020204030204" pitchFamily="49" charset="0"/>
              </a:rPr>
              <a:t>using</a:t>
            </a:r>
            <a:r>
              <a:rPr lang="en-IN" sz="1400" dirty="0">
                <a:solidFill>
                  <a:srgbClr val="000000"/>
                </a:solidFill>
                <a:latin typeface="Consolas" panose="020B0609020204030204" pitchFamily="49" charset="0"/>
              </a:rPr>
              <a:t> System;</a:t>
            </a:r>
          </a:p>
          <a:p>
            <a:endParaRPr lang="en-IN" sz="1400" dirty="0">
              <a:solidFill>
                <a:srgbClr val="000000"/>
              </a:solidFill>
              <a:latin typeface="Consolas" panose="020B0609020204030204" pitchFamily="49" charset="0"/>
            </a:endParaRPr>
          </a:p>
          <a:p>
            <a:r>
              <a:rPr lang="en-IN" sz="1400" dirty="0">
                <a:solidFill>
                  <a:srgbClr val="0000FF"/>
                </a:solidFill>
                <a:latin typeface="Consolas" panose="020B0609020204030204" pitchFamily="49" charset="0"/>
              </a:rPr>
              <a:t>namespace</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ConsoleAppdemo_val</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class</a:t>
            </a:r>
            <a:r>
              <a:rPr lang="en-IN" sz="1400" dirty="0">
                <a:solidFill>
                  <a:srgbClr val="000000"/>
                </a:solidFill>
                <a:latin typeface="Consolas" panose="020B0609020204030204" pitchFamily="49" charset="0"/>
              </a:rPr>
              <a:t> </a:t>
            </a:r>
            <a:r>
              <a:rPr lang="en-IN" sz="1400" dirty="0">
                <a:solidFill>
                  <a:srgbClr val="2B91AF"/>
                </a:solidFill>
                <a:latin typeface="Consolas" panose="020B0609020204030204" pitchFamily="49" charset="0"/>
              </a:rPr>
              <a:t>Employee</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public</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eid</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public</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float</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sal</a:t>
            </a:r>
            <a:r>
              <a:rPr lang="en-IN"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a:solidFill>
                  <a:srgbClr val="2B91AF"/>
                </a:solidFill>
                <a:latin typeface="Consolas" panose="020B0609020204030204" pitchFamily="49" charset="0"/>
              </a:rPr>
              <a:t>Employee</a:t>
            </a:r>
            <a:r>
              <a:rPr lang="en-US" sz="1400" dirty="0">
                <a:solidFill>
                  <a:srgbClr val="000000"/>
                </a:solidFill>
                <a:latin typeface="Consolas" panose="020B0609020204030204" pitchFamily="49" charset="0"/>
              </a:rPr>
              <a:t>(</a:t>
            </a: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id, </a:t>
            </a:r>
            <a:r>
              <a:rPr lang="en-US" sz="1400" dirty="0">
                <a:solidFill>
                  <a:srgbClr val="0000FF"/>
                </a:solidFill>
                <a:latin typeface="Consolas" panose="020B0609020204030204" pitchFamily="49" charset="0"/>
              </a:rPr>
              <a:t>float</a:t>
            </a:r>
            <a:r>
              <a:rPr lang="en-US" sz="1400" dirty="0">
                <a:solidFill>
                  <a:srgbClr val="000000"/>
                </a:solidFill>
                <a:latin typeface="Consolas" panose="020B0609020204030204" pitchFamily="49" charset="0"/>
              </a:rPr>
              <a:t> salary)</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eid</a:t>
            </a:r>
            <a:r>
              <a:rPr lang="en-IN" sz="1400" dirty="0">
                <a:solidFill>
                  <a:srgbClr val="000000"/>
                </a:solidFill>
                <a:latin typeface="Consolas" panose="020B0609020204030204" pitchFamily="49" charset="0"/>
              </a:rPr>
              <a:t> = id;</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sal</a:t>
            </a:r>
            <a:r>
              <a:rPr lang="en-IN" sz="1400" dirty="0">
                <a:solidFill>
                  <a:srgbClr val="000000"/>
                </a:solidFill>
                <a:latin typeface="Consolas" panose="020B0609020204030204" pitchFamily="49" charset="0"/>
              </a:rPr>
              <a:t> = salary;</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class</a:t>
            </a:r>
            <a:r>
              <a:rPr lang="en-IN" sz="1400" dirty="0">
                <a:solidFill>
                  <a:srgbClr val="000000"/>
                </a:solidFill>
                <a:latin typeface="Consolas" panose="020B0609020204030204" pitchFamily="49" charset="0"/>
              </a:rPr>
              <a:t> </a:t>
            </a:r>
            <a:r>
              <a:rPr lang="en-IN" sz="1400" dirty="0">
                <a:solidFill>
                  <a:srgbClr val="2B91AF"/>
                </a:solidFill>
                <a:latin typeface="Consolas" panose="020B0609020204030204" pitchFamily="49" charset="0"/>
              </a:rPr>
              <a:t>Program</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static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srgbClr val="000000"/>
                </a:solidFill>
                <a:latin typeface="Consolas" panose="020B0609020204030204" pitchFamily="49" charset="0"/>
              </a:rPr>
              <a:t> Main(</a:t>
            </a: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args</a:t>
            </a:r>
            <a:r>
              <a:rPr lang="en-US"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Employee e1 = </a:t>
            </a:r>
            <a:r>
              <a:rPr lang="en-US" sz="1400" dirty="0">
                <a:solidFill>
                  <a:srgbClr val="0000FF"/>
                </a:solidFill>
                <a:latin typeface="Consolas" panose="020B0609020204030204" pitchFamily="49" charset="0"/>
              </a:rPr>
              <a:t>new</a:t>
            </a:r>
            <a:r>
              <a:rPr lang="en-US" sz="1400" dirty="0">
                <a:solidFill>
                  <a:srgbClr val="000000"/>
                </a:solidFill>
                <a:latin typeface="Consolas" panose="020B0609020204030204" pitchFamily="49" charset="0"/>
              </a:rPr>
              <a:t> Employee(1,50000);</a:t>
            </a:r>
          </a:p>
          <a:p>
            <a:r>
              <a:rPr lang="en-IN" sz="1400" dirty="0">
                <a:solidFill>
                  <a:srgbClr val="000000"/>
                </a:solidFill>
                <a:latin typeface="Consolas" panose="020B0609020204030204" pitchFamily="49" charset="0"/>
              </a:rPr>
              <a:t>            Employee e2;</a:t>
            </a:r>
          </a:p>
          <a:p>
            <a:r>
              <a:rPr lang="en-IN" sz="1400" dirty="0">
                <a:solidFill>
                  <a:srgbClr val="000000"/>
                </a:solidFill>
                <a:latin typeface="Consolas" panose="020B0609020204030204" pitchFamily="49" charset="0"/>
              </a:rPr>
              <a:t>            e2 = e1;</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Console.WriteLine</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"Hello World!"</a:t>
            </a:r>
            <a:r>
              <a:rPr lang="en-IN" sz="1400" dirty="0">
                <a:solidFill>
                  <a:srgbClr val="000000"/>
                </a:solidFill>
                <a:latin typeface="Consolas" panose="020B0609020204030204" pitchFamily="49" charset="0"/>
              </a:rPr>
              <a:t>);</a:t>
            </a:r>
          </a:p>
          <a:p>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a:t>
            </a:r>
          </a:p>
        </p:txBody>
      </p:sp>
      <p:sp>
        <p:nvSpPr>
          <p:cNvPr id="10" name="TextBox 9">
            <a:extLst>
              <a:ext uri="{FF2B5EF4-FFF2-40B4-BE49-F238E27FC236}">
                <a16:creationId xmlns:a16="http://schemas.microsoft.com/office/drawing/2014/main" id="{5CD792ED-CC9F-4ABE-9233-4B51256552E7}"/>
              </a:ext>
            </a:extLst>
          </p:cNvPr>
          <p:cNvSpPr txBox="1"/>
          <p:nvPr/>
        </p:nvSpPr>
        <p:spPr>
          <a:xfrm>
            <a:off x="9586452" y="1470057"/>
            <a:ext cx="796413"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e1</a:t>
            </a:r>
          </a:p>
        </p:txBody>
      </p:sp>
      <p:cxnSp>
        <p:nvCxnSpPr>
          <p:cNvPr id="12" name="Straight Arrow Connector 11">
            <a:extLst>
              <a:ext uri="{FF2B5EF4-FFF2-40B4-BE49-F238E27FC236}">
                <a16:creationId xmlns:a16="http://schemas.microsoft.com/office/drawing/2014/main" id="{872F7C9E-898E-4507-944E-08941CD09762}"/>
              </a:ext>
            </a:extLst>
          </p:cNvPr>
          <p:cNvCxnSpPr/>
          <p:nvPr/>
        </p:nvCxnSpPr>
        <p:spPr>
          <a:xfrm>
            <a:off x="10476270" y="1641987"/>
            <a:ext cx="2998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077155BA-7808-4357-98E4-4DB3F4F9D0A5}"/>
              </a:ext>
            </a:extLst>
          </p:cNvPr>
          <p:cNvSpPr/>
          <p:nvPr/>
        </p:nvSpPr>
        <p:spPr>
          <a:xfrm>
            <a:off x="10854813" y="1189703"/>
            <a:ext cx="1179871" cy="12093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eid</a:t>
            </a:r>
            <a:r>
              <a:rPr lang="en-IN" dirty="0"/>
              <a:t>=1</a:t>
            </a:r>
          </a:p>
          <a:p>
            <a:pPr algn="ctr"/>
            <a:r>
              <a:rPr lang="en-IN" dirty="0" err="1"/>
              <a:t>sal</a:t>
            </a:r>
            <a:r>
              <a:rPr lang="en-IN" dirty="0"/>
              <a:t>=50000</a:t>
            </a:r>
          </a:p>
          <a:p>
            <a:pPr algn="ctr"/>
            <a:r>
              <a:rPr lang="en-IN" dirty="0"/>
              <a:t>30000</a:t>
            </a:r>
          </a:p>
        </p:txBody>
      </p:sp>
      <p:sp>
        <p:nvSpPr>
          <p:cNvPr id="14" name="TextBox 13">
            <a:extLst>
              <a:ext uri="{FF2B5EF4-FFF2-40B4-BE49-F238E27FC236}">
                <a16:creationId xmlns:a16="http://schemas.microsoft.com/office/drawing/2014/main" id="{F49105F7-0C58-4AF9-8B08-EF8B8E8CDA39}"/>
              </a:ext>
            </a:extLst>
          </p:cNvPr>
          <p:cNvSpPr txBox="1"/>
          <p:nvPr/>
        </p:nvSpPr>
        <p:spPr>
          <a:xfrm rot="20570097">
            <a:off x="9443882" y="2399067"/>
            <a:ext cx="796413"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e2</a:t>
            </a:r>
          </a:p>
        </p:txBody>
      </p:sp>
      <p:cxnSp>
        <p:nvCxnSpPr>
          <p:cNvPr id="15" name="Straight Arrow Connector 14">
            <a:extLst>
              <a:ext uri="{FF2B5EF4-FFF2-40B4-BE49-F238E27FC236}">
                <a16:creationId xmlns:a16="http://schemas.microsoft.com/office/drawing/2014/main" id="{6B1CC523-0D2B-4E1B-95AB-6B292E0AA60B}"/>
              </a:ext>
            </a:extLst>
          </p:cNvPr>
          <p:cNvCxnSpPr>
            <a:cxnSpLocks/>
          </p:cNvCxnSpPr>
          <p:nvPr/>
        </p:nvCxnSpPr>
        <p:spPr>
          <a:xfrm rot="20570097">
            <a:off x="10513029" y="2245519"/>
            <a:ext cx="2998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64A967B-CE9B-43AD-B79F-02030D469C4C}"/>
              </a:ext>
            </a:extLst>
          </p:cNvPr>
          <p:cNvCxnSpPr/>
          <p:nvPr/>
        </p:nvCxnSpPr>
        <p:spPr>
          <a:xfrm flipH="1">
            <a:off x="11287432" y="1794385"/>
            <a:ext cx="619433" cy="253183"/>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009765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1C47C20-55B8-78CF-7CB0-54BC621EE924}"/>
              </a:ext>
            </a:extLst>
          </p:cNvPr>
          <p:cNvSpPr txBox="1"/>
          <p:nvPr/>
        </p:nvSpPr>
        <p:spPr>
          <a:xfrm>
            <a:off x="6565770" y="797561"/>
            <a:ext cx="5698502" cy="3693319"/>
          </a:xfrm>
          <a:prstGeom prst="rect">
            <a:avLst/>
          </a:prstGeom>
          <a:noFill/>
        </p:spPr>
        <p:txBody>
          <a:bodyPr wrap="square">
            <a:spAutoFit/>
          </a:bodyPr>
          <a:lstStyle/>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System;</a:t>
            </a:r>
          </a:p>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System.Collections.Generic</a:t>
            </a:r>
            <a:r>
              <a:rPr lang="en-IN" sz="900" dirty="0">
                <a:solidFill>
                  <a:srgbClr val="000000"/>
                </a:solidFill>
                <a:latin typeface="Consolas" panose="020B0609020204030204" pitchFamily="49" charset="0"/>
              </a:rPr>
              <a:t>;</a:t>
            </a:r>
          </a:p>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System.Linq</a:t>
            </a:r>
            <a:r>
              <a:rPr lang="en-IN" sz="900" dirty="0">
                <a:solidFill>
                  <a:srgbClr val="000000"/>
                </a:solidFill>
                <a:latin typeface="Consolas" panose="020B0609020204030204" pitchFamily="49" charset="0"/>
              </a:rPr>
              <a:t>;</a:t>
            </a:r>
          </a:p>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System.Text</a:t>
            </a:r>
            <a:r>
              <a:rPr lang="en-IN" sz="900" dirty="0">
                <a:solidFill>
                  <a:srgbClr val="000000"/>
                </a:solidFill>
                <a:latin typeface="Consolas" panose="020B0609020204030204" pitchFamily="49" charset="0"/>
              </a:rPr>
              <a:t>;</a:t>
            </a:r>
          </a:p>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System.Threading.Tasks</a:t>
            </a:r>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FF"/>
                </a:solidFill>
                <a:latin typeface="Consolas" panose="020B0609020204030204" pitchFamily="49" charset="0"/>
              </a:rPr>
              <a:t>namespace</a:t>
            </a:r>
            <a:r>
              <a:rPr lang="en-IN" sz="900" dirty="0">
                <a:solidFill>
                  <a:srgbClr val="000000"/>
                </a:solidFill>
                <a:latin typeface="Consolas" panose="020B0609020204030204" pitchFamily="49" charset="0"/>
              </a:rPr>
              <a:t> ConsoleApplication4</a:t>
            </a:r>
          </a:p>
          <a:p>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Program</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static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void</a:t>
            </a:r>
            <a:r>
              <a:rPr lang="en-US" sz="900" dirty="0">
                <a:solidFill>
                  <a:srgbClr val="000000"/>
                </a:solidFill>
                <a:latin typeface="Consolas" panose="020B0609020204030204" pitchFamily="49" charset="0"/>
              </a:rPr>
              <a:t> Main(</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args</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DisplayFancyMessage</a:t>
            </a:r>
            <a:r>
              <a:rPr lang="en-US" sz="900" dirty="0">
                <a:solidFill>
                  <a:srgbClr val="000000"/>
                </a:solidFill>
                <a:latin typeface="Consolas" panose="020B0609020204030204" pitchFamily="49" charset="0"/>
              </a:rPr>
              <a:t>( </a:t>
            </a:r>
            <a:r>
              <a:rPr lang="en-US" sz="900" dirty="0">
                <a:solidFill>
                  <a:srgbClr val="A31515"/>
                </a:solidFill>
                <a:latin typeface="Consolas" panose="020B0609020204030204" pitchFamily="49" charset="0"/>
              </a:rPr>
              <a:t>"Wow! Very Fancy indeed!"</a:t>
            </a:r>
            <a:r>
              <a:rPr lang="en-US" sz="900" dirty="0">
                <a:solidFill>
                  <a:srgbClr val="000000"/>
                </a:solidFill>
                <a:latin typeface="Consolas" panose="020B0609020204030204" pitchFamily="49" charset="0"/>
              </a:rPr>
              <a:t>, 50, </a:t>
            </a:r>
            <a:r>
              <a:rPr lang="en-US" sz="900" dirty="0" err="1">
                <a:solidFill>
                  <a:srgbClr val="000000"/>
                </a:solidFill>
                <a:latin typeface="Consolas" panose="020B0609020204030204" pitchFamily="49" charset="0"/>
              </a:rPr>
              <a:t>name:</a:t>
            </a:r>
            <a:r>
              <a:rPr lang="en-US" sz="900" dirty="0" err="1">
                <a:solidFill>
                  <a:srgbClr val="A31515"/>
                </a:solidFill>
                <a:latin typeface="Consolas" panose="020B0609020204030204" pitchFamily="49" charset="0"/>
              </a:rPr>
              <a:t>"raj</a:t>
            </a:r>
            <a:r>
              <a:rPr lang="en-US" sz="900" dirty="0">
                <a:solidFill>
                  <a:srgbClr val="A31515"/>
                </a:solidFill>
                <a:latin typeface="Consolas" panose="020B0609020204030204" pitchFamily="49" charset="0"/>
              </a:rPr>
              <a:t>"</a:t>
            </a:r>
            <a:r>
              <a:rPr lang="en-US" sz="900" dirty="0">
                <a:solidFill>
                  <a:srgbClr val="000000"/>
                </a:solidFill>
                <a:latin typeface="Consolas" panose="020B0609020204030204" pitchFamily="49" charset="0"/>
              </a:rPr>
              <a:t>);</a:t>
            </a:r>
          </a:p>
          <a:p>
            <a:r>
              <a:rPr lang="da-DK" sz="900" dirty="0">
                <a:solidFill>
                  <a:srgbClr val="000000"/>
                </a:solidFill>
                <a:latin typeface="Consolas" panose="020B0609020204030204" pitchFamily="49" charset="0"/>
              </a:rPr>
              <a:t>          </a:t>
            </a:r>
            <a:r>
              <a:rPr lang="da-DK" sz="900" dirty="0">
                <a:solidFill>
                  <a:srgbClr val="008000"/>
                </a:solidFill>
                <a:latin typeface="Consolas" panose="020B0609020204030204" pitchFamily="49" charset="0"/>
              </a:rPr>
              <a:t>// DisplayFancyMessage( "geeta",  message: "hello",50);</a:t>
            </a:r>
            <a:endParaRPr lang="da-DK"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Console.ReadLine</a:t>
            </a:r>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static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void</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DisplayFancyMessage</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string</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message,</a:t>
            </a:r>
            <a:r>
              <a:rPr lang="en-IN" sz="900" dirty="0" err="1">
                <a:solidFill>
                  <a:srgbClr val="0000FF"/>
                </a:solidFill>
                <a:latin typeface="Consolas" panose="020B0609020204030204" pitchFamily="49" charset="0"/>
              </a:rPr>
              <a:t>int</a:t>
            </a:r>
            <a:r>
              <a:rPr lang="en-IN" sz="900" dirty="0">
                <a:solidFill>
                  <a:srgbClr val="000000"/>
                </a:solidFill>
                <a:latin typeface="Consolas" panose="020B0609020204030204" pitchFamily="49" charset="0"/>
              </a:rPr>
              <a:t> number, </a:t>
            </a:r>
            <a:r>
              <a:rPr lang="en-IN" sz="900" dirty="0">
                <a:solidFill>
                  <a:srgbClr val="0000FF"/>
                </a:solidFill>
                <a:latin typeface="Consolas" panose="020B0609020204030204" pitchFamily="49" charset="0"/>
              </a:rPr>
              <a:t>string</a:t>
            </a:r>
            <a:r>
              <a:rPr lang="en-IN" sz="900" dirty="0">
                <a:solidFill>
                  <a:srgbClr val="000000"/>
                </a:solidFill>
                <a:latin typeface="Consolas" panose="020B0609020204030204" pitchFamily="49" charset="0"/>
              </a:rPr>
              <a:t> name,)</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a:t>
            </a:r>
            <a:r>
              <a:rPr lang="en-IN" sz="900" dirty="0">
                <a:solidFill>
                  <a:srgbClr val="A31515"/>
                </a:solidFill>
                <a:latin typeface="Consolas" panose="020B0609020204030204" pitchFamily="49" charset="0"/>
              </a:rPr>
              <a:t>"{0},{1},{2}"</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number,name,message</a:t>
            </a:r>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a:t>
            </a:r>
          </a:p>
        </p:txBody>
      </p:sp>
      <p:sp>
        <p:nvSpPr>
          <p:cNvPr id="7" name="TextBox 6">
            <a:extLst>
              <a:ext uri="{FF2B5EF4-FFF2-40B4-BE49-F238E27FC236}">
                <a16:creationId xmlns:a16="http://schemas.microsoft.com/office/drawing/2014/main" id="{B2E7E618-6BA7-31FB-A2F8-43C23DF64A62}"/>
              </a:ext>
            </a:extLst>
          </p:cNvPr>
          <p:cNvSpPr txBox="1"/>
          <p:nvPr/>
        </p:nvSpPr>
        <p:spPr>
          <a:xfrm>
            <a:off x="164969" y="1052084"/>
            <a:ext cx="6174556" cy="4832092"/>
          </a:xfrm>
          <a:prstGeom prst="rect">
            <a:avLst/>
          </a:prstGeom>
          <a:noFill/>
        </p:spPr>
        <p:txBody>
          <a:bodyPr wrap="square">
            <a:spAutoFit/>
          </a:bodyPr>
          <a:lstStyle/>
          <a:p>
            <a:r>
              <a:rPr lang="en-IN" sz="1100" dirty="0">
                <a:solidFill>
                  <a:srgbClr val="0000FF"/>
                </a:solidFill>
                <a:latin typeface="Consolas" panose="020B0609020204030204" pitchFamily="49" charset="0"/>
              </a:rPr>
              <a:t>using</a:t>
            </a:r>
            <a:r>
              <a:rPr lang="en-IN" sz="1100" dirty="0">
                <a:solidFill>
                  <a:srgbClr val="000000"/>
                </a:solidFill>
                <a:latin typeface="Consolas" panose="020B0609020204030204" pitchFamily="49" charset="0"/>
              </a:rPr>
              <a:t> System;</a:t>
            </a:r>
          </a:p>
          <a:p>
            <a:r>
              <a:rPr lang="en-IN" sz="1100" dirty="0">
                <a:solidFill>
                  <a:srgbClr val="0000FF"/>
                </a:solidFill>
                <a:latin typeface="Consolas" panose="020B0609020204030204" pitchFamily="49" charset="0"/>
              </a:rPr>
              <a:t>using</a:t>
            </a:r>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System.Collections.Generic</a:t>
            </a:r>
            <a:r>
              <a:rPr lang="en-IN" sz="1100" dirty="0">
                <a:solidFill>
                  <a:srgbClr val="000000"/>
                </a:solidFill>
                <a:latin typeface="Consolas" panose="020B0609020204030204" pitchFamily="49" charset="0"/>
              </a:rPr>
              <a:t>;</a:t>
            </a:r>
          </a:p>
          <a:p>
            <a:r>
              <a:rPr lang="en-IN" sz="1100" dirty="0">
                <a:solidFill>
                  <a:srgbClr val="0000FF"/>
                </a:solidFill>
                <a:latin typeface="Consolas" panose="020B0609020204030204" pitchFamily="49" charset="0"/>
              </a:rPr>
              <a:t>using</a:t>
            </a:r>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System.Linq</a:t>
            </a:r>
            <a:r>
              <a:rPr lang="en-IN" sz="1100" dirty="0">
                <a:solidFill>
                  <a:srgbClr val="000000"/>
                </a:solidFill>
                <a:latin typeface="Consolas" panose="020B0609020204030204" pitchFamily="49" charset="0"/>
              </a:rPr>
              <a:t>;</a:t>
            </a:r>
          </a:p>
          <a:p>
            <a:r>
              <a:rPr lang="en-IN" sz="1100" dirty="0">
                <a:solidFill>
                  <a:srgbClr val="0000FF"/>
                </a:solidFill>
                <a:latin typeface="Consolas" panose="020B0609020204030204" pitchFamily="49" charset="0"/>
              </a:rPr>
              <a:t>using</a:t>
            </a:r>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System.Text</a:t>
            </a:r>
            <a:r>
              <a:rPr lang="en-IN" sz="1100" dirty="0">
                <a:solidFill>
                  <a:srgbClr val="000000"/>
                </a:solidFill>
                <a:latin typeface="Consolas" panose="020B0609020204030204" pitchFamily="49" charset="0"/>
              </a:rPr>
              <a:t>;</a:t>
            </a:r>
          </a:p>
          <a:p>
            <a:r>
              <a:rPr lang="en-IN" sz="1100" dirty="0">
                <a:solidFill>
                  <a:srgbClr val="0000FF"/>
                </a:solidFill>
                <a:latin typeface="Consolas" panose="020B0609020204030204" pitchFamily="49" charset="0"/>
              </a:rPr>
              <a:t>using</a:t>
            </a:r>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System.Threading.Tasks</a:t>
            </a:r>
            <a:r>
              <a:rPr lang="en-IN" sz="1100" dirty="0">
                <a:solidFill>
                  <a:srgbClr val="000000"/>
                </a:solidFill>
                <a:latin typeface="Consolas" panose="020B0609020204030204" pitchFamily="49" charset="0"/>
              </a:rPr>
              <a:t>;</a:t>
            </a:r>
          </a:p>
          <a:p>
            <a:endParaRPr lang="en-IN" sz="1100" dirty="0">
              <a:solidFill>
                <a:srgbClr val="000000"/>
              </a:solidFill>
              <a:latin typeface="Consolas" panose="020B0609020204030204" pitchFamily="49" charset="0"/>
            </a:endParaRPr>
          </a:p>
          <a:p>
            <a:r>
              <a:rPr lang="en-IN" sz="1100" dirty="0">
                <a:solidFill>
                  <a:srgbClr val="0000FF"/>
                </a:solidFill>
                <a:latin typeface="Consolas" panose="020B0609020204030204" pitchFamily="49" charset="0"/>
              </a:rPr>
              <a:t>namespace</a:t>
            </a:r>
            <a:r>
              <a:rPr lang="en-IN" sz="1100" dirty="0">
                <a:solidFill>
                  <a:srgbClr val="000000"/>
                </a:solidFill>
                <a:latin typeface="Consolas" panose="020B0609020204030204" pitchFamily="49" charset="0"/>
              </a:rPr>
              <a:t> ConsoleApplication4</a:t>
            </a:r>
          </a:p>
          <a:p>
            <a:r>
              <a:rPr lang="en-IN"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a:t>
            </a:r>
            <a:r>
              <a:rPr lang="en-IN" sz="1100" dirty="0">
                <a:solidFill>
                  <a:srgbClr val="0000FF"/>
                </a:solidFill>
                <a:latin typeface="Consolas" panose="020B0609020204030204" pitchFamily="49" charset="0"/>
              </a:rPr>
              <a:t>class</a:t>
            </a:r>
            <a:r>
              <a:rPr lang="en-IN" sz="1100" dirty="0">
                <a:solidFill>
                  <a:srgbClr val="000000"/>
                </a:solidFill>
                <a:latin typeface="Consolas" panose="020B0609020204030204" pitchFamily="49" charset="0"/>
              </a:rPr>
              <a:t> </a:t>
            </a:r>
            <a:r>
              <a:rPr lang="en-IN" sz="1100" dirty="0">
                <a:solidFill>
                  <a:srgbClr val="2B91AF"/>
                </a:solidFill>
                <a:latin typeface="Consolas" panose="020B0609020204030204" pitchFamily="49" charset="0"/>
              </a:rPr>
              <a:t>Program</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static</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void</a:t>
            </a:r>
            <a:r>
              <a:rPr lang="en-US" sz="1100" dirty="0">
                <a:solidFill>
                  <a:srgbClr val="000000"/>
                </a:solidFill>
                <a:latin typeface="Consolas" panose="020B0609020204030204" pitchFamily="49" charset="0"/>
              </a:rPr>
              <a:t> Main(</a:t>
            </a:r>
            <a:r>
              <a:rPr lang="en-US" sz="1100" dirty="0">
                <a:solidFill>
                  <a:srgbClr val="0000FF"/>
                </a:solidFill>
                <a:latin typeface="Consolas" panose="020B0609020204030204" pitchFamily="49" charset="0"/>
              </a:rPr>
              <a:t>string</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args</a:t>
            </a:r>
            <a:r>
              <a:rPr lang="en-US"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int</a:t>
            </a:r>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arr</a:t>
            </a:r>
            <a:r>
              <a:rPr lang="en-IN" sz="1100" dirty="0">
                <a:solidFill>
                  <a:srgbClr val="000000"/>
                </a:solidFill>
                <a:latin typeface="Consolas" panose="020B0609020204030204" pitchFamily="49" charset="0"/>
              </a:rPr>
              <a:t>=new </a:t>
            </a:r>
            <a:r>
              <a:rPr lang="en-IN" sz="1100" dirty="0" err="1">
                <a:solidFill>
                  <a:srgbClr val="000000"/>
                </a:solidFill>
                <a:latin typeface="Consolas" panose="020B0609020204030204" pitchFamily="49" charset="0"/>
              </a:rPr>
              <a:t>int</a:t>
            </a:r>
            <a:r>
              <a:rPr lang="en-IN" sz="1100" dirty="0">
                <a:solidFill>
                  <a:srgbClr val="000000"/>
                </a:solidFill>
                <a:latin typeface="Consolas" panose="020B0609020204030204" pitchFamily="49" charset="0"/>
              </a:rPr>
              <a:t>[]{5,6,8}</a:t>
            </a:r>
          </a:p>
          <a:p>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DisplayFancyMessage</a:t>
            </a:r>
            <a:r>
              <a:rPr lang="en-US" sz="1100" dirty="0">
                <a:solidFill>
                  <a:srgbClr val="000000"/>
                </a:solidFill>
                <a:latin typeface="Consolas" panose="020B0609020204030204" pitchFamily="49" charset="0"/>
              </a:rPr>
              <a:t>(message: </a:t>
            </a:r>
            <a:r>
              <a:rPr lang="en-US" sz="1100" dirty="0">
                <a:solidFill>
                  <a:srgbClr val="A31515"/>
                </a:solidFill>
                <a:latin typeface="Consolas" panose="020B0609020204030204" pitchFamily="49" charset="0"/>
              </a:rPr>
              <a:t>"Wow! Very Fancy indeed!"</a:t>
            </a:r>
            <a:r>
              <a:rPr lang="en-US" sz="1100" dirty="0">
                <a:solidFill>
                  <a:srgbClr val="000000"/>
                </a:solidFill>
                <a:latin typeface="Consolas" panose="020B0609020204030204" pitchFamily="49" charset="0"/>
              </a:rPr>
              <a:t>,  number:50, </a:t>
            </a:r>
            <a:r>
              <a:rPr lang="en-US" sz="1100" dirty="0" err="1">
                <a:solidFill>
                  <a:srgbClr val="000000"/>
                </a:solidFill>
                <a:latin typeface="Consolas" panose="020B0609020204030204" pitchFamily="49" charset="0"/>
              </a:rPr>
              <a:t>name:</a:t>
            </a:r>
            <a:r>
              <a:rPr lang="en-US" sz="1100" dirty="0" err="1">
                <a:solidFill>
                  <a:srgbClr val="A31515"/>
                </a:solidFill>
                <a:latin typeface="Consolas" panose="020B0609020204030204" pitchFamily="49" charset="0"/>
              </a:rPr>
              <a:t>"raj</a:t>
            </a:r>
            <a:r>
              <a:rPr lang="en-US" sz="1100" dirty="0">
                <a:solidFill>
                  <a:srgbClr val="A31515"/>
                </a:solidFill>
                <a:latin typeface="Consolas" panose="020B0609020204030204" pitchFamily="49" charset="0"/>
              </a:rPr>
              <a:t>"</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DisplayFancyMessage</a:t>
            </a:r>
            <a:r>
              <a:rPr lang="en-US" sz="1100" dirty="0">
                <a:solidFill>
                  <a:srgbClr val="000000"/>
                </a:solidFill>
                <a:latin typeface="Consolas" panose="020B0609020204030204" pitchFamily="49" charset="0"/>
              </a:rPr>
              <a:t>(name: </a:t>
            </a:r>
            <a:r>
              <a:rPr lang="en-US" sz="1100" dirty="0">
                <a:solidFill>
                  <a:srgbClr val="A31515"/>
                </a:solidFill>
                <a:latin typeface="Consolas" panose="020B0609020204030204" pitchFamily="49" charset="0"/>
              </a:rPr>
              <a:t>"</a:t>
            </a:r>
            <a:r>
              <a:rPr lang="en-US" sz="1100" dirty="0" err="1">
                <a:solidFill>
                  <a:srgbClr val="A31515"/>
                </a:solidFill>
                <a:latin typeface="Consolas" panose="020B0609020204030204" pitchFamily="49" charset="0"/>
              </a:rPr>
              <a:t>geeta</a:t>
            </a:r>
            <a:r>
              <a:rPr lang="en-US" sz="1100" dirty="0">
                <a:solidFill>
                  <a:srgbClr val="A31515"/>
                </a:solidFill>
                <a:latin typeface="Consolas" panose="020B0609020204030204" pitchFamily="49" charset="0"/>
              </a:rPr>
              <a:t>"</a:t>
            </a:r>
            <a:r>
              <a:rPr lang="en-US" sz="1100" dirty="0">
                <a:solidFill>
                  <a:srgbClr val="000000"/>
                </a:solidFill>
                <a:latin typeface="Consolas" panose="020B0609020204030204" pitchFamily="49" charset="0"/>
              </a:rPr>
              <a:t>, number: 50, message: </a:t>
            </a:r>
            <a:r>
              <a:rPr lang="en-US" sz="1100" dirty="0">
                <a:solidFill>
                  <a:srgbClr val="A31515"/>
                </a:solidFill>
                <a:latin typeface="Consolas" panose="020B0609020204030204" pitchFamily="49" charset="0"/>
              </a:rPr>
              <a:t>"hello"</a:t>
            </a:r>
            <a:r>
              <a:rPr lang="en-US"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Console.ReadLine</a:t>
            </a:r>
            <a:r>
              <a:rPr lang="en-IN" sz="1100" dirty="0">
                <a:solidFill>
                  <a:srgbClr val="000000"/>
                </a:solidFill>
                <a:latin typeface="Consolas" panose="020B0609020204030204" pitchFamily="49" charset="0"/>
              </a:rPr>
              <a:t>();</a:t>
            </a:r>
          </a:p>
          <a:p>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endParaRPr lang="en-IN" sz="1100" dirty="0">
              <a:solidFill>
                <a:srgbClr val="000000"/>
              </a:solidFill>
              <a:latin typeface="Consolas" panose="020B0609020204030204" pitchFamily="49" charset="0"/>
            </a:endParaRP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static</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void</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DisplayFancyMessage</a:t>
            </a:r>
            <a:r>
              <a:rPr lang="en-US" sz="1100" dirty="0">
                <a:solidFill>
                  <a:srgbClr val="000000"/>
                </a:solidFill>
                <a:latin typeface="Consolas" panose="020B0609020204030204" pitchFamily="49" charset="0"/>
              </a:rPr>
              <a:t>(</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number, </a:t>
            </a:r>
            <a:r>
              <a:rPr lang="en-US" sz="1100" dirty="0">
                <a:solidFill>
                  <a:srgbClr val="0000FF"/>
                </a:solidFill>
                <a:latin typeface="Consolas" panose="020B0609020204030204" pitchFamily="49" charset="0"/>
              </a:rPr>
              <a:t>string</a:t>
            </a:r>
            <a:r>
              <a:rPr lang="en-US" sz="1100" dirty="0">
                <a:solidFill>
                  <a:srgbClr val="000000"/>
                </a:solidFill>
                <a:latin typeface="Consolas" panose="020B0609020204030204" pitchFamily="49" charset="0"/>
              </a:rPr>
              <a:t> name, </a:t>
            </a:r>
            <a:r>
              <a:rPr lang="en-US" sz="1100" dirty="0">
                <a:solidFill>
                  <a:srgbClr val="0000FF"/>
                </a:solidFill>
                <a:latin typeface="Consolas" panose="020B0609020204030204" pitchFamily="49" charset="0"/>
              </a:rPr>
              <a:t>string</a:t>
            </a:r>
            <a:r>
              <a:rPr lang="en-US" sz="1100" dirty="0">
                <a:solidFill>
                  <a:srgbClr val="000000"/>
                </a:solidFill>
                <a:latin typeface="Consolas" panose="020B0609020204030204" pitchFamily="49" charset="0"/>
              </a:rPr>
              <a:t> message)</a:t>
            </a: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Console.WriteLine</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"{0},{1},{2}"</a:t>
            </a:r>
            <a:r>
              <a:rPr lang="en-IN" sz="1100" dirty="0">
                <a:solidFill>
                  <a:srgbClr val="000000"/>
                </a:solidFill>
                <a:latin typeface="Consolas" panose="020B0609020204030204" pitchFamily="49" charset="0"/>
              </a:rPr>
              <a:t>,</a:t>
            </a:r>
            <a:r>
              <a:rPr lang="en-IN" sz="1100" dirty="0" err="1">
                <a:solidFill>
                  <a:srgbClr val="000000"/>
                </a:solidFill>
                <a:latin typeface="Consolas" panose="020B0609020204030204" pitchFamily="49" charset="0"/>
              </a:rPr>
              <a:t>number,name,message</a:t>
            </a:r>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p>
          <a:p>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a:t>
            </a:r>
          </a:p>
        </p:txBody>
      </p:sp>
      <p:sp>
        <p:nvSpPr>
          <p:cNvPr id="8" name="TextBox 7">
            <a:extLst>
              <a:ext uri="{FF2B5EF4-FFF2-40B4-BE49-F238E27FC236}">
                <a16:creationId xmlns:a16="http://schemas.microsoft.com/office/drawing/2014/main" id="{2B6DFA62-041B-A566-1AAA-43CD509BDFD8}"/>
              </a:ext>
            </a:extLst>
          </p:cNvPr>
          <p:cNvSpPr txBox="1"/>
          <p:nvPr/>
        </p:nvSpPr>
        <p:spPr>
          <a:xfrm>
            <a:off x="1555423" y="103695"/>
            <a:ext cx="7164371" cy="369332"/>
          </a:xfrm>
          <a:prstGeom prst="rect">
            <a:avLst/>
          </a:prstGeom>
          <a:noFill/>
        </p:spPr>
        <p:txBody>
          <a:bodyPr wrap="square" rtlCol="0">
            <a:spAutoFit/>
          </a:bodyPr>
          <a:lstStyle/>
          <a:p>
            <a:r>
              <a:rPr lang="en-US" dirty="0"/>
              <a:t>Named Parameter</a:t>
            </a:r>
            <a:endParaRPr lang="en-IN" dirty="0"/>
          </a:p>
        </p:txBody>
      </p:sp>
      <p:sp>
        <p:nvSpPr>
          <p:cNvPr id="10" name="TextBox 9">
            <a:extLst>
              <a:ext uri="{FF2B5EF4-FFF2-40B4-BE49-F238E27FC236}">
                <a16:creationId xmlns:a16="http://schemas.microsoft.com/office/drawing/2014/main" id="{BD1302D0-EAB3-5E89-D9ED-80F843A39A9F}"/>
              </a:ext>
            </a:extLst>
          </p:cNvPr>
          <p:cNvSpPr txBox="1"/>
          <p:nvPr/>
        </p:nvSpPr>
        <p:spPr>
          <a:xfrm>
            <a:off x="5764491" y="4960685"/>
            <a:ext cx="6174556" cy="845231"/>
          </a:xfrm>
          <a:prstGeom prst="rect">
            <a:avLst/>
          </a:prstGeom>
          <a:noFill/>
        </p:spPr>
        <p:txBody>
          <a:bodyPr wrap="square">
            <a:spAutoFit/>
          </a:bodyPr>
          <a:lstStyle/>
          <a:p>
            <a:pPr>
              <a:lnSpc>
                <a:spcPct val="115000"/>
              </a:lnSpc>
              <a:spcAft>
                <a:spcPts val="1000"/>
              </a:spcAft>
            </a:pPr>
            <a:r>
              <a:rPr lang="en-IN" sz="1200" dirty="0">
                <a:effectLst/>
                <a:latin typeface="Calibri" panose="020F0502020204030204" pitchFamily="34" charset="0"/>
                <a:ea typeface="Calibri" panose="020F0502020204030204" pitchFamily="34" charset="0"/>
                <a:cs typeface="Calibri" panose="020F0502020204030204" pitchFamily="34" charset="0"/>
              </a:rPr>
              <a:t>One minor gotcha regarding named arguments is that if you begin to invoke a method using</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200" dirty="0">
                <a:effectLst/>
                <a:latin typeface="Calibri" panose="020F0502020204030204" pitchFamily="34" charset="0"/>
                <a:ea typeface="Calibri" panose="020F0502020204030204" pitchFamily="34" charset="0"/>
                <a:cs typeface="Calibri" panose="020F0502020204030204" pitchFamily="34" charset="0"/>
              </a:rPr>
              <a:t>positional parameters, they must be listed before any named parameters. In other words, </a:t>
            </a:r>
            <a:r>
              <a:rPr lang="en-IN" sz="1200" b="1" dirty="0">
                <a:effectLst/>
                <a:latin typeface="Calibri" panose="020F0502020204030204" pitchFamily="34" charset="0"/>
                <a:ea typeface="Calibri" panose="020F0502020204030204" pitchFamily="34" charset="0"/>
                <a:cs typeface="Calibri" panose="020F0502020204030204" pitchFamily="34" charset="0"/>
              </a:rPr>
              <a:t>named arguments must always be packed onto the end of a method call.</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42854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299BBE-584E-3BD8-0B7C-9B513F9779E0}"/>
              </a:ext>
            </a:extLst>
          </p:cNvPr>
          <p:cNvSpPr txBox="1"/>
          <p:nvPr/>
        </p:nvSpPr>
        <p:spPr>
          <a:xfrm>
            <a:off x="358219" y="582956"/>
            <a:ext cx="12122870" cy="6124754"/>
          </a:xfrm>
          <a:prstGeom prst="rect">
            <a:avLst/>
          </a:prstGeom>
          <a:noFill/>
        </p:spPr>
        <p:txBody>
          <a:bodyPr wrap="square">
            <a:spAutoFit/>
          </a:bodyPr>
          <a:lstStyle/>
          <a:p>
            <a:r>
              <a:rPr lang="en-IN" sz="1400" dirty="0">
                <a:solidFill>
                  <a:srgbClr val="0000FF"/>
                </a:solidFill>
                <a:latin typeface="Cascadia Mono" panose="020B0609020000020004" pitchFamily="49" charset="0"/>
              </a:rPr>
              <a:t>using</a:t>
            </a:r>
            <a:r>
              <a:rPr lang="en-IN" sz="1400" dirty="0">
                <a:solidFill>
                  <a:srgbClr val="000000"/>
                </a:solidFill>
                <a:latin typeface="Cascadia Mono" panose="020B0609020000020004" pitchFamily="49" charset="0"/>
              </a:rPr>
              <a:t> System;</a:t>
            </a:r>
          </a:p>
          <a:p>
            <a:endParaRPr lang="en-IN" sz="1400" dirty="0">
              <a:solidFill>
                <a:srgbClr val="000000"/>
              </a:solidFill>
              <a:latin typeface="Cascadia Mono" panose="020B0609020000020004" pitchFamily="49" charset="0"/>
            </a:endParaRPr>
          </a:p>
          <a:p>
            <a:r>
              <a:rPr lang="en-IN" sz="1400" dirty="0">
                <a:solidFill>
                  <a:srgbClr val="0000FF"/>
                </a:solidFill>
                <a:latin typeface="Cascadia Mono" panose="020B0609020000020004" pitchFamily="49" charset="0"/>
              </a:rPr>
              <a:t>namespace</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ConsoleAppADONETSTUDENTS</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internal</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class</a:t>
            </a:r>
            <a:r>
              <a:rPr lang="en-IN" sz="1400" dirty="0">
                <a:solidFill>
                  <a:srgbClr val="000000"/>
                </a:solidFill>
                <a:latin typeface="Cascadia Mono" panose="020B0609020000020004" pitchFamily="49" charset="0"/>
              </a:rPr>
              <a:t> </a:t>
            </a:r>
            <a:r>
              <a:rPr lang="en-IN" sz="1400" dirty="0">
                <a:solidFill>
                  <a:srgbClr val="2B91AF"/>
                </a:solidFill>
                <a:latin typeface="Cascadia Mono" panose="020B0609020000020004" pitchFamily="49" charset="0"/>
              </a:rPr>
              <a:t>Program</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static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void</a:t>
            </a:r>
            <a:r>
              <a:rPr lang="en-US" sz="1400" dirty="0">
                <a:solidFill>
                  <a:srgbClr val="000000"/>
                </a:solidFill>
                <a:latin typeface="Cascadia Mono" panose="020B0609020000020004" pitchFamily="49" charset="0"/>
              </a:rPr>
              <a:t> Main(</a:t>
            </a:r>
            <a:r>
              <a:rPr lang="en-US" sz="1400" dirty="0">
                <a:solidFill>
                  <a:srgbClr val="0000FF"/>
                </a:solidFill>
                <a:latin typeface="Cascadia Mono" panose="020B0609020000020004" pitchFamily="49" charset="0"/>
              </a:rPr>
              <a:t>string</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args</a:t>
            </a:r>
            <a:r>
              <a:rPr lang="en-US"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Console.WriteLine</a:t>
            </a:r>
            <a:r>
              <a:rPr lang="en-US" sz="1400" dirty="0">
                <a:solidFill>
                  <a:srgbClr val="000000"/>
                </a:solidFill>
                <a:latin typeface="Cascadia Mono" panose="020B0609020000020004" pitchFamily="49" charset="0"/>
              </a:rPr>
              <a:t>(</a:t>
            </a:r>
            <a:r>
              <a:rPr lang="en-US" sz="1400" dirty="0">
                <a:solidFill>
                  <a:srgbClr val="A31515"/>
                </a:solidFill>
                <a:latin typeface="Cascadia Mono" panose="020B0609020000020004" pitchFamily="49" charset="0"/>
              </a:rPr>
              <a:t>"***** Fun with Methods *****"</a:t>
            </a:r>
            <a:r>
              <a:rPr lang="en-US"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DisplayFancyMessage</a:t>
            </a:r>
            <a:r>
              <a:rPr lang="en-US" sz="1400" dirty="0">
                <a:solidFill>
                  <a:srgbClr val="000000"/>
                </a:solidFill>
                <a:latin typeface="Cascadia Mono" panose="020B0609020000020004" pitchFamily="49" charset="0"/>
              </a:rPr>
              <a:t>(</a:t>
            </a:r>
            <a:r>
              <a:rPr lang="en-US" sz="1400" dirty="0">
                <a:solidFill>
                  <a:srgbClr val="000000"/>
                </a:solidFill>
                <a:highlight>
                  <a:srgbClr val="FFFF00"/>
                </a:highlight>
                <a:latin typeface="Cascadia Mono" panose="020B0609020000020004" pitchFamily="49" charset="0"/>
              </a:rPr>
              <a:t>message</a:t>
            </a:r>
            <a:r>
              <a:rPr lang="en-US" sz="1400" dirty="0">
                <a:solidFill>
                  <a:srgbClr val="000000"/>
                </a:solidFill>
                <a:latin typeface="Cascadia Mono" panose="020B0609020000020004" pitchFamily="49" charset="0"/>
              </a:rPr>
              <a:t>: </a:t>
            </a:r>
            <a:r>
              <a:rPr lang="en-US" sz="1400" dirty="0">
                <a:solidFill>
                  <a:srgbClr val="A31515"/>
                </a:solidFill>
                <a:latin typeface="Cascadia Mono" panose="020B0609020000020004" pitchFamily="49" charset="0"/>
              </a:rPr>
              <a:t>"Wow! Very Fancy indeed!"</a:t>
            </a:r>
            <a:r>
              <a:rPr lang="en-US" sz="1400" dirty="0">
                <a:solidFill>
                  <a:srgbClr val="000000"/>
                </a:solidFill>
                <a:latin typeface="Cascadia Mono" panose="020B0609020000020004" pitchFamily="49" charset="0"/>
              </a:rPr>
              <a:t>,</a:t>
            </a:r>
            <a:r>
              <a:rPr lang="en-IN" sz="1400" dirty="0" err="1">
                <a:solidFill>
                  <a:srgbClr val="000000"/>
                </a:solidFill>
                <a:highlight>
                  <a:srgbClr val="FFFF00"/>
                </a:highlight>
                <a:latin typeface="Cascadia Mono" panose="020B0609020000020004" pitchFamily="49" charset="0"/>
              </a:rPr>
              <a:t>textColor</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ConsoleColor.DarkRed</a:t>
            </a:r>
            <a:r>
              <a:rPr lang="en-IN" sz="1400" dirty="0">
                <a:solidFill>
                  <a:srgbClr val="000000"/>
                </a:solidFill>
                <a:latin typeface="Cascadia Mono" panose="020B0609020000020004" pitchFamily="49" charset="0"/>
              </a:rPr>
              <a:t>,  </a:t>
            </a:r>
            <a:r>
              <a:rPr lang="en-IN" sz="1400" dirty="0" err="1">
                <a:solidFill>
                  <a:srgbClr val="000000"/>
                </a:solidFill>
                <a:highlight>
                  <a:srgbClr val="FFFF00"/>
                </a:highlight>
                <a:latin typeface="Cascadia Mono" panose="020B0609020000020004" pitchFamily="49" charset="0"/>
              </a:rPr>
              <a:t>backgroundColor</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ConsoleColor.White</a:t>
            </a:r>
            <a:r>
              <a:rPr lang="en-IN" sz="1400" dirty="0">
                <a:solidFill>
                  <a:srgbClr val="000000"/>
                </a:solidFill>
                <a:latin typeface="Cascadia Mono" panose="020B0609020000020004" pitchFamily="49" charset="0"/>
              </a:rPr>
              <a:t>);</a:t>
            </a:r>
          </a:p>
          <a:p>
            <a:endParaRPr lang="en-IN" sz="1400" dirty="0">
              <a:solidFill>
                <a:srgbClr val="000000"/>
              </a:solidFill>
              <a:latin typeface="Cascadia Mono" panose="020B0609020000020004" pitchFamily="49" charset="0"/>
            </a:endParaRP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DisplayFancyMessage</a:t>
            </a:r>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backgroundColor</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ConsoleColor.Green</a:t>
            </a:r>
            <a:r>
              <a:rPr lang="en-US" sz="1400" dirty="0">
                <a:solidFill>
                  <a:srgbClr val="000000"/>
                </a:solidFill>
                <a:latin typeface="Cascadia Mono" panose="020B0609020000020004" pitchFamily="49" charset="0"/>
              </a:rPr>
              <a:t>, message: </a:t>
            </a:r>
            <a:r>
              <a:rPr lang="en-US" sz="1400" dirty="0">
                <a:solidFill>
                  <a:srgbClr val="A31515"/>
                </a:solidFill>
                <a:latin typeface="Cascadia Mono" panose="020B0609020000020004" pitchFamily="49" charset="0"/>
              </a:rPr>
              <a:t>"Testing..."</a:t>
            </a:r>
            <a:r>
              <a:rPr lang="en-US"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textColor</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ConsoleColor.DarkBlue</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Console.ReadLine</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static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void</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DisplayFancyMessage</a:t>
            </a:r>
            <a:r>
              <a:rPr lang="en-IN" sz="1400" dirty="0">
                <a:solidFill>
                  <a:srgbClr val="000000"/>
                </a:solidFill>
                <a:latin typeface="Cascadia Mono" panose="020B0609020000020004" pitchFamily="49" charset="0"/>
              </a:rPr>
              <a:t>(</a:t>
            </a:r>
            <a:r>
              <a:rPr lang="en-IN" sz="1400" dirty="0" err="1">
                <a:solidFill>
                  <a:srgbClr val="000000"/>
                </a:solidFill>
                <a:latin typeface="Cascadia Mono" panose="020B0609020000020004" pitchFamily="49" charset="0"/>
              </a:rPr>
              <a:t>ConsoleColor</a:t>
            </a:r>
            <a:r>
              <a:rPr lang="en-IN" sz="1400" dirty="0">
                <a:solidFill>
                  <a:srgbClr val="000000"/>
                </a:solidFill>
                <a:latin typeface="Cascadia Mono" panose="020B0609020000020004" pitchFamily="49" charset="0"/>
              </a:rPr>
              <a:t> </a:t>
            </a:r>
            <a:r>
              <a:rPr lang="en-IN" sz="1400" dirty="0" err="1">
                <a:solidFill>
                  <a:srgbClr val="000000"/>
                </a:solidFill>
                <a:highlight>
                  <a:srgbClr val="FFFF00"/>
                </a:highlight>
                <a:latin typeface="Cascadia Mono" panose="020B0609020000020004" pitchFamily="49" charset="0"/>
              </a:rPr>
              <a:t>textColor</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ConsoleColor</a:t>
            </a:r>
            <a:r>
              <a:rPr lang="en-IN" sz="1400" dirty="0">
                <a:solidFill>
                  <a:srgbClr val="000000"/>
                </a:solidFill>
                <a:latin typeface="Cascadia Mono" panose="020B0609020000020004" pitchFamily="49" charset="0"/>
              </a:rPr>
              <a:t> </a:t>
            </a:r>
            <a:r>
              <a:rPr lang="en-IN" sz="1400" dirty="0" err="1">
                <a:solidFill>
                  <a:srgbClr val="000000"/>
                </a:solidFill>
                <a:highlight>
                  <a:srgbClr val="FFFF00"/>
                </a:highlight>
                <a:latin typeface="Cascadia Mono" panose="020B0609020000020004" pitchFamily="49" charset="0"/>
              </a:rPr>
              <a:t>backgroundColor</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string</a:t>
            </a:r>
            <a:r>
              <a:rPr lang="en-IN" sz="1400" dirty="0">
                <a:solidFill>
                  <a:srgbClr val="000000"/>
                </a:solidFill>
                <a:latin typeface="Cascadia Mono" panose="020B0609020000020004" pitchFamily="49" charset="0"/>
              </a:rPr>
              <a:t> </a:t>
            </a:r>
            <a:r>
              <a:rPr lang="en-IN" sz="1400" dirty="0">
                <a:solidFill>
                  <a:srgbClr val="000000"/>
                </a:solidFill>
                <a:highlight>
                  <a:srgbClr val="FFFF00"/>
                </a:highlight>
                <a:latin typeface="Cascadia Mono" panose="020B0609020000020004" pitchFamily="49" charset="0"/>
              </a:rPr>
              <a:t>message</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008000"/>
                </a:solidFill>
                <a:latin typeface="Cascadia Mono" panose="020B0609020000020004" pitchFamily="49" charset="0"/>
              </a:rPr>
              <a:t>// Set new colors and print message.</a:t>
            </a:r>
            <a:endParaRPr lang="en-US"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Console.ForegroundColor</a:t>
            </a:r>
            <a:r>
              <a:rPr lang="en-IN" sz="1400" dirty="0">
                <a:solidFill>
                  <a:srgbClr val="000000"/>
                </a:solidFill>
                <a:latin typeface="Cascadia Mono" panose="020B0609020000020004" pitchFamily="49" charset="0"/>
              </a:rPr>
              <a:t> = </a:t>
            </a:r>
            <a:r>
              <a:rPr lang="en-IN" sz="1400" dirty="0" err="1">
                <a:solidFill>
                  <a:srgbClr val="000000"/>
                </a:solidFill>
                <a:latin typeface="Cascadia Mono" panose="020B0609020000020004" pitchFamily="49" charset="0"/>
              </a:rPr>
              <a:t>textColor</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Console.BackgroundColor</a:t>
            </a:r>
            <a:r>
              <a:rPr lang="en-IN" sz="1400" dirty="0">
                <a:solidFill>
                  <a:srgbClr val="000000"/>
                </a:solidFill>
                <a:latin typeface="Cascadia Mono" panose="020B0609020000020004" pitchFamily="49" charset="0"/>
              </a:rPr>
              <a:t> = </a:t>
            </a:r>
            <a:r>
              <a:rPr lang="en-IN" sz="1400" dirty="0" err="1">
                <a:solidFill>
                  <a:srgbClr val="000000"/>
                </a:solidFill>
                <a:latin typeface="Cascadia Mono" panose="020B0609020000020004" pitchFamily="49" charset="0"/>
              </a:rPr>
              <a:t>backgroundColor</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Console.WriteLine</a:t>
            </a:r>
            <a:r>
              <a:rPr lang="en-IN" sz="1400" dirty="0">
                <a:solidFill>
                  <a:srgbClr val="000000"/>
                </a:solidFill>
                <a:latin typeface="Cascadia Mono" panose="020B0609020000020004" pitchFamily="49" charset="0"/>
              </a:rPr>
              <a:t>(message);</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a:t>
            </a:r>
          </a:p>
        </p:txBody>
      </p:sp>
      <p:sp>
        <p:nvSpPr>
          <p:cNvPr id="7" name="TextBox 6">
            <a:extLst>
              <a:ext uri="{FF2B5EF4-FFF2-40B4-BE49-F238E27FC236}">
                <a16:creationId xmlns:a16="http://schemas.microsoft.com/office/drawing/2014/main" id="{50D86BA1-2574-A17B-7ECF-4B07D2919FA2}"/>
              </a:ext>
            </a:extLst>
          </p:cNvPr>
          <p:cNvSpPr txBox="1"/>
          <p:nvPr/>
        </p:nvSpPr>
        <p:spPr>
          <a:xfrm>
            <a:off x="6308890" y="4840553"/>
            <a:ext cx="5436908" cy="147732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900" dirty="0">
                <a:solidFill>
                  <a:srgbClr val="008000"/>
                </a:solidFill>
                <a:latin typeface="Cascadia Mono" panose="020B0609020000020004" pitchFamily="49" charset="0"/>
              </a:rPr>
              <a:t>// This is OK, as positional </a:t>
            </a:r>
            <a:r>
              <a:rPr lang="en-US" sz="900" dirty="0" err="1">
                <a:solidFill>
                  <a:srgbClr val="008000"/>
                </a:solidFill>
                <a:latin typeface="Cascadia Mono" panose="020B0609020000020004" pitchFamily="49" charset="0"/>
              </a:rPr>
              <a:t>args</a:t>
            </a:r>
            <a:r>
              <a:rPr lang="en-US" sz="900" dirty="0">
                <a:solidFill>
                  <a:srgbClr val="008000"/>
                </a:solidFill>
                <a:latin typeface="Cascadia Mono" panose="020B0609020000020004" pitchFamily="49" charset="0"/>
              </a:rPr>
              <a:t> are listed before named </a:t>
            </a:r>
            <a:r>
              <a:rPr lang="en-US" sz="900" dirty="0" err="1">
                <a:solidFill>
                  <a:srgbClr val="008000"/>
                </a:solidFill>
                <a:latin typeface="Cascadia Mono" panose="020B0609020000020004" pitchFamily="49" charset="0"/>
              </a:rPr>
              <a:t>args</a:t>
            </a:r>
            <a:r>
              <a:rPr lang="en-US" sz="900" dirty="0">
                <a:solidFill>
                  <a:srgbClr val="008000"/>
                </a:solidFill>
                <a:latin typeface="Cascadia Mono" panose="020B0609020000020004" pitchFamily="49" charset="0"/>
              </a:rPr>
              <a:t>.</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DisplayFancyMessage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ConsoleColor.Blue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message: </a:t>
            </a:r>
            <a:r>
              <a:rPr lang="en-IN" sz="900" dirty="0">
                <a:solidFill>
                  <a:srgbClr val="A31515"/>
                </a:solidFill>
                <a:latin typeface="Cascadia Mono" panose="020B0609020000020004" pitchFamily="49" charset="0"/>
              </a:rPr>
              <a:t>"Testing..."</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backgroundColor</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ConsoleColor.White</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This is an ERROR, as positional </a:t>
            </a:r>
            <a:r>
              <a:rPr lang="en-US" sz="900" dirty="0" err="1">
                <a:solidFill>
                  <a:srgbClr val="008000"/>
                </a:solidFill>
                <a:latin typeface="Cascadia Mono" panose="020B0609020000020004" pitchFamily="49" charset="0"/>
              </a:rPr>
              <a:t>args</a:t>
            </a:r>
            <a:r>
              <a:rPr lang="en-US" sz="900" dirty="0">
                <a:solidFill>
                  <a:srgbClr val="008000"/>
                </a:solidFill>
                <a:latin typeface="Cascadia Mono" panose="020B0609020000020004" pitchFamily="49" charset="0"/>
              </a:rPr>
              <a:t> are listed after named </a:t>
            </a:r>
            <a:r>
              <a:rPr lang="en-US" sz="900" dirty="0" err="1">
                <a:solidFill>
                  <a:srgbClr val="008000"/>
                </a:solidFill>
                <a:latin typeface="Cascadia Mono" panose="020B0609020000020004" pitchFamily="49" charset="0"/>
              </a:rPr>
              <a:t>args</a:t>
            </a:r>
            <a:r>
              <a:rPr lang="en-US" sz="900" dirty="0">
                <a:solidFill>
                  <a:srgbClr val="008000"/>
                </a:solidFill>
                <a:latin typeface="Cascadia Mono" panose="020B0609020000020004" pitchFamily="49" charset="0"/>
              </a:rPr>
              <a:t>.</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DisplayFancyMessage</a:t>
            </a:r>
            <a:r>
              <a:rPr lang="en-IN" sz="900" dirty="0">
                <a:solidFill>
                  <a:srgbClr val="000000"/>
                </a:solidFill>
                <a:latin typeface="Cascadia Mono" panose="020B0609020000020004" pitchFamily="49" charset="0"/>
              </a:rPr>
              <a:t>(message: </a:t>
            </a:r>
            <a:r>
              <a:rPr lang="en-IN" sz="900" dirty="0">
                <a:solidFill>
                  <a:srgbClr val="A31515"/>
                </a:solidFill>
                <a:latin typeface="Cascadia Mono" panose="020B0609020000020004" pitchFamily="49" charset="0"/>
              </a:rPr>
              <a:t>"Testing..."</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backgroundColor</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ConsoleColor.White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ConsoleColor.Blue</a:t>
            </a:r>
            <a:r>
              <a:rPr lang="en-IN" sz="900" dirty="0">
                <a:solidFill>
                  <a:srgbClr val="000000"/>
                </a:solidFill>
                <a:latin typeface="Cascadia Mono" panose="020B0609020000020004" pitchFamily="49" charset="0"/>
              </a:rPr>
              <a:t>);</a:t>
            </a:r>
            <a:endParaRPr lang="en-IN" dirty="0"/>
          </a:p>
        </p:txBody>
      </p:sp>
    </p:spTree>
    <p:extLst>
      <p:ext uri="{BB962C8B-B14F-4D97-AF65-F5344CB8AC3E}">
        <p14:creationId xmlns:p14="http://schemas.microsoft.com/office/powerpoint/2010/main" val="1205292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720A3C-495A-E7E9-6BBA-A609B0645255}"/>
              </a:ext>
            </a:extLst>
          </p:cNvPr>
          <p:cNvSpPr txBox="1"/>
          <p:nvPr/>
        </p:nvSpPr>
        <p:spPr>
          <a:xfrm>
            <a:off x="1135930" y="0"/>
            <a:ext cx="10770124" cy="1053365"/>
          </a:xfrm>
          <a:prstGeom prst="rect">
            <a:avLst/>
          </a:prstGeom>
          <a:noFill/>
        </p:spPr>
        <p:txBody>
          <a:bodyPr wrap="square">
            <a:spAutoFit/>
          </a:bodyPr>
          <a:lstStyle/>
          <a:p>
            <a:pPr>
              <a:lnSpc>
                <a:spcPct val="115000"/>
              </a:lnSpc>
              <a:spcAft>
                <a:spcPts val="1000"/>
              </a:spcAft>
            </a:pPr>
            <a:r>
              <a:rPr lang="en-IN" sz="1600" dirty="0">
                <a:effectLst/>
                <a:latin typeface="Calibri" panose="020F0502020204030204" pitchFamily="34" charset="0"/>
                <a:ea typeface="Calibri" panose="020F0502020204030204" pitchFamily="34" charset="0"/>
                <a:cs typeface="Calibri" panose="020F0502020204030204" pitchFamily="34" charset="0"/>
              </a:rPr>
              <a:t>you might still be wondering when you would ever want to use this language feature. After all, if you need to specify three arguments to a method, why bother flipping around their position?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600" dirty="0">
                <a:effectLst/>
                <a:latin typeface="Calibri" panose="020F0502020204030204" pitchFamily="34" charset="0"/>
                <a:ea typeface="Calibri" panose="020F0502020204030204" pitchFamily="34" charset="0"/>
                <a:cs typeface="Calibri" panose="020F0502020204030204" pitchFamily="34" charset="0"/>
              </a:rPr>
              <a:t>Well, as it turns out, if you have a method that defines optional arguments, this feature can actually be really helpful.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458F0717-394F-7BB2-1B60-5AADCB954214}"/>
              </a:ext>
            </a:extLst>
          </p:cNvPr>
          <p:cNvSpPr txBox="1"/>
          <p:nvPr/>
        </p:nvSpPr>
        <p:spPr>
          <a:xfrm>
            <a:off x="179109" y="1132943"/>
            <a:ext cx="12012891" cy="6093976"/>
          </a:xfrm>
          <a:prstGeom prst="rect">
            <a:avLst/>
          </a:prstGeom>
          <a:noFill/>
        </p:spPr>
        <p:txBody>
          <a:bodyPr wrap="square">
            <a:spAutoFit/>
          </a:bodyPr>
          <a:lstStyle/>
          <a:p>
            <a:r>
              <a:rPr lang="en-IN" sz="1200" dirty="0">
                <a:solidFill>
                  <a:srgbClr val="0000FF"/>
                </a:solidFill>
                <a:latin typeface="Cascadia Mono" panose="020B0609020000020004" pitchFamily="49" charset="0"/>
              </a:rPr>
              <a:t>namespace</a:t>
            </a:r>
            <a:r>
              <a:rPr lang="en-IN" sz="1200" dirty="0">
                <a:solidFill>
                  <a:srgbClr val="000000"/>
                </a:solidFill>
                <a:latin typeface="Cascadia Mono" panose="020B0609020000020004" pitchFamily="49" charset="0"/>
              </a:rPr>
              <a:t> ConsoleApp2</a:t>
            </a:r>
          </a:p>
          <a:p>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internal</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Program</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static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Main(</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args</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Console.WriteLine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 Fun with Methods *****"</a:t>
            </a:r>
            <a:r>
              <a:rPr lang="en-US"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DisplayFancyMessage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textColor</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ConsoleColor.DarkRed</a:t>
            </a:r>
            <a:r>
              <a:rPr lang="en-IN"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backgroundColor</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ConsoleColor.White</a:t>
            </a:r>
            <a:r>
              <a:rPr lang="en-US" sz="1200" dirty="0">
                <a:solidFill>
                  <a:srgbClr val="000000"/>
                </a:solidFill>
                <a:latin typeface="Cascadia Mono" panose="020B0609020000020004" pitchFamily="49" charset="0"/>
              </a:rPr>
              <a:t>, message: </a:t>
            </a:r>
            <a:r>
              <a:rPr lang="en-US" sz="1200" dirty="0">
                <a:solidFill>
                  <a:srgbClr val="A31515"/>
                </a:solidFill>
                <a:latin typeface="Cascadia Mono" panose="020B0609020000020004" pitchFamily="49" charset="0"/>
              </a:rPr>
              <a:t>"Wow! Very Fancy indeed!"</a:t>
            </a:r>
            <a:r>
              <a:rPr lang="en-US"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DisplayFancyMessage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backgroundColor</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ConsoleColor.Green</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textColor</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ConsoleColor.DarkBlue</a:t>
            </a:r>
            <a:r>
              <a:rPr lang="en-IN" sz="1200" dirty="0">
                <a:solidFill>
                  <a:srgbClr val="000000"/>
                </a:solidFill>
                <a:latin typeface="Cascadia Mono" panose="020B0609020000020004" pitchFamily="49" charset="0"/>
              </a:rPr>
              <a:t>, message: </a:t>
            </a:r>
            <a:r>
              <a:rPr lang="en-IN" sz="1200" dirty="0">
                <a:solidFill>
                  <a:srgbClr val="A31515"/>
                </a:solidFill>
                <a:latin typeface="Cascadia Mono" panose="020B0609020000020004" pitchFamily="49" charset="0"/>
              </a:rPr>
              <a:t>"Testing..."</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DisplayFancyMessage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message:</a:t>
            </a:r>
            <a:r>
              <a:rPr lang="en-IN" sz="1200" dirty="0" err="1">
                <a:solidFill>
                  <a:srgbClr val="A31515"/>
                </a:solidFill>
                <a:latin typeface="Cascadia Mono" panose="020B0609020000020004" pitchFamily="49" charset="0"/>
              </a:rPr>
              <a:t>"Testing</a:t>
            </a:r>
            <a:r>
              <a:rPr lang="en-IN" sz="1200" dirty="0">
                <a:solidFill>
                  <a:srgbClr val="A31515"/>
                </a:solidFill>
                <a:latin typeface="Cascadia Mono" panose="020B0609020000020004" pitchFamily="49" charset="0"/>
              </a:rPr>
              <a:t>..."</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DisplayFancyMessage</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Console.ReadLine</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endParaRPr lang="en-IN" sz="1200" dirty="0">
              <a:solidFill>
                <a:srgbClr val="000000"/>
              </a:solidFill>
              <a:latin typeface="Cascadia Mono" panose="020B0609020000020004" pitchFamily="49" charset="0"/>
            </a:endParaRPr>
          </a:p>
          <a:p>
            <a:endParaRPr lang="en-IN" sz="1200" dirty="0">
              <a:solidFill>
                <a:srgbClr val="000000"/>
              </a:solidFill>
              <a:latin typeface="Cascadia Mono" panose="020B0609020000020004" pitchFamily="49" charset="0"/>
            </a:endParaRPr>
          </a:p>
          <a:p>
            <a:r>
              <a:rPr lang="en-IN" sz="1200" dirty="0">
                <a:solidFill>
                  <a:srgbClr val="0000FF"/>
                </a:solidFill>
                <a:latin typeface="Cascadia Mono" panose="020B0609020000020004" pitchFamily="49" charset="0"/>
              </a:rPr>
              <a:t>static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void</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DisplayFancyMessage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ConsoleColor</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textColor</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ConsoleColor.Blue</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ConsoleColor</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backgroundColor</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ConsoleColor</a:t>
            </a:r>
            <a:r>
              <a:rPr lang="en-IN" sz="1200" dirty="0">
                <a:solidFill>
                  <a:srgbClr val="000000"/>
                </a:solidFill>
                <a:latin typeface="Cascadia Mono" panose="020B0609020000020004" pitchFamily="49" charset="0"/>
              </a:rPr>
              <a:t>. White,</a:t>
            </a:r>
          </a:p>
          <a:p>
            <a:r>
              <a:rPr lang="en-IN" sz="1200" dirty="0">
                <a:solidFill>
                  <a:srgbClr val="0000FF"/>
                </a:solidFill>
                <a:latin typeface="Cascadia Mono" panose="020B0609020000020004" pitchFamily="49" charset="0"/>
              </a:rPr>
              <a:t>string</a:t>
            </a:r>
            <a:r>
              <a:rPr lang="en-IN" sz="1200" dirty="0">
                <a:solidFill>
                  <a:srgbClr val="000000"/>
                </a:solidFill>
                <a:latin typeface="Cascadia Mono" panose="020B0609020000020004" pitchFamily="49" charset="0"/>
              </a:rPr>
              <a:t> message = </a:t>
            </a:r>
            <a:r>
              <a:rPr lang="en-IN" sz="1200" dirty="0">
                <a:solidFill>
                  <a:srgbClr val="A31515"/>
                </a:solidFill>
                <a:latin typeface="Cascadia Mono" panose="020B0609020000020004" pitchFamily="49" charset="0"/>
              </a:rPr>
              <a:t>"Test Message"</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Set new colors and print message.</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Console.ForegroundColor</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textColor</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Console.BackgroundColor</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backgroundColor</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(message);</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a:t>
            </a:r>
            <a:endParaRPr lang="en-IN" sz="3200" dirty="0"/>
          </a:p>
        </p:txBody>
      </p:sp>
    </p:spTree>
    <p:extLst>
      <p:ext uri="{BB962C8B-B14F-4D97-AF65-F5344CB8AC3E}">
        <p14:creationId xmlns:p14="http://schemas.microsoft.com/office/powerpoint/2010/main" val="16873423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1785</TotalTime>
  <Words>3523</Words>
  <Application>Microsoft Office PowerPoint</Application>
  <PresentationFormat>Widescreen</PresentationFormat>
  <Paragraphs>627</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Calibri</vt:lpstr>
      <vt:lpstr>Cambria</vt:lpstr>
      <vt:lpstr>Cascadia Mono</vt:lpstr>
      <vt:lpstr>Consolas</vt:lpstr>
      <vt:lpstr>Courier New</vt:lpstr>
      <vt:lpstr>Garamond</vt:lpstr>
      <vt:lpstr>museo-sans</vt:lpstr>
      <vt:lpstr>Wingdings</vt:lpstr>
      <vt:lpstr>Office Theme</vt:lpstr>
      <vt:lpstr>PowerPoint Presentation</vt:lpstr>
      <vt:lpstr>   Call by value</vt:lpstr>
      <vt:lpstr>Passing object in a function is call by value</vt:lpstr>
      <vt:lpstr>     Call by  Reference</vt:lpstr>
      <vt:lpstr>Swap two number</vt:lpstr>
      <vt:lpstr>     Call by  Reference</vt:lpstr>
      <vt:lpstr>Call by  Reference</vt:lpstr>
      <vt:lpstr>PowerPoint Presentation</vt:lpstr>
      <vt:lpstr>PowerPoint Presentation</vt:lpstr>
      <vt:lpstr>PowerPoint Presentation</vt:lpstr>
      <vt:lpstr>Variable length of arguments</vt:lpstr>
      <vt:lpstr>Method returning Array</vt:lpstr>
      <vt:lpstr>PowerPoint Presentation</vt:lpstr>
      <vt:lpstr>Default Agument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59</cp:revision>
  <dcterms:created xsi:type="dcterms:W3CDTF">2020-07-29T17:53:08Z</dcterms:created>
  <dcterms:modified xsi:type="dcterms:W3CDTF">2025-04-07T03:53:33Z</dcterms:modified>
</cp:coreProperties>
</file>