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arva Mhargude" userId="dea19e40f6ca4f9b" providerId="LiveId" clId="{D1F2B911-D123-4599-914A-9DE26B55CC2E}"/>
    <pc:docChg chg="modSld">
      <pc:chgData name="Atharva Mhargude" userId="dea19e40f6ca4f9b" providerId="LiveId" clId="{D1F2B911-D123-4599-914A-9DE26B55CC2E}" dt="2025-10-14T05:01:52.333" v="0" actId="1076"/>
      <pc:docMkLst>
        <pc:docMk/>
      </pc:docMkLst>
      <pc:sldChg chg="modSp mod">
        <pc:chgData name="Atharva Mhargude" userId="dea19e40f6ca4f9b" providerId="LiveId" clId="{D1F2B911-D123-4599-914A-9DE26B55CC2E}" dt="2025-10-14T05:01:52.333" v="0" actId="1076"/>
        <pc:sldMkLst>
          <pc:docMk/>
          <pc:sldMk cId="2293549933" sldId="270"/>
        </pc:sldMkLst>
        <pc:spChg chg="mod">
          <ac:chgData name="Atharva Mhargude" userId="dea19e40f6ca4f9b" providerId="LiveId" clId="{D1F2B911-D123-4599-914A-9DE26B55CC2E}" dt="2025-10-14T05:01:52.333" v="0" actId="1076"/>
          <ac:spMkLst>
            <pc:docMk/>
            <pc:sldMk cId="2293549933" sldId="270"/>
            <ac:spMk id="11" creationId="{FD6E0799-3CBD-49A1-B142-680AD6734A8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FCC1CC-B145-47F5-B59E-B0447625622E}" type="datetimeFigureOut">
              <a:rPr lang="en-IN" smtClean="0"/>
              <a:t>14-10-2025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4FE4C3-799D-4BA1-924F-AAE0914A2B89}" type="slidenum">
              <a:rPr lang="en-IN" smtClean="0"/>
              <a:t>‹#›</a:t>
            </a:fld>
            <a:endParaRPr lang="en-IN"/>
          </a:p>
        </p:txBody>
      </p:sp>
    </p:spTree>
    <p:extLst>
      <p:ext uri="{BB962C8B-B14F-4D97-AF65-F5344CB8AC3E}">
        <p14:creationId xmlns:p14="http://schemas.microsoft.com/office/powerpoint/2010/main" val="3960643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A4FE4C3-799D-4BA1-924F-AAE0914A2B89}" type="slidenum">
              <a:rPr lang="en-IN" smtClean="0"/>
              <a:t>18</a:t>
            </a:fld>
            <a:endParaRPr lang="en-IN"/>
          </a:p>
        </p:txBody>
      </p:sp>
    </p:spTree>
    <p:extLst>
      <p:ext uri="{BB962C8B-B14F-4D97-AF65-F5344CB8AC3E}">
        <p14:creationId xmlns:p14="http://schemas.microsoft.com/office/powerpoint/2010/main" val="1324173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6AF8D-7D33-4745-8C5A-FFA3D79CCD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CAD4F06-AA5A-4E1A-84F5-DC86AE5137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EDD457-29E4-4471-986B-FA5DC801EF4A}"/>
              </a:ext>
            </a:extLst>
          </p:cNvPr>
          <p:cNvSpPr>
            <a:spLocks noGrp="1"/>
          </p:cNvSpPr>
          <p:nvPr>
            <p:ph type="dt" sz="half" idx="10"/>
          </p:nvPr>
        </p:nvSpPr>
        <p:spPr/>
        <p:txBody>
          <a:bodyPr/>
          <a:lstStyle/>
          <a:p>
            <a:fld id="{FE2270DC-1694-44FE-8BCB-20509FEBA256}" type="datetimeFigureOut">
              <a:rPr lang="en-IN" smtClean="0"/>
              <a:t>14-10-2025</a:t>
            </a:fld>
            <a:endParaRPr lang="en-IN"/>
          </a:p>
        </p:txBody>
      </p:sp>
      <p:sp>
        <p:nvSpPr>
          <p:cNvPr id="5" name="Footer Placeholder 4">
            <a:extLst>
              <a:ext uri="{FF2B5EF4-FFF2-40B4-BE49-F238E27FC236}">
                <a16:creationId xmlns:a16="http://schemas.microsoft.com/office/drawing/2014/main" id="{DF08C978-F9BB-4E3A-887D-E04E19A72F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6A8AD1-A058-4DFC-AE61-63364193F55A}"/>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437892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8084C-7148-40F1-A517-332AFAA3E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26B4E0-1563-46FC-8BB7-813FC4DD9D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2BF63C-8380-4725-809A-8BD88D236392}"/>
              </a:ext>
            </a:extLst>
          </p:cNvPr>
          <p:cNvSpPr>
            <a:spLocks noGrp="1"/>
          </p:cNvSpPr>
          <p:nvPr>
            <p:ph type="dt" sz="half" idx="10"/>
          </p:nvPr>
        </p:nvSpPr>
        <p:spPr/>
        <p:txBody>
          <a:bodyPr/>
          <a:lstStyle/>
          <a:p>
            <a:fld id="{FE2270DC-1694-44FE-8BCB-20509FEBA256}" type="datetimeFigureOut">
              <a:rPr lang="en-IN" smtClean="0"/>
              <a:t>14-10-2025</a:t>
            </a:fld>
            <a:endParaRPr lang="en-IN"/>
          </a:p>
        </p:txBody>
      </p:sp>
      <p:sp>
        <p:nvSpPr>
          <p:cNvPr id="5" name="Footer Placeholder 4">
            <a:extLst>
              <a:ext uri="{FF2B5EF4-FFF2-40B4-BE49-F238E27FC236}">
                <a16:creationId xmlns:a16="http://schemas.microsoft.com/office/drawing/2014/main" id="{81DAAC48-38D2-473E-8C70-D779A2A0DB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7DD7E9-95AF-43B4-9064-864D0AEA39C7}"/>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2295847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75F3B-8B93-4596-AA0B-CFDB73D8A9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8208DC-032A-4FE6-8C77-94D05D2899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F45118-9A39-44D8-8AAE-6C14BB824E24}"/>
              </a:ext>
            </a:extLst>
          </p:cNvPr>
          <p:cNvSpPr>
            <a:spLocks noGrp="1"/>
          </p:cNvSpPr>
          <p:nvPr>
            <p:ph type="dt" sz="half" idx="10"/>
          </p:nvPr>
        </p:nvSpPr>
        <p:spPr/>
        <p:txBody>
          <a:bodyPr/>
          <a:lstStyle/>
          <a:p>
            <a:fld id="{FE2270DC-1694-44FE-8BCB-20509FEBA256}" type="datetimeFigureOut">
              <a:rPr lang="en-IN" smtClean="0"/>
              <a:t>14-10-2025</a:t>
            </a:fld>
            <a:endParaRPr lang="en-IN"/>
          </a:p>
        </p:txBody>
      </p:sp>
      <p:sp>
        <p:nvSpPr>
          <p:cNvPr id="5" name="Footer Placeholder 4">
            <a:extLst>
              <a:ext uri="{FF2B5EF4-FFF2-40B4-BE49-F238E27FC236}">
                <a16:creationId xmlns:a16="http://schemas.microsoft.com/office/drawing/2014/main" id="{9C23B5F0-2796-4C5C-AEE2-26180C9399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695518-DA95-43EF-BBE7-D959AC172283}"/>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3842034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74E00-0D72-4A0B-8144-0AE43E5C25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21C42B-4FF7-4FA3-B393-F20A6A19BC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6B9BCF-38F9-44DB-A81E-9AC63651D0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B850E6-8FA4-471F-A444-E118389A4C17}"/>
              </a:ext>
            </a:extLst>
          </p:cNvPr>
          <p:cNvSpPr>
            <a:spLocks noGrp="1"/>
          </p:cNvSpPr>
          <p:nvPr>
            <p:ph type="dt" sz="half" idx="10"/>
          </p:nvPr>
        </p:nvSpPr>
        <p:spPr/>
        <p:txBody>
          <a:bodyPr/>
          <a:lstStyle/>
          <a:p>
            <a:fld id="{FE2270DC-1694-44FE-8BCB-20509FEBA256}" type="datetimeFigureOut">
              <a:rPr lang="en-IN" smtClean="0"/>
              <a:t>14-10-2025</a:t>
            </a:fld>
            <a:endParaRPr lang="en-IN"/>
          </a:p>
        </p:txBody>
      </p:sp>
      <p:sp>
        <p:nvSpPr>
          <p:cNvPr id="6" name="Footer Placeholder 5">
            <a:extLst>
              <a:ext uri="{FF2B5EF4-FFF2-40B4-BE49-F238E27FC236}">
                <a16:creationId xmlns:a16="http://schemas.microsoft.com/office/drawing/2014/main" id="{B815077F-6826-490A-B28F-8EF177CBA2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CDB70D-515E-4693-BB38-CC74E366382F}"/>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1897482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F5A2E-CABA-4C8C-88C0-60FC6CD0C9A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692FE4-8DC1-4480-9130-0FA8DC0341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C54731-A795-44F9-9C31-C271CFD407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79BB78A-3AC3-44DD-8757-7187D06EDC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D687AE-C5C9-4BD4-9C84-9FA202E7D9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33E4A6-4DE6-4159-A287-570702906C62}"/>
              </a:ext>
            </a:extLst>
          </p:cNvPr>
          <p:cNvSpPr>
            <a:spLocks noGrp="1"/>
          </p:cNvSpPr>
          <p:nvPr>
            <p:ph type="dt" sz="half" idx="10"/>
          </p:nvPr>
        </p:nvSpPr>
        <p:spPr/>
        <p:txBody>
          <a:bodyPr/>
          <a:lstStyle/>
          <a:p>
            <a:fld id="{FE2270DC-1694-44FE-8BCB-20509FEBA256}" type="datetimeFigureOut">
              <a:rPr lang="en-IN" smtClean="0"/>
              <a:t>14-10-2025</a:t>
            </a:fld>
            <a:endParaRPr lang="en-IN"/>
          </a:p>
        </p:txBody>
      </p:sp>
      <p:sp>
        <p:nvSpPr>
          <p:cNvPr id="8" name="Footer Placeholder 7">
            <a:extLst>
              <a:ext uri="{FF2B5EF4-FFF2-40B4-BE49-F238E27FC236}">
                <a16:creationId xmlns:a16="http://schemas.microsoft.com/office/drawing/2014/main" id="{433B2A74-B1B8-4065-9856-13517FFBF5B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AD660F-E537-4BF2-BC46-6800D911DD60}"/>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4042846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8221-8770-4C30-A99F-65D39FD3F42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52BDD8-B599-4DA3-9BE7-D746AF3CEB62}"/>
              </a:ext>
            </a:extLst>
          </p:cNvPr>
          <p:cNvSpPr>
            <a:spLocks noGrp="1"/>
          </p:cNvSpPr>
          <p:nvPr>
            <p:ph type="dt" sz="half" idx="10"/>
          </p:nvPr>
        </p:nvSpPr>
        <p:spPr/>
        <p:txBody>
          <a:bodyPr/>
          <a:lstStyle/>
          <a:p>
            <a:fld id="{FE2270DC-1694-44FE-8BCB-20509FEBA256}" type="datetimeFigureOut">
              <a:rPr lang="en-IN" smtClean="0"/>
              <a:t>14-10-2025</a:t>
            </a:fld>
            <a:endParaRPr lang="en-IN"/>
          </a:p>
        </p:txBody>
      </p:sp>
      <p:sp>
        <p:nvSpPr>
          <p:cNvPr id="4" name="Footer Placeholder 3">
            <a:extLst>
              <a:ext uri="{FF2B5EF4-FFF2-40B4-BE49-F238E27FC236}">
                <a16:creationId xmlns:a16="http://schemas.microsoft.com/office/drawing/2014/main" id="{BD9AD2EF-2769-4118-BA27-3B51CE60B3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A375E11-EBC4-4F18-8EF2-F8D259320105}"/>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110379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CA8859-580C-40BF-A6B6-03C01A73BE5F}"/>
              </a:ext>
            </a:extLst>
          </p:cNvPr>
          <p:cNvSpPr>
            <a:spLocks noGrp="1"/>
          </p:cNvSpPr>
          <p:nvPr>
            <p:ph type="dt" sz="half" idx="10"/>
          </p:nvPr>
        </p:nvSpPr>
        <p:spPr/>
        <p:txBody>
          <a:bodyPr/>
          <a:lstStyle/>
          <a:p>
            <a:fld id="{FE2270DC-1694-44FE-8BCB-20509FEBA256}" type="datetimeFigureOut">
              <a:rPr lang="en-IN" smtClean="0"/>
              <a:t>14-10-2025</a:t>
            </a:fld>
            <a:endParaRPr lang="en-IN"/>
          </a:p>
        </p:txBody>
      </p:sp>
      <p:sp>
        <p:nvSpPr>
          <p:cNvPr id="3" name="Footer Placeholder 2">
            <a:extLst>
              <a:ext uri="{FF2B5EF4-FFF2-40B4-BE49-F238E27FC236}">
                <a16:creationId xmlns:a16="http://schemas.microsoft.com/office/drawing/2014/main" id="{E39A291C-D4F6-4E96-A42A-2F23B7A5720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D12C36-574D-4081-81D1-F0FD18EA964D}"/>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3972417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CC493-7551-4AC9-848C-1A7BFCAE28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C45FC7-9036-4B9A-84E9-1A4B0D2B8B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513558-BD95-4DBD-AC8B-C28EEC1DD9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D0B03F-CB83-4771-9384-9D76C6BA0CA2}"/>
              </a:ext>
            </a:extLst>
          </p:cNvPr>
          <p:cNvSpPr>
            <a:spLocks noGrp="1"/>
          </p:cNvSpPr>
          <p:nvPr>
            <p:ph type="dt" sz="half" idx="10"/>
          </p:nvPr>
        </p:nvSpPr>
        <p:spPr/>
        <p:txBody>
          <a:bodyPr/>
          <a:lstStyle/>
          <a:p>
            <a:fld id="{FE2270DC-1694-44FE-8BCB-20509FEBA256}" type="datetimeFigureOut">
              <a:rPr lang="en-IN" smtClean="0"/>
              <a:t>14-10-2025</a:t>
            </a:fld>
            <a:endParaRPr lang="en-IN"/>
          </a:p>
        </p:txBody>
      </p:sp>
      <p:sp>
        <p:nvSpPr>
          <p:cNvPr id="6" name="Footer Placeholder 5">
            <a:extLst>
              <a:ext uri="{FF2B5EF4-FFF2-40B4-BE49-F238E27FC236}">
                <a16:creationId xmlns:a16="http://schemas.microsoft.com/office/drawing/2014/main" id="{8545F8A9-D62C-42E7-9470-C9E8053B09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16E4F1-C189-4FD9-86D5-0FED9AC33B87}"/>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2394286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67A96-A99B-4E3D-8C73-564D03D2E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0006DC3-F0D7-468C-96E1-637DDE4484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DCDA8D-823F-47B0-8E4D-9ED054182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D7CDBE-B306-40E8-8565-652D6EE26928}"/>
              </a:ext>
            </a:extLst>
          </p:cNvPr>
          <p:cNvSpPr>
            <a:spLocks noGrp="1"/>
          </p:cNvSpPr>
          <p:nvPr>
            <p:ph type="dt" sz="half" idx="10"/>
          </p:nvPr>
        </p:nvSpPr>
        <p:spPr/>
        <p:txBody>
          <a:bodyPr/>
          <a:lstStyle/>
          <a:p>
            <a:fld id="{FE2270DC-1694-44FE-8BCB-20509FEBA256}" type="datetimeFigureOut">
              <a:rPr lang="en-IN" smtClean="0"/>
              <a:t>14-10-2025</a:t>
            </a:fld>
            <a:endParaRPr lang="en-IN"/>
          </a:p>
        </p:txBody>
      </p:sp>
      <p:sp>
        <p:nvSpPr>
          <p:cNvPr id="6" name="Footer Placeholder 5">
            <a:extLst>
              <a:ext uri="{FF2B5EF4-FFF2-40B4-BE49-F238E27FC236}">
                <a16:creationId xmlns:a16="http://schemas.microsoft.com/office/drawing/2014/main" id="{77DB2FB0-A9F0-4EE7-BC1E-7106AD1B29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E0DED5-6776-424B-B629-FC020D76F291}"/>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1125189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EE13C-C682-4600-BB98-D55FB3DC4F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C17B6A-A244-4829-8B19-05DD9B5CC5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F991B9-6951-4404-B558-C4FB8B415CDC}"/>
              </a:ext>
            </a:extLst>
          </p:cNvPr>
          <p:cNvSpPr>
            <a:spLocks noGrp="1"/>
          </p:cNvSpPr>
          <p:nvPr>
            <p:ph type="dt" sz="half" idx="10"/>
          </p:nvPr>
        </p:nvSpPr>
        <p:spPr/>
        <p:txBody>
          <a:bodyPr/>
          <a:lstStyle/>
          <a:p>
            <a:fld id="{FE2270DC-1694-44FE-8BCB-20509FEBA256}" type="datetimeFigureOut">
              <a:rPr lang="en-IN" smtClean="0"/>
              <a:t>14-10-2025</a:t>
            </a:fld>
            <a:endParaRPr lang="en-IN"/>
          </a:p>
        </p:txBody>
      </p:sp>
      <p:sp>
        <p:nvSpPr>
          <p:cNvPr id="5" name="Footer Placeholder 4">
            <a:extLst>
              <a:ext uri="{FF2B5EF4-FFF2-40B4-BE49-F238E27FC236}">
                <a16:creationId xmlns:a16="http://schemas.microsoft.com/office/drawing/2014/main" id="{C3517EB6-323A-40BB-AD85-98B3E7D77C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6897FB-8DBC-4950-8146-1191652EC4EF}"/>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2430140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F3DA2C-7801-46DB-99C6-681B01BC38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4DB20A-F451-464D-829A-8E59319A9E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502B8A-14B0-40F7-B4AD-2E874E7256CA}"/>
              </a:ext>
            </a:extLst>
          </p:cNvPr>
          <p:cNvSpPr>
            <a:spLocks noGrp="1"/>
          </p:cNvSpPr>
          <p:nvPr>
            <p:ph type="dt" sz="half" idx="10"/>
          </p:nvPr>
        </p:nvSpPr>
        <p:spPr/>
        <p:txBody>
          <a:bodyPr/>
          <a:lstStyle/>
          <a:p>
            <a:fld id="{FE2270DC-1694-44FE-8BCB-20509FEBA256}" type="datetimeFigureOut">
              <a:rPr lang="en-IN" smtClean="0"/>
              <a:t>14-10-2025</a:t>
            </a:fld>
            <a:endParaRPr lang="en-IN"/>
          </a:p>
        </p:txBody>
      </p:sp>
      <p:sp>
        <p:nvSpPr>
          <p:cNvPr id="5" name="Footer Placeholder 4">
            <a:extLst>
              <a:ext uri="{FF2B5EF4-FFF2-40B4-BE49-F238E27FC236}">
                <a16:creationId xmlns:a16="http://schemas.microsoft.com/office/drawing/2014/main" id="{D0F60516-8D8F-4CDA-8394-DE2A4A3EC1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CC991E-0291-4232-8A03-15532FE72AFB}"/>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602063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4E7F08-369C-4FDB-85A4-85B3D8DE12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447A23-DEFF-44B1-94C9-522A9C260F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F2C44B-E4CE-4074-894C-B61D9F09B7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2270DC-1694-44FE-8BCB-20509FEBA256}" type="datetimeFigureOut">
              <a:rPr lang="en-IN" smtClean="0"/>
              <a:t>14-10-2025</a:t>
            </a:fld>
            <a:endParaRPr lang="en-IN"/>
          </a:p>
        </p:txBody>
      </p:sp>
      <p:sp>
        <p:nvSpPr>
          <p:cNvPr id="5" name="Footer Placeholder 4">
            <a:extLst>
              <a:ext uri="{FF2B5EF4-FFF2-40B4-BE49-F238E27FC236}">
                <a16:creationId xmlns:a16="http://schemas.microsoft.com/office/drawing/2014/main" id="{8674001E-FCCE-418D-A24C-A4B57C46FD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71CA936-FC9A-4563-9682-55958148B1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DF2B2-227A-4795-A426-134B73050A05}" type="slidenum">
              <a:rPr lang="en-IN" smtClean="0"/>
              <a:t>‹#›</a:t>
            </a:fld>
            <a:endParaRPr lang="en-IN"/>
          </a:p>
        </p:txBody>
      </p:sp>
    </p:spTree>
    <p:extLst>
      <p:ext uri="{BB962C8B-B14F-4D97-AF65-F5344CB8AC3E}">
        <p14:creationId xmlns:p14="http://schemas.microsoft.com/office/powerpoint/2010/main" val="1796310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0D3A371-1C8A-4151-93A3-F29699C1929D}"/>
              </a:ext>
            </a:extLst>
          </p:cNvPr>
          <p:cNvSpPr txBox="1"/>
          <p:nvPr/>
        </p:nvSpPr>
        <p:spPr>
          <a:xfrm>
            <a:off x="314632" y="904568"/>
            <a:ext cx="11454581" cy="4093428"/>
          </a:xfrm>
          <a:prstGeom prst="rect">
            <a:avLst/>
          </a:prstGeom>
          <a:noFill/>
        </p:spPr>
        <p:txBody>
          <a:bodyPr wrap="square">
            <a:spAutoFit/>
          </a:bodyPr>
          <a:lstStyle/>
          <a:p>
            <a:r>
              <a:rPr lang="en-US" sz="2000" dirty="0"/>
              <a:t>Perhaps the most important new feature added to the .NET Framework by version 4.0 is the Task Parallel Library (TPL).  This library enhances multithreaded programming in two important ways. First, it simplifies the creation and use of multiple threads.</a:t>
            </a:r>
          </a:p>
          <a:p>
            <a:endParaRPr lang="en-US" sz="2000" dirty="0"/>
          </a:p>
          <a:p>
            <a:r>
              <a:rPr lang="en-US" sz="2000" dirty="0"/>
              <a:t>Second, it automatically makes use of multiple processors. In other words, by using the TPL</a:t>
            </a:r>
          </a:p>
          <a:p>
            <a:r>
              <a:rPr lang="en-US" sz="2000" dirty="0"/>
              <a:t>you enable your applications to automatically scale to make use of the number of available</a:t>
            </a:r>
          </a:p>
          <a:p>
            <a:r>
              <a:rPr lang="en-US" sz="2000" dirty="0"/>
              <a:t>processors. These two features make the TPL the recommended approach to multithreading</a:t>
            </a:r>
          </a:p>
          <a:p>
            <a:r>
              <a:rPr lang="en-US" sz="2000" dirty="0"/>
              <a:t>in most cases.</a:t>
            </a:r>
          </a:p>
          <a:p>
            <a:endParaRPr lang="en-US" sz="2000" dirty="0"/>
          </a:p>
          <a:p>
            <a:r>
              <a:rPr lang="en-US" sz="2000" dirty="0"/>
              <a:t>Another parallel programming feature added by .NET 4.0 is PLINQ, which stands for Parallel Language Integrated Query. PLINQ enables you to write queries that automatically make use of multiple processors and parallelism when appropriate. As you will see, it is trivially easy to request parallel execution of a query. </a:t>
            </a:r>
          </a:p>
          <a:p>
            <a:r>
              <a:rPr lang="en-US" sz="2000" dirty="0"/>
              <a:t>Thus, through the use of PLINQ, it is possible to add parallelism to a query with little effort.</a:t>
            </a:r>
          </a:p>
        </p:txBody>
      </p:sp>
      <p:sp>
        <p:nvSpPr>
          <p:cNvPr id="11" name="TextBox 10">
            <a:extLst>
              <a:ext uri="{FF2B5EF4-FFF2-40B4-BE49-F238E27FC236}">
                <a16:creationId xmlns:a16="http://schemas.microsoft.com/office/drawing/2014/main" id="{74B8DF01-E318-4578-8BEF-B607DEE82CF0}"/>
              </a:ext>
            </a:extLst>
          </p:cNvPr>
          <p:cNvSpPr txBox="1"/>
          <p:nvPr/>
        </p:nvSpPr>
        <p:spPr>
          <a:xfrm>
            <a:off x="3313471" y="247953"/>
            <a:ext cx="6096000" cy="461665"/>
          </a:xfrm>
          <a:prstGeom prst="rect">
            <a:avLst/>
          </a:prstGeom>
          <a:noFill/>
        </p:spPr>
        <p:txBody>
          <a:bodyPr wrap="square">
            <a:spAutoFit/>
          </a:bodyPr>
          <a:lstStyle/>
          <a:p>
            <a:r>
              <a:rPr lang="en-US" sz="2400" b="1" dirty="0"/>
              <a:t> Task Parallel Library (TPL) and Async prog. </a:t>
            </a:r>
            <a:endParaRPr lang="en-IN" sz="2400" b="1" dirty="0"/>
          </a:p>
        </p:txBody>
      </p:sp>
    </p:spTree>
    <p:extLst>
      <p:ext uri="{BB962C8B-B14F-4D97-AF65-F5344CB8AC3E}">
        <p14:creationId xmlns:p14="http://schemas.microsoft.com/office/powerpoint/2010/main" val="903132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DB80529-9500-43D8-B525-ED14BD122CE3}"/>
              </a:ext>
            </a:extLst>
          </p:cNvPr>
          <p:cNvSpPr txBox="1"/>
          <p:nvPr/>
        </p:nvSpPr>
        <p:spPr>
          <a:xfrm>
            <a:off x="3048000" y="17517"/>
            <a:ext cx="6096000" cy="369332"/>
          </a:xfrm>
          <a:prstGeom prst="rect">
            <a:avLst/>
          </a:prstGeom>
          <a:noFill/>
        </p:spPr>
        <p:txBody>
          <a:bodyPr wrap="square">
            <a:spAutoFit/>
          </a:bodyPr>
          <a:lstStyle/>
          <a:p>
            <a:pPr algn="ctr"/>
            <a:r>
              <a:rPr lang="en-US" b="1" i="0" dirty="0">
                <a:solidFill>
                  <a:srgbClr val="212121"/>
                </a:solidFill>
                <a:effectLst/>
                <a:latin typeface="Roboto" panose="02000000000000000000" pitchFamily="2" charset="0"/>
              </a:rPr>
              <a:t>What is Task in C#?</a:t>
            </a:r>
          </a:p>
        </p:txBody>
      </p:sp>
      <p:sp>
        <p:nvSpPr>
          <p:cNvPr id="9" name="TextBox 8">
            <a:extLst>
              <a:ext uri="{FF2B5EF4-FFF2-40B4-BE49-F238E27FC236}">
                <a16:creationId xmlns:a16="http://schemas.microsoft.com/office/drawing/2014/main" id="{DAE0C04D-5491-4830-A04F-B300125B3655}"/>
              </a:ext>
            </a:extLst>
          </p:cNvPr>
          <p:cNvSpPr txBox="1"/>
          <p:nvPr/>
        </p:nvSpPr>
        <p:spPr>
          <a:xfrm>
            <a:off x="442452" y="386849"/>
            <a:ext cx="11021962" cy="923330"/>
          </a:xfrm>
          <a:prstGeom prst="rect">
            <a:avLst/>
          </a:prstGeom>
          <a:noFill/>
        </p:spPr>
        <p:txBody>
          <a:bodyPr wrap="square">
            <a:spAutoFit/>
          </a:bodyPr>
          <a:lstStyle/>
          <a:p>
            <a:r>
              <a:rPr lang="en-US" b="0" i="0" dirty="0">
                <a:solidFill>
                  <a:srgbClr val="212121"/>
                </a:solidFill>
                <a:effectLst/>
                <a:latin typeface="open sans" panose="020B0606030504020204" pitchFamily="34" charset="0"/>
              </a:rPr>
              <a:t>.NET framework provides </a:t>
            </a:r>
            <a:r>
              <a:rPr lang="en-US" b="0" i="0" dirty="0" err="1">
                <a:solidFill>
                  <a:srgbClr val="212121"/>
                </a:solidFill>
                <a:effectLst/>
                <a:latin typeface="open sans" panose="020B0606030504020204" pitchFamily="34" charset="0"/>
              </a:rPr>
              <a:t>Threading.Tasks</a:t>
            </a:r>
            <a:r>
              <a:rPr lang="en-US" b="0" i="0" dirty="0">
                <a:solidFill>
                  <a:srgbClr val="212121"/>
                </a:solidFill>
                <a:effectLst/>
                <a:latin typeface="open sans" panose="020B0606030504020204" pitchFamily="34" charset="0"/>
              </a:rPr>
              <a:t> class to let you create tasks and run them asynchronously. A task is an object that represents some work that should be done. The task can tell you if the work is completed and if the operation returns a result, the task gives you the result.</a:t>
            </a:r>
            <a:endParaRPr lang="en-IN" dirty="0"/>
          </a:p>
        </p:txBody>
      </p:sp>
      <p:pic>
        <p:nvPicPr>
          <p:cNvPr id="10" name="Picture 9">
            <a:extLst>
              <a:ext uri="{FF2B5EF4-FFF2-40B4-BE49-F238E27FC236}">
                <a16:creationId xmlns:a16="http://schemas.microsoft.com/office/drawing/2014/main" id="{D5FB3BD1-ADF2-4E57-9C37-705143C97485}"/>
              </a:ext>
            </a:extLst>
          </p:cNvPr>
          <p:cNvPicPr>
            <a:picLocks noChangeAspect="1"/>
          </p:cNvPicPr>
          <p:nvPr/>
        </p:nvPicPr>
        <p:blipFill>
          <a:blip r:embed="rId2"/>
          <a:stretch>
            <a:fillRect/>
          </a:stretch>
        </p:blipFill>
        <p:spPr>
          <a:xfrm>
            <a:off x="3877596" y="1679511"/>
            <a:ext cx="3886200" cy="2466975"/>
          </a:xfrm>
          <a:prstGeom prst="rect">
            <a:avLst/>
          </a:prstGeom>
        </p:spPr>
      </p:pic>
      <p:sp>
        <p:nvSpPr>
          <p:cNvPr id="12" name="TextBox 11">
            <a:extLst>
              <a:ext uri="{FF2B5EF4-FFF2-40B4-BE49-F238E27FC236}">
                <a16:creationId xmlns:a16="http://schemas.microsoft.com/office/drawing/2014/main" id="{D6424E46-FD54-4F56-92AB-418C48A52024}"/>
              </a:ext>
            </a:extLst>
          </p:cNvPr>
          <p:cNvSpPr txBox="1"/>
          <p:nvPr/>
        </p:nvSpPr>
        <p:spPr>
          <a:xfrm>
            <a:off x="717754" y="4605169"/>
            <a:ext cx="11100619" cy="1200329"/>
          </a:xfrm>
          <a:prstGeom prst="rect">
            <a:avLst/>
          </a:prstGeom>
          <a:noFill/>
        </p:spPr>
        <p:txBody>
          <a:bodyPr wrap="square">
            <a:spAutoFit/>
          </a:bodyPr>
          <a:lstStyle/>
          <a:p>
            <a:pPr algn="ctr"/>
            <a:r>
              <a:rPr lang="en-US" b="1" dirty="0"/>
              <a:t>What is Thread?</a:t>
            </a:r>
          </a:p>
          <a:p>
            <a:r>
              <a:rPr lang="en-US" dirty="0"/>
              <a:t> </a:t>
            </a:r>
          </a:p>
          <a:p>
            <a:r>
              <a:rPr lang="en-US" dirty="0"/>
              <a:t>.NET Framework has thread-associated classes in </a:t>
            </a:r>
            <a:r>
              <a:rPr lang="en-US" dirty="0" err="1"/>
              <a:t>System.Threading</a:t>
            </a:r>
            <a:r>
              <a:rPr lang="en-US" dirty="0"/>
              <a:t> namespace.  A Thread is a small set of executable instructions.</a:t>
            </a:r>
            <a:endParaRPr lang="en-IN" dirty="0"/>
          </a:p>
        </p:txBody>
      </p:sp>
      <p:sp>
        <p:nvSpPr>
          <p:cNvPr id="2" name="TextBox 1">
            <a:extLst>
              <a:ext uri="{FF2B5EF4-FFF2-40B4-BE49-F238E27FC236}">
                <a16:creationId xmlns:a16="http://schemas.microsoft.com/office/drawing/2014/main" id="{E5374EC5-D1E9-86D2-5BE1-959C4A8E5C2F}"/>
              </a:ext>
            </a:extLst>
          </p:cNvPr>
          <p:cNvSpPr txBox="1"/>
          <p:nvPr/>
        </p:nvSpPr>
        <p:spPr>
          <a:xfrm>
            <a:off x="442452" y="2143441"/>
            <a:ext cx="3057832" cy="218275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IN" dirty="0"/>
          </a:p>
        </p:txBody>
      </p:sp>
      <p:sp>
        <p:nvSpPr>
          <p:cNvPr id="3" name="Rectangle 2">
            <a:extLst>
              <a:ext uri="{FF2B5EF4-FFF2-40B4-BE49-F238E27FC236}">
                <a16:creationId xmlns:a16="http://schemas.microsoft.com/office/drawing/2014/main" id="{CAEA9D93-C521-D1D9-0A88-96222F430448}"/>
              </a:ext>
            </a:extLst>
          </p:cNvPr>
          <p:cNvSpPr/>
          <p:nvPr/>
        </p:nvSpPr>
        <p:spPr>
          <a:xfrm>
            <a:off x="1209368" y="2507226"/>
            <a:ext cx="658761" cy="12781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a:extLst>
              <a:ext uri="{FF2B5EF4-FFF2-40B4-BE49-F238E27FC236}">
                <a16:creationId xmlns:a16="http://schemas.microsoft.com/office/drawing/2014/main" id="{2EDD2D45-E19D-3C08-0125-53A522E060C7}"/>
              </a:ext>
            </a:extLst>
          </p:cNvPr>
          <p:cNvCxnSpPr/>
          <p:nvPr/>
        </p:nvCxnSpPr>
        <p:spPr>
          <a:xfrm>
            <a:off x="501445" y="2674375"/>
            <a:ext cx="629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AB5CB12-6FCA-BD97-6A86-5E61B54F7DE0}"/>
              </a:ext>
            </a:extLst>
          </p:cNvPr>
          <p:cNvCxnSpPr/>
          <p:nvPr/>
        </p:nvCxnSpPr>
        <p:spPr>
          <a:xfrm>
            <a:off x="442452" y="2900517"/>
            <a:ext cx="62926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91B054B9-03C5-7423-E5DA-B85ECC5B2A92}"/>
              </a:ext>
            </a:extLst>
          </p:cNvPr>
          <p:cNvCxnSpPr/>
          <p:nvPr/>
        </p:nvCxnSpPr>
        <p:spPr>
          <a:xfrm>
            <a:off x="501445" y="3161071"/>
            <a:ext cx="629265"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D1A48F9D-D5A4-29DA-3E79-4ECB6BF670EB}"/>
              </a:ext>
            </a:extLst>
          </p:cNvPr>
          <p:cNvCxnSpPr/>
          <p:nvPr/>
        </p:nvCxnSpPr>
        <p:spPr>
          <a:xfrm>
            <a:off x="501445" y="3682181"/>
            <a:ext cx="629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AF69777-D578-8FF6-14E3-BCABF313A34F}"/>
              </a:ext>
            </a:extLst>
          </p:cNvPr>
          <p:cNvCxnSpPr/>
          <p:nvPr/>
        </p:nvCxnSpPr>
        <p:spPr>
          <a:xfrm>
            <a:off x="550608" y="3429000"/>
            <a:ext cx="629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CFE5439-4EC1-7ADD-6DC7-E81288E1E052}"/>
              </a:ext>
            </a:extLst>
          </p:cNvPr>
          <p:cNvSpPr/>
          <p:nvPr/>
        </p:nvSpPr>
        <p:spPr>
          <a:xfrm>
            <a:off x="2251587" y="2507227"/>
            <a:ext cx="865239" cy="14551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Freeform: Shape 7">
            <a:extLst>
              <a:ext uri="{FF2B5EF4-FFF2-40B4-BE49-F238E27FC236}">
                <a16:creationId xmlns:a16="http://schemas.microsoft.com/office/drawing/2014/main" id="{DFCAB807-CAF4-68C4-0986-8350448E76B0}"/>
              </a:ext>
            </a:extLst>
          </p:cNvPr>
          <p:cNvSpPr/>
          <p:nvPr/>
        </p:nvSpPr>
        <p:spPr>
          <a:xfrm>
            <a:off x="1659835" y="2297357"/>
            <a:ext cx="1033669" cy="575052"/>
          </a:xfrm>
          <a:custGeom>
            <a:avLst/>
            <a:gdLst>
              <a:gd name="connsiteX0" fmla="*/ 0 w 1033669"/>
              <a:gd name="connsiteY0" fmla="*/ 386208 h 575052"/>
              <a:gd name="connsiteX1" fmla="*/ 129208 w 1033669"/>
              <a:gd name="connsiteY1" fmla="*/ 117852 h 575052"/>
              <a:gd name="connsiteX2" fmla="*/ 178904 w 1033669"/>
              <a:gd name="connsiteY2" fmla="*/ 78095 h 575052"/>
              <a:gd name="connsiteX3" fmla="*/ 258417 w 1033669"/>
              <a:gd name="connsiteY3" fmla="*/ 28400 h 575052"/>
              <a:gd name="connsiteX4" fmla="*/ 387626 w 1033669"/>
              <a:gd name="connsiteY4" fmla="*/ 18460 h 575052"/>
              <a:gd name="connsiteX5" fmla="*/ 695739 w 1033669"/>
              <a:gd name="connsiteY5" fmla="*/ 18460 h 575052"/>
              <a:gd name="connsiteX6" fmla="*/ 805069 w 1033669"/>
              <a:gd name="connsiteY6" fmla="*/ 88034 h 575052"/>
              <a:gd name="connsiteX7" fmla="*/ 834887 w 1033669"/>
              <a:gd name="connsiteY7" fmla="*/ 127791 h 575052"/>
              <a:gd name="connsiteX8" fmla="*/ 904461 w 1033669"/>
              <a:gd name="connsiteY8" fmla="*/ 207304 h 575052"/>
              <a:gd name="connsiteX9" fmla="*/ 914400 w 1033669"/>
              <a:gd name="connsiteY9" fmla="*/ 237121 h 575052"/>
              <a:gd name="connsiteX10" fmla="*/ 934278 w 1033669"/>
              <a:gd name="connsiteY10" fmla="*/ 266939 h 575052"/>
              <a:gd name="connsiteX11" fmla="*/ 964095 w 1033669"/>
              <a:gd name="connsiteY11" fmla="*/ 356391 h 575052"/>
              <a:gd name="connsiteX12" fmla="*/ 974035 w 1033669"/>
              <a:gd name="connsiteY12" fmla="*/ 396147 h 575052"/>
              <a:gd name="connsiteX13" fmla="*/ 993913 w 1033669"/>
              <a:gd name="connsiteY13" fmla="*/ 425965 h 575052"/>
              <a:gd name="connsiteX14" fmla="*/ 1023730 w 1033669"/>
              <a:gd name="connsiteY14" fmla="*/ 545234 h 575052"/>
              <a:gd name="connsiteX15" fmla="*/ 1033669 w 1033669"/>
              <a:gd name="connsiteY15" fmla="*/ 575052 h 57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3669" h="575052">
                <a:moveTo>
                  <a:pt x="0" y="386208"/>
                </a:moveTo>
                <a:cubicBezTo>
                  <a:pt x="37057" y="275036"/>
                  <a:pt x="38859" y="259022"/>
                  <a:pt x="129208" y="117852"/>
                </a:cubicBezTo>
                <a:cubicBezTo>
                  <a:pt x="140643" y="99984"/>
                  <a:pt x="162939" y="92064"/>
                  <a:pt x="178904" y="78095"/>
                </a:cubicBezTo>
                <a:cubicBezTo>
                  <a:pt x="212540" y="48663"/>
                  <a:pt x="206837" y="36997"/>
                  <a:pt x="258417" y="28400"/>
                </a:cubicBezTo>
                <a:cubicBezTo>
                  <a:pt x="301026" y="21298"/>
                  <a:pt x="344556" y="21773"/>
                  <a:pt x="387626" y="18460"/>
                </a:cubicBezTo>
                <a:cubicBezTo>
                  <a:pt x="507485" y="-5511"/>
                  <a:pt x="493748" y="-6789"/>
                  <a:pt x="695739" y="18460"/>
                </a:cubicBezTo>
                <a:cubicBezTo>
                  <a:pt x="724602" y="22068"/>
                  <a:pt x="785502" y="68467"/>
                  <a:pt x="805069" y="88034"/>
                </a:cubicBezTo>
                <a:cubicBezTo>
                  <a:pt x="816783" y="99748"/>
                  <a:pt x="823881" y="115410"/>
                  <a:pt x="834887" y="127791"/>
                </a:cubicBezTo>
                <a:cubicBezTo>
                  <a:pt x="912410" y="215005"/>
                  <a:pt x="861704" y="143170"/>
                  <a:pt x="904461" y="207304"/>
                </a:cubicBezTo>
                <a:cubicBezTo>
                  <a:pt x="907774" y="217243"/>
                  <a:pt x="909715" y="227750"/>
                  <a:pt x="914400" y="237121"/>
                </a:cubicBezTo>
                <a:cubicBezTo>
                  <a:pt x="919742" y="247805"/>
                  <a:pt x="929684" y="255912"/>
                  <a:pt x="934278" y="266939"/>
                </a:cubicBezTo>
                <a:cubicBezTo>
                  <a:pt x="946366" y="295952"/>
                  <a:pt x="956471" y="325899"/>
                  <a:pt x="964095" y="356391"/>
                </a:cubicBezTo>
                <a:cubicBezTo>
                  <a:pt x="967408" y="369643"/>
                  <a:pt x="968654" y="383592"/>
                  <a:pt x="974035" y="396147"/>
                </a:cubicBezTo>
                <a:cubicBezTo>
                  <a:pt x="978741" y="407127"/>
                  <a:pt x="987287" y="416026"/>
                  <a:pt x="993913" y="425965"/>
                </a:cubicBezTo>
                <a:cubicBezTo>
                  <a:pt x="1003852" y="465721"/>
                  <a:pt x="1010771" y="506357"/>
                  <a:pt x="1023730" y="545234"/>
                </a:cubicBezTo>
                <a:lnTo>
                  <a:pt x="1033669" y="575052"/>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ight Triangle 15">
            <a:extLst>
              <a:ext uri="{FF2B5EF4-FFF2-40B4-BE49-F238E27FC236}">
                <a16:creationId xmlns:a16="http://schemas.microsoft.com/office/drawing/2014/main" id="{37097BD0-3818-F2DC-4D4B-C17F74AED19C}"/>
              </a:ext>
            </a:extLst>
          </p:cNvPr>
          <p:cNvSpPr/>
          <p:nvPr/>
        </p:nvSpPr>
        <p:spPr>
          <a:xfrm rot="16715045">
            <a:off x="2526576" y="2614049"/>
            <a:ext cx="315259" cy="297853"/>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181CA898-E852-FC56-DF6F-9BF4D6DAD806}"/>
              </a:ext>
            </a:extLst>
          </p:cNvPr>
          <p:cNvCxnSpPr/>
          <p:nvPr/>
        </p:nvCxnSpPr>
        <p:spPr>
          <a:xfrm>
            <a:off x="2418735" y="3785419"/>
            <a:ext cx="629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7913E6A-6F0F-FB49-990F-F0EC7A75EB52}"/>
              </a:ext>
            </a:extLst>
          </p:cNvPr>
          <p:cNvCxnSpPr/>
          <p:nvPr/>
        </p:nvCxnSpPr>
        <p:spPr>
          <a:xfrm>
            <a:off x="2378871" y="3663907"/>
            <a:ext cx="62926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4DB9965E-9AD5-CDC7-1534-83EE9A7061F3}"/>
              </a:ext>
            </a:extLst>
          </p:cNvPr>
          <p:cNvCxnSpPr/>
          <p:nvPr/>
        </p:nvCxnSpPr>
        <p:spPr>
          <a:xfrm>
            <a:off x="2343603" y="3561949"/>
            <a:ext cx="629265"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0" name="Freeform: Shape 19">
            <a:extLst>
              <a:ext uri="{FF2B5EF4-FFF2-40B4-BE49-F238E27FC236}">
                <a16:creationId xmlns:a16="http://schemas.microsoft.com/office/drawing/2014/main" id="{6E1FD562-1D38-AA20-62AF-1B25863B83B3}"/>
              </a:ext>
            </a:extLst>
          </p:cNvPr>
          <p:cNvSpPr/>
          <p:nvPr/>
        </p:nvSpPr>
        <p:spPr>
          <a:xfrm>
            <a:off x="2017643" y="3538330"/>
            <a:ext cx="795132" cy="816246"/>
          </a:xfrm>
          <a:custGeom>
            <a:avLst/>
            <a:gdLst>
              <a:gd name="connsiteX0" fmla="*/ 785192 w 795132"/>
              <a:gd name="connsiteY0" fmla="*/ 347870 h 816246"/>
              <a:gd name="connsiteX1" fmla="*/ 765314 w 795132"/>
              <a:gd name="connsiteY1" fmla="*/ 616227 h 816246"/>
              <a:gd name="connsiteX2" fmla="*/ 705679 w 795132"/>
              <a:gd name="connsiteY2" fmla="*/ 695740 h 816246"/>
              <a:gd name="connsiteX3" fmla="*/ 596348 w 795132"/>
              <a:gd name="connsiteY3" fmla="*/ 785192 h 816246"/>
              <a:gd name="connsiteX4" fmla="*/ 487018 w 795132"/>
              <a:gd name="connsiteY4" fmla="*/ 815009 h 816246"/>
              <a:gd name="connsiteX5" fmla="*/ 327992 w 795132"/>
              <a:gd name="connsiteY5" fmla="*/ 805070 h 816246"/>
              <a:gd name="connsiteX6" fmla="*/ 288235 w 795132"/>
              <a:gd name="connsiteY6" fmla="*/ 735496 h 816246"/>
              <a:gd name="connsiteX7" fmla="*/ 258418 w 795132"/>
              <a:gd name="connsiteY7" fmla="*/ 655983 h 816246"/>
              <a:gd name="connsiteX8" fmla="*/ 228600 w 795132"/>
              <a:gd name="connsiteY8" fmla="*/ 586409 h 816246"/>
              <a:gd name="connsiteX9" fmla="*/ 208722 w 795132"/>
              <a:gd name="connsiteY9" fmla="*/ 506896 h 816246"/>
              <a:gd name="connsiteX10" fmla="*/ 188844 w 795132"/>
              <a:gd name="connsiteY10" fmla="*/ 457200 h 816246"/>
              <a:gd name="connsiteX11" fmla="*/ 149087 w 795132"/>
              <a:gd name="connsiteY11" fmla="*/ 318053 h 816246"/>
              <a:gd name="connsiteX12" fmla="*/ 99392 w 795132"/>
              <a:gd name="connsiteY12" fmla="*/ 198783 h 816246"/>
              <a:gd name="connsiteX13" fmla="*/ 69574 w 795132"/>
              <a:gd name="connsiteY13" fmla="*/ 159027 h 816246"/>
              <a:gd name="connsiteX14" fmla="*/ 39757 w 795132"/>
              <a:gd name="connsiteY14" fmla="*/ 89453 h 816246"/>
              <a:gd name="connsiteX15" fmla="*/ 19879 w 795132"/>
              <a:gd name="connsiteY15" fmla="*/ 49696 h 816246"/>
              <a:gd name="connsiteX16" fmla="*/ 0 w 795132"/>
              <a:gd name="connsiteY16" fmla="*/ 0 h 81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95132" h="816246">
                <a:moveTo>
                  <a:pt x="785192" y="347870"/>
                </a:moveTo>
                <a:cubicBezTo>
                  <a:pt x="793676" y="458167"/>
                  <a:pt x="809774" y="507546"/>
                  <a:pt x="765314" y="616227"/>
                </a:cubicBezTo>
                <a:cubicBezTo>
                  <a:pt x="752770" y="646891"/>
                  <a:pt x="729106" y="672313"/>
                  <a:pt x="705679" y="695740"/>
                </a:cubicBezTo>
                <a:cubicBezTo>
                  <a:pt x="664954" y="736464"/>
                  <a:pt x="649098" y="758817"/>
                  <a:pt x="596348" y="785192"/>
                </a:cubicBezTo>
                <a:cubicBezTo>
                  <a:pt x="562721" y="802006"/>
                  <a:pt x="523371" y="807739"/>
                  <a:pt x="487018" y="815009"/>
                </a:cubicBezTo>
                <a:cubicBezTo>
                  <a:pt x="434009" y="811696"/>
                  <a:pt x="377305" y="824795"/>
                  <a:pt x="327992" y="805070"/>
                </a:cubicBezTo>
                <a:cubicBezTo>
                  <a:pt x="303192" y="795150"/>
                  <a:pt x="300180" y="759387"/>
                  <a:pt x="288235" y="735496"/>
                </a:cubicBezTo>
                <a:cubicBezTo>
                  <a:pt x="261701" y="682429"/>
                  <a:pt x="275622" y="698993"/>
                  <a:pt x="258418" y="655983"/>
                </a:cubicBezTo>
                <a:cubicBezTo>
                  <a:pt x="249047" y="632556"/>
                  <a:pt x="236579" y="610346"/>
                  <a:pt x="228600" y="586409"/>
                </a:cubicBezTo>
                <a:cubicBezTo>
                  <a:pt x="219961" y="560491"/>
                  <a:pt x="216756" y="533008"/>
                  <a:pt x="208722" y="506896"/>
                </a:cubicBezTo>
                <a:cubicBezTo>
                  <a:pt x="203475" y="489844"/>
                  <a:pt x="194217" y="474213"/>
                  <a:pt x="188844" y="457200"/>
                </a:cubicBezTo>
                <a:cubicBezTo>
                  <a:pt x="174318" y="411201"/>
                  <a:pt x="167640" y="362581"/>
                  <a:pt x="149087" y="318053"/>
                </a:cubicBezTo>
                <a:cubicBezTo>
                  <a:pt x="132522" y="278296"/>
                  <a:pt x="125234" y="233238"/>
                  <a:pt x="99392" y="198783"/>
                </a:cubicBezTo>
                <a:cubicBezTo>
                  <a:pt x="89453" y="185531"/>
                  <a:pt x="77506" y="173569"/>
                  <a:pt x="69574" y="159027"/>
                </a:cubicBezTo>
                <a:cubicBezTo>
                  <a:pt x="57492" y="136877"/>
                  <a:pt x="50198" y="112423"/>
                  <a:pt x="39757" y="89453"/>
                </a:cubicBezTo>
                <a:cubicBezTo>
                  <a:pt x="33626" y="75965"/>
                  <a:pt x="25081" y="63569"/>
                  <a:pt x="19879" y="49696"/>
                </a:cubicBezTo>
                <a:cubicBezTo>
                  <a:pt x="-56" y="-3466"/>
                  <a:pt x="22638" y="22638"/>
                  <a:pt x="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ight Triangle 20">
            <a:extLst>
              <a:ext uri="{FF2B5EF4-FFF2-40B4-BE49-F238E27FC236}">
                <a16:creationId xmlns:a16="http://schemas.microsoft.com/office/drawing/2014/main" id="{66632A67-BC73-CC02-6D15-BE9ABD947C7A}"/>
              </a:ext>
            </a:extLst>
          </p:cNvPr>
          <p:cNvSpPr/>
          <p:nvPr/>
        </p:nvSpPr>
        <p:spPr>
          <a:xfrm rot="4281585">
            <a:off x="1926568" y="3429359"/>
            <a:ext cx="406551" cy="35301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80580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0866AF-D743-40D7-9260-B729DD2D12E8}"/>
              </a:ext>
            </a:extLst>
          </p:cNvPr>
          <p:cNvSpPr txBox="1"/>
          <p:nvPr/>
        </p:nvSpPr>
        <p:spPr>
          <a:xfrm>
            <a:off x="383457" y="106911"/>
            <a:ext cx="11257935" cy="1200329"/>
          </a:xfrm>
          <a:prstGeom prst="rect">
            <a:avLst/>
          </a:prstGeom>
          <a:noFill/>
        </p:spPr>
        <p:txBody>
          <a:bodyPr wrap="square">
            <a:spAutoFit/>
          </a:bodyPr>
          <a:lstStyle/>
          <a:p>
            <a:pPr algn="ctr"/>
            <a:r>
              <a:rPr lang="en-US" b="1" dirty="0"/>
              <a:t>Why we need Tasks</a:t>
            </a:r>
          </a:p>
          <a:p>
            <a:r>
              <a:rPr lang="en-US" dirty="0"/>
              <a:t> </a:t>
            </a:r>
          </a:p>
          <a:p>
            <a:r>
              <a:rPr lang="en-US" dirty="0"/>
              <a:t>It can be used whenever you want to execute something in parallel. Asynchronous implementation is easy in a task, using’ async’ and ‘await’ keywords.</a:t>
            </a:r>
            <a:endParaRPr lang="en-IN" dirty="0"/>
          </a:p>
        </p:txBody>
      </p:sp>
      <p:sp>
        <p:nvSpPr>
          <p:cNvPr id="7" name="TextBox 6">
            <a:extLst>
              <a:ext uri="{FF2B5EF4-FFF2-40B4-BE49-F238E27FC236}">
                <a16:creationId xmlns:a16="http://schemas.microsoft.com/office/drawing/2014/main" id="{53599DF5-63BC-4235-8A61-BCF8E7C0DC9F}"/>
              </a:ext>
            </a:extLst>
          </p:cNvPr>
          <p:cNvSpPr txBox="1"/>
          <p:nvPr/>
        </p:nvSpPr>
        <p:spPr>
          <a:xfrm>
            <a:off x="403120" y="1307240"/>
            <a:ext cx="11238272" cy="5078313"/>
          </a:xfrm>
          <a:prstGeom prst="rect">
            <a:avLst/>
          </a:prstGeom>
          <a:noFill/>
        </p:spPr>
        <p:txBody>
          <a:bodyPr wrap="square">
            <a:spAutoFit/>
          </a:bodyPr>
          <a:lstStyle/>
          <a:p>
            <a:pPr algn="ctr"/>
            <a:r>
              <a:rPr lang="en-US" b="1" dirty="0"/>
              <a:t>Differences Between Task And Thread</a:t>
            </a:r>
          </a:p>
          <a:p>
            <a:endParaRPr lang="en-US" dirty="0"/>
          </a:p>
          <a:p>
            <a:pPr marL="285750" indent="-285750">
              <a:buFont typeface="Arial" panose="020B0604020202020204" pitchFamily="34" charset="0"/>
              <a:buChar char="•"/>
            </a:pPr>
            <a:r>
              <a:rPr lang="en-US" dirty="0"/>
              <a:t>Here are some differences between a task and a thread.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Thread class is used for creating and manipulating a thread in Windows. A Task represents some asynchronous operation and is part of the Task Parallel Library, a set of APIs for running tasks asynchronously and in parallel.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task can return a result. There is no direct mechanism to return the result from a thread.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Task supports cancellation through the use of cancellation tokens. But Thread doesn’t.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task can have multiple processes happening at the same time. Threads can only have one task running at a time.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can easily implement Asynchronous using ’async’ and ‘await’ keywords.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new Thread()is not dealing with Thread pool thread, whereas Task does use thread pool thread.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Task is a higher level concept than Thread.</a:t>
            </a:r>
            <a:endParaRPr lang="en-IN" dirty="0"/>
          </a:p>
        </p:txBody>
      </p:sp>
    </p:spTree>
    <p:extLst>
      <p:ext uri="{BB962C8B-B14F-4D97-AF65-F5344CB8AC3E}">
        <p14:creationId xmlns:p14="http://schemas.microsoft.com/office/powerpoint/2010/main" val="4014567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9A1C69-F2DC-469A-B8CA-6884D1208BC4}"/>
              </a:ext>
            </a:extLst>
          </p:cNvPr>
          <p:cNvSpPr txBox="1"/>
          <p:nvPr/>
        </p:nvSpPr>
        <p:spPr>
          <a:xfrm>
            <a:off x="0" y="208283"/>
            <a:ext cx="4817806" cy="4801314"/>
          </a:xfrm>
          <a:prstGeom prst="rect">
            <a:avLst/>
          </a:prstGeom>
          <a:noFill/>
        </p:spPr>
        <p:txBody>
          <a:bodyPr wrap="square">
            <a:spAutoFit/>
          </a:bodyPr>
          <a:lstStyle/>
          <a:p>
            <a:r>
              <a:rPr lang="en-US" dirty="0"/>
              <a:t>A task that does not return a value is represented by the </a:t>
            </a:r>
            <a:r>
              <a:rPr lang="en-US" b="1" dirty="0" err="1"/>
              <a:t>System.Threading.Tasks.Task</a:t>
            </a:r>
            <a:r>
              <a:rPr lang="en-US" b="1" dirty="0"/>
              <a:t> </a:t>
            </a:r>
            <a:r>
              <a:rPr lang="en-US" dirty="0"/>
              <a:t>class.</a:t>
            </a:r>
          </a:p>
          <a:p>
            <a:endParaRPr lang="en-US" dirty="0"/>
          </a:p>
          <a:p>
            <a:r>
              <a:rPr lang="en-US" dirty="0"/>
              <a:t> A task that returns a value is represented by the </a:t>
            </a:r>
            <a:r>
              <a:rPr lang="en-US" dirty="0" err="1"/>
              <a:t>System.Threading.Tasks.Task</a:t>
            </a:r>
            <a:r>
              <a:rPr lang="en-US" dirty="0"/>
              <a:t>&lt;</a:t>
            </a:r>
            <a:r>
              <a:rPr lang="en-US" dirty="0" err="1"/>
              <a:t>TResult</a:t>
            </a:r>
            <a:r>
              <a:rPr lang="en-US" dirty="0"/>
              <a:t>&gt; class, which inherits from Task. </a:t>
            </a:r>
          </a:p>
          <a:p>
            <a:endParaRPr lang="en-US" dirty="0"/>
          </a:p>
          <a:p>
            <a:r>
              <a:rPr lang="en-US" dirty="0"/>
              <a:t>The task object handles the infrastructure details and provides methods and properties that are accessible from the calling thread throughout the lifetime of the task. </a:t>
            </a:r>
          </a:p>
          <a:p>
            <a:endParaRPr lang="en-US" dirty="0"/>
          </a:p>
          <a:p>
            <a:r>
              <a:rPr lang="en-US" dirty="0"/>
              <a:t>For example, you can access the Status property of a task at any time to determine whether it has started running, ran to completion, was canceled, or has thrown an exception. The status is represented by </a:t>
            </a:r>
            <a:r>
              <a:rPr lang="en-US" b="1" dirty="0"/>
              <a:t>a </a:t>
            </a:r>
            <a:r>
              <a:rPr lang="en-US" b="1" dirty="0" err="1"/>
              <a:t>TaskStatus</a:t>
            </a:r>
            <a:r>
              <a:rPr lang="en-US" b="1" dirty="0"/>
              <a:t> </a:t>
            </a:r>
            <a:r>
              <a:rPr lang="en-US" dirty="0"/>
              <a:t>enumeration.</a:t>
            </a:r>
          </a:p>
        </p:txBody>
      </p:sp>
      <p:sp>
        <p:nvSpPr>
          <p:cNvPr id="7" name="TextBox 6">
            <a:extLst>
              <a:ext uri="{FF2B5EF4-FFF2-40B4-BE49-F238E27FC236}">
                <a16:creationId xmlns:a16="http://schemas.microsoft.com/office/drawing/2014/main" id="{A3D0488B-3092-4710-A12C-A81853600783}"/>
              </a:ext>
            </a:extLst>
          </p:cNvPr>
          <p:cNvSpPr txBox="1"/>
          <p:nvPr/>
        </p:nvSpPr>
        <p:spPr>
          <a:xfrm>
            <a:off x="4739149" y="0"/>
            <a:ext cx="7580670" cy="6744929"/>
          </a:xfrm>
          <a:prstGeom prst="rect">
            <a:avLst/>
          </a:prstGeom>
          <a:noFill/>
        </p:spPr>
        <p:txBody>
          <a:bodyPr wrap="square">
            <a:spAutoFit/>
          </a:bodyPr>
          <a:lstStyle/>
          <a:p>
            <a:r>
              <a:rPr lang="en-IN" sz="1400" b="1" dirty="0">
                <a:solidFill>
                  <a:srgbClr val="2A2A2A"/>
                </a:solidFill>
                <a:effectLst/>
                <a:latin typeface="Segoe UI" panose="020B0502040204020203"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4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_01_console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Main(</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args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"Main"</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Create a task and supply a user delegate by using a lambda expression.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new</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=&gt;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a:t>
            </a:r>
            <a:r>
              <a:rPr lang="en-IN" sz="1400" dirty="0" err="1">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Start the task.</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taskA.Start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Output a message from the calling thread.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thread '{0}'."</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//Note call to the </a:t>
            </a:r>
            <a:r>
              <a:rPr lang="en-IN" sz="1400" dirty="0" err="1">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Task.Wait</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method to ensure that the task completes execution before the console mode application ends.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taskA.Wait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"done"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9637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ED6600D-B895-4B97-A41B-C3EAC4B9976C}"/>
              </a:ext>
            </a:extLst>
          </p:cNvPr>
          <p:cNvSpPr txBox="1"/>
          <p:nvPr/>
        </p:nvSpPr>
        <p:spPr>
          <a:xfrm>
            <a:off x="78659" y="262530"/>
            <a:ext cx="3539612" cy="3693319"/>
          </a:xfrm>
          <a:prstGeom prst="rect">
            <a:avLst/>
          </a:prstGeom>
          <a:noFill/>
        </p:spPr>
        <p:txBody>
          <a:bodyPr wrap="square">
            <a:spAutoFit/>
          </a:bodyPr>
          <a:lstStyle/>
          <a:p>
            <a:r>
              <a:rPr lang="en-US" dirty="0"/>
              <a:t>You can also use the </a:t>
            </a:r>
            <a:r>
              <a:rPr lang="en-US" b="1" i="1" dirty="0" err="1"/>
              <a:t>Task.Run</a:t>
            </a:r>
            <a:r>
              <a:rPr lang="en-US" b="1" i="1" dirty="0"/>
              <a:t> </a:t>
            </a:r>
            <a:r>
              <a:rPr lang="en-US" dirty="0"/>
              <a:t>methods to </a:t>
            </a:r>
            <a:r>
              <a:rPr lang="en-US" b="1" dirty="0">
                <a:solidFill>
                  <a:srgbClr val="FF0000"/>
                </a:solidFill>
              </a:rPr>
              <a:t>create and start a task in one operation. </a:t>
            </a:r>
          </a:p>
          <a:p>
            <a:r>
              <a:rPr lang="en-US" dirty="0"/>
              <a:t>To manage the task, the Run methods use the default task scheduler, regardless of which task scheduler is associated with the current thread. </a:t>
            </a:r>
          </a:p>
          <a:p>
            <a:r>
              <a:rPr lang="en-US" dirty="0"/>
              <a:t>The Run methods are the preferred way to create and start tasks when more control over the creation and scheduling of the task is not needed.</a:t>
            </a:r>
            <a:endParaRPr lang="en-IN" dirty="0"/>
          </a:p>
        </p:txBody>
      </p:sp>
      <p:sp>
        <p:nvSpPr>
          <p:cNvPr id="11" name="TextBox 10">
            <a:extLst>
              <a:ext uri="{FF2B5EF4-FFF2-40B4-BE49-F238E27FC236}">
                <a16:creationId xmlns:a16="http://schemas.microsoft.com/office/drawing/2014/main" id="{6F34CCB6-920C-4427-BE87-D8E10D835611}"/>
              </a:ext>
            </a:extLst>
          </p:cNvPr>
          <p:cNvSpPr txBox="1"/>
          <p:nvPr/>
        </p:nvSpPr>
        <p:spPr>
          <a:xfrm>
            <a:off x="3864077" y="0"/>
            <a:ext cx="8249263" cy="7048083"/>
          </a:xfrm>
          <a:prstGeom prst="rect">
            <a:avLst/>
          </a:prstGeom>
          <a:noFill/>
        </p:spPr>
        <p:txBody>
          <a:bodyPr wrap="square">
            <a:spAutoFit/>
          </a:bodyPr>
          <a:lstStyle/>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_01_console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Main(</a:t>
            </a:r>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args</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6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"Main"</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Define and run the task.</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.Run</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=&gt;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6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a:t>
            </a:r>
            <a:r>
              <a:rPr lang="en-IN" sz="1600" dirty="0" err="1">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6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Output a message from the calling thread.</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6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thread '{0}'."</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taskA.Wait</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6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"done"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.ReadLine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802807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CD467C-FD66-4D2D-89F2-2C3D6CF747D7}"/>
              </a:ext>
            </a:extLst>
          </p:cNvPr>
          <p:cNvSpPr txBox="1"/>
          <p:nvPr/>
        </p:nvSpPr>
        <p:spPr>
          <a:xfrm>
            <a:off x="108154" y="263378"/>
            <a:ext cx="4532671" cy="4524315"/>
          </a:xfrm>
          <a:prstGeom prst="rect">
            <a:avLst/>
          </a:prstGeom>
          <a:noFill/>
        </p:spPr>
        <p:txBody>
          <a:bodyPr wrap="square">
            <a:spAutoFit/>
          </a:bodyPr>
          <a:lstStyle/>
          <a:p>
            <a:r>
              <a:rPr lang="en-US" dirty="0"/>
              <a:t>You can also use the </a:t>
            </a:r>
          </a:p>
          <a:p>
            <a:endParaRPr lang="en-US" dirty="0"/>
          </a:p>
          <a:p>
            <a:r>
              <a:rPr lang="en-US" b="1" dirty="0" err="1"/>
              <a:t>TaskFactory.StartNew</a:t>
            </a:r>
            <a:r>
              <a:rPr lang="en-US" b="1" dirty="0"/>
              <a:t> </a:t>
            </a:r>
          </a:p>
          <a:p>
            <a:endParaRPr lang="en-US" dirty="0"/>
          </a:p>
          <a:p>
            <a:r>
              <a:rPr lang="en-US" dirty="0"/>
              <a:t>method to create and start a task in one operation.</a:t>
            </a:r>
          </a:p>
          <a:p>
            <a:endParaRPr lang="en-US" dirty="0"/>
          </a:p>
          <a:p>
            <a:r>
              <a:rPr lang="en-US" dirty="0"/>
              <a:t> Use this method when creation and scheduling do not have to be separated</a:t>
            </a:r>
          </a:p>
          <a:p>
            <a:endParaRPr lang="en-US" dirty="0"/>
          </a:p>
          <a:p>
            <a:r>
              <a:rPr lang="en-US" dirty="0"/>
              <a:t> and </a:t>
            </a:r>
          </a:p>
          <a:p>
            <a:r>
              <a:rPr lang="en-US" dirty="0"/>
              <a:t>you require additional task creation options or the use of a specific scheduler, </a:t>
            </a:r>
          </a:p>
          <a:p>
            <a:r>
              <a:rPr lang="en-US" dirty="0"/>
              <a:t>or </a:t>
            </a:r>
          </a:p>
          <a:p>
            <a:r>
              <a:rPr lang="en-US" dirty="0"/>
              <a:t>when you need to pass additional state into the task through its </a:t>
            </a:r>
            <a:r>
              <a:rPr lang="en-US" dirty="0" err="1"/>
              <a:t>AsyncState</a:t>
            </a:r>
            <a:r>
              <a:rPr lang="en-US" dirty="0"/>
              <a:t> property</a:t>
            </a:r>
          </a:p>
        </p:txBody>
      </p:sp>
      <p:sp>
        <p:nvSpPr>
          <p:cNvPr id="7" name="TextBox 6">
            <a:extLst>
              <a:ext uri="{FF2B5EF4-FFF2-40B4-BE49-F238E27FC236}">
                <a16:creationId xmlns:a16="http://schemas.microsoft.com/office/drawing/2014/main" id="{9023A24A-63A9-402E-92A7-08C6CAC2519B}"/>
              </a:ext>
            </a:extLst>
          </p:cNvPr>
          <p:cNvSpPr txBox="1"/>
          <p:nvPr/>
        </p:nvSpPr>
        <p:spPr>
          <a:xfrm>
            <a:off x="4906296" y="0"/>
            <a:ext cx="7069393" cy="6832640"/>
          </a:xfrm>
          <a:prstGeom prst="rect">
            <a:avLst/>
          </a:prstGeom>
          <a:noFill/>
        </p:spPr>
        <p:txBody>
          <a:bodyPr wrap="square">
            <a:spAutoFit/>
          </a:bodyPr>
          <a:lstStyle/>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_01_console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Main(</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args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"Main"</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Better: Create and start the task in one operation.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.Factory.StartNew</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=&gt;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a:t>
            </a:r>
            <a:r>
              <a:rPr lang="en-IN" sz="1400" dirty="0" err="1">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Output a message from the calling thread.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thread '{0}'."</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taskA.Wait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"done"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.ReadLine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dirty="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4279725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B8E1B2-81B1-4AF0-8178-CB795CA474C9}"/>
              </a:ext>
            </a:extLst>
          </p:cNvPr>
          <p:cNvSpPr txBox="1"/>
          <p:nvPr/>
        </p:nvSpPr>
        <p:spPr>
          <a:xfrm>
            <a:off x="285135" y="570271"/>
            <a:ext cx="11395587" cy="4247317"/>
          </a:xfrm>
          <a:prstGeom prst="rect">
            <a:avLst/>
          </a:prstGeom>
          <a:noFill/>
        </p:spPr>
        <p:txBody>
          <a:bodyPr wrap="square">
            <a:spAutoFit/>
          </a:bodyPr>
          <a:lstStyle/>
          <a:p>
            <a:endParaRPr lang="en-US" dirty="0"/>
          </a:p>
          <a:p>
            <a:r>
              <a:rPr lang="en-US" dirty="0"/>
              <a:t>Starting with the .NET Framework 4.5, the </a:t>
            </a:r>
            <a:r>
              <a:rPr lang="en-US" dirty="0" err="1"/>
              <a:t>Task.Run</a:t>
            </a:r>
            <a:r>
              <a:rPr lang="en-US" dirty="0"/>
              <a:t> method is the </a:t>
            </a:r>
            <a:r>
              <a:rPr lang="en-US" b="1" i="1" dirty="0"/>
              <a:t>recommended way to launch a compute-bound task</a:t>
            </a:r>
            <a:r>
              <a:rPr lang="en-US" dirty="0"/>
              <a:t>. Use the </a:t>
            </a:r>
            <a:r>
              <a:rPr lang="en-US" dirty="0" err="1"/>
              <a:t>StartNew</a:t>
            </a:r>
            <a:r>
              <a:rPr lang="en-US" dirty="0"/>
              <a:t> method only when you require fine-grained control for a long-running, compute-bound task. </a:t>
            </a:r>
          </a:p>
          <a:p>
            <a:endParaRPr lang="en-US" dirty="0"/>
          </a:p>
          <a:p>
            <a:r>
              <a:rPr lang="en-US" dirty="0"/>
              <a:t>This includes scenarios in which you want to control the following:</a:t>
            </a:r>
          </a:p>
          <a:p>
            <a:endParaRPr lang="en-US" dirty="0"/>
          </a:p>
          <a:p>
            <a:r>
              <a:rPr lang="en-US" dirty="0"/>
              <a:t>•	Task creation options. Tasks created by the </a:t>
            </a:r>
            <a:r>
              <a:rPr lang="en-US" dirty="0" err="1"/>
              <a:t>Task.Run</a:t>
            </a:r>
            <a:r>
              <a:rPr lang="en-US" dirty="0"/>
              <a:t> method by default are created with the </a:t>
            </a:r>
            <a:r>
              <a:rPr lang="en-US" dirty="0" err="1"/>
              <a:t>TaskCreationOptions.DenyChildAttach</a:t>
            </a:r>
            <a:r>
              <a:rPr lang="en-US" dirty="0"/>
              <a:t> option. To override this behavior, or to provide other </a:t>
            </a:r>
            <a:r>
              <a:rPr lang="en-US" dirty="0" err="1"/>
              <a:t>TaskCreationOptions</a:t>
            </a:r>
            <a:r>
              <a:rPr lang="en-US" dirty="0"/>
              <a:t> options, call a </a:t>
            </a:r>
            <a:r>
              <a:rPr lang="en-US" dirty="0" err="1"/>
              <a:t>StartNew</a:t>
            </a:r>
            <a:r>
              <a:rPr lang="en-US" dirty="0"/>
              <a:t> overload.</a:t>
            </a:r>
          </a:p>
          <a:p>
            <a:endParaRPr lang="en-US" dirty="0"/>
          </a:p>
          <a:p>
            <a:r>
              <a:rPr lang="en-US" dirty="0"/>
              <a:t>•	Parameter passing. The overloads of the </a:t>
            </a:r>
            <a:r>
              <a:rPr lang="en-US" dirty="0" err="1"/>
              <a:t>Task.Run</a:t>
            </a:r>
            <a:r>
              <a:rPr lang="en-US" dirty="0"/>
              <a:t> method do not allow you to pass a parameter to the task delegate. Overloads of </a:t>
            </a:r>
            <a:r>
              <a:rPr lang="en-US" dirty="0" err="1"/>
              <a:t>theStartNew</a:t>
            </a:r>
            <a:r>
              <a:rPr lang="en-US" dirty="0"/>
              <a:t> method do.</a:t>
            </a:r>
          </a:p>
          <a:p>
            <a:endParaRPr lang="en-US" dirty="0"/>
          </a:p>
          <a:p>
            <a:r>
              <a:rPr lang="en-US" dirty="0"/>
              <a:t>•	The task scheduler. The overloads of the </a:t>
            </a:r>
            <a:r>
              <a:rPr lang="en-US" dirty="0" err="1"/>
              <a:t>Task.Run</a:t>
            </a:r>
            <a:r>
              <a:rPr lang="en-US" dirty="0"/>
              <a:t> method use the default task scheduler. To control the task scheduler, call a </a:t>
            </a:r>
            <a:r>
              <a:rPr lang="en-US" dirty="0" err="1"/>
              <a:t>StartNewoverload</a:t>
            </a:r>
            <a:r>
              <a:rPr lang="en-US" dirty="0"/>
              <a:t> with a scheduler parameter. </a:t>
            </a:r>
          </a:p>
        </p:txBody>
      </p:sp>
      <p:sp>
        <p:nvSpPr>
          <p:cNvPr id="7" name="TextBox 6">
            <a:extLst>
              <a:ext uri="{FF2B5EF4-FFF2-40B4-BE49-F238E27FC236}">
                <a16:creationId xmlns:a16="http://schemas.microsoft.com/office/drawing/2014/main" id="{23D134EE-FA94-4A5E-A0E4-BBC862C46E42}"/>
              </a:ext>
            </a:extLst>
          </p:cNvPr>
          <p:cNvSpPr txBox="1"/>
          <p:nvPr/>
        </p:nvSpPr>
        <p:spPr>
          <a:xfrm>
            <a:off x="3342968" y="200939"/>
            <a:ext cx="6096000" cy="369332"/>
          </a:xfrm>
          <a:prstGeom prst="rect">
            <a:avLst/>
          </a:prstGeom>
          <a:noFill/>
        </p:spPr>
        <p:txBody>
          <a:bodyPr wrap="square">
            <a:spAutoFit/>
          </a:bodyPr>
          <a:lstStyle/>
          <a:p>
            <a:r>
              <a:rPr lang="en-US" b="1" dirty="0"/>
              <a:t>Recommended way to launch a compute-bound task</a:t>
            </a:r>
            <a:endParaRPr lang="en-IN" dirty="0"/>
          </a:p>
        </p:txBody>
      </p:sp>
    </p:spTree>
    <p:extLst>
      <p:ext uri="{BB962C8B-B14F-4D97-AF65-F5344CB8AC3E}">
        <p14:creationId xmlns:p14="http://schemas.microsoft.com/office/powerpoint/2010/main" val="1473039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C73592-03C3-4EAF-B46F-DB63286BA5C8}"/>
              </a:ext>
            </a:extLst>
          </p:cNvPr>
          <p:cNvSpPr txBox="1"/>
          <p:nvPr/>
        </p:nvSpPr>
        <p:spPr>
          <a:xfrm>
            <a:off x="226141" y="652670"/>
            <a:ext cx="10805652" cy="923330"/>
          </a:xfrm>
          <a:prstGeom prst="rect">
            <a:avLst/>
          </a:prstGeom>
          <a:noFill/>
        </p:spPr>
        <p:txBody>
          <a:bodyPr wrap="square">
            <a:spAutoFit/>
          </a:bodyPr>
          <a:lstStyle/>
          <a:p>
            <a:r>
              <a:rPr lang="en-US" dirty="0"/>
              <a:t>We can use both </a:t>
            </a:r>
            <a:r>
              <a:rPr lang="en-US" dirty="0" err="1"/>
              <a:t>Thread.Sleep</a:t>
            </a:r>
            <a:r>
              <a:rPr lang="en-US" dirty="0"/>
              <a:t>() and </a:t>
            </a:r>
            <a:r>
              <a:rPr lang="en-US" dirty="0" err="1"/>
              <a:t>Task.Delay</a:t>
            </a:r>
            <a:r>
              <a:rPr lang="en-US" dirty="0"/>
              <a:t>() to suspend the execution of a program (thread) for a given timespan. But are we actually suspending the execution? What is the difference between these two? How do you abort from a sleeping thread or an awaited task?</a:t>
            </a:r>
            <a:endParaRPr lang="en-IN" dirty="0"/>
          </a:p>
        </p:txBody>
      </p:sp>
      <p:sp>
        <p:nvSpPr>
          <p:cNvPr id="7" name="TextBox 6">
            <a:extLst>
              <a:ext uri="{FF2B5EF4-FFF2-40B4-BE49-F238E27FC236}">
                <a16:creationId xmlns:a16="http://schemas.microsoft.com/office/drawing/2014/main" id="{56993A45-96C6-42B7-8546-4BE4F4E4A082}"/>
              </a:ext>
            </a:extLst>
          </p:cNvPr>
          <p:cNvSpPr txBox="1"/>
          <p:nvPr/>
        </p:nvSpPr>
        <p:spPr>
          <a:xfrm>
            <a:off x="2467896" y="0"/>
            <a:ext cx="6096000" cy="369332"/>
          </a:xfrm>
          <a:prstGeom prst="rect">
            <a:avLst/>
          </a:prstGeom>
          <a:noFill/>
        </p:spPr>
        <p:txBody>
          <a:bodyPr wrap="square">
            <a:spAutoFit/>
          </a:bodyPr>
          <a:lstStyle/>
          <a:p>
            <a:pPr algn="ctr"/>
            <a:r>
              <a:rPr lang="en-US" b="1" dirty="0" err="1"/>
              <a:t>Thread.Sleep</a:t>
            </a:r>
            <a:r>
              <a:rPr lang="en-US" b="1" dirty="0"/>
              <a:t>() and </a:t>
            </a:r>
            <a:r>
              <a:rPr lang="en-US" b="1" dirty="0" err="1"/>
              <a:t>Task.Delay</a:t>
            </a:r>
            <a:r>
              <a:rPr lang="en-US" b="1" dirty="0"/>
              <a:t>() </a:t>
            </a:r>
            <a:endParaRPr lang="en-IN" b="1" dirty="0"/>
          </a:p>
        </p:txBody>
      </p:sp>
      <p:sp>
        <p:nvSpPr>
          <p:cNvPr id="9" name="TextBox 8">
            <a:extLst>
              <a:ext uri="{FF2B5EF4-FFF2-40B4-BE49-F238E27FC236}">
                <a16:creationId xmlns:a16="http://schemas.microsoft.com/office/drawing/2014/main" id="{328C0B01-E859-43BD-B3A2-6BDE81F3F614}"/>
              </a:ext>
            </a:extLst>
          </p:cNvPr>
          <p:cNvSpPr txBox="1"/>
          <p:nvPr/>
        </p:nvSpPr>
        <p:spPr>
          <a:xfrm>
            <a:off x="226141" y="1751185"/>
            <a:ext cx="11621729" cy="2031325"/>
          </a:xfrm>
          <a:prstGeom prst="rect">
            <a:avLst/>
          </a:prstGeom>
          <a:noFill/>
        </p:spPr>
        <p:txBody>
          <a:bodyPr wrap="square">
            <a:spAutoFit/>
          </a:bodyPr>
          <a:lstStyle/>
          <a:p>
            <a:r>
              <a:rPr lang="en-US" b="1" dirty="0" err="1"/>
              <a:t>Thread.Sleep</a:t>
            </a:r>
            <a:r>
              <a:rPr lang="en-US" b="1" dirty="0"/>
              <a:t>()</a:t>
            </a:r>
          </a:p>
          <a:p>
            <a:endParaRPr lang="en-US" dirty="0"/>
          </a:p>
          <a:p>
            <a:r>
              <a:rPr lang="en-US" dirty="0"/>
              <a:t>This is the classic way of suspending execution. This method will suspend the current thread until the given amount of time has elapsed. When you call </a:t>
            </a:r>
            <a:r>
              <a:rPr lang="en-US" dirty="0" err="1"/>
              <a:t>Thread.Sleep</a:t>
            </a:r>
            <a:r>
              <a:rPr lang="en-US" dirty="0"/>
              <a:t> in the above way, there is nothing you can do to abort this except waiting until the time elapses or by restarting the application. That’s because </a:t>
            </a:r>
            <a:r>
              <a:rPr lang="en-US" dirty="0" err="1"/>
              <a:t>Thread.Sleep</a:t>
            </a:r>
            <a:r>
              <a:rPr lang="en-US" dirty="0"/>
              <a:t> suspends the thread that's making the call. And because I'm calling </a:t>
            </a:r>
            <a:r>
              <a:rPr lang="en-US" dirty="0" err="1"/>
              <a:t>Thread.Sleep</a:t>
            </a:r>
            <a:r>
              <a:rPr lang="en-US" dirty="0"/>
              <a:t> in my button event handler (running in the UI thread), the UI is not responsive while it's sleeping.</a:t>
            </a:r>
          </a:p>
        </p:txBody>
      </p:sp>
      <p:sp>
        <p:nvSpPr>
          <p:cNvPr id="11" name="TextBox 10">
            <a:extLst>
              <a:ext uri="{FF2B5EF4-FFF2-40B4-BE49-F238E27FC236}">
                <a16:creationId xmlns:a16="http://schemas.microsoft.com/office/drawing/2014/main" id="{F88ECFB2-E178-4C40-B981-5E7825E053AF}"/>
              </a:ext>
            </a:extLst>
          </p:cNvPr>
          <p:cNvSpPr txBox="1"/>
          <p:nvPr/>
        </p:nvSpPr>
        <p:spPr>
          <a:xfrm>
            <a:off x="0" y="3957695"/>
            <a:ext cx="11847870" cy="2031325"/>
          </a:xfrm>
          <a:prstGeom prst="rect">
            <a:avLst/>
          </a:prstGeom>
          <a:noFill/>
        </p:spPr>
        <p:txBody>
          <a:bodyPr wrap="square">
            <a:spAutoFit/>
          </a:bodyPr>
          <a:lstStyle/>
          <a:p>
            <a:r>
              <a:rPr lang="en-US" b="1" dirty="0" err="1"/>
              <a:t>Task.Delay</a:t>
            </a:r>
            <a:r>
              <a:rPr lang="en-US" b="1" dirty="0"/>
              <a:t>()</a:t>
            </a:r>
          </a:p>
          <a:p>
            <a:endParaRPr lang="en-US" dirty="0"/>
          </a:p>
          <a:p>
            <a:r>
              <a:rPr lang="en-US" dirty="0" err="1"/>
              <a:t>Task.Delay</a:t>
            </a:r>
            <a:r>
              <a:rPr lang="en-US" dirty="0"/>
              <a:t> acts in a very different way than </a:t>
            </a:r>
            <a:r>
              <a:rPr lang="en-US" dirty="0" err="1"/>
              <a:t>Thread.Sleep</a:t>
            </a:r>
            <a:r>
              <a:rPr lang="en-US" dirty="0"/>
              <a:t>. Basically, </a:t>
            </a:r>
            <a:r>
              <a:rPr lang="en-US" dirty="0" err="1"/>
              <a:t>Task.Delay</a:t>
            </a:r>
            <a:r>
              <a:rPr lang="en-US" dirty="0"/>
              <a:t> will create a task which will complete after a time delay. </a:t>
            </a:r>
            <a:r>
              <a:rPr lang="en-US" dirty="0" err="1"/>
              <a:t>Task.Delay</a:t>
            </a:r>
            <a:r>
              <a:rPr lang="en-US" dirty="0"/>
              <a:t> is </a:t>
            </a:r>
            <a:r>
              <a:rPr lang="en-US" dirty="0">
                <a:highlight>
                  <a:srgbClr val="FFFF00"/>
                </a:highlight>
              </a:rPr>
              <a:t>not blocking the calling thread </a:t>
            </a:r>
            <a:r>
              <a:rPr lang="en-US" dirty="0"/>
              <a:t>so the UI will remain responsive.</a:t>
            </a:r>
          </a:p>
          <a:p>
            <a:endParaRPr lang="en-US" dirty="0"/>
          </a:p>
          <a:p>
            <a:r>
              <a:rPr lang="en-US" dirty="0"/>
              <a:t>Behind the scenes there is a timer ticking until the specified time. Since the timer controls the delay, we can cancel the delay at any time simply by stopping the timer.</a:t>
            </a:r>
          </a:p>
        </p:txBody>
      </p:sp>
    </p:spTree>
    <p:extLst>
      <p:ext uri="{BB962C8B-B14F-4D97-AF65-F5344CB8AC3E}">
        <p14:creationId xmlns:p14="http://schemas.microsoft.com/office/powerpoint/2010/main" val="2149852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836EA9-75D5-40B0-83A6-14FDC3749C4C}"/>
              </a:ext>
            </a:extLst>
          </p:cNvPr>
          <p:cNvSpPr txBox="1"/>
          <p:nvPr/>
        </p:nvSpPr>
        <p:spPr>
          <a:xfrm>
            <a:off x="825909" y="285135"/>
            <a:ext cx="9960078" cy="4524315"/>
          </a:xfrm>
          <a:prstGeom prst="rect">
            <a:avLst/>
          </a:prstGeom>
          <a:noFill/>
        </p:spPr>
        <p:txBody>
          <a:bodyPr wrap="square">
            <a:spAutoFit/>
          </a:bodyPr>
          <a:lstStyle/>
          <a:p>
            <a:pPr algn="ctr"/>
            <a:r>
              <a:rPr lang="en-US" b="1" dirty="0"/>
              <a:t>Waiting for tasks to finish</a:t>
            </a:r>
          </a:p>
          <a:p>
            <a:pPr algn="ctr"/>
            <a:endParaRPr lang="en-US" b="1" dirty="0"/>
          </a:p>
          <a:p>
            <a:r>
              <a:rPr lang="en-US" dirty="0"/>
              <a:t>The </a:t>
            </a:r>
            <a:r>
              <a:rPr lang="en-US" dirty="0" err="1"/>
              <a:t>System.Threading.Tasks.Task</a:t>
            </a:r>
            <a:r>
              <a:rPr lang="en-US" dirty="0"/>
              <a:t> and </a:t>
            </a:r>
            <a:r>
              <a:rPr lang="en-US" dirty="0" err="1"/>
              <a:t>System.Threading.Tasks.Task</a:t>
            </a:r>
            <a:r>
              <a:rPr lang="en-US" dirty="0"/>
              <a:t>&lt;</a:t>
            </a:r>
            <a:r>
              <a:rPr lang="en-US" dirty="0" err="1"/>
              <a:t>TResult</a:t>
            </a:r>
            <a:r>
              <a:rPr lang="en-US" dirty="0"/>
              <a:t>&gt; types provide several overloads of the </a:t>
            </a:r>
            <a:r>
              <a:rPr lang="en-US" dirty="0" err="1"/>
              <a:t>Task.Wait</a:t>
            </a:r>
            <a:r>
              <a:rPr lang="en-US" dirty="0"/>
              <a:t> </a:t>
            </a:r>
            <a:r>
              <a:rPr lang="en-US" dirty="0" err="1"/>
              <a:t>andTask</a:t>
            </a:r>
            <a:r>
              <a:rPr lang="en-US" dirty="0"/>
              <a:t>&lt;</a:t>
            </a:r>
            <a:r>
              <a:rPr lang="en-US" dirty="0" err="1"/>
              <a:t>TResult</a:t>
            </a:r>
            <a:r>
              <a:rPr lang="en-US" dirty="0"/>
              <a:t>&gt;.Wait methods that enable you to wait for a task to finish.</a:t>
            </a:r>
          </a:p>
          <a:p>
            <a:endParaRPr lang="en-US" dirty="0"/>
          </a:p>
          <a:p>
            <a:r>
              <a:rPr lang="en-US" dirty="0"/>
              <a:t> In addition, overloads of the static </a:t>
            </a:r>
            <a:r>
              <a:rPr lang="en-US" dirty="0" err="1"/>
              <a:t>Task.WaitAll</a:t>
            </a:r>
            <a:r>
              <a:rPr lang="en-US" dirty="0"/>
              <a:t> and </a:t>
            </a:r>
            <a:r>
              <a:rPr lang="en-US" dirty="0" err="1"/>
              <a:t>Task.WaitAny</a:t>
            </a:r>
            <a:r>
              <a:rPr lang="en-US" dirty="0"/>
              <a:t> methods let you wait for any or all of an array of tasks to finish.</a:t>
            </a:r>
          </a:p>
          <a:p>
            <a:endParaRPr lang="en-US" dirty="0"/>
          </a:p>
          <a:p>
            <a:r>
              <a:rPr lang="en-US" dirty="0"/>
              <a:t>Typically, you would wait for a task for one of these reasons:</a:t>
            </a:r>
          </a:p>
          <a:p>
            <a:endParaRPr lang="en-US" dirty="0"/>
          </a:p>
          <a:p>
            <a:r>
              <a:rPr lang="en-US" dirty="0"/>
              <a:t>•	The main thread depends on the final result computed by a task.</a:t>
            </a:r>
          </a:p>
          <a:p>
            <a:r>
              <a:rPr lang="en-US" dirty="0"/>
              <a:t>•	You have to handle exceptions that might be thrown from the task.</a:t>
            </a:r>
          </a:p>
          <a:p>
            <a:r>
              <a:rPr lang="en-US" dirty="0"/>
              <a:t>•	The application may terminate before all tasks have completed execution. For example, console applications will terminate as soon as all synchronous code in Main (the application entry point) has executed</a:t>
            </a:r>
          </a:p>
          <a:p>
            <a:endParaRPr lang="en-US" dirty="0"/>
          </a:p>
        </p:txBody>
      </p:sp>
    </p:spTree>
    <p:extLst>
      <p:ext uri="{BB962C8B-B14F-4D97-AF65-F5344CB8AC3E}">
        <p14:creationId xmlns:p14="http://schemas.microsoft.com/office/powerpoint/2010/main" val="2814800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A11F3D-2B84-4BD9-9DA3-5A691CBC4AF9}"/>
              </a:ext>
            </a:extLst>
          </p:cNvPr>
          <p:cNvSpPr txBox="1"/>
          <p:nvPr/>
        </p:nvSpPr>
        <p:spPr>
          <a:xfrm>
            <a:off x="422786" y="399393"/>
            <a:ext cx="10579510" cy="646331"/>
          </a:xfrm>
          <a:prstGeom prst="rect">
            <a:avLst/>
          </a:prstGeom>
          <a:noFill/>
        </p:spPr>
        <p:txBody>
          <a:bodyPr wrap="square">
            <a:spAutoFit/>
          </a:bodyPr>
          <a:lstStyle/>
          <a:p>
            <a:r>
              <a:rPr lang="en-US" dirty="0"/>
              <a:t>An async method can return only void or a Task.</a:t>
            </a:r>
          </a:p>
          <a:p>
            <a:r>
              <a:rPr lang="en-US" dirty="0"/>
              <a:t>An async method will be run synchronously if </a:t>
            </a:r>
            <a:r>
              <a:rPr lang="en-US" dirty="0">
                <a:highlight>
                  <a:srgbClr val="FFFF00"/>
                </a:highlight>
              </a:rPr>
              <a:t>it does not contain the await </a:t>
            </a:r>
            <a:r>
              <a:rPr lang="en-US" dirty="0"/>
              <a:t>keyword.</a:t>
            </a:r>
          </a:p>
        </p:txBody>
      </p:sp>
      <p:sp>
        <p:nvSpPr>
          <p:cNvPr id="7" name="TextBox 6">
            <a:extLst>
              <a:ext uri="{FF2B5EF4-FFF2-40B4-BE49-F238E27FC236}">
                <a16:creationId xmlns:a16="http://schemas.microsoft.com/office/drawing/2014/main" id="{E02B8D8F-2BDF-4737-8B12-20A94182F8AE}"/>
              </a:ext>
            </a:extLst>
          </p:cNvPr>
          <p:cNvSpPr txBox="1"/>
          <p:nvPr/>
        </p:nvSpPr>
        <p:spPr>
          <a:xfrm>
            <a:off x="3834581" y="-35939"/>
            <a:ext cx="2113935" cy="369332"/>
          </a:xfrm>
          <a:prstGeom prst="rect">
            <a:avLst/>
          </a:prstGeom>
          <a:noFill/>
        </p:spPr>
        <p:txBody>
          <a:bodyPr wrap="square">
            <a:spAutoFit/>
          </a:bodyPr>
          <a:lstStyle/>
          <a:p>
            <a:r>
              <a:rPr lang="en-US" b="1" dirty="0"/>
              <a:t>async method </a:t>
            </a:r>
            <a:endParaRPr lang="en-IN" b="1" dirty="0"/>
          </a:p>
        </p:txBody>
      </p:sp>
      <p:sp>
        <p:nvSpPr>
          <p:cNvPr id="9" name="TextBox 8">
            <a:extLst>
              <a:ext uri="{FF2B5EF4-FFF2-40B4-BE49-F238E27FC236}">
                <a16:creationId xmlns:a16="http://schemas.microsoft.com/office/drawing/2014/main" id="{F754DAEA-9232-48DB-A5A0-DCB1D308ADFD}"/>
              </a:ext>
            </a:extLst>
          </p:cNvPr>
          <p:cNvSpPr txBox="1"/>
          <p:nvPr/>
        </p:nvSpPr>
        <p:spPr>
          <a:xfrm>
            <a:off x="363793" y="1045724"/>
            <a:ext cx="5584723" cy="6370975"/>
          </a:xfrm>
          <a:prstGeom prst="rect">
            <a:avLst/>
          </a:prstGeom>
          <a:noFill/>
        </p:spPr>
        <p:txBody>
          <a:bodyPr wrap="square">
            <a:spAutoFit/>
          </a:bodyPr>
          <a:lstStyle/>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System.IO;</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ConsoleApplication1</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Main()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Create task and start it.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Wait for it to complete.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new</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ProcessDataAsync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);//1</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task.Start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();//2</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task.Wait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.ReadLine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//exit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ProcessDataAsync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Start the </a:t>
            </a:r>
            <a:r>
              <a:rPr lang="en-IN" sz="1200" dirty="0" err="1">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method.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&lt;</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&gt; task =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"angular.js"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);//3</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Control returns here before </a:t>
            </a:r>
            <a:r>
              <a:rPr lang="en-IN" sz="1200" dirty="0" err="1">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HandleFileAsync</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returns.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Prompt the user.</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.WriteLine</a:t>
            </a:r>
            <a:r>
              <a:rPr lang="en-IN" sz="12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"Please wait patiently "</a:t>
            </a:r>
            <a:r>
              <a:rPr lang="en-IN" sz="12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A31515"/>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"while I do something important."</a:t>
            </a:r>
            <a:r>
              <a:rPr lang="en-IN" sz="12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000000"/>
                </a:solidFill>
                <a:highlight>
                  <a:srgbClr val="FFFFFF"/>
                </a:highlight>
                <a:latin typeface="Tahoma" panose="020B0604030504040204" pitchFamily="34" charset="0"/>
                <a:ea typeface="Calibri" panose="020F0502020204030204" pitchFamily="34" charset="0"/>
                <a:cs typeface="Times New Roman" panose="02020603050405020304" pitchFamily="18" charset="0"/>
              </a:rPr>
              <a:t>6</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Wait for the </a:t>
            </a:r>
            <a:r>
              <a:rPr lang="en-IN" sz="1200" dirty="0" err="1">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task to complete.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Display its results.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x =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await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task;//10</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"Count: "</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x);//11</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ED79D072-3AE6-48BE-8C10-219AC5EC53B4}"/>
              </a:ext>
            </a:extLst>
          </p:cNvPr>
          <p:cNvSpPr txBox="1"/>
          <p:nvPr/>
        </p:nvSpPr>
        <p:spPr>
          <a:xfrm>
            <a:off x="5948516" y="1068806"/>
            <a:ext cx="5545394" cy="6001643"/>
          </a:xfrm>
          <a:prstGeom prst="rect">
            <a:avLst/>
          </a:prstGeom>
          <a:noFill/>
        </p:spPr>
        <p:txBody>
          <a:bodyPr wrap="square">
            <a:spAutoFit/>
          </a:bodyPr>
          <a:lstStyle/>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&lt;</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&gt;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file)//4</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.WriteLine</a:t>
            </a:r>
            <a:r>
              <a:rPr lang="en-IN" sz="1200" dirty="0">
                <a:solidFill>
                  <a:srgbClr val="000000"/>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err="1">
                <a:solidFill>
                  <a:srgbClr val="A31515"/>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HandleFile</a:t>
            </a:r>
            <a:r>
              <a:rPr lang="en-IN" sz="1200" dirty="0">
                <a:solidFill>
                  <a:srgbClr val="A31515"/>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 enter"</a:t>
            </a:r>
            <a:r>
              <a:rPr lang="en-IN" sz="1200" dirty="0">
                <a:solidFill>
                  <a:srgbClr val="000000"/>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);//5</a:t>
            </a:r>
            <a:endParaRPr lang="en-IN" sz="1200" dirty="0">
              <a:effectLst/>
              <a:highlight>
                <a:srgbClr val="00FFFF"/>
              </a:highligh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count = 0;</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Read in the specified file.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Use async </a:t>
            </a:r>
            <a:r>
              <a:rPr lang="en-IN" sz="1200" dirty="0" err="1">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StreamReader</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method.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StreamReader</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reader =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new</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StreamReader</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(file))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v =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await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reader.ReadToEndAsync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();//7</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Process the file data somehow.</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count +=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v.Length</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;//300</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 slow-running computation.</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Dummy code.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for</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0;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&lt; 10000;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x =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v.GetHashCode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if</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(x == 0)//4526897183</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count--;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err="1">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t>
            </a:r>
            <a:r>
              <a:rPr lang="en-IN" sz="12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exit"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);//8</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return</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count;//9</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 </a:t>
            </a:r>
            <a:endParaRPr lang="en-IN" sz="1200" dirty="0"/>
          </a:p>
        </p:txBody>
      </p:sp>
    </p:spTree>
    <p:extLst>
      <p:ext uri="{BB962C8B-B14F-4D97-AF65-F5344CB8AC3E}">
        <p14:creationId xmlns:p14="http://schemas.microsoft.com/office/powerpoint/2010/main" val="2580360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E61AB4-1C0C-4A7F-BB68-673792E9DBA5}"/>
              </a:ext>
            </a:extLst>
          </p:cNvPr>
          <p:cNvSpPr txBox="1"/>
          <p:nvPr/>
        </p:nvSpPr>
        <p:spPr>
          <a:xfrm>
            <a:off x="422786" y="486130"/>
            <a:ext cx="11071123" cy="2862322"/>
          </a:xfrm>
          <a:prstGeom prst="rect">
            <a:avLst/>
          </a:prstGeom>
          <a:noFill/>
        </p:spPr>
        <p:txBody>
          <a:bodyPr wrap="square">
            <a:spAutoFit/>
          </a:bodyPr>
          <a:lstStyle/>
          <a:p>
            <a:pPr algn="ctr"/>
            <a:r>
              <a:rPr lang="en-US" b="1" dirty="0"/>
              <a:t>What is the difference between wait vs await? </a:t>
            </a:r>
          </a:p>
          <a:p>
            <a:pPr algn="ctr"/>
            <a:endParaRPr lang="en-US" b="1" dirty="0"/>
          </a:p>
          <a:p>
            <a:r>
              <a:rPr lang="en-US" dirty="0" err="1"/>
              <a:t>Task.Wait</a:t>
            </a:r>
            <a:r>
              <a:rPr lang="en-US" dirty="0"/>
              <a:t> is a blocking call. Your blocking the thread until the task is complete. You basically ignore all other operations while you are waiting on the task. </a:t>
            </a:r>
          </a:p>
          <a:p>
            <a:endParaRPr lang="en-US" dirty="0"/>
          </a:p>
          <a:p>
            <a:r>
              <a:rPr lang="en-US" dirty="0"/>
              <a:t>On the other hand, await allows you to keep processing the messages in the queue and when the task is completed. Now when the task is completed a message would be added to the queue that says “pick from where you left after the await”. </a:t>
            </a:r>
          </a:p>
          <a:p>
            <a:endParaRPr lang="en-US" dirty="0"/>
          </a:p>
          <a:p>
            <a:r>
              <a:rPr lang="en-US" dirty="0"/>
              <a:t>Under the hood the await is hooking up a task continuation to be execute when the task is completed.</a:t>
            </a:r>
          </a:p>
        </p:txBody>
      </p:sp>
    </p:spTree>
    <p:extLst>
      <p:ext uri="{BB962C8B-B14F-4D97-AF65-F5344CB8AC3E}">
        <p14:creationId xmlns:p14="http://schemas.microsoft.com/office/powerpoint/2010/main" val="569404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40A3132-F769-496D-8BE5-1F8A1F837602}"/>
              </a:ext>
            </a:extLst>
          </p:cNvPr>
          <p:cNvSpPr txBox="1"/>
          <p:nvPr/>
        </p:nvSpPr>
        <p:spPr>
          <a:xfrm>
            <a:off x="206478" y="98322"/>
            <a:ext cx="4119716" cy="5493299"/>
          </a:xfrm>
          <a:prstGeom prst="rect">
            <a:avLst/>
          </a:prstGeom>
          <a:noFill/>
        </p:spPr>
        <p:txBody>
          <a:bodyPr wrap="square">
            <a:spAutoFit/>
          </a:bodyPr>
          <a:lstStyle/>
          <a:p>
            <a:pPr>
              <a:lnSpc>
                <a:spcPct val="115000"/>
              </a:lnSpc>
            </a:pPr>
            <a:r>
              <a:rPr lang="en-IN"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System.IO;</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ConsoleApplication1</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Main()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a=3;</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while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(a&gt;=0)</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Start computation.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Example();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Handle user input.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result =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.ReadLine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p>
          <a:p>
            <a:pPr>
              <a:lnSpc>
                <a:spcPct val="115000"/>
              </a:lnSpc>
            </a:pP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"You typed: "</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result);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232A085E-BFEB-4F4E-9CC3-763958D234AB}"/>
              </a:ext>
            </a:extLst>
          </p:cNvPr>
          <p:cNvSpPr txBox="1"/>
          <p:nvPr/>
        </p:nvSpPr>
        <p:spPr>
          <a:xfrm>
            <a:off x="98323" y="5453358"/>
            <a:ext cx="6135329" cy="1393587"/>
          </a:xfrm>
          <a:prstGeom prst="rect">
            <a:avLst/>
          </a:prstGeom>
          <a:noFill/>
        </p:spPr>
        <p:txBody>
          <a:bodyPr wrap="square">
            <a:spAutoFit/>
          </a:bodyPr>
          <a:lstStyle/>
          <a:p>
            <a:pPr>
              <a:lnSpc>
                <a:spcPct val="115000"/>
              </a:lnSpc>
              <a:spcAft>
                <a:spcPts val="1000"/>
              </a:spcAft>
            </a:pP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async</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Example()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05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This method runs asynchronously.</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t = </a:t>
            </a:r>
            <a:r>
              <a:rPr lang="en-IN" sz="105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await</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05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.Run</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=&gt; Allocate());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05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05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"Compute: "</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400" dirty="0"/>
          </a:p>
        </p:txBody>
      </p:sp>
      <p:sp>
        <p:nvSpPr>
          <p:cNvPr id="11" name="TextBox 10">
            <a:extLst>
              <a:ext uri="{FF2B5EF4-FFF2-40B4-BE49-F238E27FC236}">
                <a16:creationId xmlns:a16="http://schemas.microsoft.com/office/drawing/2014/main" id="{D4773A2C-11C4-4D9E-8CDF-2ED48B5E30B7}"/>
              </a:ext>
            </a:extLst>
          </p:cNvPr>
          <p:cNvSpPr txBox="1"/>
          <p:nvPr/>
        </p:nvSpPr>
        <p:spPr>
          <a:xfrm>
            <a:off x="5486400" y="269531"/>
            <a:ext cx="6135328" cy="6588022"/>
          </a:xfrm>
          <a:prstGeom prst="rect">
            <a:avLst/>
          </a:prstGeom>
          <a:noFill/>
        </p:spPr>
        <p:txBody>
          <a:bodyPr wrap="square">
            <a:spAutoFit/>
          </a:bodyPr>
          <a:lstStyle/>
          <a:p>
            <a:pPr>
              <a:lnSpc>
                <a:spcPct val="115000"/>
              </a:lnSpc>
              <a:spcAft>
                <a:spcPts val="1000"/>
              </a:spcAft>
            </a:pPr>
            <a:r>
              <a:rPr lang="en-IN" sz="9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Allocate()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Compute total count of digits in strings.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size = 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for</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z = 0; z &lt; 100; z++)</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for</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0;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&lt; 1000000;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value =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i.ToString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if</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(value ==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null</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return</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size +=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value.Length</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return</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size;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1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9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p>
        </p:txBody>
      </p:sp>
    </p:spTree>
    <p:extLst>
      <p:ext uri="{BB962C8B-B14F-4D97-AF65-F5344CB8AC3E}">
        <p14:creationId xmlns:p14="http://schemas.microsoft.com/office/powerpoint/2010/main" val="2119287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C40769-C991-42CD-8FAC-0D0171946B80}"/>
              </a:ext>
            </a:extLst>
          </p:cNvPr>
          <p:cNvSpPr txBox="1"/>
          <p:nvPr/>
        </p:nvSpPr>
        <p:spPr>
          <a:xfrm>
            <a:off x="255638" y="639097"/>
            <a:ext cx="11189109" cy="4524315"/>
          </a:xfrm>
          <a:prstGeom prst="rect">
            <a:avLst/>
          </a:prstGeom>
          <a:noFill/>
        </p:spPr>
        <p:txBody>
          <a:bodyPr wrap="square">
            <a:spAutoFit/>
          </a:bodyPr>
          <a:lstStyle/>
          <a:p>
            <a:r>
              <a:rPr lang="en-US" dirty="0"/>
              <a:t>In .NET 4.0, we have a set of new API's to simplify the process of adding parallelism and concurrency to applications. This set of API's is called the "Task Parallel Library (TPL)" and is located in the </a:t>
            </a:r>
          </a:p>
          <a:p>
            <a:endParaRPr lang="en-US" dirty="0"/>
          </a:p>
          <a:p>
            <a:r>
              <a:rPr lang="en-US" dirty="0" err="1"/>
              <a:t>System.Threading</a:t>
            </a:r>
            <a:r>
              <a:rPr lang="en-US" dirty="0"/>
              <a:t> and </a:t>
            </a:r>
            <a:r>
              <a:rPr lang="en-US" dirty="0" err="1"/>
              <a:t>System.Threading.Tasks</a:t>
            </a:r>
            <a:r>
              <a:rPr lang="en-US" dirty="0"/>
              <a:t> namespaces.</a:t>
            </a:r>
          </a:p>
          <a:p>
            <a:endParaRPr lang="en-US" dirty="0"/>
          </a:p>
          <a:p>
            <a:r>
              <a:rPr lang="en-US" dirty="0"/>
              <a:t>The Parallel class found in the </a:t>
            </a:r>
            <a:r>
              <a:rPr lang="en-US" dirty="0" err="1"/>
              <a:t>System.Threading.Tasks</a:t>
            </a:r>
            <a:r>
              <a:rPr lang="en-US" dirty="0"/>
              <a:t> namespace “provides library-based data parallel replacements for common operations such as for loops, for each loops, and execution of a set of statements”</a:t>
            </a:r>
          </a:p>
          <a:p>
            <a:endParaRPr lang="en-US" dirty="0"/>
          </a:p>
          <a:p>
            <a:endParaRPr lang="en-US" dirty="0"/>
          </a:p>
          <a:p>
            <a:r>
              <a:rPr lang="en-US" b="0" i="0" dirty="0">
                <a:solidFill>
                  <a:srgbClr val="040C28"/>
                </a:solidFill>
                <a:effectLst/>
                <a:latin typeface="Google Sans"/>
              </a:rPr>
              <a:t>A Task represents some asynchronous operation and is part of the Task Parallel Library, a set of APIs for running tasks asynchronously and in parallel</a:t>
            </a:r>
            <a:r>
              <a:rPr lang="en-US" b="0" i="0" dirty="0">
                <a:solidFill>
                  <a:srgbClr val="4D5156"/>
                </a:solidFill>
                <a:effectLst/>
                <a:latin typeface="Google Sans"/>
              </a:rPr>
              <a:t>.</a:t>
            </a:r>
          </a:p>
          <a:p>
            <a:endParaRPr lang="en-US" dirty="0">
              <a:solidFill>
                <a:srgbClr val="4D5156"/>
              </a:solidFill>
              <a:latin typeface="Google Sans"/>
            </a:endParaRPr>
          </a:p>
          <a:p>
            <a:endParaRPr lang="en-US" dirty="0">
              <a:solidFill>
                <a:srgbClr val="4D5156"/>
              </a:solidFill>
              <a:latin typeface="Google Sans"/>
            </a:endParaRPr>
          </a:p>
          <a:p>
            <a:endParaRPr lang="en-US" dirty="0">
              <a:solidFill>
                <a:srgbClr val="4D5156"/>
              </a:solidFill>
              <a:latin typeface="Google Sans"/>
            </a:endParaRPr>
          </a:p>
          <a:p>
            <a:r>
              <a:rPr lang="en-US" b="0" i="0" dirty="0">
                <a:solidFill>
                  <a:srgbClr val="040C28"/>
                </a:solidFill>
                <a:effectLst/>
                <a:latin typeface="Google Sans"/>
              </a:rPr>
              <a:t>Asynchronous programming is used to enhance the usability of processes, while parallel programming aims for the computing/ processing efficiency</a:t>
            </a:r>
            <a:r>
              <a:rPr lang="en-US" b="0" i="0" dirty="0">
                <a:solidFill>
                  <a:srgbClr val="202124"/>
                </a:solidFill>
                <a:effectLst/>
                <a:latin typeface="Google Sans"/>
              </a:rPr>
              <a:t>.</a:t>
            </a:r>
            <a:endParaRPr lang="en-US" dirty="0"/>
          </a:p>
        </p:txBody>
      </p:sp>
      <p:sp>
        <p:nvSpPr>
          <p:cNvPr id="6" name="TextBox 5">
            <a:extLst>
              <a:ext uri="{FF2B5EF4-FFF2-40B4-BE49-F238E27FC236}">
                <a16:creationId xmlns:a16="http://schemas.microsoft.com/office/drawing/2014/main" id="{A3ADB716-2938-471A-8F24-1C0C27E95B2D}"/>
              </a:ext>
            </a:extLst>
          </p:cNvPr>
          <p:cNvSpPr txBox="1"/>
          <p:nvPr/>
        </p:nvSpPr>
        <p:spPr>
          <a:xfrm>
            <a:off x="2635045" y="157316"/>
            <a:ext cx="5673213" cy="369332"/>
          </a:xfrm>
          <a:prstGeom prst="rect">
            <a:avLst/>
          </a:prstGeom>
          <a:noFill/>
        </p:spPr>
        <p:txBody>
          <a:bodyPr wrap="square" rtlCol="0">
            <a:spAutoFit/>
          </a:bodyPr>
          <a:lstStyle/>
          <a:p>
            <a:pPr algn="ctr"/>
            <a:r>
              <a:rPr lang="en-US" b="1" dirty="0" err="1"/>
              <a:t>Parallel.Invoke</a:t>
            </a:r>
            <a:endParaRPr lang="en-IN" b="1" dirty="0"/>
          </a:p>
        </p:txBody>
      </p:sp>
      <p:sp>
        <p:nvSpPr>
          <p:cNvPr id="3" name="TextBox 2">
            <a:extLst>
              <a:ext uri="{FF2B5EF4-FFF2-40B4-BE49-F238E27FC236}">
                <a16:creationId xmlns:a16="http://schemas.microsoft.com/office/drawing/2014/main" id="{42986AA6-7B5A-66ED-EEF2-93FBF14CBB2E}"/>
              </a:ext>
            </a:extLst>
          </p:cNvPr>
          <p:cNvSpPr txBox="1"/>
          <p:nvPr/>
        </p:nvSpPr>
        <p:spPr>
          <a:xfrm>
            <a:off x="395080" y="5799339"/>
            <a:ext cx="10856016" cy="646331"/>
          </a:xfrm>
          <a:prstGeom prst="rect">
            <a:avLst/>
          </a:prstGeom>
          <a:noFill/>
        </p:spPr>
        <p:txBody>
          <a:bodyPr wrap="square">
            <a:spAutoFit/>
          </a:bodyPr>
          <a:lstStyle/>
          <a:p>
            <a:r>
              <a:rPr lang="en-IN" dirty="0"/>
              <a:t>Read Article :</a:t>
            </a:r>
          </a:p>
          <a:p>
            <a:r>
              <a:rPr lang="en-IN" dirty="0"/>
              <a:t>https://medium.com/@cummingsi1993/the-difference-between-asynchronous-and-parallel-6400729fa897</a:t>
            </a:r>
          </a:p>
        </p:txBody>
      </p:sp>
    </p:spTree>
    <p:extLst>
      <p:ext uri="{BB962C8B-B14F-4D97-AF65-F5344CB8AC3E}">
        <p14:creationId xmlns:p14="http://schemas.microsoft.com/office/powerpoint/2010/main" val="1221466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8FAEC3-29DC-4F43-BEAC-CA60B9441B3D}"/>
              </a:ext>
            </a:extLst>
          </p:cNvPr>
          <p:cNvSpPr txBox="1"/>
          <p:nvPr/>
        </p:nvSpPr>
        <p:spPr>
          <a:xfrm>
            <a:off x="265471" y="0"/>
            <a:ext cx="5584723" cy="7201972"/>
          </a:xfrm>
          <a:prstGeom prst="rect">
            <a:avLst/>
          </a:prstGeom>
          <a:noFill/>
        </p:spPr>
        <p:txBody>
          <a:bodyPr wrap="square">
            <a:spAutoFit/>
          </a:bodyPr>
          <a:lstStyle/>
          <a:p>
            <a:r>
              <a:rPr lang="en-IN" sz="1400" dirty="0">
                <a:effectLst/>
                <a:latin typeface="Calibri" panose="020F0502020204030204" pitchFamily="34" charset="0"/>
                <a:ea typeface="Calibri" panose="020F0502020204030204" pitchFamily="34" charset="0"/>
                <a:cs typeface="Times New Roman" panose="02020603050405020304" pitchFamily="18" charset="0"/>
              </a:rPr>
              <a:t> </a:t>
            </a: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_01_console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GenerateNumbers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for</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0;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&lt; 10;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"Method1 - Number: {0}"</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.Sleep</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(1000);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PrintCharacters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str = </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err="1">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dotnetdata</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for</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0;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&lt;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str.Length</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"Method2 - Character: {0}"</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str[</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.Sleep</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(1000);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87FEFE39-0C8E-4C6F-A842-192B8E79014C}"/>
              </a:ext>
            </a:extLst>
          </p:cNvPr>
          <p:cNvSpPr txBox="1"/>
          <p:nvPr/>
        </p:nvSpPr>
        <p:spPr>
          <a:xfrm>
            <a:off x="6479458" y="186075"/>
            <a:ext cx="4857135" cy="62478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static</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void</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PrintArray</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int</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arr</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 { 1, 2, 3, 4, 5, 6, 7, 8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foreach</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int</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in</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arr</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Console</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.WriteLine</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r>
              <a:rPr kumimoji="0" lang="en-IN" sz="1600" b="0" i="0" u="none" strike="noStrike" kern="1200" cap="none" spc="0" normalizeH="0" baseline="0" noProof="0" dirty="0">
                <a:ln>
                  <a:noFill/>
                </a:ln>
                <a:solidFill>
                  <a:srgbClr val="A31515"/>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"Method3 - Array: {0}"</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Thread</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.Sleep</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(1000);</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static</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void</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Main(</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string</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args</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Parallel</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.Invoke</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new</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Action</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GenerateNumbers</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new</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Action</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PrintCharacters</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new</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Action</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PrintArray</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Console</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.ReadLine</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lang="en-IN" sz="2400" dirty="0"/>
          </a:p>
        </p:txBody>
      </p:sp>
    </p:spTree>
    <p:extLst>
      <p:ext uri="{BB962C8B-B14F-4D97-AF65-F5344CB8AC3E}">
        <p14:creationId xmlns:p14="http://schemas.microsoft.com/office/powerpoint/2010/main" val="2362707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230375-8D23-4F04-9470-B5DF53687B55}"/>
              </a:ext>
            </a:extLst>
          </p:cNvPr>
          <p:cNvSpPr txBox="1"/>
          <p:nvPr/>
        </p:nvSpPr>
        <p:spPr>
          <a:xfrm>
            <a:off x="344128" y="677181"/>
            <a:ext cx="11543071" cy="923330"/>
          </a:xfrm>
          <a:prstGeom prst="rect">
            <a:avLst/>
          </a:prstGeom>
          <a:noFill/>
        </p:spPr>
        <p:txBody>
          <a:bodyPr wrap="square">
            <a:spAutoFit/>
          </a:bodyPr>
          <a:lstStyle/>
          <a:p>
            <a:r>
              <a:rPr lang="en-US" dirty="0"/>
              <a:t>We used the </a:t>
            </a:r>
            <a:r>
              <a:rPr lang="en-US" dirty="0" err="1"/>
              <a:t>System.Threading.Tasks.Parallel.Invoke</a:t>
            </a:r>
            <a:r>
              <a:rPr lang="en-US" dirty="0"/>
              <a:t>() to call methods that did not return a value. However for methods that return a value, you would need to use the Task(</a:t>
            </a:r>
            <a:r>
              <a:rPr lang="en-US" dirty="0" err="1"/>
              <a:t>TResult</a:t>
            </a:r>
            <a:r>
              <a:rPr lang="en-US" dirty="0"/>
              <a:t>) class which represents an asynchronous operation that can return a value</a:t>
            </a:r>
          </a:p>
        </p:txBody>
      </p:sp>
      <p:sp>
        <p:nvSpPr>
          <p:cNvPr id="7" name="TextBox 6">
            <a:extLst>
              <a:ext uri="{FF2B5EF4-FFF2-40B4-BE49-F238E27FC236}">
                <a16:creationId xmlns:a16="http://schemas.microsoft.com/office/drawing/2014/main" id="{03E0A0B9-CEBC-4BB9-863E-8C98A921C363}"/>
              </a:ext>
            </a:extLst>
          </p:cNvPr>
          <p:cNvSpPr txBox="1"/>
          <p:nvPr/>
        </p:nvSpPr>
        <p:spPr>
          <a:xfrm>
            <a:off x="2949677" y="0"/>
            <a:ext cx="6096000" cy="369332"/>
          </a:xfrm>
          <a:prstGeom prst="rect">
            <a:avLst/>
          </a:prstGeom>
          <a:noFill/>
        </p:spPr>
        <p:txBody>
          <a:bodyPr wrap="square">
            <a:spAutoFit/>
          </a:bodyPr>
          <a:lstStyle/>
          <a:p>
            <a:pPr algn="ctr"/>
            <a:r>
              <a:rPr lang="en-US" b="1" dirty="0" err="1"/>
              <a:t>Parallel.Invoke</a:t>
            </a:r>
            <a:r>
              <a:rPr lang="en-US" b="1" dirty="0"/>
              <a:t>() which return result</a:t>
            </a:r>
            <a:endParaRPr lang="en-IN" b="1" dirty="0"/>
          </a:p>
        </p:txBody>
      </p:sp>
      <p:sp>
        <p:nvSpPr>
          <p:cNvPr id="9" name="TextBox 8">
            <a:extLst>
              <a:ext uri="{FF2B5EF4-FFF2-40B4-BE49-F238E27FC236}">
                <a16:creationId xmlns:a16="http://schemas.microsoft.com/office/drawing/2014/main" id="{C0A5B5B3-08D5-45D8-97C2-3A27AD95DDAF}"/>
              </a:ext>
            </a:extLst>
          </p:cNvPr>
          <p:cNvSpPr txBox="1"/>
          <p:nvPr/>
        </p:nvSpPr>
        <p:spPr>
          <a:xfrm>
            <a:off x="0" y="2082339"/>
            <a:ext cx="5299589" cy="3693319"/>
          </a:xfrm>
          <a:prstGeom prst="rect">
            <a:avLst/>
          </a:prstGeom>
          <a:noFill/>
        </p:spPr>
        <p:txBody>
          <a:bodyPr wrap="square">
            <a:spAutoFit/>
          </a:bodyPr>
          <a:lstStyle/>
          <a:p>
            <a:r>
              <a:rPr lang="en-IN" dirty="0"/>
              <a:t>using </a:t>
            </a:r>
            <a:r>
              <a:rPr lang="en-IN" dirty="0" err="1"/>
              <a:t>System.Threading</a:t>
            </a:r>
            <a:r>
              <a:rPr lang="en-IN" dirty="0"/>
              <a:t>;</a:t>
            </a:r>
          </a:p>
          <a:p>
            <a:r>
              <a:rPr lang="en-IN" dirty="0"/>
              <a:t>using </a:t>
            </a:r>
            <a:r>
              <a:rPr lang="en-IN" dirty="0" err="1"/>
              <a:t>System.Threading.Tasks</a:t>
            </a:r>
            <a:r>
              <a:rPr lang="en-IN" dirty="0"/>
              <a:t>;</a:t>
            </a:r>
          </a:p>
          <a:p>
            <a:r>
              <a:rPr lang="en-IN" dirty="0"/>
              <a:t>static </a:t>
            </a:r>
            <a:r>
              <a:rPr lang="en-IN" dirty="0">
                <a:highlight>
                  <a:srgbClr val="FFFF00"/>
                </a:highlight>
              </a:rPr>
              <a:t>int</a:t>
            </a:r>
            <a:r>
              <a:rPr lang="en-IN" dirty="0"/>
              <a:t> </a:t>
            </a:r>
            <a:r>
              <a:rPr lang="en-IN" dirty="0" err="1"/>
              <a:t>GenerateNumbers</a:t>
            </a:r>
            <a:r>
              <a:rPr lang="en-IN" dirty="0"/>
              <a:t>()</a:t>
            </a:r>
          </a:p>
          <a:p>
            <a:r>
              <a:rPr lang="en-IN" dirty="0"/>
              <a:t>{</a:t>
            </a:r>
          </a:p>
          <a:p>
            <a:r>
              <a:rPr lang="en-IN" dirty="0"/>
              <a:t>    int </a:t>
            </a:r>
            <a:r>
              <a:rPr lang="en-IN" dirty="0" err="1"/>
              <a:t>i</a:t>
            </a:r>
            <a:r>
              <a:rPr lang="en-IN" dirty="0"/>
              <a:t>;</a:t>
            </a:r>
          </a:p>
          <a:p>
            <a:r>
              <a:rPr lang="en-IN" dirty="0"/>
              <a:t>    for (</a:t>
            </a:r>
            <a:r>
              <a:rPr lang="en-IN" dirty="0" err="1"/>
              <a:t>i</a:t>
            </a:r>
            <a:r>
              <a:rPr lang="en-IN" dirty="0"/>
              <a:t> = 0; </a:t>
            </a:r>
            <a:r>
              <a:rPr lang="en-IN" dirty="0" err="1"/>
              <a:t>i</a:t>
            </a:r>
            <a:r>
              <a:rPr lang="en-IN" dirty="0"/>
              <a:t> &lt; 7; </a:t>
            </a:r>
            <a:r>
              <a:rPr lang="en-IN" dirty="0" err="1"/>
              <a:t>i</a:t>
            </a:r>
            <a:r>
              <a:rPr lang="en-IN" dirty="0"/>
              <a:t>++)</a:t>
            </a:r>
          </a:p>
          <a:p>
            <a:r>
              <a:rPr lang="en-IN" dirty="0"/>
              <a:t>    {</a:t>
            </a:r>
          </a:p>
          <a:p>
            <a:r>
              <a:rPr lang="en-IN" dirty="0"/>
              <a:t>        </a:t>
            </a:r>
            <a:r>
              <a:rPr lang="en-IN" dirty="0" err="1"/>
              <a:t>Console.WriteLine</a:t>
            </a:r>
            <a:r>
              <a:rPr lang="en-IN" dirty="0"/>
              <a:t>("Method1 - Number: {0}", </a:t>
            </a:r>
            <a:r>
              <a:rPr lang="en-IN" dirty="0" err="1"/>
              <a:t>i</a:t>
            </a:r>
            <a:r>
              <a:rPr lang="en-IN" dirty="0"/>
              <a:t>);</a:t>
            </a:r>
          </a:p>
          <a:p>
            <a:r>
              <a:rPr lang="en-IN" dirty="0"/>
              <a:t>        </a:t>
            </a:r>
            <a:r>
              <a:rPr lang="en-IN" dirty="0" err="1"/>
              <a:t>Thread.Sleep</a:t>
            </a:r>
            <a:r>
              <a:rPr lang="en-IN" dirty="0"/>
              <a:t>(1000);</a:t>
            </a:r>
          </a:p>
          <a:p>
            <a:r>
              <a:rPr lang="en-IN" dirty="0"/>
              <a:t>    }</a:t>
            </a:r>
          </a:p>
          <a:p>
            <a:r>
              <a:rPr lang="en-IN" dirty="0"/>
              <a:t>    return </a:t>
            </a:r>
            <a:r>
              <a:rPr lang="en-IN" dirty="0" err="1"/>
              <a:t>i</a:t>
            </a:r>
            <a:r>
              <a:rPr lang="en-IN" dirty="0"/>
              <a:t>;</a:t>
            </a:r>
          </a:p>
          <a:p>
            <a:r>
              <a:rPr lang="en-IN" dirty="0"/>
              <a:t>}</a:t>
            </a:r>
          </a:p>
          <a:p>
            <a:r>
              <a:rPr lang="en-IN" dirty="0"/>
              <a:t> </a:t>
            </a:r>
          </a:p>
        </p:txBody>
      </p:sp>
      <p:sp>
        <p:nvSpPr>
          <p:cNvPr id="11" name="TextBox 10">
            <a:extLst>
              <a:ext uri="{FF2B5EF4-FFF2-40B4-BE49-F238E27FC236}">
                <a16:creationId xmlns:a16="http://schemas.microsoft.com/office/drawing/2014/main" id="{FD6E0799-3CBD-49A1-B142-680AD6734A89}"/>
              </a:ext>
            </a:extLst>
          </p:cNvPr>
          <p:cNvSpPr txBox="1"/>
          <p:nvPr/>
        </p:nvSpPr>
        <p:spPr>
          <a:xfrm>
            <a:off x="5601929" y="1117034"/>
            <a:ext cx="6110748" cy="5909310"/>
          </a:xfrm>
          <a:prstGeom prst="rect">
            <a:avLst/>
          </a:prstGeom>
          <a:noFill/>
        </p:spPr>
        <p:txBody>
          <a:bodyPr wrap="square">
            <a:spAutoFit/>
          </a:bodyPr>
          <a:lstStyle/>
          <a:p>
            <a:endParaRPr lang="en-IN" dirty="0"/>
          </a:p>
          <a:p>
            <a:r>
              <a:rPr lang="en-IN" dirty="0"/>
              <a:t>static </a:t>
            </a:r>
            <a:r>
              <a:rPr lang="en-IN" dirty="0">
                <a:highlight>
                  <a:srgbClr val="FFFF00"/>
                </a:highlight>
              </a:rPr>
              <a:t>string</a:t>
            </a:r>
            <a:r>
              <a:rPr lang="en-IN" dirty="0"/>
              <a:t> </a:t>
            </a:r>
            <a:r>
              <a:rPr lang="en-IN" dirty="0" err="1"/>
              <a:t>PrintCharacters</a:t>
            </a:r>
            <a:r>
              <a:rPr lang="en-IN" dirty="0"/>
              <a:t>()</a:t>
            </a:r>
          </a:p>
          <a:p>
            <a:r>
              <a:rPr lang="en-IN" dirty="0"/>
              <a:t>{</a:t>
            </a:r>
          </a:p>
          <a:p>
            <a:r>
              <a:rPr lang="en-IN" dirty="0"/>
              <a:t>    string str = "dotnet";</a:t>
            </a:r>
          </a:p>
          <a:p>
            <a:r>
              <a:rPr lang="en-IN" dirty="0"/>
              <a:t>    for (int </a:t>
            </a:r>
            <a:r>
              <a:rPr lang="en-IN" dirty="0" err="1"/>
              <a:t>i</a:t>
            </a:r>
            <a:r>
              <a:rPr lang="en-IN" dirty="0"/>
              <a:t> = 0; </a:t>
            </a:r>
            <a:r>
              <a:rPr lang="en-IN" dirty="0" err="1"/>
              <a:t>i</a:t>
            </a:r>
            <a:r>
              <a:rPr lang="en-IN" dirty="0"/>
              <a:t> &lt; </a:t>
            </a:r>
            <a:r>
              <a:rPr lang="en-IN" dirty="0" err="1"/>
              <a:t>str.Length</a:t>
            </a:r>
            <a:r>
              <a:rPr lang="en-IN" dirty="0"/>
              <a:t>; </a:t>
            </a:r>
            <a:r>
              <a:rPr lang="en-IN" dirty="0" err="1"/>
              <a:t>i</a:t>
            </a:r>
            <a:r>
              <a:rPr lang="en-IN" dirty="0"/>
              <a:t>++)</a:t>
            </a:r>
          </a:p>
          <a:p>
            <a:r>
              <a:rPr lang="en-IN" dirty="0"/>
              <a:t>    {</a:t>
            </a:r>
          </a:p>
          <a:p>
            <a:r>
              <a:rPr lang="en-IN" dirty="0"/>
              <a:t>        </a:t>
            </a:r>
            <a:r>
              <a:rPr lang="en-IN" dirty="0" err="1"/>
              <a:t>Console.WriteLine</a:t>
            </a:r>
            <a:r>
              <a:rPr lang="en-IN" dirty="0"/>
              <a:t>("Method2 - Character: {0}", str[</a:t>
            </a:r>
            <a:r>
              <a:rPr lang="en-IN" dirty="0" err="1"/>
              <a:t>i</a:t>
            </a:r>
            <a:r>
              <a:rPr lang="en-IN" dirty="0"/>
              <a:t>]);</a:t>
            </a:r>
          </a:p>
          <a:p>
            <a:r>
              <a:rPr lang="en-IN" dirty="0"/>
              <a:t>        </a:t>
            </a:r>
            <a:r>
              <a:rPr lang="en-IN" dirty="0" err="1"/>
              <a:t>Thread.Sleep</a:t>
            </a:r>
            <a:r>
              <a:rPr lang="en-IN" dirty="0"/>
              <a:t>(1000);</a:t>
            </a:r>
          </a:p>
          <a:p>
            <a:r>
              <a:rPr lang="en-IN" dirty="0"/>
              <a:t>    }</a:t>
            </a:r>
          </a:p>
          <a:p>
            <a:r>
              <a:rPr lang="en-IN" dirty="0"/>
              <a:t>    return str;</a:t>
            </a:r>
          </a:p>
          <a:p>
            <a:r>
              <a:rPr lang="en-IN" dirty="0"/>
              <a:t>}</a:t>
            </a:r>
          </a:p>
          <a:p>
            <a:r>
              <a:rPr lang="en-IN" dirty="0"/>
              <a:t> </a:t>
            </a:r>
            <a:r>
              <a:rPr lang="en-IN" dirty="0">
                <a:highlight>
                  <a:srgbClr val="FFFF00"/>
                </a:highlight>
              </a:rPr>
              <a:t>static int </a:t>
            </a:r>
            <a:r>
              <a:rPr lang="en-IN" dirty="0" err="1"/>
              <a:t>PrintArray</a:t>
            </a:r>
            <a:r>
              <a:rPr lang="en-IN" dirty="0"/>
              <a:t>()</a:t>
            </a:r>
          </a:p>
          <a:p>
            <a:r>
              <a:rPr lang="en-IN" dirty="0"/>
              <a:t>{</a:t>
            </a:r>
          </a:p>
          <a:p>
            <a:r>
              <a:rPr lang="en-IN" dirty="0"/>
              <a:t>    int[] </a:t>
            </a:r>
            <a:r>
              <a:rPr lang="en-IN" dirty="0" err="1"/>
              <a:t>arr</a:t>
            </a:r>
            <a:r>
              <a:rPr lang="en-IN" dirty="0"/>
              <a:t> = { 1, 2, 3, 4, 5 };</a:t>
            </a:r>
          </a:p>
          <a:p>
            <a:r>
              <a:rPr lang="en-IN" dirty="0"/>
              <a:t>    foreach (int </a:t>
            </a:r>
            <a:r>
              <a:rPr lang="en-IN" dirty="0" err="1"/>
              <a:t>i</a:t>
            </a:r>
            <a:r>
              <a:rPr lang="en-IN" dirty="0"/>
              <a:t> in </a:t>
            </a:r>
            <a:r>
              <a:rPr lang="en-IN" dirty="0" err="1"/>
              <a:t>arr</a:t>
            </a:r>
            <a:r>
              <a:rPr lang="en-IN" dirty="0"/>
              <a:t>)</a:t>
            </a:r>
          </a:p>
          <a:p>
            <a:r>
              <a:rPr lang="en-IN" dirty="0"/>
              <a:t>    {</a:t>
            </a:r>
          </a:p>
          <a:p>
            <a:r>
              <a:rPr lang="en-IN" dirty="0"/>
              <a:t>        </a:t>
            </a:r>
            <a:r>
              <a:rPr lang="en-IN" dirty="0" err="1"/>
              <a:t>Console.WriteLine</a:t>
            </a:r>
            <a:r>
              <a:rPr lang="en-IN" dirty="0"/>
              <a:t>("Method3 - Array: {0}", </a:t>
            </a:r>
            <a:r>
              <a:rPr lang="en-IN" dirty="0" err="1"/>
              <a:t>i</a:t>
            </a:r>
            <a:r>
              <a:rPr lang="en-IN" dirty="0"/>
              <a:t>);</a:t>
            </a:r>
          </a:p>
          <a:p>
            <a:r>
              <a:rPr lang="en-IN" dirty="0"/>
              <a:t>        </a:t>
            </a:r>
            <a:r>
              <a:rPr lang="en-IN" dirty="0" err="1"/>
              <a:t>Thread.Sleep</a:t>
            </a:r>
            <a:r>
              <a:rPr lang="en-IN" dirty="0"/>
              <a:t>(1000);</a:t>
            </a:r>
          </a:p>
          <a:p>
            <a:r>
              <a:rPr lang="en-IN" dirty="0"/>
              <a:t>    }</a:t>
            </a:r>
          </a:p>
          <a:p>
            <a:r>
              <a:rPr lang="en-IN" dirty="0"/>
              <a:t>    return </a:t>
            </a:r>
            <a:r>
              <a:rPr lang="en-IN" dirty="0" err="1"/>
              <a:t>arr.Count</a:t>
            </a:r>
            <a:r>
              <a:rPr lang="en-IN" dirty="0"/>
              <a:t>();</a:t>
            </a:r>
          </a:p>
          <a:p>
            <a:r>
              <a:rPr lang="en-IN" dirty="0"/>
              <a:t>}</a:t>
            </a:r>
          </a:p>
        </p:txBody>
      </p:sp>
    </p:spTree>
    <p:extLst>
      <p:ext uri="{BB962C8B-B14F-4D97-AF65-F5344CB8AC3E}">
        <p14:creationId xmlns:p14="http://schemas.microsoft.com/office/powerpoint/2010/main" val="2293549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D820E6-9B1C-4D30-A396-13714A1B86BA}"/>
              </a:ext>
            </a:extLst>
          </p:cNvPr>
          <p:cNvSpPr txBox="1"/>
          <p:nvPr/>
        </p:nvSpPr>
        <p:spPr>
          <a:xfrm>
            <a:off x="403123" y="334297"/>
            <a:ext cx="6685935" cy="5632311"/>
          </a:xfrm>
          <a:prstGeom prst="rect">
            <a:avLst/>
          </a:prstGeom>
          <a:noFill/>
        </p:spPr>
        <p:txBody>
          <a:bodyPr wrap="square">
            <a:spAutoFit/>
          </a:bodyPr>
          <a:lstStyle/>
          <a:p>
            <a:endParaRPr lang="en-US" dirty="0"/>
          </a:p>
          <a:p>
            <a:r>
              <a:rPr lang="en-US" dirty="0"/>
              <a:t>Approach 1: Use the constructor of the Task(Of </a:t>
            </a:r>
            <a:r>
              <a:rPr lang="en-US" dirty="0" err="1"/>
              <a:t>TResult</a:t>
            </a:r>
            <a:r>
              <a:rPr lang="en-US" dirty="0"/>
              <a:t>) class to initialize the task but execute it later. Here’s an example</a:t>
            </a:r>
          </a:p>
          <a:p>
            <a:r>
              <a:rPr lang="en-US" dirty="0"/>
              <a:t>C#</a:t>
            </a:r>
          </a:p>
          <a:p>
            <a:r>
              <a:rPr lang="en-US" dirty="0"/>
              <a:t>static void Main(string[] </a:t>
            </a:r>
            <a:r>
              <a:rPr lang="en-US" dirty="0" err="1"/>
              <a:t>args</a:t>
            </a:r>
            <a:r>
              <a:rPr lang="en-US" dirty="0"/>
              <a:t>)</a:t>
            </a:r>
          </a:p>
          <a:p>
            <a:r>
              <a:rPr lang="en-US" dirty="0"/>
              <a:t>{</a:t>
            </a:r>
          </a:p>
          <a:p>
            <a:r>
              <a:rPr lang="en-US" dirty="0"/>
              <a:t>    // Create the Tasks</a:t>
            </a:r>
          </a:p>
          <a:p>
            <a:r>
              <a:rPr lang="en-US" dirty="0"/>
              <a:t>    Task&lt;int&gt; t1 = new Task&lt;int&gt;(</a:t>
            </a:r>
            <a:r>
              <a:rPr lang="en-US" dirty="0" err="1"/>
              <a:t>GenerateNumbers</a:t>
            </a:r>
            <a:r>
              <a:rPr lang="en-US" dirty="0"/>
              <a:t>);</a:t>
            </a:r>
          </a:p>
          <a:p>
            <a:r>
              <a:rPr lang="en-US" dirty="0"/>
              <a:t>    Task&lt;string&gt; t2 = new Task&lt;string&gt;(</a:t>
            </a:r>
            <a:r>
              <a:rPr lang="en-US" dirty="0" err="1"/>
              <a:t>PrintCharacters</a:t>
            </a:r>
            <a:r>
              <a:rPr lang="en-US" dirty="0"/>
              <a:t>);</a:t>
            </a:r>
          </a:p>
          <a:p>
            <a:r>
              <a:rPr lang="en-US" dirty="0"/>
              <a:t>    Task&lt;int&gt; t3 = new Task&lt;int&gt;(</a:t>
            </a:r>
            <a:r>
              <a:rPr lang="en-US" dirty="0" err="1"/>
              <a:t>PrintArray</a:t>
            </a:r>
            <a:r>
              <a:rPr lang="en-US" dirty="0"/>
              <a:t>);</a:t>
            </a:r>
          </a:p>
          <a:p>
            <a:r>
              <a:rPr lang="en-US" dirty="0"/>
              <a:t>    // Start the tasks</a:t>
            </a:r>
          </a:p>
          <a:p>
            <a:r>
              <a:rPr lang="en-US" dirty="0"/>
              <a:t>    t1.Start();</a:t>
            </a:r>
          </a:p>
          <a:p>
            <a:r>
              <a:rPr lang="en-US" dirty="0"/>
              <a:t>    t2.Start();</a:t>
            </a:r>
          </a:p>
          <a:p>
            <a:r>
              <a:rPr lang="en-US" dirty="0"/>
              <a:t>    t3.Start();</a:t>
            </a:r>
          </a:p>
          <a:p>
            <a:r>
              <a:rPr lang="en-US" dirty="0"/>
              <a:t>    //Print Return Value</a:t>
            </a:r>
          </a:p>
          <a:p>
            <a:r>
              <a:rPr lang="en-US" dirty="0"/>
              <a:t>    </a:t>
            </a:r>
            <a:r>
              <a:rPr lang="en-US" dirty="0" err="1"/>
              <a:t>Console.WriteLine</a:t>
            </a:r>
            <a:r>
              <a:rPr lang="en-US" dirty="0"/>
              <a:t>("Numbers generated till {0}", t1.</a:t>
            </a:r>
            <a:r>
              <a:rPr lang="en-US" dirty="0">
                <a:highlight>
                  <a:srgbClr val="FFFF00"/>
                </a:highlight>
              </a:rPr>
              <a:t>Result)</a:t>
            </a:r>
            <a:r>
              <a:rPr lang="en-US" dirty="0"/>
              <a:t>;</a:t>
            </a:r>
          </a:p>
          <a:p>
            <a:r>
              <a:rPr lang="en-US" dirty="0"/>
              <a:t>    </a:t>
            </a:r>
            <a:r>
              <a:rPr lang="en-US" dirty="0" err="1"/>
              <a:t>Console.WriteLine</a:t>
            </a:r>
            <a:r>
              <a:rPr lang="en-US" dirty="0"/>
              <a:t>("Original String {0}", t2.Result);</a:t>
            </a:r>
          </a:p>
          <a:p>
            <a:r>
              <a:rPr lang="en-US" dirty="0"/>
              <a:t>    </a:t>
            </a:r>
            <a:r>
              <a:rPr lang="en-US" dirty="0" err="1"/>
              <a:t>Console.WriteLine</a:t>
            </a:r>
            <a:r>
              <a:rPr lang="en-US" dirty="0"/>
              <a:t>("Array Count {0}", t3.Result);</a:t>
            </a:r>
          </a:p>
          <a:p>
            <a:r>
              <a:rPr lang="en-US" dirty="0"/>
              <a:t>    </a:t>
            </a:r>
            <a:r>
              <a:rPr lang="en-US" dirty="0" err="1"/>
              <a:t>Console.ReadLine</a:t>
            </a:r>
            <a:r>
              <a:rPr lang="en-US" dirty="0"/>
              <a:t>();</a:t>
            </a:r>
          </a:p>
          <a:p>
            <a:r>
              <a:rPr lang="en-US" dirty="0"/>
              <a:t>}</a:t>
            </a:r>
            <a:endParaRPr lang="en-IN" dirty="0"/>
          </a:p>
        </p:txBody>
      </p:sp>
      <p:sp>
        <p:nvSpPr>
          <p:cNvPr id="2" name="Rectangle 1">
            <a:extLst>
              <a:ext uri="{FF2B5EF4-FFF2-40B4-BE49-F238E27FC236}">
                <a16:creationId xmlns:a16="http://schemas.microsoft.com/office/drawing/2014/main" id="{3D6242A2-C442-4950-A9BF-48BD4A823DD7}"/>
              </a:ext>
            </a:extLst>
          </p:cNvPr>
          <p:cNvSpPr/>
          <p:nvPr/>
        </p:nvSpPr>
        <p:spPr>
          <a:xfrm>
            <a:off x="8495071" y="1071716"/>
            <a:ext cx="1632155" cy="1632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1DF9A60F-00A6-4AA3-AB95-D7152509F651}"/>
              </a:ext>
            </a:extLst>
          </p:cNvPr>
          <p:cNvSpPr/>
          <p:nvPr/>
        </p:nvSpPr>
        <p:spPr>
          <a:xfrm>
            <a:off x="9001432" y="2005779"/>
            <a:ext cx="786580" cy="45228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Result</a:t>
            </a:r>
          </a:p>
        </p:txBody>
      </p:sp>
      <p:sp>
        <p:nvSpPr>
          <p:cNvPr id="4" name="Rectangle 3">
            <a:extLst>
              <a:ext uri="{FF2B5EF4-FFF2-40B4-BE49-F238E27FC236}">
                <a16:creationId xmlns:a16="http://schemas.microsoft.com/office/drawing/2014/main" id="{BA27AE37-4A72-4C9E-A44E-FD13128C75E9}"/>
              </a:ext>
            </a:extLst>
          </p:cNvPr>
          <p:cNvSpPr/>
          <p:nvPr/>
        </p:nvSpPr>
        <p:spPr>
          <a:xfrm>
            <a:off x="6789174" y="1671483"/>
            <a:ext cx="806245" cy="6685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t1</a:t>
            </a:r>
          </a:p>
        </p:txBody>
      </p:sp>
      <p:cxnSp>
        <p:nvCxnSpPr>
          <p:cNvPr id="7" name="Straight Arrow Connector 6">
            <a:extLst>
              <a:ext uri="{FF2B5EF4-FFF2-40B4-BE49-F238E27FC236}">
                <a16:creationId xmlns:a16="http://schemas.microsoft.com/office/drawing/2014/main" id="{014F3B7D-57CE-4F1B-9CAE-380C32F968FA}"/>
              </a:ext>
            </a:extLst>
          </p:cNvPr>
          <p:cNvCxnSpPr/>
          <p:nvPr/>
        </p:nvCxnSpPr>
        <p:spPr>
          <a:xfrm flipV="1">
            <a:off x="7580671" y="1740310"/>
            <a:ext cx="914400" cy="147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939356E-044A-4E22-80E8-AA32F49A0A64}"/>
              </a:ext>
            </a:extLst>
          </p:cNvPr>
          <p:cNvSpPr/>
          <p:nvPr/>
        </p:nvSpPr>
        <p:spPr>
          <a:xfrm>
            <a:off x="9193161" y="1317523"/>
            <a:ext cx="639097" cy="3539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22A661E-21D9-45FF-BFC1-FB62222487C2}"/>
              </a:ext>
            </a:extLst>
          </p:cNvPr>
          <p:cNvSpPr/>
          <p:nvPr/>
        </p:nvSpPr>
        <p:spPr>
          <a:xfrm>
            <a:off x="10530348" y="983227"/>
            <a:ext cx="1445342" cy="5014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A7E518A3-5CA8-4ED1-9F9A-669EF9EFCD9F}"/>
              </a:ext>
            </a:extLst>
          </p:cNvPr>
          <p:cNvSpPr txBox="1"/>
          <p:nvPr/>
        </p:nvSpPr>
        <p:spPr>
          <a:xfrm>
            <a:off x="10127225" y="521110"/>
            <a:ext cx="1946787" cy="369332"/>
          </a:xfrm>
          <a:prstGeom prst="rect">
            <a:avLst/>
          </a:prstGeom>
          <a:noFill/>
        </p:spPr>
        <p:txBody>
          <a:bodyPr wrap="square" rtlCol="0">
            <a:spAutoFit/>
          </a:bodyPr>
          <a:lstStyle/>
          <a:p>
            <a:r>
              <a:rPr lang="en-IN" dirty="0" err="1"/>
              <a:t>GenerateNumbers</a:t>
            </a:r>
            <a:endParaRPr lang="en-IN" dirty="0"/>
          </a:p>
        </p:txBody>
      </p:sp>
      <p:cxnSp>
        <p:nvCxnSpPr>
          <p:cNvPr id="12" name="Straight Arrow Connector 11">
            <a:extLst>
              <a:ext uri="{FF2B5EF4-FFF2-40B4-BE49-F238E27FC236}">
                <a16:creationId xmlns:a16="http://schemas.microsoft.com/office/drawing/2014/main" id="{09F89BAE-6A3A-4562-BC41-587B66CB72B3}"/>
              </a:ext>
            </a:extLst>
          </p:cNvPr>
          <p:cNvCxnSpPr>
            <a:stCxn id="8" idx="3"/>
            <a:endCxn id="9" idx="1"/>
          </p:cNvCxnSpPr>
          <p:nvPr/>
        </p:nvCxnSpPr>
        <p:spPr>
          <a:xfrm flipV="1">
            <a:off x="9832258" y="1233949"/>
            <a:ext cx="698090" cy="260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6249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BB6C32-51F5-433C-A7BE-B3632F6F03FF}"/>
              </a:ext>
            </a:extLst>
          </p:cNvPr>
          <p:cNvSpPr txBox="1"/>
          <p:nvPr/>
        </p:nvSpPr>
        <p:spPr>
          <a:xfrm>
            <a:off x="294968" y="294968"/>
            <a:ext cx="11523406" cy="5632311"/>
          </a:xfrm>
          <a:prstGeom prst="rect">
            <a:avLst/>
          </a:prstGeom>
          <a:noFill/>
        </p:spPr>
        <p:txBody>
          <a:bodyPr wrap="square">
            <a:spAutoFit/>
          </a:bodyPr>
          <a:lstStyle/>
          <a:p>
            <a:endParaRPr lang="en-IN" dirty="0"/>
          </a:p>
          <a:p>
            <a:endParaRPr lang="en-IN" dirty="0"/>
          </a:p>
          <a:p>
            <a:r>
              <a:rPr lang="en-IN" dirty="0"/>
              <a:t>Approach 2: We can save a step here and also improve performance by using Task&lt;&gt;.</a:t>
            </a:r>
            <a:r>
              <a:rPr lang="en-IN" dirty="0" err="1"/>
              <a:t>Factory.StartNew</a:t>
            </a:r>
            <a:r>
              <a:rPr lang="en-IN" dirty="0"/>
              <a:t>() to initialize and execute the task at the same time. Here’s an example</a:t>
            </a:r>
          </a:p>
          <a:p>
            <a:endParaRPr lang="en-IN" dirty="0"/>
          </a:p>
          <a:p>
            <a:r>
              <a:rPr lang="en-IN" dirty="0"/>
              <a:t>C#</a:t>
            </a:r>
          </a:p>
          <a:p>
            <a:r>
              <a:rPr lang="en-IN" dirty="0"/>
              <a:t>static void Main(string[] </a:t>
            </a:r>
            <a:r>
              <a:rPr lang="en-IN" dirty="0" err="1"/>
              <a:t>args</a:t>
            </a:r>
            <a:r>
              <a:rPr lang="en-IN" dirty="0"/>
              <a:t>)</a:t>
            </a:r>
          </a:p>
          <a:p>
            <a:r>
              <a:rPr lang="en-IN" dirty="0"/>
              <a:t>{</a:t>
            </a:r>
          </a:p>
          <a:p>
            <a:r>
              <a:rPr lang="en-IN" dirty="0"/>
              <a:t>    // Create and execute the Tasks</a:t>
            </a:r>
          </a:p>
          <a:p>
            <a:r>
              <a:rPr lang="en-IN" dirty="0"/>
              <a:t>    var t1 = Task&lt;int&gt;.</a:t>
            </a:r>
            <a:r>
              <a:rPr lang="en-IN" dirty="0" err="1"/>
              <a:t>Factory.StartNew</a:t>
            </a:r>
            <a:r>
              <a:rPr lang="en-IN" dirty="0"/>
              <a:t>(() =&gt; </a:t>
            </a:r>
            <a:r>
              <a:rPr lang="en-IN" dirty="0" err="1"/>
              <a:t>GenerateNumbers</a:t>
            </a:r>
            <a:r>
              <a:rPr lang="en-IN" dirty="0"/>
              <a:t>());</a:t>
            </a:r>
          </a:p>
          <a:p>
            <a:r>
              <a:rPr lang="en-IN" dirty="0"/>
              <a:t>    var t2 = Task&lt;string&gt;.</a:t>
            </a:r>
            <a:r>
              <a:rPr lang="en-IN" dirty="0" err="1"/>
              <a:t>Factory.StartNew</a:t>
            </a:r>
            <a:r>
              <a:rPr lang="en-IN" dirty="0"/>
              <a:t>(() =&gt; </a:t>
            </a:r>
            <a:r>
              <a:rPr lang="en-IN" dirty="0" err="1"/>
              <a:t>PrintCharacters</a:t>
            </a:r>
            <a:r>
              <a:rPr lang="en-IN" dirty="0"/>
              <a:t>());</a:t>
            </a:r>
          </a:p>
          <a:p>
            <a:r>
              <a:rPr lang="en-IN" dirty="0"/>
              <a:t>    var t3 = Task&lt;int&gt;.</a:t>
            </a:r>
            <a:r>
              <a:rPr lang="en-IN" dirty="0" err="1"/>
              <a:t>Factory.StartNew</a:t>
            </a:r>
            <a:r>
              <a:rPr lang="en-IN" dirty="0"/>
              <a:t>(() =&gt; </a:t>
            </a:r>
            <a:r>
              <a:rPr lang="en-IN" dirty="0" err="1"/>
              <a:t>PrintArray</a:t>
            </a:r>
            <a:r>
              <a:rPr lang="en-IN" dirty="0"/>
              <a:t>());</a:t>
            </a:r>
          </a:p>
          <a:p>
            <a:r>
              <a:rPr lang="en-IN" dirty="0"/>
              <a:t>   </a:t>
            </a:r>
          </a:p>
          <a:p>
            <a:r>
              <a:rPr lang="en-IN" dirty="0"/>
              <a:t>    //Print Return Value</a:t>
            </a:r>
          </a:p>
          <a:p>
            <a:r>
              <a:rPr lang="en-IN" dirty="0"/>
              <a:t>    </a:t>
            </a:r>
            <a:r>
              <a:rPr lang="en-IN" dirty="0" err="1"/>
              <a:t>Console.WriteLine</a:t>
            </a:r>
            <a:r>
              <a:rPr lang="en-IN" dirty="0"/>
              <a:t>("Numbers generated till {0}", t1.Result);</a:t>
            </a:r>
          </a:p>
          <a:p>
            <a:r>
              <a:rPr lang="en-IN" dirty="0"/>
              <a:t>    </a:t>
            </a:r>
            <a:r>
              <a:rPr lang="en-IN" dirty="0" err="1"/>
              <a:t>Console.WriteLine</a:t>
            </a:r>
            <a:r>
              <a:rPr lang="en-IN" dirty="0"/>
              <a:t>("Original String {0}", t2.Result);</a:t>
            </a:r>
          </a:p>
          <a:p>
            <a:r>
              <a:rPr lang="en-IN" dirty="0"/>
              <a:t>    </a:t>
            </a:r>
            <a:r>
              <a:rPr lang="en-IN" dirty="0" err="1"/>
              <a:t>Console.WriteLine</a:t>
            </a:r>
            <a:r>
              <a:rPr lang="en-IN" dirty="0"/>
              <a:t>("Array Count {0}", t3.Result);</a:t>
            </a:r>
          </a:p>
          <a:p>
            <a:r>
              <a:rPr lang="en-IN" dirty="0"/>
              <a:t>    </a:t>
            </a:r>
            <a:r>
              <a:rPr lang="en-IN" dirty="0" err="1"/>
              <a:t>Console.ReadLine</a:t>
            </a:r>
            <a:r>
              <a:rPr lang="en-IN" dirty="0"/>
              <a:t>();</a:t>
            </a:r>
          </a:p>
          <a:p>
            <a:r>
              <a:rPr lang="en-IN" dirty="0"/>
              <a:t>}</a:t>
            </a:r>
          </a:p>
          <a:p>
            <a:r>
              <a:rPr lang="en-IN" dirty="0"/>
              <a:t> </a:t>
            </a:r>
          </a:p>
        </p:txBody>
      </p:sp>
    </p:spTree>
    <p:extLst>
      <p:ext uri="{BB962C8B-B14F-4D97-AF65-F5344CB8AC3E}">
        <p14:creationId xmlns:p14="http://schemas.microsoft.com/office/powerpoint/2010/main" val="2679083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FE606D5-4D01-526A-D0FB-44E9EA59FA2B}"/>
              </a:ext>
            </a:extLst>
          </p:cNvPr>
          <p:cNvSpPr txBox="1"/>
          <p:nvPr/>
        </p:nvSpPr>
        <p:spPr>
          <a:xfrm>
            <a:off x="1800520" y="1366888"/>
            <a:ext cx="8700940" cy="1200329"/>
          </a:xfrm>
          <a:prstGeom prst="rect">
            <a:avLst/>
          </a:prstGeom>
          <a:noFill/>
        </p:spPr>
        <p:txBody>
          <a:bodyPr wrap="square">
            <a:spAutoFit/>
          </a:bodyPr>
          <a:lstStyle/>
          <a:p>
            <a:r>
              <a:rPr lang="en-IN" sz="1800" dirty="0" err="1">
                <a:solidFill>
                  <a:srgbClr val="000000"/>
                </a:solidFill>
                <a:latin typeface="Cascadia Mono" panose="020B0609020000020004" pitchFamily="49" charset="0"/>
              </a:rPr>
              <a:t>Parallel.For</a:t>
            </a:r>
            <a:r>
              <a:rPr lang="en-IN" sz="1800" dirty="0">
                <a:solidFill>
                  <a:srgbClr val="000000"/>
                </a:solidFill>
                <a:latin typeface="Cascadia Mono" panose="020B0609020000020004" pitchFamily="49" charset="0"/>
              </a:rPr>
              <a:t>(1, 11, number =&gt;</a:t>
            </a: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Console.WriteLine</a:t>
            </a:r>
            <a:r>
              <a:rPr lang="en-IN" sz="1800" dirty="0">
                <a:solidFill>
                  <a:srgbClr val="000000"/>
                </a:solidFill>
                <a:latin typeface="Cascadia Mono" panose="020B0609020000020004" pitchFamily="49" charset="0"/>
              </a:rPr>
              <a:t>(number);</a:t>
            </a:r>
          </a:p>
          <a:p>
            <a:r>
              <a:rPr lang="en-IN" sz="1800" dirty="0">
                <a:solidFill>
                  <a:srgbClr val="000000"/>
                </a:solidFill>
                <a:latin typeface="Cascadia Mono" panose="020B0609020000020004" pitchFamily="49" charset="0"/>
              </a:rPr>
              <a:t>        });</a:t>
            </a:r>
            <a:endParaRPr lang="en-IN" dirty="0"/>
          </a:p>
        </p:txBody>
      </p:sp>
    </p:spTree>
    <p:extLst>
      <p:ext uri="{BB962C8B-B14F-4D97-AF65-F5344CB8AC3E}">
        <p14:creationId xmlns:p14="http://schemas.microsoft.com/office/powerpoint/2010/main" val="23696971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2577</TotalTime>
  <Words>3539</Words>
  <Application>Microsoft Office PowerPoint</Application>
  <PresentationFormat>Widescreen</PresentationFormat>
  <Paragraphs>452</Paragraphs>
  <Slides>18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Calibri</vt:lpstr>
      <vt:lpstr>Calibri Light</vt:lpstr>
      <vt:lpstr>Cascadia Mono</vt:lpstr>
      <vt:lpstr>Google Sans</vt:lpstr>
      <vt:lpstr>open sans</vt:lpstr>
      <vt:lpstr>Roboto</vt:lpstr>
      <vt:lpstr>Segoe UI</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Atharva Mhargude</cp:lastModifiedBy>
  <cp:revision>27</cp:revision>
  <dcterms:created xsi:type="dcterms:W3CDTF">2021-09-29T05:33:28Z</dcterms:created>
  <dcterms:modified xsi:type="dcterms:W3CDTF">2025-10-14T05:02:03Z</dcterms:modified>
</cp:coreProperties>
</file>