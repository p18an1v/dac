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67" r:id="rId2"/>
    <p:sldId id="269" r:id="rId3"/>
    <p:sldId id="273" r:id="rId4"/>
    <p:sldId id="270" r:id="rId5"/>
    <p:sldId id="296" r:id="rId6"/>
    <p:sldId id="271" r:id="rId7"/>
    <p:sldId id="272" r:id="rId8"/>
    <p:sldId id="274" r:id="rId9"/>
    <p:sldId id="298" r:id="rId10"/>
    <p:sldId id="299" r:id="rId11"/>
    <p:sldId id="300" r:id="rId12"/>
    <p:sldId id="275" r:id="rId13"/>
    <p:sldId id="276" r:id="rId14"/>
    <p:sldId id="279" r:id="rId15"/>
    <p:sldId id="280" r:id="rId16"/>
    <p:sldId id="281" r:id="rId17"/>
    <p:sldId id="282" r:id="rId18"/>
    <p:sldId id="277" r:id="rId19"/>
    <p:sldId id="278" r:id="rId20"/>
    <p:sldId id="284" r:id="rId21"/>
    <p:sldId id="292" r:id="rId22"/>
    <p:sldId id="283" r:id="rId23"/>
    <p:sldId id="301" r:id="rId24"/>
    <p:sldId id="285" r:id="rId25"/>
    <p:sldId id="286" r:id="rId26"/>
    <p:sldId id="297" r:id="rId27"/>
    <p:sldId id="287" r:id="rId28"/>
    <p:sldId id="289" r:id="rId29"/>
    <p:sldId id="288" r:id="rId30"/>
    <p:sldId id="293" r:id="rId31"/>
    <p:sldId id="302" r:id="rId32"/>
    <p:sldId id="294" r:id="rId33"/>
    <p:sldId id="295" r:id="rId34"/>
    <p:sldId id="303" r:id="rId35"/>
    <p:sldId id="304" r:id="rId36"/>
    <p:sldId id="305"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38" y="1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933575-20B5-4F4C-B092-A7C803135F9E}" type="datetimeFigureOut">
              <a:rPr lang="en-IN" smtClean="0"/>
              <a:t>08-10-2025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5962C-5821-4F66-B503-D958CFFF057C}" type="slidenum">
              <a:rPr lang="en-IN" smtClean="0"/>
              <a:t>‹#›</a:t>
            </a:fld>
            <a:endParaRPr lang="en-IN"/>
          </a:p>
        </p:txBody>
      </p:sp>
    </p:spTree>
    <p:extLst>
      <p:ext uri="{BB962C8B-B14F-4D97-AF65-F5344CB8AC3E}">
        <p14:creationId xmlns:p14="http://schemas.microsoft.com/office/powerpoint/2010/main" val="439803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95962C-5821-4F66-B503-D958CFFF057C}" type="slidenum">
              <a:rPr lang="en-IN" smtClean="0"/>
              <a:t>12</a:t>
            </a:fld>
            <a:endParaRPr lang="en-IN"/>
          </a:p>
        </p:txBody>
      </p:sp>
    </p:spTree>
    <p:extLst>
      <p:ext uri="{BB962C8B-B14F-4D97-AF65-F5344CB8AC3E}">
        <p14:creationId xmlns:p14="http://schemas.microsoft.com/office/powerpoint/2010/main" val="1907453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95962C-5821-4F66-B503-D958CFFF057C}" type="slidenum">
              <a:rPr lang="en-IN" smtClean="0"/>
              <a:t>15</a:t>
            </a:fld>
            <a:endParaRPr lang="en-IN"/>
          </a:p>
        </p:txBody>
      </p:sp>
    </p:spTree>
    <p:extLst>
      <p:ext uri="{BB962C8B-B14F-4D97-AF65-F5344CB8AC3E}">
        <p14:creationId xmlns:p14="http://schemas.microsoft.com/office/powerpoint/2010/main" val="3569100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95962C-5821-4F66-B503-D958CFFF057C}" type="slidenum">
              <a:rPr lang="en-IN" smtClean="0"/>
              <a:t>17</a:t>
            </a:fld>
            <a:endParaRPr lang="en-IN"/>
          </a:p>
        </p:txBody>
      </p:sp>
    </p:spTree>
    <p:extLst>
      <p:ext uri="{BB962C8B-B14F-4D97-AF65-F5344CB8AC3E}">
        <p14:creationId xmlns:p14="http://schemas.microsoft.com/office/powerpoint/2010/main" val="613158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049FE38-F050-47FC-972A-2C62A7FE0238}"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49FE38-F050-47FC-972A-2C62A7FE0238}"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49FE38-F050-47FC-972A-2C62A7FE0238}" type="datetimeFigureOut">
              <a:rPr lang="en-US" smtClean="0"/>
              <a:pPr/>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49FE38-F050-47FC-972A-2C62A7FE0238}" type="datetimeFigureOut">
              <a:rPr lang="en-US" smtClean="0"/>
              <a:pPr/>
              <a:t>10/8/2025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49FE38-F050-47FC-972A-2C62A7FE0238}" type="datetimeFigureOut">
              <a:rPr lang="en-US" smtClean="0"/>
              <a:pPr/>
              <a:t>10/8/2025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49FE38-F050-47FC-972A-2C62A7FE0238}" type="datetimeFigureOut">
              <a:rPr lang="en-US" smtClean="0"/>
              <a:pPr/>
              <a:t>10/8/2025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49FE38-F050-47FC-972A-2C62A7FE0238}" type="datetimeFigureOut">
              <a:rPr lang="en-US" smtClean="0"/>
              <a:pPr/>
              <a:t>10/8/2025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750578-D8D6-4767-8C49-4EFFCBD988B0}" type="slidenum">
              <a:rPr lang="en-US" smtClean="0"/>
              <a:pPr/>
              <a:t>‹#›</a:t>
            </a:fld>
            <a:endParaRPr lang="en-US"/>
          </a:p>
        </p:txBody>
      </p:sp>
      <p:pic>
        <p:nvPicPr>
          <p:cNvPr id="8" name="Picture 7">
            <a:extLst>
              <a:ext uri="{FF2B5EF4-FFF2-40B4-BE49-F238E27FC236}">
                <a16:creationId xmlns:a16="http://schemas.microsoft.com/office/drawing/2014/main" id="{5F35BFC4-6EE2-4A43-98E9-146BD6B5190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1DC139F7-30EE-4C3C-BBF4-BAD32D2B5D66}"/>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314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1543050" y="3886201"/>
            <a:ext cx="2457450" cy="715581"/>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a:t>ketkiacharya</a:t>
            </a:r>
            <a:r>
              <a:rPr lang="en-IN" sz="1350"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3A6AF8-DF1E-496E-814F-37CE4D963D72}"/>
              </a:ext>
            </a:extLst>
          </p:cNvPr>
          <p:cNvSpPr>
            <a:spLocks noGrp="1"/>
          </p:cNvSpPr>
          <p:nvPr>
            <p:ph idx="1"/>
          </p:nvPr>
        </p:nvSpPr>
        <p:spPr>
          <a:xfrm>
            <a:off x="685800" y="76200"/>
            <a:ext cx="8229600" cy="6629400"/>
          </a:xfrm>
        </p:spPr>
        <p:txBody>
          <a:bodyPr>
            <a:noAutofit/>
          </a:bodyPr>
          <a:lstStyle/>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To help overcome the limitations of a simple array, the .NET base class libraries ship with a number of namespaces containing </a:t>
            </a:r>
            <a:r>
              <a:rPr lang="en-IN" sz="1800" i="1" dirty="0">
                <a:effectLst/>
                <a:latin typeface="Cambria" panose="02040503050406030204" pitchFamily="18" charset="0"/>
                <a:ea typeface="Calibri" panose="020F0502020204030204" pitchFamily="34" charset="0"/>
                <a:cs typeface="Utopia-Italic"/>
              </a:rPr>
              <a:t>collection classes</a:t>
            </a:r>
            <a:r>
              <a:rPr lang="en-IN" sz="1800" dirty="0">
                <a:effectLst/>
                <a:latin typeface="Cambria" panose="02040503050406030204" pitchFamily="18" charset="0"/>
                <a:ea typeface="Calibri" panose="020F0502020204030204" pitchFamily="34" charset="0"/>
                <a:cs typeface="Utopia-Regular"/>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 Unlike a simple C# array, collection classes are built to dynamically </a:t>
            </a:r>
            <a:r>
              <a:rPr lang="en-IN" sz="1800" b="1" dirty="0">
                <a:effectLst/>
                <a:latin typeface="Cambria" panose="02040503050406030204" pitchFamily="18" charset="0"/>
                <a:ea typeface="Calibri" panose="020F0502020204030204" pitchFamily="34" charset="0"/>
                <a:cs typeface="Utopia-Regular"/>
              </a:rPr>
              <a:t>resize </a:t>
            </a:r>
            <a:r>
              <a:rPr lang="en-IN" sz="1800" dirty="0">
                <a:effectLst/>
                <a:latin typeface="Cambria" panose="02040503050406030204" pitchFamily="18" charset="0"/>
                <a:ea typeface="Calibri" panose="020F0502020204030204" pitchFamily="34" charset="0"/>
                <a:cs typeface="Utopia-Regular"/>
              </a:rPr>
              <a:t>themselves </a:t>
            </a:r>
            <a:r>
              <a:rPr lang="en-IN" sz="1800" b="1" dirty="0">
                <a:effectLst/>
                <a:latin typeface="Cambria" panose="02040503050406030204" pitchFamily="18" charset="0"/>
                <a:ea typeface="Calibri" panose="020F0502020204030204" pitchFamily="34" charset="0"/>
                <a:cs typeface="Utopia-Regular"/>
              </a:rPr>
              <a:t>on the fly </a:t>
            </a:r>
            <a:r>
              <a:rPr lang="en-IN" sz="1800" dirty="0">
                <a:effectLst/>
                <a:latin typeface="Cambria" panose="02040503050406030204" pitchFamily="18" charset="0"/>
                <a:ea typeface="Calibri" panose="020F0502020204030204" pitchFamily="34" charset="0"/>
                <a:cs typeface="Utopia-Regular"/>
              </a:rPr>
              <a:t>as you insert or remove items.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 Moreover, many of the collection classes offer increased type safety and are highly optimized to process the contained data in a memory efficient manner.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Generic collections (primarily found in the </a:t>
            </a:r>
            <a:r>
              <a:rPr lang="en-IN" sz="1800" dirty="0" err="1">
                <a:effectLst/>
                <a:latin typeface="Cambria" panose="02040503050406030204" pitchFamily="18" charset="0"/>
                <a:ea typeface="Calibri" panose="020F0502020204030204" pitchFamily="34" charset="0"/>
                <a:cs typeface="TheSansMonoConNormal"/>
              </a:rPr>
              <a:t>System.Collections.Generic</a:t>
            </a:r>
            <a:r>
              <a:rPr lang="en-IN" sz="1800" dirty="0">
                <a:effectLst/>
                <a:latin typeface="Cambria" panose="02040503050406030204" pitchFamily="18" charset="0"/>
                <a:ea typeface="Calibri" panose="020F0502020204030204" pitchFamily="34" charset="0"/>
                <a:cs typeface="TheSansMonoConNormal"/>
              </a:rPr>
              <a:t> </a:t>
            </a:r>
            <a:r>
              <a:rPr lang="en-IN" sz="1800" dirty="0">
                <a:effectLst/>
                <a:latin typeface="Cambria" panose="02040503050406030204" pitchFamily="18" charset="0"/>
                <a:ea typeface="Calibri" panose="020F0502020204030204" pitchFamily="34" charset="0"/>
                <a:cs typeface="Utopia-Regular"/>
              </a:rPr>
              <a:t>namespace)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 Generics provide better performance because they do not result in boxing or unboxing penalties when storing value types.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Generics are type safe because they can contain only the type of type you specify.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Symbol" panose="05050102010706020507" pitchFamily="18" charset="2"/>
              </a:rPr>
              <a:t> </a:t>
            </a:r>
            <a:r>
              <a:rPr lang="en-IN" sz="1800" dirty="0">
                <a:effectLst/>
                <a:latin typeface="Cambria" panose="02040503050406030204" pitchFamily="18" charset="0"/>
                <a:ea typeface="Calibri" panose="020F0502020204030204" pitchFamily="34" charset="0"/>
                <a:cs typeface="Utopia-Regular"/>
              </a:rPr>
              <a:t>Generics greatly reduce the need to build custom collection types because you specify the “type of type” when creating the generic container.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11430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99765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FFDAFF-FA04-40EC-9443-31324BD73F55}"/>
              </a:ext>
            </a:extLst>
          </p:cNvPr>
          <p:cNvSpPr>
            <a:spLocks noGrp="1"/>
          </p:cNvSpPr>
          <p:nvPr>
            <p:ph idx="1"/>
          </p:nvPr>
        </p:nvSpPr>
        <p:spPr>
          <a:xfrm>
            <a:off x="457200" y="762000"/>
            <a:ext cx="8229600" cy="5364163"/>
          </a:xfrm>
        </p:spPr>
        <p:txBody>
          <a:bodyPr>
            <a:normAutofit fontScale="92500" lnSpcReduction="10000"/>
          </a:bodyPr>
          <a:lstStyle/>
          <a:p>
            <a:r>
              <a:rPr lang="en-IN" dirty="0">
                <a:latin typeface="+mj-lt"/>
              </a:rPr>
              <a:t>You will  see the use of collection class when you retrieve data from data base.</a:t>
            </a:r>
          </a:p>
          <a:p>
            <a:endParaRPr lang="en-IN" dirty="0">
              <a:latin typeface="+mj-lt"/>
            </a:endParaRPr>
          </a:p>
          <a:p>
            <a:r>
              <a:rPr lang="en-IN" dirty="0" err="1">
                <a:latin typeface="+mj-lt"/>
              </a:rPr>
              <a:t>Eg</a:t>
            </a:r>
            <a:r>
              <a:rPr lang="en-IN" dirty="0">
                <a:latin typeface="+mj-lt"/>
              </a:rPr>
              <a:t> display all employee or customer detail.</a:t>
            </a:r>
          </a:p>
          <a:p>
            <a:r>
              <a:rPr lang="en-IN" dirty="0">
                <a:latin typeface="+mj-lt"/>
              </a:rPr>
              <a:t>You have to fetch this data and map to Employee class or Customer class.</a:t>
            </a:r>
          </a:p>
          <a:p>
            <a:endParaRPr lang="en-IN" dirty="0">
              <a:latin typeface="+mj-lt"/>
            </a:endParaRPr>
          </a:p>
          <a:p>
            <a:r>
              <a:rPr lang="en-IN" dirty="0">
                <a:latin typeface="+mj-lt"/>
              </a:rPr>
              <a:t>Now think what will be the size of Array its difficult to judge so we need flexible train which can grow as per our data, in such scenario we use collection class</a:t>
            </a:r>
          </a:p>
        </p:txBody>
      </p:sp>
    </p:spTree>
    <p:extLst>
      <p:ext uri="{BB962C8B-B14F-4D97-AF65-F5344CB8AC3E}">
        <p14:creationId xmlns:p14="http://schemas.microsoft.com/office/powerpoint/2010/main" val="673568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680A52D-C95B-4A24-9C8E-4D876E7A4BC4}"/>
              </a:ext>
            </a:extLst>
          </p:cNvPr>
          <p:cNvGraphicFramePr>
            <a:graphicFrameLocks noGrp="1"/>
          </p:cNvGraphicFramePr>
          <p:nvPr>
            <p:ph idx="1"/>
            <p:extLst>
              <p:ext uri="{D42A27DB-BD31-4B8C-83A1-F6EECF244321}">
                <p14:modId xmlns:p14="http://schemas.microsoft.com/office/powerpoint/2010/main" val="542766311"/>
              </p:ext>
            </p:extLst>
          </p:nvPr>
        </p:nvGraphicFramePr>
        <p:xfrm>
          <a:off x="381000" y="1371600"/>
          <a:ext cx="8382000" cy="3886199"/>
        </p:xfrm>
        <a:graphic>
          <a:graphicData uri="http://schemas.openxmlformats.org/drawingml/2006/table">
            <a:tbl>
              <a:tblPr firstRow="1" firstCol="1" bandRow="1"/>
              <a:tblGrid>
                <a:gridCol w="1521887">
                  <a:extLst>
                    <a:ext uri="{9D8B030D-6E8A-4147-A177-3AD203B41FA5}">
                      <a16:colId xmlns:a16="http://schemas.microsoft.com/office/drawing/2014/main" val="384898120"/>
                    </a:ext>
                  </a:extLst>
                </a:gridCol>
                <a:gridCol w="1583246">
                  <a:extLst>
                    <a:ext uri="{9D8B030D-6E8A-4147-A177-3AD203B41FA5}">
                      <a16:colId xmlns:a16="http://schemas.microsoft.com/office/drawing/2014/main" val="2313027509"/>
                    </a:ext>
                  </a:extLst>
                </a:gridCol>
                <a:gridCol w="1522816">
                  <a:extLst>
                    <a:ext uri="{9D8B030D-6E8A-4147-A177-3AD203B41FA5}">
                      <a16:colId xmlns:a16="http://schemas.microsoft.com/office/drawing/2014/main" val="2994620021"/>
                    </a:ext>
                  </a:extLst>
                </a:gridCol>
                <a:gridCol w="1466107">
                  <a:extLst>
                    <a:ext uri="{9D8B030D-6E8A-4147-A177-3AD203B41FA5}">
                      <a16:colId xmlns:a16="http://schemas.microsoft.com/office/drawing/2014/main" val="3599670507"/>
                    </a:ext>
                  </a:extLst>
                </a:gridCol>
                <a:gridCol w="1180887">
                  <a:extLst>
                    <a:ext uri="{9D8B030D-6E8A-4147-A177-3AD203B41FA5}">
                      <a16:colId xmlns:a16="http://schemas.microsoft.com/office/drawing/2014/main" val="122332396"/>
                    </a:ext>
                  </a:extLst>
                </a:gridCol>
                <a:gridCol w="1107057">
                  <a:extLst>
                    <a:ext uri="{9D8B030D-6E8A-4147-A177-3AD203B41FA5}">
                      <a16:colId xmlns:a16="http://schemas.microsoft.com/office/drawing/2014/main" val="1438934769"/>
                    </a:ext>
                  </a:extLst>
                </a:gridCol>
              </a:tblGrid>
              <a:tr h="423714">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List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Sorted List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Dictionary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Sorted Dictionary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000" u="none" strike="noStrike" dirty="0">
                          <a:solidFill>
                            <a:schemeClr val="tx1"/>
                          </a:solidFill>
                          <a:effectLst/>
                          <a:latin typeface="Consolas" panose="020B0609020204030204" pitchFamily="49" charset="0"/>
                          <a:ea typeface="Calibri" panose="020F0502020204030204" pitchFamily="34" charset="0"/>
                          <a:cs typeface="Times New Roman" panose="02020603050405020304" pitchFamily="18" charset="0"/>
                        </a:rPr>
                        <a:t>HashSet&lt;T&gt;</a:t>
                      </a:r>
                      <a:endParaRPr lang="en-IN" sz="1100" u="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000" u="none" strike="noStrike" dirty="0" err="1">
                          <a:solidFill>
                            <a:schemeClr val="tx1"/>
                          </a:solidFill>
                          <a:effectLst/>
                          <a:latin typeface="Consolas" panose="020B0609020204030204" pitchFamily="49" charset="0"/>
                          <a:ea typeface="Calibri" panose="020F0502020204030204" pitchFamily="34" charset="0"/>
                          <a:cs typeface="Times New Roman" panose="02020603050405020304" pitchFamily="18" charset="0"/>
                        </a:rPr>
                        <a:t>SortedSet</a:t>
                      </a:r>
                      <a:r>
                        <a:rPr lang="en-IN" sz="1000" u="none" strike="noStrike" dirty="0">
                          <a:solidFill>
                            <a:schemeClr val="tx1"/>
                          </a:solidFill>
                          <a:effectLst/>
                          <a:latin typeface="Consolas" panose="020B0609020204030204" pitchFamily="49" charset="0"/>
                          <a:ea typeface="Calibri" panose="020F0502020204030204" pitchFamily="34" charset="0"/>
                          <a:cs typeface="Times New Roman" panose="02020603050405020304" pitchFamily="18" charset="0"/>
                        </a:rPr>
                        <a:t>&lt;T&gt;</a:t>
                      </a:r>
                      <a:endParaRPr lang="en-IN" sz="1100" u="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5176667"/>
                  </a:ext>
                </a:extLst>
              </a:tr>
              <a:tr h="580852">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Array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Array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Hash Table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Binary Search Tree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u="none" dirty="0">
                          <a:solidFill>
                            <a:schemeClr val="tx1"/>
                          </a:solidFill>
                          <a:effectLst/>
                          <a:latin typeface="Helvetica" panose="020B0604020202020204" pitchFamily="34" charset="0"/>
                          <a:ea typeface="Calibri" panose="020F0502020204030204" pitchFamily="34" charset="0"/>
                          <a:cs typeface="Times New Roman" panose="02020603050405020304" pitchFamily="18" charset="0"/>
                        </a:rPr>
                        <a:t>Hash table</a:t>
                      </a:r>
                      <a:endParaRPr lang="en-IN" sz="1100" u="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000" u="none" strike="noStrike" dirty="0">
                          <a:solidFill>
                            <a:schemeClr val="tx1"/>
                          </a:solidFill>
                          <a:effectLst/>
                          <a:latin typeface="Helvetica" panose="020B0604020202020204" pitchFamily="34" charset="0"/>
                          <a:ea typeface="Calibri" panose="020F0502020204030204" pitchFamily="34" charset="0"/>
                          <a:cs typeface="Times New Roman" panose="02020603050405020304" pitchFamily="18" charset="0"/>
                        </a:rPr>
                        <a:t>Red-black tree</a:t>
                      </a:r>
                      <a:endParaRPr lang="en-IN" sz="1100" u="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4182471"/>
                  </a:ext>
                </a:extLst>
              </a:tr>
              <a:tr h="207063">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2288341"/>
                  </a:ext>
                </a:extLst>
              </a:tr>
              <a:tr h="207063">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indexed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Indexed/Key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indexed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indexed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indexed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274644"/>
                  </a:ext>
                </a:extLst>
              </a:tr>
              <a:tr h="207063">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7811552"/>
                  </a:ext>
                </a:extLst>
              </a:tr>
              <a:tr h="857014">
                <a:tc>
                  <a:txBody>
                    <a:bodyPr/>
                    <a:lstStyle/>
                    <a:p>
                      <a:pPr>
                        <a:lnSpc>
                          <a:spcPct val="107000"/>
                        </a:lnSpc>
                        <a:spcAft>
                          <a:spcPts val="800"/>
                        </a:spcAft>
                      </a:pP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Duplicate </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Value </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Duplicate Key </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 </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Duplicate  Key </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Duplicate Key</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not</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Duplicate </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value not</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Dnot</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IN" sz="1100"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uplicate</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value </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740737"/>
                  </a:ext>
                </a:extLst>
              </a:tr>
              <a:tr h="763067">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Null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 can not be null</a:t>
                      </a:r>
                    </a:p>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 can be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 can not be null</a:t>
                      </a:r>
                    </a:p>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 can be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 can not be null</a:t>
                      </a:r>
                    </a:p>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 can be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Null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Null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461254"/>
                  </a:ext>
                </a:extLst>
              </a:tr>
              <a:tr h="640363">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Order of insertion maintained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Order of insertion not maintained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Order of insertion not maintained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5464739"/>
                  </a:ext>
                </a:extLst>
              </a:tr>
            </a:tbl>
          </a:graphicData>
        </a:graphic>
      </p:graphicFrame>
      <p:sp>
        <p:nvSpPr>
          <p:cNvPr id="2" name="TextBox 1">
            <a:extLst>
              <a:ext uri="{FF2B5EF4-FFF2-40B4-BE49-F238E27FC236}">
                <a16:creationId xmlns:a16="http://schemas.microsoft.com/office/drawing/2014/main" id="{2F00BD23-893E-4339-A3B7-79E55B015DD9}"/>
              </a:ext>
            </a:extLst>
          </p:cNvPr>
          <p:cNvSpPr txBox="1"/>
          <p:nvPr/>
        </p:nvSpPr>
        <p:spPr>
          <a:xfrm>
            <a:off x="990600" y="5562600"/>
            <a:ext cx="7391400" cy="369332"/>
          </a:xfrm>
          <a:prstGeom prst="rect">
            <a:avLst/>
          </a:prstGeom>
          <a:noFill/>
        </p:spPr>
        <p:txBody>
          <a:bodyPr wrap="square" rtlCol="0">
            <a:spAutoFit/>
          </a:bodyPr>
          <a:lstStyle/>
          <a:p>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System.Collections.Generic</a:t>
            </a:r>
            <a:r>
              <a:rPr lang="en-IN" sz="1800" dirty="0">
                <a:solidFill>
                  <a:srgbClr val="000000"/>
                </a:solidFill>
                <a:highlight>
                  <a:srgbClr val="FFFFFF"/>
                </a:highlight>
                <a:latin typeface="Consolas" panose="020B0609020204030204" pitchFamily="49" charset="0"/>
              </a:rPr>
              <a:t>;</a:t>
            </a:r>
            <a:endParaRPr lang="en-IN" dirty="0"/>
          </a:p>
        </p:txBody>
      </p:sp>
    </p:spTree>
    <p:extLst>
      <p:ext uri="{BB962C8B-B14F-4D97-AF65-F5344CB8AC3E}">
        <p14:creationId xmlns:p14="http://schemas.microsoft.com/office/powerpoint/2010/main" val="4269633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02D85-BDE4-EFC9-BBDC-A9489E505124}"/>
              </a:ext>
            </a:extLst>
          </p:cNvPr>
          <p:cNvSpPr>
            <a:spLocks noGrp="1"/>
          </p:cNvSpPr>
          <p:nvPr>
            <p:ph type="title"/>
          </p:nvPr>
        </p:nvSpPr>
        <p:spPr>
          <a:xfrm>
            <a:off x="990600" y="274638"/>
            <a:ext cx="7696200" cy="457199"/>
          </a:xfrm>
        </p:spPr>
        <p:txBody>
          <a:bodyPr>
            <a:normAutofit fontScale="90000"/>
          </a:bodyPr>
          <a:lstStyle/>
          <a:p>
            <a:r>
              <a:rPr lang="en-IN" dirty="0"/>
              <a:t>Non Generic</a:t>
            </a:r>
          </a:p>
        </p:txBody>
      </p:sp>
      <p:sp>
        <p:nvSpPr>
          <p:cNvPr id="5" name="TextBox 4">
            <a:extLst>
              <a:ext uri="{FF2B5EF4-FFF2-40B4-BE49-F238E27FC236}">
                <a16:creationId xmlns:a16="http://schemas.microsoft.com/office/drawing/2014/main" id="{DC854530-31FA-D549-97F7-E70E0B5D755E}"/>
              </a:ext>
            </a:extLst>
          </p:cNvPr>
          <p:cNvSpPr txBox="1"/>
          <p:nvPr/>
        </p:nvSpPr>
        <p:spPr>
          <a:xfrm>
            <a:off x="447368" y="609600"/>
            <a:ext cx="5343832" cy="5816977"/>
          </a:xfrm>
          <a:prstGeom prst="rect">
            <a:avLst/>
          </a:prstGeom>
          <a:noFill/>
        </p:spPr>
        <p:txBody>
          <a:bodyPr wrap="square">
            <a:spAutoFit/>
          </a:bodyPr>
          <a:lstStyle/>
          <a:p>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Animal</a:t>
            </a:r>
            <a:r>
              <a:rPr lang="en-IN" sz="1200" dirty="0">
                <a:solidFill>
                  <a:srgbClr val="000000"/>
                </a:solidFill>
                <a:latin typeface="Cascadia Mono" panose="020B0609020000020004" pitchFamily="49" charset="0"/>
              </a:rPr>
              <a:t> {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Employee</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Name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Salary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Employee</a:t>
            </a:r>
            <a:r>
              <a:rPr lang="en-IN" sz="1200" dirty="0">
                <a:solidFill>
                  <a:srgbClr val="000000"/>
                </a:solidFill>
                <a:latin typeface="Cascadia Mono" panose="020B0609020000020004" pitchFamily="49" charset="0"/>
              </a:rPr>
              <a:t>() {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Employee</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nm,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sl</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Name = nm;</a:t>
            </a:r>
          </a:p>
          <a:p>
            <a:r>
              <a:rPr lang="en-IN" sz="1200" dirty="0">
                <a:solidFill>
                  <a:srgbClr val="000000"/>
                </a:solidFill>
                <a:latin typeface="Cascadia Mono" panose="020B0609020000020004" pitchFamily="49" charset="0"/>
              </a:rPr>
              <a:t>            Salary = </a:t>
            </a:r>
            <a:r>
              <a:rPr lang="en-IN" sz="1200" dirty="0" err="1">
                <a:solidFill>
                  <a:srgbClr val="000000"/>
                </a:solidFill>
                <a:latin typeface="Cascadia Mono" panose="020B0609020000020004" pitchFamily="49" charset="0"/>
              </a:rPr>
              <a:t>sl</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override</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string</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ToString</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String.Format</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"{0} {1}"</a:t>
            </a:r>
            <a:r>
              <a:rPr lang="en-US" sz="1200" dirty="0">
                <a:solidFill>
                  <a:srgbClr val="000000"/>
                </a:solidFill>
                <a:latin typeface="Cascadia Mono" panose="020B0609020000020004" pitchFamily="49" charset="0"/>
              </a:rPr>
              <a:t>, Name, Salary);</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Program</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static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Main(</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args</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ArrayList</a:t>
            </a:r>
            <a:r>
              <a:rPr lang="en-IN"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listemp</a:t>
            </a:r>
            <a:r>
              <a:rPr lang="en-US" sz="1200" dirty="0">
                <a:solidFill>
                  <a:srgbClr val="000000"/>
                </a:solidFill>
                <a:latin typeface="Cascadia Mono" panose="020B0609020000020004" pitchFamily="49" charset="0"/>
              </a:rPr>
              <a:t> </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new</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ArrayList</a:t>
            </a:r>
            <a:r>
              <a:rPr lang="en-IN"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Employee {Name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Mona"</a:t>
            </a:r>
            <a:r>
              <a:rPr lang="en-US" sz="1200" dirty="0" err="1">
                <a:solidFill>
                  <a:srgbClr val="000000"/>
                </a:solidFill>
                <a:latin typeface="Cascadia Mono" panose="020B0609020000020004" pitchFamily="49" charset="0"/>
              </a:rPr>
              <a:t>,Salary</a:t>
            </a:r>
            <a:r>
              <a:rPr lang="en-US" sz="1200" dirty="0">
                <a:solidFill>
                  <a:srgbClr val="000000"/>
                </a:solidFill>
                <a:latin typeface="Cascadia Mono" panose="020B0609020000020004" pitchFamily="49" charset="0"/>
              </a:rPr>
              <a:t> =7000}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Employee {Name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Het"</a:t>
            </a:r>
            <a:r>
              <a:rPr lang="en-US" sz="1200" dirty="0" err="1">
                <a:solidFill>
                  <a:srgbClr val="000000"/>
                </a:solidFill>
                <a:latin typeface="Cascadia Mono" panose="020B0609020000020004" pitchFamily="49" charset="0"/>
              </a:rPr>
              <a:t>,Salary</a:t>
            </a:r>
            <a:r>
              <a:rPr lang="en-US" sz="1200" dirty="0">
                <a:solidFill>
                  <a:srgbClr val="000000"/>
                </a:solidFill>
                <a:latin typeface="Cascadia Mono" panose="020B0609020000020004" pitchFamily="49" charset="0"/>
              </a:rPr>
              <a:t> =3000}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Employee {Name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Raj"</a:t>
            </a:r>
            <a:r>
              <a:rPr lang="en-US" sz="1200" dirty="0" err="1">
                <a:solidFill>
                  <a:srgbClr val="000000"/>
                </a:solidFill>
                <a:latin typeface="Cascadia Mono" panose="020B0609020000020004" pitchFamily="49" charset="0"/>
              </a:rPr>
              <a:t>,Salary</a:t>
            </a:r>
            <a:r>
              <a:rPr lang="en-US" sz="1200" dirty="0">
                <a:solidFill>
                  <a:srgbClr val="000000"/>
                </a:solidFill>
                <a:latin typeface="Cascadia Mono" panose="020B0609020000020004" pitchFamily="49" charset="0"/>
              </a:rPr>
              <a:t> =6000}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listemp</a:t>
            </a:r>
            <a:r>
              <a:rPr lang="en-IN" sz="1200" dirty="0">
                <a:solidFill>
                  <a:srgbClr val="000000"/>
                </a:solidFill>
                <a:latin typeface="Cascadia Mono" panose="020B0609020000020004" pitchFamily="49" charset="0"/>
              </a:rPr>
              <a:t>.Add(</a:t>
            </a:r>
            <a:r>
              <a:rPr lang="en-IN" sz="1200" dirty="0">
                <a:solidFill>
                  <a:srgbClr val="0000FF"/>
                </a:solidFill>
                <a:latin typeface="Cascadia Mono" panose="020B0609020000020004" pitchFamily="49" charset="0"/>
              </a:rPr>
              <a:t>new</a:t>
            </a:r>
            <a:r>
              <a:rPr lang="en-IN" sz="1200" dirty="0">
                <a:solidFill>
                  <a:srgbClr val="000000"/>
                </a:solidFill>
                <a:latin typeface="Cascadia Mono" panose="020B0609020000020004" pitchFamily="49" charset="0"/>
              </a:rPr>
              <a:t> Animal());</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foreach</a:t>
            </a:r>
            <a:r>
              <a:rPr lang="en-US" sz="1200" dirty="0">
                <a:solidFill>
                  <a:srgbClr val="000000"/>
                </a:solidFill>
                <a:latin typeface="Cascadia Mono" panose="020B0609020000020004" pitchFamily="49" charset="0"/>
              </a:rPr>
              <a:t> (Employee e </a:t>
            </a:r>
            <a:r>
              <a:rPr lang="en-US" sz="1200" dirty="0">
                <a:solidFill>
                  <a:srgbClr val="0000FF"/>
                </a:solidFill>
                <a:latin typeface="Cascadia Mono" panose="020B0609020000020004" pitchFamily="49" charset="0"/>
              </a:rPr>
              <a:t>in</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listemp</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Console.WriteLine</a:t>
            </a:r>
            <a:r>
              <a:rPr lang="en-IN" sz="1200" dirty="0">
                <a:solidFill>
                  <a:srgbClr val="000000"/>
                </a:solidFill>
                <a:latin typeface="Cascadia Mono" panose="020B0609020000020004" pitchFamily="49" charset="0"/>
              </a:rPr>
              <a:t>(e);</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endParaRPr lang="en-IN" sz="1200" dirty="0"/>
          </a:p>
        </p:txBody>
      </p:sp>
      <p:sp>
        <p:nvSpPr>
          <p:cNvPr id="3" name="TextBox 2">
            <a:extLst>
              <a:ext uri="{FF2B5EF4-FFF2-40B4-BE49-F238E27FC236}">
                <a16:creationId xmlns:a16="http://schemas.microsoft.com/office/drawing/2014/main" id="{E203A0B2-E067-B50F-54F6-8211676EDDCC}"/>
              </a:ext>
            </a:extLst>
          </p:cNvPr>
          <p:cNvSpPr txBox="1"/>
          <p:nvPr/>
        </p:nvSpPr>
        <p:spPr>
          <a:xfrm>
            <a:off x="4953000" y="2209800"/>
            <a:ext cx="609600" cy="381000"/>
          </a:xfrm>
          <a:prstGeom prst="rect">
            <a:avLst/>
          </a:prstGeom>
          <a:noFill/>
        </p:spPr>
        <p:txBody>
          <a:bodyPr wrap="square" rtlCol="0">
            <a:spAutoFit/>
          </a:bodyPr>
          <a:lstStyle/>
          <a:p>
            <a:r>
              <a:rPr lang="en-US" dirty="0"/>
              <a:t>al</a:t>
            </a:r>
            <a:endParaRPr lang="en-IN" dirty="0"/>
          </a:p>
        </p:txBody>
      </p:sp>
      <p:cxnSp>
        <p:nvCxnSpPr>
          <p:cNvPr id="6" name="Straight Arrow Connector 5">
            <a:extLst>
              <a:ext uri="{FF2B5EF4-FFF2-40B4-BE49-F238E27FC236}">
                <a16:creationId xmlns:a16="http://schemas.microsoft.com/office/drawing/2014/main" id="{B82A702D-E4FE-0D5A-9679-56CB1BDEE55C}"/>
              </a:ext>
            </a:extLst>
          </p:cNvPr>
          <p:cNvCxnSpPr/>
          <p:nvPr/>
        </p:nvCxnSpPr>
        <p:spPr>
          <a:xfrm>
            <a:off x="5334000" y="2362200"/>
            <a:ext cx="533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Table 7">
            <a:extLst>
              <a:ext uri="{FF2B5EF4-FFF2-40B4-BE49-F238E27FC236}">
                <a16:creationId xmlns:a16="http://schemas.microsoft.com/office/drawing/2014/main" id="{E2DAC077-CD92-7A51-5A57-49491312DE25}"/>
              </a:ext>
            </a:extLst>
          </p:cNvPr>
          <p:cNvGraphicFramePr>
            <a:graphicFrameLocks noGrp="1"/>
          </p:cNvGraphicFramePr>
          <p:nvPr>
            <p:extLst>
              <p:ext uri="{D42A27DB-BD31-4B8C-83A1-F6EECF244321}">
                <p14:modId xmlns:p14="http://schemas.microsoft.com/office/powerpoint/2010/main" val="4288498499"/>
              </p:ext>
            </p:extLst>
          </p:nvPr>
        </p:nvGraphicFramePr>
        <p:xfrm>
          <a:off x="6096000" y="1630680"/>
          <a:ext cx="1885950" cy="731520"/>
        </p:xfrm>
        <a:graphic>
          <a:graphicData uri="http://schemas.openxmlformats.org/drawingml/2006/table">
            <a:tbl>
              <a:tblPr firstRow="1" bandRow="1">
                <a:tableStyleId>{5C22544A-7EE6-4342-B048-85BDC9FD1C3A}</a:tableStyleId>
              </a:tblPr>
              <a:tblGrid>
                <a:gridCol w="628650">
                  <a:extLst>
                    <a:ext uri="{9D8B030D-6E8A-4147-A177-3AD203B41FA5}">
                      <a16:colId xmlns:a16="http://schemas.microsoft.com/office/drawing/2014/main" val="852238170"/>
                    </a:ext>
                  </a:extLst>
                </a:gridCol>
                <a:gridCol w="628650">
                  <a:extLst>
                    <a:ext uri="{9D8B030D-6E8A-4147-A177-3AD203B41FA5}">
                      <a16:colId xmlns:a16="http://schemas.microsoft.com/office/drawing/2014/main" val="3316396363"/>
                    </a:ext>
                  </a:extLst>
                </a:gridCol>
                <a:gridCol w="628650">
                  <a:extLst>
                    <a:ext uri="{9D8B030D-6E8A-4147-A177-3AD203B41FA5}">
                      <a16:colId xmlns:a16="http://schemas.microsoft.com/office/drawing/2014/main" val="4151284061"/>
                    </a:ext>
                  </a:extLst>
                </a:gridCol>
              </a:tblGrid>
              <a:tr h="228600">
                <a:tc>
                  <a:txBody>
                    <a:bodyPr/>
                    <a:lstStyle/>
                    <a:p>
                      <a:r>
                        <a:rPr lang="en-US" dirty="0"/>
                        <a:t>0</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3455360952"/>
                  </a:ext>
                </a:extLst>
              </a:tr>
              <a:tr h="228600">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76766877"/>
                  </a:ext>
                </a:extLst>
              </a:tr>
            </a:tbl>
          </a:graphicData>
        </a:graphic>
      </p:graphicFrame>
      <p:cxnSp>
        <p:nvCxnSpPr>
          <p:cNvPr id="9" name="Straight Arrow Connector 8">
            <a:extLst>
              <a:ext uri="{FF2B5EF4-FFF2-40B4-BE49-F238E27FC236}">
                <a16:creationId xmlns:a16="http://schemas.microsoft.com/office/drawing/2014/main" id="{7B861E8B-94E6-C73E-CEC7-4CA45176258B}"/>
              </a:ext>
            </a:extLst>
          </p:cNvPr>
          <p:cNvCxnSpPr/>
          <p:nvPr/>
        </p:nvCxnSpPr>
        <p:spPr>
          <a:xfrm>
            <a:off x="6324600" y="2209800"/>
            <a:ext cx="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3E756A1-CDFD-5E0C-B369-7D438534D29F}"/>
              </a:ext>
            </a:extLst>
          </p:cNvPr>
          <p:cNvSpPr/>
          <p:nvPr/>
        </p:nvSpPr>
        <p:spPr>
          <a:xfrm>
            <a:off x="5867400" y="2971800"/>
            <a:ext cx="762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Mona</a:t>
            </a:r>
          </a:p>
          <a:p>
            <a:pPr algn="ctr"/>
            <a:r>
              <a:rPr lang="en-US" dirty="0"/>
              <a:t>7000</a:t>
            </a:r>
            <a:endParaRPr lang="en-IN" dirty="0"/>
          </a:p>
        </p:txBody>
      </p:sp>
      <p:cxnSp>
        <p:nvCxnSpPr>
          <p:cNvPr id="11" name="Straight Arrow Connector 10">
            <a:extLst>
              <a:ext uri="{FF2B5EF4-FFF2-40B4-BE49-F238E27FC236}">
                <a16:creationId xmlns:a16="http://schemas.microsoft.com/office/drawing/2014/main" id="{33DDCE07-B6AE-95E1-F049-79A6413B9489}"/>
              </a:ext>
            </a:extLst>
          </p:cNvPr>
          <p:cNvCxnSpPr/>
          <p:nvPr/>
        </p:nvCxnSpPr>
        <p:spPr>
          <a:xfrm>
            <a:off x="7010400" y="2266361"/>
            <a:ext cx="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8671105-8938-68C1-35E3-279324192A77}"/>
              </a:ext>
            </a:extLst>
          </p:cNvPr>
          <p:cNvSpPr/>
          <p:nvPr/>
        </p:nvSpPr>
        <p:spPr>
          <a:xfrm>
            <a:off x="6729953" y="3009900"/>
            <a:ext cx="762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Het</a:t>
            </a:r>
          </a:p>
          <a:p>
            <a:pPr algn="ctr"/>
            <a:r>
              <a:rPr lang="en-US" dirty="0"/>
              <a:t>3000</a:t>
            </a:r>
            <a:endParaRPr lang="en-IN" dirty="0"/>
          </a:p>
        </p:txBody>
      </p:sp>
      <p:cxnSp>
        <p:nvCxnSpPr>
          <p:cNvPr id="13" name="Straight Arrow Connector 12">
            <a:extLst>
              <a:ext uri="{FF2B5EF4-FFF2-40B4-BE49-F238E27FC236}">
                <a16:creationId xmlns:a16="http://schemas.microsoft.com/office/drawing/2014/main" id="{2CE235CF-5D13-DD2D-683F-934D455E8BE3}"/>
              </a:ext>
            </a:extLst>
          </p:cNvPr>
          <p:cNvCxnSpPr>
            <a:cxnSpLocks/>
          </p:cNvCxnSpPr>
          <p:nvPr/>
        </p:nvCxnSpPr>
        <p:spPr>
          <a:xfrm>
            <a:off x="7696200" y="2464880"/>
            <a:ext cx="0" cy="4110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6322BCA3-5D8E-055B-DBED-768B1905212A}"/>
              </a:ext>
            </a:extLst>
          </p:cNvPr>
          <p:cNvSpPr/>
          <p:nvPr/>
        </p:nvSpPr>
        <p:spPr>
          <a:xfrm>
            <a:off x="7696200" y="3009900"/>
            <a:ext cx="762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Raj</a:t>
            </a:r>
          </a:p>
          <a:p>
            <a:pPr algn="ctr"/>
            <a:r>
              <a:rPr lang="en-US" dirty="0"/>
              <a:t>6000</a:t>
            </a:r>
            <a:endParaRPr lang="en-IN" dirty="0"/>
          </a:p>
        </p:txBody>
      </p:sp>
      <p:cxnSp>
        <p:nvCxnSpPr>
          <p:cNvPr id="20" name="Straight Arrow Connector 19">
            <a:extLst>
              <a:ext uri="{FF2B5EF4-FFF2-40B4-BE49-F238E27FC236}">
                <a16:creationId xmlns:a16="http://schemas.microsoft.com/office/drawing/2014/main" id="{E6DC889A-6F19-8428-818C-E640D6A6A9E3}"/>
              </a:ext>
            </a:extLst>
          </p:cNvPr>
          <p:cNvCxnSpPr/>
          <p:nvPr/>
        </p:nvCxnSpPr>
        <p:spPr>
          <a:xfrm>
            <a:off x="8743950" y="2362200"/>
            <a:ext cx="0" cy="647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80FE5B4A-9DF9-29DF-DDEC-EC56FAB419E7}"/>
              </a:ext>
            </a:extLst>
          </p:cNvPr>
          <p:cNvSpPr/>
          <p:nvPr/>
        </p:nvSpPr>
        <p:spPr>
          <a:xfrm>
            <a:off x="8663822" y="3200400"/>
            <a:ext cx="685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42500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5ACA0-52B7-4656-A117-D25FFCF63FD5}"/>
              </a:ext>
            </a:extLst>
          </p:cNvPr>
          <p:cNvSpPr>
            <a:spLocks noGrp="1"/>
          </p:cNvSpPr>
          <p:nvPr>
            <p:ph type="title"/>
          </p:nvPr>
        </p:nvSpPr>
        <p:spPr>
          <a:xfrm>
            <a:off x="1066800" y="-51624"/>
            <a:ext cx="2667000" cy="639762"/>
          </a:xfrm>
        </p:spPr>
        <p:txBody>
          <a:bodyPr>
            <a:normAutofit fontScale="90000"/>
          </a:bodyPr>
          <a:lstStyle/>
          <a:p>
            <a:r>
              <a:rPr lang="en-IN" dirty="0"/>
              <a:t>List class</a:t>
            </a:r>
          </a:p>
        </p:txBody>
      </p:sp>
      <p:sp>
        <p:nvSpPr>
          <p:cNvPr id="3" name="Content Placeholder 2">
            <a:extLst>
              <a:ext uri="{FF2B5EF4-FFF2-40B4-BE49-F238E27FC236}">
                <a16:creationId xmlns:a16="http://schemas.microsoft.com/office/drawing/2014/main" id="{F7128749-AC49-43E9-ABAB-A76A59B8F073}"/>
              </a:ext>
            </a:extLst>
          </p:cNvPr>
          <p:cNvSpPr>
            <a:spLocks noGrp="1"/>
          </p:cNvSpPr>
          <p:nvPr>
            <p:ph idx="1"/>
          </p:nvPr>
        </p:nvSpPr>
        <p:spPr>
          <a:xfrm>
            <a:off x="4038599" y="92075"/>
            <a:ext cx="5213555" cy="6613525"/>
          </a:xfrm>
        </p:spPr>
        <p:txBody>
          <a:bodyPr>
            <a:noAutofit/>
          </a:bodyPr>
          <a:lstStyle/>
          <a:p>
            <a:pPr marL="0" indent="0">
              <a:buNone/>
            </a:pP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System;  </a:t>
            </a:r>
          </a:p>
          <a:p>
            <a:pPr marL="0" indent="0">
              <a:buNone/>
            </a:pP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System.Collections.Generic</a:t>
            </a:r>
            <a:r>
              <a:rPr lang="en-IN" sz="1100" dirty="0">
                <a:solidFill>
                  <a:srgbClr val="000000"/>
                </a:solidFill>
                <a:highlight>
                  <a:srgbClr val="FFFFFF"/>
                </a:highlight>
                <a:latin typeface="Consolas" panose="020B0609020204030204" pitchFamily="49" charset="0"/>
              </a:rPr>
              <a:t>;</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GenListDemo</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Main()</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Create a list. </a:t>
            </a:r>
            <a:endParaRPr lang="en-IN" sz="1100" dirty="0">
              <a:solidFill>
                <a:srgbClr val="000000"/>
              </a:solidFill>
              <a:highlight>
                <a:srgbClr val="FFFFFF"/>
              </a:highlight>
              <a:latin typeface="Consolas" panose="020B0609020204030204" pitchFamily="49" charset="0"/>
            </a:endParaRP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List</a:t>
            </a:r>
            <a:r>
              <a:rPr lang="en-US" sz="1100" dirty="0">
                <a:solidFill>
                  <a:srgbClr val="000000"/>
                </a:solidFill>
                <a:highlight>
                  <a:srgbClr val="FFFFFF"/>
                </a:highlight>
                <a:latin typeface="Consolas" panose="020B0609020204030204" pitchFamily="49" charset="0"/>
              </a:rPr>
              <a:t>&lt;</a:t>
            </a:r>
            <a:r>
              <a:rPr lang="en-US" sz="1100" dirty="0">
                <a:solidFill>
                  <a:srgbClr val="0000FF"/>
                </a:solidFill>
                <a:highlight>
                  <a:srgbClr val="FFFFFF"/>
                </a:highlight>
                <a:latin typeface="Consolas" panose="020B0609020204030204" pitchFamily="49" charset="0"/>
              </a:rPr>
              <a:t>char</a:t>
            </a:r>
            <a:r>
              <a:rPr lang="en-US" sz="1100" dirty="0">
                <a:solidFill>
                  <a:srgbClr val="000000"/>
                </a:solidFill>
                <a:highlight>
                  <a:srgbClr val="FFFFFF"/>
                </a:highlight>
                <a:latin typeface="Consolas" panose="020B0609020204030204" pitchFamily="49" charset="0"/>
              </a:rPr>
              <a:t>&gt; </a:t>
            </a:r>
            <a:r>
              <a:rPr lang="en-US" sz="1100" dirty="0" err="1">
                <a:solidFill>
                  <a:srgbClr val="000000"/>
                </a:solidFill>
                <a:highlight>
                  <a:srgbClr val="FFFFFF"/>
                </a:highlight>
                <a:latin typeface="Consolas" panose="020B0609020204030204" pitchFamily="49" charset="0"/>
              </a:rPr>
              <a:t>lst</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List</a:t>
            </a:r>
            <a:r>
              <a:rPr lang="en-US" sz="1100" dirty="0">
                <a:solidFill>
                  <a:srgbClr val="000000"/>
                </a:solidFill>
                <a:highlight>
                  <a:srgbClr val="FFFFFF"/>
                </a:highlight>
                <a:latin typeface="Consolas" panose="020B0609020204030204" pitchFamily="49" charset="0"/>
              </a:rPr>
              <a:t>&lt;</a:t>
            </a:r>
            <a:r>
              <a:rPr lang="en-US" sz="1100" dirty="0">
                <a:solidFill>
                  <a:srgbClr val="0000FF"/>
                </a:solidFill>
                <a:highlight>
                  <a:srgbClr val="FFFFFF"/>
                </a:highlight>
                <a:latin typeface="Consolas" panose="020B0609020204030204" pitchFamily="49" charset="0"/>
              </a:rPr>
              <a:t>char</a:t>
            </a:r>
            <a:r>
              <a:rPr lang="en-US" sz="1100" dirty="0">
                <a:solidFill>
                  <a:srgbClr val="000000"/>
                </a:solidFill>
                <a:highlight>
                  <a:srgbClr val="FFFFFF"/>
                </a:highlight>
                <a:latin typeface="Consolas" panose="020B0609020204030204" pitchFamily="49" charset="0"/>
              </a:rPr>
              <a:t>&gt;();</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"count={0} capacity={1}"</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lst.Count</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lst.Capacity</a:t>
            </a:r>
            <a:r>
              <a:rPr lang="en-IN" sz="1100" dirty="0">
                <a:solidFill>
                  <a:srgbClr val="000000"/>
                </a:solidFill>
                <a:highlight>
                  <a:srgbClr val="FFFFFF"/>
                </a:highlight>
                <a:latin typeface="Consolas" panose="020B0609020204030204" pitchFamily="49" charset="0"/>
              </a:rPr>
              <a:t>);</a:t>
            </a:r>
            <a:r>
              <a:rPr lang="en-IN" sz="1100" dirty="0">
                <a:solidFill>
                  <a:srgbClr val="008000"/>
                </a:solidFill>
                <a:highlight>
                  <a:srgbClr val="FFFFFF"/>
                </a:highlight>
                <a:latin typeface="Consolas" panose="020B0609020204030204" pitchFamily="49" charset="0"/>
              </a:rPr>
              <a:t>//0 0</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"Adding 6 elements"</a:t>
            </a:r>
            <a:r>
              <a:rPr lang="en-IN" sz="1100" dirty="0">
                <a:solidFill>
                  <a:srgbClr val="000000"/>
                </a:solidFill>
                <a:highlight>
                  <a:srgbClr val="FFFFFF"/>
                </a:highlight>
                <a:latin typeface="Consolas" panose="020B0609020204030204" pitchFamily="49" charset="0"/>
              </a:rPr>
              <a:t>);</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 Add elements to the array list  </a:t>
            </a:r>
            <a:endParaRPr lang="en-US"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'C'</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'A'</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'E'</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'B'</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'D'</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'F'</a:t>
            </a:r>
            <a:r>
              <a:rPr lang="en-IN" sz="1100" dirty="0">
                <a:solidFill>
                  <a:srgbClr val="000000"/>
                </a:solidFill>
                <a:highlight>
                  <a:srgbClr val="FFFFFF"/>
                </a:highlight>
                <a:latin typeface="Consolas" panose="020B0609020204030204" pitchFamily="49" charset="0"/>
              </a:rPr>
              <a:t>);</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"count={0} capacity={1}"</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lst.Count</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lst.Capacity</a:t>
            </a:r>
            <a:r>
              <a:rPr lang="en-IN" sz="1100" dirty="0">
                <a:solidFill>
                  <a:srgbClr val="000000"/>
                </a:solidFill>
                <a:highlight>
                  <a:srgbClr val="FFFFFF"/>
                </a:highlight>
                <a:latin typeface="Consolas" panose="020B0609020204030204" pitchFamily="49" charset="0"/>
              </a:rPr>
              <a:t>);</a:t>
            </a:r>
            <a:r>
              <a:rPr lang="en-IN" sz="1100" dirty="0">
                <a:solidFill>
                  <a:srgbClr val="008000"/>
                </a:solidFill>
                <a:highlight>
                  <a:srgbClr val="FFFFFF"/>
                </a:highlight>
                <a:latin typeface="Consolas" panose="020B0609020204030204" pitchFamily="49" charset="0"/>
              </a:rPr>
              <a:t>//6 8</a:t>
            </a:r>
            <a:endParaRPr lang="en-IN" sz="1100" dirty="0">
              <a:solidFill>
                <a:srgbClr val="000000"/>
              </a:solidFill>
              <a:highlight>
                <a:srgbClr val="FFFFFF"/>
              </a:highlight>
              <a:latin typeface="Consolas" panose="020B0609020204030204" pitchFamily="49" charset="0"/>
            </a:endParaRP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 Display the array list using array indexing.  </a:t>
            </a:r>
            <a:endParaRPr lang="en-US"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"Current contents: "</a:t>
            </a:r>
            <a:r>
              <a:rPr lang="en-IN" sz="1100" dirty="0">
                <a:solidFill>
                  <a:srgbClr val="000000"/>
                </a:solidFill>
                <a:highlight>
                  <a:srgbClr val="FFFFFF"/>
                </a:highlight>
                <a:latin typeface="Consolas" panose="020B0609020204030204" pitchFamily="49" charset="0"/>
              </a:rPr>
              <a:t>);</a:t>
            </a:r>
          </a:p>
          <a:p>
            <a:pPr marL="0" indent="0">
              <a:buNone/>
            </a:pPr>
            <a:r>
              <a:rPr lang="nn-NO" sz="1100" dirty="0">
                <a:solidFill>
                  <a:srgbClr val="000000"/>
                </a:solidFill>
                <a:highlight>
                  <a:srgbClr val="FFFFFF"/>
                </a:highlight>
                <a:latin typeface="Consolas" panose="020B0609020204030204" pitchFamily="49" charset="0"/>
              </a:rPr>
              <a:t>        </a:t>
            </a:r>
            <a:r>
              <a:rPr lang="nn-NO" sz="1100" dirty="0">
                <a:solidFill>
                  <a:srgbClr val="0000FF"/>
                </a:solidFill>
                <a:highlight>
                  <a:srgbClr val="FFFFFF"/>
                </a:highlight>
                <a:latin typeface="Consolas" panose="020B0609020204030204" pitchFamily="49" charset="0"/>
              </a:rPr>
              <a:t>for</a:t>
            </a:r>
            <a:r>
              <a:rPr lang="nn-NO" sz="1100" dirty="0">
                <a:solidFill>
                  <a:srgbClr val="000000"/>
                </a:solidFill>
                <a:highlight>
                  <a:srgbClr val="FFFFFF"/>
                </a:highlight>
                <a:latin typeface="Consolas" panose="020B0609020204030204" pitchFamily="49" charset="0"/>
              </a:rPr>
              <a:t> (</a:t>
            </a:r>
            <a:r>
              <a:rPr lang="nn-NO" sz="1100" dirty="0">
                <a:solidFill>
                  <a:srgbClr val="0000FF"/>
                </a:solidFill>
                <a:highlight>
                  <a:srgbClr val="FFFFFF"/>
                </a:highlight>
                <a:latin typeface="Consolas" panose="020B0609020204030204" pitchFamily="49" charset="0"/>
              </a:rPr>
              <a:t>int</a:t>
            </a:r>
            <a:r>
              <a:rPr lang="nn-NO" sz="1100" dirty="0">
                <a:solidFill>
                  <a:srgbClr val="000000"/>
                </a:solidFill>
                <a:highlight>
                  <a:srgbClr val="FFFFFF"/>
                </a:highlight>
                <a:latin typeface="Consolas" panose="020B0609020204030204" pitchFamily="49" charset="0"/>
              </a:rPr>
              <a:t> i = 0; i &lt; lst.Count; i++)</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lst</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 + </a:t>
            </a:r>
            <a:r>
              <a:rPr lang="en-IN" sz="1100" dirty="0">
                <a:solidFill>
                  <a:srgbClr val="A31515"/>
                </a:solidFill>
                <a:highlight>
                  <a:srgbClr val="FFFFFF"/>
                </a:highlight>
                <a:latin typeface="Consolas" panose="020B0609020204030204" pitchFamily="49" charset="0"/>
              </a:rPr>
              <a:t>" "</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"\n"</a:t>
            </a: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a:t>
            </a:r>
            <a:endParaRPr lang="en-IN" sz="1100" dirty="0"/>
          </a:p>
        </p:txBody>
      </p:sp>
      <p:sp>
        <p:nvSpPr>
          <p:cNvPr id="4" name="TextBox 3">
            <a:extLst>
              <a:ext uri="{FF2B5EF4-FFF2-40B4-BE49-F238E27FC236}">
                <a16:creationId xmlns:a16="http://schemas.microsoft.com/office/drawing/2014/main" id="{DA306B08-754B-4D2F-8D44-D1E6D2E7D268}"/>
              </a:ext>
            </a:extLst>
          </p:cNvPr>
          <p:cNvSpPr txBox="1"/>
          <p:nvPr/>
        </p:nvSpPr>
        <p:spPr>
          <a:xfrm>
            <a:off x="76200" y="751502"/>
            <a:ext cx="4343400" cy="1969770"/>
          </a:xfrm>
          <a:prstGeom prst="rect">
            <a:avLst/>
          </a:prstGeom>
          <a:noFill/>
        </p:spPr>
        <p:txBody>
          <a:bodyPr wrap="square" rtlCol="0">
            <a:spAutoFit/>
          </a:bodyPr>
          <a:lstStyle/>
          <a:p>
            <a:r>
              <a:rPr lang="en-IN" sz="1400" b="1" i="1" dirty="0">
                <a:solidFill>
                  <a:srgbClr val="000000"/>
                </a:solidFill>
                <a:highlight>
                  <a:srgbClr val="FFFFFF"/>
                </a:highlight>
                <a:latin typeface="Consolas" panose="020B0609020204030204" pitchFamily="49" charset="0"/>
              </a:rPr>
              <a:t>Templated created at compile time</a:t>
            </a:r>
          </a:p>
          <a:p>
            <a:endParaRPr lang="en-IN" sz="1200" dirty="0">
              <a:solidFill>
                <a:srgbClr val="000000"/>
              </a:solidFill>
              <a:highlight>
                <a:srgbClr val="FFFFFF"/>
              </a:highlight>
              <a:latin typeface="Consolas" panose="020B0609020204030204" pitchFamily="49" charset="0"/>
            </a:endParaRPr>
          </a:p>
          <a:p>
            <a:r>
              <a:rPr lang="fr-FR" sz="1200" dirty="0">
                <a:solidFill>
                  <a:srgbClr val="0000FF"/>
                </a:solidFill>
                <a:highlight>
                  <a:srgbClr val="FFFFFF"/>
                </a:highlight>
                <a:latin typeface="Consolas" panose="020B0609020204030204" pitchFamily="49" charset="0"/>
              </a:rPr>
              <a:t>public</a:t>
            </a:r>
            <a:r>
              <a:rPr lang="fr-FR" sz="1200" dirty="0">
                <a:solidFill>
                  <a:srgbClr val="000000"/>
                </a:solidFill>
                <a:highlight>
                  <a:srgbClr val="FFFFFF"/>
                </a:highlight>
                <a:latin typeface="Consolas" panose="020B0609020204030204" pitchFamily="49" charset="0"/>
              </a:rPr>
              <a:t> </a:t>
            </a:r>
            <a:r>
              <a:rPr lang="fr-FR" sz="1200" dirty="0">
                <a:solidFill>
                  <a:srgbClr val="0000FF"/>
                </a:solidFill>
                <a:highlight>
                  <a:srgbClr val="FFFFFF"/>
                </a:highlight>
                <a:latin typeface="Consolas" panose="020B0609020204030204" pitchFamily="49" charset="0"/>
              </a:rPr>
              <a:t>class</a:t>
            </a:r>
            <a:r>
              <a:rPr lang="fr-FR" sz="1200" dirty="0">
                <a:solidFill>
                  <a:srgbClr val="000000"/>
                </a:solidFill>
                <a:highlight>
                  <a:srgbClr val="FFFFFF"/>
                </a:highlight>
                <a:latin typeface="Consolas" panose="020B0609020204030204" pitchFamily="49" charset="0"/>
              </a:rPr>
              <a:t> </a:t>
            </a:r>
            <a:r>
              <a:rPr lang="fr-FR" sz="1200" dirty="0">
                <a:solidFill>
                  <a:srgbClr val="2B91AF"/>
                </a:solidFill>
                <a:highlight>
                  <a:srgbClr val="FFFFFF"/>
                </a:highlight>
                <a:latin typeface="Consolas" panose="020B0609020204030204" pitchFamily="49" charset="0"/>
              </a:rPr>
              <a:t>List</a:t>
            </a:r>
            <a:r>
              <a:rPr lang="fr-FR" sz="1200" dirty="0">
                <a:solidFill>
                  <a:srgbClr val="000000"/>
                </a:solidFill>
                <a:highlight>
                  <a:srgbClr val="FFFFFF"/>
                </a:highlight>
                <a:latin typeface="Consolas" panose="020B0609020204030204" pitchFamily="49" charset="0"/>
              </a:rPr>
              <a:t>&lt;</a:t>
            </a:r>
            <a:r>
              <a:rPr lang="fr-FR" sz="1200" dirty="0">
                <a:solidFill>
                  <a:srgbClr val="0000FF"/>
                </a:solidFill>
                <a:highlight>
                  <a:srgbClr val="FFFFFF"/>
                </a:highlight>
                <a:latin typeface="Consolas" panose="020B0609020204030204" pitchFamily="49" charset="0"/>
              </a:rPr>
              <a:t>char</a:t>
            </a:r>
            <a:r>
              <a:rPr lang="fr-FR" sz="1200" dirty="0">
                <a:solidFill>
                  <a:srgbClr val="000000"/>
                </a:solidFill>
                <a:highlight>
                  <a:srgbClr val="FFFFFF"/>
                </a:highlight>
                <a:latin typeface="Consolas" panose="020B0609020204030204" pitchFamily="49" charset="0"/>
              </a:rPr>
              <a:t>&gt; : </a:t>
            </a:r>
            <a:r>
              <a:rPr lang="fr-FR" sz="1200" dirty="0">
                <a:solidFill>
                  <a:srgbClr val="2B91AF"/>
                </a:solidFill>
                <a:highlight>
                  <a:srgbClr val="FFFFFF"/>
                </a:highlight>
                <a:latin typeface="Consolas" panose="020B0609020204030204" pitchFamily="49" charset="0"/>
              </a:rPr>
              <a:t>IList</a:t>
            </a:r>
            <a:r>
              <a:rPr lang="fr-FR" sz="1200" dirty="0">
                <a:solidFill>
                  <a:srgbClr val="000000"/>
                </a:solidFill>
                <a:highlight>
                  <a:srgbClr val="FFFFFF"/>
                </a:highlight>
                <a:latin typeface="Consolas" panose="020B0609020204030204" pitchFamily="49" charset="0"/>
              </a:rPr>
              <a:t>&lt;</a:t>
            </a:r>
            <a:r>
              <a:rPr lang="fr-FR" sz="1200" dirty="0">
                <a:solidFill>
                  <a:srgbClr val="0000FF"/>
                </a:solidFill>
                <a:highlight>
                  <a:srgbClr val="FFFFFF"/>
                </a:highlight>
                <a:latin typeface="Consolas" panose="020B0609020204030204" pitchFamily="49" charset="0"/>
              </a:rPr>
              <a:t>char</a:t>
            </a:r>
            <a:r>
              <a:rPr lang="fr-FR" sz="1200" dirty="0">
                <a:solidFill>
                  <a:srgbClr val="000000"/>
                </a:solidFill>
                <a:highlight>
                  <a:srgbClr val="FFFFFF"/>
                </a:highlight>
                <a:latin typeface="Consolas" panose="020B0609020204030204" pitchFamily="49" charset="0"/>
              </a:rPr>
              <a:t>&gt;, </a:t>
            </a:r>
            <a:r>
              <a:rPr lang="fr-FR" sz="1200" dirty="0">
                <a:solidFill>
                  <a:srgbClr val="2B91AF"/>
                </a:solidFill>
                <a:highlight>
                  <a:srgbClr val="FFFFFF"/>
                </a:highlight>
                <a:latin typeface="Consolas" panose="020B0609020204030204" pitchFamily="49" charset="0"/>
              </a:rPr>
              <a:t>ICollection</a:t>
            </a:r>
            <a:r>
              <a:rPr lang="fr-FR" sz="1200" dirty="0">
                <a:solidFill>
                  <a:srgbClr val="000000"/>
                </a:solidFill>
                <a:highlight>
                  <a:srgbClr val="FFFFFF"/>
                </a:highlight>
                <a:latin typeface="Consolas" panose="020B0609020204030204" pitchFamily="49" charset="0"/>
              </a:rPr>
              <a:t>&lt;char&gt;</a:t>
            </a:r>
          </a:p>
          <a:p>
            <a:r>
              <a:rPr lang="en-IN" sz="1200" dirty="0">
                <a:solidFill>
                  <a:srgbClr val="000000"/>
                </a:solidFill>
                <a:highlight>
                  <a:srgbClr val="FFFFFF"/>
                </a:highlight>
                <a:latin typeface="Consolas" panose="020B0609020204030204" pitchFamily="49" charset="0"/>
              </a:rPr>
              <a:t>{</a:t>
            </a:r>
          </a:p>
          <a:p>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List();</a:t>
            </a:r>
          </a:p>
          <a:p>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Add(char item);</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List(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capacity);</a:t>
            </a:r>
          </a:p>
          <a:p>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Count {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sp>
        <p:nvSpPr>
          <p:cNvPr id="5" name="TextBox 4">
            <a:extLst>
              <a:ext uri="{FF2B5EF4-FFF2-40B4-BE49-F238E27FC236}">
                <a16:creationId xmlns:a16="http://schemas.microsoft.com/office/drawing/2014/main" id="{24C94971-653C-454C-826F-1BD83DEE64AD}"/>
              </a:ext>
            </a:extLst>
          </p:cNvPr>
          <p:cNvSpPr txBox="1"/>
          <p:nvPr/>
        </p:nvSpPr>
        <p:spPr>
          <a:xfrm>
            <a:off x="76200" y="2864971"/>
            <a:ext cx="4495800" cy="4247317"/>
          </a:xfrm>
          <a:prstGeom prst="rect">
            <a:avLst/>
          </a:prstGeom>
          <a:noFill/>
        </p:spPr>
        <p:txBody>
          <a:bodyPr wrap="square" rtlCol="0">
            <a:spAutoFit/>
          </a:bodyPr>
          <a:lstStyle/>
          <a:p>
            <a:r>
              <a:rPr lang="en-IN" dirty="0"/>
              <a:t>We have understood here that capacity of list is growing </a:t>
            </a:r>
            <a:r>
              <a:rPr lang="en-IN" b="1" dirty="0"/>
              <a:t>dynamically.</a:t>
            </a:r>
          </a:p>
          <a:p>
            <a:endParaRPr lang="en-IN" dirty="0"/>
          </a:p>
          <a:p>
            <a:r>
              <a:rPr lang="en-IN" dirty="0"/>
              <a:t>Initial capacity was 0 </a:t>
            </a:r>
          </a:p>
          <a:p>
            <a:endParaRPr lang="en-IN" dirty="0"/>
          </a:p>
          <a:p>
            <a:r>
              <a:rPr lang="en-IN" dirty="0"/>
              <a:t>After adding 6 element </a:t>
            </a:r>
          </a:p>
          <a:p>
            <a:endParaRPr lang="en-IN" dirty="0"/>
          </a:p>
          <a:p>
            <a:r>
              <a:rPr lang="en-IN" dirty="0"/>
              <a:t>Capacity has grown from 0 to 8</a:t>
            </a:r>
          </a:p>
          <a:p>
            <a:endParaRPr lang="en-IN" dirty="0"/>
          </a:p>
          <a:p>
            <a:r>
              <a:rPr lang="en-IN" dirty="0"/>
              <a:t>Generally it will grow in multiple of 4</a:t>
            </a:r>
          </a:p>
          <a:p>
            <a:endParaRPr lang="en-IN" dirty="0"/>
          </a:p>
          <a:p>
            <a:r>
              <a:rPr lang="en-IN" dirty="0"/>
              <a:t>You can read data using [] index</a:t>
            </a:r>
          </a:p>
          <a:p>
            <a:r>
              <a:rPr lang="en-IN" dirty="0"/>
              <a:t>Observe it maintain the order of insertion.</a:t>
            </a:r>
          </a:p>
          <a:p>
            <a:endParaRPr lang="en-IN" dirty="0"/>
          </a:p>
        </p:txBody>
      </p:sp>
    </p:spTree>
    <p:extLst>
      <p:ext uri="{BB962C8B-B14F-4D97-AF65-F5344CB8AC3E}">
        <p14:creationId xmlns:p14="http://schemas.microsoft.com/office/powerpoint/2010/main" val="715634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7BFD4-8F8B-49F4-A913-A72A83748804}"/>
              </a:ext>
            </a:extLst>
          </p:cNvPr>
          <p:cNvSpPr>
            <a:spLocks noGrp="1"/>
          </p:cNvSpPr>
          <p:nvPr>
            <p:ph type="title"/>
          </p:nvPr>
        </p:nvSpPr>
        <p:spPr>
          <a:xfrm>
            <a:off x="894735" y="-76200"/>
            <a:ext cx="8229600" cy="639762"/>
          </a:xfrm>
        </p:spPr>
        <p:txBody>
          <a:bodyPr>
            <a:normAutofit fontScale="90000"/>
          </a:bodyPr>
          <a:lstStyle/>
          <a:p>
            <a:r>
              <a:rPr lang="en-IN" dirty="0"/>
              <a:t>How to remove and modify data in list</a:t>
            </a:r>
          </a:p>
        </p:txBody>
      </p:sp>
      <p:sp>
        <p:nvSpPr>
          <p:cNvPr id="3" name="Content Placeholder 2">
            <a:extLst>
              <a:ext uri="{FF2B5EF4-FFF2-40B4-BE49-F238E27FC236}">
                <a16:creationId xmlns:a16="http://schemas.microsoft.com/office/drawing/2014/main" id="{1B1C29D5-5D17-4B98-BAA8-61D45C35814F}"/>
              </a:ext>
            </a:extLst>
          </p:cNvPr>
          <p:cNvSpPr>
            <a:spLocks noGrp="1"/>
          </p:cNvSpPr>
          <p:nvPr>
            <p:ph idx="1"/>
          </p:nvPr>
        </p:nvSpPr>
        <p:spPr>
          <a:xfrm>
            <a:off x="3810000" y="563562"/>
            <a:ext cx="5105400" cy="5837238"/>
          </a:xfrm>
        </p:spPr>
        <p:txBody>
          <a:bodyPr>
            <a:normAutofit/>
          </a:bodyPr>
          <a:lstStyle/>
          <a:p>
            <a:pPr marL="0" indent="0">
              <a:buNone/>
            </a:pPr>
            <a:r>
              <a:rPr lang="en-US" sz="1800" dirty="0">
                <a:solidFill>
                  <a:srgbClr val="008000"/>
                </a:solidFill>
                <a:highlight>
                  <a:srgbClr val="FFFFFF"/>
                </a:highlight>
                <a:latin typeface="Consolas" panose="020B0609020204030204" pitchFamily="49" charset="0"/>
              </a:rPr>
              <a:t>// Remove elements from the array list.  </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lst.Remove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'F'</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lst.Remove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'A'</a:t>
            </a: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foreach</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char</a:t>
            </a:r>
            <a:r>
              <a:rPr lang="en-US" sz="1800" dirty="0">
                <a:solidFill>
                  <a:srgbClr val="000000"/>
                </a:solidFill>
                <a:highlight>
                  <a:srgbClr val="FFFFFF"/>
                </a:highlight>
                <a:latin typeface="Consolas" panose="020B0609020204030204" pitchFamily="49" charset="0"/>
              </a:rPr>
              <a:t> c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lst</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a:t>
            </a:r>
            <a:r>
              <a:rPr lang="en-IN" sz="1800" dirty="0">
                <a:solidFill>
                  <a:srgbClr val="000000"/>
                </a:solidFill>
                <a:highlight>
                  <a:srgbClr val="FFFFFF"/>
                </a:highlight>
                <a:latin typeface="Consolas" panose="020B0609020204030204" pitchFamily="49" charset="0"/>
              </a:rPr>
              <a:t>(c + </a:t>
            </a:r>
            <a:r>
              <a:rPr lang="en-IN" sz="1800" dirty="0">
                <a:solidFill>
                  <a:srgbClr val="A31515"/>
                </a:solidFill>
                <a:highlight>
                  <a:srgbClr val="FFFFFF"/>
                </a:highlight>
                <a:latin typeface="Consolas" panose="020B0609020204030204" pitchFamily="49" charset="0"/>
              </a:rPr>
              <a:t>" "</a:t>
            </a:r>
            <a:r>
              <a:rPr lang="en-IN" sz="1800" dirty="0">
                <a:solidFill>
                  <a:srgbClr val="000000"/>
                </a:solidFill>
                <a:highlight>
                  <a:srgbClr val="FFFFFF"/>
                </a:highlight>
                <a:latin typeface="Consolas" panose="020B0609020204030204" pitchFamily="49" charset="0"/>
              </a:rPr>
              <a:t>);  </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Change contents using array indexing.  </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"Change first three elements"</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lst</a:t>
            </a:r>
            <a:r>
              <a:rPr lang="en-IN" sz="1800" dirty="0">
                <a:solidFill>
                  <a:srgbClr val="000000"/>
                </a:solidFill>
                <a:highlight>
                  <a:srgbClr val="FFFFFF"/>
                </a:highlight>
                <a:latin typeface="Consolas" panose="020B0609020204030204" pitchFamily="49" charset="0"/>
              </a:rPr>
              <a:t>[0] = </a:t>
            </a:r>
            <a:r>
              <a:rPr lang="en-IN" sz="1800" dirty="0">
                <a:solidFill>
                  <a:srgbClr val="A31515"/>
                </a:solidFill>
                <a:highlight>
                  <a:srgbClr val="FFFFFF"/>
                </a:highlight>
                <a:latin typeface="Consolas" panose="020B0609020204030204" pitchFamily="49" charset="0"/>
              </a:rPr>
              <a:t>'X'</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lst</a:t>
            </a:r>
            <a:r>
              <a:rPr lang="en-IN" sz="1800" dirty="0">
                <a:solidFill>
                  <a:srgbClr val="000000"/>
                </a:solidFill>
                <a:highlight>
                  <a:srgbClr val="FFFFFF"/>
                </a:highlight>
                <a:latin typeface="Consolas" panose="020B0609020204030204" pitchFamily="49" charset="0"/>
              </a:rPr>
              <a:t>[1] = </a:t>
            </a:r>
            <a:r>
              <a:rPr lang="en-IN" sz="1800" dirty="0">
                <a:solidFill>
                  <a:srgbClr val="A31515"/>
                </a:solidFill>
                <a:highlight>
                  <a:srgbClr val="FFFFFF"/>
                </a:highlight>
                <a:latin typeface="Consolas" panose="020B0609020204030204" pitchFamily="49" charset="0"/>
              </a:rPr>
              <a:t>'Y'</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lst</a:t>
            </a:r>
            <a:r>
              <a:rPr lang="en-IN" sz="1800" dirty="0">
                <a:solidFill>
                  <a:srgbClr val="000000"/>
                </a:solidFill>
                <a:highlight>
                  <a:srgbClr val="FFFFFF"/>
                </a:highlight>
                <a:latin typeface="Consolas" panose="020B0609020204030204" pitchFamily="49" charset="0"/>
              </a:rPr>
              <a:t>[2] = </a:t>
            </a:r>
            <a:r>
              <a:rPr lang="en-IN" sz="1800" dirty="0">
                <a:solidFill>
                  <a:srgbClr val="A31515"/>
                </a:solidFill>
                <a:highlight>
                  <a:srgbClr val="FFFFFF"/>
                </a:highlight>
                <a:latin typeface="Consolas" panose="020B0609020204030204" pitchFamily="49" charset="0"/>
              </a:rPr>
              <a:t>'Z'</a:t>
            </a: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foreach</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char</a:t>
            </a:r>
            <a:r>
              <a:rPr lang="en-US" sz="1800" dirty="0">
                <a:solidFill>
                  <a:srgbClr val="000000"/>
                </a:solidFill>
                <a:highlight>
                  <a:srgbClr val="FFFFFF"/>
                </a:highlight>
                <a:latin typeface="Consolas" panose="020B0609020204030204" pitchFamily="49" charset="0"/>
              </a:rPr>
              <a:t> c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lst</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a:t>
            </a:r>
            <a:r>
              <a:rPr lang="en-IN" sz="1800" dirty="0">
                <a:solidFill>
                  <a:srgbClr val="000000"/>
                </a:solidFill>
                <a:highlight>
                  <a:srgbClr val="FFFFFF"/>
                </a:highlight>
                <a:latin typeface="Consolas" panose="020B0609020204030204" pitchFamily="49" charset="0"/>
              </a:rPr>
              <a:t>(c + </a:t>
            </a:r>
            <a:r>
              <a:rPr lang="en-IN" sz="1800" dirty="0">
                <a:solidFill>
                  <a:srgbClr val="A31515"/>
                </a:solidFill>
                <a:highlight>
                  <a:srgbClr val="FFFFFF"/>
                </a:highlight>
                <a:latin typeface="Consolas" panose="020B0609020204030204" pitchFamily="49" charset="0"/>
              </a:rPr>
              <a:t>" "</a:t>
            </a: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lst.Add</a:t>
            </a:r>
            <a:r>
              <a:rPr lang="en-US" sz="1800" dirty="0">
                <a:solidFill>
                  <a:srgbClr val="000000"/>
                </a:solidFill>
                <a:highlight>
                  <a:srgbClr val="FFFFFF"/>
                </a:highlight>
                <a:latin typeface="Consolas" panose="020B0609020204030204" pitchFamily="49" charset="0"/>
              </a:rPr>
              <a:t>(99); // Error, not a char! </a:t>
            </a:r>
            <a:endParaRPr lang="en-IN" dirty="0"/>
          </a:p>
        </p:txBody>
      </p:sp>
      <p:sp>
        <p:nvSpPr>
          <p:cNvPr id="4" name="TextBox 3">
            <a:extLst>
              <a:ext uri="{FF2B5EF4-FFF2-40B4-BE49-F238E27FC236}">
                <a16:creationId xmlns:a16="http://schemas.microsoft.com/office/drawing/2014/main" id="{7CC0DB11-B393-4E9E-ABFD-09F29C1F4954}"/>
              </a:ext>
            </a:extLst>
          </p:cNvPr>
          <p:cNvSpPr txBox="1"/>
          <p:nvPr/>
        </p:nvSpPr>
        <p:spPr>
          <a:xfrm>
            <a:off x="19665" y="914400"/>
            <a:ext cx="3790335" cy="4524315"/>
          </a:xfrm>
          <a:prstGeom prst="rect">
            <a:avLst/>
          </a:prstGeom>
          <a:noFill/>
        </p:spPr>
        <p:txBody>
          <a:bodyPr wrap="square" rtlCol="0">
            <a:spAutoFit/>
          </a:bodyPr>
          <a:lstStyle/>
          <a:p>
            <a:r>
              <a:rPr lang="en-IN" dirty="0" err="1"/>
              <a:t>Remoe</a:t>
            </a:r>
            <a:r>
              <a:rPr lang="en-IN" dirty="0"/>
              <a:t> will remove the element.</a:t>
            </a:r>
          </a:p>
          <a:p>
            <a:r>
              <a:rPr lang="en-IN" dirty="0"/>
              <a:t>Once you remove data from list </a:t>
            </a:r>
          </a:p>
          <a:p>
            <a:endParaRPr lang="en-IN" dirty="0"/>
          </a:p>
          <a:p>
            <a:r>
              <a:rPr lang="en-IN" dirty="0"/>
              <a:t>It will not shrink </a:t>
            </a:r>
            <a:r>
              <a:rPr lang="en-IN" dirty="0" err="1"/>
              <a:t>ie</a:t>
            </a:r>
            <a:r>
              <a:rPr lang="en-IN" dirty="0"/>
              <a:t>. Reduce the capacity.</a:t>
            </a:r>
          </a:p>
          <a:p>
            <a:endParaRPr lang="en-IN" dirty="0"/>
          </a:p>
          <a:p>
            <a:r>
              <a:rPr lang="en-IN" dirty="0"/>
              <a:t>You can modify data at specific index using following syntax</a:t>
            </a:r>
          </a:p>
          <a:p>
            <a:r>
              <a:rPr lang="en-IN" sz="1800" dirty="0" err="1">
                <a:solidFill>
                  <a:srgbClr val="000000"/>
                </a:solidFill>
                <a:highlight>
                  <a:srgbClr val="FFFFFF"/>
                </a:highlight>
                <a:latin typeface="Consolas" panose="020B0609020204030204" pitchFamily="49" charset="0"/>
              </a:rPr>
              <a:t>lst</a:t>
            </a:r>
            <a:r>
              <a:rPr lang="en-IN" sz="1800" dirty="0">
                <a:solidFill>
                  <a:srgbClr val="000000"/>
                </a:solidFill>
                <a:highlight>
                  <a:srgbClr val="FFFFFF"/>
                </a:highlight>
                <a:latin typeface="Consolas" panose="020B0609020204030204" pitchFamily="49" charset="0"/>
              </a:rPr>
              <a:t>[0] = </a:t>
            </a:r>
            <a:r>
              <a:rPr lang="en-IN" sz="1800" dirty="0">
                <a:solidFill>
                  <a:srgbClr val="A31515"/>
                </a:solidFill>
                <a:highlight>
                  <a:srgbClr val="FFFFFF"/>
                </a:highlight>
                <a:latin typeface="Consolas" panose="020B0609020204030204" pitchFamily="49" charset="0"/>
              </a:rPr>
              <a:t>'X’</a:t>
            </a:r>
            <a:r>
              <a:rPr lang="en-IN" sz="1800" dirty="0">
                <a:solidFill>
                  <a:srgbClr val="000000"/>
                </a:solidFill>
                <a:highlight>
                  <a:srgbClr val="FFFFFF"/>
                </a:highlight>
                <a:latin typeface="Consolas" panose="020B0609020204030204" pitchFamily="49" charset="0"/>
              </a:rPr>
              <a:t>;</a:t>
            </a:r>
          </a:p>
          <a:p>
            <a:endParaRPr lang="en-IN" dirty="0"/>
          </a:p>
          <a:p>
            <a:r>
              <a:rPr lang="en-IN" dirty="0"/>
              <a:t>Observe the template shown in above ppt it say you can store only char int “</a:t>
            </a:r>
            <a:r>
              <a:rPr lang="en-IN" dirty="0" err="1"/>
              <a:t>lst</a:t>
            </a:r>
            <a:r>
              <a:rPr lang="en-IN" dirty="0"/>
              <a:t>”  List variable.</a:t>
            </a:r>
          </a:p>
          <a:p>
            <a:endParaRPr lang="en-IN" dirty="0"/>
          </a:p>
          <a:p>
            <a:r>
              <a:rPr lang="en-IN" dirty="0"/>
              <a:t>I f you try to add number it will give you compile time error</a:t>
            </a:r>
          </a:p>
        </p:txBody>
      </p:sp>
    </p:spTree>
    <p:extLst>
      <p:ext uri="{BB962C8B-B14F-4D97-AF65-F5344CB8AC3E}">
        <p14:creationId xmlns:p14="http://schemas.microsoft.com/office/powerpoint/2010/main" val="3613201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D9A71A-7164-42DC-AB15-F5F145DD0430}"/>
              </a:ext>
            </a:extLst>
          </p:cNvPr>
          <p:cNvSpPr>
            <a:spLocks noGrp="1"/>
          </p:cNvSpPr>
          <p:nvPr>
            <p:ph idx="1"/>
          </p:nvPr>
        </p:nvSpPr>
        <p:spPr>
          <a:xfrm>
            <a:off x="3429000" y="-76200"/>
            <a:ext cx="5562600" cy="6629400"/>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ConsoleApplication17</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Employee</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Name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Salary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Employee() {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Employee(</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nm,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sl</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Name = nm;</a:t>
            </a:r>
          </a:p>
          <a:p>
            <a:pPr marL="0" indent="0">
              <a:buNone/>
            </a:pPr>
            <a:r>
              <a:rPr lang="en-IN" sz="1200" dirty="0">
                <a:solidFill>
                  <a:srgbClr val="000000"/>
                </a:solidFill>
                <a:highlight>
                  <a:srgbClr val="FFFFFF"/>
                </a:highlight>
                <a:latin typeface="Consolas" panose="020B0609020204030204" pitchFamily="49" charset="0"/>
              </a:rPr>
              <a:t>            Salary = </a:t>
            </a:r>
            <a:r>
              <a:rPr lang="en-IN" sz="1200" dirty="0" err="1">
                <a:solidFill>
                  <a:srgbClr val="000000"/>
                </a:solidFill>
                <a:highlight>
                  <a:srgbClr val="FFFFFF"/>
                </a:highlight>
                <a:latin typeface="Consolas" panose="020B0609020204030204" pitchFamily="49" charset="0"/>
              </a:rPr>
              <a:t>sl</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String</a:t>
            </a:r>
            <a:r>
              <a:rPr lang="en-US" sz="1200" dirty="0" err="1">
                <a:solidFill>
                  <a:srgbClr val="000000"/>
                </a:solidFill>
                <a:highlight>
                  <a:srgbClr val="FFFFFF"/>
                </a:highlight>
                <a:latin typeface="Consolas" panose="020B0609020204030204" pitchFamily="49" charset="0"/>
              </a:rPr>
              <a:t>.Format</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"{0} {1}"</a:t>
            </a:r>
            <a:r>
              <a:rPr lang="en-US" sz="1200" dirty="0">
                <a:solidFill>
                  <a:srgbClr val="000000"/>
                </a:solidFill>
                <a:highlight>
                  <a:srgbClr val="FFFFFF"/>
                </a:highlight>
                <a:latin typeface="Consolas" panose="020B0609020204030204" pitchFamily="49" charset="0"/>
              </a:rPr>
              <a:t>, Name, Salary);</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List</a:t>
            </a:r>
            <a:r>
              <a:rPr lang="en-US" sz="1200" dirty="0">
                <a:solidFill>
                  <a:srgbClr val="000000"/>
                </a:solidFill>
                <a:highlight>
                  <a:srgbClr val="FFFFFF"/>
                </a:highlight>
                <a:latin typeface="Consolas" panose="020B0609020204030204" pitchFamily="49" charset="0"/>
              </a:rPr>
              <a:t>&lt;</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&gt; </a:t>
            </a:r>
            <a:r>
              <a:rPr lang="en-US" sz="1200" dirty="0" err="1">
                <a:solidFill>
                  <a:srgbClr val="000000"/>
                </a:solidFill>
                <a:highlight>
                  <a:srgbClr val="FFFFFF"/>
                </a:highlight>
                <a:latin typeface="Consolas" panose="020B0609020204030204" pitchFamily="49" charset="0"/>
              </a:rPr>
              <a:t>listemp</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List</a:t>
            </a:r>
            <a:r>
              <a:rPr lang="en-US" sz="1200" dirty="0">
                <a:solidFill>
                  <a:srgbClr val="000000"/>
                </a:solidFill>
                <a:highlight>
                  <a:srgbClr val="FFFFFF"/>
                </a:highlight>
                <a:latin typeface="Consolas" panose="020B0609020204030204" pitchFamily="49" charset="0"/>
              </a:rPr>
              <a:t>&lt;</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&gt;{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{Name =</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Raj"</a:t>
            </a:r>
            <a:r>
              <a:rPr lang="en-US" sz="1200" dirty="0" err="1">
                <a:solidFill>
                  <a:srgbClr val="000000"/>
                </a:solidFill>
                <a:highlight>
                  <a:srgbClr val="FFFFFF"/>
                </a:highlight>
                <a:latin typeface="Consolas" panose="020B0609020204030204" pitchFamily="49" charset="0"/>
              </a:rPr>
              <a:t>,Salary</a:t>
            </a:r>
            <a:r>
              <a:rPr lang="en-US" sz="1200" dirty="0">
                <a:solidFill>
                  <a:srgbClr val="000000"/>
                </a:solidFill>
                <a:highlight>
                  <a:srgbClr val="FFFFFF"/>
                </a:highlight>
                <a:latin typeface="Consolas" panose="020B0609020204030204" pitchFamily="49" charset="0"/>
              </a:rPr>
              <a:t> =6000}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{Name =</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Mona"</a:t>
            </a:r>
            <a:r>
              <a:rPr lang="en-US" sz="1200" dirty="0" err="1">
                <a:solidFill>
                  <a:srgbClr val="000000"/>
                </a:solidFill>
                <a:highlight>
                  <a:srgbClr val="FFFFFF"/>
                </a:highlight>
                <a:latin typeface="Consolas" panose="020B0609020204030204" pitchFamily="49" charset="0"/>
              </a:rPr>
              <a:t>,Salary</a:t>
            </a:r>
            <a:r>
              <a:rPr lang="en-US" sz="1200" dirty="0">
                <a:solidFill>
                  <a:srgbClr val="000000"/>
                </a:solidFill>
                <a:highlight>
                  <a:srgbClr val="FFFFFF"/>
                </a:highlight>
                <a:latin typeface="Consolas" panose="020B0609020204030204" pitchFamily="49" charset="0"/>
              </a:rPr>
              <a:t> =7000}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{Name =</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Het"</a:t>
            </a:r>
            <a:r>
              <a:rPr lang="en-US" sz="1200" dirty="0" err="1">
                <a:solidFill>
                  <a:srgbClr val="000000"/>
                </a:solidFill>
                <a:highlight>
                  <a:srgbClr val="FFFFFF"/>
                </a:highlight>
                <a:latin typeface="Consolas" panose="020B0609020204030204" pitchFamily="49" charset="0"/>
              </a:rPr>
              <a:t>,Salary</a:t>
            </a:r>
            <a:r>
              <a:rPr lang="en-US" sz="1200" dirty="0">
                <a:solidFill>
                  <a:srgbClr val="000000"/>
                </a:solidFill>
                <a:highlight>
                  <a:srgbClr val="FFFFFF"/>
                </a:highlight>
                <a:latin typeface="Consolas" panose="020B0609020204030204" pitchFamily="49" charset="0"/>
              </a:rPr>
              <a:t> =3000} ,</a:t>
            </a: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foreach</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e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listemp</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(e);</a:t>
            </a:r>
          </a:p>
          <a:p>
            <a:pPr marL="0" indent="0">
              <a:buNone/>
            </a:pPr>
            <a:r>
              <a:rPr lang="en-US" sz="1200" dirty="0">
                <a:solidFill>
                  <a:srgbClr val="000000"/>
                </a:solidFill>
                <a:latin typeface="Consolas" panose="020B0609020204030204" pitchFamily="49" charset="0"/>
              </a:rPr>
              <a:t>Employee obj=</a:t>
            </a:r>
            <a:r>
              <a:rPr lang="en-US" sz="1200" dirty="0" err="1">
                <a:solidFill>
                  <a:srgbClr val="000000"/>
                </a:solidFill>
                <a:latin typeface="Consolas" panose="020B0609020204030204" pitchFamily="49" charset="0"/>
              </a:rPr>
              <a:t>listemp.Find</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arr</a:t>
            </a:r>
            <a:r>
              <a:rPr lang="en-US" sz="1200" dirty="0">
                <a:solidFill>
                  <a:srgbClr val="000000"/>
                </a:solidFill>
                <a:latin typeface="Consolas" panose="020B0609020204030204" pitchFamily="49" charset="0"/>
              </a:rPr>
              <a:t>) =&gt; </a:t>
            </a:r>
            <a:r>
              <a:rPr lang="en-US" sz="1200" dirty="0" err="1">
                <a:solidFill>
                  <a:srgbClr val="000000"/>
                </a:solidFill>
                <a:latin typeface="Consolas" panose="020B0609020204030204" pitchFamily="49" charset="0"/>
              </a:rPr>
              <a:t>arr.Salary</a:t>
            </a:r>
            <a:r>
              <a:rPr lang="en-US" sz="1200" dirty="0">
                <a:solidFill>
                  <a:srgbClr val="000000"/>
                </a:solidFill>
                <a:latin typeface="Consolas" panose="020B0609020204030204" pitchFamily="49" charset="0"/>
              </a:rPr>
              <a:t> == 6000);</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p>
        </p:txBody>
      </p:sp>
      <p:sp>
        <p:nvSpPr>
          <p:cNvPr id="4" name="TextBox 3">
            <a:extLst>
              <a:ext uri="{FF2B5EF4-FFF2-40B4-BE49-F238E27FC236}">
                <a16:creationId xmlns:a16="http://schemas.microsoft.com/office/drawing/2014/main" id="{8553B941-1A24-4E54-9F79-05C8F877410B}"/>
              </a:ext>
            </a:extLst>
          </p:cNvPr>
          <p:cNvSpPr txBox="1"/>
          <p:nvPr/>
        </p:nvSpPr>
        <p:spPr>
          <a:xfrm>
            <a:off x="152400" y="990600"/>
            <a:ext cx="3276600" cy="2308324"/>
          </a:xfrm>
          <a:prstGeom prst="rect">
            <a:avLst/>
          </a:prstGeom>
          <a:noFill/>
        </p:spPr>
        <p:txBody>
          <a:bodyPr wrap="square" rtlCol="0">
            <a:spAutoFit/>
          </a:bodyPr>
          <a:lstStyle/>
          <a:p>
            <a:r>
              <a:rPr lang="en-IN" dirty="0"/>
              <a:t>In this example we are storing all employee objects in List class.</a:t>
            </a:r>
          </a:p>
          <a:p>
            <a:endParaRPr lang="en-IN" dirty="0"/>
          </a:p>
          <a:p>
            <a:r>
              <a:rPr lang="en-IN" dirty="0"/>
              <a:t>List class has many </a:t>
            </a:r>
            <a:r>
              <a:rPr lang="en-IN" dirty="0" err="1"/>
              <a:t>usefull</a:t>
            </a:r>
            <a:r>
              <a:rPr lang="en-IN" dirty="0"/>
              <a:t> function like</a:t>
            </a:r>
          </a:p>
          <a:p>
            <a:r>
              <a:rPr lang="en-IN" dirty="0"/>
              <a:t>Sort,</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BinarySearch</a:t>
            </a:r>
            <a:r>
              <a:rPr lang="en-IN" sz="1800" dirty="0">
                <a:solidFill>
                  <a:srgbClr val="000000"/>
                </a:solidFill>
                <a:highlight>
                  <a:srgbClr val="FFFFFF"/>
                </a:highlight>
                <a:latin typeface="Consolas" panose="020B0609020204030204" pitchFamily="49" charset="0"/>
              </a:rPr>
              <a:t>, Insert etc.</a:t>
            </a:r>
            <a:endParaRPr lang="en-IN" dirty="0"/>
          </a:p>
        </p:txBody>
      </p:sp>
      <p:sp>
        <p:nvSpPr>
          <p:cNvPr id="5" name="TextBox 4">
            <a:extLst>
              <a:ext uri="{FF2B5EF4-FFF2-40B4-BE49-F238E27FC236}">
                <a16:creationId xmlns:a16="http://schemas.microsoft.com/office/drawing/2014/main" id="{92BB216B-5E7A-44B4-B40D-00EF72757564}"/>
              </a:ext>
            </a:extLst>
          </p:cNvPr>
          <p:cNvSpPr txBox="1"/>
          <p:nvPr/>
        </p:nvSpPr>
        <p:spPr>
          <a:xfrm>
            <a:off x="7375" y="3429000"/>
            <a:ext cx="3955025" cy="1338828"/>
          </a:xfrm>
          <a:prstGeom prst="rect">
            <a:avLst/>
          </a:prstGeom>
          <a:noFill/>
        </p:spPr>
        <p:txBody>
          <a:bodyPr wrap="square">
            <a:spAutoFit/>
          </a:bodyPr>
          <a:lstStyle/>
          <a:p>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Employee obj=</a:t>
            </a:r>
            <a:r>
              <a:rPr lang="en-US" sz="900" dirty="0" err="1">
                <a:solidFill>
                  <a:srgbClr val="000000"/>
                </a:solidFill>
                <a:latin typeface="Consolas" panose="020B0609020204030204" pitchFamily="49" charset="0"/>
              </a:rPr>
              <a:t>listemp.Find</a:t>
            </a:r>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arr</a:t>
            </a:r>
            <a:r>
              <a:rPr lang="en-US" sz="900" dirty="0">
                <a:solidFill>
                  <a:srgbClr val="000000"/>
                </a:solidFill>
                <a:latin typeface="Consolas" panose="020B0609020204030204" pitchFamily="49" charset="0"/>
              </a:rPr>
              <a:t>) =&gt; </a:t>
            </a:r>
            <a:r>
              <a:rPr lang="en-US" sz="900" dirty="0" err="1">
                <a:solidFill>
                  <a:srgbClr val="000000"/>
                </a:solidFill>
                <a:latin typeface="Consolas" panose="020B0609020204030204" pitchFamily="49" charset="0"/>
              </a:rPr>
              <a:t>arr.Salary</a:t>
            </a:r>
            <a:r>
              <a:rPr lang="en-US" sz="900" dirty="0">
                <a:solidFill>
                  <a:srgbClr val="000000"/>
                </a:solidFill>
                <a:latin typeface="Consolas" panose="020B0609020204030204" pitchFamily="49" charset="0"/>
              </a:rPr>
              <a:t> == 6000);</a:t>
            </a:r>
          </a:p>
          <a:p>
            <a:r>
              <a:rPr lang="en-IN" sz="900" dirty="0">
                <a:solidFill>
                  <a:srgbClr val="000000"/>
                </a:solidFill>
                <a:latin typeface="Consolas" panose="020B0609020204030204" pitchFamily="49" charset="0"/>
              </a:rPr>
              <a:t>  </a:t>
            </a:r>
          </a:p>
          <a:p>
            <a:r>
              <a:rPr lang="en-IN" sz="900" dirty="0">
                <a:solidFill>
                  <a:srgbClr val="0000FF"/>
                </a:solidFill>
                <a:latin typeface="Consolas" panose="020B0609020204030204" pitchFamily="49" charset="0"/>
              </a:rPr>
              <a:t>var</a:t>
            </a:r>
            <a:r>
              <a:rPr lang="en-IN" sz="900" dirty="0">
                <a:solidFill>
                  <a:srgbClr val="000000"/>
                </a:solidFill>
                <a:latin typeface="Consolas" panose="020B0609020204030204" pitchFamily="49" charset="0"/>
              </a:rPr>
              <a:t> result=  </a:t>
            </a:r>
            <a:r>
              <a:rPr lang="en-IN" sz="900" dirty="0" err="1">
                <a:solidFill>
                  <a:srgbClr val="000000"/>
                </a:solidFill>
                <a:latin typeface="Consolas" panose="020B0609020204030204" pitchFamily="49" charset="0"/>
              </a:rPr>
              <a:t>listemp.FindAll</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arr</a:t>
            </a:r>
            <a:r>
              <a:rPr lang="en-IN" sz="900" dirty="0">
                <a:solidFill>
                  <a:srgbClr val="000000"/>
                </a:solidFill>
                <a:latin typeface="Consolas" panose="020B0609020204030204" pitchFamily="49" charset="0"/>
              </a:rPr>
              <a:t>) =&gt; </a:t>
            </a:r>
            <a:r>
              <a:rPr lang="en-IN" sz="900" dirty="0" err="1">
                <a:solidFill>
                  <a:srgbClr val="000000"/>
                </a:solidFill>
                <a:latin typeface="Consolas" panose="020B0609020204030204" pitchFamily="49" charset="0"/>
              </a:rPr>
              <a:t>arr.Salary</a:t>
            </a:r>
            <a:r>
              <a:rPr lang="en-IN" sz="900" dirty="0">
                <a:solidFill>
                  <a:srgbClr val="000000"/>
                </a:solidFill>
                <a:latin typeface="Consolas" panose="020B0609020204030204" pitchFamily="49" charset="0"/>
              </a:rPr>
              <a:t> &gt;=6000);</a:t>
            </a:r>
          </a:p>
          <a:p>
            <a:r>
              <a:rPr lang="en-IN" sz="900" dirty="0">
                <a:solidFill>
                  <a:srgbClr val="000000"/>
                </a:solidFill>
                <a:latin typeface="Consolas" panose="020B0609020204030204" pitchFamily="49" charset="0"/>
              </a:rPr>
              <a:t>                     </a:t>
            </a:r>
          </a:p>
          <a:p>
            <a:r>
              <a:rPr lang="en-IN" sz="900" dirty="0" err="1">
                <a:solidFill>
                  <a:srgbClr val="000000"/>
                </a:solidFill>
                <a:latin typeface="Consolas" panose="020B0609020204030204" pitchFamily="49" charset="0"/>
              </a:rPr>
              <a:t>Console.WriteLine</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obj</a:t>
            </a:r>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foreach</a:t>
            </a:r>
            <a:r>
              <a:rPr lang="en-US" sz="900" dirty="0">
                <a:solidFill>
                  <a:srgbClr val="000000"/>
                </a:solidFill>
                <a:latin typeface="Consolas" panose="020B0609020204030204" pitchFamily="49" charset="0"/>
              </a:rPr>
              <a:t> (Employee e </a:t>
            </a:r>
            <a:r>
              <a:rPr lang="en-US" sz="900" dirty="0">
                <a:solidFill>
                  <a:srgbClr val="0000FF"/>
                </a:solidFill>
                <a:latin typeface="Consolas" panose="020B0609020204030204" pitchFamily="49" charset="0"/>
              </a:rPr>
              <a:t>in</a:t>
            </a:r>
            <a:r>
              <a:rPr lang="en-US" sz="900" dirty="0">
                <a:solidFill>
                  <a:srgbClr val="000000"/>
                </a:solidFill>
                <a:latin typeface="Consolas" panose="020B0609020204030204" pitchFamily="49" charset="0"/>
              </a:rPr>
              <a:t> result)</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Console.WriteLine</a:t>
            </a:r>
            <a:r>
              <a:rPr lang="en-IN" sz="900" dirty="0">
                <a:solidFill>
                  <a:srgbClr val="000000"/>
                </a:solidFill>
                <a:latin typeface="Consolas" panose="020B0609020204030204" pitchFamily="49" charset="0"/>
              </a:rPr>
              <a:t>(e);</a:t>
            </a:r>
            <a:endParaRPr lang="en-IN" dirty="0"/>
          </a:p>
        </p:txBody>
      </p:sp>
    </p:spTree>
    <p:extLst>
      <p:ext uri="{BB962C8B-B14F-4D97-AF65-F5344CB8AC3E}">
        <p14:creationId xmlns:p14="http://schemas.microsoft.com/office/powerpoint/2010/main" val="1214999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75F80F-27A1-759E-D6CD-16B1877F046C}"/>
              </a:ext>
            </a:extLst>
          </p:cNvPr>
          <p:cNvSpPr/>
          <p:nvPr/>
        </p:nvSpPr>
        <p:spPr>
          <a:xfrm>
            <a:off x="114300" y="685800"/>
            <a:ext cx="4724400" cy="525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T? Find(Predicate&lt;T&gt; match)</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if</a:t>
            </a:r>
            <a:r>
              <a:rPr lang="en-IN" sz="1600" dirty="0">
                <a:solidFill>
                  <a:srgbClr val="000000"/>
                </a:solidFill>
                <a:latin typeface="Cascadia Mono" panose="020B0609020000020004" pitchFamily="49" charset="0"/>
              </a:rPr>
              <a:t> (match == </a:t>
            </a:r>
            <a:r>
              <a:rPr lang="en-IN" sz="1600" dirty="0">
                <a:solidFill>
                  <a:srgbClr val="0000FF"/>
                </a:solidFill>
                <a:latin typeface="Cascadia Mono" panose="020B0609020000020004" pitchFamily="49" charset="0"/>
              </a:rPr>
              <a:t>null</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err="1">
                <a:solidFill>
                  <a:srgbClr val="000000"/>
                </a:solidFill>
                <a:latin typeface="Cascadia Mono" panose="020B0609020000020004" pitchFamily="49" charset="0"/>
              </a:rPr>
              <a:t>ThrowHelper.ThrowArgumentNullException</a:t>
            </a:r>
            <a:r>
              <a:rPr lang="en-IN" sz="1600" dirty="0">
                <a:solidFill>
                  <a:srgbClr val="000000"/>
                </a:solidFill>
                <a:latin typeface="Cascadia Mono" panose="020B0609020000020004" pitchFamily="49" charset="0"/>
              </a:rPr>
              <a:t>(</a:t>
            </a:r>
            <a:r>
              <a:rPr lang="en-IN" sz="1600" dirty="0" err="1">
                <a:solidFill>
                  <a:srgbClr val="000000"/>
                </a:solidFill>
                <a:latin typeface="Cascadia Mono" panose="020B0609020000020004" pitchFamily="49" charset="0"/>
              </a:rPr>
              <a:t>ExceptionArgument.match</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p>
          <a:p>
            <a:endParaRPr lang="en-IN" sz="1600" dirty="0">
              <a:solidFill>
                <a:srgbClr val="000000"/>
              </a:solidFill>
              <a:latin typeface="Cascadia Mono" panose="020B0609020000020004" pitchFamily="49" charset="0"/>
            </a:endParaRPr>
          </a:p>
          <a:p>
            <a:r>
              <a:rPr lang="nn-NO" sz="1600" dirty="0">
                <a:solidFill>
                  <a:srgbClr val="000000"/>
                </a:solidFill>
                <a:latin typeface="Cascadia Mono" panose="020B0609020000020004" pitchFamily="49" charset="0"/>
              </a:rPr>
              <a:t>            </a:t>
            </a:r>
            <a:r>
              <a:rPr lang="nn-NO" sz="1600" dirty="0">
                <a:solidFill>
                  <a:srgbClr val="0000FF"/>
                </a:solidFill>
                <a:latin typeface="Cascadia Mono" panose="020B0609020000020004" pitchFamily="49" charset="0"/>
              </a:rPr>
              <a:t>for</a:t>
            </a:r>
            <a:r>
              <a:rPr lang="nn-NO" sz="1600" dirty="0">
                <a:solidFill>
                  <a:srgbClr val="000000"/>
                </a:solidFill>
                <a:latin typeface="Cascadia Mono" panose="020B0609020000020004" pitchFamily="49" charset="0"/>
              </a:rPr>
              <a:t> (</a:t>
            </a:r>
            <a:r>
              <a:rPr lang="nn-NO" sz="1600" dirty="0">
                <a:solidFill>
                  <a:srgbClr val="0000FF"/>
                </a:solidFill>
                <a:latin typeface="Cascadia Mono" panose="020B0609020000020004" pitchFamily="49" charset="0"/>
              </a:rPr>
              <a:t>int</a:t>
            </a:r>
            <a:r>
              <a:rPr lang="nn-NO" sz="1600" dirty="0">
                <a:solidFill>
                  <a:srgbClr val="000000"/>
                </a:solidFill>
                <a:latin typeface="Cascadia Mono" panose="020B0609020000020004" pitchFamily="49" charset="0"/>
              </a:rPr>
              <a:t> i = 0; i &lt; _size; i++)</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if</a:t>
            </a:r>
            <a:r>
              <a:rPr lang="en-IN" sz="1600" dirty="0">
                <a:solidFill>
                  <a:srgbClr val="000000"/>
                </a:solidFill>
                <a:latin typeface="Cascadia Mono" panose="020B0609020000020004" pitchFamily="49" charset="0"/>
              </a:rPr>
              <a:t> (</a:t>
            </a:r>
            <a:r>
              <a:rPr lang="en-IN" sz="1600" dirty="0">
                <a:solidFill>
                  <a:srgbClr val="000000"/>
                </a:solidFill>
                <a:highlight>
                  <a:srgbClr val="FFFF00"/>
                </a:highlight>
                <a:latin typeface="Cascadia Mono" panose="020B0609020000020004" pitchFamily="49" charset="0"/>
              </a:rPr>
              <a:t>match(_items[</a:t>
            </a:r>
            <a:r>
              <a:rPr lang="en-IN" sz="1600" dirty="0" err="1">
                <a:solidFill>
                  <a:srgbClr val="000000"/>
                </a:solidFill>
                <a:highlight>
                  <a:srgbClr val="FFFF00"/>
                </a:highlight>
                <a:latin typeface="Cascadia Mono" panose="020B0609020000020004" pitchFamily="49" charset="0"/>
              </a:rPr>
              <a:t>i</a:t>
            </a:r>
            <a:r>
              <a:rPr lang="en-IN" sz="1600" dirty="0">
                <a:solidFill>
                  <a:srgbClr val="000000"/>
                </a:solidFill>
                <a:highlight>
                  <a:srgbClr val="FFFF00"/>
                </a:highlight>
                <a:latin typeface="Cascadia Mono" panose="020B0609020000020004" pitchFamily="49" charset="0"/>
              </a:rPr>
              <a:t>]))</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return</a:t>
            </a:r>
            <a:r>
              <a:rPr lang="en-IN" sz="1600" dirty="0">
                <a:solidFill>
                  <a:srgbClr val="000000"/>
                </a:solidFill>
                <a:latin typeface="Cascadia Mono" panose="020B0609020000020004" pitchFamily="49" charset="0"/>
              </a:rPr>
              <a:t> _items[</a:t>
            </a:r>
            <a:r>
              <a:rPr lang="en-IN" sz="1600" dirty="0" err="1">
                <a:solidFill>
                  <a:srgbClr val="000000"/>
                </a:solidFill>
                <a:latin typeface="Cascadia Mono" panose="020B0609020000020004" pitchFamily="49" charset="0"/>
              </a:rPr>
              <a:t>i</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return</a:t>
            </a:r>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default</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p>
          <a:p>
            <a:pPr algn="ctr"/>
            <a:endParaRPr lang="en-IN" sz="1600" dirty="0"/>
          </a:p>
        </p:txBody>
      </p:sp>
      <p:sp>
        <p:nvSpPr>
          <p:cNvPr id="6" name="TextBox 5">
            <a:extLst>
              <a:ext uri="{FF2B5EF4-FFF2-40B4-BE49-F238E27FC236}">
                <a16:creationId xmlns:a16="http://schemas.microsoft.com/office/drawing/2014/main" id="{2EF134B9-42EC-96F4-257D-8F4946815D5B}"/>
              </a:ext>
            </a:extLst>
          </p:cNvPr>
          <p:cNvSpPr txBox="1"/>
          <p:nvPr/>
        </p:nvSpPr>
        <p:spPr>
          <a:xfrm>
            <a:off x="4953000" y="152400"/>
            <a:ext cx="3733800" cy="92333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Employee obj=</a:t>
            </a:r>
            <a:r>
              <a:rPr kumimoji="0" lang="en-US"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listemp.Find</a:t>
            </a:r>
            <a:r>
              <a:rPr kumimoji="0" lang="en-US"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a:t>
            </a:r>
            <a:r>
              <a:rPr kumimoji="0" lang="en-US" b="0" i="0" u="none" strike="noStrike" kern="1200" cap="none" spc="0" normalizeH="0" baseline="0" noProof="0" dirty="0" err="1">
                <a:ln>
                  <a:noFill/>
                </a:ln>
                <a:solidFill>
                  <a:srgbClr val="000000"/>
                </a:solidFill>
                <a:effectLst/>
                <a:highlight>
                  <a:srgbClr val="FFFF00"/>
                </a:highlight>
                <a:uLnTx/>
                <a:uFillTx/>
                <a:latin typeface="Consolas" panose="020B0609020204030204" pitchFamily="49" charset="0"/>
                <a:ea typeface="+mn-ea"/>
                <a:cs typeface="+mn-cs"/>
              </a:rPr>
              <a:t>arr</a:t>
            </a:r>
            <a:r>
              <a:rPr kumimoji="0" lang="en-US"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=&gt; </a:t>
            </a:r>
            <a:r>
              <a:rPr kumimoji="0" lang="en-US" b="0" i="0" u="none" strike="noStrike" kern="1200" cap="none" spc="0" normalizeH="0" baseline="0" noProof="0" dirty="0" err="1">
                <a:ln>
                  <a:noFill/>
                </a:ln>
                <a:solidFill>
                  <a:srgbClr val="000000"/>
                </a:solidFill>
                <a:effectLst/>
                <a:highlight>
                  <a:srgbClr val="FFFF00"/>
                </a:highlight>
                <a:uLnTx/>
                <a:uFillTx/>
                <a:latin typeface="Consolas" panose="020B0609020204030204" pitchFamily="49" charset="0"/>
                <a:ea typeface="+mn-ea"/>
                <a:cs typeface="+mn-cs"/>
              </a:rPr>
              <a:t>arr.Salary</a:t>
            </a:r>
            <a:r>
              <a:rPr kumimoji="0" lang="en-US"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 6000</a:t>
            </a:r>
            <a:r>
              <a:rPr kumimoji="0" lang="en-US"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endParaRPr kumimoji="0" lang="en-IN"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p:txBody>
      </p:sp>
      <p:cxnSp>
        <p:nvCxnSpPr>
          <p:cNvPr id="7" name="Straight Arrow Connector 6">
            <a:extLst>
              <a:ext uri="{FF2B5EF4-FFF2-40B4-BE49-F238E27FC236}">
                <a16:creationId xmlns:a16="http://schemas.microsoft.com/office/drawing/2014/main" id="{7B2A3AA6-1711-8A90-D87B-64FC65BCB8CC}"/>
              </a:ext>
            </a:extLst>
          </p:cNvPr>
          <p:cNvCxnSpPr/>
          <p:nvPr/>
        </p:nvCxnSpPr>
        <p:spPr>
          <a:xfrm flipV="1">
            <a:off x="5285688" y="2943023"/>
            <a:ext cx="53340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45E632EE-DD17-4A26-221A-F47BBC5EEF80}"/>
              </a:ext>
            </a:extLst>
          </p:cNvPr>
          <p:cNvSpPr/>
          <p:nvPr/>
        </p:nvSpPr>
        <p:spPr>
          <a:xfrm>
            <a:off x="4852644" y="2628507"/>
            <a:ext cx="685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lstemp</a:t>
            </a:r>
            <a:endParaRPr lang="en-IN" sz="1200" dirty="0"/>
          </a:p>
        </p:txBody>
      </p:sp>
      <p:sp>
        <p:nvSpPr>
          <p:cNvPr id="10" name="Rectangle 9">
            <a:extLst>
              <a:ext uri="{FF2B5EF4-FFF2-40B4-BE49-F238E27FC236}">
                <a16:creationId xmlns:a16="http://schemas.microsoft.com/office/drawing/2014/main" id="{41EB606E-095A-4241-7D38-C9D11D75D837}"/>
              </a:ext>
            </a:extLst>
          </p:cNvPr>
          <p:cNvSpPr/>
          <p:nvPr/>
        </p:nvSpPr>
        <p:spPr>
          <a:xfrm>
            <a:off x="5735032" y="1714036"/>
            <a:ext cx="3429000" cy="2438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solidFill>
                  <a:srgbClr val="000000"/>
                </a:solidFill>
                <a:highlight>
                  <a:srgbClr val="FFFF00"/>
                </a:highlight>
                <a:latin typeface="Cascadia Mono" panose="020B0609020000020004" pitchFamily="49" charset="0"/>
              </a:rPr>
              <a:t>Employee _items[]=new  Employee[]</a:t>
            </a:r>
            <a:endParaRPr lang="en-IN" dirty="0"/>
          </a:p>
        </p:txBody>
      </p:sp>
      <p:sp>
        <p:nvSpPr>
          <p:cNvPr id="11" name="TextBox 10">
            <a:extLst>
              <a:ext uri="{FF2B5EF4-FFF2-40B4-BE49-F238E27FC236}">
                <a16:creationId xmlns:a16="http://schemas.microsoft.com/office/drawing/2014/main" id="{40F47FD6-AAA7-07BC-3703-67D9EC279E71}"/>
              </a:ext>
            </a:extLst>
          </p:cNvPr>
          <p:cNvSpPr txBox="1"/>
          <p:nvPr/>
        </p:nvSpPr>
        <p:spPr>
          <a:xfrm>
            <a:off x="6172200" y="1371600"/>
            <a:ext cx="1905000" cy="369332"/>
          </a:xfrm>
          <a:prstGeom prst="rect">
            <a:avLst/>
          </a:prstGeom>
          <a:noFill/>
        </p:spPr>
        <p:txBody>
          <a:bodyPr wrap="square" rtlCol="0">
            <a:spAutoFit/>
          </a:bodyPr>
          <a:lstStyle/>
          <a:p>
            <a:r>
              <a:rPr lang="en-US" dirty="0"/>
              <a:t>List&lt;Employee&gt;</a:t>
            </a:r>
            <a:endParaRPr lang="en-IN" dirty="0"/>
          </a:p>
        </p:txBody>
      </p:sp>
      <p:graphicFrame>
        <p:nvGraphicFramePr>
          <p:cNvPr id="12" name="Table 12">
            <a:extLst>
              <a:ext uri="{FF2B5EF4-FFF2-40B4-BE49-F238E27FC236}">
                <a16:creationId xmlns:a16="http://schemas.microsoft.com/office/drawing/2014/main" id="{20F59FBA-6A91-4F4F-B30C-18281A29CBBD}"/>
              </a:ext>
            </a:extLst>
          </p:cNvPr>
          <p:cNvGraphicFramePr>
            <a:graphicFrameLocks noGrp="1"/>
          </p:cNvGraphicFramePr>
          <p:nvPr>
            <p:extLst>
              <p:ext uri="{D42A27DB-BD31-4B8C-83A1-F6EECF244321}">
                <p14:modId xmlns:p14="http://schemas.microsoft.com/office/powerpoint/2010/main" val="3497540094"/>
              </p:ext>
            </p:extLst>
          </p:nvPr>
        </p:nvGraphicFramePr>
        <p:xfrm>
          <a:off x="5600700" y="3365808"/>
          <a:ext cx="3429000" cy="731520"/>
        </p:xfrm>
        <a:graphic>
          <a:graphicData uri="http://schemas.openxmlformats.org/drawingml/2006/table">
            <a:tbl>
              <a:tblPr firstRow="1" bandRow="1">
                <a:tableStyleId>{93296810-A885-4BE3-A3E7-6D5BEEA58F35}</a:tableStyleId>
              </a:tblPr>
              <a:tblGrid>
                <a:gridCol w="1143000">
                  <a:extLst>
                    <a:ext uri="{9D8B030D-6E8A-4147-A177-3AD203B41FA5}">
                      <a16:colId xmlns:a16="http://schemas.microsoft.com/office/drawing/2014/main" val="2001770024"/>
                    </a:ext>
                  </a:extLst>
                </a:gridCol>
                <a:gridCol w="1143000">
                  <a:extLst>
                    <a:ext uri="{9D8B030D-6E8A-4147-A177-3AD203B41FA5}">
                      <a16:colId xmlns:a16="http://schemas.microsoft.com/office/drawing/2014/main" val="2431420416"/>
                    </a:ext>
                  </a:extLst>
                </a:gridCol>
                <a:gridCol w="1143000">
                  <a:extLst>
                    <a:ext uri="{9D8B030D-6E8A-4147-A177-3AD203B41FA5}">
                      <a16:colId xmlns:a16="http://schemas.microsoft.com/office/drawing/2014/main" val="1082772250"/>
                    </a:ext>
                  </a:extLst>
                </a:gridCol>
              </a:tblGrid>
              <a:tr h="281628">
                <a:tc>
                  <a:txBody>
                    <a:bodyPr/>
                    <a:lstStyle/>
                    <a:p>
                      <a:r>
                        <a:rPr lang="en-US" dirty="0"/>
                        <a:t>0</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4137125130"/>
                  </a:ext>
                </a:extLst>
              </a:tr>
              <a:tr h="281628">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690765746"/>
                  </a:ext>
                </a:extLst>
              </a:tr>
            </a:tbl>
          </a:graphicData>
        </a:graphic>
      </p:graphicFrame>
      <p:cxnSp>
        <p:nvCxnSpPr>
          <p:cNvPr id="14" name="Straight Arrow Connector 13">
            <a:extLst>
              <a:ext uri="{FF2B5EF4-FFF2-40B4-BE49-F238E27FC236}">
                <a16:creationId xmlns:a16="http://schemas.microsoft.com/office/drawing/2014/main" id="{9900F29F-0ACB-D5FE-B12C-E9D74345F76C}"/>
              </a:ext>
            </a:extLst>
          </p:cNvPr>
          <p:cNvCxnSpPr>
            <a:cxnSpLocks/>
          </p:cNvCxnSpPr>
          <p:nvPr/>
        </p:nvCxnSpPr>
        <p:spPr>
          <a:xfrm flipH="1">
            <a:off x="5555727" y="3869124"/>
            <a:ext cx="780068"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DB555A4-FD7A-10EE-4BF0-A479F7363AC4}"/>
              </a:ext>
            </a:extLst>
          </p:cNvPr>
          <p:cNvCxnSpPr>
            <a:cxnSpLocks/>
          </p:cNvCxnSpPr>
          <p:nvPr/>
        </p:nvCxnSpPr>
        <p:spPr>
          <a:xfrm flipH="1">
            <a:off x="6998223" y="3888894"/>
            <a:ext cx="590550" cy="5602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9905781-32A2-6AB7-DE13-0B1D68BEDEBF}"/>
              </a:ext>
            </a:extLst>
          </p:cNvPr>
          <p:cNvCxnSpPr>
            <a:cxnSpLocks/>
          </p:cNvCxnSpPr>
          <p:nvPr/>
        </p:nvCxnSpPr>
        <p:spPr>
          <a:xfrm flipH="1">
            <a:off x="8206228" y="3793844"/>
            <a:ext cx="688060" cy="920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B675746-4885-F5C7-AD9C-51A7248E6B1E}"/>
              </a:ext>
            </a:extLst>
          </p:cNvPr>
          <p:cNvSpPr/>
          <p:nvPr/>
        </p:nvSpPr>
        <p:spPr>
          <a:xfrm>
            <a:off x="5087332" y="4673313"/>
            <a:ext cx="1295400" cy="753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rgbClr val="000000"/>
                </a:solidFill>
                <a:highlight>
                  <a:srgbClr val="FFFFFF"/>
                </a:highlight>
                <a:latin typeface="Consolas" panose="020B0609020204030204" pitchFamily="49" charset="0"/>
              </a:rPr>
              <a:t>Name =</a:t>
            </a:r>
            <a:r>
              <a:rPr lang="en-US" sz="1000" dirty="0">
                <a:solidFill>
                  <a:srgbClr val="A31515"/>
                </a:solidFill>
                <a:highlight>
                  <a:srgbClr val="FFFFFF"/>
                </a:highlight>
                <a:latin typeface="Consolas" panose="020B0609020204030204" pitchFamily="49" charset="0"/>
              </a:rPr>
              <a:t>"Raj"</a:t>
            </a:r>
            <a:r>
              <a:rPr lang="en-US" sz="1000" dirty="0">
                <a:solidFill>
                  <a:srgbClr val="000000"/>
                </a:solidFill>
                <a:highlight>
                  <a:srgbClr val="FFFFFF"/>
                </a:highlight>
                <a:latin typeface="Consolas" panose="020B0609020204030204" pitchFamily="49" charset="0"/>
              </a:rPr>
              <a:t>,</a:t>
            </a:r>
          </a:p>
          <a:p>
            <a:pPr algn="ctr"/>
            <a:r>
              <a:rPr lang="en-US" sz="1000" dirty="0">
                <a:solidFill>
                  <a:srgbClr val="000000"/>
                </a:solidFill>
                <a:highlight>
                  <a:srgbClr val="FFFFFF"/>
                </a:highlight>
                <a:latin typeface="Consolas" panose="020B0609020204030204" pitchFamily="49" charset="0"/>
              </a:rPr>
              <a:t>Salary =7000</a:t>
            </a:r>
            <a:endParaRPr lang="en-IN" sz="1000" dirty="0"/>
          </a:p>
        </p:txBody>
      </p:sp>
      <p:sp>
        <p:nvSpPr>
          <p:cNvPr id="20" name="Rectangle 19">
            <a:extLst>
              <a:ext uri="{FF2B5EF4-FFF2-40B4-BE49-F238E27FC236}">
                <a16:creationId xmlns:a16="http://schemas.microsoft.com/office/drawing/2014/main" id="{ECF5AB1D-AC06-9897-AF39-711D07D1063E}"/>
              </a:ext>
            </a:extLst>
          </p:cNvPr>
          <p:cNvSpPr/>
          <p:nvPr/>
        </p:nvSpPr>
        <p:spPr>
          <a:xfrm>
            <a:off x="6452059" y="4714086"/>
            <a:ext cx="1295400" cy="753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rgbClr val="000000"/>
                </a:solidFill>
                <a:highlight>
                  <a:srgbClr val="FFFFFF"/>
                </a:highlight>
                <a:latin typeface="Consolas" panose="020B0609020204030204" pitchFamily="49" charset="0"/>
              </a:rPr>
              <a:t>Name =</a:t>
            </a:r>
            <a:r>
              <a:rPr lang="en-US" sz="1000" dirty="0">
                <a:solidFill>
                  <a:srgbClr val="A31515"/>
                </a:solidFill>
                <a:highlight>
                  <a:srgbClr val="FFFFFF"/>
                </a:highlight>
                <a:latin typeface="Consolas" panose="020B0609020204030204" pitchFamily="49" charset="0"/>
              </a:rPr>
              <a:t>“Mona"</a:t>
            </a:r>
            <a:r>
              <a:rPr lang="en-US" sz="1000" dirty="0">
                <a:solidFill>
                  <a:srgbClr val="000000"/>
                </a:solidFill>
                <a:highlight>
                  <a:srgbClr val="FFFFFF"/>
                </a:highlight>
                <a:latin typeface="Consolas" panose="020B0609020204030204" pitchFamily="49" charset="0"/>
              </a:rPr>
              <a:t>,</a:t>
            </a:r>
          </a:p>
          <a:p>
            <a:pPr algn="ctr"/>
            <a:r>
              <a:rPr lang="en-US" sz="1000" dirty="0">
                <a:solidFill>
                  <a:srgbClr val="000000"/>
                </a:solidFill>
                <a:highlight>
                  <a:srgbClr val="FFFFFF"/>
                </a:highlight>
                <a:latin typeface="Consolas" panose="020B0609020204030204" pitchFamily="49" charset="0"/>
              </a:rPr>
              <a:t>Salary =7000</a:t>
            </a:r>
            <a:endParaRPr lang="en-IN" sz="1000" dirty="0"/>
          </a:p>
        </p:txBody>
      </p:sp>
      <p:sp>
        <p:nvSpPr>
          <p:cNvPr id="21" name="Rectangle 20">
            <a:extLst>
              <a:ext uri="{FF2B5EF4-FFF2-40B4-BE49-F238E27FC236}">
                <a16:creationId xmlns:a16="http://schemas.microsoft.com/office/drawing/2014/main" id="{BD405675-700D-C56F-01B5-A36704854B45}"/>
              </a:ext>
            </a:extLst>
          </p:cNvPr>
          <p:cNvSpPr/>
          <p:nvPr/>
        </p:nvSpPr>
        <p:spPr>
          <a:xfrm>
            <a:off x="8025549" y="4765587"/>
            <a:ext cx="1295400" cy="753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rgbClr val="000000"/>
                </a:solidFill>
                <a:highlight>
                  <a:srgbClr val="FFFFFF"/>
                </a:highlight>
                <a:latin typeface="Consolas" panose="020B0609020204030204" pitchFamily="49" charset="0"/>
              </a:rPr>
              <a:t>Name =</a:t>
            </a:r>
            <a:r>
              <a:rPr lang="en-US" sz="1000" dirty="0">
                <a:solidFill>
                  <a:srgbClr val="A31515"/>
                </a:solidFill>
                <a:highlight>
                  <a:srgbClr val="FFFFFF"/>
                </a:highlight>
                <a:latin typeface="Consolas" panose="020B0609020204030204" pitchFamily="49" charset="0"/>
              </a:rPr>
              <a:t>“Het"</a:t>
            </a:r>
            <a:r>
              <a:rPr lang="en-US" sz="1000" dirty="0">
                <a:solidFill>
                  <a:srgbClr val="000000"/>
                </a:solidFill>
                <a:highlight>
                  <a:srgbClr val="FFFFFF"/>
                </a:highlight>
                <a:latin typeface="Consolas" panose="020B0609020204030204" pitchFamily="49" charset="0"/>
              </a:rPr>
              <a:t>,</a:t>
            </a:r>
          </a:p>
          <a:p>
            <a:pPr algn="ctr"/>
            <a:r>
              <a:rPr lang="en-US" sz="1000" dirty="0">
                <a:solidFill>
                  <a:srgbClr val="000000"/>
                </a:solidFill>
                <a:highlight>
                  <a:srgbClr val="FFFFFF"/>
                </a:highlight>
                <a:latin typeface="Consolas" panose="020B0609020204030204" pitchFamily="49" charset="0"/>
              </a:rPr>
              <a:t>Salary =6000</a:t>
            </a:r>
            <a:endParaRPr lang="en-IN" sz="1000" dirty="0"/>
          </a:p>
        </p:txBody>
      </p:sp>
      <p:sp>
        <p:nvSpPr>
          <p:cNvPr id="27" name="TextBox 26">
            <a:extLst>
              <a:ext uri="{FF2B5EF4-FFF2-40B4-BE49-F238E27FC236}">
                <a16:creationId xmlns:a16="http://schemas.microsoft.com/office/drawing/2014/main" id="{12DDC969-BE34-096C-728A-CEDEB7F42705}"/>
              </a:ext>
            </a:extLst>
          </p:cNvPr>
          <p:cNvSpPr txBox="1"/>
          <p:nvPr/>
        </p:nvSpPr>
        <p:spPr>
          <a:xfrm>
            <a:off x="3811178" y="6055827"/>
            <a:ext cx="6099142" cy="261610"/>
          </a:xfrm>
          <a:prstGeom prst="rect">
            <a:avLst/>
          </a:prstGeom>
          <a:noFill/>
        </p:spPr>
        <p:txBody>
          <a:bodyPr wrap="square">
            <a:spAutoFit/>
          </a:bodyPr>
          <a:lstStyle/>
          <a:p>
            <a:pPr marL="0" indent="0">
              <a:buNone/>
            </a:pPr>
            <a:r>
              <a:rPr lang="en-US" sz="1100" dirty="0">
                <a:solidFill>
                  <a:srgbClr val="000000"/>
                </a:solidFill>
                <a:latin typeface="Consolas" panose="020B0609020204030204" pitchFamily="49" charset="0"/>
              </a:rPr>
              <a:t>Employee obj=</a:t>
            </a:r>
            <a:r>
              <a:rPr lang="en-US" sz="1100" dirty="0" err="1">
                <a:solidFill>
                  <a:srgbClr val="000000"/>
                </a:solidFill>
                <a:latin typeface="Consolas" panose="020B0609020204030204" pitchFamily="49" charset="0"/>
              </a:rPr>
              <a:t>listemp.Find</a:t>
            </a:r>
            <a:r>
              <a:rPr lang="en-US" sz="1100" dirty="0">
                <a:solidFill>
                  <a:srgbClr val="000000"/>
                </a:solidFill>
                <a:latin typeface="Consolas" panose="020B0609020204030204" pitchFamily="49" charset="0"/>
              </a:rPr>
              <a:t>((</a:t>
            </a:r>
            <a:r>
              <a:rPr lang="en-US" sz="1100" dirty="0" err="1">
                <a:solidFill>
                  <a:srgbClr val="000000"/>
                </a:solidFill>
                <a:latin typeface="Consolas" panose="020B0609020204030204" pitchFamily="49" charset="0"/>
              </a:rPr>
              <a:t>arr</a:t>
            </a:r>
            <a:r>
              <a:rPr lang="en-US" sz="1100" dirty="0">
                <a:solidFill>
                  <a:srgbClr val="000000"/>
                </a:solidFill>
                <a:latin typeface="Consolas" panose="020B0609020204030204" pitchFamily="49" charset="0"/>
              </a:rPr>
              <a:t>) =&gt; </a:t>
            </a:r>
            <a:r>
              <a:rPr lang="en-US" sz="1100" dirty="0" err="1">
                <a:solidFill>
                  <a:srgbClr val="000000"/>
                </a:solidFill>
                <a:latin typeface="Consolas" panose="020B0609020204030204" pitchFamily="49" charset="0"/>
              </a:rPr>
              <a:t>arr.Salary</a:t>
            </a:r>
            <a:r>
              <a:rPr lang="en-US" sz="1100" dirty="0">
                <a:solidFill>
                  <a:srgbClr val="000000"/>
                </a:solidFill>
                <a:latin typeface="Consolas" panose="020B0609020204030204" pitchFamily="49" charset="0"/>
              </a:rPr>
              <a:t> == 6000);</a:t>
            </a:r>
            <a:endParaRPr lang="en-IN" sz="1100" dirty="0">
              <a:solidFill>
                <a:srgbClr val="000000"/>
              </a:solidFill>
              <a:highlight>
                <a:srgbClr val="FFFFFF"/>
              </a:highlight>
              <a:latin typeface="Consolas" panose="020B0609020204030204" pitchFamily="49" charset="0"/>
            </a:endParaRPr>
          </a:p>
        </p:txBody>
      </p:sp>
      <p:sp>
        <p:nvSpPr>
          <p:cNvPr id="29" name="Freeform: Shape 28">
            <a:extLst>
              <a:ext uri="{FF2B5EF4-FFF2-40B4-BE49-F238E27FC236}">
                <a16:creationId xmlns:a16="http://schemas.microsoft.com/office/drawing/2014/main" id="{CFECD5AB-A016-B639-E0E9-C0C995A162CE}"/>
              </a:ext>
            </a:extLst>
          </p:cNvPr>
          <p:cNvSpPr/>
          <p:nvPr/>
        </p:nvSpPr>
        <p:spPr>
          <a:xfrm>
            <a:off x="3864990" y="1018095"/>
            <a:ext cx="2667785" cy="190587"/>
          </a:xfrm>
          <a:custGeom>
            <a:avLst/>
            <a:gdLst>
              <a:gd name="connsiteX0" fmla="*/ 0 w 2667785"/>
              <a:gd name="connsiteY0" fmla="*/ 150829 h 190587"/>
              <a:gd name="connsiteX1" fmla="*/ 47134 w 2667785"/>
              <a:gd name="connsiteY1" fmla="*/ 169682 h 190587"/>
              <a:gd name="connsiteX2" fmla="*/ 1432874 w 2667785"/>
              <a:gd name="connsiteY2" fmla="*/ 150829 h 190587"/>
              <a:gd name="connsiteX3" fmla="*/ 2337847 w 2667785"/>
              <a:gd name="connsiteY3" fmla="*/ 160256 h 190587"/>
              <a:gd name="connsiteX4" fmla="*/ 2564090 w 2667785"/>
              <a:gd name="connsiteY4" fmla="*/ 131975 h 190587"/>
              <a:gd name="connsiteX5" fmla="*/ 2601798 w 2667785"/>
              <a:gd name="connsiteY5" fmla="*/ 84841 h 190587"/>
              <a:gd name="connsiteX6" fmla="*/ 2630078 w 2667785"/>
              <a:gd name="connsiteY6" fmla="*/ 56561 h 190587"/>
              <a:gd name="connsiteX7" fmla="*/ 2667785 w 2667785"/>
              <a:gd name="connsiteY7" fmla="*/ 0 h 19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7785" h="190587">
                <a:moveTo>
                  <a:pt x="0" y="150829"/>
                </a:moveTo>
                <a:cubicBezTo>
                  <a:pt x="15711" y="157113"/>
                  <a:pt x="30213" y="169565"/>
                  <a:pt x="47134" y="169682"/>
                </a:cubicBezTo>
                <a:cubicBezTo>
                  <a:pt x="1263301" y="178070"/>
                  <a:pt x="937733" y="221564"/>
                  <a:pt x="1432874" y="150829"/>
                </a:cubicBezTo>
                <a:cubicBezTo>
                  <a:pt x="1734532" y="153971"/>
                  <a:pt x="2036215" y="165283"/>
                  <a:pt x="2337847" y="160256"/>
                </a:cubicBezTo>
                <a:cubicBezTo>
                  <a:pt x="2413838" y="158989"/>
                  <a:pt x="2491013" y="152854"/>
                  <a:pt x="2564090" y="131975"/>
                </a:cubicBezTo>
                <a:cubicBezTo>
                  <a:pt x="2583436" y="126447"/>
                  <a:pt x="2588548" y="99983"/>
                  <a:pt x="2601798" y="84841"/>
                </a:cubicBezTo>
                <a:cubicBezTo>
                  <a:pt x="2610577" y="74808"/>
                  <a:pt x="2621544" y="66802"/>
                  <a:pt x="2630078" y="56561"/>
                </a:cubicBezTo>
                <a:lnTo>
                  <a:pt x="2667785" y="0"/>
                </a:lnTo>
              </a:path>
            </a:pathLst>
          </a:custGeom>
          <a:ln w="5715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2272810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B80C9-0E02-1392-DEFC-5C932AD1B4B5}"/>
              </a:ext>
            </a:extLst>
          </p:cNvPr>
          <p:cNvSpPr>
            <a:spLocks noGrp="1"/>
          </p:cNvSpPr>
          <p:nvPr>
            <p:ph type="title"/>
          </p:nvPr>
        </p:nvSpPr>
        <p:spPr>
          <a:xfrm>
            <a:off x="1295400" y="-143593"/>
            <a:ext cx="7620000" cy="457199"/>
          </a:xfrm>
        </p:spPr>
        <p:txBody>
          <a:bodyPr>
            <a:normAutofit fontScale="90000"/>
          </a:bodyPr>
          <a:lstStyle/>
          <a:p>
            <a:r>
              <a:rPr lang="en-US" dirty="0"/>
              <a:t>DEMO Predicate</a:t>
            </a:r>
            <a:endParaRPr lang="en-IN" dirty="0"/>
          </a:p>
        </p:txBody>
      </p:sp>
      <p:sp>
        <p:nvSpPr>
          <p:cNvPr id="3" name="Content Placeholder 2">
            <a:extLst>
              <a:ext uri="{FF2B5EF4-FFF2-40B4-BE49-F238E27FC236}">
                <a16:creationId xmlns:a16="http://schemas.microsoft.com/office/drawing/2014/main" id="{5F9627AD-70F3-9F75-C239-4169A6022D33}"/>
              </a:ext>
            </a:extLst>
          </p:cNvPr>
          <p:cNvSpPr>
            <a:spLocks noGrp="1"/>
          </p:cNvSpPr>
          <p:nvPr>
            <p:ph idx="1"/>
          </p:nvPr>
        </p:nvSpPr>
        <p:spPr>
          <a:xfrm>
            <a:off x="304800" y="309678"/>
            <a:ext cx="8534400" cy="6049962"/>
          </a:xfrm>
        </p:spPr>
        <p:txBody>
          <a:bodyPr>
            <a:noAutofit/>
          </a:bodyPr>
          <a:lstStyle/>
          <a:p>
            <a:pPr marL="0" indent="0">
              <a:buNone/>
            </a:pPr>
            <a:r>
              <a:rPr lang="en-IN" sz="1100" dirty="0">
                <a:solidFill>
                  <a:srgbClr val="0000FF"/>
                </a:solidFill>
                <a:latin typeface="Cascadia Mono" panose="020B0609020000020004" pitchFamily="49" charset="0"/>
              </a:rPr>
              <a:t>	namespace</a:t>
            </a:r>
            <a:r>
              <a:rPr lang="en-IN" sz="1100" dirty="0">
                <a:solidFill>
                  <a:srgbClr val="000000"/>
                </a:solidFill>
                <a:latin typeface="Cascadia Mono" panose="020B0609020000020004" pitchFamily="49" charset="0"/>
              </a:rPr>
              <a:t> ConsoleApp2find</a:t>
            </a:r>
          </a:p>
          <a:p>
            <a:pPr marL="0" indent="0">
              <a:buNone/>
            </a:pP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Employee</a:t>
            </a:r>
            <a:endParaRPr lang="en-IN" sz="1100" dirty="0">
              <a:solidFill>
                <a:srgbClr val="000000"/>
              </a:solidFill>
              <a:latin typeface="Cascadia Mono" panose="020B0609020000020004" pitchFamily="49" charset="0"/>
            </a:endParaRPr>
          </a:p>
          <a:p>
            <a:pPr marL="0" indent="0">
              <a:buNone/>
            </a:pPr>
            <a:r>
              <a:rPr lang="en-IN" sz="1100" dirty="0">
                <a:solidFill>
                  <a:srgbClr val="000000"/>
                </a:solidFill>
                <a:latin typeface="Cascadia Mono" panose="020B0609020000020004" pitchFamily="49" charset="0"/>
              </a:rPr>
              <a:t>        {</a:t>
            </a:r>
          </a:p>
          <a:p>
            <a:pPr marL="0" indent="0">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int</a:t>
            </a:r>
            <a:r>
              <a:rPr lang="en-US" sz="1100" dirty="0">
                <a:solidFill>
                  <a:srgbClr val="000000"/>
                </a:solidFill>
                <a:latin typeface="Cascadia Mono" panose="020B0609020000020004" pitchFamily="49" charset="0"/>
              </a:rPr>
              <a:t> Salary{</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a:t>
            </a:r>
          </a:p>
          <a:p>
            <a:pPr marL="0" indent="0">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Name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internal</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err="1">
                <a:solidFill>
                  <a:srgbClr val="2B91AF"/>
                </a:solidFill>
                <a:latin typeface="Cascadia Mono" panose="020B0609020000020004" pitchFamily="49" charset="0"/>
              </a:rPr>
              <a:t>Mylist</a:t>
            </a:r>
            <a:endParaRPr lang="en-IN" sz="1100" dirty="0">
              <a:solidFill>
                <a:srgbClr val="000000"/>
              </a:solidFill>
              <a:latin typeface="Cascadia Mono" panose="020B0609020000020004" pitchFamily="49" charset="0"/>
            </a:endParaRPr>
          </a:p>
          <a:p>
            <a:pPr marL="0" indent="0">
              <a:buNone/>
            </a:pPr>
            <a:r>
              <a:rPr lang="en-IN" sz="1100" dirty="0">
                <a:solidFill>
                  <a:srgbClr val="000000"/>
                </a:solidFill>
                <a:latin typeface="Cascadia Mono" panose="020B0609020000020004" pitchFamily="49" charset="0"/>
              </a:rPr>
              <a:t>    {</a:t>
            </a:r>
          </a:p>
          <a:p>
            <a:pPr marL="0" indent="0">
              <a:buNone/>
            </a:pPr>
            <a:r>
              <a:rPr lang="en-US" sz="1100" dirty="0">
                <a:solidFill>
                  <a:srgbClr val="000000"/>
                </a:solidFill>
                <a:latin typeface="Cascadia Mono" panose="020B0609020000020004" pitchFamily="49" charset="0"/>
              </a:rPr>
              <a:t>        Employee[] _items =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 Employee[2];</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err="1">
                <a:solidFill>
                  <a:srgbClr val="2B91AF"/>
                </a:solidFill>
                <a:latin typeface="Cascadia Mono" panose="020B0609020000020004" pitchFamily="49" charset="0"/>
              </a:rPr>
              <a:t>Mylist</a:t>
            </a: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a:t>
            </a:r>
            <a:r>
              <a:rPr lang="en-US" sz="1100" dirty="0">
                <a:solidFill>
                  <a:srgbClr val="000000"/>
                </a:solidFill>
                <a:latin typeface="Cascadia Mono" panose="020B0609020000020004" pitchFamily="49" charset="0"/>
              </a:rPr>
              <a:t>     _items[0] =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 Employee { Salary = 6000, Name = </a:t>
            </a:r>
            <a:r>
              <a:rPr lang="en-US" sz="1100" dirty="0">
                <a:solidFill>
                  <a:srgbClr val="A31515"/>
                </a:solidFill>
                <a:latin typeface="Cascadia Mono" panose="020B0609020000020004" pitchFamily="49" charset="0"/>
              </a:rPr>
              <a:t>"Raj"</a:t>
            </a:r>
            <a:r>
              <a:rPr lang="en-US" sz="1100" dirty="0">
                <a:solidFill>
                  <a:srgbClr val="000000"/>
                </a:solidFill>
                <a:latin typeface="Cascadia Mono" panose="020B0609020000020004" pitchFamily="49" charset="0"/>
              </a:rPr>
              <a:t> };</a:t>
            </a:r>
          </a:p>
          <a:p>
            <a:pPr marL="0" indent="0">
              <a:buNone/>
            </a:pPr>
            <a:r>
              <a:rPr lang="en-US" sz="1100" dirty="0">
                <a:solidFill>
                  <a:srgbClr val="000000"/>
                </a:solidFill>
                <a:latin typeface="Cascadia Mono" panose="020B0609020000020004" pitchFamily="49" charset="0"/>
              </a:rPr>
              <a:t>            _items[1] =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 Employee { Salary = 3000, Name = </a:t>
            </a:r>
            <a:r>
              <a:rPr lang="en-US" sz="1100" dirty="0">
                <a:solidFill>
                  <a:srgbClr val="A31515"/>
                </a:solidFill>
                <a:latin typeface="Cascadia Mono" panose="020B0609020000020004" pitchFamily="49" charset="0"/>
              </a:rPr>
              <a:t>"Mona"</a:t>
            </a:r>
            <a:r>
              <a:rPr lang="en-US" sz="1100" dirty="0">
                <a:solidFill>
                  <a:srgbClr val="000000"/>
                </a:solidFill>
                <a:latin typeface="Cascadia Mono" panose="020B0609020000020004" pitchFamily="49" charset="0"/>
              </a:rPr>
              <a:t> };</a:t>
            </a:r>
          </a:p>
          <a:p>
            <a:pPr marL="0" indent="0">
              <a:buNone/>
            </a:pPr>
            <a:endParaRPr lang="en-IN" sz="1100" dirty="0">
              <a:solidFill>
                <a:srgbClr val="000000"/>
              </a:solidFill>
              <a:latin typeface="Cascadia Mono" panose="020B0609020000020004" pitchFamily="49" charset="0"/>
            </a:endParaRPr>
          </a:p>
          <a:p>
            <a:pPr marL="0" indent="0">
              <a:buNone/>
            </a:pPr>
            <a:r>
              <a:rPr lang="en-IN" sz="1100" dirty="0">
                <a:solidFill>
                  <a:srgbClr val="000000"/>
                </a:solidFill>
                <a:latin typeface="Cascadia Mono" panose="020B0609020000020004" pitchFamily="49" charset="0"/>
              </a:rPr>
              <a:t>        }</a:t>
            </a:r>
          </a:p>
          <a:p>
            <a:pPr marL="0" indent="0">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Employee </a:t>
            </a:r>
            <a:r>
              <a:rPr lang="en-US" sz="1100" dirty="0" err="1">
                <a:solidFill>
                  <a:srgbClr val="000000"/>
                </a:solidFill>
                <a:latin typeface="Cascadia Mono" panose="020B0609020000020004" pitchFamily="49" charset="0"/>
              </a:rPr>
              <a:t>MyFind</a:t>
            </a:r>
            <a:r>
              <a:rPr lang="en-US" sz="1100" dirty="0">
                <a:solidFill>
                  <a:srgbClr val="000000"/>
                </a:solidFill>
                <a:latin typeface="Cascadia Mono" panose="020B0609020000020004" pitchFamily="49" charset="0"/>
              </a:rPr>
              <a:t>(Predicate&lt;Employee&gt; match) </a:t>
            </a:r>
          </a:p>
          <a:p>
            <a:pPr marL="0" indent="0">
              <a:buNone/>
            </a:pPr>
            <a:r>
              <a:rPr lang="en-IN" sz="1100" dirty="0">
                <a:solidFill>
                  <a:srgbClr val="000000"/>
                </a:solidFill>
                <a:latin typeface="Cascadia Mono" panose="020B0609020000020004" pitchFamily="49" charset="0"/>
              </a:rPr>
              <a:t>        { </a:t>
            </a:r>
            <a:r>
              <a:rPr lang="en-IN" sz="1100" dirty="0">
                <a:solidFill>
                  <a:srgbClr val="0000FF"/>
                </a:solidFill>
                <a:latin typeface="Cascadia Mono" panose="020B0609020000020004" pitchFamily="49" charset="0"/>
              </a:rPr>
              <a:t>int</a:t>
            </a:r>
            <a:r>
              <a:rPr lang="en-IN" sz="1100" dirty="0">
                <a:solidFill>
                  <a:srgbClr val="000000"/>
                </a:solidFill>
                <a:latin typeface="Cascadia Mono" panose="020B0609020000020004" pitchFamily="49" charset="0"/>
              </a:rPr>
              <a:t> size = _</a:t>
            </a:r>
            <a:r>
              <a:rPr lang="en-IN" sz="1100" dirty="0" err="1">
                <a:solidFill>
                  <a:srgbClr val="000000"/>
                </a:solidFill>
                <a:latin typeface="Cascadia Mono" panose="020B0609020000020004" pitchFamily="49" charset="0"/>
              </a:rPr>
              <a:t>items.Length</a:t>
            </a:r>
            <a:r>
              <a:rPr lang="en-IN" sz="1100" dirty="0">
                <a:solidFill>
                  <a:srgbClr val="000000"/>
                </a:solidFill>
                <a:latin typeface="Cascadia Mono" panose="020B0609020000020004" pitchFamily="49" charset="0"/>
              </a:rPr>
              <a:t>;</a:t>
            </a:r>
          </a:p>
          <a:p>
            <a:pPr marL="0" indent="0">
              <a:buNone/>
            </a:pPr>
            <a:r>
              <a:rPr lang="nn-NO" sz="1100" dirty="0">
                <a:solidFill>
                  <a:srgbClr val="000000"/>
                </a:solidFill>
                <a:latin typeface="Cascadia Mono" panose="020B0609020000020004" pitchFamily="49" charset="0"/>
              </a:rPr>
              <a:t>            </a:t>
            </a:r>
            <a:r>
              <a:rPr lang="nn-NO" sz="1100" dirty="0">
                <a:solidFill>
                  <a:srgbClr val="0000FF"/>
                </a:solidFill>
                <a:latin typeface="Cascadia Mono" panose="020B0609020000020004" pitchFamily="49" charset="0"/>
              </a:rPr>
              <a:t>for</a:t>
            </a:r>
            <a:r>
              <a:rPr lang="nn-NO" sz="1100" dirty="0">
                <a:solidFill>
                  <a:srgbClr val="000000"/>
                </a:solidFill>
                <a:latin typeface="Cascadia Mono" panose="020B0609020000020004" pitchFamily="49" charset="0"/>
              </a:rPr>
              <a:t> (</a:t>
            </a:r>
            <a:r>
              <a:rPr lang="nn-NO" sz="1100" dirty="0">
                <a:solidFill>
                  <a:srgbClr val="0000FF"/>
                </a:solidFill>
                <a:latin typeface="Cascadia Mono" panose="020B0609020000020004" pitchFamily="49" charset="0"/>
              </a:rPr>
              <a:t>int</a:t>
            </a:r>
            <a:r>
              <a:rPr lang="nn-NO" sz="1100" dirty="0">
                <a:solidFill>
                  <a:srgbClr val="000000"/>
                </a:solidFill>
                <a:latin typeface="Cascadia Mono" panose="020B0609020000020004" pitchFamily="49" charset="0"/>
              </a:rPr>
              <a:t> i = 0; i &lt; size; i++)</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if</a:t>
            </a:r>
            <a:r>
              <a:rPr lang="en-IN" sz="1100" dirty="0">
                <a:solidFill>
                  <a:srgbClr val="000000"/>
                </a:solidFill>
                <a:latin typeface="Cascadia Mono" panose="020B0609020000020004" pitchFamily="49" charset="0"/>
              </a:rPr>
              <a:t> (match(_items[</a:t>
            </a:r>
            <a:r>
              <a:rPr lang="en-IN" sz="1100" dirty="0" err="1">
                <a:solidFill>
                  <a:srgbClr val="000000"/>
                </a:solidFill>
                <a:latin typeface="Cascadia Mono" panose="020B0609020000020004" pitchFamily="49" charset="0"/>
              </a:rPr>
              <a:t>i</a:t>
            </a: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return</a:t>
            </a:r>
            <a:r>
              <a:rPr lang="en-IN" sz="1100" dirty="0">
                <a:solidFill>
                  <a:srgbClr val="000000"/>
                </a:solidFill>
                <a:latin typeface="Cascadia Mono" panose="020B0609020000020004" pitchFamily="49" charset="0"/>
              </a:rPr>
              <a:t> _items[</a:t>
            </a:r>
            <a:r>
              <a:rPr lang="en-IN" sz="1100" dirty="0" err="1">
                <a:solidFill>
                  <a:srgbClr val="000000"/>
                </a:solidFill>
                <a:latin typeface="Cascadia Mono" panose="020B0609020000020004" pitchFamily="49" charset="0"/>
              </a:rPr>
              <a:t>i</a:t>
            </a: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return</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null</a:t>
            </a: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  </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internal</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Program</a:t>
            </a:r>
            <a:endParaRPr lang="en-IN" sz="1100" dirty="0">
              <a:solidFill>
                <a:srgbClr val="000000"/>
              </a:solidFill>
              <a:latin typeface="Cascadia Mono" panose="020B0609020000020004" pitchFamily="49" charset="0"/>
            </a:endParaRPr>
          </a:p>
          <a:p>
            <a:pPr marL="0" indent="0">
              <a:buNone/>
            </a:pPr>
            <a:r>
              <a:rPr lang="en-IN" sz="1100" dirty="0">
                <a:solidFill>
                  <a:srgbClr val="000000"/>
                </a:solidFill>
                <a:latin typeface="Cascadia Mono" panose="020B0609020000020004" pitchFamily="49" charset="0"/>
              </a:rPr>
              <a:t>    {</a:t>
            </a:r>
          </a:p>
          <a:p>
            <a:pPr marL="0" indent="0">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static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void</a:t>
            </a:r>
            <a:r>
              <a:rPr lang="en-US" sz="1100" dirty="0">
                <a:solidFill>
                  <a:srgbClr val="000000"/>
                </a:solidFill>
                <a:latin typeface="Cascadia Mono" panose="020B0609020000020004" pitchFamily="49" charset="0"/>
              </a:rPr>
              <a:t> Main(</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args</a:t>
            </a:r>
            <a:r>
              <a:rPr lang="en-US"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            </a:t>
            </a:r>
            <a:r>
              <a:rPr lang="en-IN" sz="1100" dirty="0" err="1">
                <a:solidFill>
                  <a:srgbClr val="000000"/>
                </a:solidFill>
                <a:latin typeface="Cascadia Mono" panose="020B0609020000020004" pitchFamily="49" charset="0"/>
              </a:rPr>
              <a:t>Console.WriteLine</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"Hello, World!"</a:t>
            </a: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Mylist</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mylist</a:t>
            </a:r>
            <a:r>
              <a:rPr lang="en-IN" sz="1100" dirty="0">
                <a:solidFill>
                  <a:srgbClr val="000000"/>
                </a:solidFill>
                <a:latin typeface="Cascadia Mono" panose="020B0609020000020004" pitchFamily="49" charset="0"/>
              </a:rPr>
              <a:t>=</a:t>
            </a:r>
            <a:r>
              <a:rPr lang="en-IN" sz="1100" dirty="0">
                <a:solidFill>
                  <a:srgbClr val="0000FF"/>
                </a:solidFill>
                <a:latin typeface="Cascadia Mono" panose="020B0609020000020004" pitchFamily="49" charset="0"/>
              </a:rPr>
              <a:t>new</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Mylist</a:t>
            </a:r>
            <a:r>
              <a:rPr lang="en-IN" sz="1100" dirty="0">
                <a:solidFill>
                  <a:srgbClr val="000000"/>
                </a:solidFill>
                <a:latin typeface="Cascadia Mono" panose="020B0609020000020004" pitchFamily="49" charset="0"/>
              </a:rPr>
              <a:t>();</a:t>
            </a:r>
          </a:p>
          <a:p>
            <a:pPr marL="0" indent="0">
              <a:buNone/>
            </a:pPr>
            <a:r>
              <a:rPr lang="en-US" sz="1100" dirty="0">
                <a:solidFill>
                  <a:srgbClr val="000000"/>
                </a:solidFill>
                <a:latin typeface="Cascadia Mono" panose="020B0609020000020004" pitchFamily="49" charset="0"/>
              </a:rPr>
              <a:t>           Employee e1= </a:t>
            </a:r>
            <a:r>
              <a:rPr lang="en-US" sz="1100" dirty="0" err="1">
                <a:solidFill>
                  <a:srgbClr val="000000"/>
                </a:solidFill>
                <a:latin typeface="Cascadia Mono" panose="020B0609020000020004" pitchFamily="49" charset="0"/>
              </a:rPr>
              <a:t>mylist.MyFind</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arr</a:t>
            </a:r>
            <a:r>
              <a:rPr lang="en-US" sz="1100" dirty="0">
                <a:solidFill>
                  <a:srgbClr val="000000"/>
                </a:solidFill>
                <a:latin typeface="Cascadia Mono" panose="020B0609020000020004" pitchFamily="49" charset="0"/>
              </a:rPr>
              <a:t>) =&gt; </a:t>
            </a:r>
            <a:r>
              <a:rPr lang="en-US" sz="1100" dirty="0" err="1">
                <a:solidFill>
                  <a:srgbClr val="000000"/>
                </a:solidFill>
                <a:latin typeface="Cascadia Mono" panose="020B0609020000020004" pitchFamily="49" charset="0"/>
              </a:rPr>
              <a:t>arr.Salary</a:t>
            </a:r>
            <a:r>
              <a:rPr lang="en-US" sz="1100" dirty="0">
                <a:solidFill>
                  <a:srgbClr val="000000"/>
                </a:solidFill>
                <a:latin typeface="Cascadia Mono" panose="020B0609020000020004" pitchFamily="49" charset="0"/>
              </a:rPr>
              <a:t> == 6000);</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a:t>
            </a:r>
            <a:endParaRPr lang="en-IN" sz="1100" dirty="0"/>
          </a:p>
        </p:txBody>
      </p:sp>
    </p:spTree>
    <p:extLst>
      <p:ext uri="{BB962C8B-B14F-4D97-AF65-F5344CB8AC3E}">
        <p14:creationId xmlns:p14="http://schemas.microsoft.com/office/powerpoint/2010/main" val="1819847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5DA22-BDFC-673F-21E3-E2EA2F7B2C4D}"/>
              </a:ext>
            </a:extLst>
          </p:cNvPr>
          <p:cNvSpPr>
            <a:spLocks noGrp="1"/>
          </p:cNvSpPr>
          <p:nvPr>
            <p:ph type="title"/>
          </p:nvPr>
        </p:nvSpPr>
        <p:spPr>
          <a:xfrm>
            <a:off x="1219200" y="31423"/>
            <a:ext cx="7467600" cy="457199"/>
          </a:xfrm>
        </p:spPr>
        <p:style>
          <a:lnRef idx="2">
            <a:schemeClr val="accent6"/>
          </a:lnRef>
          <a:fillRef idx="1">
            <a:schemeClr val="lt1"/>
          </a:fillRef>
          <a:effectRef idx="0">
            <a:schemeClr val="accent6"/>
          </a:effectRef>
          <a:fontRef idx="minor">
            <a:schemeClr val="dk1"/>
          </a:fontRef>
        </p:style>
        <p:txBody>
          <a:bodyPr>
            <a:noAutofit/>
          </a:bodyPr>
          <a:lstStyle/>
          <a:p>
            <a:r>
              <a:rPr lang="en-US" sz="2400" dirty="0"/>
              <a:t>Passing method definition in method call</a:t>
            </a:r>
            <a:endParaRPr lang="en-IN" sz="2400" dirty="0"/>
          </a:p>
        </p:txBody>
      </p:sp>
      <p:sp>
        <p:nvSpPr>
          <p:cNvPr id="3" name="Content Placeholder 2">
            <a:extLst>
              <a:ext uri="{FF2B5EF4-FFF2-40B4-BE49-F238E27FC236}">
                <a16:creationId xmlns:a16="http://schemas.microsoft.com/office/drawing/2014/main" id="{10DB8BA1-02AD-8CE5-81B5-7030E835A8D5}"/>
              </a:ext>
            </a:extLst>
          </p:cNvPr>
          <p:cNvSpPr>
            <a:spLocks noGrp="1"/>
          </p:cNvSpPr>
          <p:nvPr>
            <p:ph idx="1"/>
          </p:nvPr>
        </p:nvSpPr>
        <p:spPr>
          <a:xfrm>
            <a:off x="304800" y="685800"/>
            <a:ext cx="8382000" cy="5440363"/>
          </a:xfrm>
        </p:spPr>
        <p:txBody>
          <a:bodyPr>
            <a:normAutofit fontScale="77500" lnSpcReduction="20000"/>
          </a:bodyPr>
          <a:lstStyle/>
          <a:p>
            <a:pPr marL="0" indent="0">
              <a:buNone/>
            </a:pPr>
            <a:r>
              <a:rPr lang="en-IN" sz="1800" dirty="0">
                <a:solidFill>
                  <a:srgbClr val="0000FF"/>
                </a:solidFill>
                <a:latin typeface="Cascadia Mono" panose="020B0609020000020004" pitchFamily="49" charset="0"/>
              </a:rPr>
              <a:t>namespace</a:t>
            </a:r>
            <a:r>
              <a:rPr lang="en-IN" sz="1800" dirty="0">
                <a:solidFill>
                  <a:srgbClr val="000000"/>
                </a:solidFill>
                <a:latin typeface="Cascadia Mono" panose="020B0609020000020004" pitchFamily="49" charset="0"/>
              </a:rPr>
              <a:t> ConsoleApp2find</a:t>
            </a:r>
          </a:p>
          <a:p>
            <a:pPr marL="0" indent="0">
              <a:buNone/>
            </a:pPr>
            <a:r>
              <a:rPr lang="en-IN" sz="1800" dirty="0">
                <a:solidFill>
                  <a:srgbClr val="000000"/>
                </a:solidFill>
                <a:latin typeface="Cascadia Mono" panose="020B0609020000020004" pitchFamily="49" charset="0"/>
              </a:rPr>
              <a:t>{</a:t>
            </a:r>
          </a:p>
          <a:p>
            <a:pPr marL="0" indent="0">
              <a:buNone/>
            </a:pP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delegate</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void</a:t>
            </a:r>
            <a:r>
              <a:rPr lang="en-IN" sz="1800" dirty="0">
                <a:solidFill>
                  <a:srgbClr val="000000"/>
                </a:solidFill>
                <a:latin typeface="Cascadia Mono" panose="020B0609020000020004" pitchFamily="49" charset="0"/>
              </a:rPr>
              <a:t> </a:t>
            </a:r>
            <a:r>
              <a:rPr lang="en-IN" sz="1800" dirty="0" err="1">
                <a:solidFill>
                  <a:srgbClr val="2B91AF"/>
                </a:solidFill>
                <a:latin typeface="Cascadia Mono" panose="020B0609020000020004" pitchFamily="49" charset="0"/>
              </a:rPr>
              <a:t>myprint</a:t>
            </a:r>
            <a:r>
              <a:rPr lang="en-IN" sz="1800" dirty="0">
                <a:solidFill>
                  <a:srgbClr val="000000"/>
                </a:solidFill>
                <a:latin typeface="Cascadia Mono" panose="020B0609020000020004" pitchFamily="49" charset="0"/>
              </a:rPr>
              <a:t>();</a:t>
            </a:r>
          </a:p>
          <a:p>
            <a:pPr marL="0" indent="0">
              <a:buNone/>
            </a:pP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internal</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class</a:t>
            </a:r>
            <a:r>
              <a:rPr lang="en-IN" sz="1800" dirty="0">
                <a:solidFill>
                  <a:srgbClr val="000000"/>
                </a:solidFill>
                <a:latin typeface="Cascadia Mono" panose="020B0609020000020004" pitchFamily="49" charset="0"/>
              </a:rPr>
              <a:t> </a:t>
            </a:r>
            <a:r>
              <a:rPr lang="en-IN" sz="1800" dirty="0" err="1">
                <a:solidFill>
                  <a:srgbClr val="2B91AF"/>
                </a:solidFill>
                <a:latin typeface="Cascadia Mono" panose="020B0609020000020004" pitchFamily="49" charset="0"/>
              </a:rPr>
              <a:t>Mylist</a:t>
            </a:r>
            <a:endParaRPr lang="en-IN" sz="1800" dirty="0">
              <a:solidFill>
                <a:srgbClr val="000000"/>
              </a:solidFill>
              <a:latin typeface="Cascadia Mono" panose="020B0609020000020004" pitchFamily="49" charset="0"/>
            </a:endParaRP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p>
          <a:p>
            <a:pPr marL="0" indent="0">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void</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MyFind</a:t>
            </a:r>
            <a:r>
              <a:rPr lang="en-US" sz="1800" dirty="0">
                <a:solidFill>
                  <a:srgbClr val="000000"/>
                </a:solidFill>
                <a:latin typeface="Cascadia Mono" panose="020B0609020000020004" pitchFamily="49" charset="0"/>
              </a:rPr>
              <a:t>(</a:t>
            </a:r>
            <a:r>
              <a:rPr lang="en-US" sz="1800" dirty="0" err="1">
                <a:solidFill>
                  <a:srgbClr val="000000"/>
                </a:solidFill>
                <a:latin typeface="Cascadia Mono" panose="020B0609020000020004" pitchFamily="49" charset="0"/>
              </a:rPr>
              <a:t>myprint</a:t>
            </a:r>
            <a:r>
              <a:rPr lang="en-US" sz="1800" dirty="0">
                <a:solidFill>
                  <a:srgbClr val="000000"/>
                </a:solidFill>
                <a:latin typeface="Cascadia Mono" panose="020B0609020000020004" pitchFamily="49" charset="0"/>
              </a:rPr>
              <a:t> match) </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match();</a:t>
            </a:r>
          </a:p>
          <a:p>
            <a:pPr marL="0" indent="0">
              <a:buNone/>
            </a:pPr>
            <a:r>
              <a:rPr lang="en-IN" sz="1800" dirty="0">
                <a:solidFill>
                  <a:srgbClr val="000000"/>
                </a:solidFill>
                <a:latin typeface="Cascadia Mono" panose="020B0609020000020004" pitchFamily="49" charset="0"/>
              </a:rPr>
              <a:t>        }  </a:t>
            </a:r>
          </a:p>
          <a:p>
            <a:pPr marL="0" indent="0">
              <a:buNone/>
            </a:pPr>
            <a:endParaRPr lang="en-IN" sz="1800" dirty="0">
              <a:solidFill>
                <a:srgbClr val="000000"/>
              </a:solidFill>
              <a:latin typeface="Cascadia Mono" panose="020B0609020000020004" pitchFamily="49" charset="0"/>
            </a:endParaRPr>
          </a:p>
          <a:p>
            <a:pPr marL="0" indent="0">
              <a:buNone/>
            </a:pPr>
            <a:endParaRPr lang="en-IN" sz="1800" dirty="0">
              <a:solidFill>
                <a:srgbClr val="000000"/>
              </a:solidFill>
              <a:latin typeface="Cascadia Mono" panose="020B0609020000020004" pitchFamily="49" charset="0"/>
            </a:endParaRP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internal</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class</a:t>
            </a:r>
            <a:r>
              <a:rPr lang="en-IN" sz="1800" dirty="0">
                <a:solidFill>
                  <a:srgbClr val="000000"/>
                </a:solidFill>
                <a:latin typeface="Cascadia Mono" panose="020B0609020000020004" pitchFamily="49" charset="0"/>
              </a:rPr>
              <a:t> </a:t>
            </a:r>
            <a:r>
              <a:rPr lang="en-IN" sz="1800" dirty="0">
                <a:solidFill>
                  <a:srgbClr val="2B91AF"/>
                </a:solidFill>
                <a:latin typeface="Cascadia Mono" panose="020B0609020000020004" pitchFamily="49" charset="0"/>
              </a:rPr>
              <a:t>Program</a:t>
            </a:r>
            <a:endParaRPr lang="en-IN" sz="1800" dirty="0">
              <a:solidFill>
                <a:srgbClr val="000000"/>
              </a:solidFill>
              <a:latin typeface="Cascadia Mono" panose="020B0609020000020004" pitchFamily="49" charset="0"/>
            </a:endParaRPr>
          </a:p>
          <a:p>
            <a:pPr marL="0" indent="0">
              <a:buNone/>
            </a:pPr>
            <a:r>
              <a:rPr lang="en-IN" sz="1800" dirty="0">
                <a:solidFill>
                  <a:srgbClr val="000000"/>
                </a:solidFill>
                <a:latin typeface="Cascadia Mono" panose="020B0609020000020004" pitchFamily="49" charset="0"/>
              </a:rPr>
              <a:t>    {</a:t>
            </a:r>
          </a:p>
          <a:p>
            <a:pPr marL="0" indent="0">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static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void</a:t>
            </a:r>
            <a:r>
              <a:rPr lang="en-US" sz="1800" dirty="0">
                <a:solidFill>
                  <a:srgbClr val="000000"/>
                </a:solidFill>
                <a:latin typeface="Cascadia Mono" panose="020B0609020000020004" pitchFamily="49" charset="0"/>
              </a:rPr>
              <a:t> Main(</a:t>
            </a:r>
            <a:r>
              <a:rPr lang="en-US" sz="1800" dirty="0">
                <a:solidFill>
                  <a:srgbClr val="0000FF"/>
                </a:solidFill>
                <a:latin typeface="Cascadia Mono" panose="020B0609020000020004" pitchFamily="49" charset="0"/>
              </a:rPr>
              <a:t>string</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args</a:t>
            </a:r>
            <a:r>
              <a:rPr lang="en-US" sz="1800" dirty="0">
                <a:solidFill>
                  <a:srgbClr val="000000"/>
                </a:solidFill>
                <a:latin typeface="Cascadia Mono" panose="020B0609020000020004" pitchFamily="49" charset="0"/>
              </a:rPr>
              <a:t>)</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Mylist</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mylist</a:t>
            </a:r>
            <a:r>
              <a:rPr lang="en-IN" sz="1800" dirty="0">
                <a:solidFill>
                  <a:srgbClr val="000000"/>
                </a:solidFill>
                <a:latin typeface="Cascadia Mono" panose="020B0609020000020004" pitchFamily="49" charset="0"/>
              </a:rPr>
              <a:t>=</a:t>
            </a:r>
            <a:r>
              <a:rPr lang="en-IN" sz="1800" dirty="0">
                <a:solidFill>
                  <a:srgbClr val="0000FF"/>
                </a:solidFill>
                <a:latin typeface="Cascadia Mono" panose="020B0609020000020004" pitchFamily="49" charset="0"/>
              </a:rPr>
              <a:t>new</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Mylist</a:t>
            </a:r>
            <a:r>
              <a:rPr lang="en-IN" sz="1800" dirty="0">
                <a:solidFill>
                  <a:srgbClr val="000000"/>
                </a:solidFill>
                <a:latin typeface="Cascadia Mono" panose="020B0609020000020004" pitchFamily="49" charset="0"/>
              </a:rPr>
              <a:t>();</a:t>
            </a:r>
          </a:p>
          <a:p>
            <a:pPr marL="0" indent="0">
              <a:buNone/>
            </a:pPr>
            <a:endParaRPr lang="en-IN" sz="1800" dirty="0">
              <a:solidFill>
                <a:srgbClr val="000000"/>
              </a:solidFill>
              <a:latin typeface="Cascadia Mono" panose="020B0609020000020004" pitchFamily="49" charset="0"/>
            </a:endParaRPr>
          </a:p>
          <a:p>
            <a:pPr marL="0" indent="0">
              <a:buNone/>
            </a:pPr>
            <a:r>
              <a:rPr lang="nn-NO" sz="1800" dirty="0">
                <a:solidFill>
                  <a:srgbClr val="000000"/>
                </a:solidFill>
                <a:latin typeface="Cascadia Mono" panose="020B0609020000020004" pitchFamily="49" charset="0"/>
              </a:rPr>
              <a:t>          mylist.MyFind(() =&gt; Console.WriteLine(</a:t>
            </a:r>
            <a:r>
              <a:rPr lang="nn-NO" sz="1800" dirty="0">
                <a:solidFill>
                  <a:srgbClr val="A31515"/>
                </a:solidFill>
                <a:latin typeface="Cascadia Mono" panose="020B0609020000020004" pitchFamily="49" charset="0"/>
              </a:rPr>
              <a:t>"Hello delegate"</a:t>
            </a:r>
            <a:r>
              <a:rPr lang="nn-NO" sz="1800" dirty="0">
                <a:solidFill>
                  <a:srgbClr val="000000"/>
                </a:solidFill>
                <a:latin typeface="Cascadia Mono" panose="020B0609020000020004" pitchFamily="49" charset="0"/>
              </a:rPr>
              <a:t>));</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a:t>
            </a:r>
            <a:endParaRPr lang="en-IN" dirty="0"/>
          </a:p>
        </p:txBody>
      </p:sp>
      <p:cxnSp>
        <p:nvCxnSpPr>
          <p:cNvPr id="5" name="Straight Arrow Connector 4">
            <a:extLst>
              <a:ext uri="{FF2B5EF4-FFF2-40B4-BE49-F238E27FC236}">
                <a16:creationId xmlns:a16="http://schemas.microsoft.com/office/drawing/2014/main" id="{E0E6C0AA-A514-9AA0-4529-E348C0685E66}"/>
              </a:ext>
            </a:extLst>
          </p:cNvPr>
          <p:cNvCxnSpPr>
            <a:cxnSpLocks/>
          </p:cNvCxnSpPr>
          <p:nvPr/>
        </p:nvCxnSpPr>
        <p:spPr>
          <a:xfrm>
            <a:off x="4267200" y="2133600"/>
            <a:ext cx="990600" cy="2667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8053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A930E-D4AD-47FC-AC70-905B6C2A151F}"/>
              </a:ext>
            </a:extLst>
          </p:cNvPr>
          <p:cNvSpPr>
            <a:spLocks noGrp="1"/>
          </p:cNvSpPr>
          <p:nvPr>
            <p:ph type="title"/>
          </p:nvPr>
        </p:nvSpPr>
        <p:spPr>
          <a:xfrm>
            <a:off x="3804745" y="143260"/>
            <a:ext cx="4114800" cy="369332"/>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IN" b="1" dirty="0"/>
              <a:t>Sorted</a:t>
            </a:r>
            <a:r>
              <a:rPr lang="en-IN" dirty="0"/>
              <a:t> List</a:t>
            </a:r>
          </a:p>
        </p:txBody>
      </p:sp>
      <p:sp>
        <p:nvSpPr>
          <p:cNvPr id="3" name="Content Placeholder 2">
            <a:extLst>
              <a:ext uri="{FF2B5EF4-FFF2-40B4-BE49-F238E27FC236}">
                <a16:creationId xmlns:a16="http://schemas.microsoft.com/office/drawing/2014/main" id="{1AF8E85C-249F-4048-BF28-D14D806210A1}"/>
              </a:ext>
            </a:extLst>
          </p:cNvPr>
          <p:cNvSpPr>
            <a:spLocks noGrp="1"/>
          </p:cNvSpPr>
          <p:nvPr>
            <p:ph idx="1"/>
          </p:nvPr>
        </p:nvSpPr>
        <p:spPr>
          <a:xfrm>
            <a:off x="-21021" y="10510"/>
            <a:ext cx="4343400" cy="6629400"/>
          </a:xfrm>
        </p:spPr>
        <p:txBody>
          <a:bodyPr>
            <a:noAutofit/>
          </a:bodyPr>
          <a:lstStyle/>
          <a:p>
            <a:pPr marL="0" indent="0">
              <a:buNone/>
            </a:pPr>
            <a:r>
              <a:rPr lang="en-IN" sz="1200" dirty="0">
                <a:solidFill>
                  <a:srgbClr val="008000"/>
                </a:solidFill>
                <a:highlight>
                  <a:srgbClr val="FFFFFF"/>
                </a:highlight>
                <a:latin typeface="Consolas" panose="020B0609020204030204" pitchFamily="49" charset="0"/>
              </a:rPr>
              <a:t>// Demonstrate a </a:t>
            </a:r>
            <a:r>
              <a:rPr lang="en-IN" sz="1200" dirty="0" err="1">
                <a:solidFill>
                  <a:srgbClr val="008000"/>
                </a:solidFill>
                <a:highlight>
                  <a:srgbClr val="FFFFFF"/>
                </a:highlight>
                <a:latin typeface="Consolas" panose="020B0609020204030204" pitchFamily="49" charset="0"/>
              </a:rPr>
              <a:t>SortedList</a:t>
            </a:r>
            <a:r>
              <a:rPr lang="en-IN" sz="1200" dirty="0">
                <a:solidFill>
                  <a:srgbClr val="008000"/>
                </a:solidFill>
                <a:highlight>
                  <a:srgbClr val="FFFFFF"/>
                </a:highlight>
                <a:latin typeface="Consolas" panose="020B0609020204030204" pitchFamily="49" charset="0"/>
              </a:rPr>
              <a:t>&lt;TK, TV&gt;.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GenSLDemo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Create a sorted </a:t>
            </a:r>
            <a:r>
              <a:rPr lang="en-US" sz="1200" dirty="0" err="1">
                <a:solidFill>
                  <a:srgbClr val="008000"/>
                </a:solidFill>
                <a:highlight>
                  <a:srgbClr val="FFFFFF"/>
                </a:highlight>
                <a:latin typeface="Consolas" panose="020B0609020204030204" pitchFamily="49" charset="0"/>
              </a:rPr>
              <a:t>SortedList</a:t>
            </a:r>
            <a:r>
              <a:rPr lang="en-US" sz="1200" dirty="0">
                <a:solidFill>
                  <a:srgbClr val="008000"/>
                </a:solidFill>
                <a:highlight>
                  <a:srgbClr val="FFFFFF"/>
                </a:highlight>
                <a:latin typeface="Consolas" panose="020B0609020204030204" pitchFamily="49" charset="0"/>
              </a:rPr>
              <a:t>&lt;T&gt; for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employee names and salaries.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SortedList</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&gt; </a:t>
            </a:r>
            <a:r>
              <a:rPr lang="en-IN" sz="1200" dirty="0" err="1">
                <a:solidFill>
                  <a:srgbClr val="000000"/>
                </a:solidFill>
                <a:highlight>
                  <a:srgbClr val="FFFFFF"/>
                </a:highlight>
                <a:latin typeface="Consolas" panose="020B0609020204030204" pitchFamily="49" charset="0"/>
              </a:rPr>
              <a:t>sl</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SortedList</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&gt;();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Add elements to the collection.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sl.Add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"Butler"</a:t>
            </a:r>
            <a:r>
              <a:rPr lang="en-IN" sz="1200" dirty="0">
                <a:solidFill>
                  <a:srgbClr val="000000"/>
                </a:solidFill>
                <a:highlight>
                  <a:srgbClr val="FFFFFF"/>
                </a:highlight>
                <a:latin typeface="Consolas" panose="020B0609020204030204" pitchFamily="49" charset="0"/>
              </a:rPr>
              <a:t>, 73000);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sl.Add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Sanoj</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59000);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sl.Add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Piku</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45000);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sl.Add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"Frank"</a:t>
            </a:r>
            <a:r>
              <a:rPr lang="en-IN" sz="1200" dirty="0">
                <a:solidFill>
                  <a:srgbClr val="000000"/>
                </a:solidFill>
                <a:highlight>
                  <a:srgbClr val="FFFFFF"/>
                </a:highlight>
                <a:latin typeface="Consolas" panose="020B0609020204030204" pitchFamily="49" charset="0"/>
              </a:rPr>
              <a:t>, 99000);</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Get a collection of the keys.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ICollection</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&gt; c = </a:t>
            </a:r>
            <a:r>
              <a:rPr lang="en-US" sz="1200" dirty="0" err="1">
                <a:solidFill>
                  <a:srgbClr val="000000"/>
                </a:solidFill>
                <a:highlight>
                  <a:srgbClr val="FFFFFF"/>
                </a:highlight>
                <a:latin typeface="Consolas" panose="020B0609020204030204" pitchFamily="49" charset="0"/>
              </a:rPr>
              <a:t>sl.Keys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sl.Keys</a:t>
            </a:r>
            <a:r>
              <a:rPr lang="en-IN" sz="1200" dirty="0">
                <a:solidFill>
                  <a:srgbClr val="000000"/>
                </a:solidFill>
                <a:highlight>
                  <a:srgbClr val="FFFFFF"/>
                </a:highlight>
                <a:latin typeface="Consolas" panose="020B0609020204030204" pitchFamily="49" charset="0"/>
              </a:rPr>
              <a:t>[0]);</a:t>
            </a:r>
          </a:p>
          <a:p>
            <a:pPr marL="0" indent="0">
              <a:buNone/>
            </a:pPr>
            <a:r>
              <a:rPr lang="en-IN" sz="18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Console.WriteLine</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sl</a:t>
            </a:r>
            <a:r>
              <a:rPr lang="en-IN" sz="1200" dirty="0">
                <a:solidFill>
                  <a:srgbClr val="000000"/>
                </a:solidFill>
                <a:latin typeface="Cascadia Mono" panose="020B0609020000020004" pitchFamily="49" charset="0"/>
              </a:rPr>
              <a:t>[</a:t>
            </a:r>
            <a:r>
              <a:rPr lang="en-IN" sz="1200" dirty="0">
                <a:solidFill>
                  <a:srgbClr val="A31515"/>
                </a:solidFill>
                <a:latin typeface="Cascadia Mono" panose="020B0609020000020004" pitchFamily="49" charset="0"/>
              </a:rPr>
              <a:t>"Butler"</a:t>
            </a:r>
            <a:r>
              <a:rPr lang="en-IN" sz="1200" dirty="0">
                <a:solidFill>
                  <a:srgbClr val="000000"/>
                </a:solidFill>
                <a:latin typeface="Cascadia Mono" panose="020B0609020000020004" pitchFamily="49" charset="0"/>
              </a:rPr>
              <a:t>]);</a:t>
            </a:r>
            <a:endParaRPr lang="en-IN" sz="10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Use the keys to obtain the values.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foreach</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str </a:t>
            </a:r>
            <a:r>
              <a:rPr lang="en-IN" sz="1200" dirty="0">
                <a:solidFill>
                  <a:srgbClr val="0000FF"/>
                </a:solidFill>
                <a:highlight>
                  <a:srgbClr val="FFFFFF"/>
                </a:highlight>
                <a:latin typeface="Consolas" panose="020B0609020204030204" pitchFamily="49" charset="0"/>
              </a:rPr>
              <a:t>in</a:t>
            </a:r>
            <a:r>
              <a:rPr lang="en-IN" sz="1200" dirty="0">
                <a:solidFill>
                  <a:srgbClr val="000000"/>
                </a:solidFill>
                <a:highlight>
                  <a:srgbClr val="FFFFFF"/>
                </a:highlight>
                <a:latin typeface="Consolas" panose="020B0609020204030204" pitchFamily="49" charset="0"/>
              </a:rPr>
              <a:t> c)</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 Salary: {1:C}"</a:t>
            </a:r>
            <a:r>
              <a:rPr lang="en-IN" sz="1200" dirty="0">
                <a:solidFill>
                  <a:srgbClr val="000000"/>
                </a:solidFill>
                <a:highlight>
                  <a:srgbClr val="FFFFFF"/>
                </a:highlight>
                <a:latin typeface="Consolas" panose="020B0609020204030204" pitchFamily="49" charset="0"/>
              </a:rPr>
              <a:t>, str, </a:t>
            </a:r>
            <a:r>
              <a:rPr lang="en-IN" sz="1200" dirty="0" err="1">
                <a:solidFill>
                  <a:srgbClr val="000000"/>
                </a:solidFill>
                <a:highlight>
                  <a:srgbClr val="FFFFFF"/>
                </a:highlight>
                <a:latin typeface="Consolas" panose="020B0609020204030204" pitchFamily="49" charset="0"/>
              </a:rPr>
              <a:t>sl</a:t>
            </a:r>
            <a:r>
              <a:rPr lang="en-IN" sz="1200" dirty="0">
                <a:solidFill>
                  <a:srgbClr val="000000"/>
                </a:solidFill>
                <a:highlight>
                  <a:srgbClr val="FFFFFF"/>
                </a:highlight>
                <a:latin typeface="Consolas" panose="020B0609020204030204" pitchFamily="49" charset="0"/>
              </a:rPr>
              <a:t>[str]);</a:t>
            </a:r>
          </a:p>
          <a:p>
            <a:pPr marL="0" indent="0">
              <a:buNone/>
            </a:pPr>
            <a:r>
              <a:rPr lang="en-US" sz="18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foreach</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KeyValuePair</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&gt; x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sl</a:t>
            </a:r>
            <a:r>
              <a:rPr lang="en-US" sz="120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(x);</a:t>
            </a:r>
            <a:endParaRPr lang="en-IN" sz="105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p>
        </p:txBody>
      </p:sp>
      <p:sp>
        <p:nvSpPr>
          <p:cNvPr id="4" name="TextBox 3">
            <a:extLst>
              <a:ext uri="{FF2B5EF4-FFF2-40B4-BE49-F238E27FC236}">
                <a16:creationId xmlns:a16="http://schemas.microsoft.com/office/drawing/2014/main" id="{1E05CA35-B559-4189-B5D3-4B9DF1B7BDD4}"/>
              </a:ext>
            </a:extLst>
          </p:cNvPr>
          <p:cNvSpPr txBox="1"/>
          <p:nvPr/>
        </p:nvSpPr>
        <p:spPr>
          <a:xfrm>
            <a:off x="4343399" y="655174"/>
            <a:ext cx="457202" cy="369332"/>
          </a:xfrm>
          <a:prstGeom prst="rect">
            <a:avLst/>
          </a:prstGeom>
          <a:noFill/>
        </p:spPr>
        <p:txBody>
          <a:bodyPr wrap="square" rtlCol="0">
            <a:spAutoFit/>
          </a:bodyPr>
          <a:lstStyle/>
          <a:p>
            <a:r>
              <a:rPr lang="en-IN" dirty="0" err="1"/>
              <a:t>sl</a:t>
            </a:r>
            <a:endParaRPr lang="en-IN" dirty="0"/>
          </a:p>
        </p:txBody>
      </p:sp>
      <p:graphicFrame>
        <p:nvGraphicFramePr>
          <p:cNvPr id="5" name="Table 5">
            <a:extLst>
              <a:ext uri="{FF2B5EF4-FFF2-40B4-BE49-F238E27FC236}">
                <a16:creationId xmlns:a16="http://schemas.microsoft.com/office/drawing/2014/main" id="{0D2BE6C4-D528-47D3-ACEC-8383A8AD2E10}"/>
              </a:ext>
            </a:extLst>
          </p:cNvPr>
          <p:cNvGraphicFramePr>
            <a:graphicFrameLocks noGrp="1"/>
          </p:cNvGraphicFramePr>
          <p:nvPr>
            <p:extLst>
              <p:ext uri="{D42A27DB-BD31-4B8C-83A1-F6EECF244321}">
                <p14:modId xmlns:p14="http://schemas.microsoft.com/office/powerpoint/2010/main" val="3007937739"/>
              </p:ext>
            </p:extLst>
          </p:nvPr>
        </p:nvGraphicFramePr>
        <p:xfrm>
          <a:off x="4322379" y="1136750"/>
          <a:ext cx="7010400" cy="1100745"/>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75074711"/>
                    </a:ext>
                  </a:extLst>
                </a:gridCol>
                <a:gridCol w="876300">
                  <a:extLst>
                    <a:ext uri="{9D8B030D-6E8A-4147-A177-3AD203B41FA5}">
                      <a16:colId xmlns:a16="http://schemas.microsoft.com/office/drawing/2014/main" val="1496193313"/>
                    </a:ext>
                  </a:extLst>
                </a:gridCol>
                <a:gridCol w="876300">
                  <a:extLst>
                    <a:ext uri="{9D8B030D-6E8A-4147-A177-3AD203B41FA5}">
                      <a16:colId xmlns:a16="http://schemas.microsoft.com/office/drawing/2014/main" val="3797299816"/>
                    </a:ext>
                  </a:extLst>
                </a:gridCol>
                <a:gridCol w="876300">
                  <a:extLst>
                    <a:ext uri="{9D8B030D-6E8A-4147-A177-3AD203B41FA5}">
                      <a16:colId xmlns:a16="http://schemas.microsoft.com/office/drawing/2014/main" val="2120810301"/>
                    </a:ext>
                  </a:extLst>
                </a:gridCol>
                <a:gridCol w="876300">
                  <a:extLst>
                    <a:ext uri="{9D8B030D-6E8A-4147-A177-3AD203B41FA5}">
                      <a16:colId xmlns:a16="http://schemas.microsoft.com/office/drawing/2014/main" val="1956239635"/>
                    </a:ext>
                  </a:extLst>
                </a:gridCol>
                <a:gridCol w="876300">
                  <a:extLst>
                    <a:ext uri="{9D8B030D-6E8A-4147-A177-3AD203B41FA5}">
                      <a16:colId xmlns:a16="http://schemas.microsoft.com/office/drawing/2014/main" val="1339126075"/>
                    </a:ext>
                  </a:extLst>
                </a:gridCol>
                <a:gridCol w="876300">
                  <a:extLst>
                    <a:ext uri="{9D8B030D-6E8A-4147-A177-3AD203B41FA5}">
                      <a16:colId xmlns:a16="http://schemas.microsoft.com/office/drawing/2014/main" val="1855523740"/>
                    </a:ext>
                  </a:extLst>
                </a:gridCol>
                <a:gridCol w="876300">
                  <a:extLst>
                    <a:ext uri="{9D8B030D-6E8A-4147-A177-3AD203B41FA5}">
                      <a16:colId xmlns:a16="http://schemas.microsoft.com/office/drawing/2014/main" val="2796826016"/>
                    </a:ext>
                  </a:extLst>
                </a:gridCol>
              </a:tblGrid>
              <a:tr h="460665">
                <a:tc>
                  <a:txBody>
                    <a:bodyPr/>
                    <a:lstStyle/>
                    <a:p>
                      <a:r>
                        <a:rPr lang="en-IN" dirty="0"/>
                        <a:t>Butler</a:t>
                      </a:r>
                    </a:p>
                    <a:p>
                      <a:endParaRPr lang="en-IN" dirty="0"/>
                    </a:p>
                  </a:txBody>
                  <a:tcPr/>
                </a:tc>
                <a:tc>
                  <a:txBody>
                    <a:bodyPr/>
                    <a:lstStyle/>
                    <a:p>
                      <a:r>
                        <a:rPr lang="en-IN" dirty="0"/>
                        <a:t>Frank</a:t>
                      </a:r>
                    </a:p>
                    <a:p>
                      <a:endParaRPr lang="en-IN" dirty="0"/>
                    </a:p>
                  </a:txBody>
                  <a:tcPr/>
                </a:tc>
                <a:tc>
                  <a:txBody>
                    <a:bodyPr/>
                    <a:lstStyle/>
                    <a:p>
                      <a:r>
                        <a:rPr lang="en-IN" dirty="0" err="1"/>
                        <a:t>Piku</a:t>
                      </a:r>
                      <a:endParaRPr lang="en-IN" dirty="0"/>
                    </a:p>
                    <a:p>
                      <a:endParaRPr lang="en-IN" dirty="0"/>
                    </a:p>
                  </a:txBody>
                  <a:tcPr/>
                </a:tc>
                <a:tc>
                  <a:txBody>
                    <a:bodyPr/>
                    <a:lstStyle/>
                    <a:p>
                      <a:r>
                        <a:rPr lang="en-IN" dirty="0" err="1"/>
                        <a:t>Sanoj</a:t>
                      </a:r>
                      <a:endParaRPr lang="en-IN" dirty="0"/>
                    </a:p>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70796963"/>
                  </a:ext>
                </a:extLst>
              </a:tr>
              <a:tr h="460665">
                <a:tc>
                  <a:txBody>
                    <a:bodyPr/>
                    <a:lstStyle/>
                    <a:p>
                      <a:r>
                        <a:rPr lang="en-IN" dirty="0"/>
                        <a:t>73000</a:t>
                      </a:r>
                    </a:p>
                  </a:txBody>
                  <a:tcPr/>
                </a:tc>
                <a:tc>
                  <a:txBody>
                    <a:bodyPr/>
                    <a:lstStyle/>
                    <a:p>
                      <a:r>
                        <a:rPr lang="en-IN" dirty="0"/>
                        <a:t>99000</a:t>
                      </a:r>
                    </a:p>
                  </a:txBody>
                  <a:tcPr/>
                </a:tc>
                <a:tc>
                  <a:txBody>
                    <a:bodyPr/>
                    <a:lstStyle/>
                    <a:p>
                      <a:r>
                        <a:rPr lang="en-IN" dirty="0"/>
                        <a:t>45000</a:t>
                      </a:r>
                    </a:p>
                  </a:txBody>
                  <a:tcPr/>
                </a:tc>
                <a:tc>
                  <a:txBody>
                    <a:bodyPr/>
                    <a:lstStyle/>
                    <a:p>
                      <a:r>
                        <a:rPr lang="en-IN" dirty="0"/>
                        <a:t>50000</a:t>
                      </a:r>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150390130"/>
                  </a:ext>
                </a:extLst>
              </a:tr>
            </a:tbl>
          </a:graphicData>
        </a:graphic>
      </p:graphicFrame>
      <p:sp>
        <p:nvSpPr>
          <p:cNvPr id="6" name="TextBox 5">
            <a:extLst>
              <a:ext uri="{FF2B5EF4-FFF2-40B4-BE49-F238E27FC236}">
                <a16:creationId xmlns:a16="http://schemas.microsoft.com/office/drawing/2014/main" id="{62DEB790-443D-4260-A56C-F03497AF8C0D}"/>
              </a:ext>
            </a:extLst>
          </p:cNvPr>
          <p:cNvSpPr txBox="1"/>
          <p:nvPr/>
        </p:nvSpPr>
        <p:spPr>
          <a:xfrm>
            <a:off x="5410200" y="3962400"/>
            <a:ext cx="533400" cy="369332"/>
          </a:xfrm>
          <a:prstGeom prst="rect">
            <a:avLst/>
          </a:prstGeom>
          <a:noFill/>
        </p:spPr>
        <p:txBody>
          <a:bodyPr wrap="square" rtlCol="0">
            <a:spAutoFit/>
          </a:bodyPr>
          <a:lstStyle/>
          <a:p>
            <a:r>
              <a:rPr lang="en-IN" dirty="0"/>
              <a:t>x</a:t>
            </a:r>
          </a:p>
        </p:txBody>
      </p:sp>
      <p:sp>
        <p:nvSpPr>
          <p:cNvPr id="7" name="Rectangle 6">
            <a:extLst>
              <a:ext uri="{FF2B5EF4-FFF2-40B4-BE49-F238E27FC236}">
                <a16:creationId xmlns:a16="http://schemas.microsoft.com/office/drawing/2014/main" id="{89506230-2926-4FF7-A5E2-3E6ED2DD0B40}"/>
              </a:ext>
            </a:extLst>
          </p:cNvPr>
          <p:cNvSpPr/>
          <p:nvPr/>
        </p:nvSpPr>
        <p:spPr>
          <a:xfrm>
            <a:off x="5486400" y="4331732"/>
            <a:ext cx="1219200" cy="10022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Butler</a:t>
            </a:r>
          </a:p>
          <a:p>
            <a:pPr algn="ctr"/>
            <a:r>
              <a:rPr lang="en-IN" dirty="0"/>
              <a:t>73000</a:t>
            </a:r>
          </a:p>
        </p:txBody>
      </p:sp>
      <p:sp>
        <p:nvSpPr>
          <p:cNvPr id="8" name="TextBox 7">
            <a:extLst>
              <a:ext uri="{FF2B5EF4-FFF2-40B4-BE49-F238E27FC236}">
                <a16:creationId xmlns:a16="http://schemas.microsoft.com/office/drawing/2014/main" id="{BEB3D7DC-452F-4B9D-8D85-DC1F25E8C874}"/>
              </a:ext>
            </a:extLst>
          </p:cNvPr>
          <p:cNvSpPr txBox="1"/>
          <p:nvPr/>
        </p:nvSpPr>
        <p:spPr>
          <a:xfrm>
            <a:off x="5486400" y="5562600"/>
            <a:ext cx="1295400" cy="381000"/>
          </a:xfrm>
          <a:prstGeom prst="rect">
            <a:avLst/>
          </a:prstGeom>
          <a:noFill/>
        </p:spPr>
        <p:txBody>
          <a:bodyPr wrap="square" rtlCol="0">
            <a:spAutoFit/>
          </a:bodyPr>
          <a:lstStyle/>
          <a:p>
            <a:r>
              <a:rPr lang="en-IN" dirty="0"/>
              <a:t>stack</a:t>
            </a:r>
          </a:p>
        </p:txBody>
      </p:sp>
      <p:sp>
        <p:nvSpPr>
          <p:cNvPr id="9" name="TextBox 8">
            <a:extLst>
              <a:ext uri="{FF2B5EF4-FFF2-40B4-BE49-F238E27FC236}">
                <a16:creationId xmlns:a16="http://schemas.microsoft.com/office/drawing/2014/main" id="{118481E4-F7E7-4538-B5E8-D6DCB320E9C2}"/>
              </a:ext>
            </a:extLst>
          </p:cNvPr>
          <p:cNvSpPr txBox="1"/>
          <p:nvPr/>
        </p:nvSpPr>
        <p:spPr>
          <a:xfrm>
            <a:off x="4572000" y="2406095"/>
            <a:ext cx="2133600" cy="369332"/>
          </a:xfrm>
          <a:prstGeom prst="rect">
            <a:avLst/>
          </a:prstGeom>
          <a:noFill/>
        </p:spPr>
        <p:txBody>
          <a:bodyPr wrap="square" rtlCol="0">
            <a:spAutoFit/>
          </a:bodyPr>
          <a:lstStyle/>
          <a:p>
            <a:r>
              <a:rPr lang="en-US" sz="1800" dirty="0" err="1">
                <a:solidFill>
                  <a:srgbClr val="000000"/>
                </a:solidFill>
                <a:highlight>
                  <a:srgbClr val="FFFFFF"/>
                </a:highlight>
                <a:latin typeface="Consolas" panose="020B0609020204030204" pitchFamily="49" charset="0"/>
              </a:rPr>
              <a:t>sl.Keys</a:t>
            </a:r>
            <a:endParaRPr lang="en-IN" dirty="0"/>
          </a:p>
        </p:txBody>
      </p:sp>
      <p:graphicFrame>
        <p:nvGraphicFramePr>
          <p:cNvPr id="11" name="Table 5">
            <a:extLst>
              <a:ext uri="{FF2B5EF4-FFF2-40B4-BE49-F238E27FC236}">
                <a16:creationId xmlns:a16="http://schemas.microsoft.com/office/drawing/2014/main" id="{A8EE9E48-044D-4F21-A228-88E2BE5BCAFE}"/>
              </a:ext>
            </a:extLst>
          </p:cNvPr>
          <p:cNvGraphicFramePr>
            <a:graphicFrameLocks noGrp="1"/>
          </p:cNvGraphicFramePr>
          <p:nvPr>
            <p:extLst>
              <p:ext uri="{D42A27DB-BD31-4B8C-83A1-F6EECF244321}">
                <p14:modId xmlns:p14="http://schemas.microsoft.com/office/powerpoint/2010/main" val="693784745"/>
              </p:ext>
            </p:extLst>
          </p:nvPr>
        </p:nvGraphicFramePr>
        <p:xfrm>
          <a:off x="4575560" y="2895600"/>
          <a:ext cx="7010400" cy="1100745"/>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75074711"/>
                    </a:ext>
                  </a:extLst>
                </a:gridCol>
                <a:gridCol w="876300">
                  <a:extLst>
                    <a:ext uri="{9D8B030D-6E8A-4147-A177-3AD203B41FA5}">
                      <a16:colId xmlns:a16="http://schemas.microsoft.com/office/drawing/2014/main" val="1496193313"/>
                    </a:ext>
                  </a:extLst>
                </a:gridCol>
                <a:gridCol w="876300">
                  <a:extLst>
                    <a:ext uri="{9D8B030D-6E8A-4147-A177-3AD203B41FA5}">
                      <a16:colId xmlns:a16="http://schemas.microsoft.com/office/drawing/2014/main" val="3797299816"/>
                    </a:ext>
                  </a:extLst>
                </a:gridCol>
                <a:gridCol w="876300">
                  <a:extLst>
                    <a:ext uri="{9D8B030D-6E8A-4147-A177-3AD203B41FA5}">
                      <a16:colId xmlns:a16="http://schemas.microsoft.com/office/drawing/2014/main" val="2120810301"/>
                    </a:ext>
                  </a:extLst>
                </a:gridCol>
                <a:gridCol w="876300">
                  <a:extLst>
                    <a:ext uri="{9D8B030D-6E8A-4147-A177-3AD203B41FA5}">
                      <a16:colId xmlns:a16="http://schemas.microsoft.com/office/drawing/2014/main" val="1956239635"/>
                    </a:ext>
                  </a:extLst>
                </a:gridCol>
                <a:gridCol w="876300">
                  <a:extLst>
                    <a:ext uri="{9D8B030D-6E8A-4147-A177-3AD203B41FA5}">
                      <a16:colId xmlns:a16="http://schemas.microsoft.com/office/drawing/2014/main" val="1339126075"/>
                    </a:ext>
                  </a:extLst>
                </a:gridCol>
                <a:gridCol w="876300">
                  <a:extLst>
                    <a:ext uri="{9D8B030D-6E8A-4147-A177-3AD203B41FA5}">
                      <a16:colId xmlns:a16="http://schemas.microsoft.com/office/drawing/2014/main" val="1855523740"/>
                    </a:ext>
                  </a:extLst>
                </a:gridCol>
                <a:gridCol w="876300">
                  <a:extLst>
                    <a:ext uri="{9D8B030D-6E8A-4147-A177-3AD203B41FA5}">
                      <a16:colId xmlns:a16="http://schemas.microsoft.com/office/drawing/2014/main" val="2796826016"/>
                    </a:ext>
                  </a:extLst>
                </a:gridCol>
              </a:tblGrid>
              <a:tr h="460665">
                <a:tc>
                  <a:txBody>
                    <a:bodyPr/>
                    <a:lstStyle/>
                    <a:p>
                      <a:r>
                        <a:rPr lang="en-IN" dirty="0"/>
                        <a:t>0</a:t>
                      </a:r>
                    </a:p>
                    <a:p>
                      <a:endParaRPr lang="en-IN" dirty="0"/>
                    </a:p>
                  </a:txBody>
                  <a:tcPr/>
                </a:tc>
                <a:tc>
                  <a:txBody>
                    <a:bodyPr/>
                    <a:lstStyle/>
                    <a:p>
                      <a:r>
                        <a:rPr lang="en-IN" dirty="0"/>
                        <a:t>1</a:t>
                      </a:r>
                    </a:p>
                  </a:txBody>
                  <a:tcPr/>
                </a:tc>
                <a:tc>
                  <a:txBody>
                    <a:bodyPr/>
                    <a:lstStyle/>
                    <a:p>
                      <a:r>
                        <a:rPr lang="en-IN" dirty="0"/>
                        <a:t>2</a:t>
                      </a:r>
                    </a:p>
                  </a:txBody>
                  <a:tcPr/>
                </a:tc>
                <a:tc>
                  <a:txBody>
                    <a:bodyPr/>
                    <a:lstStyle/>
                    <a:p>
                      <a:r>
                        <a:rPr lang="en-IN" dirty="0"/>
                        <a:t>3</a:t>
                      </a:r>
                    </a:p>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70796963"/>
                  </a:ext>
                </a:extLst>
              </a:tr>
              <a:tr h="460665">
                <a:tc>
                  <a:txBody>
                    <a:bodyPr/>
                    <a:lstStyle/>
                    <a:p>
                      <a:r>
                        <a:rPr lang="en-IN" dirty="0"/>
                        <a:t>Butler</a:t>
                      </a:r>
                    </a:p>
                  </a:txBody>
                  <a:tcPr/>
                </a:tc>
                <a:tc>
                  <a:txBody>
                    <a:bodyPr/>
                    <a:lstStyle/>
                    <a:p>
                      <a:r>
                        <a:rPr lang="en-IN" dirty="0"/>
                        <a:t>Frank</a:t>
                      </a:r>
                    </a:p>
                  </a:txBody>
                  <a:tcPr/>
                </a:tc>
                <a:tc>
                  <a:txBody>
                    <a:bodyPr/>
                    <a:lstStyle/>
                    <a:p>
                      <a:r>
                        <a:rPr lang="en-IN" dirty="0" err="1"/>
                        <a:t>Piku</a:t>
                      </a:r>
                      <a:endParaRPr lang="en-IN" dirty="0"/>
                    </a:p>
                  </a:txBody>
                  <a:tcPr/>
                </a:tc>
                <a:tc>
                  <a:txBody>
                    <a:bodyPr/>
                    <a:lstStyle/>
                    <a:p>
                      <a:r>
                        <a:rPr lang="en-IN" dirty="0" err="1"/>
                        <a:t>Sanoj</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150390130"/>
                  </a:ext>
                </a:extLst>
              </a:tr>
            </a:tbl>
          </a:graphicData>
        </a:graphic>
      </p:graphicFrame>
    </p:spTree>
    <p:extLst>
      <p:ext uri="{BB962C8B-B14F-4D97-AF65-F5344CB8AC3E}">
        <p14:creationId xmlns:p14="http://schemas.microsoft.com/office/powerpoint/2010/main" val="825182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6DC271-227C-4C56-95CE-A20F53EBFAAA}"/>
              </a:ext>
            </a:extLst>
          </p:cNvPr>
          <p:cNvSpPr>
            <a:spLocks noGrp="1"/>
          </p:cNvSpPr>
          <p:nvPr>
            <p:ph idx="1"/>
          </p:nvPr>
        </p:nvSpPr>
        <p:spPr>
          <a:xfrm>
            <a:off x="159774" y="44867"/>
            <a:ext cx="5105400" cy="6477000"/>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ConsoleApplication17</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SortedList</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&gt; </a:t>
            </a:r>
            <a:r>
              <a:rPr lang="en-IN" sz="1200" dirty="0" err="1">
                <a:solidFill>
                  <a:srgbClr val="000000"/>
                </a:solidFill>
                <a:highlight>
                  <a:srgbClr val="FFFFFF"/>
                </a:highlight>
                <a:latin typeface="Consolas" panose="020B0609020204030204" pitchFamily="49" charset="0"/>
              </a:rPr>
              <a:t>openWith</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SortedList</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&gt;();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Add some elements to the list. There are no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8000"/>
                </a:solidFill>
                <a:highlight>
                  <a:srgbClr val="FFFFFF"/>
                </a:highlight>
                <a:latin typeface="Consolas" panose="020B0609020204030204" pitchFamily="49" charset="0"/>
              </a:rPr>
              <a:t>// duplicate keys, but some of the values are duplicates.</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openWith.Add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"txt"</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"notepad.exe"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openWith.Add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"bmp"</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"paint.exe"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openWith.Add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"dib"</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"paint.exe"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openWith.Add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"rtf"</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"wordpad.exe"</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The Add method throws an exception if the new key is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already in the list.</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try</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openWith.Add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"txt"</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"winword.exe"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catch</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ArgumentException</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"An element with Key = \"txt\" already exists."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2" name="TextBox 1">
            <a:extLst>
              <a:ext uri="{FF2B5EF4-FFF2-40B4-BE49-F238E27FC236}">
                <a16:creationId xmlns:a16="http://schemas.microsoft.com/office/drawing/2014/main" id="{24C7DBDC-96AB-4FD7-849F-0A0BAC1343B5}"/>
              </a:ext>
            </a:extLst>
          </p:cNvPr>
          <p:cNvSpPr txBox="1"/>
          <p:nvPr/>
        </p:nvSpPr>
        <p:spPr>
          <a:xfrm>
            <a:off x="7010400" y="0"/>
            <a:ext cx="1752600" cy="369332"/>
          </a:xfrm>
          <a:prstGeom prst="rect">
            <a:avLst/>
          </a:prstGeom>
          <a:noFill/>
        </p:spPr>
        <p:txBody>
          <a:bodyPr wrap="square" rtlCol="0">
            <a:spAutoFit/>
          </a:bodyPr>
          <a:lstStyle/>
          <a:p>
            <a:r>
              <a:rPr lang="en-IN" dirty="0"/>
              <a:t>Sorted List</a:t>
            </a:r>
          </a:p>
        </p:txBody>
      </p:sp>
      <p:graphicFrame>
        <p:nvGraphicFramePr>
          <p:cNvPr id="5" name="Table 5">
            <a:extLst>
              <a:ext uri="{FF2B5EF4-FFF2-40B4-BE49-F238E27FC236}">
                <a16:creationId xmlns:a16="http://schemas.microsoft.com/office/drawing/2014/main" id="{F4914281-DB9E-4FC6-8744-79EE49193A1E}"/>
              </a:ext>
            </a:extLst>
          </p:cNvPr>
          <p:cNvGraphicFramePr>
            <a:graphicFrameLocks noGrp="1"/>
          </p:cNvGraphicFramePr>
          <p:nvPr>
            <p:extLst>
              <p:ext uri="{D42A27DB-BD31-4B8C-83A1-F6EECF244321}">
                <p14:modId xmlns:p14="http://schemas.microsoft.com/office/powerpoint/2010/main" val="2599087538"/>
              </p:ext>
            </p:extLst>
          </p:nvPr>
        </p:nvGraphicFramePr>
        <p:xfrm>
          <a:off x="5257800" y="1371600"/>
          <a:ext cx="7086600" cy="1554480"/>
        </p:xfrm>
        <a:graphic>
          <a:graphicData uri="http://schemas.openxmlformats.org/drawingml/2006/table">
            <a:tbl>
              <a:tblPr firstRow="1" bandRow="1">
                <a:tableStyleId>{5C22544A-7EE6-4342-B048-85BDC9FD1C3A}</a:tableStyleId>
              </a:tblPr>
              <a:tblGrid>
                <a:gridCol w="885825">
                  <a:extLst>
                    <a:ext uri="{9D8B030D-6E8A-4147-A177-3AD203B41FA5}">
                      <a16:colId xmlns:a16="http://schemas.microsoft.com/office/drawing/2014/main" val="275074711"/>
                    </a:ext>
                  </a:extLst>
                </a:gridCol>
                <a:gridCol w="885825">
                  <a:extLst>
                    <a:ext uri="{9D8B030D-6E8A-4147-A177-3AD203B41FA5}">
                      <a16:colId xmlns:a16="http://schemas.microsoft.com/office/drawing/2014/main" val="1496193313"/>
                    </a:ext>
                  </a:extLst>
                </a:gridCol>
                <a:gridCol w="885825">
                  <a:extLst>
                    <a:ext uri="{9D8B030D-6E8A-4147-A177-3AD203B41FA5}">
                      <a16:colId xmlns:a16="http://schemas.microsoft.com/office/drawing/2014/main" val="3797299816"/>
                    </a:ext>
                  </a:extLst>
                </a:gridCol>
                <a:gridCol w="885825">
                  <a:extLst>
                    <a:ext uri="{9D8B030D-6E8A-4147-A177-3AD203B41FA5}">
                      <a16:colId xmlns:a16="http://schemas.microsoft.com/office/drawing/2014/main" val="2120810301"/>
                    </a:ext>
                  </a:extLst>
                </a:gridCol>
                <a:gridCol w="885825">
                  <a:extLst>
                    <a:ext uri="{9D8B030D-6E8A-4147-A177-3AD203B41FA5}">
                      <a16:colId xmlns:a16="http://schemas.microsoft.com/office/drawing/2014/main" val="1956239635"/>
                    </a:ext>
                  </a:extLst>
                </a:gridCol>
                <a:gridCol w="885825">
                  <a:extLst>
                    <a:ext uri="{9D8B030D-6E8A-4147-A177-3AD203B41FA5}">
                      <a16:colId xmlns:a16="http://schemas.microsoft.com/office/drawing/2014/main" val="1339126075"/>
                    </a:ext>
                  </a:extLst>
                </a:gridCol>
                <a:gridCol w="885825">
                  <a:extLst>
                    <a:ext uri="{9D8B030D-6E8A-4147-A177-3AD203B41FA5}">
                      <a16:colId xmlns:a16="http://schemas.microsoft.com/office/drawing/2014/main" val="1855523740"/>
                    </a:ext>
                  </a:extLst>
                </a:gridCol>
                <a:gridCol w="885825">
                  <a:extLst>
                    <a:ext uri="{9D8B030D-6E8A-4147-A177-3AD203B41FA5}">
                      <a16:colId xmlns:a16="http://schemas.microsoft.com/office/drawing/2014/main" val="2796826016"/>
                    </a:ext>
                  </a:extLst>
                </a:gridCol>
              </a:tblGrid>
              <a:tr h="533400">
                <a:tc>
                  <a:txBody>
                    <a:bodyPr/>
                    <a:lstStyle/>
                    <a:p>
                      <a:r>
                        <a:rPr lang="en-IN" dirty="0"/>
                        <a:t>bmp</a:t>
                      </a:r>
                    </a:p>
                    <a:p>
                      <a:endParaRPr lang="en-IN" dirty="0"/>
                    </a:p>
                  </a:txBody>
                  <a:tcPr/>
                </a:tc>
                <a:tc>
                  <a:txBody>
                    <a:bodyPr/>
                    <a:lstStyle/>
                    <a:p>
                      <a:r>
                        <a:rPr lang="en-IN" dirty="0"/>
                        <a:t>dib</a:t>
                      </a:r>
                    </a:p>
                    <a:p>
                      <a:endParaRPr lang="en-IN" dirty="0"/>
                    </a:p>
                  </a:txBody>
                  <a:tcPr/>
                </a:tc>
                <a:tc>
                  <a:txBody>
                    <a:bodyPr/>
                    <a:lstStyle/>
                    <a:p>
                      <a:r>
                        <a:rPr lang="en-IN" dirty="0"/>
                        <a:t>rtf</a:t>
                      </a:r>
                    </a:p>
                    <a:p>
                      <a:endParaRPr lang="en-IN" dirty="0"/>
                    </a:p>
                  </a:txBody>
                  <a:tcPr/>
                </a:tc>
                <a:tc>
                  <a:txBody>
                    <a:bodyPr/>
                    <a:lstStyle/>
                    <a:p>
                      <a:r>
                        <a:rPr lang="en-IN" dirty="0"/>
                        <a:t>text</a:t>
                      </a:r>
                    </a:p>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70796963"/>
                  </a:ext>
                </a:extLst>
              </a:tr>
              <a:tr h="762000">
                <a:tc>
                  <a:txBody>
                    <a:bodyPr/>
                    <a:lstStyle/>
                    <a:p>
                      <a:r>
                        <a:rPr lang="en-IN" sz="1800" dirty="0">
                          <a:solidFill>
                            <a:srgbClr val="A31515"/>
                          </a:solidFill>
                          <a:highlight>
                            <a:srgbClr val="FFFFFF"/>
                          </a:highlight>
                          <a:latin typeface="Consolas" panose="020B0609020204030204" pitchFamily="49" charset="0"/>
                        </a:rPr>
                        <a:t>paint.exe</a:t>
                      </a:r>
                      <a:endParaRPr lang="en-IN" dirty="0"/>
                    </a:p>
                  </a:txBody>
                  <a:tcPr/>
                </a:tc>
                <a:tc>
                  <a:txBody>
                    <a:bodyPr/>
                    <a:lstStyle/>
                    <a:p>
                      <a:r>
                        <a:rPr lang="en-IN" sz="1800" dirty="0">
                          <a:solidFill>
                            <a:srgbClr val="A31515"/>
                          </a:solidFill>
                          <a:highlight>
                            <a:srgbClr val="FFFFFF"/>
                          </a:highlight>
                          <a:latin typeface="Consolas" panose="020B0609020204030204" pitchFamily="49" charset="0"/>
                        </a:rPr>
                        <a:t>paint.exe</a:t>
                      </a:r>
                      <a:endParaRPr lang="en-IN" dirty="0"/>
                    </a:p>
                  </a:txBody>
                  <a:tcPr/>
                </a:tc>
                <a:tc>
                  <a:txBody>
                    <a:bodyPr/>
                    <a:lstStyle/>
                    <a:p>
                      <a:r>
                        <a:rPr lang="en-IN" sz="1800" dirty="0">
                          <a:solidFill>
                            <a:srgbClr val="A31515"/>
                          </a:solidFill>
                          <a:highlight>
                            <a:srgbClr val="FFFFFF"/>
                          </a:highlight>
                          <a:latin typeface="Consolas" panose="020B0609020204030204" pitchFamily="49" charset="0"/>
                        </a:rPr>
                        <a:t>wordpad.exe</a:t>
                      </a:r>
                      <a:endParaRPr lang="en-IN" dirty="0"/>
                    </a:p>
                  </a:txBody>
                  <a:tcPr/>
                </a:tc>
                <a:tc>
                  <a:txBody>
                    <a:bodyPr/>
                    <a:lstStyle/>
                    <a:p>
                      <a:r>
                        <a:rPr lang="en-IN" sz="1800" dirty="0">
                          <a:solidFill>
                            <a:srgbClr val="A31515"/>
                          </a:solidFill>
                          <a:highlight>
                            <a:srgbClr val="FFFFFF"/>
                          </a:highlight>
                          <a:latin typeface="Consolas" panose="020B0609020204030204" pitchFamily="49" charset="0"/>
                        </a:rPr>
                        <a:t>notepad.exe</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150390130"/>
                  </a:ext>
                </a:extLst>
              </a:tr>
            </a:tbl>
          </a:graphicData>
        </a:graphic>
      </p:graphicFrame>
      <p:sp>
        <p:nvSpPr>
          <p:cNvPr id="6" name="TextBox 5">
            <a:extLst>
              <a:ext uri="{FF2B5EF4-FFF2-40B4-BE49-F238E27FC236}">
                <a16:creationId xmlns:a16="http://schemas.microsoft.com/office/drawing/2014/main" id="{CB335EEE-E1BB-42C4-9C99-1BC7C1CEF9F0}"/>
              </a:ext>
            </a:extLst>
          </p:cNvPr>
          <p:cNvSpPr txBox="1"/>
          <p:nvPr/>
        </p:nvSpPr>
        <p:spPr>
          <a:xfrm>
            <a:off x="5410200" y="685800"/>
            <a:ext cx="1447800" cy="369332"/>
          </a:xfrm>
          <a:prstGeom prst="rect">
            <a:avLst/>
          </a:prstGeom>
          <a:noFill/>
        </p:spPr>
        <p:txBody>
          <a:bodyPr wrap="square" rtlCol="0">
            <a:spAutoFit/>
          </a:bodyPr>
          <a:lstStyle/>
          <a:p>
            <a:r>
              <a:rPr lang="en-IN" sz="1800" dirty="0" err="1">
                <a:solidFill>
                  <a:srgbClr val="000000"/>
                </a:solidFill>
                <a:highlight>
                  <a:srgbClr val="FFFFFF"/>
                </a:highlight>
                <a:latin typeface="Consolas" panose="020B0609020204030204" pitchFamily="49" charset="0"/>
              </a:rPr>
              <a:t>openWith</a:t>
            </a:r>
            <a:endParaRPr lang="en-IN" dirty="0"/>
          </a:p>
        </p:txBody>
      </p:sp>
    </p:spTree>
    <p:extLst>
      <p:ext uri="{BB962C8B-B14F-4D97-AF65-F5344CB8AC3E}">
        <p14:creationId xmlns:p14="http://schemas.microsoft.com/office/powerpoint/2010/main" val="364723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512DBA-15AA-4F63-988C-AC61D5BA0590}"/>
              </a:ext>
            </a:extLst>
          </p:cNvPr>
          <p:cNvSpPr>
            <a:spLocks noGrp="1"/>
          </p:cNvSpPr>
          <p:nvPr>
            <p:ph idx="1"/>
          </p:nvPr>
        </p:nvSpPr>
        <p:spPr>
          <a:xfrm>
            <a:off x="152400" y="609600"/>
            <a:ext cx="7162800" cy="6096000"/>
          </a:xfrm>
        </p:spPr>
        <p:txBody>
          <a:bodyPr>
            <a:normAutofit fontScale="85000" lnSpcReduction="10000"/>
          </a:bodyPr>
          <a:lstStyle/>
          <a:p>
            <a:pPr marL="0" indent="0">
              <a:buNone/>
            </a:pPr>
            <a:r>
              <a:rPr lang="en-US" sz="1800" dirty="0">
                <a:solidFill>
                  <a:srgbClr val="008000"/>
                </a:solidFill>
                <a:highlight>
                  <a:srgbClr val="FFFFFF"/>
                </a:highlight>
                <a:latin typeface="Consolas" panose="020B0609020204030204" pitchFamily="49" charset="0"/>
              </a:rPr>
              <a:t>// The Item property is another name for the indexer, so you </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can omit its name when accessing elements. </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"For key = \"rtf\", value = {0}."</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openWith</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"rtf"</a:t>
            </a:r>
            <a:r>
              <a:rPr lang="en-IN"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The indexer can be used to change the value associated</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8000"/>
                </a:solidFill>
                <a:highlight>
                  <a:srgbClr val="FFFFFF"/>
                </a:highlight>
                <a:latin typeface="Consolas" panose="020B0609020204030204" pitchFamily="49" charset="0"/>
              </a:rPr>
              <a:t>// with a key.</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openWith</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"rtf"</a:t>
            </a:r>
            <a:r>
              <a:rPr lang="en-IN" sz="1800" dirty="0">
                <a:solidFill>
                  <a:srgbClr val="000000"/>
                </a:solidFill>
                <a:highlight>
                  <a:srgbClr val="FFFFFF"/>
                </a:highlight>
                <a:latin typeface="Consolas" panose="020B0609020204030204" pitchFamily="49" charset="0"/>
              </a:rPr>
              <a:t>] = </a:t>
            </a:r>
            <a:r>
              <a:rPr lang="en-IN" sz="1800" dirty="0">
                <a:solidFill>
                  <a:srgbClr val="A31515"/>
                </a:solidFill>
                <a:highlight>
                  <a:srgbClr val="FFFFFF"/>
                </a:highlight>
                <a:latin typeface="Consolas" panose="020B0609020204030204" pitchFamily="49" charset="0"/>
              </a:rPr>
              <a:t>"winword.exe"</a:t>
            </a: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"For key = \"rtf\", value = {0}."</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openWith</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"rtf"</a:t>
            </a: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Use the Remove method to remove a key/value pair.</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a:t>
            </a:r>
            <a:r>
              <a:rPr lang="en-IN" sz="1800" dirty="0" err="1">
                <a:solidFill>
                  <a:srgbClr val="A31515"/>
                </a:solidFill>
                <a:highlight>
                  <a:srgbClr val="FFFFFF"/>
                </a:highlight>
                <a:latin typeface="Consolas" panose="020B0609020204030204" pitchFamily="49" charset="0"/>
              </a:rPr>
              <a:t>nRemove</a:t>
            </a:r>
            <a:r>
              <a:rPr lang="en-IN" sz="1800" dirty="0">
                <a:solidFill>
                  <a:srgbClr val="A31515"/>
                </a:solidFill>
                <a:highlight>
                  <a:srgbClr val="FFFFFF"/>
                </a:highlight>
                <a:latin typeface="Consolas" panose="020B0609020204030204" pitchFamily="49" charset="0"/>
              </a:rPr>
              <a:t>(\"doc\")"</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openWith.Remove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"doc"</a:t>
            </a:r>
            <a:r>
              <a:rPr lang="en-IN"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if</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openWith.ContainsKey</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"doc"</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"Key \"doc\" is not found."</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a:t>
            </a:r>
            <a:endParaRPr lang="en-IN" dirty="0"/>
          </a:p>
        </p:txBody>
      </p:sp>
      <p:sp>
        <p:nvSpPr>
          <p:cNvPr id="5" name="TextBox 4">
            <a:extLst>
              <a:ext uri="{FF2B5EF4-FFF2-40B4-BE49-F238E27FC236}">
                <a16:creationId xmlns:a16="http://schemas.microsoft.com/office/drawing/2014/main" id="{97E5741B-8751-4A6E-BA1C-B27DDDD4ADDF}"/>
              </a:ext>
            </a:extLst>
          </p:cNvPr>
          <p:cNvSpPr txBox="1"/>
          <p:nvPr/>
        </p:nvSpPr>
        <p:spPr>
          <a:xfrm>
            <a:off x="7010400" y="0"/>
            <a:ext cx="1752600" cy="369332"/>
          </a:xfrm>
          <a:prstGeom prst="rect">
            <a:avLst/>
          </a:prstGeom>
          <a:noFill/>
        </p:spPr>
        <p:txBody>
          <a:bodyPr wrap="square" rtlCol="0">
            <a:spAutoFit/>
          </a:bodyPr>
          <a:lstStyle/>
          <a:p>
            <a:r>
              <a:rPr lang="en-IN" dirty="0"/>
              <a:t>Sorted List</a:t>
            </a:r>
          </a:p>
        </p:txBody>
      </p:sp>
    </p:spTree>
    <p:extLst>
      <p:ext uri="{BB962C8B-B14F-4D97-AF65-F5344CB8AC3E}">
        <p14:creationId xmlns:p14="http://schemas.microsoft.com/office/powerpoint/2010/main" val="29513234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CC3C6-B39F-4DEF-AC31-BADF6CBBB16C}"/>
              </a:ext>
            </a:extLst>
          </p:cNvPr>
          <p:cNvSpPr>
            <a:spLocks noGrp="1"/>
          </p:cNvSpPr>
          <p:nvPr>
            <p:ph type="title"/>
          </p:nvPr>
        </p:nvSpPr>
        <p:spPr>
          <a:xfrm>
            <a:off x="4953000" y="0"/>
            <a:ext cx="4191000" cy="533400"/>
          </a:xfrm>
        </p:spPr>
        <p:txBody>
          <a:bodyPr>
            <a:normAutofit fontScale="90000"/>
          </a:bodyPr>
          <a:lstStyle/>
          <a:p>
            <a:r>
              <a:rPr lang="en-IN" dirty="0"/>
              <a:t>Demo 2 Sorted List</a:t>
            </a:r>
          </a:p>
        </p:txBody>
      </p:sp>
      <p:sp>
        <p:nvSpPr>
          <p:cNvPr id="3" name="Content Placeholder 2">
            <a:extLst>
              <a:ext uri="{FF2B5EF4-FFF2-40B4-BE49-F238E27FC236}">
                <a16:creationId xmlns:a16="http://schemas.microsoft.com/office/drawing/2014/main" id="{A6D92886-C9DB-40B9-ABA5-ED865191F956}"/>
              </a:ext>
            </a:extLst>
          </p:cNvPr>
          <p:cNvSpPr>
            <a:spLocks noGrp="1"/>
          </p:cNvSpPr>
          <p:nvPr>
            <p:ph idx="1"/>
          </p:nvPr>
        </p:nvSpPr>
        <p:spPr>
          <a:xfrm>
            <a:off x="0" y="-152400"/>
            <a:ext cx="4800600" cy="7162800"/>
          </a:xfrm>
        </p:spPr>
        <p:txBody>
          <a:bodyPr>
            <a:noAutofit/>
          </a:bodyPr>
          <a:lstStyle/>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ConsoleApplication17</a:t>
            </a:r>
          </a:p>
          <a:p>
            <a:pPr marL="0" indent="0">
              <a:spcBef>
                <a:spcPts val="0"/>
              </a:spcBef>
              <a:buNone/>
            </a:pP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SortedList</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&gt; </a:t>
            </a:r>
            <a:r>
              <a:rPr lang="en-IN" sz="1400" dirty="0" err="1">
                <a:solidFill>
                  <a:srgbClr val="000000"/>
                </a:solidFill>
                <a:highlight>
                  <a:srgbClr val="FFFFFF"/>
                </a:highlight>
                <a:latin typeface="Consolas" panose="020B0609020204030204" pitchFamily="49" charset="0"/>
              </a:rPr>
              <a:t>openWith</a:t>
            </a: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SortedList</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&gt;();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Add some elements to the list. There are no </a:t>
            </a:r>
            <a:endParaRPr lang="en-US" sz="1400" dirty="0">
              <a:solidFill>
                <a:srgbClr val="000000"/>
              </a:solidFill>
              <a:highlight>
                <a:srgbClr val="FFFFFF"/>
              </a:highlight>
              <a:latin typeface="Consolas" panose="020B0609020204030204" pitchFamily="49" charset="0"/>
            </a:endParaRP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duplicate keys, but some of the values are duplicates.</a:t>
            </a:r>
            <a:endParaRPr lang="en-US"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"txt"</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"notepad.exe"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"bmp"</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"paint.exe"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"dib"</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"paint.exe"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"rtf"</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"wordpad.exe"</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The indexer throws an exception if the requested key is</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not in the list.</a:t>
            </a: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try</a:t>
            </a: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"For key = \"</a:t>
            </a:r>
            <a:r>
              <a:rPr lang="en-US" sz="1400" dirty="0" err="1">
                <a:solidFill>
                  <a:srgbClr val="A31515"/>
                </a:solidFill>
                <a:highlight>
                  <a:srgbClr val="FFFFFF"/>
                </a:highlight>
                <a:latin typeface="Consolas" panose="020B0609020204030204" pitchFamily="49" charset="0"/>
              </a:rPr>
              <a:t>tif</a:t>
            </a:r>
            <a:r>
              <a:rPr lang="en-US" sz="1400" dirty="0">
                <a:solidFill>
                  <a:srgbClr val="A31515"/>
                </a:solidFill>
                <a:highlight>
                  <a:srgbClr val="FFFFFF"/>
                </a:highlight>
                <a:latin typeface="Consolas" panose="020B0609020204030204" pitchFamily="49" charset="0"/>
              </a:rPr>
              <a:t>\", value = {0}."</a:t>
            </a:r>
            <a:r>
              <a:rPr lang="en-US" sz="1400" dirty="0">
                <a:solidFill>
                  <a:srgbClr val="000000"/>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tif</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endParaRPr lang="en-IN" sz="1000" dirty="0"/>
          </a:p>
        </p:txBody>
      </p:sp>
      <p:sp>
        <p:nvSpPr>
          <p:cNvPr id="4" name="TextBox 3">
            <a:extLst>
              <a:ext uri="{FF2B5EF4-FFF2-40B4-BE49-F238E27FC236}">
                <a16:creationId xmlns:a16="http://schemas.microsoft.com/office/drawing/2014/main" id="{F32D593C-B618-44D0-AEB4-0155783F6AF0}"/>
              </a:ext>
            </a:extLst>
          </p:cNvPr>
          <p:cNvSpPr txBox="1"/>
          <p:nvPr/>
        </p:nvSpPr>
        <p:spPr>
          <a:xfrm>
            <a:off x="5181600" y="762000"/>
            <a:ext cx="4191000" cy="4985980"/>
          </a:xfrm>
          <a:prstGeom prst="rect">
            <a:avLst/>
          </a:prstGeom>
          <a:noFill/>
        </p:spPr>
        <p:txBody>
          <a:bodyPr wrap="square" rtlCol="0">
            <a:spAutoFit/>
          </a:bodyPr>
          <a:lstStyle/>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catch</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KeyNotFoundException</a:t>
            </a:r>
            <a:r>
              <a:rPr lang="en-IN" sz="1200" dirty="0">
                <a:solidFill>
                  <a:srgbClr val="000000"/>
                </a:solidFill>
                <a:highlight>
                  <a:srgbClr val="FFFFFF"/>
                </a:highlight>
                <a:latin typeface="Consolas" panose="020B0609020204030204" pitchFamily="49" charset="0"/>
              </a:rPr>
              <a:t>)</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"Key = \"</a:t>
            </a:r>
            <a:r>
              <a:rPr lang="en-US" sz="1200" dirty="0" err="1">
                <a:solidFill>
                  <a:srgbClr val="A31515"/>
                </a:solidFill>
                <a:highlight>
                  <a:srgbClr val="FFFFFF"/>
                </a:highlight>
                <a:latin typeface="Consolas" panose="020B0609020204030204" pitchFamily="49" charset="0"/>
              </a:rPr>
              <a:t>tif</a:t>
            </a:r>
            <a:r>
              <a:rPr lang="en-US" sz="1200" dirty="0">
                <a:solidFill>
                  <a:srgbClr val="A31515"/>
                </a:solidFill>
                <a:highlight>
                  <a:srgbClr val="FFFFFF"/>
                </a:highlight>
                <a:latin typeface="Consolas" panose="020B0609020204030204" pitchFamily="49" charset="0"/>
              </a:rPr>
              <a:t>\" is not found."</a:t>
            </a:r>
            <a:r>
              <a:rPr lang="en-US" sz="1200" dirty="0">
                <a:solidFill>
                  <a:srgbClr val="000000"/>
                </a:solidFill>
                <a:highlight>
                  <a:srgbClr val="FFFFFF"/>
                </a:highlight>
                <a:latin typeface="Consolas" panose="020B0609020204030204" pitchFamily="49" charset="0"/>
              </a:rPr>
              <a:t>);</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When a program often has to try keys that turn out not to</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be in the list, </a:t>
            </a:r>
            <a:r>
              <a:rPr lang="en-US" sz="1200" dirty="0" err="1">
                <a:solidFill>
                  <a:srgbClr val="008000"/>
                </a:solidFill>
                <a:highlight>
                  <a:srgbClr val="FFFFFF"/>
                </a:highlight>
                <a:latin typeface="Consolas" panose="020B0609020204030204" pitchFamily="49" charset="0"/>
              </a:rPr>
              <a:t>TryGetValue</a:t>
            </a:r>
            <a:r>
              <a:rPr lang="en-US" sz="1200" dirty="0">
                <a:solidFill>
                  <a:srgbClr val="008000"/>
                </a:solidFill>
                <a:highlight>
                  <a:srgbClr val="FFFFFF"/>
                </a:highlight>
                <a:latin typeface="Consolas" panose="020B0609020204030204" pitchFamily="49" charset="0"/>
              </a:rPr>
              <a:t> can be a more efficient </a:t>
            </a:r>
            <a:endParaRPr lang="en-US"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way to retrieve values.</a:t>
            </a: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value = </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if</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openWith.TryGetValue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tif</a:t>
            </a:r>
            <a:r>
              <a:rPr lang="en-US" sz="1200" dirty="0">
                <a:solidFill>
                  <a:srgbClr val="A31515"/>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out</a:t>
            </a:r>
            <a:r>
              <a:rPr lang="en-US" sz="1200" dirty="0">
                <a:solidFill>
                  <a:srgbClr val="000000"/>
                </a:solidFill>
                <a:highlight>
                  <a:srgbClr val="FFFFFF"/>
                </a:highlight>
                <a:latin typeface="Consolas" panose="020B0609020204030204" pitchFamily="49" charset="0"/>
              </a:rPr>
              <a:t> value))</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"For key = \"</a:t>
            </a:r>
            <a:r>
              <a:rPr lang="en-US" sz="1200" dirty="0" err="1">
                <a:solidFill>
                  <a:srgbClr val="A31515"/>
                </a:solidFill>
                <a:highlight>
                  <a:srgbClr val="FFFFFF"/>
                </a:highlight>
                <a:latin typeface="Consolas" panose="020B0609020204030204" pitchFamily="49" charset="0"/>
              </a:rPr>
              <a:t>tif</a:t>
            </a:r>
            <a:r>
              <a:rPr lang="en-US" sz="1200" dirty="0">
                <a:solidFill>
                  <a:srgbClr val="A31515"/>
                </a:solidFill>
                <a:highlight>
                  <a:srgbClr val="FFFFFF"/>
                </a:highlight>
                <a:latin typeface="Consolas" panose="020B0609020204030204" pitchFamily="49" charset="0"/>
              </a:rPr>
              <a:t>\", value = {0}."</a:t>
            </a:r>
            <a:r>
              <a:rPr lang="en-US" sz="1200" dirty="0">
                <a:solidFill>
                  <a:srgbClr val="000000"/>
                </a:solidFill>
                <a:highlight>
                  <a:srgbClr val="FFFFFF"/>
                </a:highlight>
                <a:latin typeface="Consolas" panose="020B0609020204030204" pitchFamily="49" charset="0"/>
              </a:rPr>
              <a:t>, value);</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else</a:t>
            </a: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"Key = \"</a:t>
            </a:r>
            <a:r>
              <a:rPr lang="en-US" sz="1200" dirty="0" err="1">
                <a:solidFill>
                  <a:srgbClr val="A31515"/>
                </a:solidFill>
                <a:highlight>
                  <a:srgbClr val="FFFFFF"/>
                </a:highlight>
                <a:latin typeface="Consolas" panose="020B0609020204030204" pitchFamily="49" charset="0"/>
              </a:rPr>
              <a:t>tif</a:t>
            </a:r>
            <a:r>
              <a:rPr lang="en-US" sz="1200" dirty="0">
                <a:solidFill>
                  <a:srgbClr val="A31515"/>
                </a:solidFill>
                <a:highlight>
                  <a:srgbClr val="FFFFFF"/>
                </a:highlight>
                <a:latin typeface="Consolas" panose="020B0609020204030204" pitchFamily="49" charset="0"/>
              </a:rPr>
              <a:t>\" is not found."</a:t>
            </a:r>
            <a:r>
              <a:rPr lang="en-US" sz="1200" dirty="0">
                <a:solidFill>
                  <a:srgbClr val="000000"/>
                </a:solidFill>
                <a:highlight>
                  <a:srgbClr val="FFFFFF"/>
                </a:highlight>
                <a:latin typeface="Consolas" panose="020B0609020204030204" pitchFamily="49" charset="0"/>
              </a:rPr>
              <a:t>);</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a:t>
            </a:r>
          </a:p>
          <a:p>
            <a:pPr marL="0" indent="0">
              <a:spcBef>
                <a:spcPts val="0"/>
              </a:spcBef>
              <a:buNone/>
            </a:pPr>
            <a:endParaRPr lang="en-IN" sz="900" dirty="0">
              <a:solidFill>
                <a:srgbClr val="000000"/>
              </a:solidFill>
              <a:highlight>
                <a:srgbClr val="FFFFFF"/>
              </a:highlight>
              <a:latin typeface="Consolas" panose="020B0609020204030204" pitchFamily="49" charset="0"/>
            </a:endParaRPr>
          </a:p>
          <a:p>
            <a:pPr marL="0" indent="0">
              <a:spcBef>
                <a:spcPts val="0"/>
              </a:spcBef>
              <a:buNone/>
            </a:pPr>
            <a:r>
              <a:rPr lang="en-US" sz="900" dirty="0">
                <a:solidFill>
                  <a:srgbClr val="000000"/>
                </a:solidFill>
                <a:highlight>
                  <a:srgbClr val="FFFFFF"/>
                </a:highlight>
                <a:latin typeface="Consolas" panose="020B0609020204030204" pitchFamily="49" charset="0"/>
              </a:rPr>
              <a:t>          </a:t>
            </a:r>
            <a:endParaRPr lang="en-IN" sz="900" dirty="0"/>
          </a:p>
          <a:p>
            <a:pPr marL="0" indent="0">
              <a:buNone/>
            </a:pPr>
            <a:endParaRPr lang="en-IN" sz="1200" dirty="0">
              <a:solidFill>
                <a:srgbClr val="000000"/>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4034465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8395FA-404D-452F-8766-0D3482058AD9}"/>
              </a:ext>
            </a:extLst>
          </p:cNvPr>
          <p:cNvSpPr>
            <a:spLocks noGrp="1"/>
          </p:cNvSpPr>
          <p:nvPr>
            <p:ph idx="1"/>
          </p:nvPr>
        </p:nvSpPr>
        <p:spPr>
          <a:xfrm>
            <a:off x="0" y="152400"/>
            <a:ext cx="5105400" cy="6858000"/>
          </a:xfrm>
        </p:spPr>
        <p:txBody>
          <a:bodyPr>
            <a:normAutofit fontScale="92500" lnSpcReduction="10000"/>
          </a:bodyPr>
          <a:lstStyle/>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ConsoleApplication17</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SortedList</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&gt; </a:t>
            </a:r>
            <a:r>
              <a:rPr lang="en-IN" sz="1400" dirty="0" err="1">
                <a:solidFill>
                  <a:srgbClr val="000000"/>
                </a:solidFill>
                <a:highlight>
                  <a:srgbClr val="FFFFFF"/>
                </a:highlight>
                <a:latin typeface="Consolas" panose="020B0609020204030204" pitchFamily="49" charset="0"/>
              </a:rPr>
              <a:t>openWith</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SortedList</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&gt;();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Add some elements to the list. There are no </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duplicate keys, but some of the values are duplicates.</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"txt"</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"notepad.exe"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"bmp"</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"paint.exe"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"dib"</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"paint.exe"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"rtf"</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"wordpad.exe"</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t>
            </a:r>
            <a:r>
              <a:rPr lang="en-US" sz="1400" dirty="0" err="1">
                <a:solidFill>
                  <a:srgbClr val="008000"/>
                </a:solidFill>
                <a:highlight>
                  <a:srgbClr val="FFFFFF"/>
                </a:highlight>
                <a:latin typeface="Consolas" panose="020B0609020204030204" pitchFamily="49" charset="0"/>
              </a:rPr>
              <a:t>ContainsKey</a:t>
            </a:r>
            <a:r>
              <a:rPr lang="en-US" sz="1400" dirty="0">
                <a:solidFill>
                  <a:srgbClr val="008000"/>
                </a:solidFill>
                <a:highlight>
                  <a:srgbClr val="FFFFFF"/>
                </a:highlight>
                <a:latin typeface="Consolas" panose="020B0609020204030204" pitchFamily="49" charset="0"/>
              </a:rPr>
              <a:t> can be used to test keys before inserting </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them.</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if</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openWith.ContainsKey</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ht</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ht</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"hypertrm.exe"</a:t>
            </a:r>
            <a:r>
              <a:rPr lang="en-IN"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"Value added for key = \"</a:t>
            </a:r>
            <a:r>
              <a:rPr lang="en-US" sz="1400" dirty="0" err="1">
                <a:solidFill>
                  <a:srgbClr val="A31515"/>
                </a:solidFill>
                <a:highlight>
                  <a:srgbClr val="FFFFFF"/>
                </a:highlight>
                <a:latin typeface="Consolas" panose="020B0609020204030204" pitchFamily="49" charset="0"/>
              </a:rPr>
              <a:t>ht</a:t>
            </a:r>
            <a:r>
              <a:rPr lang="en-US" sz="1400" dirty="0">
                <a:solidFill>
                  <a:srgbClr val="A31515"/>
                </a:solidFill>
                <a:highlight>
                  <a:srgbClr val="FFFFFF"/>
                </a:highlight>
                <a:latin typeface="Consolas" panose="020B0609020204030204" pitchFamily="49" charset="0"/>
              </a:rPr>
              <a:t>\": {0}"</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ht</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endParaRPr lang="en-IN" sz="1400" dirty="0"/>
          </a:p>
        </p:txBody>
      </p:sp>
      <p:sp>
        <p:nvSpPr>
          <p:cNvPr id="4" name="TextBox 3">
            <a:extLst>
              <a:ext uri="{FF2B5EF4-FFF2-40B4-BE49-F238E27FC236}">
                <a16:creationId xmlns:a16="http://schemas.microsoft.com/office/drawing/2014/main" id="{DF25DDE0-53D9-4070-983C-29C06355A83B}"/>
              </a:ext>
            </a:extLst>
          </p:cNvPr>
          <p:cNvSpPr txBox="1"/>
          <p:nvPr/>
        </p:nvSpPr>
        <p:spPr>
          <a:xfrm>
            <a:off x="4876800" y="0"/>
            <a:ext cx="4648200" cy="5970865"/>
          </a:xfrm>
          <a:prstGeom prst="rect">
            <a:avLst/>
          </a:prstGeom>
          <a:noFill/>
        </p:spPr>
        <p:txBody>
          <a:bodyPr wrap="square" rtlCol="0">
            <a:spAutoFit/>
          </a:bodyPr>
          <a:lstStyle/>
          <a:p>
            <a:pPr marL="0" indent="0">
              <a:buNone/>
            </a:pPr>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When you use foreach to enumerate list elements,</a:t>
            </a:r>
            <a:endParaRPr lang="en-US" sz="1000" dirty="0">
              <a:solidFill>
                <a:srgbClr val="000000"/>
              </a:solidFill>
              <a:highlight>
                <a:srgbClr val="FFFFFF"/>
              </a:highlight>
              <a:latin typeface="Consolas" panose="020B0609020204030204" pitchFamily="49" charset="0"/>
            </a:endParaRPr>
          </a:p>
          <a:p>
            <a:pPr marL="0" indent="0">
              <a:buNone/>
            </a:pPr>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the elements are retrieved as </a:t>
            </a:r>
            <a:r>
              <a:rPr lang="en-US" sz="1000" dirty="0" err="1">
                <a:solidFill>
                  <a:srgbClr val="008000"/>
                </a:solidFill>
                <a:highlight>
                  <a:srgbClr val="FFFFFF"/>
                </a:highlight>
                <a:latin typeface="Consolas" panose="020B0609020204030204" pitchFamily="49" charset="0"/>
              </a:rPr>
              <a:t>KeyValuePair</a:t>
            </a:r>
            <a:r>
              <a:rPr lang="en-US" sz="1000" dirty="0">
                <a:solidFill>
                  <a:srgbClr val="008000"/>
                </a:solidFill>
                <a:highlight>
                  <a:srgbClr val="FFFFFF"/>
                </a:highlight>
                <a:latin typeface="Consolas" panose="020B0609020204030204" pitchFamily="49" charset="0"/>
              </a:rPr>
              <a:t> objects.</a:t>
            </a:r>
            <a:endParaRPr lang="en-US" sz="1000" dirty="0">
              <a:solidFill>
                <a:srgbClr val="000000"/>
              </a:solidFill>
              <a:highlight>
                <a:srgbClr val="FFFFFF"/>
              </a:highlight>
              <a:latin typeface="Consolas" panose="020B0609020204030204" pitchFamily="49" charset="0"/>
            </a:endParaRPr>
          </a:p>
          <a:p>
            <a:pPr marL="0" indent="0">
              <a:buNone/>
            </a:pPr>
            <a:r>
              <a:rPr lang="en-IN" sz="1000" dirty="0">
                <a:solidFill>
                  <a:srgbClr val="000000"/>
                </a:solidFill>
                <a:highlight>
                  <a:srgbClr val="FFFFFF"/>
                </a:highlight>
                <a:latin typeface="Consolas" panose="020B0609020204030204" pitchFamily="49" charset="0"/>
              </a:rPr>
              <a:t>            </a:t>
            </a:r>
            <a:r>
              <a:rPr lang="en-IN" sz="1000" dirty="0" err="1">
                <a:solidFill>
                  <a:srgbClr val="2B91AF"/>
                </a:solidFill>
                <a:highlight>
                  <a:srgbClr val="FFFFFF"/>
                </a:highlight>
                <a:latin typeface="Consolas" panose="020B0609020204030204" pitchFamily="49" charset="0"/>
              </a:rPr>
              <a:t>Console</a:t>
            </a:r>
            <a:r>
              <a:rPr lang="en-IN" sz="1000" dirty="0" err="1">
                <a:solidFill>
                  <a:srgbClr val="000000"/>
                </a:solidFill>
                <a:highlight>
                  <a:srgbClr val="FFFFFF"/>
                </a:highlight>
                <a:latin typeface="Consolas" panose="020B0609020204030204" pitchFamily="49" charset="0"/>
              </a:rPr>
              <a:t>.WriteLine</a:t>
            </a:r>
            <a:r>
              <a:rPr lang="en-IN" sz="1000" dirty="0">
                <a:solidFill>
                  <a:srgbClr val="000000"/>
                </a:solidFill>
                <a:highlight>
                  <a:srgbClr val="FFFFFF"/>
                </a:highlight>
                <a:latin typeface="Consolas" panose="020B0609020204030204" pitchFamily="49" charset="0"/>
              </a:rPr>
              <a:t>();</a:t>
            </a:r>
            <a:endPar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foreach</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KeyValuePair</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&lt;</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&gt; </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kvp</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in</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openWith</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0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"Key = {0}, Value = {1}"</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kvp.Key</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kvp.Value</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To get the values alone, use the Values property.</a:t>
            </a:r>
            <a:endPar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IList</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&lt;</a:t>
            </a:r>
            <a:r>
              <a:rPr kumimoji="0" lang="en-IN"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&gt; </a:t>
            </a:r>
            <a:r>
              <a:rPr kumimoji="0" lang="en-IN"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ilistValues</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IN"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openWith.Values</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The elements of the list are strongly typed with the </a:t>
            </a:r>
            <a:endPar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type that was specified for the </a:t>
            </a:r>
            <a:r>
              <a:rPr kumimoji="0" lang="en-US" sz="1000" b="0" i="0" u="none" strike="noStrike" kern="1200" cap="none" spc="0" normalizeH="0" baseline="0" noProof="0" dirty="0" err="1">
                <a:ln>
                  <a:noFill/>
                </a:ln>
                <a:solidFill>
                  <a:srgbClr val="008000"/>
                </a:solidFill>
                <a:effectLst/>
                <a:highlight>
                  <a:srgbClr val="FFFFFF"/>
                </a:highlight>
                <a:uLnTx/>
                <a:uFillTx/>
                <a:latin typeface="Consolas" panose="020B0609020204030204" pitchFamily="49" charset="0"/>
                <a:ea typeface="+mn-ea"/>
                <a:cs typeface="+mn-cs"/>
              </a:rPr>
              <a:t>SorteList</a:t>
            </a:r>
            <a:r>
              <a:rPr kumimoji="0" lang="en-US"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values.</a:t>
            </a:r>
            <a:endPar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IN"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foreach</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 </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in</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ilistValues</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0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"Value = {0}"</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The Values property is an efficient way to retrieve</a:t>
            </a:r>
            <a:endPar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values by index.</a:t>
            </a:r>
            <a:endPar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0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a:t>
            </a:r>
            <a:r>
              <a:rPr kumimoji="0" lang="en-US" sz="1000" b="0" i="0" u="none" strike="noStrike" kern="1200" cap="none" spc="0" normalizeH="0" baseline="0" noProof="0" dirty="0" err="1">
                <a:ln>
                  <a:noFill/>
                </a:ln>
                <a:solidFill>
                  <a:srgbClr val="A31515"/>
                </a:solidFill>
                <a:effectLst/>
                <a:highlight>
                  <a:srgbClr val="FFFFFF"/>
                </a:highlight>
                <a:uLnTx/>
                <a:uFillTx/>
                <a:latin typeface="Consolas" panose="020B0609020204030204" pitchFamily="49" charset="0"/>
                <a:ea typeface="+mn-ea"/>
                <a:cs typeface="+mn-cs"/>
              </a:rPr>
              <a:t>nIndexed</a:t>
            </a:r>
            <a:r>
              <a:rPr kumimoji="0" lang="en-US" sz="10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 retrieval using the Values "</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US" sz="10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"property: Values[2] = {0}"</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sz="1000" dirty="0">
              <a:solidFill>
                <a:srgbClr val="000000"/>
              </a:solidFill>
              <a:highlight>
                <a:srgbClr val="FFFFFF"/>
              </a:highlight>
              <a:latin typeface="Consolas" panose="020B0609020204030204" pitchFamily="49"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openWith.Values</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[2]);</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4291105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A1D95-E4DC-4A5C-B839-D137D1497A28}"/>
              </a:ext>
            </a:extLst>
          </p:cNvPr>
          <p:cNvSpPr>
            <a:spLocks noGrp="1"/>
          </p:cNvSpPr>
          <p:nvPr>
            <p:ph type="title"/>
          </p:nvPr>
        </p:nvSpPr>
        <p:spPr>
          <a:xfrm>
            <a:off x="1981200" y="-37618"/>
            <a:ext cx="6858000" cy="457199"/>
          </a:xfrm>
        </p:spPr>
        <p:txBody>
          <a:bodyPr>
            <a:normAutofit fontScale="90000"/>
          </a:bodyPr>
          <a:lstStyle/>
          <a:p>
            <a:r>
              <a:rPr lang="en-IN" dirty="0" err="1"/>
              <a:t>SortedList</a:t>
            </a:r>
            <a:endParaRPr lang="en-IN" dirty="0"/>
          </a:p>
        </p:txBody>
      </p:sp>
      <p:sp>
        <p:nvSpPr>
          <p:cNvPr id="3" name="Content Placeholder 2">
            <a:extLst>
              <a:ext uri="{FF2B5EF4-FFF2-40B4-BE49-F238E27FC236}">
                <a16:creationId xmlns:a16="http://schemas.microsoft.com/office/drawing/2014/main" id="{6622A15D-076A-4E8B-855F-F970FF470D4D}"/>
              </a:ext>
            </a:extLst>
          </p:cNvPr>
          <p:cNvSpPr>
            <a:spLocks noGrp="1"/>
          </p:cNvSpPr>
          <p:nvPr>
            <p:ph idx="1"/>
          </p:nvPr>
        </p:nvSpPr>
        <p:spPr>
          <a:xfrm>
            <a:off x="228600" y="0"/>
            <a:ext cx="6934200" cy="7010400"/>
          </a:xfrm>
        </p:spPr>
        <p:txBody>
          <a:bodyPr>
            <a:noAutofit/>
          </a:bodyPr>
          <a:lstStyle/>
          <a:p>
            <a:pPr marL="0" indent="0">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System;</a:t>
            </a:r>
          </a:p>
          <a:p>
            <a:pPr marL="0" indent="0">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System.Collections.Generic</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FF"/>
                </a:solidFill>
                <a:highlight>
                  <a:srgbClr val="FFFFFF"/>
                </a:highlight>
                <a:latin typeface="Consolas" panose="020B0609020204030204" pitchFamily="49" charset="0"/>
              </a:rPr>
              <a:t>namespace</a:t>
            </a:r>
            <a:r>
              <a:rPr lang="en-IN" sz="1050" dirty="0">
                <a:solidFill>
                  <a:srgbClr val="000000"/>
                </a:solidFill>
                <a:highlight>
                  <a:srgbClr val="FFFFFF"/>
                </a:highlight>
                <a:latin typeface="Consolas" panose="020B0609020204030204" pitchFamily="49" charset="0"/>
              </a:rPr>
              <a:t> ConsoleApplication17</a:t>
            </a:r>
          </a:p>
          <a:p>
            <a:pPr marL="0" indent="0">
              <a:buNone/>
            </a:pP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Employee</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Name { </a:t>
            </a:r>
            <a:r>
              <a:rPr lang="en-US" sz="1050" dirty="0">
                <a:solidFill>
                  <a:srgbClr val="0000FF"/>
                </a:solidFill>
                <a:highlight>
                  <a:srgbClr val="FFFFFF"/>
                </a:highlight>
                <a:latin typeface="Consolas" panose="020B0609020204030204" pitchFamily="49" charset="0"/>
              </a:rPr>
              <a:t>get</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set</a:t>
            </a:r>
            <a:r>
              <a:rPr lang="en-US" sz="1050" dirty="0">
                <a:solidFill>
                  <a:srgbClr val="000000"/>
                </a:solidFill>
                <a:highlight>
                  <a:srgbClr val="FFFFFF"/>
                </a:highlight>
                <a:latin typeface="Consolas" panose="020B0609020204030204" pitchFamily="49" charset="0"/>
              </a:rPr>
              <a:t>;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double</a:t>
            </a:r>
            <a:r>
              <a:rPr lang="en-US" sz="1050" dirty="0">
                <a:solidFill>
                  <a:srgbClr val="000000"/>
                </a:solidFill>
                <a:highlight>
                  <a:srgbClr val="FFFFFF"/>
                </a:highlight>
                <a:latin typeface="Consolas" panose="020B0609020204030204" pitchFamily="49" charset="0"/>
              </a:rPr>
              <a:t> Salary { </a:t>
            </a:r>
            <a:r>
              <a:rPr lang="en-US" sz="1050" dirty="0">
                <a:solidFill>
                  <a:srgbClr val="0000FF"/>
                </a:solidFill>
                <a:highlight>
                  <a:srgbClr val="FFFFFF"/>
                </a:highlight>
                <a:latin typeface="Consolas" panose="020B0609020204030204" pitchFamily="49" charset="0"/>
              </a:rPr>
              <a:t>get</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set</a:t>
            </a:r>
            <a:r>
              <a:rPr lang="en-US"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Employee() {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Employee(</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nm, </a:t>
            </a:r>
            <a:r>
              <a:rPr lang="en-US" sz="1050" dirty="0">
                <a:solidFill>
                  <a:srgbClr val="0000FF"/>
                </a:solidFill>
                <a:highlight>
                  <a:srgbClr val="FFFFFF"/>
                </a:highlight>
                <a:latin typeface="Consolas" panose="020B0609020204030204" pitchFamily="49" charset="0"/>
              </a:rPr>
              <a:t>double</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sl</a:t>
            </a:r>
            <a:r>
              <a:rPr lang="en-US"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Name = nm;</a:t>
            </a:r>
          </a:p>
          <a:p>
            <a:pPr marL="0" indent="0">
              <a:buNone/>
            </a:pPr>
            <a:r>
              <a:rPr lang="en-IN" sz="1050" dirty="0">
                <a:solidFill>
                  <a:srgbClr val="000000"/>
                </a:solidFill>
                <a:highlight>
                  <a:srgbClr val="FFFFFF"/>
                </a:highlight>
                <a:latin typeface="Consolas" panose="020B0609020204030204" pitchFamily="49" charset="0"/>
              </a:rPr>
              <a:t>            Salary = </a:t>
            </a:r>
            <a:r>
              <a:rPr lang="en-IN" sz="1050" dirty="0" err="1">
                <a:solidFill>
                  <a:srgbClr val="000000"/>
                </a:solidFill>
                <a:highlight>
                  <a:srgbClr val="FFFFFF"/>
                </a:highlight>
                <a:latin typeface="Consolas" panose="020B0609020204030204" pitchFamily="49" charset="0"/>
              </a:rPr>
              <a:t>sl</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override</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string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ToString</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return</a:t>
            </a: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String</a:t>
            </a:r>
            <a:r>
              <a:rPr lang="en-US" sz="1050" dirty="0" err="1">
                <a:solidFill>
                  <a:srgbClr val="000000"/>
                </a:solidFill>
                <a:highlight>
                  <a:srgbClr val="FFFFFF"/>
                </a:highlight>
                <a:latin typeface="Consolas" panose="020B0609020204030204" pitchFamily="49" charset="0"/>
              </a:rPr>
              <a:t>.Format</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"{0} {1}"</a:t>
            </a:r>
            <a:r>
              <a:rPr lang="en-US" sz="1050" dirty="0">
                <a:solidFill>
                  <a:srgbClr val="000000"/>
                </a:solidFill>
                <a:highlight>
                  <a:srgbClr val="FFFFFF"/>
                </a:highlight>
                <a:latin typeface="Consolas" panose="020B0609020204030204" pitchFamily="49" charset="0"/>
              </a:rPr>
              <a:t>, Name, Salary);</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Program</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static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void</a:t>
            </a:r>
            <a:r>
              <a:rPr lang="en-US" sz="1050" dirty="0">
                <a:solidFill>
                  <a:srgbClr val="000000"/>
                </a:solidFill>
                <a:highlight>
                  <a:srgbClr val="FFFFFF"/>
                </a:highlight>
                <a:latin typeface="Consolas" panose="020B0609020204030204" pitchFamily="49" charset="0"/>
              </a:rPr>
              <a:t> Main(</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args</a:t>
            </a:r>
            <a:r>
              <a:rPr lang="en-US"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Employee</a:t>
            </a:r>
            <a:r>
              <a:rPr lang="en-IN" sz="1050" dirty="0">
                <a:solidFill>
                  <a:srgbClr val="000000"/>
                </a:solidFill>
                <a:highlight>
                  <a:srgbClr val="FFFFFF"/>
                </a:highlight>
                <a:latin typeface="Consolas" panose="020B0609020204030204" pitchFamily="49" charset="0"/>
              </a:rPr>
              <a:t> emp = </a:t>
            </a:r>
            <a:r>
              <a:rPr lang="en-IN" sz="1050" dirty="0">
                <a:solidFill>
                  <a:srgbClr val="0000FF"/>
                </a:solidFill>
                <a:highlight>
                  <a:srgbClr val="FFFFFF"/>
                </a:highlight>
                <a:latin typeface="Consolas" panose="020B0609020204030204" pitchFamily="49" charset="0"/>
              </a:rPr>
              <a:t>new</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Employee</a:t>
            </a:r>
            <a:r>
              <a:rPr lang="en-IN" sz="1050" dirty="0">
                <a:solidFill>
                  <a:srgbClr val="000000"/>
                </a:solidFill>
                <a:highlight>
                  <a:srgbClr val="FFFFFF"/>
                </a:highlight>
                <a:latin typeface="Consolas" panose="020B0609020204030204" pitchFamily="49" charset="0"/>
              </a:rPr>
              <a:t>();</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e1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"Raj"</a:t>
            </a:r>
            <a:r>
              <a:rPr lang="en-US" sz="1050" dirty="0">
                <a:solidFill>
                  <a:srgbClr val="000000"/>
                </a:solidFill>
                <a:highlight>
                  <a:srgbClr val="FFFFFF"/>
                </a:highlight>
                <a:latin typeface="Consolas" panose="020B0609020204030204" pitchFamily="49" charset="0"/>
              </a:rPr>
              <a:t>, Salary = 6000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e2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"Mona"</a:t>
            </a:r>
            <a:r>
              <a:rPr lang="en-US" sz="1050" dirty="0">
                <a:solidFill>
                  <a:srgbClr val="000000"/>
                </a:solidFill>
                <a:highlight>
                  <a:srgbClr val="FFFFFF"/>
                </a:highlight>
                <a:latin typeface="Consolas" panose="020B0609020204030204" pitchFamily="49" charset="0"/>
              </a:rPr>
              <a:t>, Salary = 7000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e3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"Het"</a:t>
            </a:r>
            <a:r>
              <a:rPr lang="en-US" sz="1050" dirty="0">
                <a:solidFill>
                  <a:srgbClr val="000000"/>
                </a:solidFill>
                <a:highlight>
                  <a:srgbClr val="FFFFFF"/>
                </a:highlight>
                <a:latin typeface="Consolas" panose="020B0609020204030204" pitchFamily="49" charset="0"/>
              </a:rPr>
              <a:t>, Salary = 3000 };</a:t>
            </a:r>
          </a:p>
          <a:p>
            <a:pPr marL="0" indent="0">
              <a:buNone/>
            </a:pP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SortedList</a:t>
            </a:r>
            <a:r>
              <a:rPr lang="en-US" sz="1050" dirty="0">
                <a:solidFill>
                  <a:srgbClr val="000000"/>
                </a:solidFill>
                <a:highlight>
                  <a:srgbClr val="FFFFFF"/>
                </a:highlight>
                <a:latin typeface="Consolas" panose="020B0609020204030204" pitchFamily="49" charset="0"/>
              </a:rPr>
              <a:t>&lt;</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&gt; </a:t>
            </a:r>
            <a:r>
              <a:rPr lang="en-US" sz="1050" dirty="0" err="1">
                <a:solidFill>
                  <a:srgbClr val="000000"/>
                </a:solidFill>
                <a:highlight>
                  <a:srgbClr val="FFFFFF"/>
                </a:highlight>
                <a:latin typeface="Consolas" panose="020B0609020204030204" pitchFamily="49" charset="0"/>
              </a:rPr>
              <a:t>listemp</a:t>
            </a:r>
            <a:r>
              <a:rPr lang="en-US" sz="1050" dirty="0">
                <a:solidFill>
                  <a:srgbClr val="000000"/>
                </a:solidFill>
                <a:highlight>
                  <a:srgbClr val="FFFFFF"/>
                </a:highlight>
                <a:latin typeface="Consolas" panose="020B0609020204030204" pitchFamily="49" charset="0"/>
              </a:rPr>
              <a:t>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SortedList</a:t>
            </a:r>
            <a:r>
              <a:rPr lang="en-US" sz="1050" dirty="0">
                <a:solidFill>
                  <a:srgbClr val="000000"/>
                </a:solidFill>
                <a:highlight>
                  <a:srgbClr val="FFFFFF"/>
                </a:highlight>
                <a:latin typeface="Consolas" panose="020B0609020204030204" pitchFamily="49" charset="0"/>
              </a:rPr>
              <a:t>&lt;</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&gt;();</a:t>
            </a:r>
          </a:p>
          <a:p>
            <a:pPr marL="0" indent="0">
              <a:buNone/>
            </a:pP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listemp.Add</a:t>
            </a:r>
            <a:r>
              <a:rPr lang="en-IN" sz="1050" dirty="0">
                <a:solidFill>
                  <a:srgbClr val="000000"/>
                </a:solidFill>
                <a:highlight>
                  <a:srgbClr val="FFFFFF"/>
                </a:highlight>
                <a:latin typeface="Consolas" panose="020B0609020204030204" pitchFamily="49" charset="0"/>
              </a:rPr>
              <a:t>(e1.Name, e1);</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listemp.Add</a:t>
            </a:r>
            <a:r>
              <a:rPr lang="en-IN" sz="1050" dirty="0">
                <a:solidFill>
                  <a:srgbClr val="000000"/>
                </a:solidFill>
                <a:highlight>
                  <a:srgbClr val="FFFFFF"/>
                </a:highlight>
                <a:latin typeface="Consolas" panose="020B0609020204030204" pitchFamily="49" charset="0"/>
              </a:rPr>
              <a:t>(e2.Name, e2);</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listemp.Add</a:t>
            </a:r>
            <a:r>
              <a:rPr lang="en-IN" sz="1050" dirty="0">
                <a:solidFill>
                  <a:srgbClr val="000000"/>
                </a:solidFill>
                <a:highlight>
                  <a:srgbClr val="FFFFFF"/>
                </a:highlight>
                <a:latin typeface="Consolas" panose="020B0609020204030204" pitchFamily="49" charset="0"/>
              </a:rPr>
              <a:t>(e3.Name, e3);</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foreach</a:t>
            </a: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KeyValuePair</a:t>
            </a:r>
            <a:r>
              <a:rPr lang="en-US" sz="1050" dirty="0">
                <a:solidFill>
                  <a:srgbClr val="000000"/>
                </a:solidFill>
                <a:highlight>
                  <a:srgbClr val="FFFFFF"/>
                </a:highlight>
                <a:latin typeface="Consolas" panose="020B0609020204030204" pitchFamily="49" charset="0"/>
              </a:rPr>
              <a:t>&lt;</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&gt; x </a:t>
            </a:r>
            <a:r>
              <a:rPr lang="en-US" sz="1050" dirty="0">
                <a:solidFill>
                  <a:srgbClr val="0000FF"/>
                </a:solidFill>
                <a:highlight>
                  <a:srgbClr val="FFFFFF"/>
                </a:highlight>
                <a:latin typeface="Consolas" panose="020B0609020204030204" pitchFamily="49" charset="0"/>
              </a:rPr>
              <a:t>in</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listemp</a:t>
            </a:r>
            <a:r>
              <a:rPr lang="en-US"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(x);</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a:t>
            </a:r>
          </a:p>
          <a:p>
            <a:pPr marL="0" indent="0">
              <a:buNone/>
            </a:pPr>
            <a:endParaRPr lang="en-IN" sz="1050" dirty="0"/>
          </a:p>
        </p:txBody>
      </p:sp>
      <p:graphicFrame>
        <p:nvGraphicFramePr>
          <p:cNvPr id="4" name="Table 4">
            <a:extLst>
              <a:ext uri="{FF2B5EF4-FFF2-40B4-BE49-F238E27FC236}">
                <a16:creationId xmlns:a16="http://schemas.microsoft.com/office/drawing/2014/main" id="{4AD1447B-3CE9-48D2-B447-805118DECED5}"/>
              </a:ext>
            </a:extLst>
          </p:cNvPr>
          <p:cNvGraphicFramePr>
            <a:graphicFrameLocks noGrp="1"/>
          </p:cNvGraphicFramePr>
          <p:nvPr>
            <p:extLst>
              <p:ext uri="{D42A27DB-BD31-4B8C-83A1-F6EECF244321}">
                <p14:modId xmlns:p14="http://schemas.microsoft.com/office/powerpoint/2010/main" val="1661640752"/>
              </p:ext>
            </p:extLst>
          </p:nvPr>
        </p:nvGraphicFramePr>
        <p:xfrm>
          <a:off x="3810000" y="1066800"/>
          <a:ext cx="3810000" cy="961814"/>
        </p:xfrm>
        <a:graphic>
          <a:graphicData uri="http://schemas.openxmlformats.org/drawingml/2006/table">
            <a:tbl>
              <a:tblPr firstRow="1" bandRow="1">
                <a:tableStyleId>{5C22544A-7EE6-4342-B048-85BDC9FD1C3A}</a:tableStyleId>
              </a:tblPr>
              <a:tblGrid>
                <a:gridCol w="952500">
                  <a:extLst>
                    <a:ext uri="{9D8B030D-6E8A-4147-A177-3AD203B41FA5}">
                      <a16:colId xmlns:a16="http://schemas.microsoft.com/office/drawing/2014/main" val="3680324092"/>
                    </a:ext>
                  </a:extLst>
                </a:gridCol>
                <a:gridCol w="952500">
                  <a:extLst>
                    <a:ext uri="{9D8B030D-6E8A-4147-A177-3AD203B41FA5}">
                      <a16:colId xmlns:a16="http://schemas.microsoft.com/office/drawing/2014/main" val="2785724141"/>
                    </a:ext>
                  </a:extLst>
                </a:gridCol>
                <a:gridCol w="952500">
                  <a:extLst>
                    <a:ext uri="{9D8B030D-6E8A-4147-A177-3AD203B41FA5}">
                      <a16:colId xmlns:a16="http://schemas.microsoft.com/office/drawing/2014/main" val="103471662"/>
                    </a:ext>
                  </a:extLst>
                </a:gridCol>
                <a:gridCol w="952500">
                  <a:extLst>
                    <a:ext uri="{9D8B030D-6E8A-4147-A177-3AD203B41FA5}">
                      <a16:colId xmlns:a16="http://schemas.microsoft.com/office/drawing/2014/main" val="1609130062"/>
                    </a:ext>
                  </a:extLst>
                </a:gridCol>
              </a:tblGrid>
              <a:tr h="480907">
                <a:tc>
                  <a:txBody>
                    <a:bodyPr/>
                    <a:lstStyle/>
                    <a:p>
                      <a:r>
                        <a:rPr lang="en-IN" dirty="0"/>
                        <a:t>Key</a:t>
                      </a:r>
                    </a:p>
                  </a:txBody>
                  <a:tcPr/>
                </a:tc>
                <a:tc>
                  <a:txBody>
                    <a:bodyPr/>
                    <a:lstStyle/>
                    <a:p>
                      <a:r>
                        <a:rPr lang="en-IN" dirty="0"/>
                        <a:t>Het</a:t>
                      </a:r>
                    </a:p>
                  </a:txBody>
                  <a:tcPr/>
                </a:tc>
                <a:tc>
                  <a:txBody>
                    <a:bodyPr/>
                    <a:lstStyle/>
                    <a:p>
                      <a:r>
                        <a:rPr lang="en-IN" dirty="0"/>
                        <a:t>Mona</a:t>
                      </a:r>
                    </a:p>
                  </a:txBody>
                  <a:tcPr/>
                </a:tc>
                <a:tc>
                  <a:txBody>
                    <a:bodyPr/>
                    <a:lstStyle/>
                    <a:p>
                      <a:r>
                        <a:rPr lang="en-IN" dirty="0" err="1"/>
                        <a:t>Rak</a:t>
                      </a:r>
                      <a:endParaRPr lang="en-IN" dirty="0"/>
                    </a:p>
                  </a:txBody>
                  <a:tcPr/>
                </a:tc>
                <a:extLst>
                  <a:ext uri="{0D108BD9-81ED-4DB2-BD59-A6C34878D82A}">
                    <a16:rowId xmlns:a16="http://schemas.microsoft.com/office/drawing/2014/main" val="68352264"/>
                  </a:ext>
                </a:extLst>
              </a:tr>
              <a:tr h="480907">
                <a:tc>
                  <a:txBody>
                    <a:bodyPr/>
                    <a:lstStyle/>
                    <a:p>
                      <a:r>
                        <a:rPr lang="en-IN" dirty="0"/>
                        <a:t>Value</a:t>
                      </a:r>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411424785"/>
                  </a:ext>
                </a:extLst>
              </a:tr>
            </a:tbl>
          </a:graphicData>
        </a:graphic>
      </p:graphicFrame>
      <p:cxnSp>
        <p:nvCxnSpPr>
          <p:cNvPr id="6" name="Straight Arrow Connector 5">
            <a:extLst>
              <a:ext uri="{FF2B5EF4-FFF2-40B4-BE49-F238E27FC236}">
                <a16:creationId xmlns:a16="http://schemas.microsoft.com/office/drawing/2014/main" id="{691BB514-B232-4E36-989E-2FFD51A1BAB3}"/>
              </a:ext>
            </a:extLst>
          </p:cNvPr>
          <p:cNvCxnSpPr/>
          <p:nvPr/>
        </p:nvCxnSpPr>
        <p:spPr>
          <a:xfrm>
            <a:off x="5105400" y="1828800"/>
            <a:ext cx="228600"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BEB06BB-3270-4BD9-8180-1B8E9ACABEB9}"/>
              </a:ext>
            </a:extLst>
          </p:cNvPr>
          <p:cNvCxnSpPr/>
          <p:nvPr/>
        </p:nvCxnSpPr>
        <p:spPr>
          <a:xfrm>
            <a:off x="5943600" y="1682671"/>
            <a:ext cx="228600"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CDF81BA-0D99-46C2-A836-E8844807528A}"/>
              </a:ext>
            </a:extLst>
          </p:cNvPr>
          <p:cNvCxnSpPr/>
          <p:nvPr/>
        </p:nvCxnSpPr>
        <p:spPr>
          <a:xfrm>
            <a:off x="7080455" y="1921333"/>
            <a:ext cx="228600"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4B573B9-CC44-4773-9E60-4B0D351BA18C}"/>
              </a:ext>
            </a:extLst>
          </p:cNvPr>
          <p:cNvSpPr/>
          <p:nvPr/>
        </p:nvSpPr>
        <p:spPr>
          <a:xfrm>
            <a:off x="4775405" y="2790614"/>
            <a:ext cx="9906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Het</a:t>
            </a:r>
          </a:p>
          <a:p>
            <a:pPr algn="ctr"/>
            <a:r>
              <a:rPr lang="en-IN" dirty="0"/>
              <a:t>3000</a:t>
            </a:r>
          </a:p>
        </p:txBody>
      </p:sp>
      <p:sp>
        <p:nvSpPr>
          <p:cNvPr id="12" name="Rectangle 11">
            <a:extLst>
              <a:ext uri="{FF2B5EF4-FFF2-40B4-BE49-F238E27FC236}">
                <a16:creationId xmlns:a16="http://schemas.microsoft.com/office/drawing/2014/main" id="{EC699CAF-0920-44C0-921B-E066C8DD6C2F}"/>
              </a:ext>
            </a:extLst>
          </p:cNvPr>
          <p:cNvSpPr/>
          <p:nvPr/>
        </p:nvSpPr>
        <p:spPr>
          <a:xfrm>
            <a:off x="5943600" y="2677293"/>
            <a:ext cx="9906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Mona</a:t>
            </a:r>
          </a:p>
          <a:p>
            <a:pPr algn="ctr"/>
            <a:r>
              <a:rPr lang="en-IN" dirty="0"/>
              <a:t>7000</a:t>
            </a:r>
          </a:p>
        </p:txBody>
      </p:sp>
      <p:sp>
        <p:nvSpPr>
          <p:cNvPr id="13" name="Rectangle 12">
            <a:extLst>
              <a:ext uri="{FF2B5EF4-FFF2-40B4-BE49-F238E27FC236}">
                <a16:creationId xmlns:a16="http://schemas.microsoft.com/office/drawing/2014/main" id="{B93B128B-8B09-4811-ABE9-7CB5477F4D32}"/>
              </a:ext>
            </a:extLst>
          </p:cNvPr>
          <p:cNvSpPr/>
          <p:nvPr/>
        </p:nvSpPr>
        <p:spPr>
          <a:xfrm>
            <a:off x="7162800" y="2790614"/>
            <a:ext cx="990600" cy="9618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Raj</a:t>
            </a:r>
          </a:p>
          <a:p>
            <a:pPr algn="ctr"/>
            <a:r>
              <a:rPr lang="en-IN" dirty="0"/>
              <a:t>6000</a:t>
            </a:r>
          </a:p>
        </p:txBody>
      </p:sp>
    </p:spTree>
    <p:extLst>
      <p:ext uri="{BB962C8B-B14F-4D97-AF65-F5344CB8AC3E}">
        <p14:creationId xmlns:p14="http://schemas.microsoft.com/office/powerpoint/2010/main" val="2213465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78A2-E666-4AFC-84E5-8429530FE9FA}"/>
              </a:ext>
            </a:extLst>
          </p:cNvPr>
          <p:cNvSpPr>
            <a:spLocks noGrp="1"/>
          </p:cNvSpPr>
          <p:nvPr>
            <p:ph type="title"/>
          </p:nvPr>
        </p:nvSpPr>
        <p:spPr>
          <a:xfrm>
            <a:off x="2133600" y="21021"/>
            <a:ext cx="6553200" cy="563562"/>
          </a:xfrm>
        </p:spPr>
        <p:txBody>
          <a:bodyPr>
            <a:normAutofit fontScale="90000"/>
          </a:bodyPr>
          <a:lstStyle/>
          <a:p>
            <a:r>
              <a:rPr lang="en-IN" dirty="0"/>
              <a:t>Dictionary </a:t>
            </a:r>
          </a:p>
        </p:txBody>
      </p:sp>
      <p:sp>
        <p:nvSpPr>
          <p:cNvPr id="3" name="Content Placeholder 2">
            <a:extLst>
              <a:ext uri="{FF2B5EF4-FFF2-40B4-BE49-F238E27FC236}">
                <a16:creationId xmlns:a16="http://schemas.microsoft.com/office/drawing/2014/main" id="{BE357CE1-D4B1-4CEC-861A-CD3191AE46CC}"/>
              </a:ext>
            </a:extLst>
          </p:cNvPr>
          <p:cNvSpPr>
            <a:spLocks noGrp="1"/>
          </p:cNvSpPr>
          <p:nvPr>
            <p:ph idx="1"/>
          </p:nvPr>
        </p:nvSpPr>
        <p:spPr>
          <a:xfrm>
            <a:off x="0" y="584584"/>
            <a:ext cx="7086600" cy="5892416"/>
          </a:xfrm>
        </p:spPr>
        <p:txBody>
          <a:bodyPr>
            <a:noAutofit/>
          </a:bodyPr>
          <a:lstStyle/>
          <a:p>
            <a:pPr marL="0" indent="0">
              <a:buNone/>
            </a:pPr>
            <a:r>
              <a:rPr lang="en-US" sz="1200" dirty="0">
                <a:solidFill>
                  <a:srgbClr val="008000"/>
                </a:solidFill>
                <a:highlight>
                  <a:srgbClr val="FFFFFF"/>
                </a:highlight>
                <a:latin typeface="Consolas" panose="020B0609020204030204" pitchFamily="49" charset="0"/>
              </a:rPr>
              <a:t>// Demonstrate the generic Dictionary&lt;TK, TV&gt; class. </a:t>
            </a:r>
            <a:endParaRPr lang="en-US"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GenDictionaryDemo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Create a Dictionary that holds employee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names and their corresponding salaries.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Dictionary</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&gt; </a:t>
            </a:r>
            <a:r>
              <a:rPr lang="en-US" sz="1200" dirty="0" err="1">
                <a:solidFill>
                  <a:srgbClr val="000000"/>
                </a:solidFill>
                <a:highlight>
                  <a:srgbClr val="FFFFFF"/>
                </a:highlight>
                <a:latin typeface="Consolas" panose="020B0609020204030204" pitchFamily="49" charset="0"/>
              </a:rPr>
              <a:t>dict</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Dictionary</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&gt;();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Add elements to the collection.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dict.Add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"Butler"</a:t>
            </a:r>
            <a:r>
              <a:rPr lang="en-IN" sz="1200" dirty="0">
                <a:solidFill>
                  <a:srgbClr val="000000"/>
                </a:solidFill>
                <a:highlight>
                  <a:srgbClr val="FFFFFF"/>
                </a:highlight>
                <a:latin typeface="Consolas" panose="020B0609020204030204" pitchFamily="49" charset="0"/>
              </a:rPr>
              <a:t>, 73000);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dict.Add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Sanoj</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59000);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dict.Add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Piku</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45000);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dict.Add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"Frank"</a:t>
            </a:r>
            <a:r>
              <a:rPr lang="en-IN" sz="1200" dirty="0">
                <a:solidFill>
                  <a:srgbClr val="000000"/>
                </a:solidFill>
                <a:highlight>
                  <a:srgbClr val="FFFFFF"/>
                </a:highlight>
                <a:latin typeface="Consolas" panose="020B0609020204030204" pitchFamily="49" charset="0"/>
              </a:rPr>
              <a:t>, 99000);</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Get a collection of the keys (names).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ICollection</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&gt; c = </a:t>
            </a:r>
            <a:r>
              <a:rPr lang="en-US" sz="1200" dirty="0" err="1">
                <a:solidFill>
                  <a:srgbClr val="000000"/>
                </a:solidFill>
                <a:highlight>
                  <a:srgbClr val="FFFFFF"/>
                </a:highlight>
                <a:latin typeface="Consolas" panose="020B0609020204030204" pitchFamily="49" charset="0"/>
              </a:rPr>
              <a:t>dict.Keys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Use the keys to obtain the values (</a:t>
            </a:r>
            <a:r>
              <a:rPr lang="en-US" sz="1200" dirty="0" err="1">
                <a:solidFill>
                  <a:srgbClr val="008000"/>
                </a:solidFill>
                <a:highlight>
                  <a:srgbClr val="FFFFFF"/>
                </a:highlight>
                <a:latin typeface="Consolas" panose="020B0609020204030204" pitchFamily="49" charset="0"/>
              </a:rPr>
              <a:t>salares</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foreach</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str </a:t>
            </a:r>
            <a:r>
              <a:rPr lang="en-IN" sz="1200" dirty="0">
                <a:solidFill>
                  <a:srgbClr val="0000FF"/>
                </a:solidFill>
                <a:highlight>
                  <a:srgbClr val="FFFFFF"/>
                </a:highlight>
                <a:latin typeface="Consolas" panose="020B0609020204030204" pitchFamily="49" charset="0"/>
              </a:rPr>
              <a:t>in</a:t>
            </a:r>
            <a:r>
              <a:rPr lang="en-IN" sz="1200" dirty="0">
                <a:solidFill>
                  <a:srgbClr val="000000"/>
                </a:solidFill>
                <a:highlight>
                  <a:srgbClr val="FFFFFF"/>
                </a:highlight>
                <a:latin typeface="Consolas" panose="020B0609020204030204" pitchFamily="49" charset="0"/>
              </a:rPr>
              <a:t> c)</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 Salary: {1:C}"</a:t>
            </a:r>
            <a:r>
              <a:rPr lang="en-IN" sz="1200" dirty="0">
                <a:solidFill>
                  <a:srgbClr val="000000"/>
                </a:solidFill>
                <a:highlight>
                  <a:srgbClr val="FFFFFF"/>
                </a:highlight>
                <a:latin typeface="Consolas" panose="020B0609020204030204" pitchFamily="49" charset="0"/>
              </a:rPr>
              <a:t>, str, </a:t>
            </a:r>
            <a:r>
              <a:rPr lang="en-IN" sz="1200" dirty="0" err="1">
                <a:solidFill>
                  <a:srgbClr val="000000"/>
                </a:solidFill>
                <a:highlight>
                  <a:srgbClr val="FFFFFF"/>
                </a:highlight>
                <a:latin typeface="Consolas" panose="020B0609020204030204" pitchFamily="49" charset="0"/>
              </a:rPr>
              <a:t>dict</a:t>
            </a:r>
            <a:r>
              <a:rPr lang="en-IN" sz="1200" dirty="0">
                <a:solidFill>
                  <a:srgbClr val="000000"/>
                </a:solidFill>
                <a:highlight>
                  <a:srgbClr val="FFFFFF"/>
                </a:highlight>
                <a:latin typeface="Consolas" panose="020B0609020204030204" pitchFamily="49" charset="0"/>
              </a:rPr>
              <a:t>[str]);</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p>
        </p:txBody>
      </p:sp>
    </p:spTree>
    <p:extLst>
      <p:ext uri="{BB962C8B-B14F-4D97-AF65-F5344CB8AC3E}">
        <p14:creationId xmlns:p14="http://schemas.microsoft.com/office/powerpoint/2010/main" val="4242505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9518F-4C9E-4C32-A6E7-429C693EB432}"/>
              </a:ext>
            </a:extLst>
          </p:cNvPr>
          <p:cNvSpPr>
            <a:spLocks noGrp="1"/>
          </p:cNvSpPr>
          <p:nvPr>
            <p:ph type="title"/>
          </p:nvPr>
        </p:nvSpPr>
        <p:spPr>
          <a:xfrm>
            <a:off x="4495800" y="0"/>
            <a:ext cx="4572000" cy="457200"/>
          </a:xfrm>
        </p:spPr>
        <p:txBody>
          <a:bodyPr>
            <a:normAutofit fontScale="90000"/>
          </a:bodyPr>
          <a:lstStyle/>
          <a:p>
            <a:r>
              <a:rPr lang="en-IN" dirty="0"/>
              <a:t>Sorted Dictionary</a:t>
            </a:r>
          </a:p>
        </p:txBody>
      </p:sp>
      <p:sp>
        <p:nvSpPr>
          <p:cNvPr id="3" name="Content Placeholder 2">
            <a:extLst>
              <a:ext uri="{FF2B5EF4-FFF2-40B4-BE49-F238E27FC236}">
                <a16:creationId xmlns:a16="http://schemas.microsoft.com/office/drawing/2014/main" id="{AC8A584C-2140-42CD-9016-B682D12ECA7F}"/>
              </a:ext>
            </a:extLst>
          </p:cNvPr>
          <p:cNvSpPr>
            <a:spLocks noGrp="1"/>
          </p:cNvSpPr>
          <p:nvPr>
            <p:ph idx="1"/>
          </p:nvPr>
        </p:nvSpPr>
        <p:spPr>
          <a:xfrm>
            <a:off x="0" y="304800"/>
            <a:ext cx="6858000" cy="6858000"/>
          </a:xfrm>
        </p:spPr>
        <p:txBody>
          <a:bodyPr>
            <a:noAutofit/>
          </a:bodyPr>
          <a:lstStyle/>
          <a:p>
            <a:pPr marL="0" indent="0">
              <a:buNone/>
            </a:pPr>
            <a:r>
              <a:rPr lang="en-US" sz="1400" dirty="0">
                <a:solidFill>
                  <a:srgbClr val="008000"/>
                </a:solidFill>
                <a:highlight>
                  <a:srgbClr val="FFFFFF"/>
                </a:highlight>
                <a:latin typeface="Consolas" panose="020B0609020204030204" pitchFamily="49" charset="0"/>
              </a:rPr>
              <a:t>// Demonstrate the generic </a:t>
            </a:r>
            <a:r>
              <a:rPr lang="en-US" sz="1400" dirty="0" err="1">
                <a:solidFill>
                  <a:srgbClr val="008000"/>
                </a:solidFill>
                <a:highlight>
                  <a:srgbClr val="FFFFFF"/>
                </a:highlight>
                <a:latin typeface="Consolas" panose="020B0609020204030204" pitchFamily="49" charset="0"/>
              </a:rPr>
              <a:t>SortedDictionary</a:t>
            </a:r>
            <a:r>
              <a:rPr lang="en-US" sz="1400" dirty="0">
                <a:solidFill>
                  <a:srgbClr val="008000"/>
                </a:solidFill>
                <a:highlight>
                  <a:srgbClr val="FFFFFF"/>
                </a:highlight>
                <a:latin typeface="Consolas" panose="020B0609020204030204" pitchFamily="49" charset="0"/>
              </a:rPr>
              <a:t>&lt;TK, TV&gt; class. </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GenSortedDictionaryDemo</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Create a Dictionary that holds employee </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names and their corresponding salaries. </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SortedDictionary</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double</a:t>
            </a:r>
            <a:r>
              <a:rPr lang="en-IN" sz="1400" dirty="0">
                <a:solidFill>
                  <a:srgbClr val="000000"/>
                </a:solidFill>
                <a:highlight>
                  <a:srgbClr val="FFFFFF"/>
                </a:highlight>
                <a:latin typeface="Consolas" panose="020B0609020204030204" pitchFamily="49" charset="0"/>
              </a:rPr>
              <a:t>&gt; </a:t>
            </a:r>
            <a:r>
              <a:rPr lang="en-IN" sz="1400" dirty="0" err="1">
                <a:solidFill>
                  <a:srgbClr val="000000"/>
                </a:solidFill>
                <a:highlight>
                  <a:srgbClr val="FFFFFF"/>
                </a:highlight>
                <a:latin typeface="Consolas" panose="020B0609020204030204" pitchFamily="49" charset="0"/>
              </a:rPr>
              <a:t>dict</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SortedDictionary</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double</a:t>
            </a:r>
            <a:r>
              <a:rPr lang="en-IN" sz="1400" dirty="0">
                <a:solidFill>
                  <a:srgbClr val="000000"/>
                </a:solidFill>
                <a:highlight>
                  <a:srgbClr val="FFFFFF"/>
                </a:highlight>
                <a:latin typeface="Consolas" panose="020B0609020204030204" pitchFamily="49" charset="0"/>
              </a:rPr>
              <a:t>&gt;();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Add elements to the collection. </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dict.</a:t>
            </a:r>
            <a:r>
              <a:rPr lang="en-IN" sz="1400" dirty="0">
                <a:solidFill>
                  <a:srgbClr val="000000"/>
                </a:solidFill>
                <a:highlight>
                  <a:srgbClr val="FFFFFF"/>
                </a:highlight>
                <a:latin typeface="Consolas" panose="020B0609020204030204" pitchFamily="49" charset="0"/>
              </a:rPr>
              <a:t> Add(</a:t>
            </a:r>
            <a:r>
              <a:rPr lang="en-IN" sz="1400" dirty="0">
                <a:solidFill>
                  <a:srgbClr val="A31515"/>
                </a:solidFill>
                <a:highlight>
                  <a:srgbClr val="FFFFFF"/>
                </a:highlight>
                <a:latin typeface="Consolas" panose="020B0609020204030204" pitchFamily="49" charset="0"/>
              </a:rPr>
              <a:t>"Butler"</a:t>
            </a:r>
            <a:r>
              <a:rPr lang="en-IN" sz="1400" dirty="0">
                <a:solidFill>
                  <a:srgbClr val="000000"/>
                </a:solidFill>
                <a:highlight>
                  <a:srgbClr val="FFFFFF"/>
                </a:highlight>
                <a:latin typeface="Consolas" panose="020B0609020204030204" pitchFamily="49" charset="0"/>
              </a:rPr>
              <a:t>, 73000);</a:t>
            </a:r>
          </a:p>
          <a:p>
            <a:pPr marL="0" indent="0">
              <a:buNone/>
            </a:pPr>
            <a:r>
              <a:rPr lang="en-IN"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dict</a:t>
            </a:r>
            <a:r>
              <a:rPr lang="en-IN" sz="1400" dirty="0">
                <a:solidFill>
                  <a:srgbClr val="000000"/>
                </a:solidFill>
                <a:highlight>
                  <a:srgbClr val="FFFFFF"/>
                </a:highlight>
                <a:latin typeface="Consolas" panose="020B0609020204030204" pitchFamily="49" charset="0"/>
              </a:rPr>
              <a:t>.Add(</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Sanoj</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 59000);</a:t>
            </a:r>
          </a:p>
          <a:p>
            <a:pPr marL="0" indent="0">
              <a:buNone/>
            </a:pPr>
            <a:r>
              <a:rPr lang="en-IN"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dict</a:t>
            </a:r>
            <a:r>
              <a:rPr lang="en-IN" sz="1400" dirty="0">
                <a:solidFill>
                  <a:srgbClr val="000000"/>
                </a:solidFill>
                <a:highlight>
                  <a:srgbClr val="FFFFFF"/>
                </a:highlight>
                <a:latin typeface="Consolas" panose="020B0609020204030204" pitchFamily="49" charset="0"/>
              </a:rPr>
              <a:t>.Add(</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Piku</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 45000);</a:t>
            </a:r>
          </a:p>
          <a:p>
            <a:pPr marL="0" indent="0">
              <a:buNone/>
            </a:pPr>
            <a:r>
              <a:rPr lang="en-IN"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dict</a:t>
            </a:r>
            <a:r>
              <a:rPr lang="en-IN" sz="1400" dirty="0">
                <a:solidFill>
                  <a:srgbClr val="000000"/>
                </a:solidFill>
                <a:highlight>
                  <a:srgbClr val="FFFFFF"/>
                </a:highlight>
                <a:latin typeface="Consolas" panose="020B0609020204030204" pitchFamily="49" charset="0"/>
              </a:rPr>
              <a:t>.Add(</a:t>
            </a:r>
            <a:r>
              <a:rPr lang="en-IN" sz="1400" dirty="0">
                <a:solidFill>
                  <a:srgbClr val="A31515"/>
                </a:solidFill>
                <a:highlight>
                  <a:srgbClr val="FFFFFF"/>
                </a:highlight>
                <a:latin typeface="Consolas" panose="020B0609020204030204" pitchFamily="49" charset="0"/>
              </a:rPr>
              <a:t>"Frank"</a:t>
            </a:r>
            <a:r>
              <a:rPr lang="en-IN" sz="1400" dirty="0">
                <a:solidFill>
                  <a:srgbClr val="000000"/>
                </a:solidFill>
                <a:highlight>
                  <a:srgbClr val="FFFFFF"/>
                </a:highlight>
                <a:latin typeface="Consolas" panose="020B0609020204030204" pitchFamily="49" charset="0"/>
              </a:rPr>
              <a:t>, 99000);</a:t>
            </a:r>
            <a:r>
              <a:rPr lang="en-US" sz="1400" dirty="0">
                <a:solidFill>
                  <a:srgbClr val="000000"/>
                </a:solidFill>
                <a:highlight>
                  <a:srgbClr val="FFFFFF"/>
                </a:highlight>
                <a:latin typeface="Consolas" panose="020B0609020204030204" pitchFamily="49" charset="0"/>
              </a:rPr>
              <a:t> </a:t>
            </a:r>
          </a:p>
          <a:p>
            <a:pPr marL="0" indent="0">
              <a:buNone/>
            </a:pPr>
            <a:r>
              <a:rPr lang="en-US" sz="1400" dirty="0">
                <a:solidFill>
                  <a:srgbClr val="008000"/>
                </a:solidFill>
                <a:highlight>
                  <a:srgbClr val="FFFFFF"/>
                </a:highlight>
                <a:latin typeface="Consolas" panose="020B0609020204030204" pitchFamily="49" charset="0"/>
              </a:rPr>
              <a:t>// Get a collection of the keys (names). </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ICollection</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&gt; c = </a:t>
            </a:r>
            <a:r>
              <a:rPr lang="en-US" sz="1400" dirty="0" err="1">
                <a:solidFill>
                  <a:srgbClr val="000000"/>
                </a:solidFill>
                <a:highlight>
                  <a:srgbClr val="FFFFFF"/>
                </a:highlight>
                <a:latin typeface="Consolas" panose="020B0609020204030204" pitchFamily="49" charset="0"/>
              </a:rPr>
              <a:t>dict.Keys</a:t>
            </a:r>
            <a:r>
              <a:rPr lang="en-US"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Use the keys to obtain the values (</a:t>
            </a:r>
            <a:r>
              <a:rPr lang="en-US" sz="1400" dirty="0" err="1">
                <a:solidFill>
                  <a:srgbClr val="008000"/>
                </a:solidFill>
                <a:highlight>
                  <a:srgbClr val="FFFFFF"/>
                </a:highlight>
                <a:latin typeface="Consolas" panose="020B0609020204030204" pitchFamily="49" charset="0"/>
              </a:rPr>
              <a:t>salares</a:t>
            </a:r>
            <a:r>
              <a:rPr lang="en-US" sz="1400" dirty="0">
                <a:solidFill>
                  <a:srgbClr val="008000"/>
                </a:solidFill>
                <a:highlight>
                  <a:srgbClr val="FFFFFF"/>
                </a:highlight>
                <a:latin typeface="Consolas" panose="020B0609020204030204" pitchFamily="49" charset="0"/>
              </a:rPr>
              <a:t>). </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foreach</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str </a:t>
            </a:r>
            <a:r>
              <a:rPr lang="en-IN" sz="1400" dirty="0">
                <a:solidFill>
                  <a:srgbClr val="0000FF"/>
                </a:solidFill>
                <a:highlight>
                  <a:srgbClr val="FFFFFF"/>
                </a:highlight>
                <a:latin typeface="Consolas" panose="020B0609020204030204" pitchFamily="49" charset="0"/>
              </a:rPr>
              <a:t>in</a:t>
            </a:r>
            <a:r>
              <a:rPr lang="en-IN" sz="1400" dirty="0">
                <a:solidFill>
                  <a:srgbClr val="000000"/>
                </a:solidFill>
                <a:highlight>
                  <a:srgbClr val="FFFFFF"/>
                </a:highlight>
                <a:latin typeface="Consolas" panose="020B0609020204030204" pitchFamily="49" charset="0"/>
              </a:rPr>
              <a:t> c)</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"{0}, Salary: {1:C}"</a:t>
            </a:r>
            <a:r>
              <a:rPr lang="en-IN" sz="1400" dirty="0">
                <a:solidFill>
                  <a:srgbClr val="000000"/>
                </a:solidFill>
                <a:highlight>
                  <a:srgbClr val="FFFFFF"/>
                </a:highlight>
                <a:latin typeface="Consolas" panose="020B0609020204030204" pitchFamily="49" charset="0"/>
              </a:rPr>
              <a:t>, str, </a:t>
            </a:r>
            <a:r>
              <a:rPr lang="en-IN" sz="1400" dirty="0" err="1">
                <a:solidFill>
                  <a:srgbClr val="000000"/>
                </a:solidFill>
                <a:highlight>
                  <a:srgbClr val="FFFFFF"/>
                </a:highlight>
                <a:latin typeface="Consolas" panose="020B0609020204030204" pitchFamily="49" charset="0"/>
              </a:rPr>
              <a:t>dict</a:t>
            </a:r>
            <a:r>
              <a:rPr lang="en-IN" sz="1400" dirty="0">
                <a:solidFill>
                  <a:srgbClr val="000000"/>
                </a:solidFill>
                <a:highlight>
                  <a:srgbClr val="FFFFFF"/>
                </a:highlight>
                <a:latin typeface="Consolas" panose="020B0609020204030204" pitchFamily="49" charset="0"/>
              </a:rPr>
              <a:t>[str]);</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endParaRPr lang="en-IN" sz="1400" dirty="0"/>
          </a:p>
        </p:txBody>
      </p:sp>
    </p:spTree>
    <p:extLst>
      <p:ext uri="{BB962C8B-B14F-4D97-AF65-F5344CB8AC3E}">
        <p14:creationId xmlns:p14="http://schemas.microsoft.com/office/powerpoint/2010/main" val="1604794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08A56-6444-4519-88BD-F72FFF824191}"/>
              </a:ext>
            </a:extLst>
          </p:cNvPr>
          <p:cNvSpPr>
            <a:spLocks noGrp="1"/>
          </p:cNvSpPr>
          <p:nvPr>
            <p:ph type="title"/>
          </p:nvPr>
        </p:nvSpPr>
        <p:spPr>
          <a:xfrm>
            <a:off x="457200" y="-76200"/>
            <a:ext cx="8229600" cy="1143000"/>
          </a:xfrm>
        </p:spPr>
        <p:txBody>
          <a:bodyPr/>
          <a:lstStyle/>
          <a:p>
            <a:r>
              <a:rPr lang="en-US" b="0" i="0" dirty="0">
                <a:effectLst/>
              </a:rPr>
              <a:t>HashSet</a:t>
            </a:r>
            <a:endParaRPr lang="en-IN" dirty="0"/>
          </a:p>
        </p:txBody>
      </p:sp>
      <p:sp>
        <p:nvSpPr>
          <p:cNvPr id="3" name="Content Placeholder 2">
            <a:extLst>
              <a:ext uri="{FF2B5EF4-FFF2-40B4-BE49-F238E27FC236}">
                <a16:creationId xmlns:a16="http://schemas.microsoft.com/office/drawing/2014/main" id="{192A46D3-C61B-4D0C-871F-892B71A2E13C}"/>
              </a:ext>
            </a:extLst>
          </p:cNvPr>
          <p:cNvSpPr>
            <a:spLocks noGrp="1"/>
          </p:cNvSpPr>
          <p:nvPr>
            <p:ph idx="1"/>
          </p:nvPr>
        </p:nvSpPr>
        <p:spPr>
          <a:xfrm>
            <a:off x="228600" y="1143000"/>
            <a:ext cx="8458200" cy="4983163"/>
          </a:xfrm>
        </p:spPr>
        <p:txBody>
          <a:bodyPr>
            <a:normAutofit/>
          </a:bodyPr>
          <a:lstStyle/>
          <a:p>
            <a:r>
              <a:rPr lang="en-US" sz="2400" b="0" i="0" dirty="0">
                <a:effectLst/>
                <a:latin typeface="+mj-lt"/>
              </a:rPr>
              <a:t>In C#, is an unordered collection </a:t>
            </a:r>
            <a:r>
              <a:rPr lang="en-US" sz="2400" b="1" i="0" dirty="0">
                <a:effectLst/>
                <a:latin typeface="+mj-lt"/>
              </a:rPr>
              <a:t>of unique </a:t>
            </a:r>
            <a:r>
              <a:rPr lang="en-US" sz="2400" b="0" i="0" dirty="0">
                <a:effectLst/>
                <a:latin typeface="+mj-lt"/>
              </a:rPr>
              <a:t>elements. </a:t>
            </a:r>
          </a:p>
          <a:p>
            <a:r>
              <a:rPr lang="en-US" sz="2400" b="0" i="0" dirty="0">
                <a:effectLst/>
                <a:latin typeface="+mj-lt"/>
              </a:rPr>
              <a:t>This collection is introduced in </a:t>
            </a:r>
            <a:r>
              <a:rPr lang="en-US" sz="2400" b="0" i="1" dirty="0">
                <a:effectLst/>
                <a:latin typeface="+mj-lt"/>
              </a:rPr>
              <a:t>.NET 3.5</a:t>
            </a:r>
            <a:r>
              <a:rPr lang="en-US" sz="2400" b="0" i="0" dirty="0">
                <a:effectLst/>
                <a:latin typeface="+mj-lt"/>
              </a:rPr>
              <a:t>.</a:t>
            </a:r>
          </a:p>
          <a:p>
            <a:r>
              <a:rPr lang="en-US" sz="2400" b="0" i="0" dirty="0">
                <a:effectLst/>
                <a:latin typeface="+mj-lt"/>
              </a:rPr>
              <a:t> It supports the implementation of sets and uses the hash table for storage. </a:t>
            </a:r>
          </a:p>
          <a:p>
            <a:r>
              <a:rPr lang="en-US" sz="2400" b="0" i="0" dirty="0">
                <a:effectLst/>
                <a:latin typeface="+mj-lt"/>
              </a:rPr>
              <a:t>This collection is of the generic type collection and it is defined under </a:t>
            </a:r>
            <a:r>
              <a:rPr lang="en-US" sz="2400" b="0" i="1" dirty="0" err="1">
                <a:effectLst/>
                <a:latin typeface="+mj-lt"/>
              </a:rPr>
              <a:t>System.Collections.Generic</a:t>
            </a:r>
            <a:r>
              <a:rPr lang="en-US" sz="2400" b="0" i="0" dirty="0">
                <a:effectLst/>
                <a:latin typeface="+mj-lt"/>
              </a:rPr>
              <a:t> namespace.</a:t>
            </a:r>
          </a:p>
          <a:p>
            <a:r>
              <a:rPr lang="en-US" sz="2400" b="0" i="0" dirty="0">
                <a:effectLst/>
                <a:latin typeface="+mj-lt"/>
              </a:rPr>
              <a:t> It is generally used when we want to prevent duplicate elements from being placed in the collection. </a:t>
            </a:r>
          </a:p>
          <a:p>
            <a:r>
              <a:rPr lang="en-US" sz="2400" b="0" i="0" dirty="0">
                <a:effectLst/>
                <a:latin typeface="+mj-lt"/>
              </a:rPr>
              <a:t>The performance of the HashSet is much better in comparison to the list.</a:t>
            </a:r>
            <a:endParaRPr lang="en-IN" sz="2400" dirty="0">
              <a:latin typeface="+mj-lt"/>
            </a:endParaRPr>
          </a:p>
        </p:txBody>
      </p:sp>
    </p:spTree>
    <p:extLst>
      <p:ext uri="{BB962C8B-B14F-4D97-AF65-F5344CB8AC3E}">
        <p14:creationId xmlns:p14="http://schemas.microsoft.com/office/powerpoint/2010/main" val="884386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08A56-6444-4519-88BD-F72FFF824191}"/>
              </a:ext>
            </a:extLst>
          </p:cNvPr>
          <p:cNvSpPr>
            <a:spLocks noGrp="1"/>
          </p:cNvSpPr>
          <p:nvPr>
            <p:ph type="title"/>
          </p:nvPr>
        </p:nvSpPr>
        <p:spPr>
          <a:xfrm>
            <a:off x="6096000" y="-76200"/>
            <a:ext cx="2590800" cy="685800"/>
          </a:xfrm>
        </p:spPr>
        <p:txBody>
          <a:bodyPr>
            <a:normAutofit fontScale="90000"/>
          </a:bodyPr>
          <a:lstStyle/>
          <a:p>
            <a:r>
              <a:rPr lang="en-US" b="0" i="0" dirty="0">
                <a:effectLst/>
              </a:rPr>
              <a:t>HashSet</a:t>
            </a:r>
            <a:endParaRPr lang="en-IN" dirty="0"/>
          </a:p>
        </p:txBody>
      </p:sp>
      <p:sp>
        <p:nvSpPr>
          <p:cNvPr id="3" name="Content Placeholder 2">
            <a:extLst>
              <a:ext uri="{FF2B5EF4-FFF2-40B4-BE49-F238E27FC236}">
                <a16:creationId xmlns:a16="http://schemas.microsoft.com/office/drawing/2014/main" id="{192A46D3-C61B-4D0C-871F-892B71A2E13C}"/>
              </a:ext>
            </a:extLst>
          </p:cNvPr>
          <p:cNvSpPr>
            <a:spLocks noGrp="1"/>
          </p:cNvSpPr>
          <p:nvPr>
            <p:ph idx="1"/>
          </p:nvPr>
        </p:nvSpPr>
        <p:spPr>
          <a:xfrm>
            <a:off x="-25078" y="0"/>
            <a:ext cx="9473878" cy="7010400"/>
          </a:xfrm>
        </p:spPr>
        <p:txBody>
          <a:bodyPr>
            <a:noAutofit/>
          </a:bodyPr>
          <a:lstStyle/>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 </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collectiondata</a:t>
            </a:r>
            <a:r>
              <a:rPr lang="en-IN" sz="1400" dirty="0">
                <a:solidFill>
                  <a:srgbClr val="000000"/>
                </a:solidFill>
                <a:highlight>
                  <a:srgbClr val="FFFFFF"/>
                </a:highlight>
                <a:latin typeface="Consolas" panose="020B0609020204030204" pitchFamily="49" charset="0"/>
              </a:rPr>
              <a:t> {     </a:t>
            </a:r>
            <a:r>
              <a:rPr lang="en-IN" sz="1400" dirty="0">
                <a:solidFill>
                  <a:srgbClr val="008000"/>
                </a:solidFill>
                <a:highlight>
                  <a:srgbClr val="FFFFFF"/>
                </a:highlight>
                <a:latin typeface="Consolas" panose="020B0609020204030204" pitchFamily="49" charset="0"/>
              </a:rPr>
              <a:t>// Main Method </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 </a:t>
            </a:r>
          </a:p>
          <a:p>
            <a:pPr marL="0" indent="0">
              <a:buNone/>
            </a:pPr>
            <a:r>
              <a:rPr lang="en-IN" sz="1400" dirty="0">
                <a:solidFill>
                  <a:srgbClr val="000000"/>
                </a:solidFill>
                <a:highlight>
                  <a:srgbClr val="FFFFFF"/>
                </a:highlight>
                <a:latin typeface="Consolas" panose="020B0609020204030204" pitchFamily="49" charset="0"/>
              </a:rPr>
              <a:t>    {      </a:t>
            </a:r>
            <a:r>
              <a:rPr lang="en-IN" sz="1400" dirty="0">
                <a:solidFill>
                  <a:srgbClr val="008000"/>
                </a:solidFill>
                <a:highlight>
                  <a:srgbClr val="FFFFFF"/>
                </a:highlight>
                <a:latin typeface="Consolas" panose="020B0609020204030204" pitchFamily="49" charset="0"/>
              </a:rPr>
              <a:t>// Creating HashSet </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Using HashSet class </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myhash</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&gt;(); </a:t>
            </a:r>
          </a:p>
          <a:p>
            <a:pPr marL="0" indent="0">
              <a:buNone/>
            </a:pPr>
            <a:r>
              <a:rPr lang="en-IN" sz="1400" dirty="0">
                <a:solidFill>
                  <a:srgbClr val="000000"/>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Add the elements in HashSet</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Using Add method </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"Java"</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"Ruby"</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"Php"</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After using Remove method </a:t>
            </a:r>
            <a:endParaRPr lang="en-IN" sz="1400" dirty="0">
              <a:solidFill>
                <a:srgbClr val="000000"/>
              </a:solidFill>
              <a:highlight>
                <a:srgbClr val="FFFFFF"/>
              </a:highlight>
              <a:latin typeface="Consolas" panose="020B0609020204030204" pitchFamily="49" charset="0"/>
            </a:endParaRPr>
          </a:p>
          <a:p>
            <a:pPr marL="0" indent="0">
              <a:buNone/>
            </a:pP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"Total number of elements present"</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 in </a:t>
            </a:r>
            <a:r>
              <a:rPr lang="en-US" sz="1400" dirty="0" err="1">
                <a:solidFill>
                  <a:srgbClr val="A31515"/>
                </a:solidFill>
                <a:highlight>
                  <a:srgbClr val="FFFFFF"/>
                </a:highlight>
                <a:latin typeface="Consolas" panose="020B0609020204030204" pitchFamily="49" charset="0"/>
              </a:rPr>
              <a:t>myhash</a:t>
            </a:r>
            <a:r>
              <a:rPr lang="en-US" sz="1400" dirty="0">
                <a:solidFill>
                  <a:srgbClr val="A31515"/>
                </a:solidFill>
                <a:highlight>
                  <a:srgbClr val="FFFFFF"/>
                </a:highlight>
                <a:latin typeface="Consolas" panose="020B0609020204030204" pitchFamily="49" charset="0"/>
              </a:rPr>
              <a:t>: {0}"</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myhash.Count</a:t>
            </a:r>
            <a:r>
              <a:rPr lang="en-US"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Remove element from HashSet </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Using Remove method </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myhash.Remove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"Ruby"</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Before using Remove method </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"Total number of elements present"</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 in </a:t>
            </a:r>
            <a:r>
              <a:rPr lang="en-US" sz="1400" dirty="0" err="1">
                <a:solidFill>
                  <a:srgbClr val="A31515"/>
                </a:solidFill>
                <a:highlight>
                  <a:srgbClr val="FFFFFF"/>
                </a:highlight>
                <a:latin typeface="Consolas" panose="020B0609020204030204" pitchFamily="49" charset="0"/>
              </a:rPr>
              <a:t>myhash</a:t>
            </a:r>
            <a:r>
              <a:rPr lang="en-US" sz="1400" dirty="0">
                <a:solidFill>
                  <a:srgbClr val="A31515"/>
                </a:solidFill>
                <a:highlight>
                  <a:srgbClr val="FFFFFF"/>
                </a:highlight>
                <a:latin typeface="Consolas" panose="020B0609020204030204" pitchFamily="49" charset="0"/>
              </a:rPr>
              <a:t>: {0}"</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myhash.Count</a:t>
            </a:r>
            <a:r>
              <a:rPr lang="en-US"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myhash.RemoveWhere</a:t>
            </a:r>
            <a:r>
              <a:rPr lang="en-US" sz="1400" dirty="0">
                <a:solidFill>
                  <a:srgbClr val="000000"/>
                </a:solidFill>
                <a:highlight>
                  <a:srgbClr val="FFFFFF"/>
                </a:highlight>
                <a:latin typeface="Consolas" panose="020B0609020204030204" pitchFamily="49" charset="0"/>
              </a:rPr>
              <a:t>(data =&gt; </a:t>
            </a:r>
            <a:r>
              <a:rPr lang="en-US" sz="1400" dirty="0" err="1">
                <a:solidFill>
                  <a:srgbClr val="000000"/>
                </a:solidFill>
                <a:highlight>
                  <a:srgbClr val="FFFFFF"/>
                </a:highlight>
                <a:latin typeface="Consolas" panose="020B0609020204030204" pitchFamily="49" charset="0"/>
              </a:rPr>
              <a:t>data.StartsWith</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"C"</a:t>
            </a:r>
            <a:r>
              <a:rPr lang="en-US" sz="1400" dirty="0">
                <a:solidFill>
                  <a:srgbClr val="000000"/>
                </a:solidFill>
                <a:highlight>
                  <a:srgbClr val="FFFFFF"/>
                </a:highlight>
                <a:latin typeface="Consolas" panose="020B0609020204030204" pitchFamily="49" charset="0"/>
              </a:rPr>
              <a:t>));</a:t>
            </a:r>
          </a:p>
          <a:p>
            <a:pPr marL="0" indent="0">
              <a:buNone/>
            </a:pPr>
            <a:r>
              <a:rPr lang="sv-SE" sz="1400" dirty="0">
                <a:solidFill>
                  <a:srgbClr val="000000"/>
                </a:solidFill>
                <a:highlight>
                  <a:srgbClr val="FFFFFF"/>
                </a:highlight>
                <a:latin typeface="Consolas" panose="020B0609020204030204" pitchFamily="49" charset="0"/>
              </a:rPr>
              <a:t>        </a:t>
            </a:r>
            <a:r>
              <a:rPr lang="sv-SE" sz="1400" dirty="0">
                <a:solidFill>
                  <a:srgbClr val="0000FF"/>
                </a:solidFill>
                <a:highlight>
                  <a:srgbClr val="FFFFFF"/>
                </a:highlight>
                <a:latin typeface="Consolas" panose="020B0609020204030204" pitchFamily="49" charset="0"/>
              </a:rPr>
              <a:t>foreach</a:t>
            </a:r>
            <a:r>
              <a:rPr lang="sv-SE" sz="1400" dirty="0">
                <a:solidFill>
                  <a:srgbClr val="000000"/>
                </a:solidFill>
                <a:highlight>
                  <a:srgbClr val="FFFFFF"/>
                </a:highlight>
                <a:latin typeface="Consolas" panose="020B0609020204030204" pitchFamily="49" charset="0"/>
              </a:rPr>
              <a:t> (</a:t>
            </a:r>
            <a:r>
              <a:rPr lang="sv-SE" sz="1400" dirty="0">
                <a:solidFill>
                  <a:srgbClr val="0000FF"/>
                </a:solidFill>
                <a:highlight>
                  <a:srgbClr val="FFFFFF"/>
                </a:highlight>
                <a:latin typeface="Consolas" panose="020B0609020204030204" pitchFamily="49" charset="0"/>
              </a:rPr>
              <a:t>var</a:t>
            </a:r>
            <a:r>
              <a:rPr lang="sv-SE" sz="1400" dirty="0">
                <a:solidFill>
                  <a:srgbClr val="000000"/>
                </a:solidFill>
                <a:highlight>
                  <a:srgbClr val="FFFFFF"/>
                </a:highlight>
                <a:latin typeface="Consolas" panose="020B0609020204030204" pitchFamily="49" charset="0"/>
              </a:rPr>
              <a:t> valu </a:t>
            </a:r>
            <a:r>
              <a:rPr lang="sv-SE" sz="1400" dirty="0">
                <a:solidFill>
                  <a:srgbClr val="0000FF"/>
                </a:solidFill>
                <a:highlight>
                  <a:srgbClr val="FFFFFF"/>
                </a:highlight>
                <a:latin typeface="Consolas" panose="020B0609020204030204" pitchFamily="49" charset="0"/>
              </a:rPr>
              <a:t>in</a:t>
            </a:r>
            <a:r>
              <a:rPr lang="sv-SE" sz="1400" dirty="0">
                <a:solidFill>
                  <a:srgbClr val="000000"/>
                </a:solidFill>
                <a:highlight>
                  <a:srgbClr val="FFFFFF"/>
                </a:highlight>
                <a:latin typeface="Consolas" panose="020B0609020204030204" pitchFamily="49" charset="0"/>
              </a:rPr>
              <a:t> myhash)</a:t>
            </a:r>
          </a:p>
          <a:p>
            <a:pPr marL="0" indent="0">
              <a:buNone/>
            </a:pPr>
            <a:r>
              <a:rPr lang="en-IN" sz="1400" dirty="0">
                <a:solidFill>
                  <a:srgbClr val="000000"/>
                </a:solidFill>
                <a:highlight>
                  <a:srgbClr val="FFFFFF"/>
                </a:highlight>
                <a:latin typeface="Consolas" panose="020B0609020204030204" pitchFamily="49" charset="0"/>
              </a:rPr>
              <a:t>        {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valu</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 </a:t>
            </a: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Remove all elements from HashSet </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Using Clear method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myhash.Clear</a:t>
            </a: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"Total number of elements present"</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 in </a:t>
            </a:r>
            <a:r>
              <a:rPr lang="en-US" sz="1400" dirty="0" err="1">
                <a:solidFill>
                  <a:srgbClr val="A31515"/>
                </a:solidFill>
                <a:highlight>
                  <a:srgbClr val="FFFFFF"/>
                </a:highlight>
                <a:latin typeface="Consolas" panose="020B0609020204030204" pitchFamily="49" charset="0"/>
              </a:rPr>
              <a:t>myhash</a:t>
            </a:r>
            <a:r>
              <a:rPr lang="en-US" sz="1400" dirty="0">
                <a:solidFill>
                  <a:srgbClr val="A31515"/>
                </a:solidFill>
                <a:highlight>
                  <a:srgbClr val="FFFFFF"/>
                </a:highlight>
                <a:latin typeface="Consolas" panose="020B0609020204030204" pitchFamily="49" charset="0"/>
              </a:rPr>
              <a:t>:{0}"</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myhash.Count</a:t>
            </a:r>
            <a:r>
              <a:rPr lang="en-US" sz="1400" dirty="0">
                <a:solidFill>
                  <a:srgbClr val="000000"/>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    }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b="0" i="0" dirty="0">
                <a:effectLst/>
                <a:latin typeface="+mj-lt"/>
              </a:rPr>
              <a:t>.</a:t>
            </a:r>
            <a:endParaRPr lang="en-IN" sz="1400" dirty="0">
              <a:latin typeface="+mj-lt"/>
            </a:endParaRPr>
          </a:p>
        </p:txBody>
      </p:sp>
    </p:spTree>
    <p:extLst>
      <p:ext uri="{BB962C8B-B14F-4D97-AF65-F5344CB8AC3E}">
        <p14:creationId xmlns:p14="http://schemas.microsoft.com/office/powerpoint/2010/main" val="2026372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19526-7994-4780-9723-87CDF9109D7F}"/>
              </a:ext>
            </a:extLst>
          </p:cNvPr>
          <p:cNvSpPr>
            <a:spLocks noGrp="1"/>
          </p:cNvSpPr>
          <p:nvPr>
            <p:ph type="title"/>
          </p:nvPr>
        </p:nvSpPr>
        <p:spPr>
          <a:xfrm>
            <a:off x="2133600" y="-40747"/>
            <a:ext cx="2739695" cy="457199"/>
          </a:xfrm>
        </p:spPr>
        <p:txBody>
          <a:bodyPr>
            <a:normAutofit fontScale="90000"/>
          </a:bodyPr>
          <a:lstStyle/>
          <a:p>
            <a:r>
              <a:rPr lang="en-IN" dirty="0"/>
              <a:t>Set</a:t>
            </a:r>
          </a:p>
        </p:txBody>
      </p:sp>
      <p:sp>
        <p:nvSpPr>
          <p:cNvPr id="3" name="Content Placeholder 2">
            <a:extLst>
              <a:ext uri="{FF2B5EF4-FFF2-40B4-BE49-F238E27FC236}">
                <a16:creationId xmlns:a16="http://schemas.microsoft.com/office/drawing/2014/main" id="{D0A1F214-5E93-4056-81D2-3021078CD911}"/>
              </a:ext>
            </a:extLst>
          </p:cNvPr>
          <p:cNvSpPr>
            <a:spLocks noGrp="1"/>
          </p:cNvSpPr>
          <p:nvPr>
            <p:ph idx="1"/>
          </p:nvPr>
        </p:nvSpPr>
        <p:spPr>
          <a:xfrm>
            <a:off x="0" y="76200"/>
            <a:ext cx="4419600" cy="6781800"/>
          </a:xfrm>
        </p:spPr>
        <p:txBody>
          <a:bodyPr>
            <a:noAutofit/>
          </a:bodyPr>
          <a:lstStyle/>
          <a:p>
            <a:pPr marL="0" indent="0">
              <a:buNone/>
            </a:pPr>
            <a:r>
              <a:rPr lang="en-US" sz="1200" dirty="0">
                <a:solidFill>
                  <a:srgbClr val="008000"/>
                </a:solidFill>
                <a:highlight>
                  <a:srgbClr val="FFFFFF"/>
                </a:highlight>
                <a:latin typeface="Consolas" panose="020B0609020204030204" pitchFamily="49" charset="0"/>
              </a:rPr>
              <a:t>// Demonstrate the HashSet&lt;T&gt; class.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HashSetDemo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Show(</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msg,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 set)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msg</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foreach</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ch</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set)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 </a:t>
            </a:r>
            <a:r>
              <a:rPr lang="en-US" sz="1200" dirty="0" err="1">
                <a:solidFill>
                  <a:srgbClr val="000000"/>
                </a:solidFill>
                <a:highlight>
                  <a:srgbClr val="FFFFFF"/>
                </a:highlight>
                <a:latin typeface="Consolas" panose="020B0609020204030204" pitchFamily="49" charset="0"/>
              </a:rPr>
              <a:t>setA</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 </a:t>
            </a:r>
            <a:r>
              <a:rPr lang="en-US" sz="1200" dirty="0" err="1">
                <a:solidFill>
                  <a:srgbClr val="000000"/>
                </a:solidFill>
                <a:highlight>
                  <a:srgbClr val="FFFFFF"/>
                </a:highlight>
                <a:latin typeface="Consolas" panose="020B0609020204030204" pitchFamily="49" charset="0"/>
              </a:rPr>
              <a:t>setB</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setA.Add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setA.Add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'B'</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setA.Add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setB.Add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setB.Add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'D'</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setB.Add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'E'</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Show(</a:t>
            </a:r>
            <a:r>
              <a:rPr lang="en-US" sz="1200" dirty="0">
                <a:solidFill>
                  <a:srgbClr val="A31515"/>
                </a:solidFill>
                <a:highlight>
                  <a:srgbClr val="FFFFFF"/>
                </a:highlight>
                <a:latin typeface="Consolas" panose="020B0609020204030204" pitchFamily="49" charset="0"/>
              </a:rPr>
              <a:t>"Initial content of </a:t>
            </a:r>
            <a:r>
              <a:rPr lang="en-US" sz="1200" dirty="0" err="1">
                <a:solidFill>
                  <a:srgbClr val="A31515"/>
                </a:solidFill>
                <a:highlight>
                  <a:srgbClr val="FFFFFF"/>
                </a:highlight>
                <a:latin typeface="Consolas" panose="020B0609020204030204" pitchFamily="49" charset="0"/>
              </a:rPr>
              <a:t>setA</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setA</a:t>
            </a:r>
            <a:r>
              <a:rPr lang="en-US"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Show(</a:t>
            </a:r>
            <a:r>
              <a:rPr lang="en-US" sz="1200" dirty="0">
                <a:solidFill>
                  <a:srgbClr val="A31515"/>
                </a:solidFill>
                <a:highlight>
                  <a:srgbClr val="FFFFFF"/>
                </a:highlight>
                <a:latin typeface="Consolas" panose="020B0609020204030204" pitchFamily="49" charset="0"/>
              </a:rPr>
              <a:t>"Initial content of </a:t>
            </a:r>
            <a:r>
              <a:rPr lang="en-US" sz="1200" dirty="0" err="1">
                <a:solidFill>
                  <a:srgbClr val="A31515"/>
                </a:solidFill>
                <a:highlight>
                  <a:srgbClr val="FFFFFF"/>
                </a:highlight>
                <a:latin typeface="Consolas" panose="020B0609020204030204" pitchFamily="49" charset="0"/>
              </a:rPr>
              <a:t>setB</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setB</a:t>
            </a:r>
            <a:r>
              <a:rPr lang="en-US"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setA.SymmetricExceptWith</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setB</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Show(</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setA</a:t>
            </a:r>
            <a:r>
              <a:rPr lang="en-US" sz="1200" dirty="0">
                <a:solidFill>
                  <a:srgbClr val="A31515"/>
                </a:solidFill>
                <a:highlight>
                  <a:srgbClr val="FFFFFF"/>
                </a:highlight>
                <a:latin typeface="Consolas" panose="020B0609020204030204" pitchFamily="49" charset="0"/>
              </a:rPr>
              <a:t> after Symmetric difference with </a:t>
            </a:r>
            <a:r>
              <a:rPr lang="en-US" sz="1200" dirty="0" err="1">
                <a:solidFill>
                  <a:srgbClr val="A31515"/>
                </a:solidFill>
                <a:highlight>
                  <a:srgbClr val="FFFFFF"/>
                </a:highlight>
                <a:latin typeface="Consolas" panose="020B0609020204030204" pitchFamily="49" charset="0"/>
              </a:rPr>
              <a:t>SetB</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setA</a:t>
            </a:r>
            <a:r>
              <a:rPr lang="en-US" sz="1200" dirty="0">
                <a:solidFill>
                  <a:srgbClr val="000000"/>
                </a:solidFill>
                <a:highlight>
                  <a:srgbClr val="FFFFFF"/>
                </a:highlight>
                <a:latin typeface="Consolas" panose="020B0609020204030204" pitchFamily="49" charset="0"/>
              </a:rPr>
              <a:t>);</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p>
        </p:txBody>
      </p:sp>
      <p:sp>
        <p:nvSpPr>
          <p:cNvPr id="4" name="Rectangle 2">
            <a:extLst>
              <a:ext uri="{FF2B5EF4-FFF2-40B4-BE49-F238E27FC236}">
                <a16:creationId xmlns:a16="http://schemas.microsoft.com/office/drawing/2014/main" id="{2865EA89-8BCB-4820-9035-F268518641D0}"/>
              </a:ext>
            </a:extLst>
          </p:cNvPr>
          <p:cNvSpPr>
            <a:spLocks noChangeArrowheads="1"/>
          </p:cNvSpPr>
          <p:nvPr/>
        </p:nvSpPr>
        <p:spPr bwMode="auto">
          <a:xfrm>
            <a:off x="4267200" y="-40747"/>
            <a:ext cx="4876800" cy="13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157DEC"/>
                </a:solidFill>
                <a:effectLst/>
                <a:latin typeface="Georgia" panose="02040502050405020303" pitchFamily="18" charset="0"/>
                <a:ea typeface="Times New Roman" panose="02020603050405020304" pitchFamily="18" charset="0"/>
              </a:rPr>
              <a:t>Example to find the symmetric difference using Venn diagram:</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228600" marR="0" lvl="0" indent="-22860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If A = {1, 2, 3, 4, 5, 6, 7, 8} and</a:t>
            </a:r>
          </a:p>
          <a:p>
            <a:pPr marL="228600" marR="0" lvl="0" indent="-22860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B = {1, 3, 5, 6, 7, 8, 9}, </a:t>
            </a:r>
          </a:p>
          <a:p>
            <a:pPr marL="228600" marR="0" lvl="0" indent="-228600" algn="l" defTabSz="914400" rtl="0" eaLnBrk="0" fontAlgn="base" latinLnBrk="0" hangingPunct="0">
              <a:lnSpc>
                <a:spcPct val="100000"/>
              </a:lnSpc>
              <a:spcBef>
                <a:spcPct val="0"/>
              </a:spcBef>
              <a:spcAft>
                <a:spcPct val="0"/>
              </a:spcAft>
              <a:buClrTx/>
              <a:buSzTx/>
              <a:buFontTx/>
              <a:buAutoNum type="arabicPeriod"/>
              <a:tabLst/>
            </a:pPr>
            <a:endParaRPr lang="en-US" altLang="en-US" sz="1200" dirty="0">
              <a:latin typeface="Arial" panose="020B0604020202020204" pitchFamily="34" charset="0"/>
              <a:ea typeface="Times New Roman" panose="02020603050405020304" pitchFamily="18" charset="0"/>
            </a:endParaRPr>
          </a:p>
          <a:p>
            <a:pPr marL="228600" marR="0" lvl="0" indent="-22860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then A – B = {2, 4}, B – A = {9} and A </a:t>
            </a: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Cambria Math" panose="02040503050406030204" pitchFamily="18" charset="0"/>
              </a:rPr>
              <a:t>△</a:t>
            </a: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B = {2, 4, 9}.</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5" name="Picture 2" descr="Symmetric Difference Venn Diagram">
            <a:extLst>
              <a:ext uri="{FF2B5EF4-FFF2-40B4-BE49-F238E27FC236}">
                <a16:creationId xmlns:a16="http://schemas.microsoft.com/office/drawing/2014/main" id="{B79B71C8-2F5A-4717-A2A5-1329984CCB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966788"/>
            <a:ext cx="4923784" cy="414749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3023880A-04BC-4714-BF9C-68899EE273A4}"/>
              </a:ext>
            </a:extLst>
          </p:cNvPr>
          <p:cNvSpPr>
            <a:spLocks noChangeArrowheads="1"/>
          </p:cNvSpPr>
          <p:nvPr/>
        </p:nvSpPr>
        <p:spPr bwMode="auto">
          <a:xfrm>
            <a:off x="4724402" y="4991176"/>
            <a:ext cx="358490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Therefore, the shaded part of the Venn diagram represents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 </a:t>
            </a: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Cambria Math" panose="02040503050406030204" pitchFamily="18" charset="0"/>
              </a:rPr>
              <a:t>△</a:t>
            </a: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B = {2, 4, 9}.</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308598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1371600" y="1295400"/>
            <a:ext cx="2667000" cy="2438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A,B </a:t>
            </a:r>
            <a:endParaRPr lang="en-IN" dirty="0"/>
          </a:p>
        </p:txBody>
      </p:sp>
      <p:sp>
        <p:nvSpPr>
          <p:cNvPr id="5" name="Oval 4"/>
          <p:cNvSpPr/>
          <p:nvPr/>
        </p:nvSpPr>
        <p:spPr>
          <a:xfrm>
            <a:off x="3352800" y="1409700"/>
            <a:ext cx="3048000" cy="2209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C       D      E    </a:t>
            </a:r>
            <a:endParaRPr lang="en-IN" dirty="0"/>
          </a:p>
        </p:txBody>
      </p:sp>
      <p:cxnSp>
        <p:nvCxnSpPr>
          <p:cNvPr id="7" name="Straight Arrow Connector 6"/>
          <p:cNvCxnSpPr/>
          <p:nvPr/>
        </p:nvCxnSpPr>
        <p:spPr>
          <a:xfrm flipV="1">
            <a:off x="738188" y="2819400"/>
            <a:ext cx="685800" cy="15240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1752600" y="3886200"/>
            <a:ext cx="2057400" cy="1981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B D E</a:t>
            </a:r>
            <a:endParaRPr lang="en-IN" dirty="0"/>
          </a:p>
        </p:txBody>
      </p:sp>
      <p:sp>
        <p:nvSpPr>
          <p:cNvPr id="10" name="TextBox 9"/>
          <p:cNvSpPr txBox="1"/>
          <p:nvPr/>
        </p:nvSpPr>
        <p:spPr>
          <a:xfrm>
            <a:off x="-47625" y="2895600"/>
            <a:ext cx="1752600" cy="381000"/>
          </a:xfrm>
          <a:prstGeom prst="rect">
            <a:avLst/>
          </a:prstGeom>
          <a:noFill/>
        </p:spPr>
        <p:txBody>
          <a:bodyPr wrap="square" rtlCol="0">
            <a:spAutoFit/>
          </a:bodyPr>
          <a:lstStyle/>
          <a:p>
            <a:r>
              <a:rPr lang="en-US" dirty="0"/>
              <a:t>Set A</a:t>
            </a:r>
            <a:endParaRPr lang="en-IN" dirty="0"/>
          </a:p>
        </p:txBody>
      </p:sp>
      <p:sp>
        <p:nvSpPr>
          <p:cNvPr id="14" name="TextBox 13"/>
          <p:cNvSpPr txBox="1"/>
          <p:nvPr/>
        </p:nvSpPr>
        <p:spPr>
          <a:xfrm>
            <a:off x="6629400" y="1676400"/>
            <a:ext cx="1524000" cy="381000"/>
          </a:xfrm>
          <a:prstGeom prst="rect">
            <a:avLst/>
          </a:prstGeom>
          <a:noFill/>
        </p:spPr>
        <p:txBody>
          <a:bodyPr wrap="square" rtlCol="0">
            <a:spAutoFit/>
          </a:bodyPr>
          <a:lstStyle/>
          <a:p>
            <a:r>
              <a:rPr lang="en-US" dirty="0" err="1"/>
              <a:t>setB</a:t>
            </a:r>
            <a:endParaRPr lang="en-IN" dirty="0"/>
          </a:p>
        </p:txBody>
      </p:sp>
      <p:cxnSp>
        <p:nvCxnSpPr>
          <p:cNvPr id="16" name="Straight Arrow Connector 15"/>
          <p:cNvCxnSpPr/>
          <p:nvPr/>
        </p:nvCxnSpPr>
        <p:spPr>
          <a:xfrm flipH="1">
            <a:off x="6477000" y="2057400"/>
            <a:ext cx="76200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33400" y="3276600"/>
            <a:ext cx="1295400" cy="990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23991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19526-7994-4780-9723-87CDF9109D7F}"/>
              </a:ext>
            </a:extLst>
          </p:cNvPr>
          <p:cNvSpPr>
            <a:spLocks noGrp="1"/>
          </p:cNvSpPr>
          <p:nvPr>
            <p:ph type="title"/>
          </p:nvPr>
        </p:nvSpPr>
        <p:spPr>
          <a:xfrm>
            <a:off x="2590577" y="108092"/>
            <a:ext cx="2739695" cy="457199"/>
          </a:xfrm>
        </p:spPr>
        <p:txBody>
          <a:bodyPr>
            <a:normAutofit fontScale="90000"/>
          </a:bodyPr>
          <a:lstStyle/>
          <a:p>
            <a:r>
              <a:rPr lang="en-IN" dirty="0"/>
              <a:t>Set</a:t>
            </a:r>
          </a:p>
        </p:txBody>
      </p:sp>
      <p:sp>
        <p:nvSpPr>
          <p:cNvPr id="3" name="Content Placeholder 2">
            <a:extLst>
              <a:ext uri="{FF2B5EF4-FFF2-40B4-BE49-F238E27FC236}">
                <a16:creationId xmlns:a16="http://schemas.microsoft.com/office/drawing/2014/main" id="{D0A1F214-5E93-4056-81D2-3021078CD911}"/>
              </a:ext>
            </a:extLst>
          </p:cNvPr>
          <p:cNvSpPr>
            <a:spLocks noGrp="1"/>
          </p:cNvSpPr>
          <p:nvPr>
            <p:ph idx="1"/>
          </p:nvPr>
        </p:nvSpPr>
        <p:spPr>
          <a:xfrm>
            <a:off x="0" y="76200"/>
            <a:ext cx="5029200" cy="6781800"/>
          </a:xfrm>
        </p:spPr>
        <p:txBody>
          <a:bodyPr>
            <a:noAutofit/>
          </a:bodyPr>
          <a:lstStyle/>
          <a:p>
            <a:pPr marL="0" indent="0">
              <a:spcBef>
                <a:spcPts val="0"/>
              </a:spcBef>
              <a:buNone/>
            </a:pPr>
            <a:r>
              <a:rPr lang="en-US" sz="1400" dirty="0">
                <a:solidFill>
                  <a:srgbClr val="008000"/>
                </a:solidFill>
                <a:highlight>
                  <a:srgbClr val="FFFFFF"/>
                </a:highlight>
                <a:latin typeface="Consolas" panose="020B0609020204030204" pitchFamily="49" charset="0"/>
              </a:rPr>
              <a:t>// Demonstrate the HashSet&lt;T&gt; class.  </a:t>
            </a:r>
            <a:endParaRPr lang="en-US"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HashSetDemo</a:t>
            </a: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Show(</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msg,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set)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msg</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set)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ch</a:t>
            </a:r>
            <a:r>
              <a:rPr lang="en-IN" sz="1400" dirty="0">
                <a:solidFill>
                  <a:srgbClr val="000000"/>
                </a:solidFill>
                <a:highlight>
                  <a:srgbClr val="FFFFFF"/>
                </a:highlight>
                <a:latin typeface="Consolas" panose="020B0609020204030204" pitchFamily="49" charset="0"/>
              </a:rPr>
              <a:t> + </a:t>
            </a:r>
            <a:r>
              <a:rPr lang="en-IN" sz="1400" dirty="0">
                <a:solidFill>
                  <a:srgbClr val="A31515"/>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setB</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'B'</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'D'</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"Initial content of </a:t>
            </a:r>
            <a:r>
              <a:rPr lang="en-US" sz="1400" dirty="0" err="1">
                <a:solidFill>
                  <a:srgbClr val="A31515"/>
                </a:solidFill>
                <a:highlight>
                  <a:srgbClr val="FFFFFF"/>
                </a:highlight>
                <a:latin typeface="Consolas" panose="020B0609020204030204" pitchFamily="49" charset="0"/>
              </a:rPr>
              <a:t>setA</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"Initial content of </a:t>
            </a:r>
            <a:r>
              <a:rPr lang="en-US" sz="1400" dirty="0" err="1">
                <a:solidFill>
                  <a:srgbClr val="A31515"/>
                </a:solidFill>
                <a:highlight>
                  <a:srgbClr val="FFFFFF"/>
                </a:highlight>
                <a:latin typeface="Consolas" panose="020B0609020204030204" pitchFamily="49" charset="0"/>
              </a:rPr>
              <a:t>setB</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setB</a:t>
            </a:r>
            <a:r>
              <a:rPr lang="en-US"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setA.UnionWith</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setB</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a:t>
            </a:r>
            <a:r>
              <a:rPr lang="en-US" sz="1400" dirty="0" err="1">
                <a:solidFill>
                  <a:srgbClr val="A31515"/>
                </a:solidFill>
                <a:highlight>
                  <a:srgbClr val="FFFFFF"/>
                </a:highlight>
                <a:latin typeface="Consolas" panose="020B0609020204030204" pitchFamily="49" charset="0"/>
              </a:rPr>
              <a:t>setA</a:t>
            </a:r>
            <a:r>
              <a:rPr lang="en-US" sz="1400" dirty="0">
                <a:solidFill>
                  <a:srgbClr val="A31515"/>
                </a:solidFill>
                <a:highlight>
                  <a:srgbClr val="FFFFFF"/>
                </a:highlight>
                <a:latin typeface="Consolas" panose="020B0609020204030204" pitchFamily="49" charset="0"/>
              </a:rPr>
              <a:t> after union with </a:t>
            </a:r>
            <a:r>
              <a:rPr lang="en-US" sz="1400" dirty="0" err="1">
                <a:solidFill>
                  <a:srgbClr val="A31515"/>
                </a:solidFill>
                <a:highlight>
                  <a:srgbClr val="FFFFFF"/>
                </a:highlight>
                <a:latin typeface="Consolas" panose="020B0609020204030204" pitchFamily="49" charset="0"/>
              </a:rPr>
              <a:t>setB</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endParaRPr lang="en-IN" sz="1050" dirty="0"/>
          </a:p>
        </p:txBody>
      </p:sp>
      <p:sp>
        <p:nvSpPr>
          <p:cNvPr id="4" name="Rectangle 2">
            <a:extLst>
              <a:ext uri="{FF2B5EF4-FFF2-40B4-BE49-F238E27FC236}">
                <a16:creationId xmlns:a16="http://schemas.microsoft.com/office/drawing/2014/main" id="{2865EA89-8BCB-4820-9035-F268518641D0}"/>
              </a:ext>
            </a:extLst>
          </p:cNvPr>
          <p:cNvSpPr>
            <a:spLocks noChangeArrowheads="1"/>
          </p:cNvSpPr>
          <p:nvPr/>
        </p:nvSpPr>
        <p:spPr bwMode="auto">
          <a:xfrm>
            <a:off x="4564380" y="202967"/>
            <a:ext cx="5341619" cy="1972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7000"/>
              </a:lnSpc>
              <a:spcAft>
                <a:spcPts val="800"/>
              </a:spcAft>
            </a:pPr>
            <a:r>
              <a:rPr lang="en-IN" sz="1400" dirty="0">
                <a:solidFill>
                  <a:srgbClr val="157DEC"/>
                </a:solidFill>
                <a:effectLst/>
                <a:latin typeface="Georgia" panose="02040502050405020303" pitchFamily="18" charset="0"/>
                <a:ea typeface="Times New Roman" panose="02020603050405020304" pitchFamily="18" charset="0"/>
                <a:cs typeface="Times New Roman" panose="02020603050405020304" pitchFamily="18" charset="0"/>
              </a:rPr>
              <a:t>Solved examples of union of sets using Venn diagram:</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If A = {2, 5, 7} and   B = {1, 2, 5, 8}.</a:t>
            </a:r>
          </a:p>
          <a:p>
            <a:pPr>
              <a:lnSpc>
                <a:spcPct val="107000"/>
              </a:lnSpc>
              <a:spcAft>
                <a:spcPts val="800"/>
              </a:spcAf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Find A U B using </a:t>
            </a:r>
            <a:r>
              <a:rPr lang="en-IN" sz="1400" dirty="0" err="1">
                <a:effectLst/>
                <a:latin typeface="Times New Roman" panose="02020603050405020304" pitchFamily="18" charset="0"/>
                <a:ea typeface="Times New Roman" panose="02020603050405020304" pitchFamily="18" charset="0"/>
                <a:cs typeface="Times New Roman" panose="02020603050405020304" pitchFamily="18" charset="0"/>
              </a:rPr>
              <a:t>venn</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diagram.    </a:t>
            </a:r>
            <a:r>
              <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rPr>
              <a:t>Solution: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According to the given question we know, </a:t>
            </a:r>
          </a:p>
          <a:p>
            <a:pPr>
              <a:lnSpc>
                <a:spcPct val="107000"/>
              </a:lnSpc>
              <a:spcAft>
                <a:spcPts val="800"/>
              </a:spcAf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A = {2, 5, 7} and    B = {1, 2, 5, 8}</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Now let’s draw the </a:t>
            </a:r>
            <a:r>
              <a:rPr lang="en-IN" sz="1400" dirty="0" err="1">
                <a:effectLst/>
                <a:latin typeface="Times New Roman" panose="02020603050405020304" pitchFamily="18" charset="0"/>
                <a:ea typeface="Times New Roman" panose="02020603050405020304" pitchFamily="18" charset="0"/>
                <a:cs typeface="Times New Roman" panose="02020603050405020304" pitchFamily="18" charset="0"/>
              </a:rPr>
              <a:t>venn</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diagram to find A union B.</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3023880A-04BC-4714-BF9C-68899EE273A4}"/>
              </a:ext>
            </a:extLst>
          </p:cNvPr>
          <p:cNvSpPr>
            <a:spLocks noChangeArrowheads="1"/>
          </p:cNvSpPr>
          <p:nvPr/>
        </p:nvSpPr>
        <p:spPr bwMode="auto">
          <a:xfrm>
            <a:off x="4724402" y="4960398"/>
            <a:ext cx="3584905"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Therefore, from the Venn diagram we get A U B = {1, 2, 5, 7, 8}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7" name="Picture 6" descr="Union using Venn Diagram">
            <a:extLst>
              <a:ext uri="{FF2B5EF4-FFF2-40B4-BE49-F238E27FC236}">
                <a16:creationId xmlns:a16="http://schemas.microsoft.com/office/drawing/2014/main" id="{864C41FC-7B12-4F6F-B155-5AA94DAFA89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490356" y="2161712"/>
            <a:ext cx="3345338" cy="2934267"/>
          </a:xfrm>
          <a:prstGeom prst="rect">
            <a:avLst/>
          </a:prstGeom>
          <a:noFill/>
          <a:ln>
            <a:noFill/>
          </a:ln>
        </p:spPr>
      </p:pic>
    </p:spTree>
    <p:extLst>
      <p:ext uri="{BB962C8B-B14F-4D97-AF65-F5344CB8AC3E}">
        <p14:creationId xmlns:p14="http://schemas.microsoft.com/office/powerpoint/2010/main" val="35387794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19526-7994-4780-9723-87CDF9109D7F}"/>
              </a:ext>
            </a:extLst>
          </p:cNvPr>
          <p:cNvSpPr>
            <a:spLocks noGrp="1"/>
          </p:cNvSpPr>
          <p:nvPr>
            <p:ph type="title"/>
          </p:nvPr>
        </p:nvSpPr>
        <p:spPr>
          <a:xfrm>
            <a:off x="2590577" y="108092"/>
            <a:ext cx="2739695" cy="457199"/>
          </a:xfrm>
        </p:spPr>
        <p:txBody>
          <a:bodyPr>
            <a:normAutofit fontScale="90000"/>
          </a:bodyPr>
          <a:lstStyle/>
          <a:p>
            <a:r>
              <a:rPr lang="en-IN" dirty="0"/>
              <a:t>Set</a:t>
            </a:r>
          </a:p>
        </p:txBody>
      </p:sp>
      <p:sp>
        <p:nvSpPr>
          <p:cNvPr id="3" name="Content Placeholder 2">
            <a:extLst>
              <a:ext uri="{FF2B5EF4-FFF2-40B4-BE49-F238E27FC236}">
                <a16:creationId xmlns:a16="http://schemas.microsoft.com/office/drawing/2014/main" id="{D0A1F214-5E93-4056-81D2-3021078CD911}"/>
              </a:ext>
            </a:extLst>
          </p:cNvPr>
          <p:cNvSpPr>
            <a:spLocks noGrp="1"/>
          </p:cNvSpPr>
          <p:nvPr>
            <p:ph idx="1"/>
          </p:nvPr>
        </p:nvSpPr>
        <p:spPr>
          <a:xfrm>
            <a:off x="0" y="76200"/>
            <a:ext cx="5029200" cy="6934200"/>
          </a:xfrm>
        </p:spPr>
        <p:txBody>
          <a:bodyPr>
            <a:noAutofit/>
          </a:bodyPr>
          <a:lstStyle/>
          <a:p>
            <a:pPr marL="0" indent="0">
              <a:spcBef>
                <a:spcPts val="0"/>
              </a:spcBef>
              <a:buNone/>
            </a:pPr>
            <a:r>
              <a:rPr lang="en-US" sz="1400" dirty="0">
                <a:solidFill>
                  <a:srgbClr val="008000"/>
                </a:solidFill>
                <a:highlight>
                  <a:srgbClr val="FFFFFF"/>
                </a:highlight>
                <a:latin typeface="Consolas" panose="020B0609020204030204" pitchFamily="49" charset="0"/>
              </a:rPr>
              <a:t>// Demonstrate the HashSet&lt;T&gt; class.  </a:t>
            </a:r>
            <a:endParaRPr lang="en-US"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HashSetDemo</a:t>
            </a: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Show(</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msg,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set)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msg</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set)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ch</a:t>
            </a:r>
            <a:r>
              <a:rPr lang="en-IN" sz="1400" dirty="0">
                <a:solidFill>
                  <a:srgbClr val="000000"/>
                </a:solidFill>
                <a:highlight>
                  <a:srgbClr val="FFFFFF"/>
                </a:highlight>
                <a:latin typeface="Consolas" panose="020B0609020204030204" pitchFamily="49" charset="0"/>
              </a:rPr>
              <a:t> + </a:t>
            </a:r>
            <a:r>
              <a:rPr lang="en-IN" sz="1400" dirty="0">
                <a:solidFill>
                  <a:srgbClr val="A31515"/>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setB</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'B'</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'D'</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'E'</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"Initial content of </a:t>
            </a:r>
            <a:r>
              <a:rPr lang="en-US" sz="1400" dirty="0" err="1">
                <a:solidFill>
                  <a:srgbClr val="A31515"/>
                </a:solidFill>
                <a:highlight>
                  <a:srgbClr val="FFFFFF"/>
                </a:highlight>
                <a:latin typeface="Consolas" panose="020B0609020204030204" pitchFamily="49" charset="0"/>
              </a:rPr>
              <a:t>setA</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"Initial content of </a:t>
            </a:r>
            <a:r>
              <a:rPr lang="en-US" sz="1400" dirty="0" err="1">
                <a:solidFill>
                  <a:srgbClr val="A31515"/>
                </a:solidFill>
                <a:highlight>
                  <a:srgbClr val="FFFFFF"/>
                </a:highlight>
                <a:latin typeface="Consolas" panose="020B0609020204030204" pitchFamily="49" charset="0"/>
              </a:rPr>
              <a:t>setB</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setB</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setA.ExceptWith</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setB</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a:t>
            </a:r>
            <a:r>
              <a:rPr lang="en-US" sz="1400" dirty="0" err="1">
                <a:solidFill>
                  <a:srgbClr val="A31515"/>
                </a:solidFill>
                <a:highlight>
                  <a:srgbClr val="FFFFFF"/>
                </a:highlight>
                <a:latin typeface="Consolas" panose="020B0609020204030204" pitchFamily="49" charset="0"/>
              </a:rPr>
              <a:t>setA</a:t>
            </a:r>
            <a:r>
              <a:rPr lang="en-US" sz="1400" dirty="0">
                <a:solidFill>
                  <a:srgbClr val="A31515"/>
                </a:solidFill>
                <a:highlight>
                  <a:srgbClr val="FFFFFF"/>
                </a:highlight>
                <a:latin typeface="Consolas" panose="020B0609020204030204" pitchFamily="49" charset="0"/>
              </a:rPr>
              <a:t> after subtracting </a:t>
            </a:r>
            <a:r>
              <a:rPr lang="en-US" sz="1400" dirty="0" err="1">
                <a:solidFill>
                  <a:srgbClr val="A31515"/>
                </a:solidFill>
                <a:highlight>
                  <a:srgbClr val="FFFFFF"/>
                </a:highlight>
                <a:latin typeface="Consolas" panose="020B0609020204030204" pitchFamily="49" charset="0"/>
              </a:rPr>
              <a:t>setB</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endParaRPr lang="en-IN" sz="1100" dirty="0">
              <a:solidFill>
                <a:srgbClr val="000000"/>
              </a:solidFill>
              <a:highlight>
                <a:srgbClr val="FFFFFF"/>
              </a:highlight>
              <a:latin typeface="Consolas" panose="020B0609020204030204" pitchFamily="49" charset="0"/>
            </a:endParaRPr>
          </a:p>
          <a:p>
            <a:pPr marL="0" indent="0">
              <a:spcBef>
                <a:spcPts val="0"/>
              </a:spcBef>
              <a:buNone/>
            </a:pPr>
            <a:endParaRPr lang="en-IN" sz="900" dirty="0">
              <a:solidFill>
                <a:srgbClr val="000000"/>
              </a:solidFill>
              <a:highlight>
                <a:srgbClr val="FFFFFF"/>
              </a:highlight>
              <a:latin typeface="Consolas" panose="020B0609020204030204" pitchFamily="49" charset="0"/>
            </a:endParaRPr>
          </a:p>
          <a:p>
            <a:pPr marL="0" indent="0">
              <a:spcBef>
                <a:spcPts val="0"/>
              </a:spcBef>
              <a:buNone/>
            </a:pPr>
            <a:endParaRPr lang="en-IN" sz="900" dirty="0"/>
          </a:p>
        </p:txBody>
      </p:sp>
      <p:sp>
        <p:nvSpPr>
          <p:cNvPr id="4" name="Rectangle 2">
            <a:extLst>
              <a:ext uri="{FF2B5EF4-FFF2-40B4-BE49-F238E27FC236}">
                <a16:creationId xmlns:a16="http://schemas.microsoft.com/office/drawing/2014/main" id="{2865EA89-8BCB-4820-9035-F268518641D0}"/>
              </a:ext>
            </a:extLst>
          </p:cNvPr>
          <p:cNvSpPr>
            <a:spLocks noChangeArrowheads="1"/>
          </p:cNvSpPr>
          <p:nvPr/>
        </p:nvSpPr>
        <p:spPr bwMode="auto">
          <a:xfrm>
            <a:off x="4572000" y="76200"/>
            <a:ext cx="5417820" cy="289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7000"/>
              </a:lnSpc>
              <a:spcAft>
                <a:spcPts val="800"/>
              </a:spcAft>
            </a:pPr>
            <a:r>
              <a:rPr lang="en-IN" sz="1800" dirty="0">
                <a:solidFill>
                  <a:srgbClr val="157DEC"/>
                </a:solidFill>
                <a:effectLst/>
                <a:latin typeface="Georgia" panose="02040502050405020303" pitchFamily="18" charset="0"/>
                <a:ea typeface="Times New Roman" panose="02020603050405020304" pitchFamily="18" charset="0"/>
                <a:cs typeface="Times New Roman" panose="02020603050405020304" pitchFamily="18" charset="0"/>
              </a:rPr>
              <a:t>Solved example to find the difference of sets using Venn diagram: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If A = {2, 3, 4, 5, 6, 7} and B = {3, 5, 7, 9, 11, 13}, then find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i</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 – B and (ii) B – 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dirty="0" err="1">
                <a:effectLst/>
                <a:latin typeface="Times New Roman" panose="02020603050405020304" pitchFamily="18" charset="0"/>
                <a:ea typeface="Times New Roman" panose="02020603050405020304" pitchFamily="18" charset="0"/>
                <a:cs typeface="Times New Roman" panose="02020603050405020304" pitchFamily="18" charset="0"/>
              </a:rPr>
              <a:t>Solution:</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According</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to the given statement; </a:t>
            </a:r>
          </a:p>
          <a:p>
            <a:pPr>
              <a:lnSpc>
                <a:spcPct val="107000"/>
              </a:lnSpc>
              <a:spcAft>
                <a:spcPts val="8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A = {2, 3, 4, 5, 6, 7} and B = {3, 5, 7, 9, 11, 13}</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800" b="1" dirty="0" err="1">
                <a:effectLst/>
                <a:latin typeface="Times New Roman" panose="02020603050405020304" pitchFamily="18" charset="0"/>
                <a:ea typeface="Times New Roman" panose="02020603050405020304" pitchFamily="18" charset="0"/>
                <a:cs typeface="Times New Roman" panose="02020603050405020304" pitchFamily="18" charset="0"/>
              </a:rPr>
              <a:t>i</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 – B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3023880A-04BC-4714-BF9C-68899EE273A4}"/>
              </a:ext>
            </a:extLst>
          </p:cNvPr>
          <p:cNvSpPr>
            <a:spLocks noChangeArrowheads="1"/>
          </p:cNvSpPr>
          <p:nvPr/>
        </p:nvSpPr>
        <p:spPr bwMode="auto">
          <a:xfrm>
            <a:off x="5559095" y="5095979"/>
            <a:ext cx="358490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{2, 4, 6}</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eaLnBrk="0" fontAlgn="base" hangingPunct="0">
              <a:spcBef>
                <a:spcPct val="0"/>
              </a:spcBef>
              <a:spcAft>
                <a:spcPct val="0"/>
              </a:spcAf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8" name="Picture 7" descr="Difference of Sets">
            <a:extLst>
              <a:ext uri="{FF2B5EF4-FFF2-40B4-BE49-F238E27FC236}">
                <a16:creationId xmlns:a16="http://schemas.microsoft.com/office/drawing/2014/main" id="{86D1F180-1F0A-4456-BC1C-C25881F4DFC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791200" y="2615648"/>
            <a:ext cx="2735580" cy="2545080"/>
          </a:xfrm>
          <a:prstGeom prst="rect">
            <a:avLst/>
          </a:prstGeom>
          <a:noFill/>
          <a:ln>
            <a:noFill/>
          </a:ln>
        </p:spPr>
      </p:pic>
    </p:spTree>
    <p:extLst>
      <p:ext uri="{BB962C8B-B14F-4D97-AF65-F5344CB8AC3E}">
        <p14:creationId xmlns:p14="http://schemas.microsoft.com/office/powerpoint/2010/main" val="32463292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DC1539-B31A-3D46-60EC-B717849CA21A}"/>
              </a:ext>
            </a:extLst>
          </p:cNvPr>
          <p:cNvSpPr txBox="1"/>
          <p:nvPr/>
        </p:nvSpPr>
        <p:spPr>
          <a:xfrm>
            <a:off x="152400" y="685800"/>
            <a:ext cx="6096000" cy="5216813"/>
          </a:xfrm>
          <a:prstGeom prst="rect">
            <a:avLst/>
          </a:prstGeom>
          <a:noFill/>
        </p:spPr>
        <p:txBody>
          <a:bodyPr wrap="square">
            <a:spAutoFit/>
          </a:bodyPr>
          <a:lstStyle/>
          <a:p>
            <a:r>
              <a:rPr lang="en-US" sz="900" dirty="0">
                <a:solidFill>
                  <a:srgbClr val="008000"/>
                </a:solidFill>
                <a:latin typeface="Cascadia Mono" panose="020B0609020000020004" pitchFamily="49" charset="0"/>
              </a:rPr>
              <a:t>// Demonstrate the HashSet&lt;T&gt; class.  </a:t>
            </a:r>
            <a:endParaRPr lang="en-US"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System;</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System.Collections.Generic</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HashSetDemo</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Show(</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msg, HashSet&lt;</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&gt; set)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msg</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foreach</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ch</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in</a:t>
            </a:r>
            <a:r>
              <a:rPr lang="en-US" sz="900" dirty="0">
                <a:solidFill>
                  <a:srgbClr val="000000"/>
                </a:solidFill>
                <a:latin typeface="Cascadia Mono" panose="020B0609020000020004" pitchFamily="49" charset="0"/>
              </a:rPr>
              <a:t> set)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ch</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 "</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static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void</a:t>
            </a:r>
            <a:r>
              <a:rPr lang="en-IN" sz="900" dirty="0">
                <a:solidFill>
                  <a:srgbClr val="000000"/>
                </a:solidFill>
                <a:latin typeface="Cascadia Mono" panose="020B0609020000020004" pitchFamily="49" charset="0"/>
              </a:rPr>
              <a:t> Main()</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HashSet&lt;</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&gt; </a:t>
            </a:r>
            <a:r>
              <a:rPr lang="en-US" sz="900" dirty="0" err="1">
                <a:solidFill>
                  <a:srgbClr val="000000"/>
                </a:solidFill>
                <a:latin typeface="Cascadia Mono" panose="020B0609020000020004" pitchFamily="49" charset="0"/>
              </a:rPr>
              <a:t>setA</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HashSet&lt;</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&gt;();</a:t>
            </a:r>
          </a:p>
          <a:p>
            <a:r>
              <a:rPr lang="en-US" sz="900" dirty="0">
                <a:solidFill>
                  <a:srgbClr val="000000"/>
                </a:solidFill>
                <a:latin typeface="Cascadia Mono" panose="020B0609020000020004" pitchFamily="49" charset="0"/>
              </a:rPr>
              <a:t>        HashSet&lt;</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&gt; </a:t>
            </a:r>
            <a:r>
              <a:rPr lang="en-US" sz="900" dirty="0" err="1">
                <a:solidFill>
                  <a:srgbClr val="000000"/>
                </a:solidFill>
                <a:latin typeface="Cascadia Mono" panose="020B0609020000020004" pitchFamily="49" charset="0"/>
              </a:rPr>
              <a:t>setB</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HashSet&lt;</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&gt;();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setA.Add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setA.Add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'B'</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setA.Add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'C'</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setB.Add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'C'</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setB.Add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setB.Add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'E'</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Show(</a:t>
            </a:r>
            <a:r>
              <a:rPr lang="en-US" sz="900" dirty="0">
                <a:solidFill>
                  <a:srgbClr val="A31515"/>
                </a:solidFill>
                <a:latin typeface="Cascadia Mono" panose="020B0609020000020004" pitchFamily="49" charset="0"/>
              </a:rPr>
              <a:t>"Initial content of </a:t>
            </a:r>
            <a:r>
              <a:rPr lang="en-US" sz="900" dirty="0" err="1">
                <a:solidFill>
                  <a:srgbClr val="A31515"/>
                </a:solidFill>
                <a:latin typeface="Cascadia Mono" panose="020B0609020000020004" pitchFamily="49" charset="0"/>
              </a:rPr>
              <a:t>setA</a:t>
            </a:r>
            <a:r>
              <a:rPr lang="en-US" sz="900" dirty="0">
                <a:solidFill>
                  <a:srgbClr val="A31515"/>
                </a:solidFill>
                <a:latin typeface="Cascadia Mono" panose="020B0609020000020004" pitchFamily="49" charset="0"/>
              </a:rPr>
              <a:t>: "</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setA</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Show(</a:t>
            </a:r>
            <a:r>
              <a:rPr lang="en-US" sz="900" dirty="0">
                <a:solidFill>
                  <a:srgbClr val="A31515"/>
                </a:solidFill>
                <a:latin typeface="Cascadia Mono" panose="020B0609020000020004" pitchFamily="49" charset="0"/>
              </a:rPr>
              <a:t>"Initial content of </a:t>
            </a:r>
            <a:r>
              <a:rPr lang="en-US" sz="900" dirty="0" err="1">
                <a:solidFill>
                  <a:srgbClr val="A31515"/>
                </a:solidFill>
                <a:latin typeface="Cascadia Mono" panose="020B0609020000020004" pitchFamily="49" charset="0"/>
              </a:rPr>
              <a:t>setB</a:t>
            </a:r>
            <a:r>
              <a:rPr lang="en-US" sz="900" dirty="0">
                <a:solidFill>
                  <a:srgbClr val="A31515"/>
                </a:solidFill>
                <a:latin typeface="Cascadia Mono" panose="020B0609020000020004" pitchFamily="49" charset="0"/>
              </a:rPr>
              <a:t>: "</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setB</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setA.IntersectWith</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setB</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Show(</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setA</a:t>
            </a:r>
            <a:r>
              <a:rPr lang="en-US" sz="900" dirty="0">
                <a:solidFill>
                  <a:srgbClr val="A31515"/>
                </a:solidFill>
                <a:latin typeface="Cascadia Mono" panose="020B0609020000020004" pitchFamily="49" charset="0"/>
              </a:rPr>
              <a:t> after </a:t>
            </a:r>
            <a:r>
              <a:rPr lang="en-IN" sz="1800" dirty="0" err="1">
                <a:solidFill>
                  <a:srgbClr val="A31515"/>
                </a:solidFill>
                <a:latin typeface="Cascadia Mono" panose="020B0609020000020004" pitchFamily="49" charset="0"/>
              </a:rPr>
              <a:t>IntersectWith</a:t>
            </a:r>
            <a:r>
              <a:rPr lang="en-US" sz="900" dirty="0">
                <a:solidFill>
                  <a:srgbClr val="A31515"/>
                </a:solidFill>
                <a:latin typeface="Cascadia Mono" panose="020B0609020000020004" pitchFamily="49" charset="0"/>
              </a:rPr>
              <a:t> </a:t>
            </a:r>
            <a:r>
              <a:rPr lang="en-US" sz="900" dirty="0" err="1">
                <a:solidFill>
                  <a:srgbClr val="A31515"/>
                </a:solidFill>
                <a:latin typeface="Cascadia Mono" panose="020B0609020000020004" pitchFamily="49" charset="0"/>
              </a:rPr>
              <a:t>setB</a:t>
            </a:r>
            <a:r>
              <a:rPr lang="en-US" sz="900" dirty="0">
                <a:solidFill>
                  <a:srgbClr val="A31515"/>
                </a:solidFill>
                <a:latin typeface="Cascadia Mono" panose="020B0609020000020004" pitchFamily="49" charset="0"/>
              </a:rPr>
              <a:t>: "</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setA</a:t>
            </a:r>
            <a:r>
              <a:rPr lang="en-US" sz="900" dirty="0">
                <a:solidFill>
                  <a:srgbClr val="000000"/>
                </a:solidFill>
                <a:latin typeface="Cascadia Mono" panose="020B0609020000020004" pitchFamily="49" charset="0"/>
              </a:rPr>
              <a:t>); //C</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p:txBody>
      </p:sp>
    </p:spTree>
    <p:extLst>
      <p:ext uri="{BB962C8B-B14F-4D97-AF65-F5344CB8AC3E}">
        <p14:creationId xmlns:p14="http://schemas.microsoft.com/office/powerpoint/2010/main" val="2394194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9EA3F-CA96-48DE-9B5C-3779E35E5847}"/>
              </a:ext>
            </a:extLst>
          </p:cNvPr>
          <p:cNvSpPr>
            <a:spLocks noGrp="1"/>
          </p:cNvSpPr>
          <p:nvPr>
            <p:ph type="title"/>
          </p:nvPr>
        </p:nvSpPr>
        <p:spPr>
          <a:xfrm>
            <a:off x="1828800" y="274638"/>
            <a:ext cx="6858000" cy="258762"/>
          </a:xfrm>
        </p:spPr>
        <p:txBody>
          <a:bodyPr>
            <a:normAutofit fontScale="90000"/>
          </a:bodyPr>
          <a:lstStyle/>
          <a:p>
            <a:r>
              <a:rPr lang="en-IN" dirty="0"/>
              <a:t>Sorted set</a:t>
            </a:r>
          </a:p>
        </p:txBody>
      </p:sp>
      <p:sp>
        <p:nvSpPr>
          <p:cNvPr id="3" name="Content Placeholder 2">
            <a:extLst>
              <a:ext uri="{FF2B5EF4-FFF2-40B4-BE49-F238E27FC236}">
                <a16:creationId xmlns:a16="http://schemas.microsoft.com/office/drawing/2014/main" id="{B8FE1384-C011-4CC3-90E6-5D3E70AAF258}"/>
              </a:ext>
            </a:extLst>
          </p:cNvPr>
          <p:cNvSpPr>
            <a:spLocks noGrp="1"/>
          </p:cNvSpPr>
          <p:nvPr>
            <p:ph idx="1"/>
          </p:nvPr>
        </p:nvSpPr>
        <p:spPr>
          <a:xfrm>
            <a:off x="228600" y="533400"/>
            <a:ext cx="8610600" cy="6553200"/>
          </a:xfrm>
        </p:spPr>
        <p:txBody>
          <a:bodyPr>
            <a:noAutofit/>
          </a:bodyPr>
          <a:lstStyle/>
          <a:p>
            <a:pPr marL="0" indent="0">
              <a:buNone/>
            </a:pPr>
            <a:r>
              <a:rPr lang="en-US" sz="1400" dirty="0">
                <a:solidFill>
                  <a:srgbClr val="008000"/>
                </a:solidFill>
                <a:highlight>
                  <a:srgbClr val="FFFFFF"/>
                </a:highlight>
                <a:latin typeface="Consolas" panose="020B0609020204030204" pitchFamily="49" charset="0"/>
              </a:rPr>
              <a:t>// Demonstrate the HashSet&lt;T&gt; class.  </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HashSetDemo</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Show(</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msg, </a:t>
            </a:r>
            <a:r>
              <a:rPr lang="en-US" sz="1400" dirty="0" err="1">
                <a:solidFill>
                  <a:srgbClr val="2B91AF"/>
                </a:solidFill>
                <a:highlight>
                  <a:srgbClr val="FFFFFF"/>
                </a:highlight>
                <a:latin typeface="Consolas" panose="020B0609020204030204" pitchFamily="49" charset="0"/>
              </a:rPr>
              <a:t>SortedSet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set)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msg</a:t>
            </a:r>
            <a:r>
              <a:rPr lang="en-IN"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set)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ch</a:t>
            </a:r>
            <a:r>
              <a:rPr lang="en-IN" sz="1400" dirty="0">
                <a:solidFill>
                  <a:srgbClr val="000000"/>
                </a:solidFill>
                <a:highlight>
                  <a:srgbClr val="FFFFFF"/>
                </a:highlight>
                <a:latin typeface="Consolas" panose="020B0609020204030204" pitchFamily="49" charset="0"/>
              </a:rPr>
              <a:t> + </a:t>
            </a:r>
            <a:r>
              <a:rPr lang="en-IN" sz="1400" dirty="0">
                <a:solidFill>
                  <a:srgbClr val="A31515"/>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SortedSet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SortedSet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'X'</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'B'</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"Initial content of </a:t>
            </a:r>
            <a:r>
              <a:rPr lang="en-US" sz="1400" dirty="0" err="1">
                <a:solidFill>
                  <a:srgbClr val="A31515"/>
                </a:solidFill>
                <a:highlight>
                  <a:srgbClr val="FFFFFF"/>
                </a:highlight>
                <a:latin typeface="Consolas" panose="020B0609020204030204" pitchFamily="49" charset="0"/>
              </a:rPr>
              <a:t>setA</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endParaRPr lang="en-IN" sz="1400" dirty="0"/>
          </a:p>
        </p:txBody>
      </p:sp>
    </p:spTree>
    <p:extLst>
      <p:ext uri="{BB962C8B-B14F-4D97-AF65-F5344CB8AC3E}">
        <p14:creationId xmlns:p14="http://schemas.microsoft.com/office/powerpoint/2010/main" val="3241478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08A56-6444-4519-88BD-F72FFF824191}"/>
              </a:ext>
            </a:extLst>
          </p:cNvPr>
          <p:cNvSpPr>
            <a:spLocks noGrp="1"/>
          </p:cNvSpPr>
          <p:nvPr>
            <p:ph type="title"/>
          </p:nvPr>
        </p:nvSpPr>
        <p:spPr>
          <a:xfrm>
            <a:off x="457200" y="-76200"/>
            <a:ext cx="8229600" cy="1143000"/>
          </a:xfrm>
        </p:spPr>
        <p:txBody>
          <a:bodyPr/>
          <a:lstStyle/>
          <a:p>
            <a:r>
              <a:rPr lang="en-US" b="0" i="0" dirty="0">
                <a:effectLst/>
              </a:rPr>
              <a:t>HashSet</a:t>
            </a:r>
            <a:endParaRPr lang="en-IN" dirty="0"/>
          </a:p>
        </p:txBody>
      </p:sp>
      <p:sp>
        <p:nvSpPr>
          <p:cNvPr id="3" name="Content Placeholder 2">
            <a:extLst>
              <a:ext uri="{FF2B5EF4-FFF2-40B4-BE49-F238E27FC236}">
                <a16:creationId xmlns:a16="http://schemas.microsoft.com/office/drawing/2014/main" id="{192A46D3-C61B-4D0C-871F-892B71A2E13C}"/>
              </a:ext>
            </a:extLst>
          </p:cNvPr>
          <p:cNvSpPr>
            <a:spLocks noGrp="1"/>
          </p:cNvSpPr>
          <p:nvPr>
            <p:ph idx="1"/>
          </p:nvPr>
        </p:nvSpPr>
        <p:spPr>
          <a:xfrm>
            <a:off x="266700" y="1066800"/>
            <a:ext cx="8610600" cy="6096000"/>
          </a:xfrm>
        </p:spPr>
        <p:txBody>
          <a:bodyPr>
            <a:norm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ConsoleApplication1</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 = </a:t>
            </a:r>
            <a:r>
              <a:rPr lang="en-IN" sz="1200" dirty="0">
                <a:solidFill>
                  <a:srgbClr val="A31515"/>
                </a:solidFill>
                <a:highlight>
                  <a:srgbClr val="FFFFFF"/>
                </a:highlight>
                <a:latin typeface="Consolas" panose="020B0609020204030204" pitchFamily="49" charset="0"/>
              </a:rPr>
              <a:t>"vidyanidhi"</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 ds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char</a:t>
            </a:r>
            <a:r>
              <a:rPr lang="en-IN" sz="1200" dirty="0">
                <a:solidFill>
                  <a:srgbClr val="000000"/>
                </a:solidFill>
                <a:highlight>
                  <a:srgbClr val="FFFFFF"/>
                </a:highlight>
                <a:latin typeface="Consolas" panose="020B0609020204030204" pitchFamily="49" charset="0"/>
              </a:rPr>
              <a:t>[] c = </a:t>
            </a:r>
            <a:r>
              <a:rPr lang="en-IN" sz="1200" dirty="0" err="1">
                <a:solidFill>
                  <a:srgbClr val="000000"/>
                </a:solidFill>
                <a:highlight>
                  <a:srgbClr val="FFFFFF"/>
                </a:highlight>
                <a:latin typeface="Consolas" panose="020B0609020204030204" pitchFamily="49" charset="0"/>
              </a:rPr>
              <a:t>s.ToCharArray</a:t>
            </a:r>
            <a:r>
              <a:rPr lang="en-IN" sz="1200" dirty="0">
                <a:solidFill>
                  <a:srgbClr val="000000"/>
                </a:solidFill>
                <a:highlight>
                  <a:srgbClr val="FFFFFF"/>
                </a:highlight>
                <a:latin typeface="Consolas" panose="020B0609020204030204" pitchFamily="49" charset="0"/>
              </a:rPr>
              <a:t>();</a:t>
            </a:r>
          </a:p>
          <a:p>
            <a:pPr marL="0" indent="0">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c.Length; i++)</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ds.Add</a:t>
            </a:r>
            <a:r>
              <a:rPr lang="en-IN" sz="1200" dirty="0">
                <a:solidFill>
                  <a:srgbClr val="000000"/>
                </a:solidFill>
                <a:highlight>
                  <a:srgbClr val="FFFFFF"/>
                </a:highlight>
                <a:latin typeface="Consolas" panose="020B0609020204030204" pitchFamily="49" charset="0"/>
              </a:rPr>
              <a:t>(c[</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sv-SE" sz="1200" dirty="0">
                <a:solidFill>
                  <a:srgbClr val="000000"/>
                </a:solidFill>
                <a:highlight>
                  <a:srgbClr val="FFFFFF"/>
                </a:highlight>
                <a:latin typeface="Consolas" panose="020B0609020204030204" pitchFamily="49" charset="0"/>
              </a:rPr>
              <a:t>            </a:t>
            </a:r>
            <a:r>
              <a:rPr lang="sv-SE" sz="1200" dirty="0">
                <a:solidFill>
                  <a:srgbClr val="0000FF"/>
                </a:solidFill>
                <a:highlight>
                  <a:srgbClr val="FFFFFF"/>
                </a:highlight>
                <a:latin typeface="Consolas" panose="020B0609020204030204" pitchFamily="49" charset="0"/>
              </a:rPr>
              <a:t>foreach</a:t>
            </a:r>
            <a:r>
              <a:rPr lang="sv-SE" sz="1200" dirty="0">
                <a:solidFill>
                  <a:srgbClr val="000000"/>
                </a:solidFill>
                <a:highlight>
                  <a:srgbClr val="FFFFFF"/>
                </a:highlight>
                <a:latin typeface="Consolas" panose="020B0609020204030204" pitchFamily="49" charset="0"/>
              </a:rPr>
              <a:t> (</a:t>
            </a:r>
            <a:r>
              <a:rPr lang="sv-SE" sz="1200" dirty="0">
                <a:solidFill>
                  <a:srgbClr val="0000FF"/>
                </a:solidFill>
                <a:highlight>
                  <a:srgbClr val="FFFFFF"/>
                </a:highlight>
                <a:latin typeface="Consolas" panose="020B0609020204030204" pitchFamily="49" charset="0"/>
              </a:rPr>
              <a:t>var</a:t>
            </a:r>
            <a:r>
              <a:rPr lang="sv-SE" sz="1200" dirty="0">
                <a:solidFill>
                  <a:srgbClr val="000000"/>
                </a:solidFill>
                <a:highlight>
                  <a:srgbClr val="FFFFFF"/>
                </a:highlight>
                <a:latin typeface="Consolas" panose="020B0609020204030204" pitchFamily="49" charset="0"/>
              </a:rPr>
              <a:t> d </a:t>
            </a:r>
            <a:r>
              <a:rPr lang="sv-SE" sz="1200" dirty="0">
                <a:solidFill>
                  <a:srgbClr val="0000FF"/>
                </a:solidFill>
                <a:highlight>
                  <a:srgbClr val="FFFFFF"/>
                </a:highlight>
                <a:latin typeface="Consolas" panose="020B0609020204030204" pitchFamily="49" charset="0"/>
              </a:rPr>
              <a:t>in</a:t>
            </a:r>
            <a:r>
              <a:rPr lang="sv-SE" sz="1200" dirty="0">
                <a:solidFill>
                  <a:srgbClr val="000000"/>
                </a:solidFill>
                <a:highlight>
                  <a:srgbClr val="FFFFFF"/>
                </a:highlight>
                <a:latin typeface="Consolas" panose="020B0609020204030204" pitchFamily="49" charset="0"/>
              </a:rPr>
              <a:t> ds)</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(d);</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2400" dirty="0">
              <a:latin typeface="+mj-lt"/>
            </a:endParaRPr>
          </a:p>
        </p:txBody>
      </p:sp>
      <p:sp>
        <p:nvSpPr>
          <p:cNvPr id="4" name="Thought Bubble: Cloud 3">
            <a:extLst>
              <a:ext uri="{FF2B5EF4-FFF2-40B4-BE49-F238E27FC236}">
                <a16:creationId xmlns:a16="http://schemas.microsoft.com/office/drawing/2014/main" id="{DF72F8F1-5F67-4AD4-B0C7-BC7D164B63E9}"/>
              </a:ext>
            </a:extLst>
          </p:cNvPr>
          <p:cNvSpPr/>
          <p:nvPr/>
        </p:nvSpPr>
        <p:spPr>
          <a:xfrm>
            <a:off x="6995160" y="287020"/>
            <a:ext cx="2057400" cy="1905000"/>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vidyanidhi</a:t>
            </a:r>
          </a:p>
        </p:txBody>
      </p:sp>
      <p:sp>
        <p:nvSpPr>
          <p:cNvPr id="5" name="TextBox 4">
            <a:extLst>
              <a:ext uri="{FF2B5EF4-FFF2-40B4-BE49-F238E27FC236}">
                <a16:creationId xmlns:a16="http://schemas.microsoft.com/office/drawing/2014/main" id="{13028160-425A-43B5-AE3A-021BA46BDF1F}"/>
              </a:ext>
            </a:extLst>
          </p:cNvPr>
          <p:cNvSpPr txBox="1"/>
          <p:nvPr/>
        </p:nvSpPr>
        <p:spPr>
          <a:xfrm>
            <a:off x="4953000" y="774323"/>
            <a:ext cx="533400" cy="381000"/>
          </a:xfrm>
          <a:prstGeom prst="rect">
            <a:avLst/>
          </a:prstGeom>
          <a:noFill/>
        </p:spPr>
        <p:txBody>
          <a:bodyPr wrap="square" rtlCol="0">
            <a:spAutoFit/>
          </a:bodyPr>
          <a:lstStyle/>
          <a:p>
            <a:r>
              <a:rPr lang="en-IN" dirty="0"/>
              <a:t>s</a:t>
            </a:r>
          </a:p>
        </p:txBody>
      </p:sp>
      <p:cxnSp>
        <p:nvCxnSpPr>
          <p:cNvPr id="7" name="Straight Arrow Connector 6">
            <a:extLst>
              <a:ext uri="{FF2B5EF4-FFF2-40B4-BE49-F238E27FC236}">
                <a16:creationId xmlns:a16="http://schemas.microsoft.com/office/drawing/2014/main" id="{B4571A32-1964-4364-AAE8-DF3C011E1FF6}"/>
              </a:ext>
            </a:extLst>
          </p:cNvPr>
          <p:cNvCxnSpPr/>
          <p:nvPr/>
        </p:nvCxnSpPr>
        <p:spPr>
          <a:xfrm>
            <a:off x="5184140" y="984766"/>
            <a:ext cx="1676400" cy="5334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aphicFrame>
        <p:nvGraphicFramePr>
          <p:cNvPr id="8" name="Table 8">
            <a:extLst>
              <a:ext uri="{FF2B5EF4-FFF2-40B4-BE49-F238E27FC236}">
                <a16:creationId xmlns:a16="http://schemas.microsoft.com/office/drawing/2014/main" id="{FEA2EA01-C9EF-48BE-9D96-6D31A52B2B6A}"/>
              </a:ext>
            </a:extLst>
          </p:cNvPr>
          <p:cNvGraphicFramePr>
            <a:graphicFrameLocks noGrp="1"/>
          </p:cNvGraphicFramePr>
          <p:nvPr>
            <p:extLst>
              <p:ext uri="{D42A27DB-BD31-4B8C-83A1-F6EECF244321}">
                <p14:modId xmlns:p14="http://schemas.microsoft.com/office/powerpoint/2010/main" val="2650253203"/>
              </p:ext>
            </p:extLst>
          </p:nvPr>
        </p:nvGraphicFramePr>
        <p:xfrm>
          <a:off x="4592320" y="2290326"/>
          <a:ext cx="6096000" cy="37084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576566801"/>
                    </a:ext>
                  </a:extLst>
                </a:gridCol>
                <a:gridCol w="609600">
                  <a:extLst>
                    <a:ext uri="{9D8B030D-6E8A-4147-A177-3AD203B41FA5}">
                      <a16:colId xmlns:a16="http://schemas.microsoft.com/office/drawing/2014/main" val="3188607646"/>
                    </a:ext>
                  </a:extLst>
                </a:gridCol>
                <a:gridCol w="609600">
                  <a:extLst>
                    <a:ext uri="{9D8B030D-6E8A-4147-A177-3AD203B41FA5}">
                      <a16:colId xmlns:a16="http://schemas.microsoft.com/office/drawing/2014/main" val="221385716"/>
                    </a:ext>
                  </a:extLst>
                </a:gridCol>
                <a:gridCol w="609600">
                  <a:extLst>
                    <a:ext uri="{9D8B030D-6E8A-4147-A177-3AD203B41FA5}">
                      <a16:colId xmlns:a16="http://schemas.microsoft.com/office/drawing/2014/main" val="3412570674"/>
                    </a:ext>
                  </a:extLst>
                </a:gridCol>
                <a:gridCol w="609600">
                  <a:extLst>
                    <a:ext uri="{9D8B030D-6E8A-4147-A177-3AD203B41FA5}">
                      <a16:colId xmlns:a16="http://schemas.microsoft.com/office/drawing/2014/main" val="550513922"/>
                    </a:ext>
                  </a:extLst>
                </a:gridCol>
                <a:gridCol w="609600">
                  <a:extLst>
                    <a:ext uri="{9D8B030D-6E8A-4147-A177-3AD203B41FA5}">
                      <a16:colId xmlns:a16="http://schemas.microsoft.com/office/drawing/2014/main" val="4273241803"/>
                    </a:ext>
                  </a:extLst>
                </a:gridCol>
                <a:gridCol w="609600">
                  <a:extLst>
                    <a:ext uri="{9D8B030D-6E8A-4147-A177-3AD203B41FA5}">
                      <a16:colId xmlns:a16="http://schemas.microsoft.com/office/drawing/2014/main" val="190602288"/>
                    </a:ext>
                  </a:extLst>
                </a:gridCol>
                <a:gridCol w="609600">
                  <a:extLst>
                    <a:ext uri="{9D8B030D-6E8A-4147-A177-3AD203B41FA5}">
                      <a16:colId xmlns:a16="http://schemas.microsoft.com/office/drawing/2014/main" val="21088205"/>
                    </a:ext>
                  </a:extLst>
                </a:gridCol>
                <a:gridCol w="609600">
                  <a:extLst>
                    <a:ext uri="{9D8B030D-6E8A-4147-A177-3AD203B41FA5}">
                      <a16:colId xmlns:a16="http://schemas.microsoft.com/office/drawing/2014/main" val="2525827390"/>
                    </a:ext>
                  </a:extLst>
                </a:gridCol>
                <a:gridCol w="609600">
                  <a:extLst>
                    <a:ext uri="{9D8B030D-6E8A-4147-A177-3AD203B41FA5}">
                      <a16:colId xmlns:a16="http://schemas.microsoft.com/office/drawing/2014/main" val="2045864408"/>
                    </a:ext>
                  </a:extLst>
                </a:gridCol>
              </a:tblGrid>
              <a:tr h="370840">
                <a:tc>
                  <a:txBody>
                    <a:bodyPr/>
                    <a:lstStyle/>
                    <a:p>
                      <a:r>
                        <a:rPr lang="en-IN" dirty="0"/>
                        <a:t>v</a:t>
                      </a:r>
                    </a:p>
                  </a:txBody>
                  <a:tcPr/>
                </a:tc>
                <a:tc>
                  <a:txBody>
                    <a:bodyPr/>
                    <a:lstStyle/>
                    <a:p>
                      <a:r>
                        <a:rPr lang="en-IN" dirty="0" err="1"/>
                        <a:t>i</a:t>
                      </a:r>
                      <a:endParaRPr lang="en-IN" dirty="0"/>
                    </a:p>
                  </a:txBody>
                  <a:tcPr/>
                </a:tc>
                <a:tc>
                  <a:txBody>
                    <a:bodyPr/>
                    <a:lstStyle/>
                    <a:p>
                      <a:r>
                        <a:rPr lang="en-IN" dirty="0"/>
                        <a:t>d</a:t>
                      </a:r>
                    </a:p>
                  </a:txBody>
                  <a:tcPr/>
                </a:tc>
                <a:tc>
                  <a:txBody>
                    <a:bodyPr/>
                    <a:lstStyle/>
                    <a:p>
                      <a:r>
                        <a:rPr lang="en-IN" dirty="0"/>
                        <a:t>y</a:t>
                      </a:r>
                    </a:p>
                  </a:txBody>
                  <a:tcPr/>
                </a:tc>
                <a:tc>
                  <a:txBody>
                    <a:bodyPr/>
                    <a:lstStyle/>
                    <a:p>
                      <a:r>
                        <a:rPr lang="en-IN" dirty="0"/>
                        <a:t>a</a:t>
                      </a:r>
                    </a:p>
                  </a:txBody>
                  <a:tcPr/>
                </a:tc>
                <a:tc>
                  <a:txBody>
                    <a:bodyPr/>
                    <a:lstStyle/>
                    <a:p>
                      <a:r>
                        <a:rPr lang="en-IN" dirty="0"/>
                        <a:t>n</a:t>
                      </a:r>
                    </a:p>
                  </a:txBody>
                  <a:tcPr/>
                </a:tc>
                <a:tc>
                  <a:txBody>
                    <a:bodyPr/>
                    <a:lstStyle/>
                    <a:p>
                      <a:r>
                        <a:rPr lang="en-IN" dirty="0" err="1"/>
                        <a:t>i</a:t>
                      </a:r>
                      <a:endParaRPr lang="en-IN" dirty="0"/>
                    </a:p>
                  </a:txBody>
                  <a:tcPr/>
                </a:tc>
                <a:tc>
                  <a:txBody>
                    <a:bodyPr/>
                    <a:lstStyle/>
                    <a:p>
                      <a:r>
                        <a:rPr lang="en-IN" dirty="0"/>
                        <a:t>d</a:t>
                      </a:r>
                    </a:p>
                  </a:txBody>
                  <a:tcPr/>
                </a:tc>
                <a:tc>
                  <a:txBody>
                    <a:bodyPr/>
                    <a:lstStyle/>
                    <a:p>
                      <a:r>
                        <a:rPr lang="en-IN" dirty="0"/>
                        <a:t>h</a:t>
                      </a:r>
                    </a:p>
                  </a:txBody>
                  <a:tcPr/>
                </a:tc>
                <a:tc>
                  <a:txBody>
                    <a:bodyPr/>
                    <a:lstStyle/>
                    <a:p>
                      <a:r>
                        <a:rPr lang="en-IN" dirty="0" err="1"/>
                        <a:t>i</a:t>
                      </a:r>
                      <a:endParaRPr lang="en-IN" dirty="0"/>
                    </a:p>
                  </a:txBody>
                  <a:tcPr/>
                </a:tc>
                <a:extLst>
                  <a:ext uri="{0D108BD9-81ED-4DB2-BD59-A6C34878D82A}">
                    <a16:rowId xmlns:a16="http://schemas.microsoft.com/office/drawing/2014/main" val="1333030152"/>
                  </a:ext>
                </a:extLst>
              </a:tr>
            </a:tbl>
          </a:graphicData>
        </a:graphic>
      </p:graphicFrame>
      <p:sp>
        <p:nvSpPr>
          <p:cNvPr id="10" name="TextBox 9">
            <a:extLst>
              <a:ext uri="{FF2B5EF4-FFF2-40B4-BE49-F238E27FC236}">
                <a16:creationId xmlns:a16="http://schemas.microsoft.com/office/drawing/2014/main" id="{BB82BFA1-7BCD-499D-827D-7B7161BC60AA}"/>
              </a:ext>
            </a:extLst>
          </p:cNvPr>
          <p:cNvSpPr txBox="1"/>
          <p:nvPr/>
        </p:nvSpPr>
        <p:spPr>
          <a:xfrm>
            <a:off x="4709160" y="1917323"/>
            <a:ext cx="445770" cy="381000"/>
          </a:xfrm>
          <a:prstGeom prst="rect">
            <a:avLst/>
          </a:prstGeom>
          <a:noFill/>
        </p:spPr>
        <p:txBody>
          <a:bodyPr wrap="square" rtlCol="0">
            <a:spAutoFit/>
          </a:bodyPr>
          <a:lstStyle/>
          <a:p>
            <a:r>
              <a:rPr lang="en-IN" dirty="0"/>
              <a:t>c</a:t>
            </a:r>
          </a:p>
        </p:txBody>
      </p:sp>
      <p:sp>
        <p:nvSpPr>
          <p:cNvPr id="11" name="TextBox 10">
            <a:extLst>
              <a:ext uri="{FF2B5EF4-FFF2-40B4-BE49-F238E27FC236}">
                <a16:creationId xmlns:a16="http://schemas.microsoft.com/office/drawing/2014/main" id="{06082A1A-9FC0-44BA-BE29-0060F066B530}"/>
              </a:ext>
            </a:extLst>
          </p:cNvPr>
          <p:cNvSpPr txBox="1"/>
          <p:nvPr/>
        </p:nvSpPr>
        <p:spPr>
          <a:xfrm>
            <a:off x="4650740" y="3337183"/>
            <a:ext cx="533400" cy="369332"/>
          </a:xfrm>
          <a:prstGeom prst="rect">
            <a:avLst/>
          </a:prstGeom>
          <a:noFill/>
        </p:spPr>
        <p:txBody>
          <a:bodyPr wrap="square" rtlCol="0">
            <a:spAutoFit/>
          </a:bodyPr>
          <a:lstStyle/>
          <a:p>
            <a:r>
              <a:rPr lang="en-IN" dirty="0"/>
              <a:t>ds</a:t>
            </a:r>
          </a:p>
        </p:txBody>
      </p:sp>
      <p:cxnSp>
        <p:nvCxnSpPr>
          <p:cNvPr id="12" name="Straight Arrow Connector 11">
            <a:extLst>
              <a:ext uri="{FF2B5EF4-FFF2-40B4-BE49-F238E27FC236}">
                <a16:creationId xmlns:a16="http://schemas.microsoft.com/office/drawing/2014/main" id="{1EE6F16E-A8C2-4BF3-BD37-7F43201F8DE7}"/>
              </a:ext>
            </a:extLst>
          </p:cNvPr>
          <p:cNvCxnSpPr>
            <a:cxnSpLocks/>
          </p:cNvCxnSpPr>
          <p:nvPr/>
        </p:nvCxnSpPr>
        <p:spPr>
          <a:xfrm>
            <a:off x="5038090" y="3597295"/>
            <a:ext cx="896620" cy="17168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Rectangle 13">
            <a:extLst>
              <a:ext uri="{FF2B5EF4-FFF2-40B4-BE49-F238E27FC236}">
                <a16:creationId xmlns:a16="http://schemas.microsoft.com/office/drawing/2014/main" id="{5DD7A8BA-FD49-424B-A7CF-B27A08838602}"/>
              </a:ext>
            </a:extLst>
          </p:cNvPr>
          <p:cNvSpPr/>
          <p:nvPr/>
        </p:nvSpPr>
        <p:spPr>
          <a:xfrm>
            <a:off x="6042660" y="2953642"/>
            <a:ext cx="1882140" cy="33709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5" name="Table 15">
            <a:extLst>
              <a:ext uri="{FF2B5EF4-FFF2-40B4-BE49-F238E27FC236}">
                <a16:creationId xmlns:a16="http://schemas.microsoft.com/office/drawing/2014/main" id="{D699E77B-9EA0-4E24-A254-28AF01889ABB}"/>
              </a:ext>
            </a:extLst>
          </p:cNvPr>
          <p:cNvGraphicFramePr>
            <a:graphicFrameLocks noGrp="1"/>
          </p:cNvGraphicFramePr>
          <p:nvPr>
            <p:extLst>
              <p:ext uri="{D42A27DB-BD31-4B8C-83A1-F6EECF244321}">
                <p14:modId xmlns:p14="http://schemas.microsoft.com/office/powerpoint/2010/main" val="140206355"/>
              </p:ext>
            </p:extLst>
          </p:nvPr>
        </p:nvGraphicFramePr>
        <p:xfrm>
          <a:off x="6629400" y="3111689"/>
          <a:ext cx="838200" cy="2926080"/>
        </p:xfrm>
        <a:graphic>
          <a:graphicData uri="http://schemas.openxmlformats.org/drawingml/2006/table">
            <a:tbl>
              <a:tblPr firstRow="1" bandRow="1"/>
              <a:tblGrid>
                <a:gridCol w="838200">
                  <a:extLst>
                    <a:ext uri="{9D8B030D-6E8A-4147-A177-3AD203B41FA5}">
                      <a16:colId xmlns:a16="http://schemas.microsoft.com/office/drawing/2014/main" val="3853909115"/>
                    </a:ext>
                  </a:extLst>
                </a:gridCol>
              </a:tblGrid>
              <a:tr h="332423">
                <a:tc>
                  <a:txBody>
                    <a:bodyPr/>
                    <a:lstStyle/>
                    <a:p>
                      <a:r>
                        <a:rPr lang="en-IN" dirty="0"/>
                        <a:t>v</a:t>
                      </a:r>
                    </a:p>
                  </a:txBody>
                  <a:tcPr/>
                </a:tc>
                <a:extLst>
                  <a:ext uri="{0D108BD9-81ED-4DB2-BD59-A6C34878D82A}">
                    <a16:rowId xmlns:a16="http://schemas.microsoft.com/office/drawing/2014/main" val="2724568072"/>
                  </a:ext>
                </a:extLst>
              </a:tr>
              <a:tr h="332423">
                <a:tc>
                  <a:txBody>
                    <a:bodyPr/>
                    <a:lstStyle/>
                    <a:p>
                      <a:r>
                        <a:rPr lang="en-IN" dirty="0" err="1"/>
                        <a:t>i</a:t>
                      </a:r>
                      <a:endParaRPr lang="en-IN" dirty="0"/>
                    </a:p>
                  </a:txBody>
                  <a:tcPr/>
                </a:tc>
                <a:extLst>
                  <a:ext uri="{0D108BD9-81ED-4DB2-BD59-A6C34878D82A}">
                    <a16:rowId xmlns:a16="http://schemas.microsoft.com/office/drawing/2014/main" val="1454534961"/>
                  </a:ext>
                </a:extLst>
              </a:tr>
              <a:tr h="332423">
                <a:tc>
                  <a:txBody>
                    <a:bodyPr/>
                    <a:lstStyle/>
                    <a:p>
                      <a:r>
                        <a:rPr lang="en-IN" dirty="0"/>
                        <a:t>d</a:t>
                      </a:r>
                    </a:p>
                  </a:txBody>
                  <a:tcPr/>
                </a:tc>
                <a:extLst>
                  <a:ext uri="{0D108BD9-81ED-4DB2-BD59-A6C34878D82A}">
                    <a16:rowId xmlns:a16="http://schemas.microsoft.com/office/drawing/2014/main" val="2510030303"/>
                  </a:ext>
                </a:extLst>
              </a:tr>
              <a:tr h="332423">
                <a:tc>
                  <a:txBody>
                    <a:bodyPr/>
                    <a:lstStyle/>
                    <a:p>
                      <a:r>
                        <a:rPr lang="en-IN" dirty="0"/>
                        <a:t>y</a:t>
                      </a:r>
                    </a:p>
                  </a:txBody>
                  <a:tcPr/>
                </a:tc>
                <a:extLst>
                  <a:ext uri="{0D108BD9-81ED-4DB2-BD59-A6C34878D82A}">
                    <a16:rowId xmlns:a16="http://schemas.microsoft.com/office/drawing/2014/main" val="3884022197"/>
                  </a:ext>
                </a:extLst>
              </a:tr>
              <a:tr h="332423">
                <a:tc>
                  <a:txBody>
                    <a:bodyPr/>
                    <a:lstStyle/>
                    <a:p>
                      <a:r>
                        <a:rPr lang="en-IN" dirty="0"/>
                        <a:t>a</a:t>
                      </a:r>
                    </a:p>
                  </a:txBody>
                  <a:tcPr/>
                </a:tc>
                <a:extLst>
                  <a:ext uri="{0D108BD9-81ED-4DB2-BD59-A6C34878D82A}">
                    <a16:rowId xmlns:a16="http://schemas.microsoft.com/office/drawing/2014/main" val="931171665"/>
                  </a:ext>
                </a:extLst>
              </a:tr>
              <a:tr h="332423">
                <a:tc>
                  <a:txBody>
                    <a:bodyPr/>
                    <a:lstStyle/>
                    <a:p>
                      <a:r>
                        <a:rPr lang="en-IN" dirty="0"/>
                        <a:t>n</a:t>
                      </a:r>
                    </a:p>
                  </a:txBody>
                  <a:tcPr/>
                </a:tc>
                <a:extLst>
                  <a:ext uri="{0D108BD9-81ED-4DB2-BD59-A6C34878D82A}">
                    <a16:rowId xmlns:a16="http://schemas.microsoft.com/office/drawing/2014/main" val="4181005424"/>
                  </a:ext>
                </a:extLst>
              </a:tr>
              <a:tr h="332423">
                <a:tc>
                  <a:txBody>
                    <a:bodyPr/>
                    <a:lstStyle/>
                    <a:p>
                      <a:r>
                        <a:rPr lang="en-IN" dirty="0"/>
                        <a:t>h</a:t>
                      </a:r>
                    </a:p>
                  </a:txBody>
                  <a:tcPr/>
                </a:tc>
                <a:extLst>
                  <a:ext uri="{0D108BD9-81ED-4DB2-BD59-A6C34878D82A}">
                    <a16:rowId xmlns:a16="http://schemas.microsoft.com/office/drawing/2014/main" val="1315479514"/>
                  </a:ext>
                </a:extLst>
              </a:tr>
              <a:tr h="332423">
                <a:tc>
                  <a:txBody>
                    <a:bodyPr/>
                    <a:lstStyle/>
                    <a:p>
                      <a:endParaRPr lang="en-IN" dirty="0"/>
                    </a:p>
                  </a:txBody>
                  <a:tcPr/>
                </a:tc>
                <a:extLst>
                  <a:ext uri="{0D108BD9-81ED-4DB2-BD59-A6C34878D82A}">
                    <a16:rowId xmlns:a16="http://schemas.microsoft.com/office/drawing/2014/main" val="2963903368"/>
                  </a:ext>
                </a:extLst>
              </a:tr>
            </a:tbl>
          </a:graphicData>
        </a:graphic>
      </p:graphicFrame>
    </p:spTree>
    <p:extLst>
      <p:ext uri="{BB962C8B-B14F-4D97-AF65-F5344CB8AC3E}">
        <p14:creationId xmlns:p14="http://schemas.microsoft.com/office/powerpoint/2010/main" val="6069787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01335-5C2E-4966-8E54-AF6E72EDEE8C}"/>
              </a:ext>
            </a:extLst>
          </p:cNvPr>
          <p:cNvSpPr>
            <a:spLocks noGrp="1"/>
          </p:cNvSpPr>
          <p:nvPr>
            <p:ph type="title"/>
          </p:nvPr>
        </p:nvSpPr>
        <p:spPr>
          <a:xfrm>
            <a:off x="1600200" y="274638"/>
            <a:ext cx="7086600" cy="334962"/>
          </a:xfrm>
        </p:spPr>
        <p:txBody>
          <a:bodyPr>
            <a:normAutofit fontScale="90000"/>
          </a:bodyPr>
          <a:lstStyle/>
          <a:p>
            <a:r>
              <a:rPr lang="en-IN" dirty="0"/>
              <a:t>Dictionary</a:t>
            </a:r>
          </a:p>
        </p:txBody>
      </p:sp>
      <p:sp>
        <p:nvSpPr>
          <p:cNvPr id="3" name="Content Placeholder 2">
            <a:extLst>
              <a:ext uri="{FF2B5EF4-FFF2-40B4-BE49-F238E27FC236}">
                <a16:creationId xmlns:a16="http://schemas.microsoft.com/office/drawing/2014/main" id="{F76DFF85-EEEC-4989-9B9F-EDB329FA2BB2}"/>
              </a:ext>
            </a:extLst>
          </p:cNvPr>
          <p:cNvSpPr>
            <a:spLocks noGrp="1"/>
          </p:cNvSpPr>
          <p:nvPr>
            <p:ph idx="1"/>
          </p:nvPr>
        </p:nvSpPr>
        <p:spPr>
          <a:xfrm>
            <a:off x="228600" y="838200"/>
            <a:ext cx="8610600" cy="5867400"/>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ConsoleApplication1</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//print unique string</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 = </a:t>
            </a:r>
            <a:r>
              <a:rPr lang="en-IN" sz="1200" dirty="0">
                <a:solidFill>
                  <a:srgbClr val="A31515"/>
                </a:solidFill>
                <a:highlight>
                  <a:srgbClr val="FFFFFF"/>
                </a:highlight>
                <a:latin typeface="Consolas" panose="020B0609020204030204" pitchFamily="49" charset="0"/>
              </a:rPr>
              <a:t>"vidyanidhi"</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Dictionary</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&gt; ds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Dictionary</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&gt;();</a:t>
            </a:r>
          </a:p>
          <a:p>
            <a:pPr marL="0" indent="0">
              <a:buNone/>
            </a:pP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 c = s.</a:t>
            </a:r>
            <a:r>
              <a:rPr lang="en-IN" sz="18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ToCharArray</a:t>
            </a:r>
            <a:r>
              <a:rPr lang="en-US" sz="1200" dirty="0">
                <a:solidFill>
                  <a:srgbClr val="000000"/>
                </a:solidFill>
                <a:highlight>
                  <a:srgbClr val="FFFFFF"/>
                </a:highlight>
                <a:latin typeface="Consolas" panose="020B0609020204030204" pitchFamily="49" charset="0"/>
              </a:rPr>
              <a:t>();</a:t>
            </a:r>
          </a:p>
          <a:p>
            <a:pPr marL="0" indent="0">
              <a:buNone/>
            </a:pPr>
            <a:endParaRPr lang="en-US" sz="1200" dirty="0">
              <a:solidFill>
                <a:srgbClr val="000000"/>
              </a:solidFill>
              <a:highlight>
                <a:srgbClr val="FFFFFF"/>
              </a:highlight>
              <a:latin typeface="Consolas" panose="020B0609020204030204" pitchFamily="49" charset="0"/>
            </a:endParaRPr>
          </a:p>
          <a:p>
            <a:pPr marL="0" indent="0">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c.Length; i++)</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try</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nn-NO" sz="1200" dirty="0">
                <a:solidFill>
                  <a:srgbClr val="000000"/>
                </a:solidFill>
                <a:highlight>
                  <a:srgbClr val="FFFFFF"/>
                </a:highlight>
                <a:latin typeface="Consolas" panose="020B0609020204030204" pitchFamily="49" charset="0"/>
              </a:rPr>
              <a:t>                    ds.Add(c[i], i);</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catch</a:t>
            </a:r>
            <a:r>
              <a:rPr lang="en-IN" sz="1200" dirty="0">
                <a:solidFill>
                  <a:srgbClr val="000000"/>
                </a:solidFill>
                <a:highlight>
                  <a:srgbClr val="FFFFFF"/>
                </a:highlight>
                <a:latin typeface="Consolas" panose="020B0609020204030204" pitchFamily="49" charset="0"/>
              </a:rPr>
              <a:t> {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r>
              <a:rPr lang="sv-SE" sz="1200" dirty="0">
                <a:solidFill>
                  <a:srgbClr val="0000FF"/>
                </a:solidFill>
                <a:highlight>
                  <a:srgbClr val="FFFFFF"/>
                </a:highlight>
                <a:latin typeface="Consolas" panose="020B0609020204030204" pitchFamily="49" charset="0"/>
              </a:rPr>
              <a:t>foreach</a:t>
            </a:r>
            <a:r>
              <a:rPr lang="sv-SE" sz="1200" dirty="0">
                <a:solidFill>
                  <a:srgbClr val="000000"/>
                </a:solidFill>
                <a:highlight>
                  <a:srgbClr val="FFFFFF"/>
                </a:highlight>
                <a:latin typeface="Consolas" panose="020B0609020204030204" pitchFamily="49" charset="0"/>
              </a:rPr>
              <a:t> (</a:t>
            </a:r>
            <a:r>
              <a:rPr lang="sv-SE" sz="1200" dirty="0">
                <a:solidFill>
                  <a:srgbClr val="0000FF"/>
                </a:solidFill>
                <a:highlight>
                  <a:srgbClr val="FFFFFF"/>
                </a:highlight>
                <a:latin typeface="Consolas" panose="020B0609020204030204" pitchFamily="49" charset="0"/>
              </a:rPr>
              <a:t>var</a:t>
            </a:r>
            <a:r>
              <a:rPr lang="sv-SE" sz="1200" dirty="0">
                <a:solidFill>
                  <a:srgbClr val="000000"/>
                </a:solidFill>
                <a:highlight>
                  <a:srgbClr val="FFFFFF"/>
                </a:highlight>
                <a:latin typeface="Consolas" panose="020B0609020204030204" pitchFamily="49" charset="0"/>
              </a:rPr>
              <a:t> d </a:t>
            </a:r>
            <a:r>
              <a:rPr lang="sv-SE" sz="1200" dirty="0">
                <a:solidFill>
                  <a:srgbClr val="0000FF"/>
                </a:solidFill>
                <a:highlight>
                  <a:srgbClr val="FFFFFF"/>
                </a:highlight>
                <a:latin typeface="Consolas" panose="020B0609020204030204" pitchFamily="49" charset="0"/>
              </a:rPr>
              <a:t>in</a:t>
            </a:r>
            <a:r>
              <a:rPr lang="sv-SE" sz="1200" dirty="0">
                <a:solidFill>
                  <a:srgbClr val="000000"/>
                </a:solidFill>
                <a:highlight>
                  <a:srgbClr val="FFFFFF"/>
                </a:highlight>
                <a:latin typeface="Consolas" panose="020B0609020204030204" pitchFamily="49" charset="0"/>
              </a:rPr>
              <a:t> ds)</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(d);</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p>
        </p:txBody>
      </p:sp>
      <p:graphicFrame>
        <p:nvGraphicFramePr>
          <p:cNvPr id="4" name="Table 4">
            <a:extLst>
              <a:ext uri="{FF2B5EF4-FFF2-40B4-BE49-F238E27FC236}">
                <a16:creationId xmlns:a16="http://schemas.microsoft.com/office/drawing/2014/main" id="{C5E74717-341E-FCC3-7DF7-31E129E04018}"/>
              </a:ext>
            </a:extLst>
          </p:cNvPr>
          <p:cNvGraphicFramePr>
            <a:graphicFrameLocks noGrp="1"/>
          </p:cNvGraphicFramePr>
          <p:nvPr>
            <p:extLst>
              <p:ext uri="{D42A27DB-BD31-4B8C-83A1-F6EECF244321}">
                <p14:modId xmlns:p14="http://schemas.microsoft.com/office/powerpoint/2010/main" val="3031578505"/>
              </p:ext>
            </p:extLst>
          </p:nvPr>
        </p:nvGraphicFramePr>
        <p:xfrm>
          <a:off x="5576740" y="1524000"/>
          <a:ext cx="3124200" cy="1135380"/>
        </p:xfrm>
        <a:graphic>
          <a:graphicData uri="http://schemas.openxmlformats.org/drawingml/2006/table">
            <a:tbl>
              <a:tblPr firstRow="1" bandRow="1">
                <a:tableStyleId>{5C22544A-7EE6-4342-B048-85BDC9FD1C3A}</a:tableStyleId>
              </a:tblPr>
              <a:tblGrid>
                <a:gridCol w="312420">
                  <a:extLst>
                    <a:ext uri="{9D8B030D-6E8A-4147-A177-3AD203B41FA5}">
                      <a16:colId xmlns:a16="http://schemas.microsoft.com/office/drawing/2014/main" val="4064252345"/>
                    </a:ext>
                  </a:extLst>
                </a:gridCol>
                <a:gridCol w="312420">
                  <a:extLst>
                    <a:ext uri="{9D8B030D-6E8A-4147-A177-3AD203B41FA5}">
                      <a16:colId xmlns:a16="http://schemas.microsoft.com/office/drawing/2014/main" val="1958640917"/>
                    </a:ext>
                  </a:extLst>
                </a:gridCol>
                <a:gridCol w="312420">
                  <a:extLst>
                    <a:ext uri="{9D8B030D-6E8A-4147-A177-3AD203B41FA5}">
                      <a16:colId xmlns:a16="http://schemas.microsoft.com/office/drawing/2014/main" val="467320464"/>
                    </a:ext>
                  </a:extLst>
                </a:gridCol>
                <a:gridCol w="312420">
                  <a:extLst>
                    <a:ext uri="{9D8B030D-6E8A-4147-A177-3AD203B41FA5}">
                      <a16:colId xmlns:a16="http://schemas.microsoft.com/office/drawing/2014/main" val="2390764328"/>
                    </a:ext>
                  </a:extLst>
                </a:gridCol>
                <a:gridCol w="312420">
                  <a:extLst>
                    <a:ext uri="{9D8B030D-6E8A-4147-A177-3AD203B41FA5}">
                      <a16:colId xmlns:a16="http://schemas.microsoft.com/office/drawing/2014/main" val="2093382906"/>
                    </a:ext>
                  </a:extLst>
                </a:gridCol>
                <a:gridCol w="312420">
                  <a:extLst>
                    <a:ext uri="{9D8B030D-6E8A-4147-A177-3AD203B41FA5}">
                      <a16:colId xmlns:a16="http://schemas.microsoft.com/office/drawing/2014/main" val="3701411628"/>
                    </a:ext>
                  </a:extLst>
                </a:gridCol>
                <a:gridCol w="312420">
                  <a:extLst>
                    <a:ext uri="{9D8B030D-6E8A-4147-A177-3AD203B41FA5}">
                      <a16:colId xmlns:a16="http://schemas.microsoft.com/office/drawing/2014/main" val="3370457936"/>
                    </a:ext>
                  </a:extLst>
                </a:gridCol>
                <a:gridCol w="312420">
                  <a:extLst>
                    <a:ext uri="{9D8B030D-6E8A-4147-A177-3AD203B41FA5}">
                      <a16:colId xmlns:a16="http://schemas.microsoft.com/office/drawing/2014/main" val="204453157"/>
                    </a:ext>
                  </a:extLst>
                </a:gridCol>
                <a:gridCol w="312420">
                  <a:extLst>
                    <a:ext uri="{9D8B030D-6E8A-4147-A177-3AD203B41FA5}">
                      <a16:colId xmlns:a16="http://schemas.microsoft.com/office/drawing/2014/main" val="615921287"/>
                    </a:ext>
                  </a:extLst>
                </a:gridCol>
                <a:gridCol w="312420">
                  <a:extLst>
                    <a:ext uri="{9D8B030D-6E8A-4147-A177-3AD203B41FA5}">
                      <a16:colId xmlns:a16="http://schemas.microsoft.com/office/drawing/2014/main" val="3752685442"/>
                    </a:ext>
                  </a:extLst>
                </a:gridCol>
              </a:tblGrid>
              <a:tr h="495300">
                <a:tc>
                  <a:txBody>
                    <a:bodyPr/>
                    <a:lstStyle/>
                    <a:p>
                      <a:r>
                        <a:rPr lang="en-US" dirty="0"/>
                        <a:t>0</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tc>
                  <a:txBody>
                    <a:bodyPr/>
                    <a:lstStyle/>
                    <a:p>
                      <a:r>
                        <a:rPr lang="en-US" dirty="0"/>
                        <a:t>3</a:t>
                      </a:r>
                      <a:endParaRPr lang="en-IN" dirty="0"/>
                    </a:p>
                  </a:txBody>
                  <a:tcPr/>
                </a:tc>
                <a:tc>
                  <a:txBody>
                    <a:bodyPr/>
                    <a:lstStyle/>
                    <a:p>
                      <a:r>
                        <a:rPr lang="en-US" dirty="0"/>
                        <a:t>4</a:t>
                      </a:r>
                      <a:endParaRPr lang="en-IN" dirty="0"/>
                    </a:p>
                  </a:txBody>
                  <a:tcPr/>
                </a:tc>
                <a:tc>
                  <a:txBody>
                    <a:bodyPr/>
                    <a:lstStyle/>
                    <a:p>
                      <a:r>
                        <a:rPr lang="en-US" dirty="0"/>
                        <a:t>5</a:t>
                      </a:r>
                      <a:endParaRPr lang="en-IN" dirty="0"/>
                    </a:p>
                  </a:txBody>
                  <a:tcPr/>
                </a:tc>
                <a:tc>
                  <a:txBody>
                    <a:bodyPr/>
                    <a:lstStyle/>
                    <a:p>
                      <a:r>
                        <a:rPr lang="en-US" dirty="0"/>
                        <a:t>6</a:t>
                      </a:r>
                      <a:endParaRPr lang="en-IN" dirty="0"/>
                    </a:p>
                  </a:txBody>
                  <a:tcPr/>
                </a:tc>
                <a:tc>
                  <a:txBody>
                    <a:bodyPr/>
                    <a:lstStyle/>
                    <a:p>
                      <a:r>
                        <a:rPr lang="en-US" dirty="0"/>
                        <a:t>7</a:t>
                      </a:r>
                      <a:endParaRPr lang="en-IN" dirty="0"/>
                    </a:p>
                  </a:txBody>
                  <a:tcPr/>
                </a:tc>
                <a:tc>
                  <a:txBody>
                    <a:bodyPr/>
                    <a:lstStyle/>
                    <a:p>
                      <a:r>
                        <a:rPr lang="en-US" dirty="0"/>
                        <a:t>8</a:t>
                      </a:r>
                      <a:endParaRPr lang="en-IN" dirty="0"/>
                    </a:p>
                  </a:txBody>
                  <a:tcPr/>
                </a:tc>
                <a:tc>
                  <a:txBody>
                    <a:bodyPr/>
                    <a:lstStyle/>
                    <a:p>
                      <a:r>
                        <a:rPr lang="en-US" dirty="0"/>
                        <a:t>9v</a:t>
                      </a:r>
                      <a:endParaRPr lang="en-IN" dirty="0"/>
                    </a:p>
                  </a:txBody>
                  <a:tcPr/>
                </a:tc>
                <a:extLst>
                  <a:ext uri="{0D108BD9-81ED-4DB2-BD59-A6C34878D82A}">
                    <a16:rowId xmlns:a16="http://schemas.microsoft.com/office/drawing/2014/main" val="3741107950"/>
                  </a:ext>
                </a:extLst>
              </a:tr>
              <a:tr h="495300">
                <a:tc>
                  <a:txBody>
                    <a:bodyPr/>
                    <a:lstStyle/>
                    <a:p>
                      <a:r>
                        <a:rPr lang="en-US" dirty="0"/>
                        <a:t>V</a:t>
                      </a:r>
                      <a:endParaRPr lang="en-IN" dirty="0"/>
                    </a:p>
                  </a:txBody>
                  <a:tcPr/>
                </a:tc>
                <a:tc>
                  <a:txBody>
                    <a:bodyPr/>
                    <a:lstStyle/>
                    <a:p>
                      <a:r>
                        <a:rPr lang="en-US" dirty="0"/>
                        <a:t>I</a:t>
                      </a:r>
                      <a:endParaRPr lang="en-IN" dirty="0"/>
                    </a:p>
                  </a:txBody>
                  <a:tcPr/>
                </a:tc>
                <a:tc>
                  <a:txBody>
                    <a:bodyPr/>
                    <a:lstStyle/>
                    <a:p>
                      <a:r>
                        <a:rPr lang="en-US" dirty="0"/>
                        <a:t>D</a:t>
                      </a:r>
                      <a:endParaRPr lang="en-IN" dirty="0"/>
                    </a:p>
                  </a:txBody>
                  <a:tcPr/>
                </a:tc>
                <a:tc>
                  <a:txBody>
                    <a:bodyPr/>
                    <a:lstStyle/>
                    <a:p>
                      <a:r>
                        <a:rPr lang="en-US" dirty="0"/>
                        <a:t>Y</a:t>
                      </a:r>
                      <a:endParaRPr lang="en-IN" dirty="0"/>
                    </a:p>
                  </a:txBody>
                  <a:tcPr/>
                </a:tc>
                <a:tc>
                  <a:txBody>
                    <a:bodyPr/>
                    <a:lstStyle/>
                    <a:p>
                      <a:r>
                        <a:rPr lang="en-US" dirty="0"/>
                        <a:t>A</a:t>
                      </a:r>
                      <a:endParaRPr lang="en-IN" dirty="0"/>
                    </a:p>
                  </a:txBody>
                  <a:tcPr/>
                </a:tc>
                <a:tc>
                  <a:txBody>
                    <a:bodyPr/>
                    <a:lstStyle/>
                    <a:p>
                      <a:r>
                        <a:rPr lang="en-US" dirty="0"/>
                        <a:t>N</a:t>
                      </a:r>
                      <a:endParaRPr lang="en-IN" dirty="0"/>
                    </a:p>
                  </a:txBody>
                  <a:tcPr/>
                </a:tc>
                <a:tc>
                  <a:txBody>
                    <a:bodyPr/>
                    <a:lstStyle/>
                    <a:p>
                      <a:r>
                        <a:rPr lang="en-US" dirty="0"/>
                        <a:t>I</a:t>
                      </a:r>
                      <a:endParaRPr lang="en-IN" dirty="0"/>
                    </a:p>
                  </a:txBody>
                  <a:tcPr/>
                </a:tc>
                <a:tc>
                  <a:txBody>
                    <a:bodyPr/>
                    <a:lstStyle/>
                    <a:p>
                      <a:r>
                        <a:rPr lang="en-US" dirty="0"/>
                        <a:t>D</a:t>
                      </a:r>
                      <a:endParaRPr lang="en-IN" dirty="0"/>
                    </a:p>
                  </a:txBody>
                  <a:tcPr/>
                </a:tc>
                <a:tc>
                  <a:txBody>
                    <a:bodyPr/>
                    <a:lstStyle/>
                    <a:p>
                      <a:r>
                        <a:rPr lang="en-US" dirty="0"/>
                        <a:t>H</a:t>
                      </a:r>
                      <a:endParaRPr lang="en-IN" dirty="0"/>
                    </a:p>
                  </a:txBody>
                  <a:tcPr/>
                </a:tc>
                <a:tc>
                  <a:txBody>
                    <a:bodyPr/>
                    <a:lstStyle/>
                    <a:p>
                      <a:r>
                        <a:rPr lang="en-US" dirty="0"/>
                        <a:t>I</a:t>
                      </a:r>
                      <a:endParaRPr lang="en-IN" dirty="0"/>
                    </a:p>
                  </a:txBody>
                  <a:tcPr/>
                </a:tc>
                <a:extLst>
                  <a:ext uri="{0D108BD9-81ED-4DB2-BD59-A6C34878D82A}">
                    <a16:rowId xmlns:a16="http://schemas.microsoft.com/office/drawing/2014/main" val="4062039436"/>
                  </a:ext>
                </a:extLst>
              </a:tr>
            </a:tbl>
          </a:graphicData>
        </a:graphic>
      </p:graphicFrame>
      <p:sp>
        <p:nvSpPr>
          <p:cNvPr id="5" name="Rectangle 4">
            <a:extLst>
              <a:ext uri="{FF2B5EF4-FFF2-40B4-BE49-F238E27FC236}">
                <a16:creationId xmlns:a16="http://schemas.microsoft.com/office/drawing/2014/main" id="{69635AD2-5062-C87B-95F7-6772BFF6E1A7}"/>
              </a:ext>
            </a:extLst>
          </p:cNvPr>
          <p:cNvSpPr/>
          <p:nvPr/>
        </p:nvSpPr>
        <p:spPr>
          <a:xfrm>
            <a:off x="4533900" y="1981200"/>
            <a:ext cx="4953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endParaRPr lang="en-IN" dirty="0"/>
          </a:p>
        </p:txBody>
      </p:sp>
      <p:cxnSp>
        <p:nvCxnSpPr>
          <p:cNvPr id="7" name="Straight Arrow Connector 6">
            <a:extLst>
              <a:ext uri="{FF2B5EF4-FFF2-40B4-BE49-F238E27FC236}">
                <a16:creationId xmlns:a16="http://schemas.microsoft.com/office/drawing/2014/main" id="{E052B4E5-69D4-5ECD-3B57-3CF1BA9420AA}"/>
              </a:ext>
            </a:extLst>
          </p:cNvPr>
          <p:cNvCxnSpPr/>
          <p:nvPr/>
        </p:nvCxnSpPr>
        <p:spPr>
          <a:xfrm flipV="1">
            <a:off x="5181600" y="2209800"/>
            <a:ext cx="25688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E831E3B-249E-06B8-FF2D-DF3F6D26D84C}"/>
              </a:ext>
            </a:extLst>
          </p:cNvPr>
          <p:cNvSpPr/>
          <p:nvPr/>
        </p:nvSpPr>
        <p:spPr>
          <a:xfrm>
            <a:off x="5608163" y="4149090"/>
            <a:ext cx="4953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ds</a:t>
            </a:r>
            <a:endParaRPr lang="en-IN" dirty="0"/>
          </a:p>
        </p:txBody>
      </p:sp>
      <p:sp>
        <p:nvSpPr>
          <p:cNvPr id="9" name="Rectangle 8">
            <a:extLst>
              <a:ext uri="{FF2B5EF4-FFF2-40B4-BE49-F238E27FC236}">
                <a16:creationId xmlns:a16="http://schemas.microsoft.com/office/drawing/2014/main" id="{9FA6AD4D-CDDE-6B7D-40C1-5FDE051BEA31}"/>
              </a:ext>
            </a:extLst>
          </p:cNvPr>
          <p:cNvSpPr/>
          <p:nvPr/>
        </p:nvSpPr>
        <p:spPr>
          <a:xfrm>
            <a:off x="6400800" y="3886200"/>
            <a:ext cx="2286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 IDYANH</a:t>
            </a:r>
            <a:endParaRPr lang="en-IN" dirty="0"/>
          </a:p>
        </p:txBody>
      </p:sp>
      <p:sp>
        <p:nvSpPr>
          <p:cNvPr id="10" name="Thought Bubble: Cloud 3">
            <a:extLst>
              <a:ext uri="{FF2B5EF4-FFF2-40B4-BE49-F238E27FC236}">
                <a16:creationId xmlns:a16="http://schemas.microsoft.com/office/drawing/2014/main" id="{DF72F8F1-5F67-4AD4-B0C7-BC7D164B63E9}"/>
              </a:ext>
            </a:extLst>
          </p:cNvPr>
          <p:cNvSpPr/>
          <p:nvPr/>
        </p:nvSpPr>
        <p:spPr>
          <a:xfrm>
            <a:off x="6908165" y="64336"/>
            <a:ext cx="2415540" cy="1353185"/>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vidyanidhi</a:t>
            </a:r>
          </a:p>
        </p:txBody>
      </p:sp>
      <p:sp>
        <p:nvSpPr>
          <p:cNvPr id="11" name="TextBox 10">
            <a:extLst>
              <a:ext uri="{FF2B5EF4-FFF2-40B4-BE49-F238E27FC236}">
                <a16:creationId xmlns:a16="http://schemas.microsoft.com/office/drawing/2014/main" id="{13028160-425A-43B5-AE3A-021BA46BDF1F}"/>
              </a:ext>
            </a:extLst>
          </p:cNvPr>
          <p:cNvSpPr txBox="1"/>
          <p:nvPr/>
        </p:nvSpPr>
        <p:spPr>
          <a:xfrm>
            <a:off x="4991100" y="274324"/>
            <a:ext cx="399062" cy="369332"/>
          </a:xfrm>
          <a:prstGeom prst="rect">
            <a:avLst/>
          </a:prstGeom>
          <a:noFill/>
        </p:spPr>
        <p:txBody>
          <a:bodyPr wrap="square" rtlCol="0">
            <a:spAutoFit/>
          </a:bodyPr>
          <a:lstStyle/>
          <a:p>
            <a:r>
              <a:rPr lang="en-IN" dirty="0"/>
              <a:t>s</a:t>
            </a:r>
          </a:p>
        </p:txBody>
      </p:sp>
      <p:cxnSp>
        <p:nvCxnSpPr>
          <p:cNvPr id="12" name="Straight Arrow Connector 11">
            <a:extLst>
              <a:ext uri="{FF2B5EF4-FFF2-40B4-BE49-F238E27FC236}">
                <a16:creationId xmlns:a16="http://schemas.microsoft.com/office/drawing/2014/main" id="{B4571A32-1964-4364-AAE8-DF3C011E1FF6}"/>
              </a:ext>
            </a:extLst>
          </p:cNvPr>
          <p:cNvCxnSpPr/>
          <p:nvPr/>
        </p:nvCxnSpPr>
        <p:spPr>
          <a:xfrm>
            <a:off x="6103463" y="867093"/>
            <a:ext cx="795177" cy="19323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Rectangle 13"/>
          <p:cNvSpPr/>
          <p:nvPr/>
        </p:nvSpPr>
        <p:spPr>
          <a:xfrm>
            <a:off x="5438480" y="619478"/>
            <a:ext cx="437940" cy="369332"/>
          </a:xfrm>
          <a:prstGeom prst="rect">
            <a:avLst/>
          </a:prstGeom>
        </p:spPr>
        <p:txBody>
          <a:bodyPr wrap="none">
            <a:spAutoFit/>
          </a:bodyPr>
          <a:lstStyle/>
          <a:p>
            <a:r>
              <a:rPr lang="en-IN" dirty="0">
                <a:solidFill>
                  <a:srgbClr val="000000"/>
                </a:solidFill>
                <a:highlight>
                  <a:srgbClr val="FFFFFF"/>
                </a:highlight>
                <a:latin typeface="Consolas" panose="020B0609020204030204" pitchFamily="49" charset="0"/>
              </a:rPr>
              <a:t>s </a:t>
            </a:r>
            <a:endParaRPr lang="en-IN" dirty="0"/>
          </a:p>
        </p:txBody>
      </p:sp>
    </p:spTree>
    <p:extLst>
      <p:ext uri="{BB962C8B-B14F-4D97-AF65-F5344CB8AC3E}">
        <p14:creationId xmlns:p14="http://schemas.microsoft.com/office/powerpoint/2010/main" val="33044762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B5AD4-0B93-4C7A-99EB-3C4BED7BE75E}"/>
              </a:ext>
            </a:extLst>
          </p:cNvPr>
          <p:cNvSpPr>
            <a:spLocks noGrp="1"/>
          </p:cNvSpPr>
          <p:nvPr>
            <p:ph type="title"/>
          </p:nvPr>
        </p:nvSpPr>
        <p:spPr>
          <a:xfrm>
            <a:off x="2895600" y="0"/>
            <a:ext cx="6019800" cy="494736"/>
          </a:xfrm>
        </p:spPr>
        <p:txBody>
          <a:bodyPr>
            <a:noAutofit/>
          </a:bodyPr>
          <a:lstStyle/>
          <a:p>
            <a:r>
              <a:rPr lang="en-US" sz="2800" dirty="0" err="1">
                <a:solidFill>
                  <a:srgbClr val="008000"/>
                </a:solidFill>
                <a:highlight>
                  <a:srgbClr val="FFFFFF"/>
                </a:highlight>
                <a:latin typeface="Consolas" panose="020B0609020204030204" pitchFamily="49" charset="0"/>
              </a:rPr>
              <a:t>IComparable</a:t>
            </a:r>
            <a:r>
              <a:rPr lang="en-US" sz="2800" dirty="0">
                <a:solidFill>
                  <a:srgbClr val="008000"/>
                </a:solidFill>
                <a:highlight>
                  <a:srgbClr val="FFFFFF"/>
                </a:highlight>
                <a:latin typeface="Consolas" panose="020B0609020204030204" pitchFamily="49" charset="0"/>
              </a:rPr>
              <a:t>&lt;T&gt;</a:t>
            </a:r>
            <a:endParaRPr lang="en-IN" sz="2800" dirty="0"/>
          </a:p>
        </p:txBody>
      </p:sp>
      <p:sp>
        <p:nvSpPr>
          <p:cNvPr id="3" name="Content Placeholder 2">
            <a:extLst>
              <a:ext uri="{FF2B5EF4-FFF2-40B4-BE49-F238E27FC236}">
                <a16:creationId xmlns:a16="http://schemas.microsoft.com/office/drawing/2014/main" id="{A07EDAFA-6ABB-4FE2-B227-5FC603D90589}"/>
              </a:ext>
            </a:extLst>
          </p:cNvPr>
          <p:cNvSpPr>
            <a:spLocks noGrp="1"/>
          </p:cNvSpPr>
          <p:nvPr>
            <p:ph idx="1"/>
          </p:nvPr>
        </p:nvSpPr>
        <p:spPr>
          <a:xfrm>
            <a:off x="99552" y="215273"/>
            <a:ext cx="4419600" cy="6096000"/>
          </a:xfrm>
        </p:spPr>
        <p:txBody>
          <a:bodyPr>
            <a:noAutofit/>
          </a:bodyPr>
          <a:lstStyle/>
          <a:p>
            <a:pPr marL="0" indent="0">
              <a:buNone/>
            </a:pPr>
            <a:r>
              <a:rPr lang="en-IN" sz="1200" dirty="0">
                <a:solidFill>
                  <a:srgbClr val="008000"/>
                </a:solidFill>
                <a:highlight>
                  <a:srgbClr val="FFFFFF"/>
                </a:highlight>
                <a:latin typeface="Consolas" panose="020B0609020204030204" pitchFamily="49" charset="0"/>
              </a:rPr>
              <a:t>// Implement </a:t>
            </a:r>
            <a:r>
              <a:rPr lang="en-IN" sz="1200" dirty="0" err="1">
                <a:solidFill>
                  <a:srgbClr val="008000"/>
                </a:solidFill>
                <a:highlight>
                  <a:srgbClr val="FFFFFF"/>
                </a:highlight>
                <a:latin typeface="Consolas" panose="020B0609020204030204" pitchFamily="49" charset="0"/>
              </a:rPr>
              <a:t>IComparable</a:t>
            </a:r>
            <a:r>
              <a:rPr lang="en-IN" sz="1200" dirty="0">
                <a:solidFill>
                  <a:srgbClr val="008000"/>
                </a:solidFill>
                <a:highlight>
                  <a:srgbClr val="FFFFFF"/>
                </a:highlight>
                <a:latin typeface="Consolas" panose="020B0609020204030204" pitchFamily="49" charset="0"/>
              </a:rPr>
              <a:t>&lt;T&gt;.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8000"/>
                </a:solidFill>
                <a:highlight>
                  <a:srgbClr val="FFFFFF"/>
                </a:highlight>
                <a:latin typeface="Consolas" panose="020B0609020204030204" pitchFamily="49" charset="0"/>
              </a:rPr>
              <a:t>// Implement the generic </a:t>
            </a:r>
            <a:r>
              <a:rPr lang="en-US" sz="1200" dirty="0" err="1">
                <a:solidFill>
                  <a:srgbClr val="008000"/>
                </a:solidFill>
                <a:highlight>
                  <a:srgbClr val="FFFFFF"/>
                </a:highlight>
                <a:latin typeface="Consolas" panose="020B0609020204030204" pitchFamily="49" charset="0"/>
              </a:rPr>
              <a:t>IComparable</a:t>
            </a:r>
            <a:r>
              <a:rPr lang="en-US" sz="1200" dirty="0">
                <a:solidFill>
                  <a:srgbClr val="008000"/>
                </a:solidFill>
                <a:highlight>
                  <a:srgbClr val="FFFFFF"/>
                </a:highlight>
                <a:latin typeface="Consolas" panose="020B0609020204030204" pitchFamily="49" charset="0"/>
              </a:rPr>
              <a:t>&lt;T&gt; interface.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Inventory</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IComparable</a:t>
            </a:r>
            <a:r>
              <a:rPr lang="en-IN" sz="1200" dirty="0">
                <a:solidFill>
                  <a:srgbClr val="000000"/>
                </a:solidFill>
                <a:highlight>
                  <a:srgbClr val="FFFFFF"/>
                </a:highlight>
                <a:latin typeface="Consolas" panose="020B0609020204030204" pitchFamily="49" charset="0"/>
              </a:rPr>
              <a:t>&lt;</a:t>
            </a:r>
            <a:r>
              <a:rPr lang="en-IN" sz="1200" dirty="0">
                <a:solidFill>
                  <a:srgbClr val="2B91AF"/>
                </a:solidFill>
                <a:highlight>
                  <a:srgbClr val="FFFFFF"/>
                </a:highlight>
                <a:latin typeface="Consolas" panose="020B0609020204030204" pitchFamily="49" charset="0"/>
              </a:rPr>
              <a:t>Inventory</a:t>
            </a:r>
            <a:r>
              <a:rPr lang="en-IN" sz="1200" dirty="0">
                <a:solidFill>
                  <a:srgbClr val="000000"/>
                </a:solidFill>
                <a:highlight>
                  <a:srgbClr val="FFFFFF"/>
                </a:highlight>
                <a:latin typeface="Consolas" panose="020B0609020204030204" pitchFamily="49" charset="0"/>
              </a:rPr>
              <a:t>&gt;</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cost;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Inventory(</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c,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h)</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name = n;</a:t>
            </a:r>
          </a:p>
          <a:p>
            <a:pPr marL="0" indent="0">
              <a:buNone/>
            </a:pPr>
            <a:r>
              <a:rPr lang="en-IN" sz="1200" dirty="0">
                <a:solidFill>
                  <a:srgbClr val="000000"/>
                </a:solidFill>
                <a:highlight>
                  <a:srgbClr val="FFFFFF"/>
                </a:highlight>
                <a:latin typeface="Consolas" panose="020B0609020204030204" pitchFamily="49" charset="0"/>
              </a:rPr>
              <a:t>        cost = c;</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 = h;</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String</a:t>
            </a:r>
            <a:r>
              <a:rPr lang="en-IN" sz="1200" dirty="0" err="1">
                <a:solidFill>
                  <a:srgbClr val="000000"/>
                </a:solidFill>
                <a:highlight>
                  <a:srgbClr val="FFFFFF"/>
                </a:highlight>
                <a:latin typeface="Consolas" panose="020B0609020204030204" pitchFamily="49" charset="0"/>
              </a:rPr>
              <a:t>.Format</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"{0,-10}Cost: {1,6:C}  On hand: {2}"</a:t>
            </a:r>
            <a:r>
              <a:rPr lang="en-IN" sz="1200" dirty="0">
                <a:solidFill>
                  <a:srgbClr val="000000"/>
                </a:solidFill>
                <a:highlight>
                  <a:srgbClr val="FFFFFF"/>
                </a:highlight>
                <a:latin typeface="Consolas" panose="020B0609020204030204" pitchFamily="49" charset="0"/>
              </a:rPr>
              <a:t>, name, cost,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Implement the </a:t>
            </a:r>
            <a:r>
              <a:rPr lang="en-IN" sz="1200" dirty="0" err="1">
                <a:solidFill>
                  <a:srgbClr val="008000"/>
                </a:solidFill>
                <a:highlight>
                  <a:srgbClr val="FFFFFF"/>
                </a:highlight>
                <a:latin typeface="Consolas" panose="020B0609020204030204" pitchFamily="49" charset="0"/>
              </a:rPr>
              <a:t>IComparable</a:t>
            </a:r>
            <a:r>
              <a:rPr lang="en-IN" sz="1200" dirty="0">
                <a:solidFill>
                  <a:srgbClr val="008000"/>
                </a:solidFill>
                <a:highlight>
                  <a:srgbClr val="FFFFFF"/>
                </a:highlight>
                <a:latin typeface="Consolas" panose="020B0609020204030204" pitchFamily="49" charset="0"/>
              </a:rPr>
              <a:t>&lt;T&gt; interface.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CompareTo</a:t>
            </a:r>
            <a:r>
              <a:rPr lang="en-IN" sz="1200" dirty="0">
                <a:solidFill>
                  <a:srgbClr val="000000"/>
                </a:solidFill>
                <a:highlight>
                  <a:srgbClr val="FFFFFF"/>
                </a:highlight>
                <a:latin typeface="Consolas" panose="020B0609020204030204" pitchFamily="49" charset="0"/>
              </a:rPr>
              <a:t>(</a:t>
            </a:r>
            <a:r>
              <a:rPr lang="en-IN" sz="1200" dirty="0">
                <a:solidFill>
                  <a:srgbClr val="2B91AF"/>
                </a:solidFill>
                <a:highlight>
                  <a:srgbClr val="FFFFFF"/>
                </a:highlight>
                <a:latin typeface="Consolas" panose="020B0609020204030204" pitchFamily="49" charset="0"/>
              </a:rPr>
              <a:t>Inventory</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obj</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name.CompareTo</a:t>
            </a:r>
            <a:r>
              <a:rPr lang="en-US" sz="1200" dirty="0">
                <a:solidFill>
                  <a:srgbClr val="000000"/>
                </a:solidFill>
                <a:highlight>
                  <a:srgbClr val="FFFFFF"/>
                </a:highlight>
                <a:latin typeface="Consolas" panose="020B0609020204030204" pitchFamily="49" charset="0"/>
              </a:rPr>
              <a:t>(obj.name);</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000" dirty="0">
              <a:solidFill>
                <a:srgbClr val="000000"/>
              </a:solidFill>
              <a:highlight>
                <a:srgbClr val="FFFFFF"/>
              </a:highlight>
              <a:latin typeface="Consolas" panose="020B0609020204030204" pitchFamily="49" charset="0"/>
            </a:endParaRPr>
          </a:p>
        </p:txBody>
      </p:sp>
      <p:sp>
        <p:nvSpPr>
          <p:cNvPr id="4" name="TextBox 3">
            <a:extLst>
              <a:ext uri="{FF2B5EF4-FFF2-40B4-BE49-F238E27FC236}">
                <a16:creationId xmlns:a16="http://schemas.microsoft.com/office/drawing/2014/main" id="{62CEE3C8-84E7-460A-9F02-EAA557818A1E}"/>
              </a:ext>
            </a:extLst>
          </p:cNvPr>
          <p:cNvSpPr txBox="1"/>
          <p:nvPr/>
        </p:nvSpPr>
        <p:spPr>
          <a:xfrm>
            <a:off x="4038600" y="455407"/>
            <a:ext cx="5410200" cy="6340197"/>
          </a:xfrm>
          <a:prstGeom prst="rect">
            <a:avLst/>
          </a:prstGeom>
          <a:noFill/>
        </p:spPr>
        <p:txBody>
          <a:bodyPr wrap="square" rtlCol="0">
            <a:spAutoFit/>
          </a:bodyPr>
          <a:lstStyle/>
          <a:p>
            <a:pPr marL="0" indent="0">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GenericIComparableDemo</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List</a:t>
            </a:r>
            <a:r>
              <a:rPr lang="en-US" sz="1400" dirty="0">
                <a:solidFill>
                  <a:srgbClr val="000000"/>
                </a:solidFill>
                <a:highlight>
                  <a:srgbClr val="FFFFFF"/>
                </a:highlight>
                <a:latin typeface="Consolas" panose="020B0609020204030204" pitchFamily="49" charset="0"/>
              </a:rPr>
              <a:t>&lt;</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&gt; inv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List</a:t>
            </a:r>
            <a:r>
              <a:rPr lang="en-US" sz="1400" dirty="0">
                <a:solidFill>
                  <a:srgbClr val="000000"/>
                </a:solidFill>
                <a:highlight>
                  <a:srgbClr val="FFFFFF"/>
                </a:highlight>
                <a:latin typeface="Consolas" panose="020B0609020204030204" pitchFamily="49" charset="0"/>
              </a:rPr>
              <a:t>&lt;</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&gt;();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Add elements to the list </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inv.Add</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"Pliers"</a:t>
            </a:r>
            <a:r>
              <a:rPr lang="en-US" sz="1400" dirty="0">
                <a:solidFill>
                  <a:srgbClr val="000000"/>
                </a:solidFill>
                <a:highlight>
                  <a:srgbClr val="FFFFFF"/>
                </a:highlight>
                <a:latin typeface="Consolas" panose="020B0609020204030204" pitchFamily="49" charset="0"/>
              </a:rPr>
              <a:t>, 5.95, 3));</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inv.Add</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"Wrenches"</a:t>
            </a:r>
            <a:r>
              <a:rPr lang="en-US" sz="1400" dirty="0">
                <a:solidFill>
                  <a:srgbClr val="000000"/>
                </a:solidFill>
                <a:highlight>
                  <a:srgbClr val="FFFFFF"/>
                </a:highlight>
                <a:latin typeface="Consolas" panose="020B0609020204030204" pitchFamily="49" charset="0"/>
              </a:rPr>
              <a:t>, 8.29,2));</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inv.Add</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"Hammers"</a:t>
            </a:r>
            <a:r>
              <a:rPr lang="en-US" sz="1400" dirty="0">
                <a:solidFill>
                  <a:srgbClr val="000000"/>
                </a:solidFill>
                <a:highlight>
                  <a:srgbClr val="FFFFFF"/>
                </a:highlight>
                <a:latin typeface="Consolas" panose="020B0609020204030204" pitchFamily="49" charset="0"/>
              </a:rPr>
              <a:t>, 3.50, 4));</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inv.Add</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"Drills"</a:t>
            </a:r>
            <a:r>
              <a:rPr lang="en-US" sz="1400" dirty="0">
                <a:solidFill>
                  <a:srgbClr val="000000"/>
                </a:solidFill>
                <a:highlight>
                  <a:srgbClr val="FFFFFF"/>
                </a:highlight>
                <a:latin typeface="Consolas" panose="020B0609020204030204" pitchFamily="49" charset="0"/>
              </a:rPr>
              <a:t>, 19.88, 8));</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"Inventory list before sorting:"</a:t>
            </a:r>
            <a:r>
              <a:rPr lang="en-US"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inv)</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Sort the list. </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inv.Sort</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"Inventory list after sorting:"</a:t>
            </a:r>
            <a:r>
              <a:rPr lang="en-US"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inv)</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a:t>
            </a:r>
            <a:endParaRPr lang="en-IN" sz="2000" dirty="0"/>
          </a:p>
        </p:txBody>
      </p:sp>
    </p:spTree>
    <p:extLst>
      <p:ext uri="{BB962C8B-B14F-4D97-AF65-F5344CB8AC3E}">
        <p14:creationId xmlns:p14="http://schemas.microsoft.com/office/powerpoint/2010/main" val="11716789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307786740"/>
              </p:ext>
            </p:extLst>
          </p:nvPr>
        </p:nvGraphicFramePr>
        <p:xfrm>
          <a:off x="1524000" y="838200"/>
          <a:ext cx="6096000" cy="9296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929640">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0000"/>
                  </a:ext>
                </a:extLst>
              </a:tr>
            </a:tbl>
          </a:graphicData>
        </a:graphic>
      </p:graphicFrame>
      <p:cxnSp>
        <p:nvCxnSpPr>
          <p:cNvPr id="6" name="Straight Arrow Connector 5"/>
          <p:cNvCxnSpPr/>
          <p:nvPr/>
        </p:nvCxnSpPr>
        <p:spPr>
          <a:xfrm>
            <a:off x="2286000" y="152400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1066800" y="2590800"/>
            <a:ext cx="15240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A31515"/>
                </a:solidFill>
                <a:highlight>
                  <a:srgbClr val="FFFFFF"/>
                </a:highlight>
                <a:latin typeface="Consolas" panose="020B0609020204030204" pitchFamily="49" charset="0"/>
              </a:rPr>
              <a:t>"Pliers"</a:t>
            </a:r>
            <a:r>
              <a:rPr lang="en-US" dirty="0">
                <a:solidFill>
                  <a:srgbClr val="000000"/>
                </a:solidFill>
                <a:highlight>
                  <a:srgbClr val="FFFFFF"/>
                </a:highlight>
                <a:latin typeface="Consolas" panose="020B0609020204030204" pitchFamily="49" charset="0"/>
              </a:rPr>
              <a:t>, 5.95,</a:t>
            </a:r>
          </a:p>
          <a:p>
            <a:pPr algn="ctr"/>
            <a:r>
              <a:rPr lang="en-US" dirty="0">
                <a:solidFill>
                  <a:srgbClr val="000000"/>
                </a:solidFill>
                <a:highlight>
                  <a:srgbClr val="FFFFFF"/>
                </a:highlight>
                <a:latin typeface="Consolas" panose="020B0609020204030204" pitchFamily="49" charset="0"/>
              </a:rPr>
              <a:t> 3</a:t>
            </a:r>
            <a:endParaRPr lang="en-IN" dirty="0"/>
          </a:p>
        </p:txBody>
      </p:sp>
      <p:cxnSp>
        <p:nvCxnSpPr>
          <p:cNvPr id="8" name="Straight Arrow Connector 7"/>
          <p:cNvCxnSpPr/>
          <p:nvPr/>
        </p:nvCxnSpPr>
        <p:spPr>
          <a:xfrm>
            <a:off x="4038600" y="152400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2819400" y="2590800"/>
            <a:ext cx="15240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A31515"/>
                </a:solidFill>
                <a:highlight>
                  <a:srgbClr val="FFFFFF"/>
                </a:highlight>
                <a:latin typeface="Consolas" panose="020B0609020204030204" pitchFamily="49" charset="0"/>
              </a:rPr>
              <a:t>" Wrenches"</a:t>
            </a:r>
            <a:r>
              <a:rPr lang="en-US" dirty="0">
                <a:solidFill>
                  <a:srgbClr val="000000"/>
                </a:solidFill>
                <a:highlight>
                  <a:srgbClr val="FFFFFF"/>
                </a:highlight>
                <a:latin typeface="Consolas" panose="020B0609020204030204" pitchFamily="49" charset="0"/>
              </a:rPr>
              <a:t>, 8.29,</a:t>
            </a:r>
          </a:p>
          <a:p>
            <a:pPr algn="ctr"/>
            <a:r>
              <a:rPr lang="en-US" dirty="0">
                <a:solidFill>
                  <a:srgbClr val="000000"/>
                </a:solidFill>
                <a:highlight>
                  <a:srgbClr val="FFFFFF"/>
                </a:highlight>
                <a:latin typeface="Consolas" panose="020B0609020204030204" pitchFamily="49" charset="0"/>
              </a:rPr>
              <a:t>2</a:t>
            </a:r>
            <a:endParaRPr lang="en-IN" dirty="0"/>
          </a:p>
        </p:txBody>
      </p:sp>
      <p:sp>
        <p:nvSpPr>
          <p:cNvPr id="12" name="Rectangle 11"/>
          <p:cNvSpPr/>
          <p:nvPr/>
        </p:nvSpPr>
        <p:spPr>
          <a:xfrm>
            <a:off x="4800600" y="2590800"/>
            <a:ext cx="15240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A31515"/>
                </a:solidFill>
                <a:highlight>
                  <a:srgbClr val="FFFFFF"/>
                </a:highlight>
                <a:latin typeface="Consolas" panose="020B0609020204030204" pitchFamily="49" charset="0"/>
              </a:rPr>
              <a:t>"Hammers"</a:t>
            </a:r>
            <a:r>
              <a:rPr lang="en-US" dirty="0">
                <a:solidFill>
                  <a:srgbClr val="000000"/>
                </a:solidFill>
                <a:highlight>
                  <a:srgbClr val="FFFFFF"/>
                </a:highlight>
                <a:latin typeface="Consolas" panose="020B0609020204030204" pitchFamily="49" charset="0"/>
              </a:rPr>
              <a:t>, 3.50,</a:t>
            </a:r>
          </a:p>
          <a:p>
            <a:r>
              <a:rPr lang="en-US" dirty="0">
                <a:solidFill>
                  <a:srgbClr val="000000"/>
                </a:solidFill>
                <a:highlight>
                  <a:srgbClr val="FFFFFF"/>
                </a:highlight>
                <a:latin typeface="Consolas" panose="020B0609020204030204" pitchFamily="49" charset="0"/>
              </a:rPr>
              <a:t> 4</a:t>
            </a:r>
            <a:endParaRPr lang="en-IN" dirty="0"/>
          </a:p>
        </p:txBody>
      </p:sp>
      <p:cxnSp>
        <p:nvCxnSpPr>
          <p:cNvPr id="13" name="Straight Arrow Connector 12"/>
          <p:cNvCxnSpPr/>
          <p:nvPr/>
        </p:nvCxnSpPr>
        <p:spPr>
          <a:xfrm>
            <a:off x="5410200" y="167640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620000" y="1295400"/>
            <a:ext cx="1066800"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04800" y="990600"/>
            <a:ext cx="1066800"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err="1"/>
              <a:t>inv</a:t>
            </a:r>
            <a:endParaRPr lang="en-IN" dirty="0"/>
          </a:p>
        </p:txBody>
      </p:sp>
    </p:spTree>
    <p:extLst>
      <p:ext uri="{BB962C8B-B14F-4D97-AF65-F5344CB8AC3E}">
        <p14:creationId xmlns:p14="http://schemas.microsoft.com/office/powerpoint/2010/main" val="37504346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B5AD4-0B93-4C7A-99EB-3C4BED7BE75E}"/>
              </a:ext>
            </a:extLst>
          </p:cNvPr>
          <p:cNvSpPr>
            <a:spLocks noGrp="1"/>
          </p:cNvSpPr>
          <p:nvPr>
            <p:ph type="title"/>
          </p:nvPr>
        </p:nvSpPr>
        <p:spPr>
          <a:xfrm>
            <a:off x="2895600" y="0"/>
            <a:ext cx="6019800" cy="494736"/>
          </a:xfrm>
        </p:spPr>
        <p:txBody>
          <a:bodyPr>
            <a:noAutofit/>
          </a:bodyPr>
          <a:lstStyle/>
          <a:p>
            <a:r>
              <a:rPr lang="en-US" sz="2800" dirty="0" err="1">
                <a:solidFill>
                  <a:srgbClr val="008000"/>
                </a:solidFill>
                <a:highlight>
                  <a:srgbClr val="FFFFFF"/>
                </a:highlight>
                <a:latin typeface="Consolas" panose="020B0609020204030204" pitchFamily="49" charset="0"/>
              </a:rPr>
              <a:t>IComparer</a:t>
            </a:r>
            <a:r>
              <a:rPr lang="en-US" sz="2800" dirty="0">
                <a:solidFill>
                  <a:srgbClr val="008000"/>
                </a:solidFill>
                <a:highlight>
                  <a:srgbClr val="FFFFFF"/>
                </a:highlight>
                <a:latin typeface="Consolas" panose="020B0609020204030204" pitchFamily="49" charset="0"/>
              </a:rPr>
              <a:t> &lt;T&gt;</a:t>
            </a:r>
            <a:endParaRPr lang="en-IN" sz="2800" dirty="0"/>
          </a:p>
        </p:txBody>
      </p:sp>
      <p:sp>
        <p:nvSpPr>
          <p:cNvPr id="3" name="Content Placeholder 2">
            <a:extLst>
              <a:ext uri="{FF2B5EF4-FFF2-40B4-BE49-F238E27FC236}">
                <a16:creationId xmlns:a16="http://schemas.microsoft.com/office/drawing/2014/main" id="{A07EDAFA-6ABB-4FE2-B227-5FC603D90589}"/>
              </a:ext>
            </a:extLst>
          </p:cNvPr>
          <p:cNvSpPr>
            <a:spLocks noGrp="1"/>
          </p:cNvSpPr>
          <p:nvPr>
            <p:ph idx="1"/>
          </p:nvPr>
        </p:nvSpPr>
        <p:spPr>
          <a:xfrm>
            <a:off x="99552" y="215272"/>
            <a:ext cx="4419600" cy="6718927"/>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Console_gen_comp</a:t>
            </a: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a:t>
            </a:r>
            <a:r>
              <a:rPr lang="en-US" sz="1200" dirty="0">
                <a:solidFill>
                  <a:srgbClr val="008000"/>
                </a:solidFill>
                <a:highlight>
                  <a:srgbClr val="FFFFFF"/>
                </a:highlight>
                <a:latin typeface="Consolas" panose="020B0609020204030204" pitchFamily="49" charset="0"/>
              </a:rPr>
              <a:t>// Create an </a:t>
            </a:r>
            <a:r>
              <a:rPr lang="en-US" sz="1200" dirty="0" err="1">
                <a:solidFill>
                  <a:srgbClr val="008000"/>
                </a:solidFill>
                <a:highlight>
                  <a:srgbClr val="FFFFFF"/>
                </a:highlight>
                <a:latin typeface="Consolas" panose="020B0609020204030204" pitchFamily="49" charset="0"/>
              </a:rPr>
              <a:t>IComparer</a:t>
            </a:r>
            <a:r>
              <a:rPr lang="en-US" sz="1200" dirty="0">
                <a:solidFill>
                  <a:srgbClr val="008000"/>
                </a:solidFill>
                <a:highlight>
                  <a:srgbClr val="FFFFFF"/>
                </a:highlight>
                <a:latin typeface="Consolas" panose="020B0609020204030204" pitchFamily="49" charset="0"/>
              </a:rPr>
              <a:t> for Inventory objects.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CompInv</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IComparer</a:t>
            </a:r>
            <a:r>
              <a:rPr lang="en-IN" sz="1200" dirty="0">
                <a:solidFill>
                  <a:srgbClr val="000000"/>
                </a:solidFill>
                <a:highlight>
                  <a:srgbClr val="FFFFFF"/>
                </a:highlight>
                <a:latin typeface="Consolas" panose="020B0609020204030204" pitchFamily="49" charset="0"/>
              </a:rPr>
              <a:t>&lt;</a:t>
            </a:r>
            <a:r>
              <a:rPr lang="en-IN" sz="1200" dirty="0">
                <a:solidFill>
                  <a:srgbClr val="2B91AF"/>
                </a:solidFill>
                <a:highlight>
                  <a:srgbClr val="FFFFFF"/>
                </a:highlight>
                <a:latin typeface="Consolas" panose="020B0609020204030204" pitchFamily="49" charset="0"/>
              </a:rPr>
              <a:t>Inventory</a:t>
            </a:r>
            <a:r>
              <a:rPr lang="en-IN" sz="1200" dirty="0">
                <a:solidFill>
                  <a:srgbClr val="000000"/>
                </a:solidFill>
                <a:highlight>
                  <a:srgbClr val="FFFFFF"/>
                </a:highlight>
                <a:latin typeface="Consolas" panose="020B0609020204030204" pitchFamily="49" charset="0"/>
              </a:rPr>
              <a:t>&gt;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Implement the </a:t>
            </a:r>
            <a:r>
              <a:rPr lang="en-IN" sz="1200" dirty="0" err="1">
                <a:solidFill>
                  <a:srgbClr val="008000"/>
                </a:solidFill>
                <a:highlight>
                  <a:srgbClr val="FFFFFF"/>
                </a:highlight>
                <a:latin typeface="Consolas" panose="020B0609020204030204" pitchFamily="49" charset="0"/>
              </a:rPr>
              <a:t>IComparable</a:t>
            </a:r>
            <a:r>
              <a:rPr lang="en-IN" sz="1200" dirty="0">
                <a:solidFill>
                  <a:srgbClr val="008000"/>
                </a:solidFill>
                <a:highlight>
                  <a:srgbClr val="FFFFFF"/>
                </a:highlight>
                <a:latin typeface="Consolas" panose="020B0609020204030204" pitchFamily="49" charset="0"/>
              </a:rPr>
              <a:t> interface. </a:t>
            </a: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Compare(</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 x,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 y)</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FF"/>
                </a:solidFill>
                <a:highlight>
                  <a:srgbClr val="FFFFFF"/>
                </a:highlight>
                <a:latin typeface="Consolas" panose="020B0609020204030204" pitchFamily="49" charset="0"/>
              </a:rPr>
              <a:t>string</a:t>
            </a:r>
            <a:r>
              <a:rPr lang="en-IN" sz="1200" dirty="0" err="1">
                <a:solidFill>
                  <a:srgbClr val="000000"/>
                </a:solidFill>
                <a:highlight>
                  <a:srgbClr val="FFFFFF"/>
                </a:highlight>
                <a:latin typeface="Consolas" panose="020B0609020204030204" pitchFamily="49" charset="0"/>
              </a:rPr>
              <a:t>.Compare</a:t>
            </a:r>
            <a:r>
              <a:rPr lang="en-IN" sz="1200" dirty="0">
                <a:solidFill>
                  <a:srgbClr val="000000"/>
                </a:solidFill>
                <a:highlight>
                  <a:srgbClr val="FFFFFF"/>
                </a:highlight>
                <a:latin typeface="Consolas" panose="020B0609020204030204" pitchFamily="49" charset="0"/>
              </a:rPr>
              <a:t>(x.name, y.name);</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Inventory</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cost;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Inventory(</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c,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h)</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name = n;</a:t>
            </a:r>
          </a:p>
          <a:p>
            <a:pPr marL="0" indent="0">
              <a:buNone/>
            </a:pPr>
            <a:r>
              <a:rPr lang="en-IN" sz="1200" dirty="0">
                <a:solidFill>
                  <a:srgbClr val="000000"/>
                </a:solidFill>
                <a:highlight>
                  <a:srgbClr val="FFFFFF"/>
                </a:highlight>
                <a:latin typeface="Consolas" panose="020B0609020204030204" pitchFamily="49" charset="0"/>
              </a:rPr>
              <a:t>            cost = c;</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 = h;</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endParaRPr lang="en-IN" sz="1200" dirty="0">
              <a:solidFill>
                <a:srgbClr val="000000"/>
              </a:solidFill>
              <a:highlight>
                <a:srgbClr val="FFFFFF"/>
              </a:highlight>
              <a:latin typeface="Consolas" panose="020B0609020204030204" pitchFamily="49" charset="0"/>
            </a:endParaRPr>
          </a:p>
          <a:p>
            <a:pPr marL="0" indent="0">
              <a:buNone/>
            </a:pPr>
            <a:r>
              <a:rPr lang="en-IN" sz="1200" dirty="0" err="1">
                <a:solidFill>
                  <a:srgbClr val="2B91AF"/>
                </a:solidFill>
                <a:highlight>
                  <a:srgbClr val="FFFFFF"/>
                </a:highlight>
                <a:latin typeface="Consolas" panose="020B0609020204030204" pitchFamily="49" charset="0"/>
              </a:rPr>
              <a:t>String</a:t>
            </a:r>
            <a:r>
              <a:rPr lang="en-IN" sz="1200" dirty="0" err="1">
                <a:solidFill>
                  <a:srgbClr val="000000"/>
                </a:solidFill>
                <a:highlight>
                  <a:srgbClr val="FFFFFF"/>
                </a:highlight>
                <a:latin typeface="Consolas" panose="020B0609020204030204" pitchFamily="49" charset="0"/>
              </a:rPr>
              <a:t>.Format</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"{0,-10}Cost: {1,6:C}  On hand: {2}"</a:t>
            </a:r>
            <a:r>
              <a:rPr lang="en-IN" sz="1200" dirty="0">
                <a:solidFill>
                  <a:srgbClr val="000000"/>
                </a:solidFill>
                <a:highlight>
                  <a:srgbClr val="FFFFFF"/>
                </a:highlight>
                <a:latin typeface="Consolas" panose="020B0609020204030204" pitchFamily="49" charset="0"/>
              </a:rPr>
              <a:t>,  name, cost,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p:txBody>
      </p:sp>
      <p:sp>
        <p:nvSpPr>
          <p:cNvPr id="4" name="TextBox 3">
            <a:extLst>
              <a:ext uri="{FF2B5EF4-FFF2-40B4-BE49-F238E27FC236}">
                <a16:creationId xmlns:a16="http://schemas.microsoft.com/office/drawing/2014/main" id="{62CEE3C8-84E7-460A-9F02-EAA557818A1E}"/>
              </a:ext>
            </a:extLst>
          </p:cNvPr>
          <p:cNvSpPr txBox="1"/>
          <p:nvPr/>
        </p:nvSpPr>
        <p:spPr>
          <a:xfrm>
            <a:off x="4038600" y="455407"/>
            <a:ext cx="5410200" cy="6370975"/>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CompInv</a:t>
            </a:r>
            <a:r>
              <a:rPr lang="en-IN" sz="1200" dirty="0">
                <a:solidFill>
                  <a:srgbClr val="000000"/>
                </a:solidFill>
                <a:highlight>
                  <a:srgbClr val="FFFFFF"/>
                </a:highlight>
                <a:latin typeface="Consolas" panose="020B0609020204030204" pitchFamily="49" charset="0"/>
              </a:rPr>
              <a:t> comp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CompInv</a:t>
            </a:r>
            <a:r>
              <a:rPr lang="en-IN"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List</a:t>
            </a:r>
            <a:r>
              <a:rPr lang="en-US" sz="1200" dirty="0">
                <a:solidFill>
                  <a:srgbClr val="000000"/>
                </a:solidFill>
                <a:highlight>
                  <a:srgbClr val="FFFFFF"/>
                </a:highlight>
                <a:latin typeface="Consolas" panose="020B0609020204030204" pitchFamily="49" charset="0"/>
              </a:rPr>
              <a:t>&lt;</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&gt; inv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List</a:t>
            </a:r>
            <a:r>
              <a:rPr lang="en-US" sz="1200" dirty="0">
                <a:solidFill>
                  <a:srgbClr val="000000"/>
                </a:solidFill>
                <a:highlight>
                  <a:srgbClr val="FFFFFF"/>
                </a:highlight>
                <a:latin typeface="Consolas" panose="020B0609020204030204" pitchFamily="49" charset="0"/>
              </a:rPr>
              <a:t>&lt;</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&gt;();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Add elements to the list </a:t>
            </a:r>
            <a:endParaRPr lang="en-US"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inv.Add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"Pliers"</a:t>
            </a:r>
            <a:r>
              <a:rPr lang="en-US" sz="1200" dirty="0">
                <a:solidFill>
                  <a:srgbClr val="000000"/>
                </a:solidFill>
                <a:highlight>
                  <a:srgbClr val="FFFFFF"/>
                </a:highlight>
                <a:latin typeface="Consolas" panose="020B0609020204030204" pitchFamily="49" charset="0"/>
              </a:rPr>
              <a:t>, 5.95, 3));</a:t>
            </a:r>
          </a:p>
          <a:p>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inv.Add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"Wrenches"</a:t>
            </a:r>
            <a:r>
              <a:rPr lang="en-US" sz="1200" dirty="0">
                <a:solidFill>
                  <a:srgbClr val="000000"/>
                </a:solidFill>
                <a:highlight>
                  <a:srgbClr val="FFFFFF"/>
                </a:highlight>
                <a:latin typeface="Consolas" panose="020B0609020204030204" pitchFamily="49" charset="0"/>
              </a:rPr>
              <a:t>, 8.29, 2));</a:t>
            </a:r>
          </a:p>
          <a:p>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inv.Add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"Hammers"</a:t>
            </a:r>
            <a:r>
              <a:rPr lang="en-US" sz="1200" dirty="0">
                <a:solidFill>
                  <a:srgbClr val="000000"/>
                </a:solidFill>
                <a:highlight>
                  <a:srgbClr val="FFFFFF"/>
                </a:highlight>
                <a:latin typeface="Consolas" panose="020B0609020204030204" pitchFamily="49" charset="0"/>
              </a:rPr>
              <a:t>, 3.50, 4));</a:t>
            </a:r>
          </a:p>
          <a:p>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inv.Add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"Drills"</a:t>
            </a:r>
            <a:r>
              <a:rPr lang="en-US" sz="1200" dirty="0">
                <a:solidFill>
                  <a:srgbClr val="000000"/>
                </a:solidFill>
                <a:highlight>
                  <a:srgbClr val="FFFFFF"/>
                </a:highlight>
                <a:latin typeface="Consolas" panose="020B0609020204030204" pitchFamily="49" charset="0"/>
              </a:rPr>
              <a:t>, 19.88, 8));</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"Inventory list before sorting:"</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foreach</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inv)</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Sort the list using an </a:t>
            </a:r>
            <a:r>
              <a:rPr lang="en-US" sz="1200" dirty="0" err="1">
                <a:solidFill>
                  <a:srgbClr val="008000"/>
                </a:solidFill>
                <a:highlight>
                  <a:srgbClr val="FFFFFF"/>
                </a:highlight>
                <a:latin typeface="Consolas" panose="020B0609020204030204" pitchFamily="49" charset="0"/>
              </a:rPr>
              <a:t>IComparer</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inv.Sort</a:t>
            </a:r>
            <a:r>
              <a:rPr lang="en-IN" sz="1200" dirty="0">
                <a:solidFill>
                  <a:srgbClr val="000000"/>
                </a:solidFill>
                <a:highlight>
                  <a:srgbClr val="FFFFFF"/>
                </a:highlight>
                <a:latin typeface="Consolas" panose="020B0609020204030204" pitchFamily="49" charset="0"/>
              </a:rPr>
              <a:t>(comp);</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"Inventory list after sorting:"</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foreach</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inv)</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a:t>
            </a:r>
            <a:endParaRPr lang="en-IN" sz="1400" dirty="0"/>
          </a:p>
        </p:txBody>
      </p:sp>
    </p:spTree>
    <p:extLst>
      <p:ext uri="{BB962C8B-B14F-4D97-AF65-F5344CB8AC3E}">
        <p14:creationId xmlns:p14="http://schemas.microsoft.com/office/powerpoint/2010/main" val="170140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028D7-FE74-43E5-8670-9FDA4BBC1DF5}"/>
              </a:ext>
            </a:extLst>
          </p:cNvPr>
          <p:cNvSpPr>
            <a:spLocks noGrp="1"/>
          </p:cNvSpPr>
          <p:nvPr>
            <p:ph type="title"/>
          </p:nvPr>
        </p:nvSpPr>
        <p:spPr>
          <a:xfrm>
            <a:off x="1143000" y="0"/>
            <a:ext cx="2971800" cy="228600"/>
          </a:xfrm>
        </p:spPr>
        <p:txBody>
          <a:bodyPr>
            <a:normAutofit fontScale="90000"/>
          </a:bodyPr>
          <a:lstStyle/>
          <a:p>
            <a:r>
              <a:rPr lang="en-IN" sz="1100" dirty="0" err="1"/>
              <a:t>IEnumerable</a:t>
            </a:r>
            <a:r>
              <a:rPr lang="en-IN" sz="1100" dirty="0"/>
              <a:t> </a:t>
            </a:r>
          </a:p>
        </p:txBody>
      </p:sp>
      <p:sp>
        <p:nvSpPr>
          <p:cNvPr id="3" name="Content Placeholder 2">
            <a:extLst>
              <a:ext uri="{FF2B5EF4-FFF2-40B4-BE49-F238E27FC236}">
                <a16:creationId xmlns:a16="http://schemas.microsoft.com/office/drawing/2014/main" id="{14B5184F-BA75-4905-B8B2-D437122F4CB4}"/>
              </a:ext>
            </a:extLst>
          </p:cNvPr>
          <p:cNvSpPr>
            <a:spLocks noGrp="1"/>
          </p:cNvSpPr>
          <p:nvPr>
            <p:ph idx="1"/>
          </p:nvPr>
        </p:nvSpPr>
        <p:spPr>
          <a:xfrm>
            <a:off x="0" y="7374"/>
            <a:ext cx="4038600" cy="6850626"/>
          </a:xfrm>
        </p:spPr>
        <p:txBody>
          <a:bodyPr>
            <a:noAutofit/>
          </a:bodyPr>
          <a:lstStyle/>
          <a:p>
            <a:pPr marL="0" indent="0">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System;</a:t>
            </a:r>
          </a:p>
          <a:p>
            <a:pPr marL="0" indent="0">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System.Collections</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System.Linq</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System.Text</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System.Threading.Tasks;A</a:t>
            </a:r>
            <a:endParaRPr lang="en-IN" sz="1050" dirty="0">
              <a:solidFill>
                <a:srgbClr val="000000"/>
              </a:solidFill>
              <a:highlight>
                <a:srgbClr val="FFFFFF"/>
              </a:highlight>
              <a:latin typeface="Consolas" panose="020B0609020204030204" pitchFamily="49" charset="0"/>
            </a:endParaRP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FF"/>
                </a:solidFill>
                <a:highlight>
                  <a:srgbClr val="FFFFFF"/>
                </a:highlight>
                <a:latin typeface="Consolas" panose="020B0609020204030204" pitchFamily="49" charset="0"/>
              </a:rPr>
              <a:t>namespace</a:t>
            </a:r>
            <a:r>
              <a:rPr lang="en-IN" sz="1050" dirty="0">
                <a:solidFill>
                  <a:srgbClr val="000000"/>
                </a:solidFill>
                <a:highlight>
                  <a:srgbClr val="FFFFFF"/>
                </a:highlight>
                <a:latin typeface="Consolas" panose="020B0609020204030204" pitchFamily="49" charset="0"/>
              </a:rPr>
              <a:t> ConsoleApplication1</a:t>
            </a:r>
          </a:p>
          <a:p>
            <a:pPr marL="0" indent="0">
              <a:spcBef>
                <a:spcPts val="0"/>
              </a:spcBef>
              <a:buNone/>
            </a:pP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Employee</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Name { </a:t>
            </a:r>
            <a:r>
              <a:rPr lang="en-US" sz="1050" dirty="0">
                <a:solidFill>
                  <a:srgbClr val="0000FF"/>
                </a:solidFill>
                <a:highlight>
                  <a:srgbClr val="FFFFFF"/>
                </a:highlight>
                <a:latin typeface="Consolas" panose="020B0609020204030204" pitchFamily="49" charset="0"/>
              </a:rPr>
              <a:t>get</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set</a:t>
            </a:r>
            <a:r>
              <a:rPr lang="en-US" sz="1050" dirty="0">
                <a:solidFill>
                  <a:srgbClr val="000000"/>
                </a:solidFill>
                <a:highlight>
                  <a:srgbClr val="FFFFFF"/>
                </a:highlight>
                <a:latin typeface="Consolas" panose="020B0609020204030204" pitchFamily="49" charset="0"/>
              </a:rPr>
              <a:t>; }</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override</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string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ToString</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Name;</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Company</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List</a:t>
            </a:r>
            <a:r>
              <a:rPr lang="en-US" sz="1050" dirty="0">
                <a:solidFill>
                  <a:srgbClr val="000000"/>
                </a:solidFill>
                <a:highlight>
                  <a:srgbClr val="FFFFFF"/>
                </a:highlight>
                <a:latin typeface="Consolas" panose="020B0609020204030204" pitchFamily="49" charset="0"/>
              </a:rPr>
              <a:t> s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List</a:t>
            </a:r>
            <a:r>
              <a:rPr lang="en-US" sz="1050" dirty="0">
                <a:solidFill>
                  <a:srgbClr val="000000"/>
                </a:solidFill>
                <a:highlight>
                  <a:srgbClr val="FFFFFF"/>
                </a:highlight>
                <a:latin typeface="Consolas" panose="020B0609020204030204" pitchFamily="49" charset="0"/>
              </a:rPr>
              <a:t>();</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void</a:t>
            </a:r>
            <a:r>
              <a:rPr lang="en-US" sz="1050" dirty="0">
                <a:solidFill>
                  <a:srgbClr val="000000"/>
                </a:solidFill>
                <a:highlight>
                  <a:srgbClr val="FFFFFF"/>
                </a:highlight>
                <a:latin typeface="Consolas" panose="020B0609020204030204" pitchFamily="49" charset="0"/>
              </a:rPr>
              <a:t> add(</a:t>
            </a:r>
            <a:r>
              <a:rPr lang="en-US" sz="1050" dirty="0">
                <a:solidFill>
                  <a:srgbClr val="2B91AF"/>
                </a:solidFill>
                <a:highlight>
                  <a:srgbClr val="FFFFFF"/>
                </a:highlight>
                <a:latin typeface="Consolas" panose="020B0609020204030204" pitchFamily="49" charset="0"/>
              </a:rPr>
              <a:t>Object</a:t>
            </a:r>
            <a:r>
              <a:rPr lang="en-US" sz="1050" dirty="0">
                <a:solidFill>
                  <a:srgbClr val="000000"/>
                </a:solidFill>
                <a:highlight>
                  <a:srgbClr val="FFFFFF"/>
                </a:highlight>
                <a:latin typeface="Consolas" panose="020B0609020204030204" pitchFamily="49" charset="0"/>
              </a:rPr>
              <a:t> emp)</a:t>
            </a:r>
          </a:p>
          <a:p>
            <a:pPr marL="0" indent="0">
              <a:spcBef>
                <a:spcPts val="0"/>
              </a:spcBef>
              <a:buNone/>
            </a:pPr>
            <a:r>
              <a:rPr lang="en-IN" sz="1050" dirty="0">
                <a:solidFill>
                  <a:srgbClr val="000000"/>
                </a:solidFill>
                <a:highlight>
                  <a:srgbClr val="FFFFFF"/>
                </a:highlight>
                <a:latin typeface="Consolas" panose="020B0609020204030204" pitchFamily="49" charset="0"/>
              </a:rPr>
              <a:t>        {       </a:t>
            </a:r>
            <a:r>
              <a:rPr lang="en-IN" sz="1050" dirty="0" err="1">
                <a:solidFill>
                  <a:srgbClr val="000000"/>
                </a:solidFill>
                <a:highlight>
                  <a:srgbClr val="FFFFFF"/>
                </a:highlight>
                <a:latin typeface="Consolas" panose="020B0609020204030204" pitchFamily="49" charset="0"/>
              </a:rPr>
              <a:t>s.Add</a:t>
            </a:r>
            <a:r>
              <a:rPr lang="en-IN" sz="1050" dirty="0">
                <a:solidFill>
                  <a:srgbClr val="000000"/>
                </a:solidFill>
                <a:highlight>
                  <a:srgbClr val="FFFFFF"/>
                </a:highlight>
                <a:latin typeface="Consolas" panose="020B0609020204030204" pitchFamily="49" charset="0"/>
              </a:rPr>
              <a:t>(emp);</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List</a:t>
            </a:r>
            <a:r>
              <a:rPr lang="en-IN" sz="1050" dirty="0">
                <a:solidFill>
                  <a:srgbClr val="000000"/>
                </a:solidFill>
                <a:highlight>
                  <a:srgbClr val="FFFFFF"/>
                </a:highlight>
                <a:latin typeface="Consolas" panose="020B0609020204030204" pitchFamily="49" charset="0"/>
              </a:rPr>
              <a:t> : </a:t>
            </a:r>
            <a:r>
              <a:rPr lang="en-IN" sz="1050" dirty="0" err="1">
                <a:solidFill>
                  <a:srgbClr val="2B91AF"/>
                </a:solidFill>
                <a:highlight>
                  <a:srgbClr val="FFFFFF"/>
                </a:highlight>
                <a:latin typeface="Consolas" panose="020B0609020204030204" pitchFamily="49" charset="0"/>
              </a:rPr>
              <a:t>IEnumerable</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private</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static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object</a:t>
            </a:r>
            <a:r>
              <a:rPr lang="en-IN" sz="1050" dirty="0">
                <a:solidFill>
                  <a:srgbClr val="000000"/>
                </a:solidFill>
                <a:highlight>
                  <a:srgbClr val="FFFFFF"/>
                </a:highlight>
                <a:latin typeface="Consolas" panose="020B0609020204030204" pitchFamily="49" charset="0"/>
              </a:rPr>
              <a:t>[] _objects;</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static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c = 0;</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List()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_objects = </a:t>
            </a:r>
            <a:r>
              <a:rPr lang="en-IN" sz="1050" dirty="0">
                <a:solidFill>
                  <a:srgbClr val="0000FF"/>
                </a:solidFill>
                <a:highlight>
                  <a:srgbClr val="FFFFFF"/>
                </a:highlight>
                <a:latin typeface="Consolas" panose="020B0609020204030204" pitchFamily="49" charset="0"/>
              </a:rPr>
              <a:t>new</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object</a:t>
            </a:r>
            <a:r>
              <a:rPr lang="en-IN" sz="1050" dirty="0">
                <a:solidFill>
                  <a:srgbClr val="000000"/>
                </a:solidFill>
                <a:highlight>
                  <a:srgbClr val="FFFFFF"/>
                </a:highlight>
                <a:latin typeface="Consolas" panose="020B0609020204030204" pitchFamily="49" charset="0"/>
              </a:rPr>
              <a:t>[3];</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void</a:t>
            </a:r>
            <a:r>
              <a:rPr lang="en-US" sz="1050" dirty="0">
                <a:solidFill>
                  <a:srgbClr val="000000"/>
                </a:solidFill>
                <a:highlight>
                  <a:srgbClr val="FFFFFF"/>
                </a:highlight>
                <a:latin typeface="Consolas" panose="020B0609020204030204" pitchFamily="49" charset="0"/>
              </a:rPr>
              <a:t> Add(</a:t>
            </a:r>
            <a:r>
              <a:rPr lang="en-US" sz="1050" dirty="0">
                <a:solidFill>
                  <a:srgbClr val="0000FF"/>
                </a:solidFill>
                <a:highlight>
                  <a:srgbClr val="FFFFFF"/>
                </a:highlight>
                <a:latin typeface="Consolas" panose="020B0609020204030204" pitchFamily="49" charset="0"/>
              </a:rPr>
              <a:t>object</a:t>
            </a:r>
            <a:r>
              <a:rPr lang="en-US" sz="1050" dirty="0">
                <a:solidFill>
                  <a:srgbClr val="000000"/>
                </a:solidFill>
                <a:highlight>
                  <a:srgbClr val="FFFFFF"/>
                </a:highlight>
                <a:latin typeface="Consolas" panose="020B0609020204030204" pitchFamily="49" charset="0"/>
              </a:rPr>
              <a:t> obj)</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_objects[</a:t>
            </a:r>
            <a:r>
              <a:rPr lang="en-IN" sz="1050" dirty="0" err="1">
                <a:solidFill>
                  <a:srgbClr val="000000"/>
                </a:solidFill>
                <a:highlight>
                  <a:srgbClr val="FFFFFF"/>
                </a:highlight>
                <a:latin typeface="Consolas" panose="020B0609020204030204" pitchFamily="49" charset="0"/>
              </a:rPr>
              <a:t>c++</a:t>
            </a:r>
            <a:r>
              <a:rPr lang="en-IN" sz="1050" dirty="0">
                <a:solidFill>
                  <a:srgbClr val="000000"/>
                </a:solidFill>
                <a:highlight>
                  <a:srgbClr val="FFFFFF"/>
                </a:highlight>
                <a:latin typeface="Consolas" panose="020B0609020204030204" pitchFamily="49" charset="0"/>
              </a:rPr>
              <a:t>] = </a:t>
            </a:r>
            <a:r>
              <a:rPr lang="en-IN" sz="1050" dirty="0" err="1">
                <a:solidFill>
                  <a:srgbClr val="000000"/>
                </a:solidFill>
                <a:highlight>
                  <a:srgbClr val="FFFFFF"/>
                </a:highlight>
                <a:latin typeface="Consolas" panose="020B0609020204030204" pitchFamily="49" charset="0"/>
              </a:rPr>
              <a:t>obj</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IEnumerator</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GetEnumerator</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new</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ListEnumerator</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endParaRPr lang="en-IN" sz="1050" dirty="0">
              <a:solidFill>
                <a:srgbClr val="000000"/>
              </a:solidFill>
              <a:highlight>
                <a:srgbClr val="FFFFFF"/>
              </a:highlight>
              <a:latin typeface="Consolas" panose="020B0609020204030204" pitchFamily="49" charset="0"/>
            </a:endParaRPr>
          </a:p>
        </p:txBody>
      </p:sp>
      <p:sp>
        <p:nvSpPr>
          <p:cNvPr id="4" name="TextBox 3">
            <a:extLst>
              <a:ext uri="{FF2B5EF4-FFF2-40B4-BE49-F238E27FC236}">
                <a16:creationId xmlns:a16="http://schemas.microsoft.com/office/drawing/2014/main" id="{664FD561-6129-42F4-99B4-09C3F1DD8D70}"/>
              </a:ext>
            </a:extLst>
          </p:cNvPr>
          <p:cNvSpPr txBox="1"/>
          <p:nvPr/>
        </p:nvSpPr>
        <p:spPr>
          <a:xfrm>
            <a:off x="4419600" y="7374"/>
            <a:ext cx="4343400" cy="7525137"/>
          </a:xfrm>
          <a:prstGeom prst="rect">
            <a:avLst/>
          </a:prstGeom>
          <a:noFill/>
        </p:spPr>
        <p:txBody>
          <a:bodyPr wrap="square" rtlCol="0">
            <a:spAutoFit/>
          </a:bodyPr>
          <a:lstStyle/>
          <a:p>
            <a:pPr marL="0" indent="0">
              <a:spcBef>
                <a:spcPts val="0"/>
              </a:spcBef>
              <a:buNone/>
            </a:pP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ListEnumerator</a:t>
            </a:r>
            <a:r>
              <a:rPr lang="en-IN" sz="1050" dirty="0">
                <a:solidFill>
                  <a:srgbClr val="000000"/>
                </a:solidFill>
                <a:highlight>
                  <a:srgbClr val="FFFFFF"/>
                </a:highlight>
                <a:latin typeface="Consolas" panose="020B0609020204030204" pitchFamily="49" charset="0"/>
              </a:rPr>
              <a:t> : </a:t>
            </a:r>
            <a:r>
              <a:rPr lang="en-IN" sz="1050" dirty="0" err="1">
                <a:solidFill>
                  <a:srgbClr val="2B91AF"/>
                </a:solidFill>
                <a:highlight>
                  <a:srgbClr val="FFFFFF"/>
                </a:highlight>
                <a:latin typeface="Consolas" panose="020B0609020204030204" pitchFamily="49" charset="0"/>
              </a:rPr>
              <a:t>IEnumerator</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   </a:t>
            </a:r>
            <a:r>
              <a:rPr lang="en-IN" sz="1050" dirty="0">
                <a:solidFill>
                  <a:srgbClr val="0000FF"/>
                </a:solidFill>
                <a:highlight>
                  <a:srgbClr val="FFFFFF"/>
                </a:highlight>
                <a:latin typeface="Consolas" panose="020B0609020204030204" pitchFamily="49" charset="0"/>
              </a:rPr>
              <a:t>private</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_</a:t>
            </a:r>
            <a:r>
              <a:rPr lang="en-IN" sz="1050" dirty="0" err="1">
                <a:solidFill>
                  <a:srgbClr val="000000"/>
                </a:solidFill>
                <a:highlight>
                  <a:srgbClr val="FFFFFF"/>
                </a:highlight>
                <a:latin typeface="Consolas" panose="020B0609020204030204" pitchFamily="49" charset="0"/>
              </a:rPr>
              <a:t>currentIndex</a:t>
            </a:r>
            <a:r>
              <a:rPr lang="en-IN" sz="1050" dirty="0">
                <a:solidFill>
                  <a:srgbClr val="000000"/>
                </a:solidFill>
                <a:highlight>
                  <a:srgbClr val="FFFFFF"/>
                </a:highlight>
                <a:latin typeface="Consolas" panose="020B0609020204030204" pitchFamily="49" charset="0"/>
              </a:rPr>
              <a:t> = -1;</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bool</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MoveNext</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_</a:t>
            </a:r>
            <a:r>
              <a:rPr lang="en-IN" sz="1050" dirty="0" err="1">
                <a:solidFill>
                  <a:srgbClr val="000000"/>
                </a:solidFill>
                <a:highlight>
                  <a:srgbClr val="FFFFFF"/>
                </a:highlight>
                <a:latin typeface="Consolas" panose="020B0609020204030204" pitchFamily="49" charset="0"/>
              </a:rPr>
              <a:t>currentIndex</a:t>
            </a:r>
            <a:r>
              <a:rPr lang="en-IN" sz="1050" dirty="0">
                <a:solidFill>
                  <a:srgbClr val="000000"/>
                </a:solidFill>
                <a:highlight>
                  <a:srgbClr val="FFFFFF"/>
                </a:highlight>
                <a:latin typeface="Consolas" panose="020B0609020204030204" pitchFamily="49" charset="0"/>
              </a:rPr>
              <a:t>++;</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(_</a:t>
            </a:r>
            <a:r>
              <a:rPr lang="en-IN" sz="1050" dirty="0" err="1">
                <a:solidFill>
                  <a:srgbClr val="000000"/>
                </a:solidFill>
                <a:highlight>
                  <a:srgbClr val="FFFFFF"/>
                </a:highlight>
                <a:latin typeface="Consolas" panose="020B0609020204030204" pitchFamily="49" charset="0"/>
              </a:rPr>
              <a:t>currentIndex</a:t>
            </a:r>
            <a:r>
              <a:rPr lang="en-IN" sz="1050" dirty="0">
                <a:solidFill>
                  <a:srgbClr val="000000"/>
                </a:solidFill>
                <a:highlight>
                  <a:srgbClr val="FFFFFF"/>
                </a:highlight>
                <a:latin typeface="Consolas" panose="020B0609020204030204" pitchFamily="49" charset="0"/>
              </a:rPr>
              <a:t> &lt; _</a:t>
            </a:r>
            <a:r>
              <a:rPr lang="en-IN" sz="1050" dirty="0" err="1">
                <a:solidFill>
                  <a:srgbClr val="000000"/>
                </a:solidFill>
                <a:highlight>
                  <a:srgbClr val="FFFFFF"/>
                </a:highlight>
                <a:latin typeface="Consolas" panose="020B0609020204030204" pitchFamily="49" charset="0"/>
              </a:rPr>
              <a:t>objects.Length</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object</a:t>
            </a:r>
            <a:r>
              <a:rPr lang="en-IN" sz="1050" dirty="0">
                <a:solidFill>
                  <a:srgbClr val="000000"/>
                </a:solidFill>
                <a:highlight>
                  <a:srgbClr val="FFFFFF"/>
                </a:highlight>
                <a:latin typeface="Consolas" panose="020B0609020204030204" pitchFamily="49" charset="0"/>
              </a:rPr>
              <a:t> Current</a:t>
            </a:r>
          </a:p>
          <a:p>
            <a:pPr marL="0" indent="0">
              <a:spcBef>
                <a:spcPts val="0"/>
              </a:spcBef>
              <a:buNone/>
            </a:pPr>
            <a:r>
              <a:rPr lang="en-IN" sz="1050" dirty="0">
                <a:solidFill>
                  <a:srgbClr val="000000"/>
                </a:solidFill>
                <a:highlight>
                  <a:srgbClr val="FFFFFF"/>
                </a:highlight>
                <a:latin typeface="Consolas" panose="020B0609020204030204" pitchFamily="49" charset="0"/>
              </a:rPr>
              <a:t>            {         </a:t>
            </a:r>
            <a:r>
              <a:rPr lang="en-IN" sz="1050" dirty="0">
                <a:solidFill>
                  <a:srgbClr val="0000FF"/>
                </a:solidFill>
                <a:highlight>
                  <a:srgbClr val="FFFFFF"/>
                </a:highlight>
                <a:latin typeface="Consolas" panose="020B0609020204030204" pitchFamily="49" charset="0"/>
              </a:rPr>
              <a:t>get</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try</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_objects[_</a:t>
            </a:r>
            <a:r>
              <a:rPr lang="en-IN" sz="1050" dirty="0" err="1">
                <a:solidFill>
                  <a:srgbClr val="000000"/>
                </a:solidFill>
                <a:highlight>
                  <a:srgbClr val="FFFFFF"/>
                </a:highlight>
                <a:latin typeface="Consolas" panose="020B0609020204030204" pitchFamily="49" charset="0"/>
              </a:rPr>
              <a:t>currentIndex</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catch</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IndexOutOfRangeException</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            </a:t>
            </a:r>
            <a:r>
              <a:rPr lang="en-IN" sz="1050" dirty="0">
                <a:solidFill>
                  <a:srgbClr val="0000FF"/>
                </a:solidFill>
                <a:highlight>
                  <a:srgbClr val="FFFFFF"/>
                </a:highlight>
                <a:latin typeface="Consolas" panose="020B0609020204030204" pitchFamily="49" charset="0"/>
              </a:rPr>
              <a:t>throw</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new</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InvalidOperationException</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Reset()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_</a:t>
            </a:r>
            <a:r>
              <a:rPr lang="en-IN" sz="1050" dirty="0" err="1">
                <a:solidFill>
                  <a:srgbClr val="000000"/>
                </a:solidFill>
                <a:highlight>
                  <a:srgbClr val="FFFFFF"/>
                </a:highlight>
                <a:latin typeface="Consolas" panose="020B0609020204030204" pitchFamily="49" charset="0"/>
              </a:rPr>
              <a:t>currentIndex</a:t>
            </a:r>
            <a:r>
              <a:rPr lang="en-IN" sz="1050" dirty="0">
                <a:solidFill>
                  <a:srgbClr val="000000"/>
                </a:solidFill>
                <a:highlight>
                  <a:srgbClr val="FFFFFF"/>
                </a:highlight>
                <a:latin typeface="Consolas" panose="020B0609020204030204" pitchFamily="49" charset="0"/>
              </a:rPr>
              <a:t> = -1;</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Program</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static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void</a:t>
            </a:r>
            <a:r>
              <a:rPr lang="en-US" sz="1050" dirty="0">
                <a:solidFill>
                  <a:srgbClr val="000000"/>
                </a:solidFill>
                <a:highlight>
                  <a:srgbClr val="FFFFFF"/>
                </a:highlight>
                <a:latin typeface="Consolas" panose="020B0609020204030204" pitchFamily="49" charset="0"/>
              </a:rPr>
              <a:t> Main(</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args</a:t>
            </a:r>
            <a:r>
              <a:rPr lang="en-US"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Company</a:t>
            </a:r>
            <a:r>
              <a:rPr lang="en-IN" sz="1050" dirty="0">
                <a:solidFill>
                  <a:srgbClr val="000000"/>
                </a:solidFill>
                <a:highlight>
                  <a:srgbClr val="FFFFFF"/>
                </a:highlight>
                <a:latin typeface="Consolas" panose="020B0609020204030204" pitchFamily="49" charset="0"/>
              </a:rPr>
              <a:t> c = </a:t>
            </a:r>
            <a:r>
              <a:rPr lang="en-IN" sz="1050" dirty="0">
                <a:solidFill>
                  <a:srgbClr val="0000FF"/>
                </a:solidFill>
                <a:highlight>
                  <a:srgbClr val="FFFFFF"/>
                </a:highlight>
                <a:latin typeface="Consolas" panose="020B0609020204030204" pitchFamily="49" charset="0"/>
              </a:rPr>
              <a:t>new</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Company</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c.add</a:t>
            </a:r>
            <a:r>
              <a:rPr lang="en-US" sz="1050" dirty="0">
                <a:solidFill>
                  <a:srgbClr val="000000"/>
                </a:solidFill>
                <a:highlight>
                  <a:srgbClr val="FFFFFF"/>
                </a:highlight>
                <a:latin typeface="Consolas" panose="020B0609020204030204" pitchFamily="49" charset="0"/>
              </a:rPr>
              <a:t>(</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"Raj"</a:t>
            </a:r>
            <a:r>
              <a:rPr lang="en-US" sz="1050" dirty="0">
                <a:solidFill>
                  <a:srgbClr val="000000"/>
                </a:solidFill>
                <a:highlight>
                  <a:srgbClr val="FFFFFF"/>
                </a:highlight>
                <a:latin typeface="Consolas" panose="020B0609020204030204" pitchFamily="49" charset="0"/>
              </a:rPr>
              <a:t> });</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c.add</a:t>
            </a:r>
            <a:r>
              <a:rPr lang="en-US" sz="1050" dirty="0">
                <a:solidFill>
                  <a:srgbClr val="000000"/>
                </a:solidFill>
                <a:highlight>
                  <a:srgbClr val="FFFFFF"/>
                </a:highlight>
                <a:latin typeface="Consolas" panose="020B0609020204030204" pitchFamily="49" charset="0"/>
              </a:rPr>
              <a:t>(</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"Geeta"</a:t>
            </a:r>
            <a:r>
              <a:rPr lang="en-US" sz="1050" dirty="0">
                <a:solidFill>
                  <a:srgbClr val="000000"/>
                </a:solidFill>
                <a:highlight>
                  <a:srgbClr val="FFFFFF"/>
                </a:highlight>
                <a:latin typeface="Consolas" panose="020B0609020204030204" pitchFamily="49" charset="0"/>
              </a:rPr>
              <a:t> });</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sv-SE" sz="1050" dirty="0">
                <a:solidFill>
                  <a:srgbClr val="000000"/>
                </a:solidFill>
                <a:highlight>
                  <a:srgbClr val="FFFFFF"/>
                </a:highlight>
                <a:latin typeface="Consolas" panose="020B0609020204030204" pitchFamily="49" charset="0"/>
              </a:rPr>
              <a:t>            </a:t>
            </a:r>
            <a:r>
              <a:rPr lang="sv-SE" sz="1050" dirty="0">
                <a:solidFill>
                  <a:srgbClr val="0000FF"/>
                </a:solidFill>
                <a:highlight>
                  <a:srgbClr val="FFFFFF"/>
                </a:highlight>
                <a:latin typeface="Consolas" panose="020B0609020204030204" pitchFamily="49" charset="0"/>
              </a:rPr>
              <a:t>var</a:t>
            </a:r>
            <a:r>
              <a:rPr lang="sv-SE" sz="1050" dirty="0">
                <a:solidFill>
                  <a:srgbClr val="000000"/>
                </a:solidFill>
                <a:highlight>
                  <a:srgbClr val="FFFFFF"/>
                </a:highlight>
                <a:latin typeface="Consolas" panose="020B0609020204030204" pitchFamily="49" charset="0"/>
              </a:rPr>
              <a:t> enumerator = c.s.GetEnumerator();</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while</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enumerator.MoveNext</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a:t>
            </a:r>
            <a:r>
              <a:rPr lang="en-IN" sz="1050" dirty="0" err="1">
                <a:solidFill>
                  <a:srgbClr val="000000"/>
                </a:solidFill>
                <a:highlight>
                  <a:srgbClr val="FFFFFF"/>
                </a:highlight>
                <a:latin typeface="Consolas" panose="020B0609020204030204" pitchFamily="49" charset="0"/>
              </a:rPr>
              <a:t>enumerator.Current</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a:t>
            </a:r>
          </a:p>
        </p:txBody>
      </p:sp>
    </p:spTree>
    <p:extLst>
      <p:ext uri="{BB962C8B-B14F-4D97-AF65-F5344CB8AC3E}">
        <p14:creationId xmlns:p14="http://schemas.microsoft.com/office/powerpoint/2010/main" val="3314051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85207B-DDF2-CF97-F09A-39949D3D7FA4}"/>
              </a:ext>
            </a:extLst>
          </p:cNvPr>
          <p:cNvSpPr txBox="1"/>
          <p:nvPr/>
        </p:nvSpPr>
        <p:spPr>
          <a:xfrm>
            <a:off x="-33867" y="476705"/>
            <a:ext cx="6053667" cy="6370975"/>
          </a:xfrm>
          <a:prstGeom prst="rect">
            <a:avLst/>
          </a:prstGeom>
          <a:noFill/>
        </p:spPr>
        <p:txBody>
          <a:bodyPr wrap="square">
            <a:spAutoFit/>
          </a:bodyPr>
          <a:lstStyle/>
          <a:p>
            <a:r>
              <a:rPr lang="en-IN" sz="1200" dirty="0">
                <a:solidFill>
                  <a:srgbClr val="0000FF"/>
                </a:solidFill>
                <a:highlight>
                  <a:srgbClr val="FFFFFF"/>
                </a:highlight>
                <a:latin typeface="Cascadia Mono" panose="020B0609020000020004" pitchFamily="49" charset="0"/>
              </a:rPr>
              <a:t>using</a:t>
            </a:r>
            <a:r>
              <a:rPr lang="en-IN" sz="1200" dirty="0">
                <a:solidFill>
                  <a:srgbClr val="000000"/>
                </a:solidFill>
                <a:highlight>
                  <a:srgbClr val="FFFFFF"/>
                </a:highlight>
                <a:latin typeface="Cascadia Mono" panose="020B0609020000020004" pitchFamily="49" charset="0"/>
              </a:rPr>
              <a:t> System;</a:t>
            </a:r>
          </a:p>
          <a:p>
            <a:r>
              <a:rPr lang="en-IN" sz="1200" dirty="0">
                <a:solidFill>
                  <a:srgbClr val="0000FF"/>
                </a:solidFill>
                <a:highlight>
                  <a:srgbClr val="FFFFFF"/>
                </a:highlight>
                <a:latin typeface="Cascadia Mono" panose="020B0609020000020004" pitchFamily="49" charset="0"/>
              </a:rPr>
              <a:t>using</a:t>
            </a:r>
            <a:r>
              <a:rPr lang="en-IN" sz="1200" dirty="0">
                <a:solidFill>
                  <a:srgbClr val="000000"/>
                </a:solidFill>
                <a:highlight>
                  <a:srgbClr val="FFFFFF"/>
                </a:highlight>
                <a:latin typeface="Cascadia Mono" panose="020B0609020000020004" pitchFamily="49" charset="0"/>
              </a:rPr>
              <a:t> </a:t>
            </a:r>
            <a:r>
              <a:rPr lang="en-IN" sz="1200" dirty="0" err="1">
                <a:solidFill>
                  <a:srgbClr val="000000"/>
                </a:solidFill>
                <a:highlight>
                  <a:srgbClr val="FFFFFF"/>
                </a:highlight>
                <a:latin typeface="Cascadia Mono" panose="020B0609020000020004" pitchFamily="49" charset="0"/>
              </a:rPr>
              <a:t>System.Collections.Generic</a:t>
            </a:r>
            <a:r>
              <a:rPr lang="en-IN" sz="1200" dirty="0">
                <a:solidFill>
                  <a:srgbClr val="000000"/>
                </a:solidFill>
                <a:highlight>
                  <a:srgbClr val="FFFFFF"/>
                </a:highlight>
                <a:latin typeface="Cascadia Mono" panose="020B0609020000020004" pitchFamily="49" charset="0"/>
              </a:rPr>
              <a:t>;</a:t>
            </a:r>
          </a:p>
          <a:p>
            <a:endParaRPr lang="en-IN" sz="1200" dirty="0">
              <a:solidFill>
                <a:srgbClr val="000000"/>
              </a:solidFill>
              <a:highlight>
                <a:srgbClr val="FFFFFF"/>
              </a:highlight>
              <a:latin typeface="Cascadia Mono" panose="020B0609020000020004" pitchFamily="49" charset="0"/>
            </a:endParaRPr>
          </a:p>
          <a:p>
            <a:r>
              <a:rPr lang="en-IN" sz="1200" dirty="0">
                <a:solidFill>
                  <a:srgbClr val="0000FF"/>
                </a:solidFill>
                <a:highlight>
                  <a:srgbClr val="FFFFFF"/>
                </a:highlight>
                <a:latin typeface="Cascadia Mono" panose="020B0609020000020004" pitchFamily="49" charset="0"/>
              </a:rPr>
              <a:t>class</a:t>
            </a:r>
            <a:r>
              <a:rPr lang="en-IN" sz="1200" dirty="0">
                <a:solidFill>
                  <a:srgbClr val="000000"/>
                </a:solidFill>
                <a:highlight>
                  <a:srgbClr val="FFFFFF"/>
                </a:highlight>
                <a:latin typeface="Cascadia Mono" panose="020B0609020000020004" pitchFamily="49" charset="0"/>
              </a:rPr>
              <a:t> </a:t>
            </a:r>
            <a:r>
              <a:rPr lang="en-IN" sz="1200" dirty="0" err="1">
                <a:solidFill>
                  <a:srgbClr val="2B91AF"/>
                </a:solidFill>
                <a:highlight>
                  <a:srgbClr val="FFFFFF"/>
                </a:highlight>
                <a:latin typeface="Cascadia Mono" panose="020B0609020000020004" pitchFamily="49" charset="0"/>
              </a:rPr>
              <a:t>CountOccurrence</a:t>
            </a:r>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static</a:t>
            </a:r>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void</a:t>
            </a:r>
            <a:r>
              <a:rPr lang="en-IN" sz="1200" dirty="0">
                <a:solidFill>
                  <a:srgbClr val="000000"/>
                </a:solidFill>
                <a:highlight>
                  <a:srgbClr val="FFFFFF"/>
                </a:highlight>
                <a:latin typeface="Cascadia Mono" panose="020B0609020000020004" pitchFamily="49" charset="0"/>
              </a:rPr>
              <a:t> Main()</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008000"/>
                </a:solidFill>
                <a:highlight>
                  <a:srgbClr val="FFFFFF"/>
                </a:highlight>
                <a:latin typeface="Cascadia Mono" panose="020B0609020000020004" pitchFamily="49" charset="0"/>
              </a:rPr>
              <a:t>// Input array</a:t>
            </a:r>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string</a:t>
            </a:r>
            <a:r>
              <a:rPr lang="en-IN" sz="1200" dirty="0">
                <a:solidFill>
                  <a:srgbClr val="000000"/>
                </a:solidFill>
                <a:highlight>
                  <a:srgbClr val="FFFFFF"/>
                </a:highlight>
                <a:latin typeface="Cascadia Mono" panose="020B0609020000020004" pitchFamily="49" charset="0"/>
              </a:rPr>
              <a:t>[] </a:t>
            </a:r>
            <a:r>
              <a:rPr lang="en-IN" sz="1200" dirty="0" err="1">
                <a:solidFill>
                  <a:srgbClr val="000000"/>
                </a:solidFill>
                <a:highlight>
                  <a:srgbClr val="FFFFFF"/>
                </a:highlight>
                <a:latin typeface="Cascadia Mono" panose="020B0609020000020004" pitchFamily="49" charset="0"/>
              </a:rPr>
              <a:t>arr</a:t>
            </a:r>
            <a:r>
              <a:rPr lang="en-IN" sz="1200" dirty="0">
                <a:solidFill>
                  <a:srgbClr val="000000"/>
                </a:solidFill>
                <a:highlight>
                  <a:srgbClr val="FFFFFF"/>
                </a:highlight>
                <a:latin typeface="Cascadia Mono" panose="020B0609020000020004" pitchFamily="49" charset="0"/>
              </a:rPr>
              <a:t> = { </a:t>
            </a:r>
            <a:r>
              <a:rPr lang="en-IN" sz="1200" dirty="0">
                <a:solidFill>
                  <a:srgbClr val="A31515"/>
                </a:solidFill>
                <a:highlight>
                  <a:srgbClr val="FFFFFF"/>
                </a:highlight>
                <a:latin typeface="Cascadia Mono" panose="020B0609020000020004" pitchFamily="49" charset="0"/>
              </a:rPr>
              <a:t>"A"</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"B"</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"C"</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"D"</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"E"</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"F"</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"F"</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"G"</a:t>
            </a:r>
            <a:r>
              <a:rPr lang="en-IN" sz="1200" dirty="0">
                <a:solidFill>
                  <a:srgbClr val="000000"/>
                </a:solidFill>
                <a:highlight>
                  <a:srgbClr val="FFFFFF"/>
                </a:highlight>
                <a:latin typeface="Cascadia Mono" panose="020B0609020000020004" pitchFamily="49" charset="0"/>
              </a:rPr>
              <a:t>, </a:t>
            </a:r>
            <a:r>
              <a:rPr lang="en-IN" sz="1200" dirty="0">
                <a:solidFill>
                  <a:srgbClr val="A31515"/>
                </a:solidFill>
                <a:highlight>
                  <a:srgbClr val="FFFFFF"/>
                </a:highlight>
                <a:latin typeface="Cascadia Mono" panose="020B0609020000020004" pitchFamily="49" charset="0"/>
              </a:rPr>
              <a:t>"A"</a:t>
            </a:r>
            <a:r>
              <a:rPr lang="en-IN" sz="1200" dirty="0">
                <a:solidFill>
                  <a:srgbClr val="000000"/>
                </a:solidFill>
                <a:highlight>
                  <a:srgbClr val="FFFFFF"/>
                </a:highlight>
                <a:latin typeface="Cascadia Mono" panose="020B0609020000020004" pitchFamily="49" charset="0"/>
              </a:rPr>
              <a:t> };</a:t>
            </a:r>
          </a:p>
          <a:p>
            <a:endParaRPr lang="en-IN"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r>
              <a:rPr lang="en-US" sz="1200" dirty="0">
                <a:solidFill>
                  <a:srgbClr val="008000"/>
                </a:solidFill>
                <a:highlight>
                  <a:srgbClr val="FFFFFF"/>
                </a:highlight>
                <a:latin typeface="Cascadia Mono" panose="020B0609020000020004" pitchFamily="49" charset="0"/>
              </a:rPr>
              <a:t>// Step 1: Build frequency dictionary (O(n))</a:t>
            </a:r>
            <a:endParaRPr lang="en-US" sz="1200" dirty="0">
              <a:solidFill>
                <a:srgbClr val="000000"/>
              </a:solidFill>
              <a:highlight>
                <a:srgbClr val="FFFFFF"/>
              </a:highlight>
              <a:latin typeface="Cascadia Mono" panose="020B0609020000020004" pitchFamily="49" charset="0"/>
            </a:endParaRPr>
          </a:p>
          <a:p>
            <a:r>
              <a:rPr lang="en-US" sz="1200" dirty="0">
                <a:solidFill>
                  <a:srgbClr val="2B91AF"/>
                </a:solidFill>
                <a:highlight>
                  <a:srgbClr val="FFFFFF"/>
                </a:highlight>
                <a:latin typeface="Cascadia Mono" panose="020B0609020000020004" pitchFamily="49" charset="0"/>
              </a:rPr>
              <a:t>Dictionary</a:t>
            </a:r>
            <a:r>
              <a:rPr lang="en-US" sz="1200" dirty="0">
                <a:solidFill>
                  <a:srgbClr val="000000"/>
                </a:solidFill>
                <a:highlight>
                  <a:srgbClr val="FFFFFF"/>
                </a:highlight>
                <a:latin typeface="Cascadia Mono" panose="020B0609020000020004" pitchFamily="49" charset="0"/>
              </a:rPr>
              <a:t>&lt;</a:t>
            </a:r>
            <a:r>
              <a:rPr lang="en-US" sz="1200" dirty="0">
                <a:solidFill>
                  <a:srgbClr val="0000FF"/>
                </a:solidFill>
                <a:highlight>
                  <a:srgbClr val="FFFFFF"/>
                </a:highlight>
                <a:latin typeface="Cascadia Mono" panose="020B0609020000020004" pitchFamily="49" charset="0"/>
              </a:rPr>
              <a:t>string</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&gt; </a:t>
            </a:r>
            <a:r>
              <a:rPr lang="en-US" sz="1200" dirty="0" err="1">
                <a:solidFill>
                  <a:srgbClr val="000000"/>
                </a:solidFill>
                <a:highlight>
                  <a:srgbClr val="FFFFFF"/>
                </a:highlight>
                <a:latin typeface="Cascadia Mono" panose="020B0609020000020004" pitchFamily="49" charset="0"/>
              </a:rPr>
              <a:t>freqMap</a:t>
            </a:r>
            <a:r>
              <a:rPr lang="en-US" sz="1200" dirty="0">
                <a:solidFill>
                  <a:srgbClr val="000000"/>
                </a:solidFill>
                <a:highlight>
                  <a:srgbClr val="FFFFFF"/>
                </a:highlight>
                <a:latin typeface="Cascadia Mono" panose="020B0609020000020004" pitchFamily="49" charset="0"/>
              </a:rPr>
              <a:t> = </a:t>
            </a:r>
            <a:r>
              <a:rPr lang="en-US" sz="1200" dirty="0">
                <a:solidFill>
                  <a:srgbClr val="0000FF"/>
                </a:solidFill>
                <a:highlight>
                  <a:srgbClr val="FFFFFF"/>
                </a:highlight>
                <a:latin typeface="Cascadia Mono" panose="020B0609020000020004" pitchFamily="49" charset="0"/>
              </a:rPr>
              <a:t>new</a:t>
            </a:r>
            <a:r>
              <a:rPr lang="en-US" sz="1200" dirty="0">
                <a:solidFill>
                  <a:srgbClr val="000000"/>
                </a:solidFill>
                <a:highlight>
                  <a:srgbClr val="FFFFFF"/>
                </a:highlight>
                <a:latin typeface="Cascadia Mono" panose="020B0609020000020004" pitchFamily="49" charset="0"/>
              </a:rPr>
              <a:t> </a:t>
            </a:r>
            <a:r>
              <a:rPr lang="en-US" sz="1200" dirty="0">
                <a:solidFill>
                  <a:srgbClr val="2B91AF"/>
                </a:solidFill>
                <a:highlight>
                  <a:srgbClr val="FFFFFF"/>
                </a:highlight>
                <a:latin typeface="Cascadia Mono" panose="020B0609020000020004" pitchFamily="49" charset="0"/>
              </a:rPr>
              <a:t>Dictionary</a:t>
            </a:r>
            <a:r>
              <a:rPr lang="en-US" sz="1200" dirty="0">
                <a:solidFill>
                  <a:srgbClr val="000000"/>
                </a:solidFill>
                <a:highlight>
                  <a:srgbClr val="FFFFFF"/>
                </a:highlight>
                <a:latin typeface="Cascadia Mono" panose="020B0609020000020004" pitchFamily="49" charset="0"/>
              </a:rPr>
              <a:t>&lt;</a:t>
            </a:r>
            <a:r>
              <a:rPr lang="en-US" sz="1200" dirty="0">
                <a:solidFill>
                  <a:srgbClr val="0000FF"/>
                </a:solidFill>
                <a:highlight>
                  <a:srgbClr val="FFFFFF"/>
                </a:highlight>
                <a:latin typeface="Cascadia Mono" panose="020B0609020000020004" pitchFamily="49" charset="0"/>
              </a:rPr>
              <a:t>string</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&gt;();</a:t>
            </a:r>
          </a:p>
          <a:p>
            <a:endParaRPr lang="en-IN"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foreach</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string</a:t>
            </a:r>
            <a:r>
              <a:rPr lang="en-US" sz="1200" dirty="0">
                <a:solidFill>
                  <a:srgbClr val="000000"/>
                </a:solidFill>
                <a:highlight>
                  <a:srgbClr val="FFFFFF"/>
                </a:highlight>
                <a:latin typeface="Cascadia Mono" panose="020B0609020000020004" pitchFamily="49" charset="0"/>
              </a:rPr>
              <a:t> item </a:t>
            </a:r>
            <a:r>
              <a:rPr lang="en-US" sz="1200" dirty="0">
                <a:solidFill>
                  <a:srgbClr val="0000FF"/>
                </a:solidFill>
                <a:highlight>
                  <a:srgbClr val="FFFFFF"/>
                </a:highlight>
                <a:latin typeface="Cascadia Mono" panose="020B0609020000020004" pitchFamily="49" charset="0"/>
              </a:rPr>
              <a:t>in</a:t>
            </a:r>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arr</a:t>
            </a:r>
            <a:r>
              <a:rPr lang="en-US"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 //if key found then increment it’s value</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if</a:t>
            </a:r>
            <a:r>
              <a:rPr lang="en-IN" sz="1200" dirty="0">
                <a:solidFill>
                  <a:srgbClr val="000000"/>
                </a:solidFill>
                <a:highlight>
                  <a:srgbClr val="FFFFFF"/>
                </a:highlight>
                <a:latin typeface="Cascadia Mono" panose="020B0609020000020004" pitchFamily="49" charset="0"/>
              </a:rPr>
              <a:t> (</a:t>
            </a:r>
            <a:r>
              <a:rPr lang="en-IN" sz="1200" dirty="0" err="1">
                <a:solidFill>
                  <a:srgbClr val="000000"/>
                </a:solidFill>
                <a:highlight>
                  <a:srgbClr val="FFFFFF"/>
                </a:highlight>
                <a:latin typeface="Cascadia Mono" panose="020B0609020000020004" pitchFamily="49" charset="0"/>
              </a:rPr>
              <a:t>freqMap.ContainsKey</a:t>
            </a:r>
            <a:r>
              <a:rPr lang="en-IN" sz="1200" dirty="0">
                <a:solidFill>
                  <a:srgbClr val="000000"/>
                </a:solidFill>
                <a:highlight>
                  <a:srgbClr val="FFFFFF"/>
                </a:highlight>
                <a:latin typeface="Cascadia Mono" panose="020B0609020000020004" pitchFamily="49" charset="0"/>
              </a:rPr>
              <a:t>(item))</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//reading value at key and increment it.</a:t>
            </a:r>
          </a:p>
          <a:p>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freqMap</a:t>
            </a:r>
            <a:r>
              <a:rPr lang="en-US" sz="1200" dirty="0">
                <a:solidFill>
                  <a:srgbClr val="000000"/>
                </a:solidFill>
                <a:highlight>
                  <a:srgbClr val="FFFFFF"/>
                </a:highlight>
                <a:latin typeface="Cascadia Mono" panose="020B0609020000020004" pitchFamily="49" charset="0"/>
              </a:rPr>
              <a:t>[item]=</a:t>
            </a:r>
            <a:r>
              <a:rPr lang="en-US" sz="1200" dirty="0" err="1">
                <a:solidFill>
                  <a:srgbClr val="000000"/>
                </a:solidFill>
                <a:highlight>
                  <a:srgbClr val="FFFFFF"/>
                </a:highlight>
                <a:latin typeface="Cascadia Mono" panose="020B0609020000020004" pitchFamily="49" charset="0"/>
              </a:rPr>
              <a:t>freqMap</a:t>
            </a:r>
            <a:r>
              <a:rPr lang="en-US" sz="1200" dirty="0">
                <a:solidFill>
                  <a:srgbClr val="000000"/>
                </a:solidFill>
                <a:highlight>
                  <a:srgbClr val="FFFFFF"/>
                </a:highlight>
                <a:latin typeface="Cascadia Mono" panose="020B0609020000020004" pitchFamily="49" charset="0"/>
              </a:rPr>
              <a:t>[item]+1;</a:t>
            </a:r>
          </a:p>
          <a:p>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freqMap</a:t>
            </a:r>
            <a:r>
              <a:rPr lang="en-US" sz="1200" dirty="0">
                <a:solidFill>
                  <a:srgbClr val="000000"/>
                </a:solidFill>
                <a:highlight>
                  <a:srgbClr val="FFFFFF"/>
                </a:highlight>
                <a:latin typeface="Cascadia Mono" panose="020B0609020000020004" pitchFamily="49" charset="0"/>
              </a:rPr>
              <a:t>[item]++;  </a:t>
            </a:r>
            <a:r>
              <a:rPr lang="en-US" sz="1200" dirty="0">
                <a:solidFill>
                  <a:srgbClr val="008000"/>
                </a:solidFill>
                <a:highlight>
                  <a:srgbClr val="FFFFFF"/>
                </a:highlight>
                <a:latin typeface="Cascadia Mono" panose="020B0609020000020004" pitchFamily="49" charset="0"/>
              </a:rPr>
              <a:t>// If already present, increment</a:t>
            </a:r>
            <a:endParaRPr lang="en-US"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//else set vale 1</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else</a:t>
            </a:r>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//setting value at key</a:t>
            </a:r>
          </a:p>
          <a:p>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freqMap</a:t>
            </a:r>
            <a:r>
              <a:rPr lang="en-US" sz="1200" dirty="0">
                <a:solidFill>
                  <a:srgbClr val="000000"/>
                </a:solidFill>
                <a:highlight>
                  <a:srgbClr val="FFFFFF"/>
                </a:highlight>
                <a:latin typeface="Cascadia Mono" panose="020B0609020000020004" pitchFamily="49" charset="0"/>
              </a:rPr>
              <a:t>[item] = 1; </a:t>
            </a:r>
            <a:r>
              <a:rPr lang="en-US" sz="1200" dirty="0">
                <a:solidFill>
                  <a:srgbClr val="008000"/>
                </a:solidFill>
                <a:highlight>
                  <a:srgbClr val="FFFFFF"/>
                </a:highlight>
                <a:latin typeface="Cascadia Mono" panose="020B0609020000020004" pitchFamily="49" charset="0"/>
              </a:rPr>
              <a:t>// If not present, add with count 1</a:t>
            </a:r>
            <a:endParaRPr lang="en-US"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p>
          <a:p>
            <a:endParaRPr lang="en-IN"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r>
              <a:rPr lang="en-US" sz="1200" dirty="0">
                <a:solidFill>
                  <a:srgbClr val="008000"/>
                </a:solidFill>
                <a:highlight>
                  <a:srgbClr val="FFFFFF"/>
                </a:highlight>
                <a:latin typeface="Cascadia Mono" panose="020B0609020000020004" pitchFamily="49" charset="0"/>
              </a:rPr>
              <a:t>// Step 2: Query in O(1)</a:t>
            </a:r>
            <a:endParaRPr lang="en-US"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r>
              <a:rPr lang="en-US" sz="1200" dirty="0" err="1">
                <a:solidFill>
                  <a:srgbClr val="2B91AF"/>
                </a:solidFill>
                <a:highlight>
                  <a:srgbClr val="FFFFFF"/>
                </a:highlight>
                <a:latin typeface="Cascadia Mono" panose="020B0609020000020004" pitchFamily="49" charset="0"/>
              </a:rPr>
              <a:t>Console</a:t>
            </a:r>
            <a:r>
              <a:rPr lang="en-US" sz="1200" dirty="0" err="1">
                <a:solidFill>
                  <a:srgbClr val="000000"/>
                </a:solidFill>
                <a:highlight>
                  <a:srgbClr val="FFFFFF"/>
                </a:highlight>
                <a:latin typeface="Cascadia Mono" panose="020B0609020000020004" pitchFamily="49" charset="0"/>
              </a:rPr>
              <a:t>.WriteLine</a:t>
            </a:r>
            <a:r>
              <a:rPr lang="en-US" sz="1200" dirty="0">
                <a:solidFill>
                  <a:srgbClr val="000000"/>
                </a:solidFill>
                <a:highlight>
                  <a:srgbClr val="FFFFFF"/>
                </a:highlight>
                <a:latin typeface="Cascadia Mono" panose="020B0609020000020004" pitchFamily="49" charset="0"/>
              </a:rPr>
              <a:t>(</a:t>
            </a:r>
            <a:r>
              <a:rPr lang="en-US" sz="1200" dirty="0">
                <a:solidFill>
                  <a:srgbClr val="A31515"/>
                </a:solidFill>
                <a:highlight>
                  <a:srgbClr val="FFFFFF"/>
                </a:highlight>
                <a:latin typeface="Cascadia Mono" panose="020B0609020000020004" pitchFamily="49" charset="0"/>
              </a:rPr>
              <a:t>"Count of A: "</a:t>
            </a:r>
            <a:r>
              <a:rPr lang="en-US" sz="1200" dirty="0">
                <a:solidFill>
                  <a:srgbClr val="000000"/>
                </a:solidFill>
                <a:highlight>
                  <a:srgbClr val="FFFFFF"/>
                </a:highlight>
                <a:latin typeface="Cascadia Mono" panose="020B0609020000020004" pitchFamily="49" charset="0"/>
              </a:rPr>
              <a:t> + </a:t>
            </a:r>
            <a:r>
              <a:rPr lang="en-US" sz="1200" dirty="0" err="1">
                <a:solidFill>
                  <a:srgbClr val="000000"/>
                </a:solidFill>
                <a:highlight>
                  <a:srgbClr val="FFFFFF"/>
                </a:highlight>
                <a:latin typeface="Cascadia Mono" panose="020B0609020000020004" pitchFamily="49" charset="0"/>
              </a:rPr>
              <a:t>freqMap</a:t>
            </a:r>
            <a:r>
              <a:rPr lang="en-US" sz="1200" dirty="0">
                <a:solidFill>
                  <a:srgbClr val="000000"/>
                </a:solidFill>
                <a:highlight>
                  <a:srgbClr val="FFFFFF"/>
                </a:highlight>
                <a:latin typeface="Cascadia Mono" panose="020B0609020000020004" pitchFamily="49" charset="0"/>
              </a:rPr>
              <a:t>[</a:t>
            </a:r>
            <a:r>
              <a:rPr lang="en-US" sz="1200" dirty="0">
                <a:solidFill>
                  <a:srgbClr val="A31515"/>
                </a:solidFill>
                <a:highlight>
                  <a:srgbClr val="FFFFFF"/>
                </a:highlight>
                <a:latin typeface="Cascadia Mono" panose="020B0609020000020004" pitchFamily="49" charset="0"/>
              </a:rPr>
              <a:t>"A"</a:t>
            </a:r>
            <a:r>
              <a:rPr lang="en-US"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a:t>
            </a:r>
          </a:p>
          <a:p>
            <a:endParaRPr lang="en-US" sz="1200" dirty="0"/>
          </a:p>
        </p:txBody>
      </p:sp>
      <p:graphicFrame>
        <p:nvGraphicFramePr>
          <p:cNvPr id="8" name="Table 7">
            <a:extLst>
              <a:ext uri="{FF2B5EF4-FFF2-40B4-BE49-F238E27FC236}">
                <a16:creationId xmlns:a16="http://schemas.microsoft.com/office/drawing/2014/main" id="{3C024E93-4EFB-4604-CF30-DA7992E0E1EF}"/>
              </a:ext>
            </a:extLst>
          </p:cNvPr>
          <p:cNvGraphicFramePr>
            <a:graphicFrameLocks noGrp="1"/>
          </p:cNvGraphicFramePr>
          <p:nvPr>
            <p:extLst>
              <p:ext uri="{D42A27DB-BD31-4B8C-83A1-F6EECF244321}">
                <p14:modId xmlns:p14="http://schemas.microsoft.com/office/powerpoint/2010/main" val="1496547968"/>
              </p:ext>
            </p:extLst>
          </p:nvPr>
        </p:nvGraphicFramePr>
        <p:xfrm>
          <a:off x="6096000" y="2199152"/>
          <a:ext cx="2743200" cy="29260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964627815"/>
                    </a:ext>
                  </a:extLst>
                </a:gridCol>
                <a:gridCol w="1371600">
                  <a:extLst>
                    <a:ext uri="{9D8B030D-6E8A-4147-A177-3AD203B41FA5}">
                      <a16:colId xmlns:a16="http://schemas.microsoft.com/office/drawing/2014/main" val="2418450007"/>
                    </a:ext>
                  </a:extLst>
                </a:gridCol>
              </a:tblGrid>
              <a:tr h="330200">
                <a:tc>
                  <a:txBody>
                    <a:bodyPr/>
                    <a:lstStyle/>
                    <a:p>
                      <a:r>
                        <a:rPr lang="en-IN" dirty="0"/>
                        <a:t>Key</a:t>
                      </a:r>
                    </a:p>
                  </a:txBody>
                  <a:tcPr/>
                </a:tc>
                <a:tc>
                  <a:txBody>
                    <a:bodyPr/>
                    <a:lstStyle/>
                    <a:p>
                      <a:r>
                        <a:rPr lang="en-IN" dirty="0"/>
                        <a:t>Value</a:t>
                      </a:r>
                    </a:p>
                  </a:txBody>
                  <a:tcPr/>
                </a:tc>
                <a:extLst>
                  <a:ext uri="{0D108BD9-81ED-4DB2-BD59-A6C34878D82A}">
                    <a16:rowId xmlns:a16="http://schemas.microsoft.com/office/drawing/2014/main" val="3948603907"/>
                  </a:ext>
                </a:extLst>
              </a:tr>
              <a:tr h="330200">
                <a:tc>
                  <a:txBody>
                    <a:bodyPr/>
                    <a:lstStyle/>
                    <a:p>
                      <a:r>
                        <a:rPr lang="en-IN" dirty="0"/>
                        <a:t>A</a:t>
                      </a:r>
                    </a:p>
                  </a:txBody>
                  <a:tcPr/>
                </a:tc>
                <a:tc>
                  <a:txBody>
                    <a:bodyPr/>
                    <a:lstStyle/>
                    <a:p>
                      <a:r>
                        <a:rPr lang="en-IN" dirty="0"/>
                        <a:t>2</a:t>
                      </a:r>
                    </a:p>
                  </a:txBody>
                  <a:tcPr/>
                </a:tc>
                <a:extLst>
                  <a:ext uri="{0D108BD9-81ED-4DB2-BD59-A6C34878D82A}">
                    <a16:rowId xmlns:a16="http://schemas.microsoft.com/office/drawing/2014/main" val="2836836253"/>
                  </a:ext>
                </a:extLst>
              </a:tr>
              <a:tr h="330200">
                <a:tc>
                  <a:txBody>
                    <a:bodyPr/>
                    <a:lstStyle/>
                    <a:p>
                      <a:r>
                        <a:rPr lang="en-IN" dirty="0"/>
                        <a:t>B</a:t>
                      </a:r>
                    </a:p>
                  </a:txBody>
                  <a:tcPr/>
                </a:tc>
                <a:tc>
                  <a:txBody>
                    <a:bodyPr/>
                    <a:lstStyle/>
                    <a:p>
                      <a:r>
                        <a:rPr lang="en-IN" dirty="0"/>
                        <a:t>1</a:t>
                      </a:r>
                    </a:p>
                  </a:txBody>
                  <a:tcPr/>
                </a:tc>
                <a:extLst>
                  <a:ext uri="{0D108BD9-81ED-4DB2-BD59-A6C34878D82A}">
                    <a16:rowId xmlns:a16="http://schemas.microsoft.com/office/drawing/2014/main" val="4159706789"/>
                  </a:ext>
                </a:extLst>
              </a:tr>
              <a:tr h="330200">
                <a:tc>
                  <a:txBody>
                    <a:bodyPr/>
                    <a:lstStyle/>
                    <a:p>
                      <a:r>
                        <a:rPr lang="en-IN" dirty="0"/>
                        <a:t>C</a:t>
                      </a:r>
                    </a:p>
                  </a:txBody>
                  <a:tcPr/>
                </a:tc>
                <a:tc>
                  <a:txBody>
                    <a:bodyPr/>
                    <a:lstStyle/>
                    <a:p>
                      <a:r>
                        <a:rPr lang="en-IN" dirty="0"/>
                        <a:t>1</a:t>
                      </a:r>
                    </a:p>
                  </a:txBody>
                  <a:tcPr/>
                </a:tc>
                <a:extLst>
                  <a:ext uri="{0D108BD9-81ED-4DB2-BD59-A6C34878D82A}">
                    <a16:rowId xmlns:a16="http://schemas.microsoft.com/office/drawing/2014/main" val="2217716852"/>
                  </a:ext>
                </a:extLst>
              </a:tr>
              <a:tr h="330200">
                <a:tc>
                  <a:txBody>
                    <a:bodyPr/>
                    <a:lstStyle/>
                    <a:p>
                      <a:r>
                        <a:rPr lang="en-IN" dirty="0"/>
                        <a:t>D</a:t>
                      </a:r>
                    </a:p>
                  </a:txBody>
                  <a:tcPr/>
                </a:tc>
                <a:tc>
                  <a:txBody>
                    <a:bodyPr/>
                    <a:lstStyle/>
                    <a:p>
                      <a:r>
                        <a:rPr lang="en-IN" dirty="0"/>
                        <a:t>1</a:t>
                      </a:r>
                    </a:p>
                  </a:txBody>
                  <a:tcPr/>
                </a:tc>
                <a:extLst>
                  <a:ext uri="{0D108BD9-81ED-4DB2-BD59-A6C34878D82A}">
                    <a16:rowId xmlns:a16="http://schemas.microsoft.com/office/drawing/2014/main" val="1295546478"/>
                  </a:ext>
                </a:extLst>
              </a:tr>
              <a:tr h="330200">
                <a:tc>
                  <a:txBody>
                    <a:bodyPr/>
                    <a:lstStyle/>
                    <a:p>
                      <a:r>
                        <a:rPr lang="en-IN" dirty="0"/>
                        <a:t>E</a:t>
                      </a:r>
                    </a:p>
                  </a:txBody>
                  <a:tcPr/>
                </a:tc>
                <a:tc>
                  <a:txBody>
                    <a:bodyPr/>
                    <a:lstStyle/>
                    <a:p>
                      <a:r>
                        <a:rPr lang="en-IN" dirty="0"/>
                        <a:t>1</a:t>
                      </a:r>
                    </a:p>
                  </a:txBody>
                  <a:tcPr/>
                </a:tc>
                <a:extLst>
                  <a:ext uri="{0D108BD9-81ED-4DB2-BD59-A6C34878D82A}">
                    <a16:rowId xmlns:a16="http://schemas.microsoft.com/office/drawing/2014/main" val="3314819471"/>
                  </a:ext>
                </a:extLst>
              </a:tr>
              <a:tr h="330200">
                <a:tc>
                  <a:txBody>
                    <a:bodyPr/>
                    <a:lstStyle/>
                    <a:p>
                      <a:r>
                        <a:rPr lang="en-IN" dirty="0"/>
                        <a:t>F</a:t>
                      </a:r>
                    </a:p>
                  </a:txBody>
                  <a:tcPr/>
                </a:tc>
                <a:tc>
                  <a:txBody>
                    <a:bodyPr/>
                    <a:lstStyle/>
                    <a:p>
                      <a:r>
                        <a:rPr lang="en-IN" dirty="0"/>
                        <a:t>2</a:t>
                      </a:r>
                    </a:p>
                  </a:txBody>
                  <a:tcPr/>
                </a:tc>
                <a:extLst>
                  <a:ext uri="{0D108BD9-81ED-4DB2-BD59-A6C34878D82A}">
                    <a16:rowId xmlns:a16="http://schemas.microsoft.com/office/drawing/2014/main" val="2168655317"/>
                  </a:ext>
                </a:extLst>
              </a:tr>
              <a:tr h="330200">
                <a:tc>
                  <a:txBody>
                    <a:bodyPr/>
                    <a:lstStyle/>
                    <a:p>
                      <a:r>
                        <a:rPr lang="en-IN" dirty="0"/>
                        <a:t>G</a:t>
                      </a:r>
                    </a:p>
                  </a:txBody>
                  <a:tcPr/>
                </a:tc>
                <a:tc>
                  <a:txBody>
                    <a:bodyPr/>
                    <a:lstStyle/>
                    <a:p>
                      <a:r>
                        <a:rPr lang="en-IN" dirty="0"/>
                        <a:t>1</a:t>
                      </a:r>
                    </a:p>
                  </a:txBody>
                  <a:tcPr/>
                </a:tc>
                <a:extLst>
                  <a:ext uri="{0D108BD9-81ED-4DB2-BD59-A6C34878D82A}">
                    <a16:rowId xmlns:a16="http://schemas.microsoft.com/office/drawing/2014/main" val="738848652"/>
                  </a:ext>
                </a:extLst>
              </a:tr>
            </a:tbl>
          </a:graphicData>
        </a:graphic>
      </p:graphicFrame>
      <p:sp>
        <p:nvSpPr>
          <p:cNvPr id="9" name="TextBox 8">
            <a:extLst>
              <a:ext uri="{FF2B5EF4-FFF2-40B4-BE49-F238E27FC236}">
                <a16:creationId xmlns:a16="http://schemas.microsoft.com/office/drawing/2014/main" id="{D0EBA456-D56E-8A1F-8D79-C1684E942ECE}"/>
              </a:ext>
            </a:extLst>
          </p:cNvPr>
          <p:cNvSpPr txBox="1"/>
          <p:nvPr/>
        </p:nvSpPr>
        <p:spPr>
          <a:xfrm>
            <a:off x="3124200" y="76200"/>
            <a:ext cx="57912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Count occurrence of letter ‘A’ with Big O(1)</a:t>
            </a:r>
          </a:p>
        </p:txBody>
      </p:sp>
    </p:spTree>
    <p:extLst>
      <p:ext uri="{BB962C8B-B14F-4D97-AF65-F5344CB8AC3E}">
        <p14:creationId xmlns:p14="http://schemas.microsoft.com/office/powerpoint/2010/main" val="34214978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3DE95A5A-AF90-A5C9-9830-640C54E02027}"/>
              </a:ext>
            </a:extLst>
          </p:cNvPr>
          <p:cNvSpPr>
            <a:spLocks noChangeArrowheads="1"/>
          </p:cNvSpPr>
          <p:nvPr/>
        </p:nvSpPr>
        <p:spPr bwMode="auto">
          <a:xfrm>
            <a:off x="1143000" y="0"/>
            <a:ext cx="8001000" cy="6986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using System;</a:t>
            </a: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Imports the basic </a:t>
            </a:r>
            <a:r>
              <a:rPr kumimoji="0" lang="en-US" altLang="en-US" sz="1400" b="0" i="0" u="none" strike="noStrike" cap="none" normalizeH="0" baseline="0" dirty="0">
                <a:ln>
                  <a:noFill/>
                </a:ln>
                <a:solidFill>
                  <a:schemeClr val="tx1"/>
                </a:solidFill>
                <a:effectLst/>
                <a:latin typeface="Arial Unicode MS"/>
              </a:rPr>
              <a:t>System</a:t>
            </a:r>
            <a:r>
              <a:rPr kumimoji="0" lang="en-US" altLang="en-US" sz="1400" b="0" i="0" u="none" strike="noStrike" cap="none" normalizeH="0" baseline="0" dirty="0">
                <a:ln>
                  <a:noFill/>
                </a:ln>
                <a:solidFill>
                  <a:schemeClr val="tx1"/>
                </a:solidFill>
                <a:effectLst/>
              </a:rPr>
              <a:t> namespace (needed for </a:t>
            </a:r>
            <a:r>
              <a:rPr kumimoji="0" lang="en-US" altLang="en-US" sz="1400" b="0" i="0" u="none" strike="noStrike" cap="none" normalizeH="0" baseline="0" dirty="0" err="1">
                <a:ln>
                  <a:noFill/>
                </a:ln>
                <a:solidFill>
                  <a:schemeClr val="tx1"/>
                </a:solidFill>
                <a:effectLst/>
                <a:latin typeface="Arial Unicode MS"/>
              </a:rPr>
              <a:t>Console.WriteLine</a:t>
            </a:r>
            <a:r>
              <a:rPr kumimoji="0" lang="en-US" altLang="en-US" sz="1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using </a:t>
            </a:r>
            <a:r>
              <a:rPr kumimoji="0" lang="en-US" altLang="en-US" sz="1400" b="1" i="0" u="none" strike="noStrike" cap="none" normalizeH="0" baseline="0" dirty="0" err="1">
                <a:ln>
                  <a:noFill/>
                </a:ln>
                <a:solidFill>
                  <a:schemeClr val="tx1"/>
                </a:solidFill>
                <a:effectLst/>
                <a:latin typeface="Arial Unicode MS"/>
              </a:rPr>
              <a:t>System.Collections.Generic</a:t>
            </a:r>
            <a:r>
              <a:rPr kumimoji="0" lang="en-US" altLang="en-US" sz="1400" b="1" i="0" u="none" strike="noStrike" cap="none" normalizeH="0" baseline="0" dirty="0">
                <a:ln>
                  <a:noFill/>
                </a:ln>
                <a:solidFill>
                  <a:schemeClr val="tx1"/>
                </a:solidFill>
                <a:effectLst/>
                <a:latin typeface="Arial Unicode MS"/>
              </a:rPr>
              <a:t>;</a:t>
            </a: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Imports the </a:t>
            </a:r>
            <a:r>
              <a:rPr kumimoji="0" lang="en-US" altLang="en-US" sz="1400" b="0" i="0" u="none" strike="noStrike" cap="none" normalizeH="0" baseline="0" dirty="0">
                <a:ln>
                  <a:noFill/>
                </a:ln>
                <a:solidFill>
                  <a:schemeClr val="tx1"/>
                </a:solidFill>
                <a:effectLst/>
                <a:latin typeface="Arial Unicode MS"/>
              </a:rPr>
              <a:t>Dictionary</a:t>
            </a:r>
            <a:r>
              <a:rPr kumimoji="0" lang="en-US" altLang="en-US" sz="1400" b="0" i="0" u="none" strike="noStrike" cap="none" normalizeH="0" baseline="0" dirty="0">
                <a:ln>
                  <a:noFill/>
                </a:ln>
                <a:solidFill>
                  <a:schemeClr val="tx1"/>
                </a:solidFill>
                <a:effectLst/>
              </a:rPr>
              <a:t> class (C# version of </a:t>
            </a:r>
            <a:r>
              <a:rPr kumimoji="0" lang="en-US" altLang="en-US" sz="1400" b="0" i="0" u="none" strike="noStrike" cap="none" normalizeH="0" baseline="0" dirty="0">
                <a:ln>
                  <a:noFill/>
                </a:ln>
                <a:solidFill>
                  <a:schemeClr val="tx1"/>
                </a:solidFill>
                <a:effectLst/>
                <a:latin typeface="Arial Unicode MS"/>
              </a:rPr>
              <a:t>HashMap</a:t>
            </a:r>
            <a:r>
              <a:rPr kumimoji="0" lang="en-US" altLang="en-US" sz="1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class </a:t>
            </a:r>
            <a:r>
              <a:rPr kumimoji="0" lang="en-US" altLang="en-US" sz="1400" b="1" i="0" u="none" strike="noStrike" cap="none" normalizeH="0" baseline="0" dirty="0" err="1">
                <a:ln>
                  <a:noFill/>
                </a:ln>
                <a:solidFill>
                  <a:schemeClr val="tx1"/>
                </a:solidFill>
                <a:effectLst/>
                <a:latin typeface="Arial Unicode MS"/>
              </a:rPr>
              <a:t>CountOccurrence</a:t>
            </a: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Defines a class named </a:t>
            </a:r>
            <a:r>
              <a:rPr kumimoji="0" lang="en-US" altLang="en-US" sz="1400" b="0" i="0" u="none" strike="noStrike" cap="none" normalizeH="0" baseline="0" dirty="0" err="1">
                <a:ln>
                  <a:noFill/>
                </a:ln>
                <a:solidFill>
                  <a:schemeClr val="tx1"/>
                </a:solidFill>
                <a:effectLst/>
                <a:latin typeface="Arial Unicode MS"/>
              </a:rPr>
              <a:t>CountOccurrence</a:t>
            </a:r>
            <a:r>
              <a:rPr kumimoji="0" lang="en-US" altLang="en-US" sz="1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static void Main()</a:t>
            </a: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The program’s entry point (like </a:t>
            </a:r>
            <a:r>
              <a:rPr kumimoji="0" lang="en-US" altLang="en-US" sz="1400" b="0" i="0" u="none" strike="noStrike" cap="none" normalizeH="0" baseline="0" dirty="0">
                <a:ln>
                  <a:noFill/>
                </a:ln>
                <a:solidFill>
                  <a:schemeClr val="tx1"/>
                </a:solidFill>
                <a:effectLst/>
                <a:latin typeface="Arial Unicode MS"/>
              </a:rPr>
              <a:t>public static void main</a:t>
            </a:r>
            <a:r>
              <a:rPr kumimoji="0" lang="en-US" altLang="en-US" sz="1400" b="0" i="0" u="none" strike="noStrike" cap="none" normalizeH="0" baseline="0" dirty="0">
                <a:ln>
                  <a:noFill/>
                </a:ln>
                <a:solidFill>
                  <a:schemeClr val="tx1"/>
                </a:solidFill>
                <a:effectLst/>
              </a:rPr>
              <a:t> in Java).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string[] </a:t>
            </a:r>
            <a:r>
              <a:rPr kumimoji="0" lang="en-US" altLang="en-US" sz="1400" b="1" i="0" u="none" strike="noStrike" cap="none" normalizeH="0" baseline="0" dirty="0" err="1">
                <a:ln>
                  <a:noFill/>
                </a:ln>
                <a:solidFill>
                  <a:schemeClr val="tx1"/>
                </a:solidFill>
                <a:effectLst/>
                <a:latin typeface="Arial Unicode MS"/>
              </a:rPr>
              <a:t>arr</a:t>
            </a:r>
            <a:r>
              <a:rPr kumimoji="0" lang="en-US" altLang="en-US" sz="1400" b="1" i="0" u="none" strike="noStrike" cap="none" normalizeH="0" baseline="0" dirty="0">
                <a:ln>
                  <a:noFill/>
                </a:ln>
                <a:solidFill>
                  <a:schemeClr val="tx1"/>
                </a:solidFill>
                <a:effectLst/>
                <a:latin typeface="Arial Unicode MS"/>
              </a:rPr>
              <a:t> = { "A", "B", "C", "D", "E", "F", "F", "G", "A" };</a:t>
            </a: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Declares and initializes a string array. Our input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Dictionary&lt;string, int&gt; </a:t>
            </a:r>
            <a:r>
              <a:rPr kumimoji="0" lang="en-US" altLang="en-US" sz="1400" b="1" i="0" u="none" strike="noStrike" cap="none" normalizeH="0" baseline="0" dirty="0" err="1">
                <a:ln>
                  <a:noFill/>
                </a:ln>
                <a:solidFill>
                  <a:schemeClr val="tx1"/>
                </a:solidFill>
                <a:effectLst/>
                <a:latin typeface="Arial Unicode MS"/>
              </a:rPr>
              <a:t>freqMap</a:t>
            </a:r>
            <a:r>
              <a:rPr kumimoji="0" lang="en-US" altLang="en-US" sz="1400" b="1" i="0" u="none" strike="noStrike" cap="none" normalizeH="0" baseline="0" dirty="0">
                <a:ln>
                  <a:noFill/>
                </a:ln>
                <a:solidFill>
                  <a:schemeClr val="tx1"/>
                </a:solidFill>
                <a:effectLst/>
                <a:latin typeface="Arial Unicode MS"/>
              </a:rPr>
              <a:t> = new Dictionary&lt;string, int&gt;();</a:t>
            </a: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Creates an empty dictionary.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Key</a:t>
            </a:r>
            <a:r>
              <a:rPr kumimoji="0" lang="en-US" altLang="en-US" sz="1400" b="0" i="0" u="none" strike="noStrike" cap="none" normalizeH="0" baseline="0" dirty="0">
                <a:ln>
                  <a:noFill/>
                </a:ln>
                <a:solidFill>
                  <a:schemeClr val="tx1"/>
                </a:solidFill>
                <a:effectLst/>
                <a:latin typeface="Arial" panose="020B0604020202020204" pitchFamily="34" charset="0"/>
              </a:rPr>
              <a:t> = string (letter, e.g., </a:t>
            </a:r>
            <a:r>
              <a:rPr kumimoji="0" lang="en-US" altLang="en-US" sz="1400" b="0" i="0" u="none" strike="noStrike" cap="none" normalizeH="0" baseline="0" dirty="0">
                <a:ln>
                  <a:noFill/>
                </a:ln>
                <a:solidFill>
                  <a:schemeClr val="tx1"/>
                </a:solidFill>
                <a:effectLst/>
                <a:latin typeface="Arial Unicode MS"/>
              </a:rPr>
              <a:t>"A"</a:t>
            </a:r>
            <a:r>
              <a:rPr kumimoji="0" lang="en-US" altLang="en-US" sz="1400" b="0" i="0" u="none" strike="noStrike" cap="none" normalizeH="0" baseline="0" dirty="0">
                <a:ln>
                  <a:noFill/>
                </a:ln>
                <a:solidFill>
                  <a:schemeClr val="tx1"/>
                </a:solidFill>
                <a:effectLst/>
              </a:rPr>
              <a:t>)</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Value</a:t>
            </a:r>
            <a:r>
              <a:rPr kumimoji="0" lang="en-US" altLang="en-US" sz="1400" b="0" i="0" u="none" strike="noStrike" cap="none" normalizeH="0" baseline="0" dirty="0">
                <a:ln>
                  <a:noFill/>
                </a:ln>
                <a:solidFill>
                  <a:schemeClr val="tx1"/>
                </a:solidFill>
                <a:effectLst/>
                <a:latin typeface="Arial" panose="020B0604020202020204" pitchFamily="34" charset="0"/>
              </a:rPr>
              <a:t> = int (count of occurrences).</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foreach (string item in </a:t>
            </a:r>
            <a:r>
              <a:rPr kumimoji="0" lang="en-US" altLang="en-US" sz="1400" b="1" i="0" u="none" strike="noStrike" cap="none" normalizeH="0" baseline="0" dirty="0" err="1">
                <a:ln>
                  <a:noFill/>
                </a:ln>
                <a:solidFill>
                  <a:schemeClr val="tx1"/>
                </a:solidFill>
                <a:effectLst/>
                <a:latin typeface="Arial Unicode MS"/>
              </a:rPr>
              <a:t>arr</a:t>
            </a:r>
            <a:r>
              <a:rPr kumimoji="0" lang="en-US" altLang="en-US" sz="1400" b="1" i="0" u="none" strike="noStrike" cap="none" normalizeH="0" baseline="0" dirty="0">
                <a:ln>
                  <a:noFill/>
                </a:ln>
                <a:solidFill>
                  <a:schemeClr val="tx1"/>
                </a:solidFill>
                <a:effectLst/>
                <a:latin typeface="Arial Unicode MS"/>
              </a:rPr>
              <a:t>)</a:t>
            </a: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Loops through each element in </a:t>
            </a:r>
            <a:r>
              <a:rPr kumimoji="0" lang="en-US" altLang="en-US" sz="1400" b="0" i="0" u="none" strike="noStrike" cap="none" normalizeH="0" baseline="0" dirty="0">
                <a:ln>
                  <a:noFill/>
                </a:ln>
                <a:solidFill>
                  <a:schemeClr val="tx1"/>
                </a:solidFill>
                <a:effectLst/>
                <a:latin typeface="Arial Unicode MS"/>
              </a:rPr>
              <a:t>arr</a:t>
            </a:r>
            <a:r>
              <a:rPr kumimoji="0" lang="en-US" altLang="en-US" sz="1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Unicode MS"/>
              </a:rPr>
              <a:t>item</a:t>
            </a:r>
            <a:r>
              <a:rPr kumimoji="0" lang="en-US" altLang="en-US" sz="1400" b="0" i="0" u="none" strike="noStrike" cap="none" normalizeH="0" baseline="0" dirty="0">
                <a:ln>
                  <a:noFill/>
                </a:ln>
                <a:solidFill>
                  <a:schemeClr val="tx1"/>
                </a:solidFill>
                <a:effectLst/>
              </a:rPr>
              <a:t> will be </a:t>
            </a:r>
            <a:r>
              <a:rPr kumimoji="0" lang="en-US" altLang="en-US" sz="1400" b="0" i="0" u="none" strike="noStrike" cap="none" normalizeH="0" baseline="0" dirty="0">
                <a:ln>
                  <a:noFill/>
                </a:ln>
                <a:solidFill>
                  <a:schemeClr val="tx1"/>
                </a:solidFill>
                <a:effectLst/>
                <a:latin typeface="Arial Unicode MS"/>
              </a:rPr>
              <a:t>"A"</a:t>
            </a:r>
            <a:r>
              <a:rPr kumimoji="0" lang="en-US" altLang="en-US" sz="1400" b="0" i="0" u="none" strike="noStrike" cap="none" normalizeH="0" baseline="0" dirty="0">
                <a:ln>
                  <a:noFill/>
                </a:ln>
                <a:solidFill>
                  <a:schemeClr val="tx1"/>
                </a:solidFill>
                <a:effectLst/>
              </a:rPr>
              <a:t>, then </a:t>
            </a:r>
            <a:r>
              <a:rPr kumimoji="0" lang="en-US" altLang="en-US" sz="1400" b="0" i="0" u="none" strike="noStrike" cap="none" normalizeH="0" baseline="0" dirty="0">
                <a:ln>
                  <a:noFill/>
                </a:ln>
                <a:solidFill>
                  <a:schemeClr val="tx1"/>
                </a:solidFill>
                <a:effectLst/>
                <a:latin typeface="Arial Unicode MS"/>
              </a:rPr>
              <a:t>"B"</a:t>
            </a:r>
            <a:r>
              <a:rPr kumimoji="0" lang="en-US" altLang="en-US" sz="1400" b="0" i="0" u="none" strike="noStrike" cap="none" normalizeH="0" baseline="0" dirty="0">
                <a:ln>
                  <a:noFill/>
                </a:ln>
                <a:solidFill>
                  <a:schemeClr val="tx1"/>
                </a:solidFill>
                <a:effectLst/>
              </a:rPr>
              <a:t>, then </a:t>
            </a:r>
            <a:r>
              <a:rPr kumimoji="0" lang="en-US" altLang="en-US" sz="1400" b="0" i="0" u="none" strike="noStrike" cap="none" normalizeH="0" baseline="0" dirty="0">
                <a:ln>
                  <a:noFill/>
                </a:ln>
                <a:solidFill>
                  <a:schemeClr val="tx1"/>
                </a:solidFill>
                <a:effectLst/>
                <a:latin typeface="Arial Unicode MS"/>
              </a:rPr>
              <a:t>"C"</a:t>
            </a:r>
            <a:r>
              <a:rPr kumimoji="0" lang="en-US" altLang="en-US" sz="1400" b="0" i="0" u="none" strike="noStrike" cap="none" normalizeH="0" baseline="0" dirty="0">
                <a:ln>
                  <a:noFill/>
                </a:ln>
                <a:solidFill>
                  <a:schemeClr val="tx1"/>
                </a:solidFill>
                <a:effectLst/>
              </a:rPr>
              <a:t>, … etc.</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if (</a:t>
            </a:r>
            <a:r>
              <a:rPr kumimoji="0" lang="en-US" altLang="en-US" sz="1400" b="1" i="0" u="none" strike="noStrike" cap="none" normalizeH="0" baseline="0" dirty="0" err="1">
                <a:ln>
                  <a:noFill/>
                </a:ln>
                <a:solidFill>
                  <a:schemeClr val="tx1"/>
                </a:solidFill>
                <a:effectLst/>
                <a:latin typeface="Arial Unicode MS"/>
              </a:rPr>
              <a:t>freqMap.ContainsKey</a:t>
            </a:r>
            <a:r>
              <a:rPr kumimoji="0" lang="en-US" altLang="en-US" sz="1400" b="1" i="0" u="none" strike="noStrike" cap="none" normalizeH="0" baseline="0" dirty="0">
                <a:ln>
                  <a:noFill/>
                </a:ln>
                <a:solidFill>
                  <a:schemeClr val="tx1"/>
                </a:solidFill>
                <a:effectLst/>
                <a:latin typeface="Arial Unicode MS"/>
              </a:rPr>
              <a:t>(item)) { </a:t>
            </a:r>
            <a:r>
              <a:rPr kumimoji="0" lang="en-US" altLang="en-US" sz="1400" b="1" i="0" u="none" strike="noStrike" cap="none" normalizeH="0" baseline="0" dirty="0" err="1">
                <a:ln>
                  <a:noFill/>
                </a:ln>
                <a:solidFill>
                  <a:schemeClr val="tx1"/>
                </a:solidFill>
                <a:effectLst/>
                <a:latin typeface="Arial Unicode MS"/>
              </a:rPr>
              <a:t>freqMap</a:t>
            </a:r>
            <a:r>
              <a:rPr kumimoji="0" lang="en-US" altLang="en-US" sz="1400" b="1" i="0" u="none" strike="noStrike" cap="none" normalizeH="0" baseline="0" dirty="0">
                <a:ln>
                  <a:noFill/>
                </a:ln>
                <a:solidFill>
                  <a:schemeClr val="tx1"/>
                </a:solidFill>
                <a:effectLst/>
                <a:latin typeface="Arial Unicode MS"/>
              </a:rPr>
              <a:t>[item]++;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If </a:t>
            </a:r>
            <a:r>
              <a:rPr kumimoji="0" lang="en-US" altLang="en-US" sz="1400" b="0" i="0" u="none" strike="noStrike" cap="none" normalizeH="0" baseline="0" dirty="0">
                <a:ln>
                  <a:noFill/>
                </a:ln>
                <a:solidFill>
                  <a:schemeClr val="tx1"/>
                </a:solidFill>
                <a:effectLst/>
                <a:latin typeface="Arial Unicode MS"/>
              </a:rPr>
              <a:t>item</a:t>
            </a:r>
            <a:r>
              <a:rPr kumimoji="0" lang="en-US" altLang="en-US" sz="1400" b="0" i="0" u="none" strike="noStrike" cap="none" normalizeH="0" baseline="0" dirty="0">
                <a:ln>
                  <a:noFill/>
                </a:ln>
                <a:solidFill>
                  <a:schemeClr val="tx1"/>
                </a:solidFill>
                <a:effectLst/>
              </a:rPr>
              <a:t> already exists in the dictionary → increment its count.</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Unicode MS"/>
              </a:rPr>
              <a:t>else { </a:t>
            </a:r>
            <a:r>
              <a:rPr kumimoji="0" lang="en-US" altLang="en-US" sz="1400" b="1" i="0" u="none" strike="noStrike" cap="none" normalizeH="0" baseline="0" dirty="0" err="1">
                <a:ln>
                  <a:noFill/>
                </a:ln>
                <a:solidFill>
                  <a:schemeClr val="tx1"/>
                </a:solidFill>
                <a:effectLst/>
                <a:latin typeface="Arial Unicode MS"/>
              </a:rPr>
              <a:t>freqMap</a:t>
            </a:r>
            <a:r>
              <a:rPr kumimoji="0" lang="en-US" altLang="en-US" sz="1400" b="1" i="0" u="none" strike="noStrike" cap="none" normalizeH="0" baseline="0" dirty="0">
                <a:ln>
                  <a:noFill/>
                </a:ln>
                <a:solidFill>
                  <a:schemeClr val="tx1"/>
                </a:solidFill>
                <a:effectLst/>
                <a:latin typeface="Arial Unicode MS"/>
              </a:rPr>
              <a:t>[item] = 1;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If </a:t>
            </a:r>
            <a:r>
              <a:rPr kumimoji="0" lang="en-US" altLang="en-US" sz="1400" b="0" i="0" u="none" strike="noStrike" cap="none" normalizeH="0" baseline="0" dirty="0">
                <a:ln>
                  <a:noFill/>
                </a:ln>
                <a:solidFill>
                  <a:schemeClr val="tx1"/>
                </a:solidFill>
                <a:effectLst/>
                <a:latin typeface="Arial Unicode MS"/>
              </a:rPr>
              <a:t>item</a:t>
            </a:r>
            <a:r>
              <a:rPr kumimoji="0" lang="en-US" altLang="en-US" sz="1400" b="0" i="0" u="none" strike="noStrike" cap="none" normalizeH="0" baseline="0" dirty="0">
                <a:ln>
                  <a:noFill/>
                </a:ln>
                <a:solidFill>
                  <a:schemeClr val="tx1"/>
                </a:solidFill>
                <a:effectLst/>
              </a:rPr>
              <a:t> does </a:t>
            </a:r>
            <a:r>
              <a:rPr kumimoji="0" lang="en-US" altLang="en-US" sz="1400" b="1" i="0" u="none" strike="noStrike" cap="none" normalizeH="0" baseline="0" dirty="0">
                <a:ln>
                  <a:noFill/>
                </a:ln>
                <a:solidFill>
                  <a:schemeClr val="tx1"/>
                </a:solidFill>
                <a:effectLst/>
                <a:latin typeface="Arial" panose="020B0604020202020204" pitchFamily="34" charset="0"/>
              </a:rPr>
              <a:t>not</a:t>
            </a:r>
            <a:r>
              <a:rPr kumimoji="0" lang="en-US" altLang="en-US" sz="1400" b="0" i="0" u="none" strike="noStrike" cap="none" normalizeH="0" baseline="0" dirty="0">
                <a:ln>
                  <a:noFill/>
                </a:ln>
                <a:solidFill>
                  <a:schemeClr val="tx1"/>
                </a:solidFill>
                <a:effectLst/>
                <a:latin typeface="Arial" panose="020B0604020202020204" pitchFamily="34" charset="0"/>
              </a:rPr>
              <a:t> exist yet → insert with count </a:t>
            </a:r>
            <a:r>
              <a:rPr kumimoji="0" lang="en-US" altLang="en-US" sz="1400" b="0" i="0" u="none" strike="noStrike" cap="none" normalizeH="0" baseline="0" dirty="0">
                <a:ln>
                  <a:noFill/>
                </a:ln>
                <a:solidFill>
                  <a:schemeClr val="tx1"/>
                </a:solidFill>
                <a:effectLst/>
                <a:latin typeface="Arial Unicode MS"/>
              </a:rPr>
              <a:t>1</a:t>
            </a:r>
            <a:r>
              <a:rPr kumimoji="0" lang="en-US" altLang="en-US" sz="1400" b="0" i="0" u="none" strike="noStrike" cap="none" normalizeH="0" baseline="0" dirty="0">
                <a:ln>
                  <a:noFill/>
                </a:ln>
                <a:solidFill>
                  <a:schemeClr val="tx1"/>
                </a:solidFill>
                <a:effectLst/>
              </a:rPr>
              <a:t>.</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a:ln>
                  <a:noFill/>
                </a:ln>
                <a:solidFill>
                  <a:schemeClr val="tx1"/>
                </a:solidFill>
                <a:effectLst/>
                <a:latin typeface="Arial Unicode MS"/>
              </a:rPr>
              <a:t>Console.WriteLine</a:t>
            </a:r>
            <a:r>
              <a:rPr kumimoji="0" lang="en-US" altLang="en-US" sz="1400" b="1" i="0" u="none" strike="noStrike" cap="none" normalizeH="0" baseline="0" dirty="0">
                <a:ln>
                  <a:noFill/>
                </a:ln>
                <a:solidFill>
                  <a:schemeClr val="tx1"/>
                </a:solidFill>
                <a:effectLst/>
                <a:latin typeface="Arial Unicode MS"/>
              </a:rPr>
              <a:t>("Count of A: " + </a:t>
            </a:r>
            <a:r>
              <a:rPr kumimoji="0" lang="en-US" altLang="en-US" sz="1400" b="1" i="0" u="none" strike="noStrike" cap="none" normalizeH="0" baseline="0" dirty="0" err="1">
                <a:ln>
                  <a:noFill/>
                </a:ln>
                <a:solidFill>
                  <a:schemeClr val="tx1"/>
                </a:solidFill>
                <a:effectLst/>
                <a:latin typeface="Arial Unicode MS"/>
              </a:rPr>
              <a:t>freqMap</a:t>
            </a:r>
            <a:r>
              <a:rPr kumimoji="0" lang="en-US" altLang="en-US" sz="1400" b="1" i="0" u="none" strike="noStrike" cap="none" normalizeH="0" baseline="0" dirty="0">
                <a:ln>
                  <a:noFill/>
                </a:ln>
                <a:solidFill>
                  <a:schemeClr val="tx1"/>
                </a:solidFill>
                <a:effectLst/>
                <a:latin typeface="Arial Unicode MS"/>
              </a:rPr>
              <a:t>["A"]);</a:t>
            </a:r>
          </a:p>
        </p:txBody>
      </p:sp>
      <p:sp>
        <p:nvSpPr>
          <p:cNvPr id="8" name="TextBox 7">
            <a:extLst>
              <a:ext uri="{FF2B5EF4-FFF2-40B4-BE49-F238E27FC236}">
                <a16:creationId xmlns:a16="http://schemas.microsoft.com/office/drawing/2014/main" id="{CC2BAED5-1A5C-9EFF-0F82-63A532685211}"/>
              </a:ext>
            </a:extLst>
          </p:cNvPr>
          <p:cNvSpPr txBox="1"/>
          <p:nvPr/>
        </p:nvSpPr>
        <p:spPr>
          <a:xfrm>
            <a:off x="4572000" y="-25399"/>
            <a:ext cx="4572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Retrieves the value for key </a:t>
            </a:r>
            <a:r>
              <a:rPr kumimoji="0" lang="en-US" altLang="en-US" sz="1800" b="0" i="0" u="none" strike="noStrike" cap="none" normalizeH="0" baseline="0" dirty="0">
                <a:ln>
                  <a:noFill/>
                </a:ln>
                <a:solidFill>
                  <a:schemeClr val="tx1"/>
                </a:solidFill>
                <a:effectLst/>
                <a:latin typeface="Arial Unicode MS"/>
              </a:rPr>
              <a:t>"A"</a:t>
            </a:r>
            <a:r>
              <a:rPr kumimoji="0" lang="en-US" altLang="en-US" sz="1800" b="0" i="0" u="none" strike="noStrike" cap="none" normalizeH="0" baseline="0" dirty="0">
                <a:ln>
                  <a:noFill/>
                </a:ln>
                <a:solidFill>
                  <a:schemeClr val="tx1"/>
                </a:solidFill>
                <a:effectLst/>
              </a:rPr>
              <a:t> in </a:t>
            </a:r>
            <a:r>
              <a:rPr kumimoji="0" lang="en-US" altLang="en-US" sz="1800" b="1" i="0" u="none" strike="noStrike" cap="none" normalizeH="0" baseline="0" dirty="0">
                <a:ln>
                  <a:noFill/>
                </a:ln>
                <a:solidFill>
                  <a:schemeClr val="tx1"/>
                </a:solidFill>
                <a:effectLst/>
                <a:latin typeface="Arial" panose="020B0604020202020204" pitchFamily="34" charset="0"/>
              </a:rPr>
              <a:t>O(1)</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4796469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917FA0-6403-CA47-954A-B0BA124DDD46}"/>
              </a:ext>
            </a:extLst>
          </p:cNvPr>
          <p:cNvSpPr txBox="1"/>
          <p:nvPr/>
        </p:nvSpPr>
        <p:spPr>
          <a:xfrm>
            <a:off x="0" y="981304"/>
            <a:ext cx="76962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fr-FR" sz="1800" dirty="0">
                <a:solidFill>
                  <a:srgbClr val="0000FF"/>
                </a:solidFill>
                <a:highlight>
                  <a:srgbClr val="FFFFFF"/>
                </a:highlight>
                <a:latin typeface="Cascadia Mono" panose="020B0609020000020004" pitchFamily="49" charset="0"/>
              </a:rPr>
              <a:t>public</a:t>
            </a:r>
            <a:r>
              <a:rPr lang="fr-FR" sz="1800" dirty="0">
                <a:solidFill>
                  <a:srgbClr val="000000"/>
                </a:solidFill>
                <a:highlight>
                  <a:srgbClr val="FFFFFF"/>
                </a:highlight>
                <a:latin typeface="Cascadia Mono" panose="020B0609020000020004" pitchFamily="49" charset="0"/>
              </a:rPr>
              <a:t> </a:t>
            </a:r>
            <a:r>
              <a:rPr lang="fr-FR" sz="1800" dirty="0">
                <a:solidFill>
                  <a:srgbClr val="0000FF"/>
                </a:solidFill>
                <a:highlight>
                  <a:srgbClr val="FFFFFF"/>
                </a:highlight>
                <a:latin typeface="Cascadia Mono" panose="020B0609020000020004" pitchFamily="49" charset="0"/>
              </a:rPr>
              <a:t>class</a:t>
            </a:r>
            <a:r>
              <a:rPr lang="fr-FR" sz="1800" dirty="0">
                <a:solidFill>
                  <a:srgbClr val="000000"/>
                </a:solidFill>
                <a:highlight>
                  <a:srgbClr val="FFFFFF"/>
                </a:highlight>
                <a:latin typeface="Cascadia Mono" panose="020B0609020000020004" pitchFamily="49" charset="0"/>
              </a:rPr>
              <a:t> </a:t>
            </a:r>
            <a:r>
              <a:rPr lang="fr-FR" sz="1800" dirty="0">
                <a:solidFill>
                  <a:srgbClr val="2B91AF"/>
                </a:solidFill>
                <a:highlight>
                  <a:srgbClr val="FFFFFF"/>
                </a:highlight>
                <a:latin typeface="Cascadia Mono" panose="020B0609020000020004" pitchFamily="49" charset="0"/>
              </a:rPr>
              <a:t>List</a:t>
            </a:r>
            <a:r>
              <a:rPr lang="fr-FR" sz="1800" dirty="0">
                <a:solidFill>
                  <a:srgbClr val="000000"/>
                </a:solidFill>
                <a:highlight>
                  <a:srgbClr val="FFFFFF"/>
                </a:highlight>
                <a:latin typeface="Cascadia Mono" panose="020B0609020000020004" pitchFamily="49" charset="0"/>
              </a:rPr>
              <a:t>&lt;</a:t>
            </a:r>
            <a:r>
              <a:rPr lang="fr-FR" sz="1800" dirty="0">
                <a:solidFill>
                  <a:srgbClr val="2B91AF"/>
                </a:solidFill>
                <a:highlight>
                  <a:srgbClr val="FFFFFF"/>
                </a:highlight>
                <a:latin typeface="Cascadia Mono" panose="020B0609020000020004" pitchFamily="49" charset="0"/>
              </a:rPr>
              <a:t>T</a:t>
            </a:r>
            <a:r>
              <a:rPr lang="fr-FR" sz="1800" dirty="0">
                <a:solidFill>
                  <a:srgbClr val="000000"/>
                </a:solidFill>
                <a:highlight>
                  <a:srgbClr val="FFFFFF"/>
                </a:highlight>
                <a:latin typeface="Cascadia Mono" panose="020B0609020000020004" pitchFamily="49" charset="0"/>
              </a:rPr>
              <a:t>&gt; : </a:t>
            </a:r>
            <a:r>
              <a:rPr lang="fr-FR" sz="1800" dirty="0" err="1">
                <a:solidFill>
                  <a:srgbClr val="2B91AF"/>
                </a:solidFill>
                <a:highlight>
                  <a:srgbClr val="FFFFFF"/>
                </a:highlight>
                <a:latin typeface="Cascadia Mono" panose="020B0609020000020004" pitchFamily="49" charset="0"/>
              </a:rPr>
              <a:t>IList</a:t>
            </a:r>
            <a:r>
              <a:rPr lang="fr-FR" sz="1800" dirty="0">
                <a:solidFill>
                  <a:srgbClr val="000000"/>
                </a:solidFill>
                <a:highlight>
                  <a:srgbClr val="FFFFFF"/>
                </a:highlight>
                <a:latin typeface="Cascadia Mono" panose="020B0609020000020004" pitchFamily="49" charset="0"/>
              </a:rPr>
              <a:t>&lt;</a:t>
            </a:r>
            <a:r>
              <a:rPr lang="fr-FR" sz="1800" dirty="0">
                <a:solidFill>
                  <a:srgbClr val="2B91AF"/>
                </a:solidFill>
                <a:highlight>
                  <a:srgbClr val="FFFFFF"/>
                </a:highlight>
                <a:latin typeface="Cascadia Mono" panose="020B0609020000020004" pitchFamily="49" charset="0"/>
              </a:rPr>
              <a:t>T</a:t>
            </a:r>
            <a:r>
              <a:rPr lang="fr-FR" sz="1800" dirty="0">
                <a:solidFill>
                  <a:srgbClr val="000000"/>
                </a:solidFill>
                <a:highlight>
                  <a:srgbClr val="FFFFFF"/>
                </a:highlight>
                <a:latin typeface="Cascadia Mono" panose="020B0609020000020004" pitchFamily="49" charset="0"/>
              </a:rPr>
              <a:t>&gt;, </a:t>
            </a:r>
            <a:r>
              <a:rPr lang="fr-FR" sz="1800" dirty="0" err="1">
                <a:solidFill>
                  <a:srgbClr val="2B91AF"/>
                </a:solidFill>
                <a:highlight>
                  <a:srgbClr val="FFFFFF"/>
                </a:highlight>
                <a:latin typeface="Cascadia Mono" panose="020B0609020000020004" pitchFamily="49" charset="0"/>
              </a:rPr>
              <a:t>IList</a:t>
            </a:r>
            <a:r>
              <a:rPr lang="fr-FR" sz="1800" dirty="0">
                <a:solidFill>
                  <a:srgbClr val="000000"/>
                </a:solidFill>
                <a:highlight>
                  <a:srgbClr val="FFFFFF"/>
                </a:highlight>
                <a:latin typeface="Cascadia Mono" panose="020B0609020000020004" pitchFamily="49" charset="0"/>
              </a:rPr>
              <a:t>, </a:t>
            </a:r>
            <a:r>
              <a:rPr lang="fr-FR" sz="1800" dirty="0" err="1">
                <a:solidFill>
                  <a:srgbClr val="2B91AF"/>
                </a:solidFill>
                <a:highlight>
                  <a:srgbClr val="FFFFFF"/>
                </a:highlight>
                <a:latin typeface="Cascadia Mono" panose="020B0609020000020004" pitchFamily="49" charset="0"/>
              </a:rPr>
              <a:t>IReadOnlyList</a:t>
            </a:r>
            <a:r>
              <a:rPr lang="fr-FR" sz="1800" dirty="0">
                <a:solidFill>
                  <a:srgbClr val="000000"/>
                </a:solidFill>
                <a:highlight>
                  <a:srgbClr val="FFFFFF"/>
                </a:highlight>
                <a:latin typeface="Cascadia Mono" panose="020B0609020000020004" pitchFamily="49" charset="0"/>
              </a:rPr>
              <a:t>&lt;</a:t>
            </a:r>
            <a:r>
              <a:rPr lang="fr-FR" sz="1800" dirty="0">
                <a:solidFill>
                  <a:srgbClr val="2B91AF"/>
                </a:solidFill>
                <a:highlight>
                  <a:srgbClr val="FFFFFF"/>
                </a:highlight>
                <a:latin typeface="Cascadia Mono" panose="020B0609020000020004" pitchFamily="49" charset="0"/>
              </a:rPr>
              <a:t>T</a:t>
            </a:r>
            <a:r>
              <a:rPr lang="fr-FR" sz="1800" dirty="0">
                <a:solidFill>
                  <a:srgbClr val="000000"/>
                </a:solidFill>
                <a:highlight>
                  <a:srgbClr val="FFFFFF"/>
                </a:highlight>
                <a:latin typeface="Cascadia Mono" panose="020B0609020000020004" pitchFamily="49" charset="0"/>
              </a:rPr>
              <a:t>&gt;</a:t>
            </a:r>
            <a:endParaRPr lang="en-IN" dirty="0"/>
          </a:p>
        </p:txBody>
      </p:sp>
      <p:sp>
        <p:nvSpPr>
          <p:cNvPr id="7" name="TextBox 6">
            <a:extLst>
              <a:ext uri="{FF2B5EF4-FFF2-40B4-BE49-F238E27FC236}">
                <a16:creationId xmlns:a16="http://schemas.microsoft.com/office/drawing/2014/main" id="{EE348486-6952-891C-9016-95FF6589C8F5}"/>
              </a:ext>
            </a:extLst>
          </p:cNvPr>
          <p:cNvSpPr txBox="1"/>
          <p:nvPr/>
        </p:nvSpPr>
        <p:spPr>
          <a:xfrm>
            <a:off x="-25400" y="1676400"/>
            <a:ext cx="8991600" cy="73866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dirty="0">
                <a:solidFill>
                  <a:srgbClr val="0000FF"/>
                </a:solidFill>
                <a:highlight>
                  <a:srgbClr val="FFFFFF"/>
                </a:highlight>
                <a:latin typeface="Cascadia Mono" panose="020B0609020000020004" pitchFamily="49" charset="0"/>
              </a:rPr>
              <a:t>public</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class</a:t>
            </a:r>
            <a:r>
              <a:rPr lang="en-US" sz="1400" dirty="0">
                <a:solidFill>
                  <a:srgbClr val="000000"/>
                </a:solidFill>
                <a:highlight>
                  <a:srgbClr val="FFFFFF"/>
                </a:highlight>
                <a:latin typeface="Cascadia Mono" panose="020B0609020000020004" pitchFamily="49" charset="0"/>
              </a:rPr>
              <a:t> </a:t>
            </a:r>
            <a:r>
              <a:rPr lang="en-US" sz="1400" dirty="0" err="1">
                <a:solidFill>
                  <a:srgbClr val="2B91AF"/>
                </a:solidFill>
                <a:highlight>
                  <a:srgbClr val="FFFFFF"/>
                </a:highlight>
                <a:latin typeface="Cascadia Mono" panose="020B0609020000020004" pitchFamily="49" charset="0"/>
              </a:rPr>
              <a:t>SortedList</a:t>
            </a:r>
            <a:r>
              <a:rPr lang="en-US" sz="1400" dirty="0">
                <a:solidFill>
                  <a:srgbClr val="000000"/>
                </a:solidFill>
                <a:highlight>
                  <a:srgbClr val="FFFFFF"/>
                </a:highlight>
                <a:latin typeface="Cascadia Mono" panose="020B0609020000020004" pitchFamily="49" charset="0"/>
              </a:rPr>
              <a:t>&lt;</a:t>
            </a:r>
            <a:r>
              <a:rPr lang="en-US" sz="1400" dirty="0" err="1">
                <a:solidFill>
                  <a:srgbClr val="2B91AF"/>
                </a:solidFill>
                <a:highlight>
                  <a:srgbClr val="FFFFFF"/>
                </a:highlight>
                <a:latin typeface="Cascadia Mono" panose="020B0609020000020004" pitchFamily="49" charset="0"/>
              </a:rPr>
              <a:t>TKey</a:t>
            </a:r>
            <a:r>
              <a:rPr lang="en-US" sz="1400" dirty="0">
                <a:solidFill>
                  <a:srgbClr val="000000"/>
                </a:solidFill>
                <a:highlight>
                  <a:srgbClr val="FFFFFF"/>
                </a:highlight>
                <a:latin typeface="Cascadia Mono" panose="020B0609020000020004" pitchFamily="49" charset="0"/>
              </a:rPr>
              <a:t>, </a:t>
            </a:r>
            <a:r>
              <a:rPr lang="en-US" sz="1400" dirty="0">
                <a:solidFill>
                  <a:srgbClr val="2B91AF"/>
                </a:solidFill>
                <a:highlight>
                  <a:srgbClr val="FFFFFF"/>
                </a:highlight>
                <a:latin typeface="Cascadia Mono" panose="020B0609020000020004" pitchFamily="49" charset="0"/>
              </a:rPr>
              <a:t>TValue</a:t>
            </a:r>
            <a:r>
              <a:rPr lang="en-US" sz="1400" dirty="0">
                <a:solidFill>
                  <a:srgbClr val="000000"/>
                </a:solidFill>
                <a:highlight>
                  <a:srgbClr val="FFFFFF"/>
                </a:highlight>
                <a:latin typeface="Cascadia Mono" panose="020B0609020000020004" pitchFamily="49" charset="0"/>
              </a:rPr>
              <a:t>&gt; :</a:t>
            </a:r>
          </a:p>
          <a:p>
            <a:r>
              <a:rPr lang="en-US" sz="1400" dirty="0">
                <a:solidFill>
                  <a:srgbClr val="000000"/>
                </a:solidFill>
                <a:highlight>
                  <a:srgbClr val="FFFFFF"/>
                </a:highlight>
                <a:latin typeface="Cascadia Mono" panose="020B0609020000020004" pitchFamily="49" charset="0"/>
              </a:rPr>
              <a:t>    </a:t>
            </a:r>
            <a:r>
              <a:rPr lang="en-US" sz="1400" dirty="0" err="1">
                <a:solidFill>
                  <a:srgbClr val="2B91AF"/>
                </a:solidFill>
                <a:highlight>
                  <a:srgbClr val="FFFFFF"/>
                </a:highlight>
                <a:latin typeface="Cascadia Mono" panose="020B0609020000020004" pitchFamily="49" charset="0"/>
              </a:rPr>
              <a:t>IDictionary</a:t>
            </a:r>
            <a:r>
              <a:rPr lang="en-US" sz="1400" dirty="0">
                <a:solidFill>
                  <a:srgbClr val="000000"/>
                </a:solidFill>
                <a:highlight>
                  <a:srgbClr val="FFFFFF"/>
                </a:highlight>
                <a:latin typeface="Cascadia Mono" panose="020B0609020000020004" pitchFamily="49" charset="0"/>
              </a:rPr>
              <a:t>&lt;</a:t>
            </a:r>
            <a:r>
              <a:rPr lang="en-US" sz="1400" dirty="0" err="1">
                <a:solidFill>
                  <a:srgbClr val="2B91AF"/>
                </a:solidFill>
                <a:highlight>
                  <a:srgbClr val="FFFFFF"/>
                </a:highlight>
                <a:latin typeface="Cascadia Mono" panose="020B0609020000020004" pitchFamily="49" charset="0"/>
              </a:rPr>
              <a:t>TKey</a:t>
            </a:r>
            <a:r>
              <a:rPr lang="en-US" sz="1400" dirty="0">
                <a:solidFill>
                  <a:srgbClr val="000000"/>
                </a:solidFill>
                <a:highlight>
                  <a:srgbClr val="FFFFFF"/>
                </a:highlight>
                <a:latin typeface="Cascadia Mono" panose="020B0609020000020004" pitchFamily="49" charset="0"/>
              </a:rPr>
              <a:t>, </a:t>
            </a:r>
            <a:r>
              <a:rPr lang="en-US" sz="1400" dirty="0">
                <a:solidFill>
                  <a:srgbClr val="2B91AF"/>
                </a:solidFill>
                <a:highlight>
                  <a:srgbClr val="FFFFFF"/>
                </a:highlight>
                <a:latin typeface="Cascadia Mono" panose="020B0609020000020004" pitchFamily="49" charset="0"/>
              </a:rPr>
              <a:t>TValue</a:t>
            </a:r>
            <a:r>
              <a:rPr lang="en-US" sz="1400" dirty="0">
                <a:solidFill>
                  <a:srgbClr val="000000"/>
                </a:solidFill>
                <a:highlight>
                  <a:srgbClr val="FFFFFF"/>
                </a:highlight>
                <a:latin typeface="Cascadia Mono" panose="020B0609020000020004" pitchFamily="49" charset="0"/>
              </a:rPr>
              <a:t>&gt;, </a:t>
            </a:r>
            <a:r>
              <a:rPr lang="en-US" sz="1400" dirty="0" err="1">
                <a:solidFill>
                  <a:srgbClr val="2B91AF"/>
                </a:solidFill>
                <a:highlight>
                  <a:srgbClr val="FFFFFF"/>
                </a:highlight>
                <a:latin typeface="Cascadia Mono" panose="020B0609020000020004" pitchFamily="49" charset="0"/>
              </a:rPr>
              <a:t>IDictionary</a:t>
            </a:r>
            <a:r>
              <a:rPr lang="en-US" sz="1400" dirty="0">
                <a:solidFill>
                  <a:srgbClr val="000000"/>
                </a:solidFill>
                <a:highlight>
                  <a:srgbClr val="FFFFFF"/>
                </a:highlight>
                <a:latin typeface="Cascadia Mono" panose="020B0609020000020004" pitchFamily="49" charset="0"/>
              </a:rPr>
              <a:t>, </a:t>
            </a:r>
            <a:r>
              <a:rPr lang="en-US" sz="1400" dirty="0" err="1">
                <a:solidFill>
                  <a:srgbClr val="2B91AF"/>
                </a:solidFill>
                <a:highlight>
                  <a:srgbClr val="FFFFFF"/>
                </a:highlight>
                <a:latin typeface="Cascadia Mono" panose="020B0609020000020004" pitchFamily="49" charset="0"/>
              </a:rPr>
              <a:t>IReadOnlyDictionary</a:t>
            </a:r>
            <a:r>
              <a:rPr lang="en-US" sz="1400" dirty="0">
                <a:solidFill>
                  <a:srgbClr val="000000"/>
                </a:solidFill>
                <a:highlight>
                  <a:srgbClr val="FFFFFF"/>
                </a:highlight>
                <a:latin typeface="Cascadia Mono" panose="020B0609020000020004" pitchFamily="49" charset="0"/>
              </a:rPr>
              <a:t>&lt;</a:t>
            </a:r>
            <a:r>
              <a:rPr lang="en-US" sz="1400" dirty="0" err="1">
                <a:solidFill>
                  <a:srgbClr val="2B91AF"/>
                </a:solidFill>
                <a:highlight>
                  <a:srgbClr val="FFFFFF"/>
                </a:highlight>
                <a:latin typeface="Cascadia Mono" panose="020B0609020000020004" pitchFamily="49" charset="0"/>
              </a:rPr>
              <a:t>TKey</a:t>
            </a:r>
            <a:r>
              <a:rPr lang="en-US" sz="1400" dirty="0">
                <a:solidFill>
                  <a:srgbClr val="000000"/>
                </a:solidFill>
                <a:highlight>
                  <a:srgbClr val="FFFFFF"/>
                </a:highlight>
                <a:latin typeface="Cascadia Mono" panose="020B0609020000020004" pitchFamily="49" charset="0"/>
              </a:rPr>
              <a:t>, </a:t>
            </a:r>
            <a:r>
              <a:rPr lang="en-US" sz="1400" dirty="0">
                <a:solidFill>
                  <a:srgbClr val="2B91AF"/>
                </a:solidFill>
                <a:highlight>
                  <a:srgbClr val="FFFFFF"/>
                </a:highlight>
                <a:latin typeface="Cascadia Mono" panose="020B0609020000020004" pitchFamily="49" charset="0"/>
              </a:rPr>
              <a:t>TValue</a:t>
            </a:r>
            <a:r>
              <a:rPr lang="en-US" sz="1400" dirty="0">
                <a:solidFill>
                  <a:srgbClr val="000000"/>
                </a:solidFill>
                <a:highlight>
                  <a:srgbClr val="FFFFFF"/>
                </a:highlight>
                <a:latin typeface="Cascadia Mono" panose="020B0609020000020004" pitchFamily="49" charset="0"/>
              </a:rPr>
              <a:t>&gt; </a:t>
            </a:r>
            <a:r>
              <a:rPr lang="en-US" sz="1400" dirty="0">
                <a:solidFill>
                  <a:srgbClr val="0000FF"/>
                </a:solidFill>
                <a:highlight>
                  <a:srgbClr val="FFFFFF"/>
                </a:highlight>
                <a:latin typeface="Cascadia Mono" panose="020B0609020000020004" pitchFamily="49" charset="0"/>
              </a:rPr>
              <a:t>where</a:t>
            </a:r>
            <a:r>
              <a:rPr lang="en-US" sz="1400" dirty="0">
                <a:solidFill>
                  <a:srgbClr val="000000"/>
                </a:solidFill>
                <a:highlight>
                  <a:srgbClr val="FFFFFF"/>
                </a:highlight>
                <a:latin typeface="Cascadia Mono" panose="020B0609020000020004" pitchFamily="49" charset="0"/>
              </a:rPr>
              <a:t> </a:t>
            </a:r>
            <a:r>
              <a:rPr lang="en-US" sz="1400" dirty="0" err="1">
                <a:solidFill>
                  <a:srgbClr val="2B91AF"/>
                </a:solidFill>
                <a:highlight>
                  <a:srgbClr val="FFFFFF"/>
                </a:highlight>
                <a:latin typeface="Cascadia Mono" panose="020B0609020000020004" pitchFamily="49" charset="0"/>
              </a:rPr>
              <a:t>TKey</a:t>
            </a:r>
            <a:r>
              <a:rPr lang="en-US" sz="1400" dirty="0">
                <a:solidFill>
                  <a:srgbClr val="000000"/>
                </a:solidFill>
                <a:highlight>
                  <a:srgbClr val="FFFFFF"/>
                </a:highlight>
                <a:latin typeface="Cascadia Mono" panose="020B0609020000020004" pitchFamily="49" charset="0"/>
              </a:rPr>
              <a:t> : </a:t>
            </a:r>
            <a:r>
              <a:rPr lang="en-US" sz="1400" dirty="0" err="1">
                <a:solidFill>
                  <a:srgbClr val="0000FF"/>
                </a:solidFill>
                <a:highlight>
                  <a:srgbClr val="FFFFFF"/>
                </a:highlight>
                <a:latin typeface="Cascadia Mono" panose="020B0609020000020004" pitchFamily="49" charset="0"/>
              </a:rPr>
              <a:t>notnull</a:t>
            </a:r>
            <a:endParaRPr lang="en-IN" sz="1400" dirty="0"/>
          </a:p>
        </p:txBody>
      </p:sp>
      <p:sp>
        <p:nvSpPr>
          <p:cNvPr id="9" name="TextBox 8">
            <a:extLst>
              <a:ext uri="{FF2B5EF4-FFF2-40B4-BE49-F238E27FC236}">
                <a16:creationId xmlns:a16="http://schemas.microsoft.com/office/drawing/2014/main" id="{9DAEA997-922A-E1DC-7819-21A6BF45BA0B}"/>
              </a:ext>
            </a:extLst>
          </p:cNvPr>
          <p:cNvSpPr txBox="1"/>
          <p:nvPr/>
        </p:nvSpPr>
        <p:spPr>
          <a:xfrm>
            <a:off x="0" y="2590800"/>
            <a:ext cx="9144000"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dirty="0">
                <a:solidFill>
                  <a:srgbClr val="0000FF"/>
                </a:solidFill>
                <a:highlight>
                  <a:srgbClr val="FFFFFF"/>
                </a:highlight>
                <a:latin typeface="Cascadia Mono" panose="020B0609020000020004" pitchFamily="49" charset="0"/>
              </a:rPr>
              <a:t>public</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class</a:t>
            </a:r>
            <a:r>
              <a:rPr lang="en-US" sz="1400" dirty="0">
                <a:solidFill>
                  <a:srgbClr val="000000"/>
                </a:solidFill>
                <a:highlight>
                  <a:srgbClr val="FFFFFF"/>
                </a:highlight>
                <a:latin typeface="Cascadia Mono" panose="020B0609020000020004" pitchFamily="49" charset="0"/>
              </a:rPr>
              <a:t> </a:t>
            </a:r>
            <a:r>
              <a:rPr lang="en-US" sz="1400" dirty="0" err="1">
                <a:solidFill>
                  <a:srgbClr val="2B91AF"/>
                </a:solidFill>
                <a:highlight>
                  <a:srgbClr val="FFFFFF"/>
                </a:highlight>
                <a:latin typeface="Cascadia Mono" panose="020B0609020000020004" pitchFamily="49" charset="0"/>
              </a:rPr>
              <a:t>SortedDictionary</a:t>
            </a:r>
            <a:r>
              <a:rPr lang="en-US" sz="1400" dirty="0">
                <a:solidFill>
                  <a:srgbClr val="000000"/>
                </a:solidFill>
                <a:highlight>
                  <a:srgbClr val="FFFFFF"/>
                </a:highlight>
                <a:latin typeface="Cascadia Mono" panose="020B0609020000020004" pitchFamily="49" charset="0"/>
              </a:rPr>
              <a:t>&lt;</a:t>
            </a:r>
            <a:r>
              <a:rPr lang="en-US" sz="1400" dirty="0" err="1">
                <a:solidFill>
                  <a:srgbClr val="2B91AF"/>
                </a:solidFill>
                <a:highlight>
                  <a:srgbClr val="FFFFFF"/>
                </a:highlight>
                <a:latin typeface="Cascadia Mono" panose="020B0609020000020004" pitchFamily="49" charset="0"/>
              </a:rPr>
              <a:t>TKey</a:t>
            </a:r>
            <a:r>
              <a:rPr lang="en-US" sz="1400" dirty="0">
                <a:solidFill>
                  <a:srgbClr val="000000"/>
                </a:solidFill>
                <a:highlight>
                  <a:srgbClr val="FFFFFF"/>
                </a:highlight>
                <a:latin typeface="Cascadia Mono" panose="020B0609020000020004" pitchFamily="49" charset="0"/>
              </a:rPr>
              <a:t>, </a:t>
            </a:r>
            <a:r>
              <a:rPr lang="en-US" sz="1400" dirty="0">
                <a:solidFill>
                  <a:srgbClr val="2B91AF"/>
                </a:solidFill>
                <a:highlight>
                  <a:srgbClr val="FFFFFF"/>
                </a:highlight>
                <a:latin typeface="Cascadia Mono" panose="020B0609020000020004" pitchFamily="49" charset="0"/>
              </a:rPr>
              <a:t>TValue</a:t>
            </a:r>
            <a:r>
              <a:rPr lang="en-US" sz="1400" dirty="0">
                <a:solidFill>
                  <a:srgbClr val="000000"/>
                </a:solidFill>
                <a:highlight>
                  <a:srgbClr val="FFFFFF"/>
                </a:highlight>
                <a:latin typeface="Cascadia Mono" panose="020B0609020000020004" pitchFamily="49" charset="0"/>
              </a:rPr>
              <a:t>&gt; : </a:t>
            </a:r>
            <a:r>
              <a:rPr lang="en-US" sz="1400" dirty="0" err="1">
                <a:solidFill>
                  <a:srgbClr val="2B91AF"/>
                </a:solidFill>
                <a:highlight>
                  <a:srgbClr val="FFFFFF"/>
                </a:highlight>
                <a:latin typeface="Cascadia Mono" panose="020B0609020000020004" pitchFamily="49" charset="0"/>
              </a:rPr>
              <a:t>IDictionary</a:t>
            </a:r>
            <a:r>
              <a:rPr lang="en-US" sz="1400" dirty="0">
                <a:solidFill>
                  <a:srgbClr val="000000"/>
                </a:solidFill>
                <a:highlight>
                  <a:srgbClr val="FFFFFF"/>
                </a:highlight>
                <a:latin typeface="Cascadia Mono" panose="020B0609020000020004" pitchFamily="49" charset="0"/>
              </a:rPr>
              <a:t>&lt;</a:t>
            </a:r>
            <a:r>
              <a:rPr lang="en-US" sz="1400" dirty="0" err="1">
                <a:solidFill>
                  <a:srgbClr val="2B91AF"/>
                </a:solidFill>
                <a:highlight>
                  <a:srgbClr val="FFFFFF"/>
                </a:highlight>
                <a:latin typeface="Cascadia Mono" panose="020B0609020000020004" pitchFamily="49" charset="0"/>
              </a:rPr>
              <a:t>TKey</a:t>
            </a:r>
            <a:r>
              <a:rPr lang="en-US" sz="1400" dirty="0">
                <a:solidFill>
                  <a:srgbClr val="000000"/>
                </a:solidFill>
                <a:highlight>
                  <a:srgbClr val="FFFFFF"/>
                </a:highlight>
                <a:latin typeface="Cascadia Mono" panose="020B0609020000020004" pitchFamily="49" charset="0"/>
              </a:rPr>
              <a:t>, </a:t>
            </a:r>
            <a:r>
              <a:rPr lang="en-US" sz="1400" dirty="0">
                <a:solidFill>
                  <a:srgbClr val="2B91AF"/>
                </a:solidFill>
                <a:highlight>
                  <a:srgbClr val="FFFFFF"/>
                </a:highlight>
                <a:latin typeface="Cascadia Mono" panose="020B0609020000020004" pitchFamily="49" charset="0"/>
              </a:rPr>
              <a:t>TValue</a:t>
            </a:r>
            <a:r>
              <a:rPr lang="en-US" sz="1400" dirty="0">
                <a:solidFill>
                  <a:srgbClr val="000000"/>
                </a:solidFill>
                <a:highlight>
                  <a:srgbClr val="FFFFFF"/>
                </a:highlight>
                <a:latin typeface="Cascadia Mono" panose="020B0609020000020004" pitchFamily="49" charset="0"/>
              </a:rPr>
              <a:t>&gt;, </a:t>
            </a:r>
            <a:r>
              <a:rPr lang="en-US" sz="1400" dirty="0" err="1">
                <a:solidFill>
                  <a:srgbClr val="2B91AF"/>
                </a:solidFill>
                <a:highlight>
                  <a:srgbClr val="FFFFFF"/>
                </a:highlight>
                <a:latin typeface="Cascadia Mono" panose="020B0609020000020004" pitchFamily="49" charset="0"/>
              </a:rPr>
              <a:t>IDictionary</a:t>
            </a:r>
            <a:r>
              <a:rPr lang="en-US" sz="1400" dirty="0">
                <a:solidFill>
                  <a:srgbClr val="000000"/>
                </a:solidFill>
                <a:highlight>
                  <a:srgbClr val="FFFFFF"/>
                </a:highlight>
                <a:latin typeface="Cascadia Mono" panose="020B0609020000020004" pitchFamily="49" charset="0"/>
              </a:rPr>
              <a:t>, </a:t>
            </a:r>
            <a:r>
              <a:rPr lang="en-US" sz="1400" dirty="0" err="1">
                <a:solidFill>
                  <a:srgbClr val="2B91AF"/>
                </a:solidFill>
                <a:highlight>
                  <a:srgbClr val="FFFFFF"/>
                </a:highlight>
                <a:latin typeface="Cascadia Mono" panose="020B0609020000020004" pitchFamily="49" charset="0"/>
              </a:rPr>
              <a:t>IReadOnlyDictionary</a:t>
            </a:r>
            <a:r>
              <a:rPr lang="en-US" sz="1400" dirty="0">
                <a:solidFill>
                  <a:srgbClr val="000000"/>
                </a:solidFill>
                <a:highlight>
                  <a:srgbClr val="FFFFFF"/>
                </a:highlight>
                <a:latin typeface="Cascadia Mono" panose="020B0609020000020004" pitchFamily="49" charset="0"/>
              </a:rPr>
              <a:t>&lt;</a:t>
            </a:r>
            <a:r>
              <a:rPr lang="en-US" sz="1400" dirty="0" err="1">
                <a:solidFill>
                  <a:srgbClr val="2B91AF"/>
                </a:solidFill>
                <a:highlight>
                  <a:srgbClr val="FFFFFF"/>
                </a:highlight>
                <a:latin typeface="Cascadia Mono" panose="020B0609020000020004" pitchFamily="49" charset="0"/>
              </a:rPr>
              <a:t>TKey</a:t>
            </a:r>
            <a:r>
              <a:rPr lang="en-US" sz="1400" dirty="0">
                <a:solidFill>
                  <a:srgbClr val="000000"/>
                </a:solidFill>
                <a:highlight>
                  <a:srgbClr val="FFFFFF"/>
                </a:highlight>
                <a:latin typeface="Cascadia Mono" panose="020B0609020000020004" pitchFamily="49" charset="0"/>
              </a:rPr>
              <a:t>, </a:t>
            </a:r>
            <a:r>
              <a:rPr lang="en-US" sz="1400" dirty="0">
                <a:solidFill>
                  <a:srgbClr val="2B91AF"/>
                </a:solidFill>
                <a:highlight>
                  <a:srgbClr val="FFFFFF"/>
                </a:highlight>
                <a:latin typeface="Cascadia Mono" panose="020B0609020000020004" pitchFamily="49" charset="0"/>
              </a:rPr>
              <a:t>TValue</a:t>
            </a:r>
            <a:r>
              <a:rPr lang="en-US" sz="1400" dirty="0">
                <a:solidFill>
                  <a:srgbClr val="000000"/>
                </a:solidFill>
                <a:highlight>
                  <a:srgbClr val="FFFFFF"/>
                </a:highlight>
                <a:latin typeface="Cascadia Mono" panose="020B0609020000020004" pitchFamily="49" charset="0"/>
              </a:rPr>
              <a:t>&gt; </a:t>
            </a:r>
            <a:r>
              <a:rPr lang="en-US" sz="1400" dirty="0">
                <a:solidFill>
                  <a:srgbClr val="0000FF"/>
                </a:solidFill>
                <a:highlight>
                  <a:srgbClr val="FFFFFF"/>
                </a:highlight>
                <a:latin typeface="Cascadia Mono" panose="020B0609020000020004" pitchFamily="49" charset="0"/>
              </a:rPr>
              <a:t>where</a:t>
            </a:r>
            <a:r>
              <a:rPr lang="en-US" sz="1400" dirty="0">
                <a:solidFill>
                  <a:srgbClr val="000000"/>
                </a:solidFill>
                <a:highlight>
                  <a:srgbClr val="FFFFFF"/>
                </a:highlight>
                <a:latin typeface="Cascadia Mono" panose="020B0609020000020004" pitchFamily="49" charset="0"/>
              </a:rPr>
              <a:t> </a:t>
            </a:r>
            <a:r>
              <a:rPr lang="en-US" sz="1400" dirty="0" err="1">
                <a:solidFill>
                  <a:srgbClr val="2B91AF"/>
                </a:solidFill>
                <a:highlight>
                  <a:srgbClr val="FFFFFF"/>
                </a:highlight>
                <a:latin typeface="Cascadia Mono" panose="020B0609020000020004" pitchFamily="49" charset="0"/>
              </a:rPr>
              <a:t>TKey</a:t>
            </a:r>
            <a:r>
              <a:rPr lang="en-US" sz="1400" dirty="0">
                <a:solidFill>
                  <a:srgbClr val="000000"/>
                </a:solidFill>
                <a:highlight>
                  <a:srgbClr val="FFFFFF"/>
                </a:highlight>
                <a:latin typeface="Cascadia Mono" panose="020B0609020000020004" pitchFamily="49" charset="0"/>
              </a:rPr>
              <a:t> : </a:t>
            </a:r>
            <a:r>
              <a:rPr lang="en-US" sz="1400" dirty="0" err="1">
                <a:solidFill>
                  <a:srgbClr val="0000FF"/>
                </a:solidFill>
                <a:highlight>
                  <a:srgbClr val="FFFFFF"/>
                </a:highlight>
                <a:latin typeface="Cascadia Mono" panose="020B0609020000020004" pitchFamily="49" charset="0"/>
              </a:rPr>
              <a:t>notnull</a:t>
            </a:r>
            <a:endParaRPr lang="en-IN" sz="1400" dirty="0"/>
          </a:p>
        </p:txBody>
      </p:sp>
      <p:sp>
        <p:nvSpPr>
          <p:cNvPr id="11" name="TextBox 10">
            <a:extLst>
              <a:ext uri="{FF2B5EF4-FFF2-40B4-BE49-F238E27FC236}">
                <a16:creationId xmlns:a16="http://schemas.microsoft.com/office/drawing/2014/main" id="{0FFE0D9B-32C5-47C6-2C48-BD6A83A3657B}"/>
              </a:ext>
            </a:extLst>
          </p:cNvPr>
          <p:cNvSpPr txBox="1"/>
          <p:nvPr/>
        </p:nvSpPr>
        <p:spPr>
          <a:xfrm>
            <a:off x="-76200" y="3328483"/>
            <a:ext cx="9296400"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2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public</a:t>
            </a:r>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class</a:t>
            </a:r>
            <a:r>
              <a:rPr lang="en-IN" sz="1400" dirty="0">
                <a:solidFill>
                  <a:srgbClr val="000000"/>
                </a:solidFill>
                <a:highlight>
                  <a:srgbClr val="FFFFFF"/>
                </a:highlight>
                <a:latin typeface="Cascadia Mono" panose="020B0609020000020004" pitchFamily="49" charset="0"/>
              </a:rPr>
              <a:t> </a:t>
            </a:r>
            <a:r>
              <a:rPr lang="en-IN" sz="1400" dirty="0">
                <a:solidFill>
                  <a:srgbClr val="2B91AF"/>
                </a:solidFill>
                <a:highlight>
                  <a:srgbClr val="FFFFFF"/>
                </a:highlight>
                <a:latin typeface="Cascadia Mono" panose="020B0609020000020004" pitchFamily="49" charset="0"/>
              </a:rPr>
              <a:t>Dictionary</a:t>
            </a:r>
            <a:r>
              <a:rPr lang="en-IN" sz="1400" dirty="0">
                <a:solidFill>
                  <a:srgbClr val="000000"/>
                </a:solidFill>
                <a:highlight>
                  <a:srgbClr val="FFFFFF"/>
                </a:highlight>
                <a:latin typeface="Cascadia Mono" panose="020B0609020000020004" pitchFamily="49" charset="0"/>
              </a:rPr>
              <a:t>&lt;</a:t>
            </a:r>
            <a:r>
              <a:rPr lang="en-IN" sz="1400" dirty="0" err="1">
                <a:solidFill>
                  <a:srgbClr val="2B91AF"/>
                </a:solidFill>
                <a:highlight>
                  <a:srgbClr val="FFFFFF"/>
                </a:highlight>
                <a:latin typeface="Cascadia Mono" panose="020B0609020000020004" pitchFamily="49" charset="0"/>
              </a:rPr>
              <a:t>TKey</a:t>
            </a:r>
            <a:r>
              <a:rPr lang="en-IN" sz="1400" dirty="0">
                <a:solidFill>
                  <a:srgbClr val="000000"/>
                </a:solidFill>
                <a:highlight>
                  <a:srgbClr val="FFFFFF"/>
                </a:highlight>
                <a:latin typeface="Cascadia Mono" panose="020B0609020000020004" pitchFamily="49" charset="0"/>
              </a:rPr>
              <a:t>, </a:t>
            </a:r>
            <a:r>
              <a:rPr lang="en-IN" sz="1400" dirty="0">
                <a:solidFill>
                  <a:srgbClr val="2B91AF"/>
                </a:solidFill>
                <a:highlight>
                  <a:srgbClr val="FFFFFF"/>
                </a:highlight>
                <a:latin typeface="Cascadia Mono" panose="020B0609020000020004" pitchFamily="49" charset="0"/>
              </a:rPr>
              <a:t>TValue</a:t>
            </a:r>
            <a:r>
              <a:rPr lang="en-IN" sz="1400" dirty="0">
                <a:solidFill>
                  <a:srgbClr val="000000"/>
                </a:solidFill>
                <a:highlight>
                  <a:srgbClr val="FFFFFF"/>
                </a:highlight>
                <a:latin typeface="Cascadia Mono" panose="020B0609020000020004" pitchFamily="49" charset="0"/>
              </a:rPr>
              <a:t>&gt; : </a:t>
            </a:r>
            <a:r>
              <a:rPr lang="en-IN" sz="1400" dirty="0" err="1">
                <a:solidFill>
                  <a:srgbClr val="2B91AF"/>
                </a:solidFill>
                <a:highlight>
                  <a:srgbClr val="FFFFFF"/>
                </a:highlight>
                <a:latin typeface="Cascadia Mono" panose="020B0609020000020004" pitchFamily="49" charset="0"/>
              </a:rPr>
              <a:t>IDictionary</a:t>
            </a:r>
            <a:r>
              <a:rPr lang="en-IN" sz="1400" dirty="0">
                <a:solidFill>
                  <a:srgbClr val="000000"/>
                </a:solidFill>
                <a:highlight>
                  <a:srgbClr val="FFFFFF"/>
                </a:highlight>
                <a:latin typeface="Cascadia Mono" panose="020B0609020000020004" pitchFamily="49" charset="0"/>
              </a:rPr>
              <a:t>&lt;</a:t>
            </a:r>
            <a:r>
              <a:rPr lang="en-IN" sz="1400" dirty="0" err="1">
                <a:solidFill>
                  <a:srgbClr val="2B91AF"/>
                </a:solidFill>
                <a:highlight>
                  <a:srgbClr val="FFFFFF"/>
                </a:highlight>
                <a:latin typeface="Cascadia Mono" panose="020B0609020000020004" pitchFamily="49" charset="0"/>
              </a:rPr>
              <a:t>TKey</a:t>
            </a:r>
            <a:r>
              <a:rPr lang="en-IN" sz="1400" dirty="0">
                <a:solidFill>
                  <a:srgbClr val="000000"/>
                </a:solidFill>
                <a:highlight>
                  <a:srgbClr val="FFFFFF"/>
                </a:highlight>
                <a:latin typeface="Cascadia Mono" panose="020B0609020000020004" pitchFamily="49" charset="0"/>
              </a:rPr>
              <a:t>, </a:t>
            </a:r>
            <a:r>
              <a:rPr lang="en-IN" sz="1400" dirty="0">
                <a:solidFill>
                  <a:srgbClr val="2B91AF"/>
                </a:solidFill>
                <a:highlight>
                  <a:srgbClr val="FFFFFF"/>
                </a:highlight>
                <a:latin typeface="Cascadia Mono" panose="020B0609020000020004" pitchFamily="49" charset="0"/>
              </a:rPr>
              <a:t>TValue</a:t>
            </a:r>
            <a:r>
              <a:rPr lang="en-IN" sz="1400" dirty="0">
                <a:solidFill>
                  <a:srgbClr val="000000"/>
                </a:solidFill>
                <a:highlight>
                  <a:srgbClr val="FFFFFF"/>
                </a:highlight>
                <a:latin typeface="Cascadia Mono" panose="020B0609020000020004" pitchFamily="49" charset="0"/>
              </a:rPr>
              <a:t>&gt;, </a:t>
            </a:r>
            <a:r>
              <a:rPr lang="en-IN" sz="1400" dirty="0" err="1">
                <a:solidFill>
                  <a:srgbClr val="2B91AF"/>
                </a:solidFill>
                <a:highlight>
                  <a:srgbClr val="FFFFFF"/>
                </a:highlight>
                <a:latin typeface="Cascadia Mono" panose="020B0609020000020004" pitchFamily="49" charset="0"/>
              </a:rPr>
              <a:t>IDictionary</a:t>
            </a:r>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IReadOnlyDictionary</a:t>
            </a:r>
            <a:r>
              <a:rPr lang="en-IN" sz="1400" dirty="0">
                <a:solidFill>
                  <a:srgbClr val="000000"/>
                </a:solidFill>
                <a:highlight>
                  <a:srgbClr val="FFFFFF"/>
                </a:highlight>
                <a:latin typeface="Cascadia Mono" panose="020B0609020000020004" pitchFamily="49" charset="0"/>
              </a:rPr>
              <a:t>&lt;</a:t>
            </a:r>
            <a:r>
              <a:rPr lang="en-IN" sz="1400" dirty="0" err="1">
                <a:solidFill>
                  <a:srgbClr val="2B91AF"/>
                </a:solidFill>
                <a:highlight>
                  <a:srgbClr val="FFFFFF"/>
                </a:highlight>
                <a:latin typeface="Cascadia Mono" panose="020B0609020000020004" pitchFamily="49" charset="0"/>
              </a:rPr>
              <a:t>TKey</a:t>
            </a:r>
            <a:r>
              <a:rPr lang="en-IN" sz="1400" dirty="0">
                <a:solidFill>
                  <a:srgbClr val="000000"/>
                </a:solidFill>
                <a:highlight>
                  <a:srgbClr val="FFFFFF"/>
                </a:highlight>
                <a:latin typeface="Cascadia Mono" panose="020B0609020000020004" pitchFamily="49" charset="0"/>
              </a:rPr>
              <a:t>, </a:t>
            </a:r>
            <a:r>
              <a:rPr lang="en-IN" sz="1400" dirty="0">
                <a:solidFill>
                  <a:srgbClr val="2B91AF"/>
                </a:solidFill>
                <a:highlight>
                  <a:srgbClr val="FFFFFF"/>
                </a:highlight>
                <a:latin typeface="Cascadia Mono" panose="020B0609020000020004" pitchFamily="49" charset="0"/>
              </a:rPr>
              <a:t>TValue</a:t>
            </a:r>
            <a:r>
              <a:rPr lang="en-IN" sz="1400" dirty="0">
                <a:solidFill>
                  <a:srgbClr val="000000"/>
                </a:solidFill>
                <a:highlight>
                  <a:srgbClr val="FFFFFF"/>
                </a:highlight>
                <a:latin typeface="Cascadia Mono" panose="020B0609020000020004" pitchFamily="49" charset="0"/>
              </a:rPr>
              <a:t>&gt;, </a:t>
            </a:r>
            <a:r>
              <a:rPr lang="en-IN" sz="1400" dirty="0" err="1">
                <a:solidFill>
                  <a:srgbClr val="2B91AF"/>
                </a:solidFill>
                <a:highlight>
                  <a:srgbClr val="FFFFFF"/>
                </a:highlight>
                <a:latin typeface="Cascadia Mono" panose="020B0609020000020004" pitchFamily="49" charset="0"/>
              </a:rPr>
              <a:t>ISerializable</a:t>
            </a:r>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IDeserializationCallback</a:t>
            </a:r>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where</a:t>
            </a:r>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TKey</a:t>
            </a:r>
            <a:r>
              <a:rPr lang="en-IN" sz="1400" dirty="0">
                <a:solidFill>
                  <a:srgbClr val="000000"/>
                </a:solidFill>
                <a:highlight>
                  <a:srgbClr val="FFFFFF"/>
                </a:highlight>
                <a:latin typeface="Cascadia Mono" panose="020B0609020000020004" pitchFamily="49" charset="0"/>
              </a:rPr>
              <a:t> : </a:t>
            </a:r>
            <a:r>
              <a:rPr lang="en-IN" sz="1400" dirty="0" err="1">
                <a:solidFill>
                  <a:srgbClr val="0000FF"/>
                </a:solidFill>
                <a:highlight>
                  <a:srgbClr val="FFFFFF"/>
                </a:highlight>
                <a:latin typeface="Cascadia Mono" panose="020B0609020000020004" pitchFamily="49" charset="0"/>
              </a:rPr>
              <a:t>notnull</a:t>
            </a:r>
            <a:endParaRPr lang="en-IN" sz="1400" dirty="0">
              <a:solidFill>
                <a:srgbClr val="0000FF"/>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endParaRPr lang="en-IN" sz="3200" dirty="0"/>
          </a:p>
        </p:txBody>
      </p:sp>
      <p:sp>
        <p:nvSpPr>
          <p:cNvPr id="13" name="TextBox 12">
            <a:extLst>
              <a:ext uri="{FF2B5EF4-FFF2-40B4-BE49-F238E27FC236}">
                <a16:creationId xmlns:a16="http://schemas.microsoft.com/office/drawing/2014/main" id="{3694C451-A9CD-6381-AC61-2BEA2CACB7D7}"/>
              </a:ext>
            </a:extLst>
          </p:cNvPr>
          <p:cNvSpPr txBox="1"/>
          <p:nvPr/>
        </p:nvSpPr>
        <p:spPr>
          <a:xfrm>
            <a:off x="0" y="4626623"/>
            <a:ext cx="8915400"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400" dirty="0">
                <a:solidFill>
                  <a:srgbClr val="0000FF"/>
                </a:solidFill>
                <a:highlight>
                  <a:srgbClr val="FFFFFF"/>
                </a:highlight>
                <a:latin typeface="Cascadia Mono" panose="020B0609020000020004" pitchFamily="49" charset="0"/>
              </a:rPr>
              <a:t>public</a:t>
            </a:r>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interface</a:t>
            </a:r>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IDictionary</a:t>
            </a:r>
            <a:r>
              <a:rPr lang="en-IN" sz="1400" dirty="0">
                <a:solidFill>
                  <a:srgbClr val="000000"/>
                </a:solidFill>
                <a:highlight>
                  <a:srgbClr val="FFFFFF"/>
                </a:highlight>
                <a:latin typeface="Cascadia Mono" panose="020B0609020000020004" pitchFamily="49" charset="0"/>
              </a:rPr>
              <a:t>&lt;</a:t>
            </a:r>
            <a:r>
              <a:rPr lang="en-IN" sz="1400" dirty="0" err="1">
                <a:solidFill>
                  <a:srgbClr val="2B91AF"/>
                </a:solidFill>
                <a:highlight>
                  <a:srgbClr val="FFFFFF"/>
                </a:highlight>
                <a:latin typeface="Cascadia Mono" panose="020B0609020000020004" pitchFamily="49" charset="0"/>
              </a:rPr>
              <a:t>TKey</a:t>
            </a:r>
            <a:r>
              <a:rPr lang="en-IN" sz="1400" dirty="0">
                <a:solidFill>
                  <a:srgbClr val="000000"/>
                </a:solidFill>
                <a:highlight>
                  <a:srgbClr val="FFFFFF"/>
                </a:highlight>
                <a:latin typeface="Cascadia Mono" panose="020B0609020000020004" pitchFamily="49" charset="0"/>
              </a:rPr>
              <a:t>, </a:t>
            </a:r>
            <a:r>
              <a:rPr lang="en-IN" sz="1400" dirty="0">
                <a:solidFill>
                  <a:srgbClr val="2B91AF"/>
                </a:solidFill>
                <a:highlight>
                  <a:srgbClr val="FFFFFF"/>
                </a:highlight>
                <a:latin typeface="Cascadia Mono" panose="020B0609020000020004" pitchFamily="49" charset="0"/>
              </a:rPr>
              <a:t>TValue</a:t>
            </a:r>
            <a:r>
              <a:rPr lang="en-IN" sz="1400" dirty="0">
                <a:solidFill>
                  <a:srgbClr val="000000"/>
                </a:solidFill>
                <a:highlight>
                  <a:srgbClr val="FFFFFF"/>
                </a:highlight>
                <a:latin typeface="Cascadia Mono" panose="020B0609020000020004" pitchFamily="49" charset="0"/>
              </a:rPr>
              <a:t>&gt; : </a:t>
            </a:r>
            <a:r>
              <a:rPr lang="en-IN" sz="1400" dirty="0" err="1">
                <a:solidFill>
                  <a:srgbClr val="2B91AF"/>
                </a:solidFill>
                <a:highlight>
                  <a:srgbClr val="FFFFFF"/>
                </a:highlight>
                <a:latin typeface="Cascadia Mono" panose="020B0609020000020004" pitchFamily="49" charset="0"/>
              </a:rPr>
              <a:t>ICollection</a:t>
            </a:r>
            <a:r>
              <a:rPr lang="en-IN" sz="1400" dirty="0">
                <a:solidFill>
                  <a:srgbClr val="000000"/>
                </a:solidFill>
                <a:highlight>
                  <a:srgbClr val="FFFFFF"/>
                </a:highlight>
                <a:latin typeface="Cascadia Mono" panose="020B0609020000020004" pitchFamily="49" charset="0"/>
              </a:rPr>
              <a:t>&lt;</a:t>
            </a:r>
            <a:r>
              <a:rPr lang="en-IN" sz="1400" dirty="0" err="1">
                <a:solidFill>
                  <a:srgbClr val="2B91AF"/>
                </a:solidFill>
                <a:highlight>
                  <a:srgbClr val="FFFFFF"/>
                </a:highlight>
                <a:latin typeface="Cascadia Mono" panose="020B0609020000020004" pitchFamily="49" charset="0"/>
              </a:rPr>
              <a:t>KeyValuePair</a:t>
            </a:r>
            <a:r>
              <a:rPr lang="en-IN" sz="1400" dirty="0">
                <a:solidFill>
                  <a:srgbClr val="000000"/>
                </a:solidFill>
                <a:highlight>
                  <a:srgbClr val="FFFFFF"/>
                </a:highlight>
                <a:latin typeface="Cascadia Mono" panose="020B0609020000020004" pitchFamily="49" charset="0"/>
              </a:rPr>
              <a:t>&lt;</a:t>
            </a:r>
            <a:r>
              <a:rPr lang="en-IN" sz="1400" dirty="0" err="1">
                <a:solidFill>
                  <a:srgbClr val="2B91AF"/>
                </a:solidFill>
                <a:highlight>
                  <a:srgbClr val="FFFFFF"/>
                </a:highlight>
                <a:latin typeface="Cascadia Mono" panose="020B0609020000020004" pitchFamily="49" charset="0"/>
              </a:rPr>
              <a:t>TKey</a:t>
            </a:r>
            <a:r>
              <a:rPr lang="en-IN" sz="1400" dirty="0">
                <a:solidFill>
                  <a:srgbClr val="000000"/>
                </a:solidFill>
                <a:highlight>
                  <a:srgbClr val="FFFFFF"/>
                </a:highlight>
                <a:latin typeface="Cascadia Mono" panose="020B0609020000020004" pitchFamily="49" charset="0"/>
              </a:rPr>
              <a:t>, </a:t>
            </a:r>
            <a:r>
              <a:rPr lang="en-IN" sz="1400" dirty="0">
                <a:solidFill>
                  <a:srgbClr val="2B91AF"/>
                </a:solidFill>
                <a:highlight>
                  <a:srgbClr val="FFFFFF"/>
                </a:highlight>
                <a:latin typeface="Cascadia Mono" panose="020B0609020000020004" pitchFamily="49" charset="0"/>
              </a:rPr>
              <a:t>TValue</a:t>
            </a:r>
            <a:r>
              <a:rPr lang="en-IN" sz="1400" dirty="0">
                <a:solidFill>
                  <a:srgbClr val="000000"/>
                </a:solidFill>
                <a:highlight>
                  <a:srgbClr val="FFFFFF"/>
                </a:highlight>
                <a:latin typeface="Cascadia Mono" panose="020B0609020000020004" pitchFamily="49" charset="0"/>
              </a:rPr>
              <a:t>&gt;&gt;, </a:t>
            </a:r>
            <a:r>
              <a:rPr lang="en-IN" sz="1400" dirty="0" err="1">
                <a:solidFill>
                  <a:srgbClr val="2B91AF"/>
                </a:solidFill>
                <a:highlight>
                  <a:srgbClr val="FFFFFF"/>
                </a:highlight>
                <a:latin typeface="Cascadia Mono" panose="020B0609020000020004" pitchFamily="49" charset="0"/>
              </a:rPr>
              <a:t>IEnumerable</a:t>
            </a:r>
            <a:r>
              <a:rPr lang="en-IN" sz="1400" dirty="0">
                <a:solidFill>
                  <a:srgbClr val="000000"/>
                </a:solidFill>
                <a:highlight>
                  <a:srgbClr val="FFFFFF"/>
                </a:highlight>
                <a:latin typeface="Cascadia Mono" panose="020B0609020000020004" pitchFamily="49" charset="0"/>
              </a:rPr>
              <a:t>&lt;</a:t>
            </a:r>
            <a:r>
              <a:rPr lang="en-IN" sz="1400" dirty="0" err="1">
                <a:solidFill>
                  <a:srgbClr val="2B91AF"/>
                </a:solidFill>
                <a:highlight>
                  <a:srgbClr val="FFFFFF"/>
                </a:highlight>
                <a:latin typeface="Cascadia Mono" panose="020B0609020000020004" pitchFamily="49" charset="0"/>
              </a:rPr>
              <a:t>KeyValuePair</a:t>
            </a:r>
            <a:r>
              <a:rPr lang="en-IN" sz="1400" dirty="0">
                <a:solidFill>
                  <a:srgbClr val="000000"/>
                </a:solidFill>
                <a:highlight>
                  <a:srgbClr val="FFFFFF"/>
                </a:highlight>
                <a:latin typeface="Cascadia Mono" panose="020B0609020000020004" pitchFamily="49" charset="0"/>
              </a:rPr>
              <a:t>&lt;</a:t>
            </a:r>
            <a:r>
              <a:rPr lang="en-IN" sz="1400" dirty="0" err="1">
                <a:solidFill>
                  <a:srgbClr val="2B91AF"/>
                </a:solidFill>
                <a:highlight>
                  <a:srgbClr val="FFFFFF"/>
                </a:highlight>
                <a:latin typeface="Cascadia Mono" panose="020B0609020000020004" pitchFamily="49" charset="0"/>
              </a:rPr>
              <a:t>TKey</a:t>
            </a:r>
            <a:r>
              <a:rPr lang="en-IN" sz="1400" dirty="0">
                <a:solidFill>
                  <a:srgbClr val="000000"/>
                </a:solidFill>
                <a:highlight>
                  <a:srgbClr val="FFFFFF"/>
                </a:highlight>
                <a:latin typeface="Cascadia Mono" panose="020B0609020000020004" pitchFamily="49" charset="0"/>
              </a:rPr>
              <a:t>, </a:t>
            </a:r>
            <a:r>
              <a:rPr lang="en-IN" sz="1400" dirty="0">
                <a:solidFill>
                  <a:srgbClr val="2B91AF"/>
                </a:solidFill>
                <a:highlight>
                  <a:srgbClr val="FFFFFF"/>
                </a:highlight>
                <a:latin typeface="Cascadia Mono" panose="020B0609020000020004" pitchFamily="49" charset="0"/>
              </a:rPr>
              <a:t>TValue</a:t>
            </a:r>
            <a:r>
              <a:rPr lang="en-IN" sz="1400" dirty="0">
                <a:solidFill>
                  <a:srgbClr val="000000"/>
                </a:solidFill>
                <a:highlight>
                  <a:srgbClr val="FFFFFF"/>
                </a:highlight>
                <a:latin typeface="Cascadia Mono" panose="020B0609020000020004" pitchFamily="49" charset="0"/>
              </a:rPr>
              <a:t>&gt;&gt;, </a:t>
            </a:r>
            <a:r>
              <a:rPr lang="en-IN" sz="1400" dirty="0" err="1">
                <a:solidFill>
                  <a:srgbClr val="2B91AF"/>
                </a:solidFill>
                <a:highlight>
                  <a:srgbClr val="FFFFFF"/>
                </a:highlight>
                <a:latin typeface="Cascadia Mono" panose="020B0609020000020004" pitchFamily="49" charset="0"/>
              </a:rPr>
              <a:t>IEnumerable</a:t>
            </a:r>
            <a:endParaRPr lang="en-IN" sz="3600" dirty="0"/>
          </a:p>
        </p:txBody>
      </p:sp>
    </p:spTree>
    <p:extLst>
      <p:ext uri="{BB962C8B-B14F-4D97-AF65-F5344CB8AC3E}">
        <p14:creationId xmlns:p14="http://schemas.microsoft.com/office/powerpoint/2010/main" val="853610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aramond-Trebuchet MS">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2914</TotalTime>
  <Words>7169</Words>
  <Application>Microsoft Office PowerPoint</Application>
  <PresentationFormat>On-screen Show (4:3)</PresentationFormat>
  <Paragraphs>1289</Paragraphs>
  <Slides>36</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36</vt:i4>
      </vt:variant>
    </vt:vector>
  </HeadingPairs>
  <TitlesOfParts>
    <vt:vector size="48" baseType="lpstr">
      <vt:lpstr>Arial</vt:lpstr>
      <vt:lpstr>Arial Unicode MS</vt:lpstr>
      <vt:lpstr>Calibri</vt:lpstr>
      <vt:lpstr>Cambria</vt:lpstr>
      <vt:lpstr>Cascadia Mono</vt:lpstr>
      <vt:lpstr>Consolas</vt:lpstr>
      <vt:lpstr>Garamond</vt:lpstr>
      <vt:lpstr>Georgia</vt:lpstr>
      <vt:lpstr>Helvetica</vt:lpstr>
      <vt:lpstr>Times New Roman</vt:lpstr>
      <vt:lpstr>Trebuchet MS</vt:lpstr>
      <vt:lpstr>Office Theme</vt:lpstr>
      <vt:lpstr>PowerPoint Presentation</vt:lpstr>
      <vt:lpstr>PowerPoint Presentation</vt:lpstr>
      <vt:lpstr>PowerPoint Presentation</vt:lpstr>
      <vt:lpstr>PowerPoint Presentation</vt:lpstr>
      <vt:lpstr>Non Generic</vt:lpstr>
      <vt:lpstr>List class</vt:lpstr>
      <vt:lpstr>How to remove and modify data in list</vt:lpstr>
      <vt:lpstr>PowerPoint Presentation</vt:lpstr>
      <vt:lpstr>PowerPoint Presentation</vt:lpstr>
      <vt:lpstr>DEMO Predicate</vt:lpstr>
      <vt:lpstr>Passing method definition in method call</vt:lpstr>
      <vt:lpstr>Sorted List</vt:lpstr>
      <vt:lpstr>PowerPoint Presentation</vt:lpstr>
      <vt:lpstr>PowerPoint Presentation</vt:lpstr>
      <vt:lpstr>Demo 2 Sorted List</vt:lpstr>
      <vt:lpstr>PowerPoint Presentation</vt:lpstr>
      <vt:lpstr>SortedList</vt:lpstr>
      <vt:lpstr>Dictionary </vt:lpstr>
      <vt:lpstr>Sorted Dictionary</vt:lpstr>
      <vt:lpstr>HashSet</vt:lpstr>
      <vt:lpstr>HashSet</vt:lpstr>
      <vt:lpstr>Set</vt:lpstr>
      <vt:lpstr>PowerPoint Presentation</vt:lpstr>
      <vt:lpstr>Set</vt:lpstr>
      <vt:lpstr>Set</vt:lpstr>
      <vt:lpstr>PowerPoint Presentation</vt:lpstr>
      <vt:lpstr>Sorted set</vt:lpstr>
      <vt:lpstr>HashSet</vt:lpstr>
      <vt:lpstr>Dictionary</vt:lpstr>
      <vt:lpstr>IComparable&lt;T&gt;</vt:lpstr>
      <vt:lpstr>PowerPoint Presentation</vt:lpstr>
      <vt:lpstr>IComparer &lt;T&gt;</vt:lpstr>
      <vt:lpstr>IEnumerable </vt:lpstr>
      <vt:lpstr>PowerPoint Presentation</vt:lpstr>
      <vt:lpstr>PowerPoint Presentation</vt:lpstr>
      <vt:lpstr>PowerPoint Presentation</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 Handelling</dc:title>
  <dc:creator>Theory</dc:creator>
  <cp:lastModifiedBy>sriram mantri vidyanidhi infotech academy</cp:lastModifiedBy>
  <cp:revision>160</cp:revision>
  <dcterms:created xsi:type="dcterms:W3CDTF">2012-05-24T05:32:28Z</dcterms:created>
  <dcterms:modified xsi:type="dcterms:W3CDTF">2025-10-08T03:32:06Z</dcterms:modified>
</cp:coreProperties>
</file>