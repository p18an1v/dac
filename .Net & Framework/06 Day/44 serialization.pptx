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730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FE38-F050-47FC-972A-2C62A7FE0238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9FE38-F050-47FC-972A-2C62A7FE0238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750578-D8D6-4767-8C49-4EFFCBD988B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35BFC4-6EE2-4A43-98E9-146BD6B5190C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136" y="-120068"/>
            <a:ext cx="1282699" cy="8575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DC139F7-30EE-4C3C-BBF4-BAD32D2B5D66}"/>
              </a:ext>
            </a:extLst>
          </p:cNvPr>
          <p:cNvSpPr/>
          <p:nvPr userDrawn="1"/>
        </p:nvSpPr>
        <p:spPr>
          <a:xfrm>
            <a:off x="-73900" y="6568695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dotnet/standard/serialization/system-text-json/ignore-properties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dotnet/api/system.web.ui.objectstateformatter" TargetMode="External"/><Relationship Id="rId3" Type="http://schemas.openxmlformats.org/officeDocument/2006/relationships/hyperlink" Target="https://learn.microsoft.com/en-us/dotnet/api/system.runtime.serialization.datacontractserializer" TargetMode="External"/><Relationship Id="rId7" Type="http://schemas.openxmlformats.org/officeDocument/2006/relationships/hyperlink" Target="https://learn.microsoft.com/en-us/dotnet/api/system.runtime.serialization.netdatacontractserializer" TargetMode="External"/><Relationship Id="rId2" Type="http://schemas.openxmlformats.org/officeDocument/2006/relationships/hyperlink" Target="https://learn.microsoft.com/en-us/dotnet/api/system.xml.serialization.xmlserialize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dotnet/api/system.web.ui.losformatter" TargetMode="External"/><Relationship Id="rId5" Type="http://schemas.openxmlformats.org/officeDocument/2006/relationships/hyperlink" Target="https://learn.microsoft.com/en-us/dotnet/api/system.runtime.serialization.formatters.soap.soapformatter" TargetMode="External"/><Relationship Id="rId4" Type="http://schemas.openxmlformats.org/officeDocument/2006/relationships/hyperlink" Target="https://learn.microsoft.com/en-us/dotnet/api/system.text.js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4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1543050" y="3886201"/>
            <a:ext cx="245745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/>
              <a:t>ketkiacharya</a:t>
            </a:r>
            <a:r>
              <a:rPr lang="en-IN" sz="1350" dirty="0"/>
              <a:t>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B5396-9EF6-4E84-A717-18A5E5DFD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382000" cy="533400"/>
          </a:xfrm>
        </p:spPr>
        <p:txBody>
          <a:bodyPr>
            <a:normAutofit fontScale="90000"/>
          </a:bodyPr>
          <a:lstStyle/>
          <a:p>
            <a:r>
              <a:rPr lang="en-IN" dirty="0"/>
              <a:t>Serialization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B68FD-7E76-430C-A958-6AEC46175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85800"/>
            <a:ext cx="8382000" cy="5440363"/>
          </a:xfrm>
        </p:spPr>
        <p:txBody>
          <a:bodyPr/>
          <a:lstStyle/>
          <a:p>
            <a:pPr>
              <a:lnSpc>
                <a:spcPts val="1350"/>
              </a:lnSpc>
              <a:spcAft>
                <a:spcPts val="1000"/>
              </a:spcAft>
            </a:pPr>
            <a:r>
              <a:rPr lang="en-IN" sz="1800" dirty="0">
                <a:solidFill>
                  <a:srgbClr val="2A2A2A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Serialization is the process of converting an object into a stream of bytes in order to store the object or transmit it to memory, a database, or a file.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350"/>
              </a:lnSpc>
              <a:spcAft>
                <a:spcPts val="10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350"/>
              </a:lnSpc>
              <a:spcAft>
                <a:spcPts val="1000"/>
              </a:spcAft>
            </a:pPr>
            <a:r>
              <a:rPr lang="en-IN" sz="1800" dirty="0">
                <a:solidFill>
                  <a:srgbClr val="2A2A2A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Its main purpose is to save the state of an object in order to be able to recreate it when needed. The reverse process is called deserialization.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350"/>
              </a:lnSpc>
              <a:spcAft>
                <a:spcPts val="1000"/>
              </a:spcAft>
            </a:pPr>
            <a:r>
              <a:rPr lang="en-IN" sz="1800" dirty="0">
                <a:solidFill>
                  <a:srgbClr val="2A2A2A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 descr="Serialization Graphic">
            <a:extLst>
              <a:ext uri="{FF2B5EF4-FFF2-40B4-BE49-F238E27FC236}">
                <a16:creationId xmlns:a16="http://schemas.microsoft.com/office/drawing/2014/main" id="{A90A006E-C8B0-4BB3-A597-95FCF80DB55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585084"/>
            <a:ext cx="5410200" cy="236791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C90376-C00F-4A11-A3B0-7025532ABAC4}"/>
              </a:ext>
            </a:extLst>
          </p:cNvPr>
          <p:cNvSpPr txBox="1"/>
          <p:nvPr/>
        </p:nvSpPr>
        <p:spPr>
          <a:xfrm>
            <a:off x="457200" y="5117574"/>
            <a:ext cx="8153400" cy="844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2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Utopia-Regular"/>
              </a:rPr>
              <a:t> Be aware that you cannot inherit the </a:t>
            </a:r>
            <a:r>
              <a:rPr lang="en-IN" sz="12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heSansMonoConNormal"/>
              </a:rPr>
              <a:t>[Serializable] </a:t>
            </a:r>
            <a:r>
              <a:rPr lang="en-IN" sz="12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Utopia-Regular"/>
              </a:rPr>
              <a:t>attribute from a parent class. Therefore, if you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2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Utopia-Regular"/>
              </a:rPr>
              <a:t>derive a class from a type marked </a:t>
            </a:r>
            <a:r>
              <a:rPr lang="en-IN" sz="12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heSansMonoConNormal"/>
              </a:rPr>
              <a:t>[Serializable]</a:t>
            </a:r>
            <a:r>
              <a:rPr lang="en-IN" sz="12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Utopia-Regular"/>
              </a:rPr>
              <a:t>, the child class must be marked </a:t>
            </a:r>
            <a:r>
              <a:rPr lang="en-IN" sz="12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heSansMonoConNormal"/>
              </a:rPr>
              <a:t>[Serializable] </a:t>
            </a:r>
            <a:r>
              <a:rPr lang="en-IN" sz="12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Utopia-Regular"/>
              </a:rPr>
              <a:t>as well, or it cannot be persisted.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98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4D3C7-3D3D-4C94-AC31-C3B1BF37C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of serialization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A0C3B-5633-4AA0-9A58-6DABA5CEC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solidFill>
                  <a:srgbClr val="2A2A2A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Through serialization, a developer can perform actions like</a:t>
            </a:r>
          </a:p>
          <a:p>
            <a:r>
              <a:rPr lang="en-IN" sz="1800" dirty="0">
                <a:solidFill>
                  <a:srgbClr val="2A2A2A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sending the object to a remote application by means of a Web Service,</a:t>
            </a:r>
          </a:p>
          <a:p>
            <a:r>
              <a:rPr lang="en-IN" sz="1800" dirty="0">
                <a:solidFill>
                  <a:srgbClr val="2A2A2A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passing an object from one domain to another, </a:t>
            </a:r>
          </a:p>
          <a:p>
            <a:r>
              <a:rPr lang="en-IN" sz="1800" dirty="0">
                <a:solidFill>
                  <a:srgbClr val="2A2A2A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passing an object through a firewall as an XML string, </a:t>
            </a:r>
          </a:p>
          <a:p>
            <a:r>
              <a:rPr lang="en-IN" sz="1800" dirty="0">
                <a:solidFill>
                  <a:srgbClr val="2A2A2A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or maintaining security or user-specific information across applications.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4751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F46DF-46C6-4FC1-B1DE-F69570203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Soap serialization[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SoapFormatter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class</a:t>
            </a:r>
            <a:r>
              <a:rPr lang="en-IN" dirty="0"/>
              <a:t>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FAECB-00E9-4747-89BE-89FB1D73B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5867400" cy="4602163"/>
          </a:xfrm>
        </p:spPr>
        <p:txBody>
          <a:bodyPr>
            <a:normAutofit fontScale="85000" lnSpcReduction="10000"/>
          </a:bodyPr>
          <a:lstStyle/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solidFill>
                  <a:srgbClr val="40404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SOAP stands for Simple Object Access Protocol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solidFill>
                  <a:srgbClr val="40404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SOAP is a communication protocol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solidFill>
                  <a:srgbClr val="40404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SOAP is for communication between applications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solidFill>
                  <a:srgbClr val="40404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SOAP is a format for sending messages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solidFill>
                  <a:srgbClr val="40404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SOAP communicates via Internet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solidFill>
                  <a:srgbClr val="40404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SOAP is platform independent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solidFill>
                  <a:srgbClr val="40404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SOAP is language independent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solidFill>
                  <a:srgbClr val="40404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SOAP is based on XML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solidFill>
                  <a:srgbClr val="40404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SOAP is simple and extensible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solidFill>
                  <a:srgbClr val="40404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SOAP allows you to get around firewalls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solidFill>
                  <a:srgbClr val="40404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SOAP is a W3C recommendation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F0D384-E4FA-5EF6-30C5-1C383A4F37C8}"/>
              </a:ext>
            </a:extLst>
          </p:cNvPr>
          <p:cNvSpPr txBox="1"/>
          <p:nvPr/>
        </p:nvSpPr>
        <p:spPr>
          <a:xfrm>
            <a:off x="6477000" y="1676400"/>
            <a:ext cx="26670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Soap Serialization is not supported in .</a:t>
            </a:r>
            <a:r>
              <a:rPr lang="en-US" dirty="0" err="1"/>
              <a:t>NetCore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7021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07C7E-EF51-422E-858C-BF1B076A4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490" y="-152400"/>
            <a:ext cx="8229600" cy="1143000"/>
          </a:xfrm>
        </p:spPr>
        <p:txBody>
          <a:bodyPr/>
          <a:lstStyle/>
          <a:p>
            <a:r>
              <a:rPr lang="en-IN" dirty="0"/>
              <a:t>Add reference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2C178-1281-4A30-B28F-C28DCFE65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910" y="762000"/>
            <a:ext cx="8241890" cy="5364163"/>
          </a:xfrm>
        </p:spPr>
        <p:txBody>
          <a:bodyPr>
            <a:normAutofit fontScale="70000" lnSpcReduction="20000"/>
          </a:bodyPr>
          <a:lstStyle/>
          <a:p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To use SOAP you have to add Assembly</a:t>
            </a:r>
          </a:p>
          <a:p>
            <a:pPr marL="0" indent="0">
              <a:buNone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	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System.Runtime.Serialization.Formatters.Soap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</a:p>
          <a:p>
            <a:endParaRPr lang="en-IN" sz="1800" dirty="0">
              <a:latin typeface="Calibri" panose="020F0502020204030204" pitchFamily="34" charset="0"/>
            </a:endParaRPr>
          </a:p>
          <a:p>
            <a:r>
              <a:rPr lang="en-IN" sz="1800" dirty="0">
                <a:latin typeface="Calibri" panose="020F0502020204030204" pitchFamily="34" charset="0"/>
              </a:rPr>
              <a:t>If it is not available directly then you have to add reference  for the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System. Runtime. Serialization. Formatters. Soap.dll file.</a:t>
            </a:r>
          </a:p>
          <a:p>
            <a:endParaRPr lang="en-IN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SOAP is </a:t>
            </a:r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Platform independent, Language independent</a:t>
            </a:r>
          </a:p>
          <a:p>
            <a:endParaRPr lang="en-IN" sz="1800" dirty="0">
              <a:solidFill>
                <a:srgbClr val="111111"/>
              </a:solidFill>
              <a:latin typeface="Segoe UI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The SOAP protocol is ideal for communicating between applications that </a:t>
            </a:r>
            <a:r>
              <a:rPr lang="en-IN" sz="1800" dirty="0">
                <a:solidFill>
                  <a:srgbClr val="111111"/>
                </a:solidFill>
                <a:effectLst/>
                <a:highlight>
                  <a:srgbClr val="FFFF00"/>
                </a:highlight>
                <a:latin typeface="Segoe UI" panose="020B0502040204020203" pitchFamily="34" charset="0"/>
                <a:ea typeface="Times New Roman" panose="02020603050405020304" pitchFamily="18" charset="0"/>
              </a:rPr>
              <a:t>use heterogeneous 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1800" dirty="0">
                <a:solidFill>
                  <a:srgbClr val="111111"/>
                </a:solidFill>
                <a:effectLst/>
                <a:highlight>
                  <a:srgbClr val="FFFF00"/>
                </a:highlight>
                <a:latin typeface="Segoe UI" panose="020B0502040204020203" pitchFamily="34" charset="0"/>
                <a:ea typeface="Calibri" panose="020F0502020204030204" pitchFamily="34" charset="0"/>
              </a:rPr>
              <a:t>architectures.</a:t>
            </a:r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 </a:t>
            </a:r>
          </a:p>
          <a:p>
            <a:endParaRPr lang="en-IN" sz="1800" dirty="0">
              <a:solidFill>
                <a:srgbClr val="111111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if the message is sent through a firewall and Easy debugging.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dirty="0">
              <a:solidFill>
                <a:srgbClr val="111111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will 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serialize public as well as private data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During SOAP </a:t>
            </a:r>
            <a:r>
              <a:rPr lang="en-IN" sz="1800" dirty="0" err="1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serializatons</a:t>
            </a:r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, private fields, type information including assembly, namespace, public key token information are also serialized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Deserialization gives the same object as it was before serialization.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Serialization can be controlled to exclude a field using [</a:t>
            </a:r>
            <a:r>
              <a:rPr lang="en-IN" sz="1800" dirty="0" err="1">
                <a:solidFill>
                  <a:srgbClr val="99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NonSerialized</a:t>
            </a:r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attribute.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serialize You just 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need  </a:t>
            </a:r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800" dirty="0">
                <a:solidFill>
                  <a:srgbClr val="99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Serializable</a:t>
            </a:r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attribute above the  class</a:t>
            </a:r>
            <a:endParaRPr lang="en-IN" sz="18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11111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deserialize it does not </a:t>
            </a:r>
            <a:r>
              <a:rPr lang="en-IN" sz="1800" dirty="0">
                <a:solidFill>
                  <a:srgbClr val="111111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require </a:t>
            </a:r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have a parameter less constructor </a:t>
            </a:r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Because of performance issues, the constructor of the class is not called during deserialization</a:t>
            </a:r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which is  required in </a:t>
            </a:r>
            <a:r>
              <a:rPr lang="en-IN" sz="1800" dirty="0" err="1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XMLSerialization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114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48759-F71E-4416-A48D-613AEFAAE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"/>
            <a:ext cx="8229600" cy="914400"/>
          </a:xfrm>
        </p:spPr>
        <p:txBody>
          <a:bodyPr/>
          <a:lstStyle/>
          <a:p>
            <a:r>
              <a:rPr lang="en-IN" dirty="0"/>
              <a:t>Binary serialization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1C423-DA80-4418-BF4B-6B8A7310D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143000"/>
            <a:ext cx="8458200" cy="515858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BinaryFormatter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class is in name space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System.Runtime.Serialization.Formatters.Binary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is available in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mscorlib.dll file  (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BinaryFormat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will serialize public as well as private data.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During binary </a:t>
            </a:r>
            <a:r>
              <a:rPr lang="en-IN" sz="1800" dirty="0" err="1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serializatons</a:t>
            </a:r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private fields, type information including assembly, namespace, public key token information are also serialized.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just 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need  </a:t>
            </a:r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800" dirty="0">
                <a:solidFill>
                  <a:srgbClr val="99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Serializable</a:t>
            </a:r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attribute above class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skip serialization of any member of class use [</a:t>
            </a:r>
            <a:r>
              <a:rPr lang="en-IN" sz="1800" dirty="0" err="1">
                <a:solidFill>
                  <a:srgbClr val="99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NonSerialized</a:t>
            </a:r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 not need to have a </a:t>
            </a:r>
            <a:r>
              <a:rPr lang="en-IN" sz="1800" dirty="0" err="1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parameterless</a:t>
            </a:r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constructor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is Platform dependent and Language Dependent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advantage </a:t>
            </a:r>
            <a:r>
              <a:rPr lang="en-IN" sz="1800" b="1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of Binary Serialization is enhanced performance as it is faster and even more powerful in the sense that it provides support for complex objects,</a:t>
            </a:r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read only properties and even circular references.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downside to this is that it is not easily portable to another platform.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IN" sz="1800" b="1" dirty="0">
              <a:solidFill>
                <a:srgbClr val="111111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EC0C48-C45C-FCCF-C77A-E8FDD3E7A1B6}"/>
              </a:ext>
            </a:extLst>
          </p:cNvPr>
          <p:cNvSpPr txBox="1"/>
          <p:nvPr/>
        </p:nvSpPr>
        <p:spPr>
          <a:xfrm>
            <a:off x="6477000" y="1676400"/>
            <a:ext cx="26670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Binary Serialization is Obsolete in .</a:t>
            </a:r>
            <a:r>
              <a:rPr lang="en-US" dirty="0" err="1"/>
              <a:t>NetCore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8816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2D032-BE59-429F-BC57-A1E5D6C50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XML Serialization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A993A-A4DD-471E-B1ED-8A0A5EEA4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XmlSerializer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class is in name space 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System.Xml.Serialization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in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System.Xml.dll file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can serialize only public data ,</a:t>
            </a:r>
            <a:r>
              <a:rPr lang="en-IN" sz="1800" i="1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Utopia-Italic"/>
              </a:rPr>
              <a:t> </a:t>
            </a:r>
            <a:r>
              <a:rPr lang="en-IN" sz="1800" b="1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Utopia-Regular"/>
              </a:rPr>
              <a:t>public data fields</a:t>
            </a:r>
            <a:r>
              <a:rPr lang="en-IN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Utopia-Regular"/>
              </a:rPr>
              <a:t> or private data exposed by public properties. </a:t>
            </a:r>
            <a:r>
              <a:rPr lang="en-IN" sz="1800" b="1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Utopia-Regular"/>
              </a:rPr>
              <a:t>Private data</a:t>
            </a:r>
            <a:r>
              <a:rPr lang="en-IN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Utopia-Regular"/>
              </a:rPr>
              <a:t> not exposed from properties will be </a:t>
            </a:r>
            <a:r>
              <a:rPr lang="en-IN" sz="1800" b="1">
                <a:effectLst/>
                <a:latin typeface="Cambria" panose="02040503050406030204" pitchFamily="18" charset="0"/>
                <a:ea typeface="Calibri" panose="020F0502020204030204" pitchFamily="34" charset="0"/>
                <a:cs typeface="Utopia-Regular"/>
              </a:rPr>
              <a:t>ignored</a:t>
            </a:r>
            <a:r>
              <a:rPr lang="en-IN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 of </a:t>
            </a:r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800" dirty="0">
                <a:solidFill>
                  <a:srgbClr val="99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Serializable</a:t>
            </a:r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attribute above class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It do need to have a </a:t>
            </a:r>
            <a:r>
              <a:rPr lang="en-IN" sz="1800" dirty="0" err="1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parameterless</a:t>
            </a:r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constructor for deserialization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Platform independent, Language independent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XML ---Serialized form of the object does not contain any type, assembly information of the class. Only the data is stored.</a:t>
            </a:r>
            <a:endParaRPr lang="en-IN" sz="1800" dirty="0">
              <a:solidFill>
                <a:srgbClr val="11111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tabLst>
                <a:tab pos="457200" algn="l"/>
              </a:tabLst>
            </a:pPr>
            <a:r>
              <a:rPr lang="en-IN" sz="1800" dirty="0">
                <a:solidFill>
                  <a:srgbClr val="111111"/>
                </a:solidFill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Advantage of XML serialization is  </a:t>
            </a:r>
            <a:r>
              <a:rPr lang="en-IN" sz="1800" dirty="0">
                <a:solidFill>
                  <a:srgbClr val="11111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Support for cross platforms and Easily readable and editable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9507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7DDFF-EDB1-4328-96F2-64E9D9732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30161"/>
            <a:ext cx="8478982" cy="411162"/>
          </a:xfrm>
        </p:spPr>
        <p:txBody>
          <a:bodyPr>
            <a:noAutofit/>
          </a:bodyPr>
          <a:lstStyle/>
          <a:p>
            <a:r>
              <a:rPr lang="en-IN" sz="2400" dirty="0"/>
              <a:t>Soap Serialization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A772F-511E-4D25-9D35-12B18C6CE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9" y="487363"/>
            <a:ext cx="4419601" cy="568483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Must reference System.Runtime.Serialization.Formatters.Soap.dll.</a:t>
            </a: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System.Runtime.Serialization.Formatters.Soap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System.IO;</a:t>
            </a:r>
          </a:p>
          <a:p>
            <a:pPr marL="0" indent="0">
              <a:buNone/>
            </a:pP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SimpleSerialize</a:t>
            </a: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[</a:t>
            </a:r>
            <a:r>
              <a:rPr lang="en-IN" sz="1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Serializable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public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employee(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nm,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id)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Name = nm;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Salary = 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.id = id;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name; }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set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name =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Salary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F7372E-E874-4B74-BB37-402E057246F9}"/>
              </a:ext>
            </a:extLst>
          </p:cNvPr>
          <p:cNvSpPr txBox="1"/>
          <p:nvPr/>
        </p:nvSpPr>
        <p:spPr>
          <a:xfrm>
            <a:off x="4343400" y="685800"/>
            <a:ext cx="4572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Be sure to import the </a:t>
            </a:r>
            <a:r>
              <a:rPr lang="en-US" sz="11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System.Xml.Serialization</a:t>
            </a:r>
            <a:endParaRPr lang="en-US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and System.IO namespaces.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"***** Fun with Object Serialization *****\n"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employee e = new employee();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myEmp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[2];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myEmp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[0] =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"raj"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7000, 101);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myEmp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[1] =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1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geeta</a:t>
            </a:r>
            <a:r>
              <a:rPr lang="en-US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9000, 102);</a:t>
            </a: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Save as SOAP.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SaveAsSoapFormat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myEmp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IN" sz="11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CarData.soap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fn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IN" sz="11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CarData.soap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LoadFromFile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fn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2348026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7DDFF-EDB1-4328-96F2-64E9D9732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07578"/>
            <a:ext cx="8478982" cy="411162"/>
          </a:xfrm>
        </p:spPr>
        <p:txBody>
          <a:bodyPr>
            <a:noAutofit/>
          </a:bodyPr>
          <a:lstStyle/>
          <a:p>
            <a:r>
              <a:rPr lang="en-IN" sz="2400" dirty="0"/>
              <a:t>Soap Serialization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A772F-511E-4D25-9D35-12B18C6CE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685801"/>
            <a:ext cx="8193741" cy="274319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SaveAsSoapFormat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objGraph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fileName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//</a:t>
            </a:r>
            <a:r>
              <a:rPr lang="en-US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Serialisation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Save object to a file named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CarData.soap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in SOAP format.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SoapFormatter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soapFormat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SoapFormatter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Stream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fStream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FileStream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fileName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FileMode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.Create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FileAccess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soapFormat.Serialize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fStream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objGraph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"=&gt; Saved car in SOAP format!"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endParaRPr lang="en-IN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F7372E-E874-4B74-BB37-402E057246F9}"/>
              </a:ext>
            </a:extLst>
          </p:cNvPr>
          <p:cNvSpPr txBox="1"/>
          <p:nvPr/>
        </p:nvSpPr>
        <p:spPr>
          <a:xfrm>
            <a:off x="4482" y="3516084"/>
            <a:ext cx="836407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			//</a:t>
            </a:r>
            <a:r>
              <a:rPr lang="en-US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Deserialisation</a:t>
            </a:r>
            <a:endParaRPr lang="en-US" sz="14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LoadFromFile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read object to a file named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CarData.soap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in SOAP format.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SoapFormatter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soapFormat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SoapFormatter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Stream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fStream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FileStream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FileMode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.Open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obj = (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[])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soapFormat.Deserialize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fStream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foreach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obj)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"{0}  {1}"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e.Name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e.Salary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915040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94027-878B-4A82-B9DE-40ACF632F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847" y="118969"/>
            <a:ext cx="7772400" cy="639762"/>
          </a:xfrm>
        </p:spPr>
        <p:txBody>
          <a:bodyPr>
            <a:noAutofit/>
          </a:bodyPr>
          <a:lstStyle/>
          <a:p>
            <a:r>
              <a:rPr lang="en-IN" sz="2000" dirty="0"/>
              <a:t>XML Serialization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B8D14-C67F-46CF-BB31-48D424249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3400" y="758731"/>
            <a:ext cx="4495800" cy="50292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Be sure to import the </a:t>
            </a:r>
            <a:r>
              <a:rPr lang="en-US" sz="12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System.Xml.Serialization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and System.IO namespaces.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"***** Fun with Object Serialization *****\n"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//employee e = new employee();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myEmp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&gt;();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myEmp.Add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"raj"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7000, 1));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myEmp.Add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geeta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9000, 2));</a:t>
            </a: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Save as SOAP.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SaveAsXmlFormat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myEmp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@"..\xmlemp.xml"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@"..\xmlemp.xml"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LoadFromFile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endParaRPr lang="en-IN" sz="1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505953-91BB-4F52-9770-7ABB46BC4E93}"/>
              </a:ext>
            </a:extLst>
          </p:cNvPr>
          <p:cNvSpPr txBox="1"/>
          <p:nvPr/>
        </p:nvSpPr>
        <p:spPr>
          <a:xfrm>
            <a:off x="304800" y="914400"/>
            <a:ext cx="4038600" cy="445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SimpleSerialize</a:t>
            </a:r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5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name;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id;</a:t>
            </a:r>
          </a:p>
          <a:p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employee() { }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//xml require </a:t>
            </a:r>
            <a:r>
              <a:rPr lang="en-US" sz="105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parameterless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constructor</a:t>
            </a:r>
            <a:endParaRPr lang="en-US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employee(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nm,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id)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Name = nm;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Salary = 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.id = id;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 {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name; }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name =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 }</a:t>
            </a:r>
          </a:p>
          <a:p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Salary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059501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94027-878B-4A82-B9DE-40ACF632F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-73084"/>
            <a:ext cx="7772400" cy="639762"/>
          </a:xfrm>
        </p:spPr>
        <p:txBody>
          <a:bodyPr>
            <a:noAutofit/>
          </a:bodyPr>
          <a:lstStyle/>
          <a:p>
            <a:r>
              <a:rPr lang="en-IN" sz="2000" dirty="0"/>
              <a:t>XML Serialization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B8D14-C67F-46CF-BB31-48D424249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429000"/>
            <a:ext cx="7862047" cy="286232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LoadFromFile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fn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          //Deserialization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read object to a file named </a:t>
            </a:r>
            <a:r>
              <a:rPr lang="en-US" sz="11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CarData.soap</a:t>
            </a:r>
            <a:r>
              <a:rPr lang="en-US" sz="1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in SOAP format.</a:t>
            </a:r>
            <a:endParaRPr lang="en-US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XmlSerializer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xmlFormat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XmlSerializer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typeof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&gt;));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Stream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fStream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FileStream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fn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FileMode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.Open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FileAccess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fStream.Position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0;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obj = (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&gt;)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xmlFormat.Deserialize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fStream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foreach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obj)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"{0}  {1}"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e.Name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e.Salary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None/>
            </a:pP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sz="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505953-91BB-4F52-9770-7ABB46BC4E93}"/>
              </a:ext>
            </a:extLst>
          </p:cNvPr>
          <p:cNvSpPr txBox="1"/>
          <p:nvPr/>
        </p:nvSpPr>
        <p:spPr>
          <a:xfrm>
            <a:off x="457200" y="246797"/>
            <a:ext cx="8458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SaveAsXmlFormat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objGraph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fileName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//Serialization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Save object to a file named CarData.xml in XML format.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XmlSerializer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xmlFormat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XmlSerializer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typeof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&gt;));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Stream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fStream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FileStream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fileName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FileMode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.Create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FileAccess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xmlFormat.Serialize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fStream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objGraph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"=&gt; Saved car in XML format!"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endParaRPr lang="en-IN" sz="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2212928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CC60A-56C4-4ADF-B63A-683BC80E1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7929"/>
            <a:ext cx="7543800" cy="563562"/>
          </a:xfrm>
        </p:spPr>
        <p:txBody>
          <a:bodyPr>
            <a:normAutofit fontScale="90000"/>
          </a:bodyPr>
          <a:lstStyle/>
          <a:p>
            <a:r>
              <a:rPr lang="en-IN" dirty="0"/>
              <a:t>Binary Serialization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ABFF8-F11A-4FFC-BDA6-A968A7616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59" y="381000"/>
            <a:ext cx="4038600" cy="62585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sing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System.Collections.Generic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Gain access to the </a:t>
            </a:r>
            <a:r>
              <a:rPr lang="en-US" sz="10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BinaryFormatter</a:t>
            </a:r>
            <a:r>
              <a:rPr lang="en-US" sz="10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in mscorlib.dll.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System.Runtime.Serialization.Formatters.Binary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System.IO;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SimpleSerialize</a:t>
            </a: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[</a:t>
            </a:r>
            <a:r>
              <a:rPr lang="en-IN" sz="1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Serializable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employee(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nm,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Name = nm;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Salary = 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name; }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name =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 }</a:t>
            </a:r>
          </a:p>
          <a:p>
            <a:pPr marL="0" indent="0">
              <a:buNone/>
            </a:pP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Salary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0942E1-F535-4CAA-879B-6ABE6D86F1DD}"/>
              </a:ext>
            </a:extLst>
          </p:cNvPr>
          <p:cNvSpPr txBox="1"/>
          <p:nvPr/>
        </p:nvSpPr>
        <p:spPr>
          <a:xfrm>
            <a:off x="4074459" y="685800"/>
            <a:ext cx="5033681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static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"***** Fun with Object Serialization *****\n"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employee e = new employee();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myEmp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&gt;();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myEmp.Add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"raj"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7000));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myEmp.Add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geeta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9000));</a:t>
            </a: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</a:t>
            </a:r>
            <a:r>
              <a:rPr lang="en-IN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Save as SOAP.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SaveAsBinaryFormat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myEmp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@"..\binemp"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@"..\binemp 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LoadFromFile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685237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E6B8B-9496-48F7-98CC-D3770E653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609600"/>
            <a:ext cx="8839200" cy="61722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US" sz="18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SaveAsBinaryFormat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objGraph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fileName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///serialized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Save object to a file named 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CarData.soap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in SOAP format.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BinaryFormatter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binaryFormate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BinaryFormatter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Stream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fStream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FileStream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fileName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FileMode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.Create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FileAccess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binaryFormate.Serialize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fStream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objGraph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"=&gt; Saved car in SOAP format!"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LoadFromFile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  //Deserialized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read object to a file named 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CarData.soap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in SOAP format.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BinaryFormatter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binaryFormat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BinaryFormatter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Stream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fStream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FileStream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FileMode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.Open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obj = (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&gt;)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binaryFormat.Deserialize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fStream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foreach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employee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obj)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</a:t>
            </a:r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"{0}  {1}"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e.Name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I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e.Salary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}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5452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9364DF5-F196-DC9D-B643-A6F278D3FC5D}"/>
              </a:ext>
            </a:extLst>
          </p:cNvPr>
          <p:cNvSpPr txBox="1"/>
          <p:nvPr/>
        </p:nvSpPr>
        <p:spPr>
          <a:xfrm>
            <a:off x="1295400" y="228600"/>
            <a:ext cx="7769942" cy="6474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Create abstract class account having member id. name, balance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Id is generated by application It is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readonly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 property for ID.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It has abstract method public abstract void withdraw(double amt);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It has static method public static double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payint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(); which will return interest and increase balance if account holder has positive balance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It has deposit method which will increase the balance.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Write getter setter for name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Balance can be set only by child class.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It has static double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int_rate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=0.07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Create two child class Saving, Current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Initialise data by calling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parentclass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 constructor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In saving account maintain minimum balance 1000 for this declare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Const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 double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minbal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=1000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In current account negative balance allowed.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Let both child class override withdraw method.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Create array of account class and store 2 object of saving account and current account.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Do the transaction. When you load it should print name of bank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1400" dirty="0">
                <a:solidFill>
                  <a:prstClr val="black"/>
                </a:solidFill>
                <a:latin typeface="Garamond" panose="02020404030301010803"/>
              </a:rPr>
              <a:t>If user try to withdraw more then min balance give user define exception , store message  in a file[name, balance and amt withdraw].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Store state of an object of saving account in a file using soap.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1400" dirty="0">
                <a:solidFill>
                  <a:prstClr val="black"/>
                </a:solidFill>
                <a:latin typeface="Garamond" panose="02020404030301010803"/>
              </a:rPr>
              <a:t>As soon as user withdraw amount send </a:t>
            </a:r>
            <a:r>
              <a:rPr lang="en-IN" sz="1400" dirty="0" err="1">
                <a:solidFill>
                  <a:prstClr val="black"/>
                </a:solidFill>
                <a:latin typeface="Garamond" panose="02020404030301010803"/>
              </a:rPr>
              <a:t>sms</a:t>
            </a:r>
            <a:r>
              <a:rPr lang="en-IN" sz="1400" dirty="0">
                <a:solidFill>
                  <a:prstClr val="black"/>
                </a:solidFill>
                <a:latin typeface="Garamond" panose="02020404030301010803"/>
              </a:rPr>
              <a:t> and email using lambda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2FE504-2FDF-126E-4AD3-2A3F1AC83175}"/>
              </a:ext>
            </a:extLst>
          </p:cNvPr>
          <p:cNvSpPr txBox="1"/>
          <p:nvPr/>
        </p:nvSpPr>
        <p:spPr>
          <a:xfrm>
            <a:off x="4670323" y="1828800"/>
            <a:ext cx="4495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Public Employee(int x, string name):this(name)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Public Employee(string nm)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1434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617A4-5940-B2C9-504B-681DA3FF5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330" y="32440"/>
            <a:ext cx="7848600" cy="71596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JsonSerialization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2F24D-6DE0-612F-3DEE-EDF56EE6A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0" y="914400"/>
            <a:ext cx="3004930" cy="715961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sz="1400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Serialization behavior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By default, all public properties are serialized. You can </a:t>
            </a:r>
            <a:r>
              <a:rPr lang="en-US" sz="1400" b="0" i="0" u="sng" dirty="0">
                <a:solidFill>
                  <a:srgbClr val="161616"/>
                </a:solidFill>
                <a:effectLst/>
                <a:latin typeface="Segoe UI" panose="020B0502040204020203" pitchFamily="34" charset="0"/>
                <a:hlinkClick r:id="rId2"/>
              </a:rPr>
              <a:t>specify properties to ignore</a:t>
            </a:r>
            <a:endParaRPr lang="en-US" sz="1400" b="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  <a:p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3AEA98-FDE8-B83B-F3CB-17D92CB7FB9D}"/>
              </a:ext>
            </a:extLst>
          </p:cNvPr>
          <p:cNvSpPr txBox="1"/>
          <p:nvPr/>
        </p:nvSpPr>
        <p:spPr>
          <a:xfrm>
            <a:off x="381000" y="415821"/>
            <a:ext cx="8077199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System.Text.Json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System.Text.Json.Serialization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SerializeToFile</a:t>
            </a:r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WeatherForecast</a:t>
            </a:r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      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pvtno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55;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sum;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DateTimeOffset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Date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[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JsonIgnore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TemperatureCelsius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? Summary { 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		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sum; }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 sum = value; }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display()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pvtno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 }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Program</a:t>
            </a:r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Main()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 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weatherForecast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WeatherForecast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                		Date =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DateTime.Parse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"2019-08-01"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),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TemperatureCelsius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25,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Summary = </a:t>
            </a:r>
            <a:r>
              <a:rPr lang="en-IN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"Hot"</a:t>
            </a:r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	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string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fileName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=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WeatherForecast.json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string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jsonString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=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JsonSerializer.Serialize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weatherForecast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File.WriteAllText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fileName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jsonString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Console.WriteLine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File.ReadAllText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fileName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}</a:t>
            </a:r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65A254-8931-DE67-1DD7-A932DA8B8037}"/>
              </a:ext>
            </a:extLst>
          </p:cNvPr>
          <p:cNvSpPr txBox="1"/>
          <p:nvPr/>
        </p:nvSpPr>
        <p:spPr>
          <a:xfrm>
            <a:off x="5486400" y="1630361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32836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712C7D0-9EEE-68C2-815B-2032EA8BC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841176"/>
            <a:ext cx="7391400" cy="53757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80918" tIns="101568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161616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Preferred alternatives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616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.NET offers several in-box serializers that can handle untrusted data safely: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61616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XmlSerializer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616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and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61616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DataContractSerializer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616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to serialize object graphs into and from XML.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161616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61616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  <a:hlinkClick r:id="rId4"/>
              </a:rPr>
              <a:t>System.Text.Json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616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APIs to serialize object graphs into JSON.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rgbClr val="161616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161616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Dangerous alternatives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616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Avoid the following serializers: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61616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  <a:hlinkClick r:id="rId5"/>
              </a:rPr>
              <a:t>SoapFormatter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161616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61616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  <a:hlinkClick r:id="rId6"/>
              </a:rPr>
              <a:t>LosFormatter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161616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61616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  <a:hlinkClick r:id="rId7"/>
              </a:rPr>
              <a:t>NetDataContractSerializer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161616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161616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  <a:hlinkClick r:id="rId8"/>
              </a:rPr>
              <a:t>ObjectStateFormatter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161616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616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 preceding serializers all perform unrestricted polymorphic deserialization and are dangerous, just like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161616"/>
                </a:solidFill>
                <a:effectLst/>
                <a:latin typeface="SFMono-Regular"/>
                <a:cs typeface="Segoe UI" panose="020B0502040204020203" pitchFamily="34" charset="0"/>
              </a:rPr>
              <a:t>BinaryFormatter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61616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401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aramond-Trebuchet MS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2223</TotalTime>
  <Words>2552</Words>
  <Application>Microsoft Office PowerPoint</Application>
  <PresentationFormat>On-screen Show (4:3)</PresentationFormat>
  <Paragraphs>390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Arial</vt:lpstr>
      <vt:lpstr>Calibri</vt:lpstr>
      <vt:lpstr>Cambria</vt:lpstr>
      <vt:lpstr>Cascadia Mono</vt:lpstr>
      <vt:lpstr>Consolas</vt:lpstr>
      <vt:lpstr>Garamond</vt:lpstr>
      <vt:lpstr>Segoe UI</vt:lpstr>
      <vt:lpstr>SFMono-Regular</vt:lpstr>
      <vt:lpstr>Symbol</vt:lpstr>
      <vt:lpstr>Times New Roman</vt:lpstr>
      <vt:lpstr>Trebuchet MS</vt:lpstr>
      <vt:lpstr>Verdana</vt:lpstr>
      <vt:lpstr>Office Theme</vt:lpstr>
      <vt:lpstr>PowerPoint Presentation</vt:lpstr>
      <vt:lpstr>Serialization</vt:lpstr>
      <vt:lpstr>Use of serialization</vt:lpstr>
      <vt:lpstr>Soap serialization[SoapFormatter class]</vt:lpstr>
      <vt:lpstr>Add reference </vt:lpstr>
      <vt:lpstr>Binary serialization</vt:lpstr>
      <vt:lpstr>XML Serialization</vt:lpstr>
      <vt:lpstr>Soap Serialization</vt:lpstr>
      <vt:lpstr>Soap Serialization</vt:lpstr>
      <vt:lpstr>XML Serialization</vt:lpstr>
      <vt:lpstr>XML Serialization</vt:lpstr>
      <vt:lpstr>Binary Serialization</vt:lpstr>
      <vt:lpstr>PowerPoint Presentation</vt:lpstr>
      <vt:lpstr>PowerPoint Presentation</vt:lpstr>
      <vt:lpstr>JsonSerialization</vt:lpstr>
      <vt:lpstr>PowerPoint Presentation</vt:lpstr>
    </vt:vector>
  </TitlesOfParts>
  <Company>University at Buffalo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Exception Handelling</dc:title>
  <dc:creator>Theory</dc:creator>
  <cp:lastModifiedBy>sriram mantri vidyanidhi infotech academy</cp:lastModifiedBy>
  <cp:revision>80</cp:revision>
  <dcterms:created xsi:type="dcterms:W3CDTF">2012-05-24T05:32:28Z</dcterms:created>
  <dcterms:modified xsi:type="dcterms:W3CDTF">2025-04-15T15:50:32Z</dcterms:modified>
</cp:coreProperties>
</file>