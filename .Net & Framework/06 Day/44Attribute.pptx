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9331A-E59F-3096-2C1D-ED62A34416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243C7A0-D575-AE8F-72E1-84FD657C6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7E2732-1D11-47E3-7EDC-198A241DCA6B}"/>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5" name="Footer Placeholder 4">
            <a:extLst>
              <a:ext uri="{FF2B5EF4-FFF2-40B4-BE49-F238E27FC236}">
                <a16:creationId xmlns:a16="http://schemas.microsoft.com/office/drawing/2014/main" id="{BC086866-7BFC-27B8-882E-9B3FD63B0B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EADA3-1068-1D25-F62C-28371484E5B5}"/>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504734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4B0D4-692F-8F74-F292-3948250A37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BFF730-89BB-2934-9613-FC9F065788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9C468A-1EC8-DD44-24BC-AE2F7FEE6993}"/>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5" name="Footer Placeholder 4">
            <a:extLst>
              <a:ext uri="{FF2B5EF4-FFF2-40B4-BE49-F238E27FC236}">
                <a16:creationId xmlns:a16="http://schemas.microsoft.com/office/drawing/2014/main" id="{C063BD98-79BE-DDE8-FB01-CC8CA0606F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E9AC8C-A8EA-C1F6-1571-35757D521789}"/>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1009934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D794-DEA8-4910-63A1-0D6F4E3B58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D41C78C-966B-300F-6A67-B489E91A5D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6FA41C-D5EE-09F1-79D4-FDC2534A8E23}"/>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5" name="Footer Placeholder 4">
            <a:extLst>
              <a:ext uri="{FF2B5EF4-FFF2-40B4-BE49-F238E27FC236}">
                <a16:creationId xmlns:a16="http://schemas.microsoft.com/office/drawing/2014/main" id="{20F9BAF9-E2BF-5028-9DD3-5CD40B7F63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E362D0-7D19-8BCE-2C2E-DDE99F69E6A8}"/>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838912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6F0C6-B0B1-2871-C0B7-CCCB170BC0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4A60B8-060E-F8C7-CC6C-1F09FC7DC7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B53D3B-0464-E2C9-4D54-9A5B6825CB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76EC56-6EFF-C9EF-378B-080C2891329B}"/>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6" name="Footer Placeholder 5">
            <a:extLst>
              <a:ext uri="{FF2B5EF4-FFF2-40B4-BE49-F238E27FC236}">
                <a16:creationId xmlns:a16="http://schemas.microsoft.com/office/drawing/2014/main" id="{44B828D2-2C16-028B-21C9-9A6214D4B4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443695-D5B5-3121-ABE3-B7D87D3859B2}"/>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4017309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C5047-2977-8D76-D421-5316185884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CF0605-2B02-9DC6-141C-750BB2F7AB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CB88DC-C533-B050-D414-DA144019E2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1C4C04-9984-FDC4-5116-A8150B7B07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F155D-4D31-760B-5F6F-554D0143AF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C7EFF80-711C-2F00-CC0B-E6DCA795D7AC}"/>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8" name="Footer Placeholder 7">
            <a:extLst>
              <a:ext uri="{FF2B5EF4-FFF2-40B4-BE49-F238E27FC236}">
                <a16:creationId xmlns:a16="http://schemas.microsoft.com/office/drawing/2014/main" id="{A8B2A5BE-6F1C-D4AF-F681-5B0212D87D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D977DF0-DEAD-F55D-6A16-49173FD3C282}"/>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3755624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906A-4362-40F2-5600-3540FA0128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EE1D62-A089-E70D-803F-405367FDFA7D}"/>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4" name="Footer Placeholder 3">
            <a:extLst>
              <a:ext uri="{FF2B5EF4-FFF2-40B4-BE49-F238E27FC236}">
                <a16:creationId xmlns:a16="http://schemas.microsoft.com/office/drawing/2014/main" id="{9FD52FCD-1DD5-E785-CF68-C4D276ABD09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241BA22-ED2B-8EAE-F277-15E1C07AE229}"/>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2162386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29BBFD-91D6-574C-A37C-5AB043640A38}"/>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3" name="Footer Placeholder 2">
            <a:extLst>
              <a:ext uri="{FF2B5EF4-FFF2-40B4-BE49-F238E27FC236}">
                <a16:creationId xmlns:a16="http://schemas.microsoft.com/office/drawing/2014/main" id="{6C58FA62-B4AD-39A0-5B19-EB3113F16AD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73524F-6D4C-8C3A-A4A3-AA75A0F4ABA5}"/>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1009426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66EF6-166F-2637-98DB-6866352C76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42A93AA-07A5-8B7A-38A5-EE5CC48576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FA7EDD-8ABB-AF3F-DAF8-CB93423D8A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354FDF-B12C-EF44-A01B-224E93BA8BEC}"/>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6" name="Footer Placeholder 5">
            <a:extLst>
              <a:ext uri="{FF2B5EF4-FFF2-40B4-BE49-F238E27FC236}">
                <a16:creationId xmlns:a16="http://schemas.microsoft.com/office/drawing/2014/main" id="{C212D521-8795-ECBE-F9A9-11DCCB0DCF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9FEDDB-689A-0512-3756-713DC5B681EE}"/>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3598978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F4FDE-B4B3-E4EB-6BE5-C75C9A9558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FE38431-EC40-77C5-A8DB-416D193A98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937C3D-080E-A5BB-CFE9-023934489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39395-2DC3-CD43-F64C-54932386738B}"/>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6" name="Footer Placeholder 5">
            <a:extLst>
              <a:ext uri="{FF2B5EF4-FFF2-40B4-BE49-F238E27FC236}">
                <a16:creationId xmlns:a16="http://schemas.microsoft.com/office/drawing/2014/main" id="{EF513D0F-9EBA-FE35-A64A-238C454828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91DB8D-9A17-FA88-D3B2-6E1A5BF6A52B}"/>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3608305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F8EC0-A3CC-9F43-CD0B-AFDE4B5122C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97B5FA-DCD8-8CD1-D469-6CC5849264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B19B15-0F4A-587C-2019-7B4044CAE68B}"/>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5" name="Footer Placeholder 4">
            <a:extLst>
              <a:ext uri="{FF2B5EF4-FFF2-40B4-BE49-F238E27FC236}">
                <a16:creationId xmlns:a16="http://schemas.microsoft.com/office/drawing/2014/main" id="{A62D8A1E-21C6-7E3D-D070-AC79CC9E3D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531660-876D-DA13-72A7-96CC6B7FCDCE}"/>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3088631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1152B0-1374-276C-F095-42B69AFA13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23DD0E-D455-525F-6E66-A39EAC50CA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042AB0-7B4B-09AE-A291-7F74F89ECEC6}"/>
              </a:ext>
            </a:extLst>
          </p:cNvPr>
          <p:cNvSpPr>
            <a:spLocks noGrp="1"/>
          </p:cNvSpPr>
          <p:nvPr>
            <p:ph type="dt" sz="half" idx="10"/>
          </p:nvPr>
        </p:nvSpPr>
        <p:spPr/>
        <p:txBody>
          <a:bodyPr/>
          <a:lstStyle/>
          <a:p>
            <a:fld id="{3B3D87DC-BB5D-43C2-B0B8-B862FB77A481}" type="datetimeFigureOut">
              <a:rPr lang="en-IN" smtClean="0"/>
              <a:t>05-11-2023</a:t>
            </a:fld>
            <a:endParaRPr lang="en-IN"/>
          </a:p>
        </p:txBody>
      </p:sp>
      <p:sp>
        <p:nvSpPr>
          <p:cNvPr id="5" name="Footer Placeholder 4">
            <a:extLst>
              <a:ext uri="{FF2B5EF4-FFF2-40B4-BE49-F238E27FC236}">
                <a16:creationId xmlns:a16="http://schemas.microsoft.com/office/drawing/2014/main" id="{D48EFB6A-E266-7CC8-36DA-A9C26364C3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2F75B2-9227-FC1D-1C78-225E3BF7D30A}"/>
              </a:ext>
            </a:extLst>
          </p:cNvPr>
          <p:cNvSpPr>
            <a:spLocks noGrp="1"/>
          </p:cNvSpPr>
          <p:nvPr>
            <p:ph type="sldNum" sz="quarter" idx="12"/>
          </p:nvPr>
        </p:nvSpPr>
        <p:spPr/>
        <p:txBody>
          <a:bodyPr/>
          <a:lstStyle/>
          <a:p>
            <a:fld id="{74C36FCA-0B32-4197-87AF-F0CE21D30B2B}" type="slidenum">
              <a:rPr lang="en-IN" smtClean="0"/>
              <a:t>‹#›</a:t>
            </a:fld>
            <a:endParaRPr lang="en-IN"/>
          </a:p>
        </p:txBody>
      </p:sp>
    </p:spTree>
    <p:extLst>
      <p:ext uri="{BB962C8B-B14F-4D97-AF65-F5344CB8AC3E}">
        <p14:creationId xmlns:p14="http://schemas.microsoft.com/office/powerpoint/2010/main" val="940969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180CD0-161C-9DA0-5E48-7E79354F3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5BF243-FBE4-AE04-3C6B-059C6D039E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37AA09-5172-F1AF-A538-E7799ECDC1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3D87DC-BB5D-43C2-B0B8-B862FB77A481}" type="datetimeFigureOut">
              <a:rPr lang="en-IN" smtClean="0"/>
              <a:t>05-11-2023</a:t>
            </a:fld>
            <a:endParaRPr lang="en-IN"/>
          </a:p>
        </p:txBody>
      </p:sp>
      <p:sp>
        <p:nvSpPr>
          <p:cNvPr id="5" name="Footer Placeholder 4">
            <a:extLst>
              <a:ext uri="{FF2B5EF4-FFF2-40B4-BE49-F238E27FC236}">
                <a16:creationId xmlns:a16="http://schemas.microsoft.com/office/drawing/2014/main" id="{763994DB-5B49-584E-4F7B-0F9FA837D4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45BA03D-DD3D-D0D1-F3E2-5A15DEF06F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36FCA-0B32-4197-87AF-F0CE21D30B2B}" type="slidenum">
              <a:rPr lang="en-IN" smtClean="0"/>
              <a:t>‹#›</a:t>
            </a:fld>
            <a:endParaRPr lang="en-IN"/>
          </a:p>
        </p:txBody>
      </p:sp>
    </p:spTree>
    <p:extLst>
      <p:ext uri="{BB962C8B-B14F-4D97-AF65-F5344CB8AC3E}">
        <p14:creationId xmlns:p14="http://schemas.microsoft.com/office/powerpoint/2010/main" val="2498718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87D817-2EFF-B80E-A22E-255087105D65}"/>
              </a:ext>
            </a:extLst>
          </p:cNvPr>
          <p:cNvSpPr txBox="1"/>
          <p:nvPr/>
        </p:nvSpPr>
        <p:spPr>
          <a:xfrm>
            <a:off x="341722" y="66981"/>
            <a:ext cx="11668026" cy="2308324"/>
          </a:xfrm>
          <a:prstGeom prst="rect">
            <a:avLst/>
          </a:prstGeom>
          <a:noFill/>
        </p:spPr>
        <p:txBody>
          <a:bodyPr wrap="square">
            <a:spAutoFit/>
          </a:bodyPr>
          <a:lstStyle/>
          <a:p>
            <a:pPr algn="ctr"/>
            <a:r>
              <a:rPr lang="en-US" b="0" i="0" dirty="0">
                <a:solidFill>
                  <a:srgbClr val="000000"/>
                </a:solidFill>
                <a:effectLst/>
                <a:latin typeface="Nunito" pitchFamily="2" charset="0"/>
              </a:rPr>
              <a:t> </a:t>
            </a:r>
            <a:r>
              <a:rPr lang="en-US" b="1" dirty="0">
                <a:solidFill>
                  <a:srgbClr val="000000"/>
                </a:solidFill>
                <a:latin typeface="Nunito" pitchFamily="2" charset="0"/>
              </a:rPr>
              <a:t>A</a:t>
            </a:r>
            <a:r>
              <a:rPr lang="en-US" b="1" i="0" dirty="0">
                <a:solidFill>
                  <a:srgbClr val="000000"/>
                </a:solidFill>
                <a:effectLst/>
                <a:latin typeface="Nunito" pitchFamily="2" charset="0"/>
              </a:rPr>
              <a:t>ttribute</a:t>
            </a:r>
            <a:r>
              <a:rPr lang="en-US" b="0" i="0" dirty="0">
                <a:solidFill>
                  <a:srgbClr val="000000"/>
                </a:solidFill>
                <a:effectLst/>
                <a:latin typeface="Nunito" pitchFamily="2" charset="0"/>
              </a:rPr>
              <a:t> </a:t>
            </a:r>
          </a:p>
          <a:p>
            <a:pPr algn="just"/>
            <a:r>
              <a:rPr lang="en-US" b="0" i="0" dirty="0">
                <a:solidFill>
                  <a:srgbClr val="000000"/>
                </a:solidFill>
                <a:effectLst/>
                <a:latin typeface="Nunito" pitchFamily="2" charset="0"/>
              </a:rPr>
              <a:t>An </a:t>
            </a:r>
            <a:r>
              <a:rPr lang="en-US" b="1" i="0" dirty="0">
                <a:solidFill>
                  <a:srgbClr val="000000"/>
                </a:solidFill>
                <a:effectLst/>
                <a:latin typeface="Nunito" pitchFamily="2" charset="0"/>
              </a:rPr>
              <a:t>attribute</a:t>
            </a:r>
            <a:r>
              <a:rPr lang="en-US" b="0" i="0" dirty="0">
                <a:solidFill>
                  <a:srgbClr val="000000"/>
                </a:solidFill>
                <a:effectLst/>
                <a:latin typeface="Nunito" pitchFamily="2" charset="0"/>
              </a:rPr>
              <a:t> is a declarative tag that is used to convey information to runtime about the behaviors of various elements like classes, methods, structures, enumerators, assemblies etc. in your program. You can add declarative information to a program by using an attribute. A declarative tag is depicted by square ([ ]) brackets placed above the element it is used for.</a:t>
            </a:r>
          </a:p>
          <a:p>
            <a:pPr algn="just"/>
            <a:r>
              <a:rPr lang="en-US" b="0" i="0" dirty="0">
                <a:solidFill>
                  <a:srgbClr val="000000"/>
                </a:solidFill>
                <a:effectLst/>
                <a:latin typeface="Nunito" pitchFamily="2" charset="0"/>
              </a:rPr>
              <a:t>Attributes are used for adding metadata, such as compiler instruction and other information such as comments, description, methods and classes to a program. The </a:t>
            </a:r>
            <a:r>
              <a:rPr lang="en-US" b="0" i="0" dirty="0" err="1">
                <a:solidFill>
                  <a:srgbClr val="000000"/>
                </a:solidFill>
                <a:effectLst/>
                <a:latin typeface="Nunito" pitchFamily="2" charset="0"/>
              </a:rPr>
              <a:t>.Net</a:t>
            </a:r>
            <a:r>
              <a:rPr lang="en-US" b="0" i="0" dirty="0">
                <a:solidFill>
                  <a:srgbClr val="000000"/>
                </a:solidFill>
                <a:effectLst/>
                <a:latin typeface="Nunito" pitchFamily="2" charset="0"/>
              </a:rPr>
              <a:t> Framework provides two types of attributes: </a:t>
            </a:r>
            <a:r>
              <a:rPr lang="en-US" b="0" i="1" dirty="0">
                <a:solidFill>
                  <a:srgbClr val="000000"/>
                </a:solidFill>
                <a:effectLst/>
                <a:latin typeface="Nunito" pitchFamily="2" charset="0"/>
              </a:rPr>
              <a:t>the pre-defined</a:t>
            </a:r>
            <a:r>
              <a:rPr lang="en-US" b="0" i="0" dirty="0">
                <a:solidFill>
                  <a:srgbClr val="000000"/>
                </a:solidFill>
                <a:effectLst/>
                <a:latin typeface="Nunito" pitchFamily="2" charset="0"/>
              </a:rPr>
              <a:t> attributes and </a:t>
            </a:r>
            <a:r>
              <a:rPr lang="en-US" b="0" i="1" dirty="0">
                <a:solidFill>
                  <a:srgbClr val="000000"/>
                </a:solidFill>
                <a:effectLst/>
                <a:latin typeface="Nunito" pitchFamily="2" charset="0"/>
              </a:rPr>
              <a:t>custom built</a:t>
            </a:r>
            <a:r>
              <a:rPr lang="en-US" b="0" i="0" dirty="0">
                <a:solidFill>
                  <a:srgbClr val="000000"/>
                </a:solidFill>
                <a:effectLst/>
                <a:latin typeface="Nunito" pitchFamily="2" charset="0"/>
              </a:rPr>
              <a:t> attributes.</a:t>
            </a:r>
          </a:p>
        </p:txBody>
      </p:sp>
      <p:sp>
        <p:nvSpPr>
          <p:cNvPr id="7" name="TextBox 6">
            <a:extLst>
              <a:ext uri="{FF2B5EF4-FFF2-40B4-BE49-F238E27FC236}">
                <a16:creationId xmlns:a16="http://schemas.microsoft.com/office/drawing/2014/main" id="{4CA0E1A4-670A-2930-D604-C8A9593A9978}"/>
              </a:ext>
            </a:extLst>
          </p:cNvPr>
          <p:cNvSpPr txBox="1"/>
          <p:nvPr/>
        </p:nvSpPr>
        <p:spPr>
          <a:xfrm>
            <a:off x="341721" y="2855851"/>
            <a:ext cx="9865765" cy="1754326"/>
          </a:xfrm>
          <a:prstGeom prst="rect">
            <a:avLst/>
          </a:prstGeom>
          <a:noFill/>
        </p:spPr>
        <p:txBody>
          <a:bodyPr wrap="square">
            <a:spAutoFit/>
          </a:bodyPr>
          <a:lstStyle/>
          <a:p>
            <a:pPr algn="ctr"/>
            <a:r>
              <a:rPr lang="en-US" b="1" i="0" dirty="0">
                <a:solidFill>
                  <a:srgbClr val="000000"/>
                </a:solidFill>
                <a:effectLst/>
                <a:latin typeface="Heebo" panose="020B0604020202020204" pitchFamily="2" charset="-79"/>
                <a:cs typeface="Heebo" panose="020B0604020202020204" pitchFamily="2" charset="-79"/>
              </a:rPr>
              <a:t>Predefined Attributes</a:t>
            </a:r>
          </a:p>
          <a:p>
            <a:pPr algn="just"/>
            <a:r>
              <a:rPr lang="en-US" b="0" i="0" dirty="0">
                <a:solidFill>
                  <a:srgbClr val="000000"/>
                </a:solidFill>
                <a:effectLst/>
                <a:latin typeface="Nunito" pitchFamily="2" charset="0"/>
              </a:rPr>
              <a:t>The </a:t>
            </a:r>
            <a:r>
              <a:rPr lang="en-US" b="0" i="0" dirty="0" err="1">
                <a:solidFill>
                  <a:srgbClr val="000000"/>
                </a:solidFill>
                <a:effectLst/>
                <a:latin typeface="Nunito" pitchFamily="2" charset="0"/>
              </a:rPr>
              <a:t>.Net</a:t>
            </a:r>
            <a:r>
              <a:rPr lang="en-US" b="0" i="0" dirty="0">
                <a:solidFill>
                  <a:srgbClr val="000000"/>
                </a:solidFill>
                <a:effectLst/>
                <a:latin typeface="Nunito" pitchFamily="2" charset="0"/>
              </a:rPr>
              <a:t> Framework provides three pre-defined attributes −</a:t>
            </a:r>
          </a:p>
          <a:p>
            <a:pPr algn="just"/>
            <a:endParaRPr lang="en-US" b="0" i="0" dirty="0">
              <a:solidFill>
                <a:srgbClr val="000000"/>
              </a:solidFill>
              <a:effectLst/>
              <a:latin typeface="Nunito" pitchFamily="2" charset="0"/>
            </a:endParaRPr>
          </a:p>
          <a:p>
            <a:pPr algn="l">
              <a:buFont typeface="Arial" panose="020B0604020202020204" pitchFamily="34" charset="0"/>
              <a:buChar char="•"/>
            </a:pPr>
            <a:r>
              <a:rPr lang="en-US" b="0" i="0" dirty="0" err="1">
                <a:solidFill>
                  <a:srgbClr val="000000"/>
                </a:solidFill>
                <a:effectLst/>
                <a:latin typeface="Nunito" pitchFamily="2" charset="0"/>
              </a:rPr>
              <a:t>AttributeUsage</a:t>
            </a:r>
            <a:endParaRPr lang="en-US" b="0" i="0" dirty="0">
              <a:solidFill>
                <a:srgbClr val="000000"/>
              </a:solidFill>
              <a:effectLst/>
              <a:latin typeface="Nunito" pitchFamily="2" charset="0"/>
            </a:endParaRPr>
          </a:p>
          <a:p>
            <a:pPr algn="l">
              <a:buFont typeface="Arial" panose="020B0604020202020204" pitchFamily="34" charset="0"/>
              <a:buChar char="•"/>
            </a:pPr>
            <a:r>
              <a:rPr lang="en-US" b="0" i="0" dirty="0">
                <a:solidFill>
                  <a:srgbClr val="000000"/>
                </a:solidFill>
                <a:effectLst/>
                <a:latin typeface="Nunito" pitchFamily="2" charset="0"/>
              </a:rPr>
              <a:t>Conditional</a:t>
            </a:r>
          </a:p>
          <a:p>
            <a:pPr algn="l">
              <a:buFont typeface="Arial" panose="020B0604020202020204" pitchFamily="34" charset="0"/>
              <a:buChar char="•"/>
            </a:pPr>
            <a:r>
              <a:rPr lang="en-US" b="0" i="0" dirty="0">
                <a:solidFill>
                  <a:srgbClr val="000000"/>
                </a:solidFill>
                <a:effectLst/>
                <a:latin typeface="Nunito" pitchFamily="2" charset="0"/>
              </a:rPr>
              <a:t>Obsolete</a:t>
            </a:r>
          </a:p>
        </p:txBody>
      </p:sp>
    </p:spTree>
    <p:extLst>
      <p:ext uri="{BB962C8B-B14F-4D97-AF65-F5344CB8AC3E}">
        <p14:creationId xmlns:p14="http://schemas.microsoft.com/office/powerpoint/2010/main" val="2085045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964140-87C6-436C-7EC1-6AD0BB4D5E47}"/>
              </a:ext>
            </a:extLst>
          </p:cNvPr>
          <p:cNvSpPr txBox="1"/>
          <p:nvPr/>
        </p:nvSpPr>
        <p:spPr>
          <a:xfrm>
            <a:off x="304014" y="157708"/>
            <a:ext cx="11630319" cy="6494085"/>
          </a:xfrm>
          <a:prstGeom prst="rect">
            <a:avLst/>
          </a:prstGeom>
          <a:noFill/>
        </p:spPr>
        <p:txBody>
          <a:bodyPr wrap="square">
            <a:spAutoFit/>
          </a:bodyPr>
          <a:lstStyle/>
          <a:p>
            <a:pPr algn="ctr"/>
            <a:r>
              <a:rPr lang="en-US" sz="1600" b="1" dirty="0" err="1"/>
              <a:t>AttributeUsage</a:t>
            </a:r>
            <a:endParaRPr lang="en-US" sz="1600" b="1" dirty="0"/>
          </a:p>
          <a:p>
            <a:r>
              <a:rPr lang="en-US" sz="1600" dirty="0"/>
              <a:t>The pre-defined attribute </a:t>
            </a:r>
            <a:r>
              <a:rPr lang="en-US" sz="1600" dirty="0" err="1"/>
              <a:t>AttributeUsage</a:t>
            </a:r>
            <a:r>
              <a:rPr lang="en-US" sz="1600" dirty="0"/>
              <a:t> describes how a custom attribute class can be used. It specifies the types of items to which the attribute can be applied.</a:t>
            </a:r>
          </a:p>
          <a:p>
            <a:endParaRPr lang="en-US" sz="1600" dirty="0"/>
          </a:p>
          <a:p>
            <a:r>
              <a:rPr lang="en-US" sz="1600" dirty="0"/>
              <a:t>Syntax for specifying this attribute is as follows −</a:t>
            </a:r>
          </a:p>
          <a:p>
            <a:endParaRPr lang="en-US" sz="1600" dirty="0"/>
          </a:p>
          <a:p>
            <a:r>
              <a:rPr lang="en-US" sz="1600" dirty="0"/>
              <a:t>[</a:t>
            </a:r>
            <a:r>
              <a:rPr lang="en-US" sz="1600" dirty="0" err="1"/>
              <a:t>AttributeUsage</a:t>
            </a:r>
            <a:r>
              <a:rPr lang="en-US" sz="1600" dirty="0"/>
              <a:t> (</a:t>
            </a:r>
          </a:p>
          <a:p>
            <a:r>
              <a:rPr lang="en-US" sz="1600" dirty="0"/>
              <a:t>   </a:t>
            </a:r>
            <a:r>
              <a:rPr lang="en-US" sz="1600" dirty="0" err="1"/>
              <a:t>validon</a:t>
            </a:r>
            <a:r>
              <a:rPr lang="en-US" sz="1600" dirty="0"/>
              <a:t>,</a:t>
            </a:r>
          </a:p>
          <a:p>
            <a:r>
              <a:rPr lang="en-US" sz="1600" dirty="0"/>
              <a:t>   </a:t>
            </a:r>
            <a:r>
              <a:rPr lang="en-US" sz="1600" dirty="0" err="1"/>
              <a:t>AllowMultiple</a:t>
            </a:r>
            <a:r>
              <a:rPr lang="en-US" sz="1600" dirty="0"/>
              <a:t> = </a:t>
            </a:r>
            <a:r>
              <a:rPr lang="en-US" sz="1600" dirty="0" err="1"/>
              <a:t>allowmultiple</a:t>
            </a:r>
            <a:r>
              <a:rPr lang="en-US" sz="1600" dirty="0"/>
              <a:t>,</a:t>
            </a:r>
          </a:p>
          <a:p>
            <a:r>
              <a:rPr lang="en-US" sz="1600" dirty="0"/>
              <a:t>   Inherited = inherited</a:t>
            </a:r>
          </a:p>
          <a:p>
            <a:r>
              <a:rPr lang="en-US" sz="1600" dirty="0"/>
              <a:t>)]</a:t>
            </a:r>
          </a:p>
          <a:p>
            <a:r>
              <a:rPr lang="en-US" sz="1600" dirty="0"/>
              <a:t>Where,</a:t>
            </a:r>
          </a:p>
          <a:p>
            <a:r>
              <a:rPr lang="en-US" sz="1600" dirty="0"/>
              <a:t>The parameter </a:t>
            </a:r>
            <a:r>
              <a:rPr lang="en-US" sz="1600" dirty="0" err="1"/>
              <a:t>validon</a:t>
            </a:r>
            <a:r>
              <a:rPr lang="en-US" sz="1600" dirty="0"/>
              <a:t> specifies the language elements on which the attribute can be placed. It is a combination of the value of an enumerator </a:t>
            </a:r>
            <a:r>
              <a:rPr lang="en-US" sz="1600" dirty="0" err="1"/>
              <a:t>AttributeTargets</a:t>
            </a:r>
            <a:r>
              <a:rPr lang="en-US" sz="1600" dirty="0"/>
              <a:t>. The default value is </a:t>
            </a:r>
            <a:r>
              <a:rPr lang="en-US" sz="1600" dirty="0" err="1"/>
              <a:t>AttributeTargets.All</a:t>
            </a:r>
            <a:r>
              <a:rPr lang="en-US" sz="1600" dirty="0"/>
              <a:t>.</a:t>
            </a:r>
          </a:p>
          <a:p>
            <a:endParaRPr lang="en-US" sz="1600" dirty="0"/>
          </a:p>
          <a:p>
            <a:r>
              <a:rPr lang="en-US" sz="1600" dirty="0"/>
              <a:t>The parameter </a:t>
            </a:r>
            <a:r>
              <a:rPr lang="en-US" sz="1600" dirty="0" err="1"/>
              <a:t>allowmultiple</a:t>
            </a:r>
            <a:r>
              <a:rPr lang="en-US" sz="1600" dirty="0"/>
              <a:t> (optional) provides value for the </a:t>
            </a:r>
            <a:r>
              <a:rPr lang="en-US" sz="1600" dirty="0" err="1"/>
              <a:t>AllowMultiple</a:t>
            </a:r>
            <a:r>
              <a:rPr lang="en-US" sz="1600" dirty="0"/>
              <a:t> property of this attribute, a Boolean value. If this is true, the attribute is multiuse. The default is false (single-use).</a:t>
            </a:r>
          </a:p>
          <a:p>
            <a:endParaRPr lang="en-US" sz="1600" dirty="0"/>
          </a:p>
          <a:p>
            <a:r>
              <a:rPr lang="en-US" sz="1600" dirty="0"/>
              <a:t>The parameter inherited (optional) provides value for the Inherited property of this attribute, a Boolean value. If it is true, the attribute is inherited by derived classes. The default value is false (not inherited).</a:t>
            </a:r>
          </a:p>
          <a:p>
            <a:endParaRPr lang="en-US" sz="1600" dirty="0"/>
          </a:p>
          <a:p>
            <a:r>
              <a:rPr lang="en-US" sz="1600" dirty="0"/>
              <a:t>For example,</a:t>
            </a:r>
          </a:p>
          <a:p>
            <a:r>
              <a:rPr lang="en-US" sz="1600" dirty="0"/>
              <a:t>[</a:t>
            </a:r>
            <a:r>
              <a:rPr lang="en-US" sz="1600" dirty="0" err="1"/>
              <a:t>AttributeUsage</a:t>
            </a:r>
            <a:r>
              <a:rPr lang="en-US" sz="1600" dirty="0"/>
              <a:t>(</a:t>
            </a:r>
          </a:p>
          <a:p>
            <a:r>
              <a:rPr lang="en-US" sz="1600" dirty="0"/>
              <a:t>   </a:t>
            </a:r>
            <a:r>
              <a:rPr lang="en-US" sz="1600" dirty="0" err="1"/>
              <a:t>AttributeTargets.Class</a:t>
            </a:r>
            <a:r>
              <a:rPr lang="en-US" sz="1600" dirty="0"/>
              <a:t> |   </a:t>
            </a:r>
            <a:r>
              <a:rPr lang="en-US" sz="1600" dirty="0" err="1"/>
              <a:t>AttributeTargets.Constructor</a:t>
            </a:r>
            <a:r>
              <a:rPr lang="en-US" sz="1600" dirty="0"/>
              <a:t> |   </a:t>
            </a:r>
            <a:r>
              <a:rPr lang="en-US" sz="1600" dirty="0" err="1"/>
              <a:t>AttributeTargets.Field</a:t>
            </a:r>
            <a:r>
              <a:rPr lang="en-US" sz="1600" dirty="0"/>
              <a:t> |   </a:t>
            </a:r>
            <a:r>
              <a:rPr lang="en-US" sz="1600" dirty="0" err="1"/>
              <a:t>AttributeTargets.Method</a:t>
            </a:r>
            <a:r>
              <a:rPr lang="en-US" sz="1600" dirty="0"/>
              <a:t> |   </a:t>
            </a:r>
            <a:r>
              <a:rPr lang="en-US" sz="1600" dirty="0" err="1"/>
              <a:t>AttributeTargets.Property</a:t>
            </a:r>
            <a:r>
              <a:rPr lang="en-US" sz="1600" dirty="0"/>
              <a:t>, </a:t>
            </a:r>
          </a:p>
          <a:p>
            <a:r>
              <a:rPr lang="en-US" sz="1600" dirty="0"/>
              <a:t>   </a:t>
            </a:r>
            <a:r>
              <a:rPr lang="en-US" sz="1600" dirty="0" err="1"/>
              <a:t>AllowMultiple</a:t>
            </a:r>
            <a:r>
              <a:rPr lang="en-US" sz="1600" dirty="0"/>
              <a:t> = true)]</a:t>
            </a:r>
          </a:p>
          <a:p>
            <a:endParaRPr lang="en-US" sz="1600" dirty="0"/>
          </a:p>
        </p:txBody>
      </p:sp>
    </p:spTree>
    <p:extLst>
      <p:ext uri="{BB962C8B-B14F-4D97-AF65-F5344CB8AC3E}">
        <p14:creationId xmlns:p14="http://schemas.microsoft.com/office/powerpoint/2010/main" val="617180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F9EBBD-F094-8A44-7D01-BCA12F1A55E5}"/>
              </a:ext>
            </a:extLst>
          </p:cNvPr>
          <p:cNvSpPr txBox="1"/>
          <p:nvPr/>
        </p:nvSpPr>
        <p:spPr>
          <a:xfrm>
            <a:off x="275734" y="258420"/>
            <a:ext cx="4852447" cy="53553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Conditional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predefined attribute marks a conditional method whose execution depends on a specified preprocessing identifier.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causes conditional compilation of method calls, depending on the specified value such as Debug or Trace. For example, it displays the values of the variables while debugging a code.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Syntax for specifying this attribute is as follows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[Conditional(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conditionalSymbol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 example,</a:t>
            </a:r>
          </a:p>
          <a:p>
            <a:pPr>
              <a:defRPr/>
            </a:pPr>
            <a:r>
              <a:rPr lang="en-US" sz="1800" b="1" dirty="0"/>
              <a:t>[Conditional("DEBUG")]</a:t>
            </a:r>
            <a:endParaRPr lang="en-IN" sz="18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EC20D32-4E2D-128B-003B-5200321A57E5}"/>
              </a:ext>
            </a:extLst>
          </p:cNvPr>
          <p:cNvSpPr txBox="1"/>
          <p:nvPr/>
        </p:nvSpPr>
        <p:spPr>
          <a:xfrm>
            <a:off x="5637228" y="189170"/>
            <a:ext cx="6127423" cy="6340197"/>
          </a:xfrm>
          <a:prstGeom prst="rect">
            <a:avLst/>
          </a:prstGeom>
          <a:noFill/>
        </p:spPr>
        <p:txBody>
          <a:bodyPr wrap="square">
            <a:spAutoFit/>
          </a:bodyPr>
          <a:lstStyle/>
          <a:p>
            <a:r>
              <a:rPr lang="en-IN" sz="1400" dirty="0">
                <a:solidFill>
                  <a:srgbClr val="808080"/>
                </a:solidFill>
                <a:latin typeface="Cascadia Mono" panose="020B0609020000020004" pitchFamily="49" charset="0"/>
              </a:rPr>
              <a:t>#define</a:t>
            </a:r>
            <a:r>
              <a:rPr lang="en-IN" sz="1400" dirty="0">
                <a:solidFill>
                  <a:srgbClr val="000000"/>
                </a:solidFill>
                <a:latin typeface="Cascadia Mono" panose="020B0609020000020004" pitchFamily="49" charset="0"/>
              </a:rPr>
              <a:t> DEBUG</a:t>
            </a:r>
          </a:p>
          <a:p>
            <a:r>
              <a:rPr lang="en-IN" sz="1400" dirty="0">
                <a:solidFill>
                  <a:srgbClr val="0000FF"/>
                </a:solidFill>
                <a:latin typeface="Cascadia Mono" panose="020B0609020000020004" pitchFamily="49" charset="0"/>
              </a:rPr>
              <a:t>using</a:t>
            </a:r>
            <a:r>
              <a:rPr lang="en-IN" sz="1400" dirty="0">
                <a:solidFill>
                  <a:srgbClr val="000000"/>
                </a:solidFill>
                <a:latin typeface="Cascadia Mono" panose="020B0609020000020004" pitchFamily="49" charset="0"/>
              </a:rPr>
              <a:t> System;</a:t>
            </a:r>
          </a:p>
          <a:p>
            <a:r>
              <a:rPr lang="en-IN" sz="1400" dirty="0">
                <a:solidFill>
                  <a:srgbClr val="0000FF"/>
                </a:solidFill>
                <a:latin typeface="Cascadia Mono" panose="020B0609020000020004" pitchFamily="49" charset="0"/>
              </a:rPr>
              <a:t>using</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System.Diagnostics</a:t>
            </a:r>
            <a:r>
              <a:rPr lang="en-IN" sz="1400" dirty="0">
                <a:solidFill>
                  <a:srgbClr val="000000"/>
                </a:solidFill>
                <a:latin typeface="Cascadia Mono" panose="020B0609020000020004" pitchFamily="49" charset="0"/>
              </a:rPr>
              <a:t>;</a:t>
            </a:r>
          </a:p>
          <a:p>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err="1">
                <a:solidFill>
                  <a:srgbClr val="2B91AF"/>
                </a:solidFill>
                <a:latin typeface="Cascadia Mono" panose="020B0609020000020004" pitchFamily="49" charset="0"/>
              </a:rPr>
              <a:t>Myclass</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[Conditional(</a:t>
            </a:r>
            <a:r>
              <a:rPr lang="en-IN" sz="1400" dirty="0">
                <a:solidFill>
                  <a:srgbClr val="A31515"/>
                </a:solidFill>
                <a:latin typeface="Cascadia Mono" panose="020B0609020000020004" pitchFamily="49" charset="0"/>
              </a:rPr>
              <a:t>"DEBUG"</a:t>
            </a:r>
            <a:r>
              <a:rPr lang="en-IN" sz="1400" dirty="0">
                <a:solidFill>
                  <a:srgbClr val="000000"/>
                </a:solidFill>
                <a:latin typeface="Cascadia Mono" panose="020B0609020000020004" pitchFamily="49" charset="0"/>
              </a:rPr>
              <a:t>)]</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static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Message(</a:t>
            </a:r>
            <a:r>
              <a:rPr lang="en-US" sz="1400" dirty="0">
                <a:solidFill>
                  <a:srgbClr val="0000FF"/>
                </a:solidFill>
                <a:latin typeface="Cascadia Mono" panose="020B0609020000020004" pitchFamily="49" charset="0"/>
              </a:rPr>
              <a:t>string</a:t>
            </a:r>
            <a:r>
              <a:rPr lang="en-US" sz="1400" dirty="0">
                <a:solidFill>
                  <a:srgbClr val="000000"/>
                </a:solidFill>
                <a:latin typeface="Cascadia Mono" panose="020B0609020000020004" pitchFamily="49" charset="0"/>
              </a:rPr>
              <a:t> msg)</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Console.WriteLine</a:t>
            </a:r>
            <a:r>
              <a:rPr lang="en-IN" sz="1400" dirty="0">
                <a:solidFill>
                  <a:srgbClr val="000000"/>
                </a:solidFill>
                <a:latin typeface="Cascadia Mono" panose="020B0609020000020004" pitchFamily="49" charset="0"/>
              </a:rPr>
              <a:t>(</a:t>
            </a:r>
            <a:r>
              <a:rPr lang="en-IN" sz="1400" dirty="0" err="1">
                <a:solidFill>
                  <a:srgbClr val="000000"/>
                </a:solidFill>
                <a:latin typeface="Cascadia Mono" panose="020B0609020000020004" pitchFamily="49" charset="0"/>
              </a:rPr>
              <a:t>msg</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p>
          <a:p>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Test</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static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function1()</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Myclass.Message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"In Function 1."</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function2();</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static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function2()</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Myclass.Message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"In Function 2."</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static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Main()</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Myclass.Message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"In Main function."</a:t>
            </a:r>
            <a:r>
              <a:rPr lang="en-US"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function1();</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Console.ReadKey</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endParaRPr lang="en-IN" sz="3600" dirty="0"/>
          </a:p>
        </p:txBody>
      </p:sp>
    </p:spTree>
    <p:extLst>
      <p:ext uri="{BB962C8B-B14F-4D97-AF65-F5344CB8AC3E}">
        <p14:creationId xmlns:p14="http://schemas.microsoft.com/office/powerpoint/2010/main" val="3370624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AD37CE-9B14-3341-CFF2-5CAA4BE23361}"/>
              </a:ext>
            </a:extLst>
          </p:cNvPr>
          <p:cNvSpPr txBox="1"/>
          <p:nvPr/>
        </p:nvSpPr>
        <p:spPr>
          <a:xfrm>
            <a:off x="200320" y="241005"/>
            <a:ext cx="4673338" cy="3139321"/>
          </a:xfrm>
          <a:prstGeom prst="rect">
            <a:avLst/>
          </a:prstGeom>
          <a:noFill/>
        </p:spPr>
        <p:txBody>
          <a:bodyPr wrap="square">
            <a:spAutoFit/>
          </a:bodyPr>
          <a:lstStyle/>
          <a:p>
            <a:pPr algn="ctr"/>
            <a:r>
              <a:rPr lang="en-US" b="1" i="0" dirty="0">
                <a:solidFill>
                  <a:srgbClr val="000000"/>
                </a:solidFill>
                <a:effectLst/>
                <a:latin typeface="Heebo" pitchFamily="2" charset="-79"/>
                <a:cs typeface="Heebo" pitchFamily="2" charset="-79"/>
              </a:rPr>
              <a:t>Obsolete</a:t>
            </a:r>
          </a:p>
          <a:p>
            <a:pPr algn="just"/>
            <a:r>
              <a:rPr lang="en-US" b="0" i="0" dirty="0">
                <a:solidFill>
                  <a:srgbClr val="000000"/>
                </a:solidFill>
                <a:effectLst/>
                <a:latin typeface="Nunito" pitchFamily="2" charset="0"/>
              </a:rPr>
              <a:t>This predefined attribute marks a program entity that should not be used. It enables you to inform the compiler to discard a particular target element. For example, when a new method is being used in a class and if you still want to retain the old method in the class, you may mark it as obsolete by displaying a message the new method should be used, instead of the old method.</a:t>
            </a:r>
          </a:p>
        </p:txBody>
      </p:sp>
      <p:sp>
        <p:nvSpPr>
          <p:cNvPr id="6" name="Rectangle 1">
            <a:extLst>
              <a:ext uri="{FF2B5EF4-FFF2-40B4-BE49-F238E27FC236}">
                <a16:creationId xmlns:a16="http://schemas.microsoft.com/office/drawing/2014/main" id="{A333E5BC-25CA-E6EA-DE47-15BE7DE07BE6}"/>
              </a:ext>
            </a:extLst>
          </p:cNvPr>
          <p:cNvSpPr>
            <a:spLocks noChangeArrowheads="1"/>
          </p:cNvSpPr>
          <p:nvPr/>
        </p:nvSpPr>
        <p:spPr bwMode="auto">
          <a:xfrm>
            <a:off x="103693" y="3626547"/>
            <a:ext cx="5015061" cy="53860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Nunito" pitchFamily="2" charset="0"/>
              </a:rPr>
              <a:t>Syntax for specifying this attribute is as follows −</a:t>
            </a:r>
            <a:endParaRPr kumimoji="0" lang="en-US" altLang="en-US" sz="1600" b="0" i="0" u="none" strike="noStrike" cap="none" normalizeH="0" baseline="0" dirty="0">
              <a:ln>
                <a:noFill/>
              </a:ln>
              <a:solidFill>
                <a:srgbClr val="000000"/>
              </a:solidFill>
              <a:effectLst/>
              <a:latin typeface="var(--bs-font-monospac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ar(--bs-font-monospace)"/>
              </a:rPr>
              <a:t>[Obsolete ( message )] [Obsolete ( message, </a:t>
            </a:r>
            <a:r>
              <a:rPr kumimoji="0" lang="en-US" altLang="en-US" sz="1600" b="0" i="0" u="none" strike="noStrike" cap="none" normalizeH="0" baseline="0" dirty="0" err="1">
                <a:ln>
                  <a:noFill/>
                </a:ln>
                <a:solidFill>
                  <a:srgbClr val="000000"/>
                </a:solidFill>
                <a:effectLst/>
                <a:latin typeface="var(--bs-font-monospace)"/>
              </a:rPr>
              <a:t>iserror</a:t>
            </a:r>
            <a:r>
              <a:rPr kumimoji="0" lang="en-US" altLang="en-US" sz="1600" b="0" i="0" u="none" strike="noStrike" cap="none" normalizeH="0" baseline="0" dirty="0">
                <a:ln>
                  <a:noFill/>
                </a:ln>
                <a:solidFill>
                  <a:srgbClr val="000000"/>
                </a:solidFill>
                <a:effectLst/>
                <a:latin typeface="var(--bs-font-monospace)"/>
              </a:rPr>
              <a:t> )]</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B0BF5BA9-E637-2335-B0CE-057A0EBD7EB7}"/>
              </a:ext>
            </a:extLst>
          </p:cNvPr>
          <p:cNvSpPr txBox="1"/>
          <p:nvPr/>
        </p:nvSpPr>
        <p:spPr>
          <a:xfrm>
            <a:off x="0" y="4411377"/>
            <a:ext cx="6094428" cy="1815882"/>
          </a:xfrm>
          <a:prstGeom prst="rect">
            <a:avLst/>
          </a:prstGeom>
          <a:noFill/>
        </p:spPr>
        <p:txBody>
          <a:bodyPr wrap="square">
            <a:spAutoFit/>
          </a:bodyPr>
          <a:lstStyle/>
          <a:p>
            <a:pPr algn="just"/>
            <a:r>
              <a:rPr lang="en-US" sz="1600" b="0" i="0" dirty="0">
                <a:solidFill>
                  <a:srgbClr val="000000"/>
                </a:solidFill>
                <a:effectLst/>
                <a:latin typeface="Nunito" pitchFamily="2" charset="0"/>
              </a:rPr>
              <a:t>Where,</a:t>
            </a:r>
          </a:p>
          <a:p>
            <a:pPr algn="just"/>
            <a:endParaRPr lang="en-US" sz="1600" b="0" i="0" dirty="0">
              <a:solidFill>
                <a:srgbClr val="000000"/>
              </a:solidFill>
              <a:effectLst/>
              <a:latin typeface="Nunito" pitchFamily="2" charset="0"/>
            </a:endParaRPr>
          </a:p>
          <a:p>
            <a:pPr algn="just">
              <a:buFont typeface="Arial" panose="020B0604020202020204" pitchFamily="34" charset="0"/>
              <a:buChar char="•"/>
            </a:pPr>
            <a:r>
              <a:rPr lang="en-US" sz="1600" b="0" i="0" dirty="0">
                <a:solidFill>
                  <a:srgbClr val="000000"/>
                </a:solidFill>
                <a:effectLst/>
                <a:latin typeface="Nunito" pitchFamily="2" charset="0"/>
              </a:rPr>
              <a:t>The parameter </a:t>
            </a:r>
            <a:r>
              <a:rPr lang="en-US" sz="1600" b="0" i="1" dirty="0">
                <a:solidFill>
                  <a:srgbClr val="000000"/>
                </a:solidFill>
                <a:effectLst/>
                <a:latin typeface="Nunito" pitchFamily="2" charset="0"/>
              </a:rPr>
              <a:t>message</a:t>
            </a:r>
            <a:r>
              <a:rPr lang="en-US" sz="1600" b="0" i="0" dirty="0">
                <a:solidFill>
                  <a:srgbClr val="000000"/>
                </a:solidFill>
                <a:effectLst/>
                <a:latin typeface="Nunito" pitchFamily="2" charset="0"/>
              </a:rPr>
              <a:t>, is a string describing the reason why the item is obsolete and what to use instead.</a:t>
            </a:r>
          </a:p>
          <a:p>
            <a:pPr algn="just">
              <a:buFont typeface="Arial" panose="020B0604020202020204" pitchFamily="34" charset="0"/>
              <a:buChar char="•"/>
            </a:pPr>
            <a:r>
              <a:rPr lang="en-US" sz="1600" b="0" i="0" dirty="0">
                <a:solidFill>
                  <a:srgbClr val="000000"/>
                </a:solidFill>
                <a:effectLst/>
                <a:latin typeface="Nunito" pitchFamily="2" charset="0"/>
              </a:rPr>
              <a:t>The parameter </a:t>
            </a:r>
            <a:r>
              <a:rPr lang="en-US" sz="1600" b="0" i="1" dirty="0" err="1">
                <a:solidFill>
                  <a:srgbClr val="000000"/>
                </a:solidFill>
                <a:effectLst/>
                <a:latin typeface="Nunito" pitchFamily="2" charset="0"/>
              </a:rPr>
              <a:t>iserror</a:t>
            </a:r>
            <a:r>
              <a:rPr lang="en-US" sz="1600" b="0" i="0" dirty="0">
                <a:solidFill>
                  <a:srgbClr val="000000"/>
                </a:solidFill>
                <a:effectLst/>
                <a:latin typeface="Nunito" pitchFamily="2" charset="0"/>
              </a:rPr>
              <a:t>, is a Boolean value. If its value is true, the compiler should treat the use of the item as an error. Default value is false (compiler generates a warning).</a:t>
            </a:r>
          </a:p>
        </p:txBody>
      </p:sp>
      <p:sp>
        <p:nvSpPr>
          <p:cNvPr id="10" name="TextBox 9">
            <a:extLst>
              <a:ext uri="{FF2B5EF4-FFF2-40B4-BE49-F238E27FC236}">
                <a16:creationId xmlns:a16="http://schemas.microsoft.com/office/drawing/2014/main" id="{9FA97D3A-A727-5E10-BB8C-B188C8E6C448}"/>
              </a:ext>
            </a:extLst>
          </p:cNvPr>
          <p:cNvSpPr txBox="1"/>
          <p:nvPr/>
        </p:nvSpPr>
        <p:spPr>
          <a:xfrm>
            <a:off x="5878398" y="542303"/>
            <a:ext cx="6113282" cy="3600986"/>
          </a:xfrm>
          <a:prstGeom prst="rect">
            <a:avLst/>
          </a:prstGeom>
          <a:noFill/>
        </p:spPr>
        <p:txBody>
          <a:bodyPr wrap="square">
            <a:spAutoFit/>
          </a:bodyPr>
          <a:lstStyle/>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System;</a:t>
            </a:r>
          </a:p>
          <a:p>
            <a:endParaRPr lang="en-IN"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MyClass</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[Obsolete(</a:t>
            </a:r>
            <a:r>
              <a:rPr lang="en-US" sz="1200" dirty="0">
                <a:solidFill>
                  <a:srgbClr val="A31515"/>
                </a:solidFill>
                <a:latin typeface="Cascadia Mono" panose="020B0609020000020004" pitchFamily="49" charset="0"/>
              </a:rPr>
              <a:t>"Don't use </a:t>
            </a:r>
            <a:r>
              <a:rPr lang="en-US" sz="1200" dirty="0" err="1">
                <a:solidFill>
                  <a:srgbClr val="A31515"/>
                </a:solidFill>
                <a:latin typeface="Cascadia Mono" panose="020B0609020000020004" pitchFamily="49" charset="0"/>
              </a:rPr>
              <a:t>OldMethod</a:t>
            </a:r>
            <a:r>
              <a:rPr lang="en-US" sz="1200" dirty="0">
                <a:solidFill>
                  <a:srgbClr val="A31515"/>
                </a:solidFill>
                <a:latin typeface="Cascadia Mono" panose="020B0609020000020004" pitchFamily="49" charset="0"/>
              </a:rPr>
              <a:t>, use </a:t>
            </a:r>
            <a:r>
              <a:rPr lang="en-US" sz="1200" dirty="0" err="1">
                <a:solidFill>
                  <a:srgbClr val="A31515"/>
                </a:solidFill>
                <a:latin typeface="Cascadia Mono" panose="020B0609020000020004" pitchFamily="49" charset="0"/>
              </a:rPr>
              <a:t>NewMethod</a:t>
            </a:r>
            <a:r>
              <a:rPr lang="en-US" sz="1200" dirty="0">
                <a:solidFill>
                  <a:srgbClr val="A31515"/>
                </a:solidFill>
                <a:latin typeface="Cascadia Mono" panose="020B0609020000020004" pitchFamily="49" charset="0"/>
              </a:rPr>
              <a:t> instead"</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true</a:t>
            </a:r>
            <a:r>
              <a:rPr lang="en-US"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static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OldMethod</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"It is the old method"</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static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NewMethod</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"It is the new method"</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static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Main()</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OldMethod</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endParaRPr lang="en-IN" sz="3200" dirty="0"/>
          </a:p>
        </p:txBody>
      </p:sp>
      <p:sp>
        <p:nvSpPr>
          <p:cNvPr id="12" name="TextBox 11">
            <a:extLst>
              <a:ext uri="{FF2B5EF4-FFF2-40B4-BE49-F238E27FC236}">
                <a16:creationId xmlns:a16="http://schemas.microsoft.com/office/drawing/2014/main" id="{1EB3A6CA-5181-958F-0321-1069CE33BF40}"/>
              </a:ext>
            </a:extLst>
          </p:cNvPr>
          <p:cNvSpPr txBox="1"/>
          <p:nvPr/>
        </p:nvSpPr>
        <p:spPr>
          <a:xfrm>
            <a:off x="6422011" y="4456821"/>
            <a:ext cx="4607350" cy="1477328"/>
          </a:xfrm>
          <a:prstGeom prst="rect">
            <a:avLst/>
          </a:prstGeom>
          <a:noFill/>
        </p:spPr>
        <p:txBody>
          <a:bodyPr wrap="square">
            <a:spAutoFit/>
          </a:bodyPr>
          <a:lstStyle/>
          <a:p>
            <a:r>
              <a:rPr lang="en-US" dirty="0"/>
              <a:t>When you try to compile the program, the compiler gives an error message stating −</a:t>
            </a:r>
          </a:p>
          <a:p>
            <a:endParaRPr lang="en-US" dirty="0"/>
          </a:p>
          <a:p>
            <a:r>
              <a:rPr lang="en-US" dirty="0">
                <a:solidFill>
                  <a:srgbClr val="FF0000"/>
                </a:solidFill>
              </a:rPr>
              <a:t> Don't use </a:t>
            </a:r>
            <a:r>
              <a:rPr lang="en-US" dirty="0" err="1">
                <a:solidFill>
                  <a:srgbClr val="FF0000"/>
                </a:solidFill>
              </a:rPr>
              <a:t>OldMethod</a:t>
            </a:r>
            <a:r>
              <a:rPr lang="en-US" dirty="0">
                <a:solidFill>
                  <a:srgbClr val="FF0000"/>
                </a:solidFill>
              </a:rPr>
              <a:t>, use </a:t>
            </a:r>
            <a:r>
              <a:rPr lang="en-US" dirty="0" err="1">
                <a:solidFill>
                  <a:srgbClr val="FF0000"/>
                </a:solidFill>
              </a:rPr>
              <a:t>NewMethod</a:t>
            </a:r>
            <a:r>
              <a:rPr lang="en-US" dirty="0">
                <a:solidFill>
                  <a:srgbClr val="FF0000"/>
                </a:solidFill>
              </a:rPr>
              <a:t> instead</a:t>
            </a:r>
            <a:endParaRPr lang="en-IN" dirty="0">
              <a:solidFill>
                <a:srgbClr val="FF0000"/>
              </a:solidFill>
            </a:endParaRPr>
          </a:p>
        </p:txBody>
      </p:sp>
    </p:spTree>
    <p:extLst>
      <p:ext uri="{BB962C8B-B14F-4D97-AF65-F5344CB8AC3E}">
        <p14:creationId xmlns:p14="http://schemas.microsoft.com/office/powerpoint/2010/main" val="1050040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68B77A-B53F-4C05-8370-E80BAD376B64}"/>
              </a:ext>
            </a:extLst>
          </p:cNvPr>
          <p:cNvSpPr txBox="1"/>
          <p:nvPr/>
        </p:nvSpPr>
        <p:spPr>
          <a:xfrm>
            <a:off x="256881" y="0"/>
            <a:ext cx="11715160" cy="3416320"/>
          </a:xfrm>
          <a:prstGeom prst="rect">
            <a:avLst/>
          </a:prstGeom>
          <a:noFill/>
        </p:spPr>
        <p:txBody>
          <a:bodyPr wrap="square">
            <a:spAutoFit/>
          </a:bodyPr>
          <a:lstStyle/>
          <a:p>
            <a:pPr algn="ctr"/>
            <a:r>
              <a:rPr lang="en-US" b="1" i="0" dirty="0">
                <a:solidFill>
                  <a:srgbClr val="000000"/>
                </a:solidFill>
                <a:effectLst/>
                <a:latin typeface="Heebo" pitchFamily="2" charset="-79"/>
                <a:cs typeface="Heebo" pitchFamily="2" charset="-79"/>
              </a:rPr>
              <a:t>Creating Custom Attributes</a:t>
            </a:r>
          </a:p>
          <a:p>
            <a:pPr algn="just"/>
            <a:r>
              <a:rPr lang="en-US" b="0" i="0" dirty="0">
                <a:solidFill>
                  <a:srgbClr val="000000"/>
                </a:solidFill>
                <a:effectLst/>
                <a:latin typeface="Nunito" pitchFamily="2" charset="0"/>
              </a:rPr>
              <a:t>The </a:t>
            </a:r>
            <a:r>
              <a:rPr lang="en-US" b="0" i="0" dirty="0" err="1">
                <a:solidFill>
                  <a:srgbClr val="000000"/>
                </a:solidFill>
                <a:effectLst/>
                <a:latin typeface="Nunito" pitchFamily="2" charset="0"/>
              </a:rPr>
              <a:t>.Net</a:t>
            </a:r>
            <a:r>
              <a:rPr lang="en-US" b="0" i="0" dirty="0">
                <a:solidFill>
                  <a:srgbClr val="000000"/>
                </a:solidFill>
                <a:effectLst/>
                <a:latin typeface="Nunito" pitchFamily="2" charset="0"/>
              </a:rPr>
              <a:t> Framework allows creation of custom attributes that can be used to store declarative information and can be retrieved at run-time. This information can be related to any target element depending upon the design criteria and application need.</a:t>
            </a:r>
          </a:p>
          <a:p>
            <a:pPr algn="just"/>
            <a:r>
              <a:rPr lang="en-US" b="0" i="0" dirty="0">
                <a:solidFill>
                  <a:srgbClr val="000000"/>
                </a:solidFill>
                <a:effectLst/>
                <a:latin typeface="Nunito" pitchFamily="2" charset="0"/>
              </a:rPr>
              <a:t>Creating and using custom attributes involve four steps −</a:t>
            </a:r>
          </a:p>
          <a:p>
            <a:pPr algn="l">
              <a:buFont typeface="Arial" panose="020B0604020202020204" pitchFamily="34" charset="0"/>
              <a:buChar char="•"/>
            </a:pPr>
            <a:r>
              <a:rPr lang="en-US" b="0" i="0" dirty="0">
                <a:solidFill>
                  <a:srgbClr val="000000"/>
                </a:solidFill>
                <a:effectLst/>
                <a:latin typeface="Nunito" pitchFamily="2" charset="0"/>
              </a:rPr>
              <a:t>Declaring a custom attribute</a:t>
            </a:r>
          </a:p>
          <a:p>
            <a:pPr algn="l">
              <a:buFont typeface="Arial" panose="020B0604020202020204" pitchFamily="34" charset="0"/>
              <a:buChar char="•"/>
            </a:pPr>
            <a:r>
              <a:rPr lang="en-US" b="0" i="0" dirty="0">
                <a:solidFill>
                  <a:srgbClr val="000000"/>
                </a:solidFill>
                <a:effectLst/>
                <a:latin typeface="Nunito" pitchFamily="2" charset="0"/>
              </a:rPr>
              <a:t>Constructing the custom attribute</a:t>
            </a:r>
          </a:p>
          <a:p>
            <a:pPr algn="l">
              <a:buFont typeface="Arial" panose="020B0604020202020204" pitchFamily="34" charset="0"/>
              <a:buChar char="•"/>
            </a:pPr>
            <a:r>
              <a:rPr lang="en-US" b="0" i="0" dirty="0">
                <a:solidFill>
                  <a:srgbClr val="000000"/>
                </a:solidFill>
                <a:effectLst/>
                <a:latin typeface="Nunito" pitchFamily="2" charset="0"/>
              </a:rPr>
              <a:t>Apply the custom attribute on a target program element</a:t>
            </a:r>
          </a:p>
          <a:p>
            <a:pPr algn="l">
              <a:buFont typeface="Arial" panose="020B0604020202020204" pitchFamily="34" charset="0"/>
              <a:buChar char="•"/>
            </a:pPr>
            <a:r>
              <a:rPr lang="en-US" b="0" i="0" dirty="0">
                <a:solidFill>
                  <a:srgbClr val="000000"/>
                </a:solidFill>
                <a:effectLst/>
                <a:latin typeface="Nunito" pitchFamily="2" charset="0"/>
              </a:rPr>
              <a:t>Accessing Attributes Through Reflection</a:t>
            </a:r>
          </a:p>
          <a:p>
            <a:pPr algn="just"/>
            <a:r>
              <a:rPr lang="en-US" b="0" i="0" dirty="0">
                <a:solidFill>
                  <a:srgbClr val="000000"/>
                </a:solidFill>
                <a:effectLst/>
                <a:latin typeface="Nunito" pitchFamily="2" charset="0"/>
              </a:rPr>
              <a:t>The Last step involves writing a simple program to read through the metadata to find various notations. Metadata is data about data or information used for describing other data. This program should use reflections for accessing attributes at runtime. This we will discuss in the next </a:t>
            </a:r>
          </a:p>
        </p:txBody>
      </p:sp>
    </p:spTree>
    <p:extLst>
      <p:ext uri="{BB962C8B-B14F-4D97-AF65-F5344CB8AC3E}">
        <p14:creationId xmlns:p14="http://schemas.microsoft.com/office/powerpoint/2010/main" val="2113649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FE08D1-F32D-9FC9-2156-918759A9D1C3}"/>
              </a:ext>
            </a:extLst>
          </p:cNvPr>
          <p:cNvSpPr txBox="1"/>
          <p:nvPr/>
        </p:nvSpPr>
        <p:spPr>
          <a:xfrm>
            <a:off x="8672660" y="254524"/>
            <a:ext cx="3327662" cy="1477328"/>
          </a:xfrm>
          <a:prstGeom prst="rect">
            <a:avLst/>
          </a:prstGeom>
          <a:noFill/>
        </p:spPr>
        <p:txBody>
          <a:bodyPr wrap="square">
            <a:spAutoFit/>
          </a:bodyPr>
          <a:lstStyle/>
          <a:p>
            <a:pPr algn="ctr"/>
            <a:r>
              <a:rPr lang="en-US" b="1" i="0" dirty="0">
                <a:solidFill>
                  <a:srgbClr val="000000"/>
                </a:solidFill>
                <a:effectLst/>
                <a:latin typeface="Heebo" pitchFamily="2" charset="-79"/>
                <a:cs typeface="Heebo" pitchFamily="2" charset="-79"/>
              </a:rPr>
              <a:t>Declaring a Custom Attribute</a:t>
            </a:r>
          </a:p>
          <a:p>
            <a:pPr algn="just"/>
            <a:r>
              <a:rPr lang="en-US" b="0" i="0" dirty="0">
                <a:solidFill>
                  <a:srgbClr val="000000"/>
                </a:solidFill>
                <a:effectLst/>
                <a:latin typeface="Nunito" pitchFamily="2" charset="0"/>
              </a:rPr>
              <a:t>A new custom attribute should is derived from the </a:t>
            </a:r>
            <a:r>
              <a:rPr lang="en-US" b="1" i="0" dirty="0" err="1">
                <a:solidFill>
                  <a:srgbClr val="000000"/>
                </a:solidFill>
                <a:effectLst/>
                <a:latin typeface="Nunito" pitchFamily="2" charset="0"/>
              </a:rPr>
              <a:t>System.Attribute</a:t>
            </a:r>
            <a:r>
              <a:rPr lang="en-US" b="0" i="0" dirty="0">
                <a:solidFill>
                  <a:srgbClr val="000000"/>
                </a:solidFill>
                <a:effectLst/>
                <a:latin typeface="Nunito" pitchFamily="2" charset="0"/>
              </a:rPr>
              <a:t> class. For example,</a:t>
            </a:r>
          </a:p>
        </p:txBody>
      </p:sp>
      <p:sp>
        <p:nvSpPr>
          <p:cNvPr id="7" name="TextBox 6">
            <a:extLst>
              <a:ext uri="{FF2B5EF4-FFF2-40B4-BE49-F238E27FC236}">
                <a16:creationId xmlns:a16="http://schemas.microsoft.com/office/drawing/2014/main" id="{0651AA45-74A3-631E-F3E1-218CC18F292D}"/>
              </a:ext>
            </a:extLst>
          </p:cNvPr>
          <p:cNvSpPr txBox="1"/>
          <p:nvPr/>
        </p:nvSpPr>
        <p:spPr>
          <a:xfrm>
            <a:off x="67165" y="0"/>
            <a:ext cx="7964471" cy="7294305"/>
          </a:xfrm>
          <a:prstGeom prst="rect">
            <a:avLst/>
          </a:prstGeom>
          <a:noFill/>
        </p:spPr>
        <p:txBody>
          <a:bodyPr wrap="square">
            <a:spAutoFit/>
          </a:bodyPr>
          <a:lstStyle/>
          <a:p>
            <a:r>
              <a:rPr lang="en-US" sz="1200" dirty="0">
                <a:solidFill>
                  <a:srgbClr val="008000"/>
                </a:solidFill>
                <a:latin typeface="Cascadia Mono" panose="020B0609020000020004" pitchFamily="49" charset="0"/>
              </a:rPr>
              <a:t>//a custom attribute </a:t>
            </a:r>
            <a:r>
              <a:rPr lang="en-US" sz="1200" dirty="0" err="1">
                <a:solidFill>
                  <a:srgbClr val="008000"/>
                </a:solidFill>
                <a:latin typeface="Cascadia Mono" panose="020B0609020000020004" pitchFamily="49" charset="0"/>
              </a:rPr>
              <a:t>BugFix</a:t>
            </a:r>
            <a:r>
              <a:rPr lang="en-US" sz="1200" dirty="0">
                <a:solidFill>
                  <a:srgbClr val="008000"/>
                </a:solidFill>
                <a:latin typeface="Cascadia Mono" panose="020B0609020000020004" pitchFamily="49" charset="0"/>
              </a:rPr>
              <a:t> to be assigned to a class and its members</a:t>
            </a:r>
            <a:endParaRPr lang="en-US"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System;</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AttributeUsage</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AttributeTargets.Class</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AttributeTargets.Constructor</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AttributeTargets.Field</a:t>
            </a:r>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AttributeTargets.Method</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AttributeTargets.Property</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AllowMultiple</a:t>
            </a:r>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true</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DeBugInfo</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System.Attribute</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private</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bugNo</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private</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developer;</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private</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lastReview</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message;</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DeBugInfo</a:t>
            </a:r>
            <a:r>
              <a:rPr lang="en-IN" sz="1200" dirty="0">
                <a:solidFill>
                  <a:srgbClr val="000000"/>
                </a:solidFill>
                <a:latin typeface="Cascadia Mono" panose="020B0609020000020004" pitchFamily="49" charset="0"/>
              </a:rPr>
              <a:t>(</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bg</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dev,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d)</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FF"/>
                </a:solidFill>
                <a:latin typeface="Cascadia Mono" panose="020B0609020000020004" pitchFamily="49" charset="0"/>
              </a:rPr>
              <a:t>this</a:t>
            </a:r>
            <a:r>
              <a:rPr lang="en-IN" sz="1200" dirty="0" err="1">
                <a:solidFill>
                  <a:srgbClr val="000000"/>
                </a:solidFill>
                <a:latin typeface="Cascadia Mono" panose="020B0609020000020004" pitchFamily="49" charset="0"/>
              </a:rPr>
              <a:t>.bugNo</a:t>
            </a:r>
            <a:r>
              <a:rPr lang="en-IN" sz="1200" dirty="0">
                <a:solidFill>
                  <a:srgbClr val="000000"/>
                </a:solidFill>
                <a:latin typeface="Cascadia Mono" panose="020B0609020000020004" pitchFamily="49" charset="0"/>
              </a:rPr>
              <a:t> = </a:t>
            </a:r>
            <a:r>
              <a:rPr lang="en-IN" sz="1200" dirty="0" err="1">
                <a:solidFill>
                  <a:srgbClr val="000000"/>
                </a:solidFill>
                <a:latin typeface="Cascadia Mono" panose="020B0609020000020004" pitchFamily="49" charset="0"/>
              </a:rPr>
              <a:t>bg</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FF"/>
                </a:solidFill>
                <a:latin typeface="Cascadia Mono" panose="020B0609020000020004" pitchFamily="49" charset="0"/>
              </a:rPr>
              <a:t>this</a:t>
            </a:r>
            <a:r>
              <a:rPr lang="en-IN" sz="1200" dirty="0" err="1">
                <a:solidFill>
                  <a:srgbClr val="000000"/>
                </a:solidFill>
                <a:latin typeface="Cascadia Mono" panose="020B0609020000020004" pitchFamily="49" charset="0"/>
              </a:rPr>
              <a:t>.developer</a:t>
            </a:r>
            <a:r>
              <a:rPr lang="en-IN" sz="1200" dirty="0">
                <a:solidFill>
                  <a:srgbClr val="000000"/>
                </a:solidFill>
                <a:latin typeface="Cascadia Mono" panose="020B0609020000020004" pitchFamily="49" charset="0"/>
              </a:rPr>
              <a:t> = dev;</a:t>
            </a:r>
          </a:p>
          <a:p>
            <a:r>
              <a:rPr lang="en-IN" sz="1200" dirty="0">
                <a:solidFill>
                  <a:srgbClr val="000000"/>
                </a:solidFill>
                <a:latin typeface="Cascadia Mono" panose="020B0609020000020004" pitchFamily="49" charset="0"/>
              </a:rPr>
              <a:t>        </a:t>
            </a:r>
            <a:r>
              <a:rPr lang="en-IN" sz="1200" dirty="0" err="1">
                <a:solidFill>
                  <a:srgbClr val="0000FF"/>
                </a:solidFill>
                <a:latin typeface="Cascadia Mono" panose="020B0609020000020004" pitchFamily="49" charset="0"/>
              </a:rPr>
              <a:t>this</a:t>
            </a:r>
            <a:r>
              <a:rPr lang="en-IN" sz="1200" dirty="0" err="1">
                <a:solidFill>
                  <a:srgbClr val="000000"/>
                </a:solidFill>
                <a:latin typeface="Cascadia Mono" panose="020B0609020000020004" pitchFamily="49" charset="0"/>
              </a:rPr>
              <a:t>.lastReview</a:t>
            </a:r>
            <a:r>
              <a:rPr lang="en-IN" sz="1200" dirty="0">
                <a:solidFill>
                  <a:srgbClr val="000000"/>
                </a:solidFill>
                <a:latin typeface="Cascadia Mono" panose="020B0609020000020004" pitchFamily="49" charset="0"/>
              </a:rPr>
              <a:t> = d;</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BugNo</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get</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bugNo</a:t>
            </a:r>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Developer</a:t>
            </a:r>
          </a:p>
          <a:p>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get</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developer;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LastReview</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get</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lastReview</a:t>
            </a:r>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string</a:t>
            </a:r>
            <a:r>
              <a:rPr lang="en-IN" sz="1200" dirty="0">
                <a:solidFill>
                  <a:srgbClr val="000000"/>
                </a:solidFill>
                <a:latin typeface="Cascadia Mono" panose="020B0609020000020004" pitchFamily="49" charset="0"/>
              </a:rPr>
              <a:t> Message</a:t>
            </a:r>
          </a:p>
          <a:p>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get</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message;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set</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            message = value;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endParaRPr lang="en-IN" sz="1200" dirty="0"/>
          </a:p>
        </p:txBody>
      </p:sp>
      <p:cxnSp>
        <p:nvCxnSpPr>
          <p:cNvPr id="9" name="Straight Arrow Connector 8">
            <a:extLst>
              <a:ext uri="{FF2B5EF4-FFF2-40B4-BE49-F238E27FC236}">
                <a16:creationId xmlns:a16="http://schemas.microsoft.com/office/drawing/2014/main" id="{9A032654-1B2C-9EBF-712F-EDCA55C7762D}"/>
              </a:ext>
            </a:extLst>
          </p:cNvPr>
          <p:cNvCxnSpPr>
            <a:cxnSpLocks/>
          </p:cNvCxnSpPr>
          <p:nvPr/>
        </p:nvCxnSpPr>
        <p:spPr>
          <a:xfrm flipH="1">
            <a:off x="3896139" y="1234912"/>
            <a:ext cx="5153594" cy="186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22C6931-2C84-ED67-06F2-EF7216485F4B}"/>
              </a:ext>
            </a:extLst>
          </p:cNvPr>
          <p:cNvSpPr txBox="1"/>
          <p:nvPr/>
        </p:nvSpPr>
        <p:spPr>
          <a:xfrm>
            <a:off x="5363853" y="1873378"/>
            <a:ext cx="6760982" cy="4801314"/>
          </a:xfrm>
          <a:prstGeom prst="rect">
            <a:avLst/>
          </a:prstGeom>
          <a:noFill/>
        </p:spPr>
        <p:txBody>
          <a:bodyPr wrap="square">
            <a:spAutoFit/>
          </a:bodyPr>
          <a:lstStyle/>
          <a:p>
            <a:pPr algn="just"/>
            <a:r>
              <a:rPr lang="en-US" b="0" i="0" dirty="0">
                <a:solidFill>
                  <a:srgbClr val="000000"/>
                </a:solidFill>
                <a:effectLst/>
                <a:latin typeface="Nunito" pitchFamily="2" charset="0"/>
              </a:rPr>
              <a:t>Let us construct a custom attribute named </a:t>
            </a:r>
            <a:r>
              <a:rPr lang="en-US" b="0" i="1" dirty="0" err="1">
                <a:solidFill>
                  <a:srgbClr val="000000"/>
                </a:solidFill>
                <a:effectLst/>
                <a:latin typeface="Nunito" pitchFamily="2" charset="0"/>
              </a:rPr>
              <a:t>DeBugInfo</a:t>
            </a:r>
            <a:r>
              <a:rPr lang="en-US" b="0" i="0" dirty="0">
                <a:solidFill>
                  <a:srgbClr val="000000"/>
                </a:solidFill>
                <a:effectLst/>
                <a:latin typeface="Nunito" pitchFamily="2" charset="0"/>
              </a:rPr>
              <a:t>, which stores the information obtained by debugging any program. Let it store the following information −</a:t>
            </a:r>
          </a:p>
          <a:p>
            <a:pPr algn="l">
              <a:buFont typeface="Arial" panose="020B0604020202020204" pitchFamily="34" charset="0"/>
              <a:buChar char="•"/>
            </a:pPr>
            <a:r>
              <a:rPr lang="en-US" b="0" i="0" dirty="0">
                <a:solidFill>
                  <a:srgbClr val="000000"/>
                </a:solidFill>
                <a:effectLst/>
                <a:latin typeface="Nunito" pitchFamily="2" charset="0"/>
              </a:rPr>
              <a:t>The code number for the bug</a:t>
            </a:r>
          </a:p>
          <a:p>
            <a:pPr algn="l">
              <a:buFont typeface="Arial" panose="020B0604020202020204" pitchFamily="34" charset="0"/>
              <a:buChar char="•"/>
            </a:pPr>
            <a:r>
              <a:rPr lang="en-US" b="0" i="0" dirty="0">
                <a:solidFill>
                  <a:srgbClr val="000000"/>
                </a:solidFill>
                <a:effectLst/>
                <a:latin typeface="Nunito" pitchFamily="2" charset="0"/>
              </a:rPr>
              <a:t>Name of the developer who identified the bug</a:t>
            </a:r>
          </a:p>
          <a:p>
            <a:pPr algn="l">
              <a:buFont typeface="Arial" panose="020B0604020202020204" pitchFamily="34" charset="0"/>
              <a:buChar char="•"/>
            </a:pPr>
            <a:r>
              <a:rPr lang="en-US" b="0" i="0" dirty="0">
                <a:solidFill>
                  <a:srgbClr val="000000"/>
                </a:solidFill>
                <a:effectLst/>
                <a:latin typeface="Nunito" pitchFamily="2" charset="0"/>
              </a:rPr>
              <a:t>Date of last review of the code</a:t>
            </a:r>
          </a:p>
          <a:p>
            <a:pPr algn="l">
              <a:buFont typeface="Arial" panose="020B0604020202020204" pitchFamily="34" charset="0"/>
              <a:buChar char="•"/>
            </a:pPr>
            <a:r>
              <a:rPr lang="en-US" b="0" i="0" dirty="0">
                <a:solidFill>
                  <a:srgbClr val="000000"/>
                </a:solidFill>
                <a:effectLst/>
                <a:latin typeface="Nunito" pitchFamily="2" charset="0"/>
              </a:rPr>
              <a:t>A string message for storing the developer's remarks</a:t>
            </a:r>
          </a:p>
          <a:p>
            <a:pPr algn="just"/>
            <a:endParaRPr lang="en-US" b="0" i="0" dirty="0">
              <a:solidFill>
                <a:srgbClr val="000000"/>
              </a:solidFill>
              <a:effectLst/>
              <a:latin typeface="Nunito" pitchFamily="2" charset="0"/>
            </a:endParaRPr>
          </a:p>
          <a:p>
            <a:pPr algn="just"/>
            <a:r>
              <a:rPr lang="en-US" b="0" i="0" dirty="0">
                <a:solidFill>
                  <a:srgbClr val="000000"/>
                </a:solidFill>
                <a:effectLst/>
                <a:latin typeface="Nunito" pitchFamily="2" charset="0"/>
              </a:rPr>
              <a:t>The </a:t>
            </a:r>
            <a:r>
              <a:rPr lang="en-US" b="0" i="1" dirty="0" err="1">
                <a:solidFill>
                  <a:srgbClr val="000000"/>
                </a:solidFill>
                <a:effectLst/>
                <a:latin typeface="Nunito" pitchFamily="2" charset="0"/>
              </a:rPr>
              <a:t>DeBugInfo</a:t>
            </a:r>
            <a:r>
              <a:rPr lang="en-US" b="0" i="0" dirty="0">
                <a:solidFill>
                  <a:srgbClr val="000000"/>
                </a:solidFill>
                <a:effectLst/>
                <a:latin typeface="Nunito" pitchFamily="2" charset="0"/>
              </a:rPr>
              <a:t> class has three private properties for storing the first three information and a public property for storing the message.</a:t>
            </a:r>
          </a:p>
          <a:p>
            <a:pPr algn="just"/>
            <a:r>
              <a:rPr lang="en-US" b="0" i="0" dirty="0">
                <a:solidFill>
                  <a:srgbClr val="000000"/>
                </a:solidFill>
                <a:effectLst/>
                <a:latin typeface="Nunito" pitchFamily="2" charset="0"/>
              </a:rPr>
              <a:t> Hence the bug number, developer's name, and date of review are the positional parameters of the </a:t>
            </a:r>
            <a:r>
              <a:rPr lang="en-US" b="0" i="0" dirty="0" err="1">
                <a:solidFill>
                  <a:srgbClr val="000000"/>
                </a:solidFill>
                <a:effectLst/>
                <a:latin typeface="Nunito" pitchFamily="2" charset="0"/>
              </a:rPr>
              <a:t>DeBugInfo</a:t>
            </a:r>
            <a:r>
              <a:rPr lang="en-US" b="0" i="0" dirty="0">
                <a:solidFill>
                  <a:srgbClr val="000000"/>
                </a:solidFill>
                <a:effectLst/>
                <a:latin typeface="Nunito" pitchFamily="2" charset="0"/>
              </a:rPr>
              <a:t> class and the message is an optional or named parameter.</a:t>
            </a:r>
          </a:p>
          <a:p>
            <a:pPr algn="just"/>
            <a:r>
              <a:rPr lang="en-US" b="0" i="0" dirty="0">
                <a:solidFill>
                  <a:srgbClr val="000000"/>
                </a:solidFill>
                <a:effectLst/>
                <a:latin typeface="Nunito" pitchFamily="2" charset="0"/>
              </a:rPr>
              <a:t>Each attribute must have at least one constructor. The positional parameters should be passed through the constructor. The following code shows the </a:t>
            </a:r>
            <a:r>
              <a:rPr lang="en-US" b="0" i="1" dirty="0" err="1">
                <a:solidFill>
                  <a:srgbClr val="000000"/>
                </a:solidFill>
                <a:effectLst/>
                <a:latin typeface="Nunito" pitchFamily="2" charset="0"/>
              </a:rPr>
              <a:t>DeBugInfo</a:t>
            </a:r>
            <a:r>
              <a:rPr lang="en-US" b="0" i="0" dirty="0">
                <a:solidFill>
                  <a:srgbClr val="000000"/>
                </a:solidFill>
                <a:effectLst/>
                <a:latin typeface="Nunito" pitchFamily="2" charset="0"/>
              </a:rPr>
              <a:t> class −</a:t>
            </a:r>
          </a:p>
        </p:txBody>
      </p:sp>
    </p:spTree>
    <p:extLst>
      <p:ext uri="{BB962C8B-B14F-4D97-AF65-F5344CB8AC3E}">
        <p14:creationId xmlns:p14="http://schemas.microsoft.com/office/powerpoint/2010/main" val="902319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2A6DF2-5A16-F27A-4CA5-FD17DEF60725}"/>
              </a:ext>
            </a:extLst>
          </p:cNvPr>
          <p:cNvSpPr txBox="1"/>
          <p:nvPr/>
        </p:nvSpPr>
        <p:spPr>
          <a:xfrm>
            <a:off x="2443900" y="0"/>
            <a:ext cx="6094428" cy="369332"/>
          </a:xfrm>
          <a:prstGeom prst="rect">
            <a:avLst/>
          </a:prstGeom>
          <a:noFill/>
        </p:spPr>
        <p:txBody>
          <a:bodyPr wrap="square">
            <a:spAutoFit/>
          </a:bodyPr>
          <a:lstStyle/>
          <a:p>
            <a:pPr algn="ctr"/>
            <a:r>
              <a:rPr lang="en-IN" b="1" i="0" dirty="0">
                <a:solidFill>
                  <a:srgbClr val="000000"/>
                </a:solidFill>
                <a:effectLst/>
                <a:latin typeface="Heebo" pitchFamily="2" charset="-79"/>
                <a:cs typeface="Heebo" pitchFamily="2" charset="-79"/>
              </a:rPr>
              <a:t>Applying the Custom Attribute</a:t>
            </a:r>
          </a:p>
        </p:txBody>
      </p:sp>
      <p:sp>
        <p:nvSpPr>
          <p:cNvPr id="7" name="TextBox 6">
            <a:extLst>
              <a:ext uri="{FF2B5EF4-FFF2-40B4-BE49-F238E27FC236}">
                <a16:creationId xmlns:a16="http://schemas.microsoft.com/office/drawing/2014/main" id="{BD61154C-2157-EDE4-96BA-332CB789A991}"/>
              </a:ext>
            </a:extLst>
          </p:cNvPr>
          <p:cNvSpPr txBox="1"/>
          <p:nvPr/>
        </p:nvSpPr>
        <p:spPr>
          <a:xfrm>
            <a:off x="228600" y="543808"/>
            <a:ext cx="11441784" cy="6340197"/>
          </a:xfrm>
          <a:prstGeom prst="rect">
            <a:avLst/>
          </a:prstGeom>
          <a:noFill/>
        </p:spPr>
        <p:txBody>
          <a:bodyPr wrap="square">
            <a:spAutoFit/>
          </a:bodyPr>
          <a:lstStyle/>
          <a:p>
            <a:r>
              <a:rPr lang="en-IN" sz="1400" dirty="0">
                <a:solidFill>
                  <a:srgbClr val="0000FF"/>
                </a:solidFill>
                <a:latin typeface="Cascadia Mono" panose="020B0609020000020004" pitchFamily="49" charset="0"/>
              </a:rPr>
              <a:t>using</a:t>
            </a:r>
            <a:r>
              <a:rPr lang="en-IN" sz="1400" dirty="0">
                <a:solidFill>
                  <a:srgbClr val="000000"/>
                </a:solidFill>
                <a:latin typeface="Cascadia Mono" panose="020B0609020000020004" pitchFamily="49" charset="0"/>
              </a:rPr>
              <a:t> System;</a:t>
            </a:r>
          </a:p>
          <a:p>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r>
              <a:rPr lang="en-IN" sz="1400" dirty="0" err="1">
                <a:solidFill>
                  <a:srgbClr val="000000"/>
                </a:solidFill>
                <a:latin typeface="Cascadia Mono" panose="020B0609020000020004" pitchFamily="49" charset="0"/>
              </a:rPr>
              <a:t>DeBugInfo</a:t>
            </a:r>
            <a:r>
              <a:rPr lang="en-IN" sz="1400" dirty="0">
                <a:solidFill>
                  <a:srgbClr val="000000"/>
                </a:solidFill>
                <a:latin typeface="Cascadia Mono" panose="020B0609020000020004" pitchFamily="49" charset="0"/>
              </a:rPr>
              <a:t>(45, </a:t>
            </a:r>
            <a:r>
              <a:rPr lang="en-IN" sz="1400" dirty="0">
                <a:solidFill>
                  <a:srgbClr val="A31515"/>
                </a:solidFill>
                <a:latin typeface="Cascadia Mono" panose="020B0609020000020004" pitchFamily="49" charset="0"/>
              </a:rPr>
              <a:t>"Zara Ali"</a:t>
            </a:r>
            <a:r>
              <a:rPr lang="en-IN" sz="1400" dirty="0">
                <a:solidFill>
                  <a:srgbClr val="000000"/>
                </a:solidFill>
                <a:latin typeface="Cascadia Mono" panose="020B0609020000020004" pitchFamily="49" charset="0"/>
              </a:rPr>
              <a:t>, </a:t>
            </a:r>
            <a:r>
              <a:rPr lang="en-IN" sz="1400" dirty="0">
                <a:solidFill>
                  <a:srgbClr val="A31515"/>
                </a:solidFill>
                <a:latin typeface="Cascadia Mono" panose="020B0609020000020004" pitchFamily="49" charset="0"/>
              </a:rPr>
              <a:t>"12/8/2012"</a:t>
            </a:r>
            <a:r>
              <a:rPr lang="en-IN" sz="1400" dirty="0">
                <a:solidFill>
                  <a:srgbClr val="000000"/>
                </a:solidFill>
                <a:latin typeface="Cascadia Mono" panose="020B0609020000020004" pitchFamily="49" charset="0"/>
              </a:rPr>
              <a:t>, Message = </a:t>
            </a:r>
            <a:r>
              <a:rPr lang="en-IN" sz="1400" dirty="0">
                <a:solidFill>
                  <a:srgbClr val="A31515"/>
                </a:solidFill>
                <a:latin typeface="Cascadia Mono" panose="020B0609020000020004" pitchFamily="49" charset="0"/>
              </a:rPr>
              <a:t>"Return type mismatch"</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a:t>
            </a:r>
            <a:r>
              <a:rPr lang="en-IN" sz="1400" dirty="0" err="1">
                <a:solidFill>
                  <a:srgbClr val="000000"/>
                </a:solidFill>
                <a:latin typeface="Cascadia Mono" panose="020B0609020000020004" pitchFamily="49" charset="0"/>
              </a:rPr>
              <a:t>DeBugInfo</a:t>
            </a:r>
            <a:r>
              <a:rPr lang="en-IN" sz="1400" dirty="0">
                <a:solidFill>
                  <a:srgbClr val="000000"/>
                </a:solidFill>
                <a:latin typeface="Cascadia Mono" panose="020B0609020000020004" pitchFamily="49" charset="0"/>
              </a:rPr>
              <a:t>(49, </a:t>
            </a:r>
            <a:r>
              <a:rPr lang="en-IN" sz="1400" dirty="0">
                <a:solidFill>
                  <a:srgbClr val="A31515"/>
                </a:solidFill>
                <a:latin typeface="Cascadia Mono" panose="020B0609020000020004" pitchFamily="49" charset="0"/>
              </a:rPr>
              <a:t>"</a:t>
            </a:r>
            <a:r>
              <a:rPr lang="en-IN" sz="1400" dirty="0" err="1">
                <a:solidFill>
                  <a:srgbClr val="A31515"/>
                </a:solidFill>
                <a:latin typeface="Cascadia Mono" panose="020B0609020000020004" pitchFamily="49" charset="0"/>
              </a:rPr>
              <a:t>Nuha</a:t>
            </a:r>
            <a:r>
              <a:rPr lang="en-IN" sz="1400" dirty="0">
                <a:solidFill>
                  <a:srgbClr val="A31515"/>
                </a:solidFill>
                <a:latin typeface="Cascadia Mono" panose="020B0609020000020004" pitchFamily="49" charset="0"/>
              </a:rPr>
              <a:t> Ali"</a:t>
            </a:r>
            <a:r>
              <a:rPr lang="en-IN" sz="1400" dirty="0">
                <a:solidFill>
                  <a:srgbClr val="000000"/>
                </a:solidFill>
                <a:latin typeface="Cascadia Mono" panose="020B0609020000020004" pitchFamily="49" charset="0"/>
              </a:rPr>
              <a:t>, </a:t>
            </a:r>
            <a:r>
              <a:rPr lang="en-IN" sz="1400" dirty="0">
                <a:solidFill>
                  <a:srgbClr val="A31515"/>
                </a:solidFill>
                <a:latin typeface="Cascadia Mono" panose="020B0609020000020004" pitchFamily="49" charset="0"/>
              </a:rPr>
              <a:t>"10/10/2012"</a:t>
            </a:r>
            <a:r>
              <a:rPr lang="en-IN" sz="1400" dirty="0">
                <a:solidFill>
                  <a:srgbClr val="000000"/>
                </a:solidFill>
                <a:latin typeface="Cascadia Mono" panose="020B0609020000020004" pitchFamily="49" charset="0"/>
              </a:rPr>
              <a:t>, Message = </a:t>
            </a:r>
            <a:r>
              <a:rPr lang="en-IN" sz="1400" dirty="0">
                <a:solidFill>
                  <a:srgbClr val="A31515"/>
                </a:solidFill>
                <a:latin typeface="Cascadia Mono" panose="020B0609020000020004" pitchFamily="49" charset="0"/>
              </a:rPr>
              <a:t>"Unused variable"</a:t>
            </a:r>
            <a:r>
              <a:rPr lang="en-IN" sz="1400" dirty="0">
                <a:solidFill>
                  <a:srgbClr val="000000"/>
                </a:solidFill>
                <a:latin typeface="Cascadia Mono" panose="020B0609020000020004" pitchFamily="49" charset="0"/>
              </a:rPr>
              <a:t>)]</a:t>
            </a:r>
          </a:p>
          <a:p>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Rectangle</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8000"/>
                </a:solidFill>
                <a:latin typeface="Cascadia Mono" panose="020B0609020000020004" pitchFamily="49" charset="0"/>
              </a:rPr>
              <a:t>//member variables</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protected</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double</a:t>
            </a:r>
            <a:r>
              <a:rPr lang="en-IN" sz="1400" dirty="0">
                <a:solidFill>
                  <a:srgbClr val="000000"/>
                </a:solidFill>
                <a:latin typeface="Cascadia Mono" panose="020B0609020000020004" pitchFamily="49" charset="0"/>
              </a:rPr>
              <a:t> length;</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protected</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double</a:t>
            </a:r>
            <a:r>
              <a:rPr lang="en-IN" sz="1400" dirty="0">
                <a:solidFill>
                  <a:srgbClr val="000000"/>
                </a:solidFill>
                <a:latin typeface="Cascadia Mono" panose="020B0609020000020004" pitchFamily="49" charset="0"/>
              </a:rPr>
              <a:t> width;</a:t>
            </a:r>
          </a:p>
          <a:p>
            <a:r>
              <a:rPr lang="fr-FR" sz="1400" dirty="0">
                <a:solidFill>
                  <a:srgbClr val="000000"/>
                </a:solidFill>
                <a:latin typeface="Cascadia Mono" panose="020B0609020000020004" pitchFamily="49" charset="0"/>
              </a:rPr>
              <a:t>    </a:t>
            </a:r>
            <a:r>
              <a:rPr lang="fr-FR" sz="1400" dirty="0">
                <a:solidFill>
                  <a:srgbClr val="0000FF"/>
                </a:solidFill>
                <a:latin typeface="Cascadia Mono" panose="020B0609020000020004" pitchFamily="49" charset="0"/>
              </a:rPr>
              <a:t>public</a:t>
            </a:r>
            <a:r>
              <a:rPr lang="fr-FR" sz="1400" dirty="0">
                <a:solidFill>
                  <a:srgbClr val="000000"/>
                </a:solidFill>
                <a:latin typeface="Cascadia Mono" panose="020B0609020000020004" pitchFamily="49" charset="0"/>
              </a:rPr>
              <a:t> </a:t>
            </a:r>
            <a:r>
              <a:rPr lang="fr-FR" sz="1400" dirty="0">
                <a:solidFill>
                  <a:srgbClr val="2B91AF"/>
                </a:solidFill>
                <a:latin typeface="Cascadia Mono" panose="020B0609020000020004" pitchFamily="49" charset="0"/>
              </a:rPr>
              <a:t>Rectangle</a:t>
            </a:r>
            <a:r>
              <a:rPr lang="fr-FR" sz="1400" dirty="0">
                <a:solidFill>
                  <a:srgbClr val="000000"/>
                </a:solidFill>
                <a:latin typeface="Cascadia Mono" panose="020B0609020000020004" pitchFamily="49" charset="0"/>
              </a:rPr>
              <a:t>(</a:t>
            </a:r>
            <a:r>
              <a:rPr lang="fr-FR" sz="1400" dirty="0">
                <a:solidFill>
                  <a:srgbClr val="0000FF"/>
                </a:solidFill>
                <a:latin typeface="Cascadia Mono" panose="020B0609020000020004" pitchFamily="49" charset="0"/>
              </a:rPr>
              <a:t>double</a:t>
            </a:r>
            <a:r>
              <a:rPr lang="fr-FR" sz="1400" dirty="0">
                <a:solidFill>
                  <a:srgbClr val="000000"/>
                </a:solidFill>
                <a:latin typeface="Cascadia Mono" panose="020B0609020000020004" pitchFamily="49" charset="0"/>
              </a:rPr>
              <a:t> l, </a:t>
            </a:r>
            <a:r>
              <a:rPr lang="fr-FR" sz="1400" dirty="0">
                <a:solidFill>
                  <a:srgbClr val="0000FF"/>
                </a:solidFill>
                <a:latin typeface="Cascadia Mono" panose="020B0609020000020004" pitchFamily="49" charset="0"/>
              </a:rPr>
              <a:t>double</a:t>
            </a:r>
            <a:r>
              <a:rPr lang="fr-FR" sz="1400" dirty="0">
                <a:solidFill>
                  <a:srgbClr val="000000"/>
                </a:solidFill>
                <a:latin typeface="Cascadia Mono" panose="020B0609020000020004" pitchFamily="49" charset="0"/>
              </a:rPr>
              <a:t> w)</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length = l;</a:t>
            </a:r>
          </a:p>
          <a:p>
            <a:r>
              <a:rPr lang="en-IN" sz="1400" dirty="0">
                <a:solidFill>
                  <a:srgbClr val="000000"/>
                </a:solidFill>
                <a:latin typeface="Cascadia Mono" panose="020B0609020000020004" pitchFamily="49" charset="0"/>
              </a:rPr>
              <a:t>        width = w;</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DeBugInfo</a:t>
            </a:r>
            <a:r>
              <a:rPr lang="en-IN" sz="1400" dirty="0">
                <a:solidFill>
                  <a:srgbClr val="000000"/>
                </a:solidFill>
                <a:latin typeface="Cascadia Mono" panose="020B0609020000020004" pitchFamily="49" charset="0"/>
              </a:rPr>
              <a:t>(55, </a:t>
            </a:r>
            <a:r>
              <a:rPr lang="en-IN" sz="1400" dirty="0">
                <a:solidFill>
                  <a:srgbClr val="A31515"/>
                </a:solidFill>
                <a:latin typeface="Cascadia Mono" panose="020B0609020000020004" pitchFamily="49" charset="0"/>
              </a:rPr>
              <a:t>"Zara Ali"</a:t>
            </a:r>
            <a:r>
              <a:rPr lang="en-IN" sz="1400" dirty="0">
                <a:solidFill>
                  <a:srgbClr val="000000"/>
                </a:solidFill>
                <a:latin typeface="Cascadia Mono" panose="020B0609020000020004" pitchFamily="49" charset="0"/>
              </a:rPr>
              <a:t>, </a:t>
            </a:r>
            <a:r>
              <a:rPr lang="en-IN" sz="1400" dirty="0">
                <a:solidFill>
                  <a:srgbClr val="A31515"/>
                </a:solidFill>
                <a:latin typeface="Cascadia Mono" panose="020B0609020000020004" pitchFamily="49" charset="0"/>
              </a:rPr>
              <a:t>"19/10/2012"</a:t>
            </a:r>
            <a:r>
              <a:rPr lang="en-IN" sz="1400" dirty="0">
                <a:solidFill>
                  <a:srgbClr val="000000"/>
                </a:solidFill>
                <a:latin typeface="Cascadia Mono" panose="020B0609020000020004" pitchFamily="49" charset="0"/>
              </a:rPr>
              <a:t>, Message = </a:t>
            </a:r>
            <a:r>
              <a:rPr lang="en-IN" sz="1400" dirty="0">
                <a:solidFill>
                  <a:srgbClr val="A31515"/>
                </a:solidFill>
                <a:latin typeface="Cascadia Mono" panose="020B0609020000020004" pitchFamily="49" charset="0"/>
              </a:rPr>
              <a:t>"Return type mismatch"</a:t>
            </a:r>
            <a:r>
              <a:rPr lang="en-IN"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double</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GetArea</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return</a:t>
            </a:r>
            <a:r>
              <a:rPr lang="en-IN" sz="1400" dirty="0">
                <a:solidFill>
                  <a:srgbClr val="000000"/>
                </a:solidFill>
                <a:latin typeface="Cascadia Mono" panose="020B0609020000020004" pitchFamily="49" charset="0"/>
              </a:rPr>
              <a:t> length * width;</a:t>
            </a:r>
          </a:p>
          <a:p>
            <a:r>
              <a:rPr lang="en-IN" sz="1400" dirty="0">
                <a:solidFill>
                  <a:srgbClr val="000000"/>
                </a:solidFill>
                <a:latin typeface="Cascadia Mono" panose="020B0609020000020004" pitchFamily="49" charset="0"/>
              </a:rPr>
              <a:t>    }</a:t>
            </a:r>
          </a:p>
          <a:p>
            <a:r>
              <a:rPr lang="pt-BR" sz="1400" dirty="0">
                <a:solidFill>
                  <a:srgbClr val="000000"/>
                </a:solidFill>
                <a:latin typeface="Cascadia Mono" panose="020B0609020000020004" pitchFamily="49" charset="0"/>
              </a:rPr>
              <a:t>    [DeBugInfo(56, </a:t>
            </a:r>
            <a:r>
              <a:rPr lang="pt-BR" sz="1400" dirty="0">
                <a:solidFill>
                  <a:srgbClr val="A31515"/>
                </a:solidFill>
                <a:latin typeface="Cascadia Mono" panose="020B0609020000020004" pitchFamily="49" charset="0"/>
              </a:rPr>
              <a:t>"Zara Ali"</a:t>
            </a:r>
            <a:r>
              <a:rPr lang="pt-BR" sz="1400" dirty="0">
                <a:solidFill>
                  <a:srgbClr val="000000"/>
                </a:solidFill>
                <a:latin typeface="Cascadia Mono" panose="020B0609020000020004" pitchFamily="49" charset="0"/>
              </a:rPr>
              <a:t>, </a:t>
            </a:r>
            <a:r>
              <a:rPr lang="pt-BR" sz="1400" dirty="0">
                <a:solidFill>
                  <a:srgbClr val="A31515"/>
                </a:solidFill>
                <a:latin typeface="Cascadia Mono" panose="020B0609020000020004" pitchFamily="49" charset="0"/>
              </a:rPr>
              <a:t>"19/10/2012"</a:t>
            </a:r>
            <a:r>
              <a:rPr lang="pt-BR"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Display()</a:t>
            </a:r>
          </a:p>
          <a:p>
            <a:r>
              <a:rPr lang="en-IN" sz="1400" dirty="0">
                <a:solidFill>
                  <a:srgbClr val="000000"/>
                </a:solidFill>
                <a:latin typeface="Cascadia Mono" panose="020B0609020000020004" pitchFamily="49" charset="0"/>
              </a:rPr>
              <a:t>    {</a:t>
            </a:r>
          </a:p>
          <a:p>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Console.WriteLine</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"Length: {0}"</a:t>
            </a:r>
            <a:r>
              <a:rPr lang="en-US" sz="1400" dirty="0">
                <a:solidFill>
                  <a:srgbClr val="000000"/>
                </a:solidFill>
                <a:latin typeface="Cascadia Mono" panose="020B0609020000020004" pitchFamily="49" charset="0"/>
              </a:rPr>
              <a:t>, length);</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Console.WriteLine</a:t>
            </a:r>
            <a:r>
              <a:rPr lang="en-IN" sz="1400" dirty="0">
                <a:solidFill>
                  <a:srgbClr val="000000"/>
                </a:solidFill>
                <a:latin typeface="Cascadia Mono" panose="020B0609020000020004" pitchFamily="49" charset="0"/>
              </a:rPr>
              <a:t>(</a:t>
            </a:r>
            <a:r>
              <a:rPr lang="en-IN" sz="1400" dirty="0">
                <a:solidFill>
                  <a:srgbClr val="A31515"/>
                </a:solidFill>
                <a:latin typeface="Cascadia Mono" panose="020B0609020000020004" pitchFamily="49" charset="0"/>
              </a:rPr>
              <a:t>"Width: {0}"</a:t>
            </a:r>
            <a:r>
              <a:rPr lang="en-IN" sz="1400" dirty="0">
                <a:solidFill>
                  <a:srgbClr val="000000"/>
                </a:solidFill>
                <a:latin typeface="Cascadia Mono" panose="020B0609020000020004" pitchFamily="49" charset="0"/>
              </a:rPr>
              <a:t>, width);</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Console.WriteLine</a:t>
            </a:r>
            <a:r>
              <a:rPr lang="en-IN" sz="1400" dirty="0">
                <a:solidFill>
                  <a:srgbClr val="000000"/>
                </a:solidFill>
                <a:latin typeface="Cascadia Mono" panose="020B0609020000020004" pitchFamily="49" charset="0"/>
              </a:rPr>
              <a:t>(</a:t>
            </a:r>
            <a:r>
              <a:rPr lang="en-IN" sz="1400" dirty="0">
                <a:solidFill>
                  <a:srgbClr val="A31515"/>
                </a:solidFill>
                <a:latin typeface="Cascadia Mono" panose="020B0609020000020004" pitchFamily="49" charset="0"/>
              </a:rPr>
              <a:t>"Area: {0}"</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GetArea</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endParaRPr lang="en-IN" sz="1400" dirty="0"/>
          </a:p>
        </p:txBody>
      </p:sp>
    </p:spTree>
    <p:extLst>
      <p:ext uri="{BB962C8B-B14F-4D97-AF65-F5344CB8AC3E}">
        <p14:creationId xmlns:p14="http://schemas.microsoft.com/office/powerpoint/2010/main" val="235651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97792C-4489-B88E-3E7E-A4106FFB31DC}"/>
              </a:ext>
            </a:extLst>
          </p:cNvPr>
          <p:cNvSpPr txBox="1"/>
          <p:nvPr/>
        </p:nvSpPr>
        <p:spPr>
          <a:xfrm>
            <a:off x="228601" y="198238"/>
            <a:ext cx="11762294" cy="3139321"/>
          </a:xfrm>
          <a:prstGeom prst="rect">
            <a:avLst/>
          </a:prstGeom>
          <a:noFill/>
        </p:spPr>
        <p:txBody>
          <a:bodyPr wrap="square">
            <a:spAutoFit/>
          </a:bodyPr>
          <a:lstStyle/>
          <a:p>
            <a:pPr algn="just"/>
            <a:r>
              <a:rPr lang="en-US" b="1" i="0" dirty="0">
                <a:solidFill>
                  <a:srgbClr val="000000"/>
                </a:solidFill>
                <a:effectLst/>
                <a:latin typeface="Nunito" pitchFamily="2" charset="0"/>
              </a:rPr>
              <a:t>Reflection</a:t>
            </a:r>
            <a:r>
              <a:rPr lang="en-US" b="0" i="0" dirty="0">
                <a:solidFill>
                  <a:srgbClr val="000000"/>
                </a:solidFill>
                <a:effectLst/>
                <a:latin typeface="Nunito" pitchFamily="2" charset="0"/>
              </a:rPr>
              <a:t> objects are used for obtaining type information at runtime. The classes that give access to the metadata of a running program are in the </a:t>
            </a:r>
            <a:r>
              <a:rPr lang="en-US" b="1" i="0" dirty="0" err="1">
                <a:solidFill>
                  <a:srgbClr val="000000"/>
                </a:solidFill>
                <a:effectLst/>
                <a:latin typeface="Nunito" pitchFamily="2" charset="0"/>
              </a:rPr>
              <a:t>System.Reflection</a:t>
            </a:r>
            <a:r>
              <a:rPr lang="en-US" b="0" i="0" dirty="0">
                <a:solidFill>
                  <a:srgbClr val="000000"/>
                </a:solidFill>
                <a:effectLst/>
                <a:latin typeface="Nunito" pitchFamily="2" charset="0"/>
              </a:rPr>
              <a:t> namespace.</a:t>
            </a:r>
          </a:p>
          <a:p>
            <a:pPr algn="just"/>
            <a:r>
              <a:rPr lang="en-US" b="0" i="0" dirty="0">
                <a:solidFill>
                  <a:srgbClr val="000000"/>
                </a:solidFill>
                <a:effectLst/>
                <a:latin typeface="Nunito" pitchFamily="2" charset="0"/>
              </a:rPr>
              <a:t>The </a:t>
            </a:r>
            <a:r>
              <a:rPr lang="en-US" b="1" i="0" dirty="0" err="1">
                <a:solidFill>
                  <a:srgbClr val="000000"/>
                </a:solidFill>
                <a:effectLst/>
                <a:latin typeface="Nunito" pitchFamily="2" charset="0"/>
              </a:rPr>
              <a:t>System.Reflection</a:t>
            </a:r>
            <a:r>
              <a:rPr lang="en-US" b="0" i="0" dirty="0">
                <a:solidFill>
                  <a:srgbClr val="000000"/>
                </a:solidFill>
                <a:effectLst/>
                <a:latin typeface="Nunito" pitchFamily="2" charset="0"/>
              </a:rPr>
              <a:t> namespace contains classes that allow you to obtain information about the application and to dynamically add types, values, and objects to the application.</a:t>
            </a:r>
          </a:p>
          <a:p>
            <a:pPr algn="l"/>
            <a:endParaRPr lang="en-US" b="0" i="0" dirty="0">
              <a:solidFill>
                <a:srgbClr val="000000"/>
              </a:solidFill>
              <a:effectLst/>
              <a:latin typeface="Heebo" pitchFamily="2" charset="-79"/>
              <a:cs typeface="Heebo" pitchFamily="2" charset="-79"/>
            </a:endParaRPr>
          </a:p>
          <a:p>
            <a:pPr algn="l"/>
            <a:r>
              <a:rPr lang="en-US" b="1" i="0" dirty="0">
                <a:solidFill>
                  <a:srgbClr val="000000"/>
                </a:solidFill>
                <a:effectLst/>
                <a:latin typeface="Heebo" pitchFamily="2" charset="-79"/>
                <a:cs typeface="Heebo" pitchFamily="2" charset="-79"/>
              </a:rPr>
              <a:t>Applications of Reflection</a:t>
            </a:r>
          </a:p>
          <a:p>
            <a:pPr algn="just"/>
            <a:r>
              <a:rPr lang="en-US" b="0" i="0" dirty="0">
                <a:solidFill>
                  <a:srgbClr val="000000"/>
                </a:solidFill>
                <a:effectLst/>
                <a:latin typeface="Nunito" pitchFamily="2" charset="0"/>
              </a:rPr>
              <a:t>Reflection has the following applications −</a:t>
            </a:r>
          </a:p>
          <a:p>
            <a:pPr algn="just">
              <a:buFont typeface="Arial" panose="020B0604020202020204" pitchFamily="34" charset="0"/>
              <a:buChar char="•"/>
            </a:pPr>
            <a:r>
              <a:rPr lang="en-US" b="0" i="0" dirty="0">
                <a:solidFill>
                  <a:srgbClr val="000000"/>
                </a:solidFill>
                <a:effectLst/>
                <a:latin typeface="Nunito" pitchFamily="2" charset="0"/>
              </a:rPr>
              <a:t>It allows view attribute information at runtime.</a:t>
            </a:r>
          </a:p>
          <a:p>
            <a:pPr algn="just">
              <a:buFont typeface="Arial" panose="020B0604020202020204" pitchFamily="34" charset="0"/>
              <a:buChar char="•"/>
            </a:pPr>
            <a:r>
              <a:rPr lang="en-US" b="0" i="0" dirty="0">
                <a:solidFill>
                  <a:srgbClr val="000000"/>
                </a:solidFill>
                <a:effectLst/>
                <a:latin typeface="Nunito" pitchFamily="2" charset="0"/>
              </a:rPr>
              <a:t>It allows examining various types in an assembly and instantiate these types.</a:t>
            </a:r>
          </a:p>
          <a:p>
            <a:pPr algn="just">
              <a:buFont typeface="Arial" panose="020B0604020202020204" pitchFamily="34" charset="0"/>
              <a:buChar char="•"/>
            </a:pPr>
            <a:r>
              <a:rPr lang="en-US" b="0" i="0" dirty="0">
                <a:solidFill>
                  <a:srgbClr val="000000"/>
                </a:solidFill>
                <a:effectLst/>
                <a:latin typeface="Nunito" pitchFamily="2" charset="0"/>
              </a:rPr>
              <a:t>It allows late binding to methods and properties</a:t>
            </a:r>
          </a:p>
          <a:p>
            <a:pPr algn="just">
              <a:buFont typeface="Arial" panose="020B0604020202020204" pitchFamily="34" charset="0"/>
              <a:buChar char="•"/>
            </a:pPr>
            <a:r>
              <a:rPr lang="en-US" b="0" i="0" dirty="0">
                <a:solidFill>
                  <a:srgbClr val="000000"/>
                </a:solidFill>
                <a:effectLst/>
                <a:latin typeface="Nunito" pitchFamily="2" charset="0"/>
              </a:rPr>
              <a:t>It allows creating new types at runtime and then performs some tasks using those types.</a:t>
            </a:r>
          </a:p>
        </p:txBody>
      </p:sp>
    </p:spTree>
    <p:extLst>
      <p:ext uri="{BB962C8B-B14F-4D97-AF65-F5344CB8AC3E}">
        <p14:creationId xmlns:p14="http://schemas.microsoft.com/office/powerpoint/2010/main" val="1446136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D6A63A-2FBE-FEA3-CECC-43C94C853AC3}"/>
              </a:ext>
            </a:extLst>
          </p:cNvPr>
          <p:cNvSpPr txBox="1"/>
          <p:nvPr/>
        </p:nvSpPr>
        <p:spPr>
          <a:xfrm>
            <a:off x="162614" y="197346"/>
            <a:ext cx="6094428" cy="7017306"/>
          </a:xfrm>
          <a:prstGeom prst="rect">
            <a:avLst/>
          </a:prstGeom>
          <a:noFill/>
        </p:spPr>
        <p:txBody>
          <a:bodyPr wrap="square">
            <a:spAutoFit/>
          </a:bodyPr>
          <a:lstStyle/>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System.Security.Policy</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r>
              <a:rPr lang="en-IN" sz="1000" dirty="0" err="1">
                <a:solidFill>
                  <a:srgbClr val="000000"/>
                </a:solidFill>
                <a:latin typeface="Cascadia Mono" panose="020B0609020000020004" pitchFamily="49" charset="0"/>
              </a:rPr>
              <a:t>AttributeUsage</a:t>
            </a:r>
            <a:r>
              <a:rPr lang="en-IN" sz="1000" dirty="0">
                <a:solidFill>
                  <a:srgbClr val="000000"/>
                </a:solidFill>
                <a:latin typeface="Cascadia Mono" panose="020B0609020000020004" pitchFamily="49" charset="0"/>
              </a:rPr>
              <a:t>(</a:t>
            </a:r>
            <a:r>
              <a:rPr lang="en-IN" sz="1000" dirty="0" err="1">
                <a:solidFill>
                  <a:srgbClr val="000000"/>
                </a:solidFill>
                <a:latin typeface="Cascadia Mono" panose="020B0609020000020004" pitchFamily="49" charset="0"/>
              </a:rPr>
              <a:t>AttributeTargets.All</a:t>
            </a:r>
            <a:r>
              <a:rPr lang="en-IN" sz="1000" dirty="0">
                <a:solidFill>
                  <a:srgbClr val="000000"/>
                </a:solidFill>
                <a:latin typeface="Cascadia Mono" panose="020B0609020000020004" pitchFamily="49" charset="0"/>
              </a:rPr>
              <a:t>)]</a:t>
            </a:r>
          </a:p>
          <a:p>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class</a:t>
            </a:r>
            <a:r>
              <a:rPr lang="en-US" sz="1000" dirty="0">
                <a:solidFill>
                  <a:srgbClr val="000000"/>
                </a:solidFill>
                <a:latin typeface="Cascadia Mono" panose="020B0609020000020004" pitchFamily="49" charset="0"/>
              </a:rPr>
              <a:t> </a:t>
            </a:r>
            <a:r>
              <a:rPr lang="en-US" sz="1000" dirty="0" err="1">
                <a:solidFill>
                  <a:srgbClr val="2B91AF"/>
                </a:solidFill>
                <a:latin typeface="Cascadia Mono" panose="020B0609020000020004" pitchFamily="49" charset="0"/>
              </a:rPr>
              <a:t>HelpAttribute</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System.Attribute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readonly</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string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Url</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string</a:t>
            </a:r>
            <a:r>
              <a:rPr lang="en-US" sz="1000" dirty="0">
                <a:solidFill>
                  <a:srgbClr val="000000"/>
                </a:solidFill>
                <a:latin typeface="Cascadia Mono" panose="020B0609020000020004" pitchFamily="49" charset="0"/>
              </a:rPr>
              <a:t> Topic   </a:t>
            </a:r>
            <a:r>
              <a:rPr lang="en-US" sz="1000" dirty="0">
                <a:solidFill>
                  <a:srgbClr val="008000"/>
                </a:solidFill>
                <a:latin typeface="Cascadia Mono" panose="020B0609020000020004" pitchFamily="49" charset="0"/>
              </a:rPr>
              <a:t>// Topic is a named parameter {</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get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return</a:t>
            </a:r>
            <a:r>
              <a:rPr lang="en-IN" sz="1000" dirty="0">
                <a:solidFill>
                  <a:srgbClr val="000000"/>
                </a:solidFill>
                <a:latin typeface="Cascadia Mono" panose="020B0609020000020004" pitchFamily="49" charset="0"/>
              </a:rPr>
              <a:t> topic;</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set {</a:t>
            </a:r>
          </a:p>
          <a:p>
            <a:r>
              <a:rPr lang="en-IN" sz="1000" dirty="0">
                <a:solidFill>
                  <a:srgbClr val="000000"/>
                </a:solidFill>
                <a:latin typeface="Cascadia Mono" panose="020B0609020000020004" pitchFamily="49" charset="0"/>
              </a:rPr>
              <a:t>         topic = value;</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HelpAttribute</a:t>
            </a:r>
            <a:r>
              <a:rPr lang="en-US" sz="1000" dirty="0">
                <a:solidFill>
                  <a:srgbClr val="000000"/>
                </a:solidFill>
                <a:latin typeface="Cascadia Mono" panose="020B0609020000020004" pitchFamily="49" charset="0"/>
              </a:rPr>
              <a:t>(</a:t>
            </a:r>
            <a:r>
              <a:rPr lang="en-US" sz="1000" dirty="0">
                <a:solidFill>
                  <a:srgbClr val="0000FF"/>
                </a:solidFill>
                <a:latin typeface="Cascadia Mono" panose="020B0609020000020004" pitchFamily="49" charset="0"/>
              </a:rPr>
              <a:t>string</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url</a:t>
            </a:r>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a:t>
            </a:r>
            <a:r>
              <a:rPr lang="en-US" sz="1000" dirty="0" err="1">
                <a:solidFill>
                  <a:srgbClr val="008000"/>
                </a:solidFill>
                <a:latin typeface="Cascadia Mono" panose="020B0609020000020004" pitchFamily="49" charset="0"/>
              </a:rPr>
              <a:t>url</a:t>
            </a:r>
            <a:r>
              <a:rPr lang="en-US" sz="1000" dirty="0">
                <a:solidFill>
                  <a:srgbClr val="008000"/>
                </a:solidFill>
                <a:latin typeface="Cascadia Mono" panose="020B0609020000020004" pitchFamily="49" charset="0"/>
              </a:rPr>
              <a:t> is a positional parameter {</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FF"/>
                </a:solidFill>
                <a:latin typeface="Cascadia Mono" panose="020B0609020000020004" pitchFamily="49" charset="0"/>
              </a:rPr>
              <a:t>this</a:t>
            </a:r>
            <a:r>
              <a:rPr lang="en-IN" sz="1000" dirty="0" err="1">
                <a:solidFill>
                  <a:srgbClr val="000000"/>
                </a:solidFill>
                <a:latin typeface="Cascadia Mono" panose="020B0609020000020004" pitchFamily="49" charset="0"/>
              </a:rPr>
              <a:t>.Url</a:t>
            </a:r>
            <a:r>
              <a:rPr lang="en-IN" sz="1000" dirty="0">
                <a:solidFill>
                  <a:srgbClr val="000000"/>
                </a:solidFill>
                <a:latin typeface="Cascadia Mono" panose="020B0609020000020004" pitchFamily="49" charset="0"/>
              </a:rPr>
              <a:t> = </a:t>
            </a:r>
            <a:r>
              <a:rPr lang="en-IN" sz="1000" dirty="0" err="1">
                <a:solidFill>
                  <a:srgbClr val="000000"/>
                </a:solidFill>
                <a:latin typeface="Cascadia Mono" panose="020B0609020000020004" pitchFamily="49" charset="0"/>
              </a:rPr>
              <a:t>url</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private</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string</a:t>
            </a:r>
            <a:r>
              <a:rPr lang="en-IN" sz="1000" dirty="0">
                <a:solidFill>
                  <a:srgbClr val="000000"/>
                </a:solidFill>
                <a:latin typeface="Cascadia Mono" panose="020B0609020000020004" pitchFamily="49" charset="0"/>
              </a:rPr>
              <a:t> topic;</a:t>
            </a:r>
          </a:p>
          <a:p>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HelpAttribute</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"Information on the class </a:t>
            </a:r>
            <a:r>
              <a:rPr lang="en-US" sz="1000" dirty="0" err="1">
                <a:solidFill>
                  <a:srgbClr val="A31515"/>
                </a:solidFill>
                <a:latin typeface="Cascadia Mono" panose="020B0609020000020004" pitchFamily="49" charset="0"/>
              </a:rPr>
              <a:t>MyClass</a:t>
            </a:r>
            <a:r>
              <a:rPr lang="en-US" sz="1000" dirty="0">
                <a:solidFill>
                  <a:srgbClr val="A31515"/>
                </a:solidFill>
                <a:latin typeface="Cascadia Mono" panose="020B0609020000020004" pitchFamily="49" charset="0"/>
              </a:rPr>
              <a:t>"</a:t>
            </a:r>
            <a:r>
              <a:rPr lang="en-US"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MyClass</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AttributeAppl</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a:solidFill>
                  <a:srgbClr val="2B91AF"/>
                </a:solidFill>
                <a:latin typeface="Cascadia Mono" panose="020B0609020000020004" pitchFamily="49" charset="0"/>
              </a:rPr>
              <a:t>Program</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static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Main(</a:t>
            </a:r>
            <a:r>
              <a:rPr lang="en-US" sz="1000" dirty="0">
                <a:solidFill>
                  <a:srgbClr val="0000FF"/>
                </a:solidFill>
                <a:latin typeface="Cascadia Mono" panose="020B0609020000020004" pitchFamily="49" charset="0"/>
              </a:rPr>
              <a:t>string</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System.Reflection.MemberInfo</a:t>
            </a:r>
            <a:r>
              <a:rPr lang="en-IN" sz="1000" dirty="0">
                <a:solidFill>
                  <a:srgbClr val="000000"/>
                </a:solidFill>
                <a:latin typeface="Cascadia Mono" panose="020B0609020000020004" pitchFamily="49" charset="0"/>
              </a:rPr>
              <a:t> info = </a:t>
            </a:r>
            <a:r>
              <a:rPr lang="en-IN" sz="1000" dirty="0" err="1">
                <a:solidFill>
                  <a:srgbClr val="0000FF"/>
                </a:solidFill>
                <a:latin typeface="Cascadia Mono" panose="020B0609020000020004" pitchFamily="49" charset="0"/>
              </a:rPr>
              <a:t>typeof</a:t>
            </a:r>
            <a:r>
              <a:rPr lang="en-IN" sz="1000" dirty="0">
                <a:solidFill>
                  <a:srgbClr val="000000"/>
                </a:solidFill>
                <a:latin typeface="Cascadia Mono" panose="020B0609020000020004" pitchFamily="49" charset="0"/>
              </a:rPr>
              <a:t>(</a:t>
            </a:r>
            <a:r>
              <a:rPr lang="en-IN" sz="1000" dirty="0" err="1">
                <a:solidFill>
                  <a:srgbClr val="000000"/>
                </a:solidFill>
                <a:latin typeface="Cascadia Mono" panose="020B0609020000020004" pitchFamily="49" charset="0"/>
              </a:rPr>
              <a:t>MyClass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object</a:t>
            </a:r>
            <a:r>
              <a:rPr lang="en-IN" sz="1000" dirty="0">
                <a:solidFill>
                  <a:srgbClr val="000000"/>
                </a:solidFill>
                <a:latin typeface="Cascadia Mono" panose="020B0609020000020004" pitchFamily="49" charset="0"/>
              </a:rPr>
              <a:t>[] attributes = </a:t>
            </a:r>
            <a:r>
              <a:rPr lang="en-IN" sz="1000" dirty="0" err="1">
                <a:solidFill>
                  <a:srgbClr val="000000"/>
                </a:solidFill>
                <a:latin typeface="Cascadia Mono" panose="020B0609020000020004" pitchFamily="49" charset="0"/>
              </a:rPr>
              <a:t>info.GetCustomAttributes</a:t>
            </a:r>
            <a:r>
              <a:rPr lang="en-IN" sz="1000" dirty="0">
                <a:solidFill>
                  <a:srgbClr val="000000"/>
                </a:solidFill>
                <a:latin typeface="Cascadia Mono" panose="020B0609020000020004" pitchFamily="49" charset="0"/>
              </a:rPr>
              <a:t>(</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for</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int</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i</a:t>
            </a:r>
            <a:r>
              <a:rPr lang="en-IN" sz="1000" dirty="0">
                <a:solidFill>
                  <a:srgbClr val="000000"/>
                </a:solidFill>
                <a:latin typeface="Cascadia Mono" panose="020B0609020000020004" pitchFamily="49" charset="0"/>
              </a:rPr>
              <a:t> = 0; </a:t>
            </a:r>
            <a:r>
              <a:rPr lang="en-IN" sz="1000" dirty="0" err="1">
                <a:solidFill>
                  <a:srgbClr val="000000"/>
                </a:solidFill>
                <a:latin typeface="Cascadia Mono" panose="020B0609020000020004" pitchFamily="49" charset="0"/>
              </a:rPr>
              <a:t>i</a:t>
            </a:r>
            <a:r>
              <a:rPr lang="en-IN" sz="1000" dirty="0">
                <a:solidFill>
                  <a:srgbClr val="000000"/>
                </a:solidFill>
                <a:latin typeface="Cascadia Mono" panose="020B0609020000020004" pitchFamily="49" charset="0"/>
              </a:rPr>
              <a:t> &lt; </a:t>
            </a:r>
            <a:r>
              <a:rPr lang="en-IN" sz="1000" dirty="0" err="1">
                <a:solidFill>
                  <a:srgbClr val="000000"/>
                </a:solidFill>
                <a:latin typeface="Cascadia Mono" panose="020B0609020000020004" pitchFamily="49" charset="0"/>
              </a:rPr>
              <a:t>attributes.Length</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i</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System.Console.WriteLine</a:t>
            </a:r>
            <a:r>
              <a:rPr lang="en-IN" sz="1000" dirty="0">
                <a:solidFill>
                  <a:srgbClr val="000000"/>
                </a:solidFill>
                <a:latin typeface="Cascadia Mono" panose="020B0609020000020004" pitchFamily="49" charset="0"/>
              </a:rPr>
              <a:t>(attributes[</a:t>
            </a:r>
            <a:r>
              <a:rPr lang="en-IN" sz="1000" dirty="0" err="1">
                <a:solidFill>
                  <a:srgbClr val="000000"/>
                </a:solidFill>
                <a:latin typeface="Cascadia Mono" panose="020B0609020000020004" pitchFamily="49" charset="0"/>
              </a:rPr>
              <a:t>i</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Console.ReadKey</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a:t>
            </a:r>
          </a:p>
        </p:txBody>
      </p:sp>
      <p:sp>
        <p:nvSpPr>
          <p:cNvPr id="6" name="TextBox 5">
            <a:extLst>
              <a:ext uri="{FF2B5EF4-FFF2-40B4-BE49-F238E27FC236}">
                <a16:creationId xmlns:a16="http://schemas.microsoft.com/office/drawing/2014/main" id="{9B8A3041-F1D2-3ACE-0437-C0D2D4E34A88}"/>
              </a:ext>
            </a:extLst>
          </p:cNvPr>
          <p:cNvSpPr txBox="1"/>
          <p:nvPr/>
        </p:nvSpPr>
        <p:spPr>
          <a:xfrm>
            <a:off x="6167487" y="403791"/>
            <a:ext cx="5747993" cy="1200329"/>
          </a:xfrm>
          <a:prstGeom prst="rect">
            <a:avLst/>
          </a:prstGeom>
          <a:noFill/>
        </p:spPr>
        <p:txBody>
          <a:bodyPr wrap="square">
            <a:spAutoFit/>
          </a:bodyPr>
          <a:lstStyle/>
          <a:p>
            <a:r>
              <a:rPr lang="en-US" dirty="0"/>
              <a:t>When it is compiled and run, it displays the name of the custom attributes attached to the class </a:t>
            </a:r>
            <a:r>
              <a:rPr lang="en-US" dirty="0" err="1"/>
              <a:t>MyClass</a:t>
            </a:r>
            <a:r>
              <a:rPr lang="en-US" dirty="0"/>
              <a:t> −</a:t>
            </a:r>
          </a:p>
          <a:p>
            <a:endParaRPr lang="en-US" dirty="0"/>
          </a:p>
          <a:p>
            <a:r>
              <a:rPr lang="en-US" dirty="0" err="1"/>
              <a:t>HelpAttribute</a:t>
            </a:r>
            <a:endParaRPr lang="en-IN" dirty="0"/>
          </a:p>
        </p:txBody>
      </p:sp>
    </p:spTree>
    <p:extLst>
      <p:ext uri="{BB962C8B-B14F-4D97-AF65-F5344CB8AC3E}">
        <p14:creationId xmlns:p14="http://schemas.microsoft.com/office/powerpoint/2010/main" val="3659600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1152C0-2A35-0366-2642-825D644CBFF5}"/>
              </a:ext>
            </a:extLst>
          </p:cNvPr>
          <p:cNvSpPr txBox="1"/>
          <p:nvPr/>
        </p:nvSpPr>
        <p:spPr>
          <a:xfrm>
            <a:off x="0" y="-56561"/>
            <a:ext cx="7305773" cy="7686720"/>
          </a:xfrm>
          <a:prstGeom prst="rect">
            <a:avLst/>
          </a:prstGeom>
          <a:noFill/>
        </p:spPr>
        <p:txBody>
          <a:bodyPr wrap="square">
            <a:spAutoFit/>
          </a:bodyPr>
          <a:lstStyle/>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System;</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System.Reflection</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BugFixApplication</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US" sz="1050" dirty="0">
                <a:solidFill>
                  <a:srgbClr val="000000"/>
                </a:solidFill>
                <a:latin typeface="Cascadia Mono" panose="020B0609020000020004" pitchFamily="49" charset="0"/>
              </a:rPr>
              <a:t>    </a:t>
            </a:r>
            <a:r>
              <a:rPr lang="en-US" sz="1050" dirty="0">
                <a:solidFill>
                  <a:srgbClr val="008000"/>
                </a:solidFill>
                <a:latin typeface="Cascadia Mono" panose="020B0609020000020004" pitchFamily="49" charset="0"/>
              </a:rPr>
              <a:t>//a custom attribute </a:t>
            </a:r>
            <a:r>
              <a:rPr lang="en-US" sz="1050" dirty="0" err="1">
                <a:solidFill>
                  <a:srgbClr val="008000"/>
                </a:solidFill>
                <a:latin typeface="Cascadia Mono" panose="020B0609020000020004" pitchFamily="49" charset="0"/>
              </a:rPr>
              <a:t>BugFix</a:t>
            </a:r>
            <a:r>
              <a:rPr lang="en-US" sz="1050" dirty="0">
                <a:solidFill>
                  <a:srgbClr val="008000"/>
                </a:solidFill>
                <a:latin typeface="Cascadia Mono" panose="020B0609020000020004" pitchFamily="49" charset="0"/>
              </a:rPr>
              <a:t> to be assigned to a class and its members</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AttributeUsage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AttributeTargets.Class</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AttributeTargets.Constructor</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AttributeTargets.Field</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AttributeTargets.Method</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AttributeTargets.Property</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AllowMultiple</a:t>
            </a:r>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true</a:t>
            </a:r>
            <a:r>
              <a:rPr lang="en-IN" sz="1050" dirty="0">
                <a:solidFill>
                  <a:srgbClr val="000000"/>
                </a:solidFill>
                <a:latin typeface="Cascadia Mono" panose="020B0609020000020004" pitchFamily="49" charset="0"/>
              </a:rPr>
              <a:t>)]</a:t>
            </a:r>
          </a:p>
          <a:p>
            <a:endParaRPr lang="en-IN" sz="1050" dirty="0">
              <a:solidFill>
                <a:srgbClr val="000000"/>
              </a:solidFill>
              <a:latin typeface="Cascadia Mono" panose="020B0609020000020004" pitchFamily="49" charset="0"/>
            </a:endParaRP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public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class</a:t>
            </a:r>
            <a:r>
              <a:rPr lang="en-US" sz="1050" dirty="0">
                <a:solidFill>
                  <a:srgbClr val="000000"/>
                </a:solidFill>
                <a:latin typeface="Cascadia Mono" panose="020B0609020000020004" pitchFamily="49" charset="0"/>
              </a:rPr>
              <a:t> </a:t>
            </a:r>
            <a:r>
              <a:rPr lang="en-US" sz="1050" dirty="0" err="1">
                <a:solidFill>
                  <a:srgbClr val="2B91AF"/>
                </a:solidFill>
                <a:latin typeface="Cascadia Mono" panose="020B0609020000020004" pitchFamily="49" charset="0"/>
              </a:rPr>
              <a:t>DeBugInfo</a:t>
            </a:r>
            <a:r>
              <a:rPr lang="en-US" sz="1050" dirty="0">
                <a:solidFill>
                  <a:srgbClr val="000000"/>
                </a:solidFill>
                <a:latin typeface="Cascadia Mono" panose="020B0609020000020004" pitchFamily="49" charset="0"/>
              </a:rPr>
              <a:t> : </a:t>
            </a:r>
            <a:r>
              <a:rPr lang="en-US" sz="1050" dirty="0" err="1">
                <a:solidFill>
                  <a:srgbClr val="000000"/>
                </a:solidFill>
                <a:latin typeface="Cascadia Mono" panose="020B0609020000020004" pitchFamily="49" charset="0"/>
              </a:rPr>
              <a:t>System.Attribute</a:t>
            </a:r>
            <a:endParaRPr lang="en-US"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int</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bugNo</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developer;</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lastReview</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message;</a:t>
            </a: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err="1">
                <a:solidFill>
                  <a:srgbClr val="2B91AF"/>
                </a:solidFill>
                <a:latin typeface="Cascadia Mono" panose="020B0609020000020004" pitchFamily="49" charset="0"/>
              </a:rPr>
              <a:t>DeBugInfo</a:t>
            </a:r>
            <a:r>
              <a:rPr lang="en-IN" sz="1050" dirty="0">
                <a:solidFill>
                  <a:srgbClr val="000000"/>
                </a:solidFill>
                <a:latin typeface="Cascadia Mono" panose="020B0609020000020004" pitchFamily="49" charset="0"/>
              </a:rPr>
              <a:t>(</a:t>
            </a:r>
            <a:r>
              <a:rPr lang="en-IN" sz="1050" dirty="0">
                <a:solidFill>
                  <a:srgbClr val="0000FF"/>
                </a:solidFill>
                <a:latin typeface="Cascadia Mono" panose="020B0609020000020004" pitchFamily="49" charset="0"/>
              </a:rPr>
              <a:t>int</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bg</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dev,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d)</a:t>
            </a:r>
          </a:p>
          <a:p>
            <a:r>
              <a:rPr lang="en-IN" sz="1050" dirty="0">
                <a:solidFill>
                  <a:srgbClr val="000000"/>
                </a:solidFill>
                <a:latin typeface="Cascadia Mono" panose="020B0609020000020004" pitchFamily="49" charset="0"/>
              </a:rPr>
              <a:t>        {   </a:t>
            </a:r>
            <a:r>
              <a:rPr lang="en-IN" sz="1050" dirty="0" err="1">
                <a:solidFill>
                  <a:srgbClr val="0000FF"/>
                </a:solidFill>
                <a:latin typeface="Cascadia Mono" panose="020B0609020000020004" pitchFamily="49" charset="0"/>
              </a:rPr>
              <a:t>this</a:t>
            </a:r>
            <a:r>
              <a:rPr lang="en-IN" sz="1050" dirty="0" err="1">
                <a:solidFill>
                  <a:srgbClr val="000000"/>
                </a:solidFill>
                <a:latin typeface="Cascadia Mono" panose="020B0609020000020004" pitchFamily="49" charset="0"/>
              </a:rPr>
              <a:t>.bugNo</a:t>
            </a:r>
            <a:r>
              <a:rPr lang="en-IN" sz="1050" dirty="0">
                <a:solidFill>
                  <a:srgbClr val="000000"/>
                </a:solidFill>
                <a:latin typeface="Cascadia Mono" panose="020B0609020000020004" pitchFamily="49" charset="0"/>
              </a:rPr>
              <a:t> = </a:t>
            </a:r>
            <a:r>
              <a:rPr lang="en-IN" sz="1050" dirty="0" err="1">
                <a:solidFill>
                  <a:srgbClr val="000000"/>
                </a:solidFill>
                <a:latin typeface="Cascadia Mono" panose="020B0609020000020004" pitchFamily="49" charset="0"/>
              </a:rPr>
              <a:t>bg</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FF"/>
                </a:solidFill>
                <a:latin typeface="Cascadia Mono" panose="020B0609020000020004" pitchFamily="49" charset="0"/>
              </a:rPr>
              <a:t>this</a:t>
            </a:r>
            <a:r>
              <a:rPr lang="en-IN" sz="1050" dirty="0" err="1">
                <a:solidFill>
                  <a:srgbClr val="000000"/>
                </a:solidFill>
                <a:latin typeface="Cascadia Mono" panose="020B0609020000020004" pitchFamily="49" charset="0"/>
              </a:rPr>
              <a:t>.developer</a:t>
            </a:r>
            <a:r>
              <a:rPr lang="en-IN" sz="1050" dirty="0">
                <a:solidFill>
                  <a:srgbClr val="000000"/>
                </a:solidFill>
                <a:latin typeface="Cascadia Mono" panose="020B0609020000020004" pitchFamily="49" charset="0"/>
              </a:rPr>
              <a:t> = dev;</a:t>
            </a:r>
          </a:p>
          <a:p>
            <a:r>
              <a:rPr lang="en-IN" sz="1050" dirty="0">
                <a:solidFill>
                  <a:srgbClr val="000000"/>
                </a:solidFill>
                <a:latin typeface="Cascadia Mono" panose="020B0609020000020004" pitchFamily="49" charset="0"/>
              </a:rPr>
              <a:t>            </a:t>
            </a:r>
            <a:r>
              <a:rPr lang="en-IN" sz="1050" dirty="0" err="1">
                <a:solidFill>
                  <a:srgbClr val="0000FF"/>
                </a:solidFill>
                <a:latin typeface="Cascadia Mono" panose="020B0609020000020004" pitchFamily="49" charset="0"/>
              </a:rPr>
              <a:t>this</a:t>
            </a:r>
            <a:r>
              <a:rPr lang="en-IN" sz="1050" dirty="0" err="1">
                <a:solidFill>
                  <a:srgbClr val="000000"/>
                </a:solidFill>
                <a:latin typeface="Cascadia Mono" panose="020B0609020000020004" pitchFamily="49" charset="0"/>
              </a:rPr>
              <a:t>.lastReview</a:t>
            </a:r>
            <a:r>
              <a:rPr lang="en-IN" sz="1050" dirty="0">
                <a:solidFill>
                  <a:srgbClr val="000000"/>
                </a:solidFill>
                <a:latin typeface="Cascadia Mono" panose="020B0609020000020004" pitchFamily="49" charset="0"/>
              </a:rPr>
              <a:t> = d;</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int</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BugNo</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get</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bugNo</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Developer</a:t>
            </a:r>
          </a:p>
          <a:p>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get</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developer;</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LastReview</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get</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lastReview</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public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string</a:t>
            </a:r>
            <a:r>
              <a:rPr lang="en-IN" sz="1050" dirty="0">
                <a:solidFill>
                  <a:srgbClr val="000000"/>
                </a:solidFill>
                <a:latin typeface="Cascadia Mono" panose="020B0609020000020004" pitchFamily="49" charset="0"/>
              </a:rPr>
              <a:t> Message</a:t>
            </a:r>
          </a:p>
          <a:p>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get</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message;</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set</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           message = value;</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endParaRPr lang="en-IN" sz="1050" dirty="0"/>
          </a:p>
        </p:txBody>
      </p:sp>
      <p:sp>
        <p:nvSpPr>
          <p:cNvPr id="7" name="TextBox 6">
            <a:extLst>
              <a:ext uri="{FF2B5EF4-FFF2-40B4-BE49-F238E27FC236}">
                <a16:creationId xmlns:a16="http://schemas.microsoft.com/office/drawing/2014/main" id="{DD4AB50E-F262-AF1D-9613-BBC6F2CAC2CA}"/>
              </a:ext>
            </a:extLst>
          </p:cNvPr>
          <p:cNvSpPr txBox="1"/>
          <p:nvPr/>
        </p:nvSpPr>
        <p:spPr>
          <a:xfrm>
            <a:off x="6205194" y="1548442"/>
            <a:ext cx="5986806" cy="5170646"/>
          </a:xfrm>
          <a:prstGeom prst="rect">
            <a:avLst/>
          </a:prstGeom>
          <a:noFill/>
        </p:spPr>
        <p:txBody>
          <a:bodyPr wrap="square">
            <a:spAutoFit/>
          </a:bodyPr>
          <a:lstStyle/>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DeBugInfo</a:t>
            </a:r>
            <a:r>
              <a:rPr lang="en-IN" sz="1100" dirty="0">
                <a:solidFill>
                  <a:srgbClr val="000000"/>
                </a:solidFill>
                <a:latin typeface="Cascadia Mono" panose="020B0609020000020004" pitchFamily="49" charset="0"/>
              </a:rPr>
              <a:t>(45, </a:t>
            </a:r>
            <a:r>
              <a:rPr lang="en-IN" sz="1100" dirty="0">
                <a:solidFill>
                  <a:srgbClr val="A31515"/>
                </a:solidFill>
                <a:latin typeface="Cascadia Mono" panose="020B0609020000020004" pitchFamily="49" charset="0"/>
              </a:rPr>
              <a:t>"Zara Ali"</a:t>
            </a:r>
            <a:r>
              <a:rPr lang="en-IN" sz="1100" dirty="0">
                <a:solidFill>
                  <a:srgbClr val="000000"/>
                </a:solidFill>
                <a:latin typeface="Cascadia Mono" panose="020B0609020000020004" pitchFamily="49" charset="0"/>
              </a:rPr>
              <a:t>, </a:t>
            </a:r>
            <a:r>
              <a:rPr lang="en-IN" sz="1100" dirty="0">
                <a:solidFill>
                  <a:srgbClr val="A31515"/>
                </a:solidFill>
                <a:latin typeface="Cascadia Mono" panose="020B0609020000020004" pitchFamily="49" charset="0"/>
              </a:rPr>
              <a:t>"12/8/2012"</a:t>
            </a:r>
            <a:r>
              <a:rPr lang="en-IN" sz="1100" dirty="0">
                <a:solidFill>
                  <a:srgbClr val="000000"/>
                </a:solidFill>
                <a:latin typeface="Cascadia Mono" panose="020B0609020000020004" pitchFamily="49" charset="0"/>
              </a:rPr>
              <a:t>, Message = </a:t>
            </a:r>
            <a:r>
              <a:rPr lang="en-IN" sz="1100" dirty="0">
                <a:solidFill>
                  <a:srgbClr val="A31515"/>
                </a:solidFill>
                <a:latin typeface="Cascadia Mono" panose="020B0609020000020004" pitchFamily="49" charset="0"/>
              </a:rPr>
              <a:t>"Return type mismatch"</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DeBugInfo</a:t>
            </a:r>
            <a:r>
              <a:rPr lang="en-IN" sz="1100" dirty="0">
                <a:solidFill>
                  <a:srgbClr val="000000"/>
                </a:solidFill>
                <a:latin typeface="Cascadia Mono" panose="020B0609020000020004" pitchFamily="49" charset="0"/>
              </a:rPr>
              <a:t>(49, </a:t>
            </a:r>
            <a:r>
              <a:rPr lang="en-IN" sz="1100" dirty="0">
                <a:solidFill>
                  <a:srgbClr val="A31515"/>
                </a:solidFill>
                <a:latin typeface="Cascadia Mono" panose="020B0609020000020004" pitchFamily="49" charset="0"/>
              </a:rPr>
              <a:t>"</a:t>
            </a:r>
            <a:r>
              <a:rPr lang="en-IN" sz="1100" dirty="0" err="1">
                <a:solidFill>
                  <a:srgbClr val="A31515"/>
                </a:solidFill>
                <a:latin typeface="Cascadia Mono" panose="020B0609020000020004" pitchFamily="49" charset="0"/>
              </a:rPr>
              <a:t>Nuha</a:t>
            </a:r>
            <a:r>
              <a:rPr lang="en-IN" sz="1100" dirty="0">
                <a:solidFill>
                  <a:srgbClr val="A31515"/>
                </a:solidFill>
                <a:latin typeface="Cascadia Mono" panose="020B0609020000020004" pitchFamily="49" charset="0"/>
              </a:rPr>
              <a:t> Ali"</a:t>
            </a:r>
            <a:r>
              <a:rPr lang="en-IN" sz="1100" dirty="0">
                <a:solidFill>
                  <a:srgbClr val="000000"/>
                </a:solidFill>
                <a:latin typeface="Cascadia Mono" panose="020B0609020000020004" pitchFamily="49" charset="0"/>
              </a:rPr>
              <a:t>, </a:t>
            </a:r>
            <a:r>
              <a:rPr lang="en-IN" sz="1100" dirty="0">
                <a:solidFill>
                  <a:srgbClr val="A31515"/>
                </a:solidFill>
                <a:latin typeface="Cascadia Mono" panose="020B0609020000020004" pitchFamily="49" charset="0"/>
              </a:rPr>
              <a:t>"10/10/2012"</a:t>
            </a:r>
            <a:r>
              <a:rPr lang="en-IN" sz="1100" dirty="0">
                <a:solidFill>
                  <a:srgbClr val="000000"/>
                </a:solidFill>
                <a:latin typeface="Cascadia Mono" panose="020B0609020000020004" pitchFamily="49" charset="0"/>
              </a:rPr>
              <a:t>, Message = </a:t>
            </a:r>
            <a:r>
              <a:rPr lang="en-IN" sz="1100" dirty="0">
                <a:solidFill>
                  <a:srgbClr val="A31515"/>
                </a:solidFill>
                <a:latin typeface="Cascadia Mono" panose="020B0609020000020004" pitchFamily="49" charset="0"/>
              </a:rPr>
              <a:t>"Unused variable"</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Rectangle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//member variables</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protected</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double</a:t>
            </a:r>
            <a:r>
              <a:rPr lang="en-IN" sz="1100" dirty="0">
                <a:solidFill>
                  <a:srgbClr val="000000"/>
                </a:solidFill>
                <a:latin typeface="Cascadia Mono" panose="020B0609020000020004" pitchFamily="49" charset="0"/>
              </a:rPr>
              <a:t> length;</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protected</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double</a:t>
            </a:r>
            <a:r>
              <a:rPr lang="en-IN" sz="1100" dirty="0">
                <a:solidFill>
                  <a:srgbClr val="000000"/>
                </a:solidFill>
                <a:latin typeface="Cascadia Mono" panose="020B0609020000020004" pitchFamily="49" charset="0"/>
              </a:rPr>
              <a:t> width;</a:t>
            </a:r>
          </a:p>
          <a:p>
            <a:endParaRPr lang="en-IN" sz="1100" dirty="0">
              <a:solidFill>
                <a:srgbClr val="000000"/>
              </a:solidFill>
              <a:latin typeface="Cascadia Mono" panose="020B0609020000020004" pitchFamily="49" charset="0"/>
            </a:endParaRPr>
          </a:p>
          <a:p>
            <a:r>
              <a:rPr lang="fr-FR" sz="1100" dirty="0">
                <a:solidFill>
                  <a:srgbClr val="000000"/>
                </a:solidFill>
                <a:latin typeface="Cascadia Mono" panose="020B0609020000020004" pitchFamily="49" charset="0"/>
              </a:rPr>
              <a:t>        </a:t>
            </a:r>
            <a:r>
              <a:rPr lang="fr-FR" sz="1100" dirty="0">
                <a:solidFill>
                  <a:srgbClr val="0000FF"/>
                </a:solidFill>
                <a:latin typeface="Cascadia Mono" panose="020B0609020000020004" pitchFamily="49" charset="0"/>
              </a:rPr>
              <a:t>public</a:t>
            </a:r>
            <a:r>
              <a:rPr lang="fr-FR" sz="1100" dirty="0">
                <a:solidFill>
                  <a:srgbClr val="000000"/>
                </a:solidFill>
                <a:latin typeface="Cascadia Mono" panose="020B0609020000020004" pitchFamily="49" charset="0"/>
              </a:rPr>
              <a:t> </a:t>
            </a:r>
            <a:r>
              <a:rPr lang="fr-FR" sz="1100" dirty="0">
                <a:solidFill>
                  <a:srgbClr val="2B91AF"/>
                </a:solidFill>
                <a:latin typeface="Cascadia Mono" panose="020B0609020000020004" pitchFamily="49" charset="0"/>
              </a:rPr>
              <a:t>Rectangle</a:t>
            </a:r>
            <a:r>
              <a:rPr lang="fr-FR" sz="1100" dirty="0">
                <a:solidFill>
                  <a:srgbClr val="000000"/>
                </a:solidFill>
                <a:latin typeface="Cascadia Mono" panose="020B0609020000020004" pitchFamily="49" charset="0"/>
              </a:rPr>
              <a:t>(</a:t>
            </a:r>
            <a:r>
              <a:rPr lang="fr-FR" sz="1100" dirty="0">
                <a:solidFill>
                  <a:srgbClr val="0000FF"/>
                </a:solidFill>
                <a:latin typeface="Cascadia Mono" panose="020B0609020000020004" pitchFamily="49" charset="0"/>
              </a:rPr>
              <a:t>double</a:t>
            </a:r>
            <a:r>
              <a:rPr lang="fr-FR" sz="1100" dirty="0">
                <a:solidFill>
                  <a:srgbClr val="000000"/>
                </a:solidFill>
                <a:latin typeface="Cascadia Mono" panose="020B0609020000020004" pitchFamily="49" charset="0"/>
              </a:rPr>
              <a:t> l, </a:t>
            </a:r>
            <a:r>
              <a:rPr lang="fr-FR" sz="1100" dirty="0">
                <a:solidFill>
                  <a:srgbClr val="0000FF"/>
                </a:solidFill>
                <a:latin typeface="Cascadia Mono" panose="020B0609020000020004" pitchFamily="49" charset="0"/>
              </a:rPr>
              <a:t>double</a:t>
            </a:r>
            <a:r>
              <a:rPr lang="fr-FR" sz="1100" dirty="0">
                <a:solidFill>
                  <a:srgbClr val="000000"/>
                </a:solidFill>
                <a:latin typeface="Cascadia Mono" panose="020B0609020000020004" pitchFamily="49" charset="0"/>
              </a:rPr>
              <a:t> w)</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length = l;</a:t>
            </a:r>
          </a:p>
          <a:p>
            <a:r>
              <a:rPr lang="en-IN" sz="1100" dirty="0">
                <a:solidFill>
                  <a:srgbClr val="000000"/>
                </a:solidFill>
                <a:latin typeface="Cascadia Mono" panose="020B0609020000020004" pitchFamily="49" charset="0"/>
              </a:rPr>
              <a:t>            width = w;</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DeBugInfo</a:t>
            </a:r>
            <a:r>
              <a:rPr lang="en-IN" sz="1100" dirty="0">
                <a:solidFill>
                  <a:srgbClr val="000000"/>
                </a:solidFill>
                <a:latin typeface="Cascadia Mono" panose="020B0609020000020004" pitchFamily="49" charset="0"/>
              </a:rPr>
              <a:t>(55, </a:t>
            </a:r>
            <a:r>
              <a:rPr lang="en-IN" sz="1100" dirty="0">
                <a:solidFill>
                  <a:srgbClr val="A31515"/>
                </a:solidFill>
                <a:latin typeface="Cascadia Mono" panose="020B0609020000020004" pitchFamily="49" charset="0"/>
              </a:rPr>
              <a:t>"Zara Ali"</a:t>
            </a:r>
            <a:r>
              <a:rPr lang="en-IN" sz="1100" dirty="0">
                <a:solidFill>
                  <a:srgbClr val="000000"/>
                </a:solidFill>
                <a:latin typeface="Cascadia Mono" panose="020B0609020000020004" pitchFamily="49" charset="0"/>
              </a:rPr>
              <a:t>, </a:t>
            </a:r>
            <a:r>
              <a:rPr lang="en-IN" sz="1100" dirty="0">
                <a:solidFill>
                  <a:srgbClr val="A31515"/>
                </a:solidFill>
                <a:latin typeface="Cascadia Mono" panose="020B0609020000020004" pitchFamily="49" charset="0"/>
              </a:rPr>
              <a:t>"19/10/2012"</a:t>
            </a:r>
            <a:r>
              <a:rPr lang="en-IN" sz="1100" dirty="0">
                <a:solidFill>
                  <a:srgbClr val="000000"/>
                </a:solidFill>
                <a:latin typeface="Cascadia Mono" panose="020B0609020000020004" pitchFamily="49" charset="0"/>
              </a:rPr>
              <a:t>, Message = </a:t>
            </a:r>
            <a:r>
              <a:rPr lang="en-IN" sz="1100" dirty="0">
                <a:solidFill>
                  <a:srgbClr val="A31515"/>
                </a:solidFill>
                <a:latin typeface="Cascadia Mono" panose="020B0609020000020004" pitchFamily="49" charset="0"/>
              </a:rPr>
              <a:t>"Return type mismatch"</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double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GetArea</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return</a:t>
            </a:r>
            <a:r>
              <a:rPr lang="en-IN" sz="1100" dirty="0">
                <a:solidFill>
                  <a:srgbClr val="000000"/>
                </a:solidFill>
                <a:latin typeface="Cascadia Mono" panose="020B0609020000020004" pitchFamily="49" charset="0"/>
              </a:rPr>
              <a:t> length * width;</a:t>
            </a:r>
          </a:p>
          <a:p>
            <a:r>
              <a:rPr lang="en-IN" sz="1100" dirty="0">
                <a:solidFill>
                  <a:srgbClr val="000000"/>
                </a:solidFill>
                <a:latin typeface="Cascadia Mono" panose="020B0609020000020004" pitchFamily="49" charset="0"/>
              </a:rPr>
              <a:t>        }</a:t>
            </a:r>
          </a:p>
          <a:p>
            <a:r>
              <a:rPr lang="pt-BR" sz="1100" dirty="0">
                <a:solidFill>
                  <a:srgbClr val="000000"/>
                </a:solidFill>
                <a:latin typeface="Cascadia Mono" panose="020B0609020000020004" pitchFamily="49" charset="0"/>
              </a:rPr>
              <a:t>        [DeBugInfo(56, </a:t>
            </a:r>
            <a:r>
              <a:rPr lang="pt-BR" sz="1100" dirty="0">
                <a:solidFill>
                  <a:srgbClr val="A31515"/>
                </a:solidFill>
                <a:latin typeface="Cascadia Mono" panose="020B0609020000020004" pitchFamily="49" charset="0"/>
              </a:rPr>
              <a:t>"Zara Ali"</a:t>
            </a:r>
            <a:r>
              <a:rPr lang="pt-BR" sz="1100" dirty="0">
                <a:solidFill>
                  <a:srgbClr val="000000"/>
                </a:solidFill>
                <a:latin typeface="Cascadia Mono" panose="020B0609020000020004" pitchFamily="49" charset="0"/>
              </a:rPr>
              <a:t>, </a:t>
            </a:r>
            <a:r>
              <a:rPr lang="pt-BR" sz="1100" dirty="0">
                <a:solidFill>
                  <a:srgbClr val="A31515"/>
                </a:solidFill>
                <a:latin typeface="Cascadia Mono" panose="020B0609020000020004" pitchFamily="49" charset="0"/>
              </a:rPr>
              <a:t>"19/10/2012"</a:t>
            </a:r>
            <a:r>
              <a:rPr lang="pt-BR"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void</a:t>
            </a:r>
            <a:r>
              <a:rPr lang="en-IN" sz="1100" dirty="0">
                <a:solidFill>
                  <a:srgbClr val="000000"/>
                </a:solidFill>
                <a:latin typeface="Cascadia Mono" panose="020B0609020000020004" pitchFamily="49" charset="0"/>
              </a:rPr>
              <a:t> Display()</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Console.WriteLine</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"Length: {0}"</a:t>
            </a:r>
            <a:r>
              <a:rPr lang="en-US" sz="1100" dirty="0">
                <a:solidFill>
                  <a:srgbClr val="000000"/>
                </a:solidFill>
                <a:latin typeface="Cascadia Mono" panose="020B0609020000020004" pitchFamily="49" charset="0"/>
              </a:rPr>
              <a:t>, length);</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"Width: {0}"</a:t>
            </a:r>
            <a:r>
              <a:rPr lang="en-IN" sz="1100" dirty="0">
                <a:solidFill>
                  <a:srgbClr val="000000"/>
                </a:solidFill>
                <a:latin typeface="Cascadia Mono" panose="020B0609020000020004" pitchFamily="49" charset="0"/>
              </a:rPr>
              <a:t>, width);</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"Area: {0}"</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GetArea</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//end class Rectangle</a:t>
            </a:r>
            <a:endParaRPr lang="en-IN" sz="11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2581392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810980-107F-D63D-D529-55BE0335823E}"/>
              </a:ext>
            </a:extLst>
          </p:cNvPr>
          <p:cNvSpPr txBox="1"/>
          <p:nvPr/>
        </p:nvSpPr>
        <p:spPr>
          <a:xfrm>
            <a:off x="520831" y="206227"/>
            <a:ext cx="7322270" cy="6186309"/>
          </a:xfrm>
          <a:prstGeom prst="rect">
            <a:avLst/>
          </a:prstGeom>
          <a:noFill/>
        </p:spPr>
        <p:txBody>
          <a:bodyPr wrap="square">
            <a:spAutoFit/>
          </a:bodyPr>
          <a:lstStyle/>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ExecuteRectangle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Rectangle r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Rectangle(4.5, 7.5);</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r.Display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Type </a:t>
            </a:r>
            <a:r>
              <a:rPr lang="en-IN" sz="900" dirty="0" err="1">
                <a:solidFill>
                  <a:srgbClr val="000000"/>
                </a:solidFill>
                <a:latin typeface="Cascadia Mono" panose="020B0609020000020004" pitchFamily="49" charset="0"/>
              </a:rPr>
              <a:t>type</a:t>
            </a:r>
            <a:r>
              <a:rPr lang="en-IN" sz="900" dirty="0">
                <a:solidFill>
                  <a:srgbClr val="000000"/>
                </a:solidFill>
                <a:latin typeface="Cascadia Mono" panose="020B0609020000020004" pitchFamily="49" charset="0"/>
              </a:rPr>
              <a:t> = </a:t>
            </a:r>
            <a:r>
              <a:rPr lang="en-IN" sz="900" dirty="0" err="1">
                <a:solidFill>
                  <a:srgbClr val="0000FF"/>
                </a:solidFill>
                <a:latin typeface="Cascadia Mono" panose="020B0609020000020004" pitchFamily="49" charset="0"/>
              </a:rPr>
              <a:t>typeof</a:t>
            </a:r>
            <a:r>
              <a:rPr lang="en-IN" sz="900" dirty="0">
                <a:solidFill>
                  <a:srgbClr val="000000"/>
                </a:solidFill>
                <a:latin typeface="Cascadia Mono" panose="020B0609020000020004" pitchFamily="49" charset="0"/>
              </a:rPr>
              <a:t>(Rectangle);</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//iterating through the </a:t>
            </a:r>
            <a:r>
              <a:rPr lang="en-US" sz="900" dirty="0" err="1">
                <a:solidFill>
                  <a:srgbClr val="008000"/>
                </a:solidFill>
                <a:latin typeface="Cascadia Mono" panose="020B0609020000020004" pitchFamily="49" charset="0"/>
              </a:rPr>
              <a:t>attribtues</a:t>
            </a:r>
            <a:r>
              <a:rPr lang="en-US" sz="900" dirty="0">
                <a:solidFill>
                  <a:srgbClr val="008000"/>
                </a:solidFill>
                <a:latin typeface="Cascadia Mono" panose="020B0609020000020004" pitchFamily="49" charset="0"/>
              </a:rPr>
              <a:t> of the Rectangle class</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foreach</a:t>
            </a:r>
            <a:r>
              <a:rPr lang="en-US" sz="900" dirty="0">
                <a:solidFill>
                  <a:srgbClr val="000000"/>
                </a:solidFill>
                <a:latin typeface="Cascadia Mono" panose="020B0609020000020004" pitchFamily="49" charset="0"/>
              </a:rPr>
              <a:t> (Object attributes </a:t>
            </a:r>
            <a:r>
              <a:rPr lang="en-US" sz="900" dirty="0">
                <a:solidFill>
                  <a:srgbClr val="0000FF"/>
                </a:solidFill>
                <a:latin typeface="Cascadia Mono" panose="020B0609020000020004" pitchFamily="49" charset="0"/>
              </a:rPr>
              <a:t>in</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type.GetCustomAttributes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false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DeBugInfo</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dbi</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DeBugInfo</a:t>
            </a:r>
            <a:r>
              <a:rPr lang="en-IN" sz="900" dirty="0">
                <a:solidFill>
                  <a:srgbClr val="000000"/>
                </a:solidFill>
                <a:latin typeface="Cascadia Mono" panose="020B0609020000020004" pitchFamily="49" charset="0"/>
              </a:rPr>
              <a:t>)attributes;</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dbi</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"Bug no: {0}"</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dbi.BugNo</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"Developer: {0}"</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dbi.Developer</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"Last Reviewed: {0}"</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dbi.LastReview</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"Remarks: {0}"</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dbi.Message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//iterating through the method </a:t>
            </a:r>
            <a:r>
              <a:rPr lang="en-US" sz="900" dirty="0" err="1">
                <a:solidFill>
                  <a:srgbClr val="008000"/>
                </a:solidFill>
                <a:latin typeface="Cascadia Mono" panose="020B0609020000020004" pitchFamily="49" charset="0"/>
              </a:rPr>
              <a:t>attribtues</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foreach</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MethodInfo</a:t>
            </a:r>
            <a:r>
              <a:rPr lang="en-US" sz="900" dirty="0">
                <a:solidFill>
                  <a:srgbClr val="000000"/>
                </a:solidFill>
                <a:latin typeface="Cascadia Mono" panose="020B0609020000020004" pitchFamily="49" charset="0"/>
              </a:rPr>
              <a:t> m </a:t>
            </a:r>
            <a:r>
              <a:rPr lang="en-US" sz="900" dirty="0">
                <a:solidFill>
                  <a:srgbClr val="0000FF"/>
                </a:solidFill>
                <a:latin typeface="Cascadia Mono" panose="020B0609020000020004" pitchFamily="49" charset="0"/>
              </a:rPr>
              <a:t>in</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type.GetMethods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foreach</a:t>
            </a:r>
            <a:r>
              <a:rPr lang="en-US" sz="900" dirty="0">
                <a:solidFill>
                  <a:srgbClr val="000000"/>
                </a:solidFill>
                <a:latin typeface="Cascadia Mono" panose="020B0609020000020004" pitchFamily="49" charset="0"/>
              </a:rPr>
              <a:t> (Attribute a </a:t>
            </a:r>
            <a:r>
              <a:rPr lang="en-US" sz="900" dirty="0">
                <a:solidFill>
                  <a:srgbClr val="0000FF"/>
                </a:solidFill>
                <a:latin typeface="Cascadia Mono" panose="020B0609020000020004" pitchFamily="49" charset="0"/>
              </a:rPr>
              <a:t>in</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m.GetCustomAttributes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true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DeBugInfo</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dbi</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DeBugInfo</a:t>
            </a:r>
            <a:r>
              <a:rPr lang="en-IN" sz="900" dirty="0">
                <a:solidFill>
                  <a:srgbClr val="000000"/>
                </a:solidFill>
                <a:latin typeface="Cascadia Mono" panose="020B0609020000020004" pitchFamily="49" charset="0"/>
              </a:rPr>
              <a:t>)a;</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dbi</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"Bug no: {0}, for Method: {1}"</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dbi.BugNo</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"Developer: {0}"</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dbi.Developer</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"Last Reviewed: {0}"</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dbi.LastReview</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"Remarks: {0}"</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dbi.Message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Console.ReadLine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7" name="TextBox 6">
            <a:extLst>
              <a:ext uri="{FF2B5EF4-FFF2-40B4-BE49-F238E27FC236}">
                <a16:creationId xmlns:a16="http://schemas.microsoft.com/office/drawing/2014/main" id="{18BE1B26-3115-8593-20E2-F0298D06A4E3}"/>
              </a:ext>
            </a:extLst>
          </p:cNvPr>
          <p:cNvSpPr txBox="1"/>
          <p:nvPr/>
        </p:nvSpPr>
        <p:spPr>
          <a:xfrm>
            <a:off x="7591720" y="465464"/>
            <a:ext cx="4032315" cy="535531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Length: 4.5</a:t>
            </a:r>
          </a:p>
          <a:p>
            <a:r>
              <a:rPr lang="en-IN" dirty="0"/>
              <a:t>Width: 7.5</a:t>
            </a:r>
          </a:p>
          <a:p>
            <a:r>
              <a:rPr lang="en-IN" dirty="0"/>
              <a:t>Area: 33.75</a:t>
            </a:r>
          </a:p>
          <a:p>
            <a:r>
              <a:rPr lang="en-IN" dirty="0"/>
              <a:t>Bug No: 49</a:t>
            </a:r>
          </a:p>
          <a:p>
            <a:r>
              <a:rPr lang="en-IN" dirty="0"/>
              <a:t>Developer: </a:t>
            </a:r>
            <a:r>
              <a:rPr lang="en-IN" dirty="0" err="1"/>
              <a:t>Nuha</a:t>
            </a:r>
            <a:r>
              <a:rPr lang="en-IN" dirty="0"/>
              <a:t> Ali</a:t>
            </a:r>
          </a:p>
          <a:p>
            <a:r>
              <a:rPr lang="en-IN" dirty="0"/>
              <a:t>Last Reviewed: 10/10/2012</a:t>
            </a:r>
          </a:p>
          <a:p>
            <a:r>
              <a:rPr lang="en-IN" dirty="0"/>
              <a:t>Remarks: Unused variable</a:t>
            </a:r>
          </a:p>
          <a:p>
            <a:r>
              <a:rPr lang="en-IN" dirty="0"/>
              <a:t>Bug No: 45</a:t>
            </a:r>
          </a:p>
          <a:p>
            <a:r>
              <a:rPr lang="en-IN" dirty="0"/>
              <a:t>Developer: Zara Ali</a:t>
            </a:r>
          </a:p>
          <a:p>
            <a:r>
              <a:rPr lang="en-IN" dirty="0"/>
              <a:t>Last Reviewed: 12/8/2012</a:t>
            </a:r>
          </a:p>
          <a:p>
            <a:r>
              <a:rPr lang="en-IN" dirty="0"/>
              <a:t>Remarks: Return type mismatch</a:t>
            </a:r>
          </a:p>
          <a:p>
            <a:r>
              <a:rPr lang="en-IN" dirty="0"/>
              <a:t>Bug No: 55, for Method: </a:t>
            </a:r>
            <a:r>
              <a:rPr lang="en-IN" dirty="0" err="1"/>
              <a:t>GetArea</a:t>
            </a:r>
            <a:endParaRPr lang="en-IN" dirty="0"/>
          </a:p>
          <a:p>
            <a:r>
              <a:rPr lang="en-IN" dirty="0"/>
              <a:t>Developer: Zara Ali</a:t>
            </a:r>
          </a:p>
          <a:p>
            <a:r>
              <a:rPr lang="en-IN" dirty="0"/>
              <a:t>Last Reviewed: 19/10/2012</a:t>
            </a:r>
          </a:p>
          <a:p>
            <a:r>
              <a:rPr lang="en-IN" dirty="0"/>
              <a:t>Remarks: Return type mismatch</a:t>
            </a:r>
          </a:p>
          <a:p>
            <a:r>
              <a:rPr lang="en-IN" dirty="0"/>
              <a:t>Bug No: 56, for Method: Display</a:t>
            </a:r>
          </a:p>
          <a:p>
            <a:r>
              <a:rPr lang="en-IN" dirty="0"/>
              <a:t>Developer: Zara Ali</a:t>
            </a:r>
          </a:p>
          <a:p>
            <a:r>
              <a:rPr lang="en-IN" dirty="0"/>
              <a:t>Last Reviewed: 19/10/2012</a:t>
            </a:r>
          </a:p>
          <a:p>
            <a:r>
              <a:rPr lang="en-IN" dirty="0"/>
              <a:t>Remarks: </a:t>
            </a:r>
          </a:p>
        </p:txBody>
      </p:sp>
    </p:spTree>
    <p:extLst>
      <p:ext uri="{BB962C8B-B14F-4D97-AF65-F5344CB8AC3E}">
        <p14:creationId xmlns:p14="http://schemas.microsoft.com/office/powerpoint/2010/main" val="2003516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2482</Words>
  <Application>Microsoft Office PowerPoint</Application>
  <PresentationFormat>Widescreen</PresentationFormat>
  <Paragraphs>381</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Cascadia Mono</vt:lpstr>
      <vt:lpstr>Heebo</vt:lpstr>
      <vt:lpstr>Nunito</vt:lpstr>
      <vt:lpstr>var(--bs-font-monospace)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28</cp:revision>
  <dcterms:created xsi:type="dcterms:W3CDTF">2023-04-18T08:05:21Z</dcterms:created>
  <dcterms:modified xsi:type="dcterms:W3CDTF">2023-11-05T06:17:19Z</dcterms:modified>
</cp:coreProperties>
</file>