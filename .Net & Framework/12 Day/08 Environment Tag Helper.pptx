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F258C-2A4C-4D8F-9695-2C6192FA50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19DB3A7-8E99-4E30-BAF5-942112AAE7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92DFF9-0B7E-4522-A6FB-94CA293232D4}"/>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5" name="Footer Placeholder 4">
            <a:extLst>
              <a:ext uri="{FF2B5EF4-FFF2-40B4-BE49-F238E27FC236}">
                <a16:creationId xmlns:a16="http://schemas.microsoft.com/office/drawing/2014/main" id="{19DB3017-670F-4E67-A979-E8B800AA19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1BED10-4736-4777-99DD-F5B70EC5DD7D}"/>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325604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6998-2099-4FF8-ACDE-411EF3ECA1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62D2B2-FBE9-450A-9459-A1C8CB44DB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621677-FFF2-4178-9759-ED66061F6314}"/>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5" name="Footer Placeholder 4">
            <a:extLst>
              <a:ext uri="{FF2B5EF4-FFF2-40B4-BE49-F238E27FC236}">
                <a16:creationId xmlns:a16="http://schemas.microsoft.com/office/drawing/2014/main" id="{6AFF1772-6879-4218-9986-E70198590A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99F9BC-DAEC-4AB8-8BB2-D57C5D3A9DD3}"/>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3218568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CC164-6433-4753-8ADF-549A6CE951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B9792B-C62F-4288-A874-7D80DFF48E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29724B-50AB-42AF-AA10-735BE926A178}"/>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5" name="Footer Placeholder 4">
            <a:extLst>
              <a:ext uri="{FF2B5EF4-FFF2-40B4-BE49-F238E27FC236}">
                <a16:creationId xmlns:a16="http://schemas.microsoft.com/office/drawing/2014/main" id="{37CE03FF-960D-4880-B97D-968D6C655E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FAA0FD-5347-4A4C-97E0-4D29338BBCEE}"/>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1385774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602D-C1AA-4D26-B734-9C5F2A6C8A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1A2B63-FAD8-4C7D-994F-928BD808F8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4F75C2-ECC4-4DD7-B146-8FBF62084E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69FB42-1625-4C0A-A037-C5F00D14A1D6}"/>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6" name="Footer Placeholder 5">
            <a:extLst>
              <a:ext uri="{FF2B5EF4-FFF2-40B4-BE49-F238E27FC236}">
                <a16:creationId xmlns:a16="http://schemas.microsoft.com/office/drawing/2014/main" id="{18C36E92-F8E4-4D77-AD3C-30447F0B16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CAD9CF-745F-468B-9E76-1CB5040C250F}"/>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1098649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B5E4D-967B-4533-A6AD-E99F29243F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B8D849-B655-4CC0-961B-3D7B76984A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418DD6-BF27-4F62-878F-619EDBD47D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EDF382-E28D-45E0-B7DF-B5B15AB12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F6DC1E-5DB4-4121-9460-26AF0A417A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2C6689-320A-432F-B21B-06A833CABB87}"/>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8" name="Footer Placeholder 7">
            <a:extLst>
              <a:ext uri="{FF2B5EF4-FFF2-40B4-BE49-F238E27FC236}">
                <a16:creationId xmlns:a16="http://schemas.microsoft.com/office/drawing/2014/main" id="{7040E853-5DE1-4E3A-9543-DA9A7212B3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C350376-494F-47E0-B4EA-BD5FE0493AE4}"/>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1565899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071A3-C72E-4E4F-80FC-EAFCF31C55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906EA0-C04B-4503-AD57-60AC966B30E6}"/>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4" name="Footer Placeholder 3">
            <a:extLst>
              <a:ext uri="{FF2B5EF4-FFF2-40B4-BE49-F238E27FC236}">
                <a16:creationId xmlns:a16="http://schemas.microsoft.com/office/drawing/2014/main" id="{96EB94BD-FAE1-4C9B-9FDB-1E3585E4C5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7C67E6-7BF4-4B03-BFCE-F440452396C3}"/>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3743076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A19D26-56F2-4C18-AC2D-1E4CFF2450C3}"/>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3" name="Footer Placeholder 2">
            <a:extLst>
              <a:ext uri="{FF2B5EF4-FFF2-40B4-BE49-F238E27FC236}">
                <a16:creationId xmlns:a16="http://schemas.microsoft.com/office/drawing/2014/main" id="{8AF4A86B-E4F7-4390-AE46-1B9C3E64AB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102FDC-394D-449C-BE1A-B5F88D9B0C9D}"/>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955519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4AE6-09A2-47EC-898C-D41F7B8CF5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05E7D4-1EC8-4661-9A93-28E5B72D9E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5DFB54-A732-4A19-A5BA-940AD672C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B63B2D-04F4-4E0C-BFBD-4B9E39A5C784}"/>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6" name="Footer Placeholder 5">
            <a:extLst>
              <a:ext uri="{FF2B5EF4-FFF2-40B4-BE49-F238E27FC236}">
                <a16:creationId xmlns:a16="http://schemas.microsoft.com/office/drawing/2014/main" id="{768CEA2D-EC7C-418D-900F-15B2B9A72D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AC9BF1-D6BC-41AC-9979-74D11D98CE7F}"/>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733927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30D4A-D67A-4AED-8DE3-3129E513AA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AFBAAD-23B7-4205-8989-3F622C9598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06AC48F-884C-474F-B320-E2F0D01A5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F3D967-1390-41B2-9374-524DA5CE3357}"/>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6" name="Footer Placeholder 5">
            <a:extLst>
              <a:ext uri="{FF2B5EF4-FFF2-40B4-BE49-F238E27FC236}">
                <a16:creationId xmlns:a16="http://schemas.microsoft.com/office/drawing/2014/main" id="{607B3C8B-DED6-4E95-B618-2BCDDCCEE7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C633FF-EC50-4772-B8C9-38FBBE2FFD47}"/>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271291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9DD56-272C-4F13-9C67-E9E444CC148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A9394F-9FA2-434E-BBB1-59EBE4F50B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F74434-0BE9-42B2-97BD-922CCC0D95F5}"/>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5" name="Footer Placeholder 4">
            <a:extLst>
              <a:ext uri="{FF2B5EF4-FFF2-40B4-BE49-F238E27FC236}">
                <a16:creationId xmlns:a16="http://schemas.microsoft.com/office/drawing/2014/main" id="{1E486B48-9E3E-4437-B8BA-C4A2139B26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ACF5DE-5E0F-4551-A9B5-321C7479D871}"/>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953695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7AEA75-6ED8-4F43-B255-12A232CF32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AEDA27-B4F4-46A3-959E-448C748FE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8975D5-CDFB-4BCF-92D7-5B722279ED79}"/>
              </a:ext>
            </a:extLst>
          </p:cNvPr>
          <p:cNvSpPr>
            <a:spLocks noGrp="1"/>
          </p:cNvSpPr>
          <p:nvPr>
            <p:ph type="dt" sz="half" idx="10"/>
          </p:nvPr>
        </p:nvSpPr>
        <p:spPr/>
        <p:txBody>
          <a:bodyPr/>
          <a:lstStyle/>
          <a:p>
            <a:fld id="{24402D47-BE04-4207-A600-0B5439874307}" type="datetimeFigureOut">
              <a:rPr lang="en-IN" smtClean="0"/>
              <a:t>17-10-2021</a:t>
            </a:fld>
            <a:endParaRPr lang="en-IN"/>
          </a:p>
        </p:txBody>
      </p:sp>
      <p:sp>
        <p:nvSpPr>
          <p:cNvPr id="5" name="Footer Placeholder 4">
            <a:extLst>
              <a:ext uri="{FF2B5EF4-FFF2-40B4-BE49-F238E27FC236}">
                <a16:creationId xmlns:a16="http://schemas.microsoft.com/office/drawing/2014/main" id="{66178734-A89E-439A-A0A7-5F8FCA44F7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E9B8DB-8F8D-4B12-810B-096CCFE2F19D}"/>
              </a:ext>
            </a:extLst>
          </p:cNvPr>
          <p:cNvSpPr>
            <a:spLocks noGrp="1"/>
          </p:cNvSpPr>
          <p:nvPr>
            <p:ph type="sldNum" sz="quarter" idx="12"/>
          </p:nvPr>
        </p:nvSpPr>
        <p:spPr/>
        <p:txBody>
          <a:bodyPr/>
          <a:lstStyle/>
          <a:p>
            <a:fld id="{F4AD675C-7179-4BDB-8121-DEF9AAB434FB}" type="slidenum">
              <a:rPr lang="en-IN" smtClean="0"/>
              <a:t>‹#›</a:t>
            </a:fld>
            <a:endParaRPr lang="en-IN"/>
          </a:p>
        </p:txBody>
      </p:sp>
    </p:spTree>
    <p:extLst>
      <p:ext uri="{BB962C8B-B14F-4D97-AF65-F5344CB8AC3E}">
        <p14:creationId xmlns:p14="http://schemas.microsoft.com/office/powerpoint/2010/main" val="484304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142F3C-57DC-4D34-BBDB-254DE72B9C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A43261-26F4-4F54-9C50-CD66C9890D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4CDFCA-A9E4-448F-A124-181F282236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402D47-BE04-4207-A600-0B5439874307}" type="datetimeFigureOut">
              <a:rPr lang="en-IN" smtClean="0"/>
              <a:t>17-10-2021</a:t>
            </a:fld>
            <a:endParaRPr lang="en-IN"/>
          </a:p>
        </p:txBody>
      </p:sp>
      <p:sp>
        <p:nvSpPr>
          <p:cNvPr id="5" name="Footer Placeholder 4">
            <a:extLst>
              <a:ext uri="{FF2B5EF4-FFF2-40B4-BE49-F238E27FC236}">
                <a16:creationId xmlns:a16="http://schemas.microsoft.com/office/drawing/2014/main" id="{09DA988D-28A8-42E1-A2DD-1E94B40CB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6D9EDC-BDE9-4BE4-985C-F1E8DA20C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AD675C-7179-4BDB-8121-DEF9AAB434FB}" type="slidenum">
              <a:rPr lang="en-IN" smtClean="0"/>
              <a:t>‹#›</a:t>
            </a:fld>
            <a:endParaRPr lang="en-IN"/>
          </a:p>
        </p:txBody>
      </p:sp>
    </p:spTree>
    <p:extLst>
      <p:ext uri="{BB962C8B-B14F-4D97-AF65-F5344CB8AC3E}">
        <p14:creationId xmlns:p14="http://schemas.microsoft.com/office/powerpoint/2010/main" val="778786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638BA-0258-46C6-AE20-0AF9AB5EEE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5FD766-6BEE-4334-B7A9-7A3831935C3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04292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B1512A-0344-4888-BE4E-75D52E6ADB75}"/>
              </a:ext>
            </a:extLst>
          </p:cNvPr>
          <p:cNvSpPr txBox="1"/>
          <p:nvPr/>
        </p:nvSpPr>
        <p:spPr>
          <a:xfrm>
            <a:off x="0" y="88490"/>
            <a:ext cx="11651226" cy="3693319"/>
          </a:xfrm>
          <a:prstGeom prst="rect">
            <a:avLst/>
          </a:prstGeom>
          <a:noFill/>
        </p:spPr>
        <p:txBody>
          <a:bodyPr wrap="square">
            <a:spAutoFit/>
          </a:bodyPr>
          <a:lstStyle/>
          <a:p>
            <a:pPr algn="l"/>
            <a:r>
              <a:rPr lang="en-US" b="1" i="0" dirty="0">
                <a:solidFill>
                  <a:srgbClr val="333333"/>
                </a:solidFill>
                <a:effectLst/>
                <a:latin typeface="arial" panose="020B0604020202020204" pitchFamily="34" charset="0"/>
              </a:rPr>
              <a:t>Requirement</a:t>
            </a:r>
            <a:br>
              <a:rPr lang="en-US" dirty="0"/>
            </a:br>
            <a:r>
              <a:rPr lang="en-US" b="0" i="0" dirty="0">
                <a:solidFill>
                  <a:srgbClr val="333333"/>
                </a:solidFill>
                <a:effectLst/>
                <a:latin typeface="arial" panose="020B0604020202020204" pitchFamily="34" charset="0"/>
              </a:rPr>
              <a:t>We are using </a:t>
            </a:r>
            <a:r>
              <a:rPr lang="en-US" b="1" i="0" dirty="0">
                <a:solidFill>
                  <a:srgbClr val="333333"/>
                </a:solidFill>
                <a:effectLst/>
                <a:latin typeface="arial" panose="020B0604020202020204" pitchFamily="34" charset="0"/>
              </a:rPr>
              <a:t>Bootstrap </a:t>
            </a:r>
            <a:r>
              <a:rPr lang="en-US" b="0" i="0" dirty="0">
                <a:solidFill>
                  <a:srgbClr val="333333"/>
                </a:solidFill>
                <a:effectLst/>
                <a:latin typeface="arial" panose="020B0604020202020204" pitchFamily="34" charset="0"/>
              </a:rPr>
              <a:t>in our ASP.NET Core Application</a:t>
            </a:r>
          </a:p>
          <a:p>
            <a:pPr algn="l"/>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For ease of debugging, on our local development machine (</a:t>
            </a:r>
            <a:r>
              <a:rPr lang="en-US" b="0" i="0" dirty="0" err="1">
                <a:solidFill>
                  <a:srgbClr val="333333"/>
                </a:solidFill>
                <a:effectLst/>
                <a:latin typeface="arial" panose="020B0604020202020204" pitchFamily="34" charset="0"/>
              </a:rPr>
              <a:t>i.e</a:t>
            </a:r>
            <a:r>
              <a:rPr lang="en-US" b="0" i="0" dirty="0">
                <a:solidFill>
                  <a:srgbClr val="333333"/>
                </a:solidFill>
                <a:effectLst/>
                <a:latin typeface="arial" panose="020B0604020202020204" pitchFamily="34" charset="0"/>
              </a:rPr>
              <a:t> on the </a:t>
            </a:r>
            <a:r>
              <a:rPr lang="en-US" b="1" i="0" dirty="0">
                <a:solidFill>
                  <a:srgbClr val="333333"/>
                </a:solidFill>
                <a:effectLst/>
                <a:latin typeface="arial" panose="020B0604020202020204" pitchFamily="34" charset="0"/>
              </a:rPr>
              <a:t>Development Environment</a:t>
            </a:r>
            <a:r>
              <a:rPr lang="en-US" b="0" i="0" dirty="0">
                <a:solidFill>
                  <a:srgbClr val="333333"/>
                </a:solidFill>
                <a:effectLst/>
                <a:latin typeface="arial" panose="020B0604020202020204" pitchFamily="34" charset="0"/>
              </a:rPr>
              <a:t>) we want the application to load non-minified bootstrap </a:t>
            </a:r>
            <a:r>
              <a:rPr lang="en-US" b="0" i="0" dirty="0" err="1">
                <a:solidFill>
                  <a:srgbClr val="333333"/>
                </a:solidFill>
                <a:effectLst/>
                <a:latin typeface="arial" panose="020B0604020202020204" pitchFamily="34" charset="0"/>
              </a:rPr>
              <a:t>css</a:t>
            </a:r>
            <a:r>
              <a:rPr lang="en-US" b="0" i="0" dirty="0">
                <a:solidFill>
                  <a:srgbClr val="333333"/>
                </a:solidFill>
                <a:effectLst/>
                <a:latin typeface="arial" panose="020B0604020202020204" pitchFamily="34" charset="0"/>
              </a:rPr>
              <a:t> file (bootstrap.css)</a:t>
            </a:r>
          </a:p>
          <a:p>
            <a:pPr algn="l">
              <a:buFont typeface="Arial" panose="020B0604020202020204" pitchFamily="34" charset="0"/>
              <a:buChar char="•"/>
            </a:pP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On </a:t>
            </a:r>
            <a:r>
              <a:rPr lang="en-US" b="1" i="0" dirty="0">
                <a:solidFill>
                  <a:srgbClr val="333333"/>
                </a:solidFill>
                <a:effectLst/>
                <a:latin typeface="arial" panose="020B0604020202020204" pitchFamily="34" charset="0"/>
              </a:rPr>
              <a:t>Staging</a:t>
            </a:r>
            <a:r>
              <a:rPr lang="en-US" b="0" i="0" dirty="0">
                <a:solidFill>
                  <a:srgbClr val="333333"/>
                </a:solidFill>
                <a:effectLst/>
                <a:latin typeface="arial" panose="020B0604020202020204" pitchFamily="34" charset="0"/>
              </a:rPr>
              <a:t>, </a:t>
            </a:r>
            <a:r>
              <a:rPr lang="en-US" b="1" i="0" dirty="0">
                <a:solidFill>
                  <a:srgbClr val="333333"/>
                </a:solidFill>
                <a:effectLst/>
                <a:latin typeface="arial" panose="020B0604020202020204" pitchFamily="34" charset="0"/>
              </a:rPr>
              <a:t>Production </a:t>
            </a:r>
            <a:r>
              <a:rPr lang="en-US" b="0" i="0" dirty="0">
                <a:solidFill>
                  <a:srgbClr val="333333"/>
                </a:solidFill>
                <a:effectLst/>
                <a:latin typeface="arial" panose="020B0604020202020204" pitchFamily="34" charset="0"/>
              </a:rPr>
              <a:t>or any other environment </a:t>
            </a:r>
            <a:r>
              <a:rPr lang="en-US" b="1" i="0" dirty="0">
                <a:solidFill>
                  <a:srgbClr val="333333"/>
                </a:solidFill>
                <a:effectLst/>
                <a:latin typeface="arial" panose="020B0604020202020204" pitchFamily="34" charset="0"/>
              </a:rPr>
              <a:t>except Development environment </a:t>
            </a:r>
            <a:r>
              <a:rPr lang="en-US" b="0" i="0" dirty="0">
                <a:solidFill>
                  <a:srgbClr val="333333"/>
                </a:solidFill>
                <a:effectLst/>
                <a:latin typeface="arial" panose="020B0604020202020204" pitchFamily="34" charset="0"/>
              </a:rPr>
              <a:t>we want the application to load minified bootstrap </a:t>
            </a:r>
            <a:r>
              <a:rPr lang="en-US" b="0" i="0" dirty="0" err="1">
                <a:solidFill>
                  <a:srgbClr val="333333"/>
                </a:solidFill>
                <a:effectLst/>
                <a:latin typeface="arial" panose="020B0604020202020204" pitchFamily="34" charset="0"/>
              </a:rPr>
              <a:t>css</a:t>
            </a:r>
            <a:r>
              <a:rPr lang="en-US" b="0" i="0" dirty="0">
                <a:solidFill>
                  <a:srgbClr val="333333"/>
                </a:solidFill>
                <a:effectLst/>
                <a:latin typeface="arial" panose="020B0604020202020204" pitchFamily="34" charset="0"/>
              </a:rPr>
              <a:t> file (bootstrap.min.css) from a </a:t>
            </a:r>
            <a:r>
              <a:rPr lang="en-US" b="1" i="0" dirty="0">
                <a:solidFill>
                  <a:srgbClr val="333333"/>
                </a:solidFill>
                <a:effectLst/>
                <a:latin typeface="arial" panose="020B0604020202020204" pitchFamily="34" charset="0"/>
              </a:rPr>
              <a:t>CDN </a:t>
            </a:r>
            <a:r>
              <a:rPr lang="en-US" b="0" i="0" dirty="0">
                <a:solidFill>
                  <a:srgbClr val="333333"/>
                </a:solidFill>
                <a:effectLst/>
                <a:latin typeface="arial" panose="020B0604020202020204" pitchFamily="34" charset="0"/>
              </a:rPr>
              <a:t>(Content Delivery Network) for better performance.</a:t>
            </a:r>
          </a:p>
          <a:p>
            <a:pPr algn="l">
              <a:buFont typeface="Arial" panose="020B0604020202020204" pitchFamily="34" charset="0"/>
              <a:buChar char="•"/>
            </a:pPr>
            <a:endParaRPr lang="en-US" b="0" i="0" dirty="0">
              <a:solidFill>
                <a:srgbClr val="333333"/>
              </a:solidFill>
              <a:effectLst/>
              <a:latin typeface="Arial" panose="020B0604020202020204" pitchFamily="34" charset="0"/>
            </a:endParaRPr>
          </a:p>
          <a:p>
            <a:pPr algn="l">
              <a:buFont typeface="Arial" panose="020B0604020202020204" pitchFamily="34" charset="0"/>
              <a:buChar char="•"/>
            </a:pPr>
            <a:r>
              <a:rPr lang="en-US" b="0" i="0" dirty="0">
                <a:solidFill>
                  <a:srgbClr val="333333"/>
                </a:solidFill>
                <a:effectLst/>
                <a:latin typeface="arial" panose="020B0604020202020204" pitchFamily="34" charset="0"/>
              </a:rPr>
              <a:t>However, if the </a:t>
            </a:r>
            <a:r>
              <a:rPr lang="en-US" b="1" i="0" dirty="0">
                <a:solidFill>
                  <a:srgbClr val="333333"/>
                </a:solidFill>
                <a:effectLst/>
                <a:latin typeface="arial" panose="020B0604020202020204" pitchFamily="34" charset="0"/>
              </a:rPr>
              <a:t>CDN is down </a:t>
            </a:r>
            <a:r>
              <a:rPr lang="en-US" b="0" i="0" dirty="0">
                <a:solidFill>
                  <a:srgbClr val="333333"/>
                </a:solidFill>
                <a:effectLst/>
                <a:latin typeface="arial" panose="020B0604020202020204" pitchFamily="34" charset="0"/>
              </a:rPr>
              <a:t>or for some reason, our application is not able to reach the CDN, we want our application to fallback and load the minified bootstrap file (bootstrap.min.css) from our own application web server.</a:t>
            </a:r>
            <a:endParaRPr lang="en-US" b="0" i="0" dirty="0">
              <a:solidFill>
                <a:srgbClr val="333333"/>
              </a:solidFill>
              <a:effectLst/>
              <a:latin typeface="Arial" panose="020B0604020202020204" pitchFamily="34" charset="0"/>
            </a:endParaRPr>
          </a:p>
        </p:txBody>
      </p:sp>
      <p:sp>
        <p:nvSpPr>
          <p:cNvPr id="7" name="TextBox 6">
            <a:extLst>
              <a:ext uri="{FF2B5EF4-FFF2-40B4-BE49-F238E27FC236}">
                <a16:creationId xmlns:a16="http://schemas.microsoft.com/office/drawing/2014/main" id="{2CE47575-04BB-4DA9-9908-171029179DD7}"/>
              </a:ext>
            </a:extLst>
          </p:cNvPr>
          <p:cNvSpPr txBox="1"/>
          <p:nvPr/>
        </p:nvSpPr>
        <p:spPr>
          <a:xfrm>
            <a:off x="238431" y="4148816"/>
            <a:ext cx="11137491"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We can achieve this very easily using ASP.NET Core </a:t>
            </a:r>
            <a:r>
              <a:rPr lang="en-US" b="0" i="0" dirty="0">
                <a:solidFill>
                  <a:srgbClr val="0000FF"/>
                </a:solidFill>
                <a:effectLst/>
                <a:latin typeface="arial" panose="020B0604020202020204" pitchFamily="34" charset="0"/>
              </a:rPr>
              <a:t>&lt;</a:t>
            </a:r>
            <a:r>
              <a:rPr lang="en-US" b="0" i="0" dirty="0">
                <a:solidFill>
                  <a:srgbClr val="990000"/>
                </a:solidFill>
                <a:effectLst/>
                <a:latin typeface="arial" panose="020B0604020202020204" pitchFamily="34" charset="0"/>
              </a:rPr>
              <a:t>environment</a:t>
            </a:r>
            <a:r>
              <a:rPr lang="en-US" b="0" i="0" dirty="0">
                <a:solidFill>
                  <a:srgbClr val="0000FF"/>
                </a:solidFill>
                <a:effectLst/>
                <a:latin typeface="arial" panose="020B0604020202020204" pitchFamily="34" charset="0"/>
              </a:rPr>
              <a:t>&gt;</a:t>
            </a:r>
            <a:r>
              <a:rPr lang="en-US" b="0" i="0" dirty="0">
                <a:solidFill>
                  <a:srgbClr val="333333"/>
                </a:solidFill>
                <a:effectLst/>
                <a:latin typeface="arial" panose="020B0604020202020204" pitchFamily="34" charset="0"/>
              </a:rPr>
              <a:t> tag helper. Before we understand the </a:t>
            </a:r>
            <a:r>
              <a:rPr lang="en-US" b="0" i="0" dirty="0">
                <a:solidFill>
                  <a:srgbClr val="0000FF"/>
                </a:solidFill>
                <a:effectLst/>
                <a:latin typeface="arial" panose="020B0604020202020204" pitchFamily="34" charset="0"/>
              </a:rPr>
              <a:t>&lt;</a:t>
            </a:r>
            <a:r>
              <a:rPr lang="en-US" b="0" i="0" dirty="0">
                <a:solidFill>
                  <a:srgbClr val="990000"/>
                </a:solidFill>
                <a:effectLst/>
                <a:latin typeface="arial" panose="020B0604020202020204" pitchFamily="34" charset="0"/>
              </a:rPr>
              <a:t>environment</a:t>
            </a:r>
            <a:r>
              <a:rPr lang="en-US" b="0" i="0" dirty="0">
                <a:solidFill>
                  <a:srgbClr val="0000FF"/>
                </a:solidFill>
                <a:effectLst/>
                <a:latin typeface="arial" panose="020B0604020202020204" pitchFamily="34" charset="0"/>
              </a:rPr>
              <a:t>&gt;</a:t>
            </a:r>
            <a:r>
              <a:rPr lang="en-US" b="0" i="0" dirty="0">
                <a:solidFill>
                  <a:srgbClr val="333333"/>
                </a:solidFill>
                <a:effectLst/>
                <a:latin typeface="arial" panose="020B0604020202020204" pitchFamily="34" charset="0"/>
              </a:rPr>
              <a:t> tag helper, first let's understand how we set the name of the application environment.</a:t>
            </a:r>
            <a:endParaRPr lang="en-IN" dirty="0"/>
          </a:p>
        </p:txBody>
      </p:sp>
    </p:spTree>
    <p:extLst>
      <p:ext uri="{BB962C8B-B14F-4D97-AF65-F5344CB8AC3E}">
        <p14:creationId xmlns:p14="http://schemas.microsoft.com/office/powerpoint/2010/main" val="1412813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F6AA7CC-795C-46AB-8465-AE9F2616D356}"/>
              </a:ext>
            </a:extLst>
          </p:cNvPr>
          <p:cNvSpPr>
            <a:spLocks noChangeArrowheads="1"/>
          </p:cNvSpPr>
          <p:nvPr/>
        </p:nvSpPr>
        <p:spPr bwMode="auto">
          <a:xfrm rot="10800000" flipV="1">
            <a:off x="88490" y="120683"/>
            <a:ext cx="11690556" cy="63401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How to set Application Environment</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Use the </a:t>
            </a:r>
            <a:r>
              <a:rPr kumimoji="0" lang="en-US" altLang="en-US" sz="14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ASPNETCORE_ENVIRONMENT</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variable to set the application environment. On our local development machine we usually set this environment variable in </a:t>
            </a:r>
            <a:r>
              <a:rPr kumimoji="0" lang="en-US" altLang="en-US" sz="1400" b="1" i="1" u="none" strike="noStrike" cap="none" normalizeH="0" baseline="0" dirty="0" err="1">
                <a:ln>
                  <a:noFill/>
                </a:ln>
                <a:solidFill>
                  <a:srgbClr val="333333"/>
                </a:solidFill>
                <a:effectLst/>
                <a:latin typeface="Arial" panose="020B0604020202020204" pitchFamily="34" charset="0"/>
                <a:cs typeface="Arial" panose="020B0604020202020204" pitchFamily="34" charset="0"/>
              </a:rPr>
              <a:t>launchsettings.json</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file. On a staging or production environment it is set in the operating system. </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ASP.NET Core Environment Tag Helper</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Environment tag helper</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supports rendering different content depending on the application environment. The application environment name is set using </a:t>
            </a:r>
            <a:r>
              <a:rPr kumimoji="0" lang="en-US" altLang="en-US" sz="14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using</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4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ASPNETCORE_ENVIRONMENT</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variable.</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This example loads the non-minified bootstrap </a:t>
            </a:r>
            <a:r>
              <a:rPr kumimoji="0" lang="en-US" altLang="en-US" sz="14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file, if the application environment is "Development"</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environment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i="1" u="none" strike="noStrike" cap="none" normalizeH="0" baseline="0" dirty="0">
                <a:ln>
                  <a:noFill/>
                </a:ln>
                <a:solidFill>
                  <a:srgbClr val="800080"/>
                </a:solidFill>
                <a:effectLst/>
                <a:latin typeface="Arial" panose="020B0604020202020204" pitchFamily="34" charset="0"/>
                <a:cs typeface="Arial" panose="020B0604020202020204" pitchFamily="34" charset="0"/>
              </a:rPr>
              <a:t>include</a:t>
            </a:r>
            <a:r>
              <a:rPr kumimoji="0" lang="en-US" altLang="en-US" sz="1600" i="1"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Development"&gt;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link</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="~/lib/bootstrap/</a:t>
            </a:r>
            <a:r>
              <a:rPr kumimoji="0" lang="en-US" altLang="en-US" sz="14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/bootstrap.css"</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rel</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="stylesheet"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environment</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This example loads the minified bootstrap </a:t>
            </a:r>
            <a:r>
              <a:rPr kumimoji="0" lang="en-US" altLang="en-US" sz="14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file from the CDN (Content Delivery Network), if the application environment is "Staging" or "Production".</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environment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include</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Staging,Production</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link</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rel</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="stylesheet"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="https://stackpath.bootstrapcdn.com/bootstrap/4.3.1/</a:t>
            </a:r>
            <a:r>
              <a:rPr kumimoji="0" lang="en-US" altLang="en-US" sz="14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/bootstrap.min.css"</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integrity</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="sha384-ggOyR0iXCbMQv3Xipma34MD+dH/1fQ784/j6cY/iJTQUOhcWr7x9JvoRxT2MZw1T"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crossorigin</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="anonymous"&gt;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environment</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3090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28DCC36-DA24-4BE3-AF17-144512C0F099}"/>
              </a:ext>
            </a:extLst>
          </p:cNvPr>
          <p:cNvSpPr>
            <a:spLocks noChangeArrowheads="1"/>
          </p:cNvSpPr>
          <p:nvPr/>
        </p:nvSpPr>
        <p:spPr bwMode="auto">
          <a:xfrm>
            <a:off x="39329" y="324519"/>
            <a:ext cx="11808542" cy="40318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1" u="none" strike="noStrike" cap="none" normalizeH="0" baseline="0" dirty="0">
                <a:ln>
                  <a:noFill/>
                </a:ln>
                <a:solidFill>
                  <a:srgbClr val="351C75"/>
                </a:solidFill>
                <a:effectLst/>
                <a:cs typeface="Arial" panose="020B0604020202020204" pitchFamily="34" charset="0"/>
              </a:rPr>
              <a:t>"include"</a:t>
            </a:r>
            <a:r>
              <a:rPr kumimoji="0" lang="en-US" altLang="en-US" sz="1600" b="0" i="0" u="none" strike="noStrike" cap="none" normalizeH="0" baseline="0" dirty="0">
                <a:ln>
                  <a:noFill/>
                </a:ln>
                <a:solidFill>
                  <a:srgbClr val="333333"/>
                </a:solidFill>
                <a:effectLst/>
                <a:cs typeface="Arial" panose="020B0604020202020204" pitchFamily="34" charset="0"/>
              </a:rPr>
              <a:t> attribute accepts a single hosting environment name or a comma-separated list of hosting environment names. On the </a:t>
            </a:r>
            <a:r>
              <a:rPr kumimoji="0" lang="en-US" altLang="en-US" sz="1600" b="1" i="1" u="none" strike="noStrike" cap="none" normalizeH="0" baseline="0" dirty="0">
                <a:ln>
                  <a:noFill/>
                </a:ln>
                <a:solidFill>
                  <a:srgbClr val="0000FF"/>
                </a:solidFill>
                <a:effectLst/>
                <a:cs typeface="Arial" panose="020B0604020202020204" pitchFamily="34" charset="0"/>
              </a:rPr>
              <a:t>&lt;</a:t>
            </a:r>
            <a:r>
              <a:rPr kumimoji="0" lang="en-US" altLang="en-US" sz="1600" b="1" i="1" u="none" strike="noStrike" cap="none" normalizeH="0" baseline="0" dirty="0">
                <a:ln>
                  <a:noFill/>
                </a:ln>
                <a:solidFill>
                  <a:srgbClr val="990000"/>
                </a:solidFill>
                <a:effectLst/>
                <a:cs typeface="Arial" panose="020B0604020202020204" pitchFamily="34" charset="0"/>
              </a:rPr>
              <a:t>environment</a:t>
            </a:r>
            <a:r>
              <a:rPr kumimoji="0" lang="en-US" altLang="en-US" sz="1600" b="1" i="1" u="none" strike="noStrike" cap="none" normalizeH="0" baseline="0" dirty="0">
                <a:ln>
                  <a:noFill/>
                </a:ln>
                <a:solidFill>
                  <a:srgbClr val="0000FF"/>
                </a:solidFill>
                <a:effectLst/>
                <a:cs typeface="Arial" panose="020B0604020202020204" pitchFamily="34" charset="0"/>
              </a:rPr>
              <a:t>&gt;</a:t>
            </a:r>
            <a:r>
              <a:rPr kumimoji="0" lang="en-US" altLang="en-US" sz="1600" b="0" i="0" u="none" strike="noStrike" cap="none" normalizeH="0" baseline="0" dirty="0">
                <a:ln>
                  <a:noFill/>
                </a:ln>
                <a:solidFill>
                  <a:srgbClr val="333333"/>
                </a:solidFill>
                <a:effectLst/>
                <a:cs typeface="Arial" panose="020B0604020202020204" pitchFamily="34" charset="0"/>
              </a:rPr>
              <a:t> tag helper, we also have </a:t>
            </a:r>
            <a:r>
              <a:rPr kumimoji="0" lang="en-US" altLang="en-US" sz="1600" b="1" i="1" u="none" strike="noStrike" cap="none" normalizeH="0" baseline="0" dirty="0">
                <a:ln>
                  <a:noFill/>
                </a:ln>
                <a:solidFill>
                  <a:srgbClr val="351C75"/>
                </a:solidFill>
                <a:effectLst/>
                <a:cs typeface="Arial" panose="020B0604020202020204" pitchFamily="34" charset="0"/>
              </a:rPr>
              <a:t>"exclude"</a:t>
            </a:r>
            <a:r>
              <a:rPr kumimoji="0" lang="en-US" altLang="en-US" sz="1600" b="0" i="0" u="none" strike="noStrike" cap="none" normalizeH="0" baseline="0" dirty="0">
                <a:ln>
                  <a:noFill/>
                </a:ln>
                <a:solidFill>
                  <a:srgbClr val="333333"/>
                </a:solidFill>
                <a:effectLst/>
                <a:cs typeface="Arial" panose="020B0604020202020204" pitchFamily="34" charset="0"/>
              </a:rPr>
              <a:t> attribute. The content of the </a:t>
            </a:r>
            <a:r>
              <a:rPr kumimoji="0" lang="en-US" altLang="en-US" sz="1600" b="1" i="1" u="none" strike="noStrike" cap="none" normalizeH="0" baseline="0" dirty="0">
                <a:ln>
                  <a:noFill/>
                </a:ln>
                <a:solidFill>
                  <a:srgbClr val="0000FF"/>
                </a:solidFill>
                <a:effectLst/>
                <a:cs typeface="Arial" panose="020B0604020202020204" pitchFamily="34" charset="0"/>
              </a:rPr>
              <a:t>&lt;</a:t>
            </a:r>
            <a:r>
              <a:rPr kumimoji="0" lang="en-US" altLang="en-US" sz="1600" b="1" i="1" u="none" strike="noStrike" cap="none" normalizeH="0" baseline="0" dirty="0">
                <a:ln>
                  <a:noFill/>
                </a:ln>
                <a:solidFill>
                  <a:srgbClr val="990000"/>
                </a:solidFill>
                <a:effectLst/>
                <a:cs typeface="Arial" panose="020B0604020202020204" pitchFamily="34" charset="0"/>
              </a:rPr>
              <a:t>environment</a:t>
            </a:r>
            <a:r>
              <a:rPr kumimoji="0" lang="en-US" altLang="en-US" sz="1600" b="1" i="1" u="none" strike="noStrike" cap="none" normalizeH="0" baseline="0" dirty="0">
                <a:ln>
                  <a:noFill/>
                </a:ln>
                <a:solidFill>
                  <a:srgbClr val="0000FF"/>
                </a:solidFill>
                <a:effectLst/>
                <a:cs typeface="Arial" panose="020B0604020202020204" pitchFamily="34" charset="0"/>
              </a:rPr>
              <a:t>&gt;</a:t>
            </a:r>
            <a:r>
              <a:rPr kumimoji="0" lang="en-US" altLang="en-US" sz="1600" b="0" i="0" u="none" strike="noStrike" cap="none" normalizeH="0" baseline="0" dirty="0">
                <a:ln>
                  <a:noFill/>
                </a:ln>
                <a:solidFill>
                  <a:srgbClr val="333333"/>
                </a:solidFill>
                <a:effectLst/>
                <a:cs typeface="Arial" panose="020B0604020202020204" pitchFamily="34" charset="0"/>
              </a:rPr>
              <a:t> tag is rendered when the hosting environment doesn't match an environment listed in the </a:t>
            </a:r>
            <a:r>
              <a:rPr kumimoji="0" lang="en-US" altLang="en-US" sz="1600" b="1" i="1" u="none" strike="noStrike" cap="none" normalizeH="0" baseline="0" dirty="0">
                <a:ln>
                  <a:noFill/>
                </a:ln>
                <a:solidFill>
                  <a:srgbClr val="351C75"/>
                </a:solidFill>
                <a:effectLst/>
                <a:cs typeface="Arial" panose="020B0604020202020204" pitchFamily="34" charset="0"/>
              </a:rPr>
              <a:t>exclude</a:t>
            </a:r>
            <a:r>
              <a:rPr kumimoji="0" lang="en-US" altLang="en-US" sz="1600" b="0" i="0" u="none" strike="noStrike" cap="none" normalizeH="0" baseline="0" dirty="0">
                <a:ln>
                  <a:noFill/>
                </a:ln>
                <a:solidFill>
                  <a:srgbClr val="333333"/>
                </a:solidFill>
                <a:effectLst/>
                <a:cs typeface="Arial" panose="020B0604020202020204" pitchFamily="34" charset="0"/>
              </a:rPr>
              <a:t> attribute value.</a:t>
            </a:r>
            <a:br>
              <a:rPr kumimoji="0" lang="en-US" altLang="en-US" sz="1600" b="0" i="0" u="none" strike="noStrike" cap="none" normalizeH="0" baseline="0" dirty="0">
                <a:ln>
                  <a:noFill/>
                </a:ln>
                <a:solidFill>
                  <a:schemeClr val="tx1"/>
                </a:solidFill>
                <a:effectLst/>
              </a:rPr>
            </a:br>
            <a:br>
              <a:rPr kumimoji="0" lang="en-US" altLang="en-US" sz="1600" b="0" i="0" u="none" strike="noStrike" cap="none" normalizeH="0" baseline="0" dirty="0">
                <a:ln>
                  <a:noFill/>
                </a:ln>
                <a:solidFill>
                  <a:schemeClr val="tx1"/>
                </a:solidFill>
                <a:effectLst/>
              </a:rPr>
            </a:br>
            <a:r>
              <a:rPr kumimoji="0" lang="en-US" altLang="en-US" sz="1600" b="0" i="0" u="none" strike="noStrike" cap="none" normalizeH="0" baseline="0" dirty="0">
                <a:ln>
                  <a:noFill/>
                </a:ln>
                <a:solidFill>
                  <a:srgbClr val="333333"/>
                </a:solidFill>
                <a:effectLst/>
                <a:cs typeface="Arial" panose="020B0604020202020204" pitchFamily="34" charset="0"/>
              </a:rPr>
              <a:t>This example loads the minified bootstrap </a:t>
            </a:r>
            <a:r>
              <a:rPr kumimoji="0" lang="en-US" altLang="en-US" sz="1600" b="0" i="0" u="none" strike="noStrike" cap="none" normalizeH="0" baseline="0" dirty="0" err="1">
                <a:ln>
                  <a:noFill/>
                </a:ln>
                <a:solidFill>
                  <a:srgbClr val="333333"/>
                </a:solidFill>
                <a:effectLst/>
                <a:cs typeface="Arial" panose="020B0604020202020204" pitchFamily="34" charset="0"/>
              </a:rPr>
              <a:t>css</a:t>
            </a:r>
            <a:r>
              <a:rPr kumimoji="0" lang="en-US" altLang="en-US" sz="1600" b="0" i="0" u="none" strike="noStrike" cap="none" normalizeH="0" baseline="0" dirty="0">
                <a:ln>
                  <a:noFill/>
                </a:ln>
                <a:solidFill>
                  <a:srgbClr val="333333"/>
                </a:solidFill>
                <a:effectLst/>
                <a:cs typeface="Arial" panose="020B0604020202020204" pitchFamily="34" charset="0"/>
              </a:rPr>
              <a:t> file from the CDN (Content Delivery Network), if the application environment IS NOT "Development". </a:t>
            </a:r>
            <a:br>
              <a:rPr kumimoji="0" lang="en-US" altLang="en-US" sz="1600" b="0" i="0" u="none" strike="noStrike" cap="none" normalizeH="0" baseline="0" dirty="0">
                <a:ln>
                  <a:noFill/>
                </a:ln>
                <a:solidFill>
                  <a:schemeClr val="tx1"/>
                </a:solidFill>
                <a:effectLst/>
              </a:rPr>
            </a:b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1" i="0" u="none" strike="noStrike" cap="none" normalizeH="0" baseline="0" dirty="0">
                <a:ln>
                  <a:noFill/>
                </a:ln>
                <a:solidFill>
                  <a:srgbClr val="800080"/>
                </a:solidFill>
                <a:effectLst/>
                <a:cs typeface="Arial" panose="020B0604020202020204" pitchFamily="34" charset="0"/>
              </a:rPr>
              <a:t>environment</a:t>
            </a:r>
            <a:r>
              <a:rPr kumimoji="0" lang="en-US" altLang="en-US" sz="1600" b="0" i="0" u="none" strike="noStrike" cap="none" normalizeH="0" baseline="0" dirty="0">
                <a:ln>
                  <a:noFill/>
                </a:ln>
                <a:solidFill>
                  <a:srgbClr val="000000"/>
                </a:solidFill>
                <a:effectLst/>
                <a:cs typeface="Arial" panose="020B0604020202020204" pitchFamily="34" charset="0"/>
              </a:rPr>
              <a:t> </a:t>
            </a:r>
            <a:r>
              <a:rPr lang="en-US" altLang="en-US" i="1" dirty="0"/>
              <a:t>exclude=</a:t>
            </a:r>
            <a:r>
              <a:rPr kumimoji="0" lang="en-US" altLang="en-US" sz="1600" b="0" i="0" u="none" strike="noStrike" cap="none" normalizeH="0" baseline="0" dirty="0">
                <a:ln>
                  <a:noFill/>
                </a:ln>
                <a:solidFill>
                  <a:srgbClr val="0000FF"/>
                </a:solidFill>
                <a:effectLst/>
                <a:cs typeface="Arial" panose="020B0604020202020204" pitchFamily="34" charset="0"/>
              </a:rPr>
              <a:t>"Development"&gt;</a:t>
            </a:r>
            <a:endParaRPr kumimoji="0" lang="en-US" altLang="en-US" sz="16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0" i="0" u="none" strike="noStrike" cap="none" normalizeH="0" baseline="0" dirty="0">
                <a:ln>
                  <a:noFill/>
                </a:ln>
                <a:solidFill>
                  <a:srgbClr val="800000"/>
                </a:solidFill>
                <a:effectLst/>
                <a:cs typeface="Arial" panose="020B0604020202020204" pitchFamily="34" charset="0"/>
              </a:rPr>
              <a:t>link</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err="1">
                <a:ln>
                  <a:noFill/>
                </a:ln>
                <a:solidFill>
                  <a:srgbClr val="FF0000"/>
                </a:solidFill>
                <a:effectLst/>
                <a:cs typeface="Arial" panose="020B0604020202020204" pitchFamily="34" charset="0"/>
              </a:rPr>
              <a:t>rel</a:t>
            </a:r>
            <a:r>
              <a:rPr kumimoji="0" lang="en-US" altLang="en-US" sz="1600" b="0" i="0" u="none" strike="noStrike" cap="none" normalizeH="0" baseline="0" dirty="0">
                <a:ln>
                  <a:noFill/>
                </a:ln>
                <a:solidFill>
                  <a:srgbClr val="0000FF"/>
                </a:solidFill>
                <a:effectLst/>
                <a:cs typeface="Arial" panose="020B0604020202020204" pitchFamily="34" charset="0"/>
              </a:rPr>
              <a:t>="stylesheet"</a:t>
            </a:r>
            <a:endParaRPr kumimoji="0" lang="en-US" altLang="en-US" sz="16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err="1">
                <a:ln>
                  <a:noFill/>
                </a:ln>
                <a:solidFill>
                  <a:srgbClr val="FF0000"/>
                </a:solidFill>
                <a:effectLst/>
                <a:cs typeface="Arial" panose="020B0604020202020204" pitchFamily="34" charset="0"/>
              </a:rPr>
              <a:t>href</a:t>
            </a:r>
            <a:r>
              <a:rPr kumimoji="0" lang="en-US" altLang="en-US" sz="1600" b="0" i="0" u="none" strike="noStrike" cap="none" normalizeH="0" baseline="0" dirty="0">
                <a:ln>
                  <a:noFill/>
                </a:ln>
                <a:solidFill>
                  <a:srgbClr val="0000FF"/>
                </a:solidFill>
                <a:effectLst/>
                <a:cs typeface="Arial" panose="020B0604020202020204" pitchFamily="34" charset="0"/>
              </a:rPr>
              <a:t>="https://stackpath.bootstrapcdn.com/bootstrap/4.3.1/</a:t>
            </a:r>
            <a:r>
              <a:rPr kumimoji="0" lang="en-US" altLang="en-US" sz="1600" b="0" i="0" u="none" strike="noStrike" cap="none" normalizeH="0" baseline="0" dirty="0" err="1">
                <a:ln>
                  <a:noFill/>
                </a:ln>
                <a:solidFill>
                  <a:srgbClr val="0000FF"/>
                </a:solidFill>
                <a:effectLst/>
                <a:cs typeface="Arial" panose="020B0604020202020204" pitchFamily="34" charset="0"/>
              </a:rPr>
              <a:t>css</a:t>
            </a:r>
            <a:r>
              <a:rPr kumimoji="0" lang="en-US" altLang="en-US" sz="1600" b="0" i="0" u="none" strike="noStrike" cap="none" normalizeH="0" baseline="0" dirty="0">
                <a:ln>
                  <a:noFill/>
                </a:ln>
                <a:solidFill>
                  <a:srgbClr val="0000FF"/>
                </a:solidFill>
                <a:effectLst/>
                <a:cs typeface="Arial" panose="020B0604020202020204" pitchFamily="34" charset="0"/>
              </a:rPr>
              <a:t>/bootstrap.min.css"</a:t>
            </a:r>
            <a:endParaRPr kumimoji="0" lang="en-US" altLang="en-US" sz="16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FF0000"/>
                </a:solidFill>
                <a:effectLst/>
                <a:cs typeface="Arial" panose="020B0604020202020204" pitchFamily="34" charset="0"/>
              </a:rPr>
              <a:t>integrity</a:t>
            </a:r>
            <a:r>
              <a:rPr kumimoji="0" lang="en-US" altLang="en-US" sz="1600" b="0" i="0" u="none" strike="noStrike" cap="none" normalizeH="0" baseline="0" dirty="0">
                <a:ln>
                  <a:noFill/>
                </a:ln>
                <a:solidFill>
                  <a:srgbClr val="0000FF"/>
                </a:solidFill>
                <a:effectLst/>
                <a:cs typeface="Arial" panose="020B0604020202020204" pitchFamily="34" charset="0"/>
              </a:rPr>
              <a:t>="sha384-ggOyR0iXCbMQv3Xipma34MD+dH/1fQ784/j6cY/iJTQUOhcWr7x9JvoRxT2MZw1T"</a:t>
            </a:r>
            <a:endParaRPr kumimoji="0" lang="en-US" altLang="en-US" sz="16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err="1">
                <a:ln>
                  <a:noFill/>
                </a:ln>
                <a:solidFill>
                  <a:srgbClr val="FF0000"/>
                </a:solidFill>
                <a:effectLst/>
                <a:cs typeface="Arial" panose="020B0604020202020204" pitchFamily="34" charset="0"/>
              </a:rPr>
              <a:t>crossorigin</a:t>
            </a:r>
            <a:r>
              <a:rPr kumimoji="0" lang="en-US" altLang="en-US" sz="1600" b="0" i="0" u="none" strike="noStrike" cap="none" normalizeH="0" baseline="0" dirty="0">
                <a:ln>
                  <a:noFill/>
                </a:ln>
                <a:solidFill>
                  <a:srgbClr val="0000FF"/>
                </a:solidFill>
                <a:effectLst/>
                <a:cs typeface="Arial" panose="020B0604020202020204" pitchFamily="34" charset="0"/>
              </a:rPr>
              <a:t>="anonymous"&gt;</a:t>
            </a:r>
            <a:endParaRPr kumimoji="0" lang="en-US" altLang="en-US" sz="16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1" i="0" u="none" strike="noStrike" cap="none" normalizeH="0" baseline="0" dirty="0">
                <a:ln>
                  <a:noFill/>
                </a:ln>
                <a:solidFill>
                  <a:srgbClr val="800080"/>
                </a:solidFill>
                <a:effectLst/>
                <a:cs typeface="Arial" panose="020B0604020202020204" pitchFamily="34" charset="0"/>
              </a:rPr>
              <a:t>environment</a:t>
            </a:r>
            <a:r>
              <a:rPr kumimoji="0" lang="en-US" altLang="en-US" sz="1600" b="0" i="0" u="none" strike="noStrike" cap="none" normalizeH="0" baseline="0" dirty="0">
                <a:ln>
                  <a:noFill/>
                </a:ln>
                <a:solidFill>
                  <a:srgbClr val="0000FF"/>
                </a:solidFill>
                <a:effectLst/>
                <a:cs typeface="Arial" panose="020B0604020202020204" pitchFamily="34"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endParaRPr>
          </a:p>
        </p:txBody>
      </p:sp>
      <p:sp>
        <p:nvSpPr>
          <p:cNvPr id="6" name="TextBox 5">
            <a:extLst>
              <a:ext uri="{FF2B5EF4-FFF2-40B4-BE49-F238E27FC236}">
                <a16:creationId xmlns:a16="http://schemas.microsoft.com/office/drawing/2014/main" id="{1CF71B4A-7715-4A18-9E16-42DCA3851DDD}"/>
              </a:ext>
            </a:extLst>
          </p:cNvPr>
          <p:cNvSpPr txBox="1"/>
          <p:nvPr/>
        </p:nvSpPr>
        <p:spPr>
          <a:xfrm>
            <a:off x="530941" y="4356392"/>
            <a:ext cx="10107561" cy="1477328"/>
          </a:xfrm>
          <a:prstGeom prst="rect">
            <a:avLst/>
          </a:prstGeom>
          <a:noFill/>
        </p:spPr>
        <p:txBody>
          <a:bodyPr wrap="square">
            <a:spAutoFit/>
          </a:bodyPr>
          <a:lstStyle/>
          <a:p>
            <a:r>
              <a:rPr lang="en-US" b="0" i="0" dirty="0">
                <a:solidFill>
                  <a:srgbClr val="333333"/>
                </a:solidFill>
                <a:effectLst/>
                <a:latin typeface="arial" panose="020B0604020202020204" pitchFamily="34" charset="0"/>
              </a:rPr>
              <a:t>The </a:t>
            </a:r>
            <a:r>
              <a:rPr lang="en-US" b="1" i="1" dirty="0">
                <a:solidFill>
                  <a:srgbClr val="FF0000"/>
                </a:solidFill>
                <a:effectLst/>
                <a:latin typeface="arial" panose="020B0604020202020204" pitchFamily="34" charset="0"/>
              </a:rPr>
              <a:t>"integrity"</a:t>
            </a:r>
            <a:r>
              <a:rPr lang="en-US" b="0" i="0" dirty="0">
                <a:solidFill>
                  <a:srgbClr val="333333"/>
                </a:solidFill>
                <a:effectLst/>
                <a:latin typeface="arial" panose="020B0604020202020204" pitchFamily="34" charset="0"/>
              </a:rPr>
              <a:t> attribute on the </a:t>
            </a:r>
            <a:r>
              <a:rPr lang="en-US" b="0" i="0" dirty="0">
                <a:solidFill>
                  <a:srgbClr val="0000FF"/>
                </a:solidFill>
                <a:effectLst/>
                <a:latin typeface="arial" panose="020B0604020202020204" pitchFamily="34" charset="0"/>
              </a:rPr>
              <a:t>&lt;</a:t>
            </a:r>
            <a:r>
              <a:rPr lang="en-US" b="0" i="0" dirty="0">
                <a:solidFill>
                  <a:srgbClr val="990000"/>
                </a:solidFill>
                <a:effectLst/>
                <a:latin typeface="arial" panose="020B0604020202020204" pitchFamily="34" charset="0"/>
              </a:rPr>
              <a:t>link</a:t>
            </a:r>
            <a:r>
              <a:rPr lang="en-US" b="0" i="0" dirty="0">
                <a:solidFill>
                  <a:srgbClr val="0000FF"/>
                </a:solidFill>
                <a:effectLst/>
                <a:latin typeface="arial" panose="020B0604020202020204" pitchFamily="34" charset="0"/>
              </a:rPr>
              <a:t>&gt;</a:t>
            </a:r>
            <a:r>
              <a:rPr lang="en-US" b="0" i="0" dirty="0">
                <a:solidFill>
                  <a:srgbClr val="333333"/>
                </a:solidFill>
                <a:effectLst/>
                <a:latin typeface="arial" panose="020B0604020202020204" pitchFamily="34" charset="0"/>
              </a:rPr>
              <a:t> element is used for </a:t>
            </a:r>
            <a:r>
              <a:rPr lang="en-US" b="1" i="0" dirty="0" err="1">
                <a:solidFill>
                  <a:srgbClr val="333333"/>
                </a:solidFill>
                <a:effectLst/>
                <a:latin typeface="arial" panose="020B0604020202020204" pitchFamily="34" charset="0"/>
              </a:rPr>
              <a:t>Subresource</a:t>
            </a:r>
            <a:r>
              <a:rPr lang="en-US" b="1" i="0" dirty="0">
                <a:solidFill>
                  <a:srgbClr val="333333"/>
                </a:solidFill>
                <a:effectLst/>
                <a:latin typeface="arial" panose="020B0604020202020204" pitchFamily="34" charset="0"/>
              </a:rPr>
              <a:t> Integrity check</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Subresource</a:t>
            </a:r>
            <a:r>
              <a:rPr lang="en-US" b="0" i="0" dirty="0">
                <a:solidFill>
                  <a:srgbClr val="333333"/>
                </a:solidFill>
                <a:effectLst/>
                <a:latin typeface="arial" panose="020B0604020202020204" pitchFamily="34" charset="0"/>
              </a:rPr>
              <a:t> Integrity (SRI for short), is a security feature that allows a browser to check if the file being retrieved has been maliciously altered. When the browser downloads the file, it recalculates the hash and compares it against the "integrity" attribute hash value. If the hash values match, the browser allows the file to be downloaded otherwise it is blocked.</a:t>
            </a:r>
            <a:endParaRPr lang="en-IN" dirty="0"/>
          </a:p>
        </p:txBody>
      </p:sp>
    </p:spTree>
    <p:extLst>
      <p:ext uri="{BB962C8B-B14F-4D97-AF65-F5344CB8AC3E}">
        <p14:creationId xmlns:p14="http://schemas.microsoft.com/office/powerpoint/2010/main" val="1442961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E0D26D-6C94-486F-AC01-BE142A45250C}"/>
              </a:ext>
            </a:extLst>
          </p:cNvPr>
          <p:cNvSpPr txBox="1"/>
          <p:nvPr/>
        </p:nvSpPr>
        <p:spPr>
          <a:xfrm>
            <a:off x="3903406" y="0"/>
            <a:ext cx="3215149" cy="646331"/>
          </a:xfrm>
          <a:prstGeom prst="rect">
            <a:avLst/>
          </a:prstGeom>
          <a:noFill/>
        </p:spPr>
        <p:txBody>
          <a:bodyPr wrap="square">
            <a:spAutoFit/>
          </a:bodyPr>
          <a:lstStyle/>
          <a:p>
            <a:r>
              <a:rPr lang="en-US" b="1" i="0" dirty="0">
                <a:solidFill>
                  <a:srgbClr val="333333"/>
                </a:solidFill>
                <a:effectLst/>
                <a:latin typeface="arial" panose="020B0604020202020204" pitchFamily="34" charset="0"/>
              </a:rPr>
              <a:t>What if the CDN is down</a:t>
            </a:r>
            <a:br>
              <a:rPr lang="en-US" dirty="0"/>
            </a:br>
            <a:endParaRPr lang="en-IN" dirty="0"/>
          </a:p>
        </p:txBody>
      </p:sp>
      <p:sp>
        <p:nvSpPr>
          <p:cNvPr id="6" name="Rectangle 1">
            <a:extLst>
              <a:ext uri="{FF2B5EF4-FFF2-40B4-BE49-F238E27FC236}">
                <a16:creationId xmlns:a16="http://schemas.microsoft.com/office/drawing/2014/main" id="{399B615E-C739-43F4-9768-2ED34F25ED9C}"/>
              </a:ext>
            </a:extLst>
          </p:cNvPr>
          <p:cNvSpPr>
            <a:spLocks noChangeArrowheads="1"/>
          </p:cNvSpPr>
          <p:nvPr/>
        </p:nvSpPr>
        <p:spPr bwMode="auto">
          <a:xfrm rot="10800000" flipV="1">
            <a:off x="98322" y="181957"/>
            <a:ext cx="11418277"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If the CDN is down or for some reason, our application is not able to reach the CDN, we want our application to fallback and load the minified bootstrap file (bootstrap.min.css) from our own application web server. Consider the following example</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environment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include</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="Development"&gt;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link</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="~/lib/bootstrap/</a:t>
            </a:r>
            <a:r>
              <a:rPr kumimoji="0" lang="en-US" altLang="en-US" sz="14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/bootstrap.css"</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rel</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="stylesheet"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environment</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environment</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exclude</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="Development"&gt;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link</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rel</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="stylesheet"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integrity</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="sha384-ggOyR0iXCbMQv3Xipma34MD+dH/1fQ784/j6cY/iJTQUOhcWr7x9JvoRxT2MZw1T"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crossorigin</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="anonymous"</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err="1">
                <a:ln>
                  <a:noFill/>
                </a:ln>
                <a:solidFill>
                  <a:srgbClr val="800080"/>
                </a:solidFill>
                <a:effectLst/>
                <a:latin typeface="Arial" panose="020B0604020202020204" pitchFamily="34" charset="0"/>
                <a:cs typeface="Arial" panose="020B0604020202020204" pitchFamily="34" charset="0"/>
              </a:rPr>
              <a:t>href</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="https://sstackpath.bootstrapcdn.com/bootstrap/4.3.1/</a:t>
            </a:r>
            <a:r>
              <a:rPr kumimoji="0" lang="en-US" altLang="en-US" sz="14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/bootstrap.min.css"</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asp-fallback-</a:t>
            </a:r>
            <a:r>
              <a:rPr kumimoji="0" lang="en-US" altLang="en-US" sz="1400" b="1" i="0" u="none" strike="noStrike" cap="none" normalizeH="0" baseline="0" dirty="0" err="1">
                <a:ln>
                  <a:noFill/>
                </a:ln>
                <a:solidFill>
                  <a:srgbClr val="800080"/>
                </a:solidFill>
                <a:effectLst/>
                <a:latin typeface="Arial" panose="020B0604020202020204" pitchFamily="34" charset="0"/>
                <a:cs typeface="Arial" panose="020B0604020202020204" pitchFamily="34" charset="0"/>
              </a:rPr>
              <a:t>href</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="~/lib/bootstrap/</a:t>
            </a:r>
            <a:r>
              <a:rPr kumimoji="0" lang="en-US" altLang="en-US" sz="14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/bootstrap.min.css"</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asp-fallback-test-class</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4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sr</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-only"</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asp-fallback-test-property</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="position"</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asp-fallback-test-value</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="absolute"</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asp-suppress-fallback-integrity</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="true"</a:t>
            </a:r>
            <a:r>
              <a:rPr kumimoji="0" lang="en-US" altLang="en-US"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4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environment</a:t>
            </a:r>
            <a:r>
              <a:rPr kumimoji="0" lang="en-US" altLang="en-US" sz="1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If the application environment is "Development", non-minified bootstrap </a:t>
            </a:r>
            <a:r>
              <a:rPr kumimoji="0" lang="en-US" altLang="en-US" sz="14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file (bootstrap.css) is loaded from our application web server</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If the application environment IS NOT "Development", minified bootstrap </a:t>
            </a:r>
            <a:r>
              <a:rPr kumimoji="0" lang="en-US" altLang="en-US" sz="14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css</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file (bootstrap.min.css) is loaded from the CDN</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 fallback source is specified using asp-fallback-</a:t>
            </a:r>
            <a:r>
              <a:rPr kumimoji="0" lang="en-US" altLang="en-US" sz="14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href</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attribute. This means, if the CDN is down, our application </a:t>
            </a:r>
            <a:r>
              <a:rPr kumimoji="0" lang="en-US" altLang="en-US" sz="14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fallsback</a:t>
            </a: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and load the minified bootstrap file (bootstrap.min.css) from our own application web server.</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following 3 attributes and their associated values are used to check if the CDN is down</a:t>
            </a:r>
            <a:br>
              <a:rPr kumimoji="0" lang="en-US" altLang="en-US" sz="1400" b="0" i="0" u="none" strike="noStrike" cap="none" normalizeH="0" baseline="0" dirty="0">
                <a:ln>
                  <a:noFill/>
                </a:ln>
                <a:solidFill>
                  <a:schemeClr val="tx1"/>
                </a:solidFill>
                <a:effectLst/>
              </a:rPr>
            </a:br>
            <a:r>
              <a:rPr kumimoji="0" lang="en-US" altLang="en-US" sz="14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asp-fallback-test-class="</a:t>
            </a:r>
            <a:r>
              <a:rPr kumimoji="0" lang="en-US" altLang="en-US" sz="1400" b="1" i="1" u="none" strike="noStrike" cap="none" normalizeH="0" baseline="0" dirty="0" err="1">
                <a:ln>
                  <a:noFill/>
                </a:ln>
                <a:solidFill>
                  <a:srgbClr val="351C75"/>
                </a:solidFill>
                <a:effectLst/>
                <a:latin typeface="Arial" panose="020B0604020202020204" pitchFamily="34" charset="0"/>
                <a:cs typeface="Arial" panose="020B0604020202020204" pitchFamily="34" charset="0"/>
              </a:rPr>
              <a:t>sr</a:t>
            </a:r>
            <a:r>
              <a:rPr kumimoji="0" lang="en-US" altLang="en-US" sz="14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-only" </a:t>
            </a:r>
            <a:br>
              <a:rPr kumimoji="0" lang="en-US" altLang="en-US" sz="1400" b="0" i="0" u="none" strike="noStrike" cap="none" normalizeH="0" baseline="0" dirty="0">
                <a:ln>
                  <a:noFill/>
                </a:ln>
                <a:solidFill>
                  <a:schemeClr val="tx1"/>
                </a:solidFill>
                <a:effectLst/>
              </a:rPr>
            </a:br>
            <a:r>
              <a:rPr kumimoji="0" lang="en-US" altLang="en-US" sz="14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asp-fallback-test-property="position" </a:t>
            </a:r>
            <a:br>
              <a:rPr kumimoji="0" lang="en-US" altLang="en-US" sz="1400" b="0" i="0" u="none" strike="noStrike" cap="none" normalizeH="0" baseline="0" dirty="0">
                <a:ln>
                  <a:noFill/>
                </a:ln>
                <a:solidFill>
                  <a:schemeClr val="tx1"/>
                </a:solidFill>
                <a:effectLst/>
              </a:rPr>
            </a:br>
            <a:r>
              <a:rPr kumimoji="0" lang="en-US" altLang="en-US" sz="14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asp-fallback-test-value="absolute"</a:t>
            </a:r>
            <a:br>
              <a:rPr kumimoji="0" lang="en-US" altLang="en-US" sz="140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Obviously, there is some processing involved to calculate hash and compare it with the integrity attribute hash value. For most applications, fallback source is their own server. You have the option to turn off integrity check for the files downloaded from the fallback source by setting </a:t>
            </a:r>
            <a:r>
              <a:rPr kumimoji="0" lang="en-US" altLang="en-US" sz="12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asp-suppress-fallback-integrity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attribute to </a:t>
            </a:r>
            <a:r>
              <a:rPr kumimoji="0" lang="en-US" altLang="en-US" sz="1200" b="1" i="1" u="none" strike="noStrike" cap="none" normalizeH="0" baseline="0" dirty="0">
                <a:ln>
                  <a:noFill/>
                </a:ln>
                <a:solidFill>
                  <a:srgbClr val="0000FF"/>
                </a:solidFill>
                <a:effectLst/>
                <a:latin typeface="Arial" panose="020B0604020202020204" pitchFamily="34" charset="0"/>
                <a:cs typeface="Arial" panose="020B0604020202020204" pitchFamily="34" charset="0"/>
              </a:rPr>
              <a:t>true</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5212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1002</Words>
  <Application>Microsoft Office PowerPoint</Application>
  <PresentationFormat>Widescreen</PresentationFormat>
  <Paragraphs>43</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Ketki Acharya</cp:lastModifiedBy>
  <cp:revision>3</cp:revision>
  <dcterms:created xsi:type="dcterms:W3CDTF">2021-10-01T22:39:22Z</dcterms:created>
  <dcterms:modified xsi:type="dcterms:W3CDTF">2021-10-17T12:25:25Z</dcterms:modified>
</cp:coreProperties>
</file>