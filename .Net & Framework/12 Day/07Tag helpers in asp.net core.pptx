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2" r:id="rId8"/>
    <p:sldId id="289" r:id="rId9"/>
    <p:sldId id="290" r:id="rId10"/>
    <p:sldId id="291" r:id="rId11"/>
    <p:sldId id="292" r:id="rId12"/>
    <p:sldId id="29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200D7-AF4E-48E6-9496-3E3DDCFD51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F91D4A3-CB5A-400F-A250-194F63FE7A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7356F4-0AF9-4D0C-83E5-31A7C2219825}"/>
              </a:ext>
            </a:extLst>
          </p:cNvPr>
          <p:cNvSpPr>
            <a:spLocks noGrp="1"/>
          </p:cNvSpPr>
          <p:nvPr>
            <p:ph type="dt" sz="half" idx="10"/>
          </p:nvPr>
        </p:nvSpPr>
        <p:spPr/>
        <p:txBody>
          <a:bodyPr/>
          <a:lstStyle/>
          <a:p>
            <a:fld id="{8C39D3B2-6BB0-4DA0-AEF2-DCB11155CA96}" type="datetimeFigureOut">
              <a:rPr lang="en-IN" smtClean="0"/>
              <a:t>20-09-2024</a:t>
            </a:fld>
            <a:endParaRPr lang="en-IN"/>
          </a:p>
        </p:txBody>
      </p:sp>
      <p:sp>
        <p:nvSpPr>
          <p:cNvPr id="5" name="Footer Placeholder 4">
            <a:extLst>
              <a:ext uri="{FF2B5EF4-FFF2-40B4-BE49-F238E27FC236}">
                <a16:creationId xmlns:a16="http://schemas.microsoft.com/office/drawing/2014/main" id="{617DB2A2-6348-4889-9A8C-BFDC7D286C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E5D01E-4F93-4867-BD3D-4827019B8655}"/>
              </a:ext>
            </a:extLst>
          </p:cNvPr>
          <p:cNvSpPr>
            <a:spLocks noGrp="1"/>
          </p:cNvSpPr>
          <p:nvPr>
            <p:ph type="sldNum" sz="quarter" idx="12"/>
          </p:nvPr>
        </p:nvSpPr>
        <p:spPr/>
        <p:txBody>
          <a:bodyPr/>
          <a:lstStyle/>
          <a:p>
            <a:fld id="{27B1110F-3535-4E0D-A51F-F0C94F43B30D}" type="slidenum">
              <a:rPr lang="en-IN" smtClean="0"/>
              <a:t>‹#›</a:t>
            </a:fld>
            <a:endParaRPr lang="en-IN"/>
          </a:p>
        </p:txBody>
      </p:sp>
    </p:spTree>
    <p:extLst>
      <p:ext uri="{BB962C8B-B14F-4D97-AF65-F5344CB8AC3E}">
        <p14:creationId xmlns:p14="http://schemas.microsoft.com/office/powerpoint/2010/main" val="2963546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C660F-685C-4C21-AEC5-32F41BC347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B303AE-9174-4DDC-B5DA-668139FD75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98D27A-0596-4527-93DE-F3D21B2BC3FA}"/>
              </a:ext>
            </a:extLst>
          </p:cNvPr>
          <p:cNvSpPr>
            <a:spLocks noGrp="1"/>
          </p:cNvSpPr>
          <p:nvPr>
            <p:ph type="dt" sz="half" idx="10"/>
          </p:nvPr>
        </p:nvSpPr>
        <p:spPr/>
        <p:txBody>
          <a:bodyPr/>
          <a:lstStyle/>
          <a:p>
            <a:fld id="{8C39D3B2-6BB0-4DA0-AEF2-DCB11155CA96}" type="datetimeFigureOut">
              <a:rPr lang="en-IN" smtClean="0"/>
              <a:t>20-09-2024</a:t>
            </a:fld>
            <a:endParaRPr lang="en-IN"/>
          </a:p>
        </p:txBody>
      </p:sp>
      <p:sp>
        <p:nvSpPr>
          <p:cNvPr id="5" name="Footer Placeholder 4">
            <a:extLst>
              <a:ext uri="{FF2B5EF4-FFF2-40B4-BE49-F238E27FC236}">
                <a16:creationId xmlns:a16="http://schemas.microsoft.com/office/drawing/2014/main" id="{08D8F1B7-B248-4D84-9829-D69BE22A5E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F89D3C-1A6E-4552-9EAC-0C1F0790A4DB}"/>
              </a:ext>
            </a:extLst>
          </p:cNvPr>
          <p:cNvSpPr>
            <a:spLocks noGrp="1"/>
          </p:cNvSpPr>
          <p:nvPr>
            <p:ph type="sldNum" sz="quarter" idx="12"/>
          </p:nvPr>
        </p:nvSpPr>
        <p:spPr/>
        <p:txBody>
          <a:bodyPr/>
          <a:lstStyle/>
          <a:p>
            <a:fld id="{27B1110F-3535-4E0D-A51F-F0C94F43B30D}" type="slidenum">
              <a:rPr lang="en-IN" smtClean="0"/>
              <a:t>‹#›</a:t>
            </a:fld>
            <a:endParaRPr lang="en-IN"/>
          </a:p>
        </p:txBody>
      </p:sp>
    </p:spTree>
    <p:extLst>
      <p:ext uri="{BB962C8B-B14F-4D97-AF65-F5344CB8AC3E}">
        <p14:creationId xmlns:p14="http://schemas.microsoft.com/office/powerpoint/2010/main" val="700838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3EEAC-08B8-48C1-B12C-0E963ABC1F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7F3C0F-DD0E-40A1-82D4-7428295364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B3E369-4967-45F8-95B6-3F67EBD06A77}"/>
              </a:ext>
            </a:extLst>
          </p:cNvPr>
          <p:cNvSpPr>
            <a:spLocks noGrp="1"/>
          </p:cNvSpPr>
          <p:nvPr>
            <p:ph type="dt" sz="half" idx="10"/>
          </p:nvPr>
        </p:nvSpPr>
        <p:spPr/>
        <p:txBody>
          <a:bodyPr/>
          <a:lstStyle/>
          <a:p>
            <a:fld id="{8C39D3B2-6BB0-4DA0-AEF2-DCB11155CA96}" type="datetimeFigureOut">
              <a:rPr lang="en-IN" smtClean="0"/>
              <a:t>20-09-2024</a:t>
            </a:fld>
            <a:endParaRPr lang="en-IN"/>
          </a:p>
        </p:txBody>
      </p:sp>
      <p:sp>
        <p:nvSpPr>
          <p:cNvPr id="5" name="Footer Placeholder 4">
            <a:extLst>
              <a:ext uri="{FF2B5EF4-FFF2-40B4-BE49-F238E27FC236}">
                <a16:creationId xmlns:a16="http://schemas.microsoft.com/office/drawing/2014/main" id="{A34A1D22-706C-44A0-BA0D-2D7E5E8267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0DD411-E4F4-44E5-90B9-C9EF770CA631}"/>
              </a:ext>
            </a:extLst>
          </p:cNvPr>
          <p:cNvSpPr>
            <a:spLocks noGrp="1"/>
          </p:cNvSpPr>
          <p:nvPr>
            <p:ph type="sldNum" sz="quarter" idx="12"/>
          </p:nvPr>
        </p:nvSpPr>
        <p:spPr/>
        <p:txBody>
          <a:bodyPr/>
          <a:lstStyle/>
          <a:p>
            <a:fld id="{27B1110F-3535-4E0D-A51F-F0C94F43B30D}" type="slidenum">
              <a:rPr lang="en-IN" smtClean="0"/>
              <a:t>‹#›</a:t>
            </a:fld>
            <a:endParaRPr lang="en-IN"/>
          </a:p>
        </p:txBody>
      </p:sp>
    </p:spTree>
    <p:extLst>
      <p:ext uri="{BB962C8B-B14F-4D97-AF65-F5344CB8AC3E}">
        <p14:creationId xmlns:p14="http://schemas.microsoft.com/office/powerpoint/2010/main" val="304728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64BC6-D3CC-458E-9993-4BBECC3226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A589BD-C928-4A59-B0DE-0D422A0FAA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6F45DB-DC99-4A86-9BC5-C52C832D24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8EE098-7ABB-4A3F-9DC6-817D10C2D751}"/>
              </a:ext>
            </a:extLst>
          </p:cNvPr>
          <p:cNvSpPr>
            <a:spLocks noGrp="1"/>
          </p:cNvSpPr>
          <p:nvPr>
            <p:ph type="dt" sz="half" idx="10"/>
          </p:nvPr>
        </p:nvSpPr>
        <p:spPr/>
        <p:txBody>
          <a:bodyPr/>
          <a:lstStyle/>
          <a:p>
            <a:fld id="{8C39D3B2-6BB0-4DA0-AEF2-DCB11155CA96}" type="datetimeFigureOut">
              <a:rPr lang="en-IN" smtClean="0"/>
              <a:t>20-09-2024</a:t>
            </a:fld>
            <a:endParaRPr lang="en-IN"/>
          </a:p>
        </p:txBody>
      </p:sp>
      <p:sp>
        <p:nvSpPr>
          <p:cNvPr id="6" name="Footer Placeholder 5">
            <a:extLst>
              <a:ext uri="{FF2B5EF4-FFF2-40B4-BE49-F238E27FC236}">
                <a16:creationId xmlns:a16="http://schemas.microsoft.com/office/drawing/2014/main" id="{7AEE858D-2C5C-4BD2-A651-A0BF48D9CF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F144DF-5D58-42BD-890D-2C7FD6DE5D16}"/>
              </a:ext>
            </a:extLst>
          </p:cNvPr>
          <p:cNvSpPr>
            <a:spLocks noGrp="1"/>
          </p:cNvSpPr>
          <p:nvPr>
            <p:ph type="sldNum" sz="quarter" idx="12"/>
          </p:nvPr>
        </p:nvSpPr>
        <p:spPr/>
        <p:txBody>
          <a:bodyPr/>
          <a:lstStyle/>
          <a:p>
            <a:fld id="{27B1110F-3535-4E0D-A51F-F0C94F43B30D}" type="slidenum">
              <a:rPr lang="en-IN" smtClean="0"/>
              <a:t>‹#›</a:t>
            </a:fld>
            <a:endParaRPr lang="en-IN"/>
          </a:p>
        </p:txBody>
      </p:sp>
    </p:spTree>
    <p:extLst>
      <p:ext uri="{BB962C8B-B14F-4D97-AF65-F5344CB8AC3E}">
        <p14:creationId xmlns:p14="http://schemas.microsoft.com/office/powerpoint/2010/main" val="2425760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8E4F8-0EC5-47EE-8195-F5536E9C3B6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08F159-E9BE-4296-9E4E-C08225A16C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14DE07-6E35-448D-AB89-4D673B035B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ECF4755-4E02-4455-8256-840627CE9D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0952F8-4B5A-467F-8D34-F14A62B055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844E114-A707-4B39-9DAB-27BFAEEFF3B6}"/>
              </a:ext>
            </a:extLst>
          </p:cNvPr>
          <p:cNvSpPr>
            <a:spLocks noGrp="1"/>
          </p:cNvSpPr>
          <p:nvPr>
            <p:ph type="dt" sz="half" idx="10"/>
          </p:nvPr>
        </p:nvSpPr>
        <p:spPr/>
        <p:txBody>
          <a:bodyPr/>
          <a:lstStyle/>
          <a:p>
            <a:fld id="{8C39D3B2-6BB0-4DA0-AEF2-DCB11155CA96}" type="datetimeFigureOut">
              <a:rPr lang="en-IN" smtClean="0"/>
              <a:t>20-09-2024</a:t>
            </a:fld>
            <a:endParaRPr lang="en-IN"/>
          </a:p>
        </p:txBody>
      </p:sp>
      <p:sp>
        <p:nvSpPr>
          <p:cNvPr id="8" name="Footer Placeholder 7">
            <a:extLst>
              <a:ext uri="{FF2B5EF4-FFF2-40B4-BE49-F238E27FC236}">
                <a16:creationId xmlns:a16="http://schemas.microsoft.com/office/drawing/2014/main" id="{9369380F-2EE1-466E-86EC-B1EB4C64843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F002550-16B7-4729-BA06-18120365245B}"/>
              </a:ext>
            </a:extLst>
          </p:cNvPr>
          <p:cNvSpPr>
            <a:spLocks noGrp="1"/>
          </p:cNvSpPr>
          <p:nvPr>
            <p:ph type="sldNum" sz="quarter" idx="12"/>
          </p:nvPr>
        </p:nvSpPr>
        <p:spPr/>
        <p:txBody>
          <a:bodyPr/>
          <a:lstStyle/>
          <a:p>
            <a:fld id="{27B1110F-3535-4E0D-A51F-F0C94F43B30D}" type="slidenum">
              <a:rPr lang="en-IN" smtClean="0"/>
              <a:t>‹#›</a:t>
            </a:fld>
            <a:endParaRPr lang="en-IN"/>
          </a:p>
        </p:txBody>
      </p:sp>
    </p:spTree>
    <p:extLst>
      <p:ext uri="{BB962C8B-B14F-4D97-AF65-F5344CB8AC3E}">
        <p14:creationId xmlns:p14="http://schemas.microsoft.com/office/powerpoint/2010/main" val="2404737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440FA-808F-4780-9D95-E73756B4BC9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B145911-0A3C-4363-A8B6-686920BCA32B}"/>
              </a:ext>
            </a:extLst>
          </p:cNvPr>
          <p:cNvSpPr>
            <a:spLocks noGrp="1"/>
          </p:cNvSpPr>
          <p:nvPr>
            <p:ph type="dt" sz="half" idx="10"/>
          </p:nvPr>
        </p:nvSpPr>
        <p:spPr/>
        <p:txBody>
          <a:bodyPr/>
          <a:lstStyle/>
          <a:p>
            <a:fld id="{8C39D3B2-6BB0-4DA0-AEF2-DCB11155CA96}" type="datetimeFigureOut">
              <a:rPr lang="en-IN" smtClean="0"/>
              <a:t>20-09-2024</a:t>
            </a:fld>
            <a:endParaRPr lang="en-IN"/>
          </a:p>
        </p:txBody>
      </p:sp>
      <p:sp>
        <p:nvSpPr>
          <p:cNvPr id="4" name="Footer Placeholder 3">
            <a:extLst>
              <a:ext uri="{FF2B5EF4-FFF2-40B4-BE49-F238E27FC236}">
                <a16:creationId xmlns:a16="http://schemas.microsoft.com/office/drawing/2014/main" id="{5CF178BA-C237-466A-A4AF-14CC1433A2D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6B73800-CA40-4567-9F5F-F6F9F6633DB1}"/>
              </a:ext>
            </a:extLst>
          </p:cNvPr>
          <p:cNvSpPr>
            <a:spLocks noGrp="1"/>
          </p:cNvSpPr>
          <p:nvPr>
            <p:ph type="sldNum" sz="quarter" idx="12"/>
          </p:nvPr>
        </p:nvSpPr>
        <p:spPr/>
        <p:txBody>
          <a:bodyPr/>
          <a:lstStyle/>
          <a:p>
            <a:fld id="{27B1110F-3535-4E0D-A51F-F0C94F43B30D}" type="slidenum">
              <a:rPr lang="en-IN" smtClean="0"/>
              <a:t>‹#›</a:t>
            </a:fld>
            <a:endParaRPr lang="en-IN"/>
          </a:p>
        </p:txBody>
      </p:sp>
    </p:spTree>
    <p:extLst>
      <p:ext uri="{BB962C8B-B14F-4D97-AF65-F5344CB8AC3E}">
        <p14:creationId xmlns:p14="http://schemas.microsoft.com/office/powerpoint/2010/main" val="847142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BD7BCE-A96B-4944-A344-0DE6EF86A639}"/>
              </a:ext>
            </a:extLst>
          </p:cNvPr>
          <p:cNvSpPr>
            <a:spLocks noGrp="1"/>
          </p:cNvSpPr>
          <p:nvPr>
            <p:ph type="dt" sz="half" idx="10"/>
          </p:nvPr>
        </p:nvSpPr>
        <p:spPr/>
        <p:txBody>
          <a:bodyPr/>
          <a:lstStyle/>
          <a:p>
            <a:fld id="{8C39D3B2-6BB0-4DA0-AEF2-DCB11155CA96}" type="datetimeFigureOut">
              <a:rPr lang="en-IN" smtClean="0"/>
              <a:t>20-09-2024</a:t>
            </a:fld>
            <a:endParaRPr lang="en-IN"/>
          </a:p>
        </p:txBody>
      </p:sp>
      <p:sp>
        <p:nvSpPr>
          <p:cNvPr id="3" name="Footer Placeholder 2">
            <a:extLst>
              <a:ext uri="{FF2B5EF4-FFF2-40B4-BE49-F238E27FC236}">
                <a16:creationId xmlns:a16="http://schemas.microsoft.com/office/drawing/2014/main" id="{713C767C-2CCC-4101-B7C4-EA1F3993F04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9349665-D73D-458C-BE4C-8F08356F4B7A}"/>
              </a:ext>
            </a:extLst>
          </p:cNvPr>
          <p:cNvSpPr>
            <a:spLocks noGrp="1"/>
          </p:cNvSpPr>
          <p:nvPr>
            <p:ph type="sldNum" sz="quarter" idx="12"/>
          </p:nvPr>
        </p:nvSpPr>
        <p:spPr/>
        <p:txBody>
          <a:bodyPr/>
          <a:lstStyle/>
          <a:p>
            <a:fld id="{27B1110F-3535-4E0D-A51F-F0C94F43B30D}" type="slidenum">
              <a:rPr lang="en-IN" smtClean="0"/>
              <a:t>‹#›</a:t>
            </a:fld>
            <a:endParaRPr lang="en-IN"/>
          </a:p>
        </p:txBody>
      </p:sp>
    </p:spTree>
    <p:extLst>
      <p:ext uri="{BB962C8B-B14F-4D97-AF65-F5344CB8AC3E}">
        <p14:creationId xmlns:p14="http://schemas.microsoft.com/office/powerpoint/2010/main" val="2412852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646CA-2682-4077-AD71-D93DAAE8D9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D58F3B6-524C-4125-A2FA-0309C398B3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441BB18-FDBA-48CC-9DBB-8CBC0A5709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5015D5-F679-43C5-A7A1-BEF496982738}"/>
              </a:ext>
            </a:extLst>
          </p:cNvPr>
          <p:cNvSpPr>
            <a:spLocks noGrp="1"/>
          </p:cNvSpPr>
          <p:nvPr>
            <p:ph type="dt" sz="half" idx="10"/>
          </p:nvPr>
        </p:nvSpPr>
        <p:spPr/>
        <p:txBody>
          <a:bodyPr/>
          <a:lstStyle/>
          <a:p>
            <a:fld id="{8C39D3B2-6BB0-4DA0-AEF2-DCB11155CA96}" type="datetimeFigureOut">
              <a:rPr lang="en-IN" smtClean="0"/>
              <a:t>20-09-2024</a:t>
            </a:fld>
            <a:endParaRPr lang="en-IN"/>
          </a:p>
        </p:txBody>
      </p:sp>
      <p:sp>
        <p:nvSpPr>
          <p:cNvPr id="6" name="Footer Placeholder 5">
            <a:extLst>
              <a:ext uri="{FF2B5EF4-FFF2-40B4-BE49-F238E27FC236}">
                <a16:creationId xmlns:a16="http://schemas.microsoft.com/office/drawing/2014/main" id="{3D725293-1763-4A1A-9CD2-53D1D588BF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372657-F271-4E79-995B-2D1C4C00FF5F}"/>
              </a:ext>
            </a:extLst>
          </p:cNvPr>
          <p:cNvSpPr>
            <a:spLocks noGrp="1"/>
          </p:cNvSpPr>
          <p:nvPr>
            <p:ph type="sldNum" sz="quarter" idx="12"/>
          </p:nvPr>
        </p:nvSpPr>
        <p:spPr/>
        <p:txBody>
          <a:bodyPr/>
          <a:lstStyle/>
          <a:p>
            <a:fld id="{27B1110F-3535-4E0D-A51F-F0C94F43B30D}" type="slidenum">
              <a:rPr lang="en-IN" smtClean="0"/>
              <a:t>‹#›</a:t>
            </a:fld>
            <a:endParaRPr lang="en-IN"/>
          </a:p>
        </p:txBody>
      </p:sp>
    </p:spTree>
    <p:extLst>
      <p:ext uri="{BB962C8B-B14F-4D97-AF65-F5344CB8AC3E}">
        <p14:creationId xmlns:p14="http://schemas.microsoft.com/office/powerpoint/2010/main" val="3334332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919B0-396B-4D94-BDE7-6F7DABCAFD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30FD889-A886-4221-9449-FDC62444BB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6362717-AC4E-4FEE-BD8B-F86D6C1038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4D12D6-964E-4BB1-AEE3-1C09AB617141}"/>
              </a:ext>
            </a:extLst>
          </p:cNvPr>
          <p:cNvSpPr>
            <a:spLocks noGrp="1"/>
          </p:cNvSpPr>
          <p:nvPr>
            <p:ph type="dt" sz="half" idx="10"/>
          </p:nvPr>
        </p:nvSpPr>
        <p:spPr/>
        <p:txBody>
          <a:bodyPr/>
          <a:lstStyle/>
          <a:p>
            <a:fld id="{8C39D3B2-6BB0-4DA0-AEF2-DCB11155CA96}" type="datetimeFigureOut">
              <a:rPr lang="en-IN" smtClean="0"/>
              <a:t>20-09-2024</a:t>
            </a:fld>
            <a:endParaRPr lang="en-IN"/>
          </a:p>
        </p:txBody>
      </p:sp>
      <p:sp>
        <p:nvSpPr>
          <p:cNvPr id="6" name="Footer Placeholder 5">
            <a:extLst>
              <a:ext uri="{FF2B5EF4-FFF2-40B4-BE49-F238E27FC236}">
                <a16:creationId xmlns:a16="http://schemas.microsoft.com/office/drawing/2014/main" id="{7B8171B7-0773-4023-A953-3B8C32E07B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A6745F-9AD4-401B-848E-E2F8AA7C3787}"/>
              </a:ext>
            </a:extLst>
          </p:cNvPr>
          <p:cNvSpPr>
            <a:spLocks noGrp="1"/>
          </p:cNvSpPr>
          <p:nvPr>
            <p:ph type="sldNum" sz="quarter" idx="12"/>
          </p:nvPr>
        </p:nvSpPr>
        <p:spPr/>
        <p:txBody>
          <a:bodyPr/>
          <a:lstStyle/>
          <a:p>
            <a:fld id="{27B1110F-3535-4E0D-A51F-F0C94F43B30D}" type="slidenum">
              <a:rPr lang="en-IN" smtClean="0"/>
              <a:t>‹#›</a:t>
            </a:fld>
            <a:endParaRPr lang="en-IN"/>
          </a:p>
        </p:txBody>
      </p:sp>
    </p:spTree>
    <p:extLst>
      <p:ext uri="{BB962C8B-B14F-4D97-AF65-F5344CB8AC3E}">
        <p14:creationId xmlns:p14="http://schemas.microsoft.com/office/powerpoint/2010/main" val="1646732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90CE9-4A21-48E1-AC7D-F9550AF9478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EB3BA55-E470-4403-9103-49BAEB4506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6C04BF-1E6A-4FDA-9D79-DA611E40CA7D}"/>
              </a:ext>
            </a:extLst>
          </p:cNvPr>
          <p:cNvSpPr>
            <a:spLocks noGrp="1"/>
          </p:cNvSpPr>
          <p:nvPr>
            <p:ph type="dt" sz="half" idx="10"/>
          </p:nvPr>
        </p:nvSpPr>
        <p:spPr/>
        <p:txBody>
          <a:bodyPr/>
          <a:lstStyle/>
          <a:p>
            <a:fld id="{8C39D3B2-6BB0-4DA0-AEF2-DCB11155CA96}" type="datetimeFigureOut">
              <a:rPr lang="en-IN" smtClean="0"/>
              <a:t>20-09-2024</a:t>
            </a:fld>
            <a:endParaRPr lang="en-IN"/>
          </a:p>
        </p:txBody>
      </p:sp>
      <p:sp>
        <p:nvSpPr>
          <p:cNvPr id="5" name="Footer Placeholder 4">
            <a:extLst>
              <a:ext uri="{FF2B5EF4-FFF2-40B4-BE49-F238E27FC236}">
                <a16:creationId xmlns:a16="http://schemas.microsoft.com/office/drawing/2014/main" id="{C4DAABF2-B52B-46F1-871D-EDC6B3B817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B19953-AE02-4FB3-A33F-F9229A394489}"/>
              </a:ext>
            </a:extLst>
          </p:cNvPr>
          <p:cNvSpPr>
            <a:spLocks noGrp="1"/>
          </p:cNvSpPr>
          <p:nvPr>
            <p:ph type="sldNum" sz="quarter" idx="12"/>
          </p:nvPr>
        </p:nvSpPr>
        <p:spPr/>
        <p:txBody>
          <a:bodyPr/>
          <a:lstStyle/>
          <a:p>
            <a:fld id="{27B1110F-3535-4E0D-A51F-F0C94F43B30D}" type="slidenum">
              <a:rPr lang="en-IN" smtClean="0"/>
              <a:t>‹#›</a:t>
            </a:fld>
            <a:endParaRPr lang="en-IN"/>
          </a:p>
        </p:txBody>
      </p:sp>
    </p:spTree>
    <p:extLst>
      <p:ext uri="{BB962C8B-B14F-4D97-AF65-F5344CB8AC3E}">
        <p14:creationId xmlns:p14="http://schemas.microsoft.com/office/powerpoint/2010/main" val="2106340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BD1C12-A14B-4305-BA41-B0889B357E0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A92FFEE-5BF3-496A-AB1F-45AC4E6908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7FC19E-C036-4399-ACC1-D57DD78A24C9}"/>
              </a:ext>
            </a:extLst>
          </p:cNvPr>
          <p:cNvSpPr>
            <a:spLocks noGrp="1"/>
          </p:cNvSpPr>
          <p:nvPr>
            <p:ph type="dt" sz="half" idx="10"/>
          </p:nvPr>
        </p:nvSpPr>
        <p:spPr/>
        <p:txBody>
          <a:bodyPr/>
          <a:lstStyle/>
          <a:p>
            <a:fld id="{8C39D3B2-6BB0-4DA0-AEF2-DCB11155CA96}" type="datetimeFigureOut">
              <a:rPr lang="en-IN" smtClean="0"/>
              <a:t>20-09-2024</a:t>
            </a:fld>
            <a:endParaRPr lang="en-IN"/>
          </a:p>
        </p:txBody>
      </p:sp>
      <p:sp>
        <p:nvSpPr>
          <p:cNvPr id="5" name="Footer Placeholder 4">
            <a:extLst>
              <a:ext uri="{FF2B5EF4-FFF2-40B4-BE49-F238E27FC236}">
                <a16:creationId xmlns:a16="http://schemas.microsoft.com/office/drawing/2014/main" id="{D4EA2485-0950-4C12-B72E-BB5370735A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C4D7F5-FDC0-41C8-AAFF-80207E2E4F30}"/>
              </a:ext>
            </a:extLst>
          </p:cNvPr>
          <p:cNvSpPr>
            <a:spLocks noGrp="1"/>
          </p:cNvSpPr>
          <p:nvPr>
            <p:ph type="sldNum" sz="quarter" idx="12"/>
          </p:nvPr>
        </p:nvSpPr>
        <p:spPr/>
        <p:txBody>
          <a:bodyPr/>
          <a:lstStyle/>
          <a:p>
            <a:fld id="{27B1110F-3535-4E0D-A51F-F0C94F43B30D}" type="slidenum">
              <a:rPr lang="en-IN" smtClean="0"/>
              <a:t>‹#›</a:t>
            </a:fld>
            <a:endParaRPr lang="en-IN"/>
          </a:p>
        </p:txBody>
      </p:sp>
    </p:spTree>
    <p:extLst>
      <p:ext uri="{BB962C8B-B14F-4D97-AF65-F5344CB8AC3E}">
        <p14:creationId xmlns:p14="http://schemas.microsoft.com/office/powerpoint/2010/main" val="3558333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AEE6C6-2F50-468C-BB78-A3B42CC5F0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436238-68FC-4DF1-B2A2-96DEA9F417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23076C-7738-472C-8A69-F9EECEA269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39D3B2-6BB0-4DA0-AEF2-DCB11155CA96}" type="datetimeFigureOut">
              <a:rPr lang="en-IN" smtClean="0"/>
              <a:t>20-09-2024</a:t>
            </a:fld>
            <a:endParaRPr lang="en-IN"/>
          </a:p>
        </p:txBody>
      </p:sp>
      <p:sp>
        <p:nvSpPr>
          <p:cNvPr id="5" name="Footer Placeholder 4">
            <a:extLst>
              <a:ext uri="{FF2B5EF4-FFF2-40B4-BE49-F238E27FC236}">
                <a16:creationId xmlns:a16="http://schemas.microsoft.com/office/drawing/2014/main" id="{A4FB3CF6-C7EC-46F6-A240-3386A6BB6D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0675287-02F8-454F-9E9C-3FAC323695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B1110F-3535-4E0D-A51F-F0C94F43B30D}" type="slidenum">
              <a:rPr lang="en-IN" smtClean="0"/>
              <a:t>‹#›</a:t>
            </a:fld>
            <a:endParaRPr lang="en-IN"/>
          </a:p>
        </p:txBody>
      </p:sp>
    </p:spTree>
    <p:extLst>
      <p:ext uri="{BB962C8B-B14F-4D97-AF65-F5344CB8AC3E}">
        <p14:creationId xmlns:p14="http://schemas.microsoft.com/office/powerpoint/2010/main" val="1594407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learn.microsoft.com/en-us/aspnet/core/mvc/views/working-with-forms?view=aspnetcore-8.0#the-textarea-tag-helpe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8D6F0-3A76-4B36-9941-3C16F61ED91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2866BBF-48FB-4EED-8277-A6326C431F6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475422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62FE6A-9E2B-4B13-B456-8C9901385B80}"/>
              </a:ext>
            </a:extLst>
          </p:cNvPr>
          <p:cNvSpPr txBox="1"/>
          <p:nvPr/>
        </p:nvSpPr>
        <p:spPr>
          <a:xfrm>
            <a:off x="3500284" y="70973"/>
            <a:ext cx="6096000" cy="369332"/>
          </a:xfrm>
          <a:prstGeom prst="rect">
            <a:avLst/>
          </a:prstGeom>
          <a:noFill/>
        </p:spPr>
        <p:txBody>
          <a:bodyPr wrap="square">
            <a:spAutoFit/>
          </a:bodyPr>
          <a:lstStyle/>
          <a:p>
            <a:pPr algn="l"/>
            <a:r>
              <a:rPr lang="en-IN" b="1" dirty="0">
                <a:solidFill>
                  <a:srgbClr val="333333"/>
                </a:solidFill>
                <a:effectLst/>
                <a:latin typeface="Arial" panose="020B0604020202020204" pitchFamily="34" charset="0"/>
              </a:rPr>
              <a:t>Tag helpers in asp.net core</a:t>
            </a:r>
          </a:p>
        </p:txBody>
      </p:sp>
      <p:sp>
        <p:nvSpPr>
          <p:cNvPr id="7" name="TextBox 6">
            <a:extLst>
              <a:ext uri="{FF2B5EF4-FFF2-40B4-BE49-F238E27FC236}">
                <a16:creationId xmlns:a16="http://schemas.microsoft.com/office/drawing/2014/main" id="{4348F9B1-EA43-4859-9310-10BF21E5804A}"/>
              </a:ext>
            </a:extLst>
          </p:cNvPr>
          <p:cNvSpPr txBox="1"/>
          <p:nvPr/>
        </p:nvSpPr>
        <p:spPr>
          <a:xfrm>
            <a:off x="0" y="368142"/>
            <a:ext cx="12093677" cy="1754326"/>
          </a:xfrm>
          <a:prstGeom prst="rect">
            <a:avLst/>
          </a:prstGeom>
          <a:noFill/>
        </p:spPr>
        <p:txBody>
          <a:bodyPr wrap="square">
            <a:spAutoFit/>
          </a:bodyPr>
          <a:lstStyle/>
          <a:p>
            <a:r>
              <a:rPr lang="en-US" b="1" i="0" dirty="0">
                <a:solidFill>
                  <a:srgbClr val="333333"/>
                </a:solidFill>
                <a:effectLst/>
                <a:latin typeface="arial" panose="020B0604020202020204" pitchFamily="34" charset="0"/>
              </a:rPr>
              <a:t>What are Tag Helpers</a:t>
            </a:r>
            <a:br>
              <a:rPr lang="en-US" dirty="0"/>
            </a:br>
            <a:br>
              <a:rPr lang="en-US" dirty="0"/>
            </a:br>
            <a:r>
              <a:rPr lang="en-US" b="0" i="0" dirty="0">
                <a:solidFill>
                  <a:srgbClr val="333333"/>
                </a:solidFill>
                <a:effectLst/>
                <a:latin typeface="arial" panose="020B0604020202020204" pitchFamily="34" charset="0"/>
              </a:rPr>
              <a:t>Tag Helpers are server side components. They are processed on the server to create and render HTML elements in Razor files. If you have any experience with previous version of ASP.NET MVC, then you may be familiar with HTML helpers. Tag Helpers are similar to HTML helpers. There are many built-in Tag Helpers for common tasks such as generating links, creating forms, loading assets etc.</a:t>
            </a:r>
            <a:endParaRPr lang="en-IN" dirty="0"/>
          </a:p>
        </p:txBody>
      </p:sp>
      <p:sp>
        <p:nvSpPr>
          <p:cNvPr id="9" name="TextBox 8">
            <a:extLst>
              <a:ext uri="{FF2B5EF4-FFF2-40B4-BE49-F238E27FC236}">
                <a16:creationId xmlns:a16="http://schemas.microsoft.com/office/drawing/2014/main" id="{A43633BE-40D3-434A-8F1A-91C9A3594FCE}"/>
              </a:ext>
            </a:extLst>
          </p:cNvPr>
          <p:cNvSpPr txBox="1"/>
          <p:nvPr/>
        </p:nvSpPr>
        <p:spPr>
          <a:xfrm>
            <a:off x="0" y="2227285"/>
            <a:ext cx="11707762" cy="4801314"/>
          </a:xfrm>
          <a:prstGeom prst="rect">
            <a:avLst/>
          </a:prstGeom>
          <a:noFill/>
        </p:spPr>
        <p:txBody>
          <a:bodyPr wrap="square">
            <a:spAutoFit/>
          </a:bodyPr>
          <a:lstStyle/>
          <a:p>
            <a:pPr algn="l"/>
            <a:r>
              <a:rPr lang="en-US" b="1" i="0" dirty="0">
                <a:solidFill>
                  <a:srgbClr val="333333"/>
                </a:solidFill>
                <a:effectLst/>
                <a:latin typeface="arial" panose="020B0604020202020204" pitchFamily="34" charset="0"/>
              </a:rPr>
              <a:t>Importing built-in Tag Helpers</a:t>
            </a:r>
            <a:br>
              <a:rPr lang="en-US" dirty="0"/>
            </a:br>
            <a:br>
              <a:rPr lang="en-US" dirty="0"/>
            </a:br>
            <a:r>
              <a:rPr lang="en-US" b="0" i="0" dirty="0">
                <a:solidFill>
                  <a:srgbClr val="333333"/>
                </a:solidFill>
                <a:effectLst/>
                <a:latin typeface="arial" panose="020B0604020202020204" pitchFamily="34" charset="0"/>
              </a:rPr>
              <a:t>To make the built-in tag helpers available for all the views in our entire application, import the tag helpers using </a:t>
            </a:r>
            <a:r>
              <a:rPr lang="en-US" b="0" i="0" dirty="0">
                <a:solidFill>
                  <a:srgbClr val="CC0000"/>
                </a:solidFill>
                <a:effectLst/>
                <a:latin typeface="arial" panose="020B0604020202020204" pitchFamily="34" charset="0"/>
              </a:rPr>
              <a:t>_</a:t>
            </a:r>
            <a:r>
              <a:rPr lang="en-US" b="0" i="0" dirty="0" err="1">
                <a:solidFill>
                  <a:srgbClr val="CC0000"/>
                </a:solidFill>
                <a:effectLst/>
                <a:latin typeface="arial" panose="020B0604020202020204" pitchFamily="34" charset="0"/>
              </a:rPr>
              <a:t>ViewImports.cshtml</a:t>
            </a:r>
            <a:r>
              <a:rPr lang="en-US" b="0" i="0" dirty="0">
                <a:solidFill>
                  <a:srgbClr val="CC0000"/>
                </a:solidFill>
                <a:effectLst/>
                <a:latin typeface="arial" panose="020B0604020202020204" pitchFamily="34" charset="0"/>
              </a:rPr>
              <a:t> </a:t>
            </a:r>
            <a:r>
              <a:rPr lang="en-US" b="0" i="0" dirty="0">
                <a:solidFill>
                  <a:srgbClr val="333333"/>
                </a:solidFill>
                <a:effectLst/>
                <a:latin typeface="arial" panose="020B0604020202020204" pitchFamily="34" charset="0"/>
              </a:rPr>
              <a:t>file. To import tag helpers we use @addTagHelper directive.</a:t>
            </a:r>
            <a:br>
              <a:rPr lang="en-US" dirty="0"/>
            </a:br>
            <a:br>
              <a:rPr lang="en-US" dirty="0"/>
            </a:br>
            <a:r>
              <a:rPr lang="en-US" b="0" i="0" dirty="0">
                <a:solidFill>
                  <a:srgbClr val="333333"/>
                </a:solidFill>
                <a:effectLst/>
                <a:latin typeface="arial" panose="020B0604020202020204" pitchFamily="34" charset="0"/>
              </a:rPr>
              <a:t>@addTagHelper </a:t>
            </a:r>
            <a:r>
              <a:rPr lang="en-US" b="0" i="0" dirty="0">
                <a:solidFill>
                  <a:srgbClr val="990000"/>
                </a:solidFill>
                <a:effectLst/>
                <a:latin typeface="arial" panose="020B0604020202020204" pitchFamily="34" charset="0"/>
              </a:rPr>
              <a:t>*, </a:t>
            </a:r>
            <a:r>
              <a:rPr lang="en-US" b="0" i="0" dirty="0" err="1">
                <a:solidFill>
                  <a:srgbClr val="990000"/>
                </a:solidFill>
                <a:effectLst/>
                <a:latin typeface="arial" panose="020B0604020202020204" pitchFamily="34" charset="0"/>
              </a:rPr>
              <a:t>Microsoft.AspNetCore.Mvc.TagHelpers</a:t>
            </a:r>
            <a:endParaRPr lang="en-US" b="0" i="0" dirty="0">
              <a:solidFill>
                <a:srgbClr val="333333"/>
              </a:solidFill>
              <a:effectLst/>
              <a:latin typeface="Arial" panose="020B0604020202020204" pitchFamily="34" charset="0"/>
            </a:endParaRPr>
          </a:p>
          <a:p>
            <a:br>
              <a:rPr lang="en-US" dirty="0"/>
            </a:br>
            <a:r>
              <a:rPr lang="en-US" b="0" i="0" dirty="0">
                <a:solidFill>
                  <a:srgbClr val="333333"/>
                </a:solidFill>
                <a:effectLst/>
                <a:latin typeface="arial" panose="020B0604020202020204" pitchFamily="34" charset="0"/>
              </a:rPr>
              <a:t>The wildcard </a:t>
            </a:r>
            <a:r>
              <a:rPr lang="en-US" b="1" i="0" dirty="0">
                <a:solidFill>
                  <a:srgbClr val="333333"/>
                </a:solidFill>
                <a:effectLst/>
                <a:latin typeface="arial" panose="020B0604020202020204" pitchFamily="34" charset="0"/>
              </a:rPr>
              <a:t>*</a:t>
            </a:r>
            <a:r>
              <a:rPr lang="en-US" b="0" i="0" dirty="0">
                <a:solidFill>
                  <a:srgbClr val="333333"/>
                </a:solidFill>
                <a:effectLst/>
                <a:latin typeface="arial" panose="020B0604020202020204" pitchFamily="34" charset="0"/>
              </a:rPr>
              <a:t> indicates that we want to import all the tag helpers</a:t>
            </a:r>
            <a:br>
              <a:rPr lang="en-US" dirty="0"/>
            </a:br>
            <a:r>
              <a:rPr lang="en-US" b="0" i="0" dirty="0" err="1">
                <a:solidFill>
                  <a:srgbClr val="333333"/>
                </a:solidFill>
                <a:effectLst/>
                <a:latin typeface="arial" panose="020B0604020202020204" pitchFamily="34" charset="0"/>
              </a:rPr>
              <a:t>Microsoft.AspNetCore.Mvc.TagHelpers</a:t>
            </a:r>
            <a:r>
              <a:rPr lang="en-US" b="0" i="0" dirty="0">
                <a:solidFill>
                  <a:srgbClr val="333333"/>
                </a:solidFill>
                <a:effectLst/>
                <a:latin typeface="arial" panose="020B0604020202020204" pitchFamily="34" charset="0"/>
              </a:rPr>
              <a:t> is the </a:t>
            </a:r>
            <a:r>
              <a:rPr lang="en-US" b="0" i="0" dirty="0" err="1">
                <a:solidFill>
                  <a:srgbClr val="333333"/>
                </a:solidFill>
                <a:effectLst/>
                <a:latin typeface="arial" panose="020B0604020202020204" pitchFamily="34" charset="0"/>
              </a:rPr>
              <a:t>assemly</a:t>
            </a:r>
            <a:r>
              <a:rPr lang="en-US" b="0" i="0" dirty="0">
                <a:solidFill>
                  <a:srgbClr val="333333"/>
                </a:solidFill>
                <a:effectLst/>
                <a:latin typeface="arial" panose="020B0604020202020204" pitchFamily="34" charset="0"/>
              </a:rPr>
              <a:t> that contains the built-in tag helpers</a:t>
            </a:r>
            <a:br>
              <a:rPr lang="en-US" dirty="0"/>
            </a:br>
            <a:br>
              <a:rPr lang="en-US" dirty="0"/>
            </a:br>
            <a:r>
              <a:rPr lang="en-US" b="1" i="0" dirty="0">
                <a:solidFill>
                  <a:srgbClr val="333333"/>
                </a:solidFill>
                <a:effectLst/>
                <a:latin typeface="arial" panose="020B0604020202020204" pitchFamily="34" charset="0"/>
              </a:rPr>
              <a:t>Generating Links using Tag Helpers</a:t>
            </a:r>
            <a:br>
              <a:rPr lang="en-US" dirty="0"/>
            </a:br>
            <a:br>
              <a:rPr lang="en-US" dirty="0"/>
            </a:br>
            <a:r>
              <a:rPr lang="en-US" b="0" i="0" dirty="0">
                <a:solidFill>
                  <a:srgbClr val="333333"/>
                </a:solidFill>
                <a:effectLst/>
                <a:latin typeface="arial" panose="020B0604020202020204" pitchFamily="34" charset="0"/>
              </a:rPr>
              <a:t>Let's say we want to view a specific employee details. So we want to generate the following hyperlink. The number 5 is the ID of the employee whose details we want to view.</a:t>
            </a:r>
            <a:br>
              <a:rPr lang="en-US" dirty="0"/>
            </a:br>
            <a:br>
              <a:rPr lang="en-US" dirty="0"/>
            </a:br>
            <a:r>
              <a:rPr lang="en-US" b="0" i="0" dirty="0">
                <a:solidFill>
                  <a:srgbClr val="0000FF"/>
                </a:solidFill>
                <a:effectLst/>
                <a:latin typeface="arial" panose="020B0604020202020204" pitchFamily="34" charset="0"/>
              </a:rPr>
              <a:t>/home/details/5</a:t>
            </a:r>
            <a:br>
              <a:rPr lang="en-US" dirty="0"/>
            </a:br>
            <a:endParaRPr lang="en-IN" dirty="0"/>
          </a:p>
        </p:txBody>
      </p:sp>
    </p:spTree>
    <p:extLst>
      <p:ext uri="{BB962C8B-B14F-4D97-AF65-F5344CB8AC3E}">
        <p14:creationId xmlns:p14="http://schemas.microsoft.com/office/powerpoint/2010/main" val="188300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F3ADD2-E1DB-49DB-9480-24037B51181F}"/>
              </a:ext>
            </a:extLst>
          </p:cNvPr>
          <p:cNvSpPr txBox="1"/>
          <p:nvPr/>
        </p:nvSpPr>
        <p:spPr>
          <a:xfrm>
            <a:off x="0" y="-89051"/>
            <a:ext cx="7875639" cy="646331"/>
          </a:xfrm>
          <a:prstGeom prst="rect">
            <a:avLst/>
          </a:prstGeom>
          <a:noFill/>
        </p:spPr>
        <p:txBody>
          <a:bodyPr wrap="square">
            <a:spAutoFit/>
          </a:bodyPr>
          <a:lstStyle/>
          <a:p>
            <a:r>
              <a:rPr lang="en-US" b="1" i="0" dirty="0">
                <a:solidFill>
                  <a:srgbClr val="333333"/>
                </a:solidFill>
                <a:effectLst/>
                <a:latin typeface="arial" panose="020B0604020202020204" pitchFamily="34" charset="0"/>
              </a:rPr>
              <a:t>There are several ways we could do this in a razor view</a:t>
            </a:r>
            <a:br>
              <a:rPr lang="en-US" b="1" dirty="0"/>
            </a:br>
            <a:endParaRPr lang="en-IN" b="1" dirty="0"/>
          </a:p>
        </p:txBody>
      </p:sp>
      <p:sp>
        <p:nvSpPr>
          <p:cNvPr id="6" name="Rectangle 1">
            <a:extLst>
              <a:ext uri="{FF2B5EF4-FFF2-40B4-BE49-F238E27FC236}">
                <a16:creationId xmlns:a16="http://schemas.microsoft.com/office/drawing/2014/main" id="{107CBAB4-5F62-42CE-B70C-11CA9B7FB085}"/>
              </a:ext>
            </a:extLst>
          </p:cNvPr>
          <p:cNvSpPr>
            <a:spLocks noChangeArrowheads="1"/>
          </p:cNvSpPr>
          <p:nvPr/>
        </p:nvSpPr>
        <p:spPr bwMode="auto">
          <a:xfrm>
            <a:off x="304800" y="802047"/>
            <a:ext cx="5978014" cy="580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Option 1 :</a:t>
            </a:r>
            <a:r>
              <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Manually generating the links</a:t>
            </a:r>
            <a:br>
              <a:rPr kumimoji="0" lang="en-US" altLang="en-US" sz="1000" b="0" i="0" u="none" strike="noStrike" cap="none" normalizeH="0" baseline="0" dirty="0">
                <a:ln>
                  <a:noFill/>
                </a:ln>
                <a:solidFill>
                  <a:schemeClr val="tx1"/>
                </a:solidFill>
                <a:effectLst/>
              </a:rPr>
            </a:b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foreach</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(var employee </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Model)</a:t>
            </a:r>
            <a:endPar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1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a</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1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href</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="/home/details/</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@employee.Id</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View</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1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a</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11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Option 2 :</a:t>
            </a:r>
            <a:r>
              <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Using HTML helpers</a:t>
            </a:r>
            <a:br>
              <a:rPr kumimoji="0" lang="en-US" altLang="en-US" sz="1000" b="0" i="0" u="none" strike="noStrike" cap="none" normalizeH="0" baseline="0" dirty="0">
                <a:ln>
                  <a:noFill/>
                </a:ln>
                <a:solidFill>
                  <a:schemeClr val="tx1"/>
                </a:solidFill>
                <a:effectLst/>
              </a:rPr>
            </a:b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@Html.ActionLink(</a:t>
            </a:r>
            <a:r>
              <a:rPr kumimoji="0" lang="en-US" altLang="en-US" sz="1100" b="0" i="0" u="none" strike="noStrike" cap="none" normalizeH="0" baseline="0" dirty="0">
                <a:ln>
                  <a:noFill/>
                </a:ln>
                <a:solidFill>
                  <a:srgbClr val="990000"/>
                </a:solidFill>
                <a:effectLst/>
                <a:latin typeface="Arial" panose="020B0604020202020204" pitchFamily="34" charset="0"/>
                <a:cs typeface="Arial" panose="020B0604020202020204" pitchFamily="34" charset="0"/>
              </a:rPr>
              <a:t>"View"</a:t>
            </a:r>
            <a:r>
              <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r>
              <a:rPr kumimoji="0" lang="en-US" altLang="en-US" sz="1100" b="0" i="0" u="none" strike="noStrike" cap="none" normalizeH="0" baseline="0" dirty="0">
                <a:ln>
                  <a:noFill/>
                </a:ln>
                <a:solidFill>
                  <a:srgbClr val="990000"/>
                </a:solidFill>
                <a:effectLst/>
                <a:latin typeface="Arial" panose="020B0604020202020204" pitchFamily="34" charset="0"/>
                <a:cs typeface="Arial" panose="020B0604020202020204" pitchFamily="34" charset="0"/>
              </a:rPr>
              <a:t>"details"</a:t>
            </a:r>
            <a:r>
              <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new </a:t>
            </a:r>
            <a:r>
              <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id = </a:t>
            </a:r>
            <a:r>
              <a:rPr kumimoji="0" lang="en-US" altLang="en-US" sz="1100" b="0" i="0" u="none" strike="noStrike" cap="none" normalizeH="0" baseline="0" dirty="0" err="1">
                <a:ln>
                  <a:noFill/>
                </a:ln>
                <a:solidFill>
                  <a:srgbClr val="333333"/>
                </a:solidFill>
                <a:effectLst/>
                <a:latin typeface="Arial" panose="020B0604020202020204" pitchFamily="34" charset="0"/>
                <a:cs typeface="Arial" panose="020B0604020202020204" pitchFamily="34" charset="0"/>
              </a:rPr>
              <a:t>employee.Id</a:t>
            </a:r>
            <a:r>
              <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generates an anchor element</a:t>
            </a:r>
            <a:br>
              <a:rPr kumimoji="0" lang="en-US" altLang="en-US" sz="1000" b="0" i="0" u="none" strike="noStrike" cap="none" normalizeH="0" baseline="0" dirty="0">
                <a:ln>
                  <a:noFill/>
                </a:ln>
                <a:solidFill>
                  <a:schemeClr val="tx1"/>
                </a:solidFill>
                <a:effectLst/>
              </a:rPr>
            </a:b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1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a</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1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href</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100" b="0" i="0" u="none" strike="noStrike" cap="none" normalizeH="0" baseline="0" dirty="0" err="1">
                <a:ln>
                  <a:noFill/>
                </a:ln>
                <a:solidFill>
                  <a:srgbClr val="0000FF"/>
                </a:solidFill>
                <a:effectLst/>
                <a:latin typeface="Arial" panose="020B0604020202020204" pitchFamily="34" charset="0"/>
                <a:cs typeface="Arial" panose="020B0604020202020204" pitchFamily="34" charset="0"/>
              </a:rPr>
              <a:t>hom</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/details/5"&gt;</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View</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1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a</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@Url.Action(</a:t>
            </a:r>
            <a:r>
              <a:rPr kumimoji="0" lang="en-US" altLang="en-US" sz="11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"details"</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1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"home"</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new</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id = </a:t>
            </a:r>
            <a:r>
              <a:rPr kumimoji="0" lang="en-US" altLang="en-US" sz="11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employee.Id</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generates a string</a:t>
            </a:r>
            <a:br>
              <a:rPr kumimoji="0" lang="en-US" altLang="en-US" sz="1000" b="0" i="0" u="none" strike="noStrike" cap="none" normalizeH="0" baseline="0" dirty="0">
                <a:ln>
                  <a:noFill/>
                </a:ln>
                <a:solidFill>
                  <a:schemeClr val="tx1"/>
                </a:solidFill>
                <a:effectLst/>
              </a:rPr>
            </a:b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100" b="0" i="0" u="none" strike="noStrike" cap="none" normalizeH="0" baseline="0" dirty="0" err="1">
                <a:ln>
                  <a:noFill/>
                </a:ln>
                <a:solidFill>
                  <a:srgbClr val="0000FF"/>
                </a:solidFill>
                <a:effectLst/>
                <a:latin typeface="Arial" panose="020B0604020202020204" pitchFamily="34" charset="0"/>
                <a:cs typeface="Arial" panose="020B0604020202020204" pitchFamily="34" charset="0"/>
              </a:rPr>
              <a:t>hom</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/details/5</a:t>
            </a:r>
            <a:br>
              <a:rPr kumimoji="0" lang="en-US" altLang="en-US" sz="1000" b="0" i="0" u="none" strike="noStrike" cap="none" normalizeH="0" baseline="0" dirty="0">
                <a:ln>
                  <a:noFill/>
                </a:ln>
                <a:solidFill>
                  <a:schemeClr val="tx1"/>
                </a:solidFill>
                <a:effectLst/>
              </a:rPr>
            </a:b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Option 3 : </a:t>
            </a:r>
            <a:r>
              <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Using Tag Helpers</a:t>
            </a:r>
            <a:br>
              <a:rPr kumimoji="0" lang="en-US" altLang="en-US" sz="1000" b="0" i="0" u="none" strike="noStrike" cap="none" normalizeH="0" baseline="0" dirty="0">
                <a:ln>
                  <a:noFill/>
                </a:ln>
                <a:solidFill>
                  <a:schemeClr val="tx1"/>
                </a:solidFill>
                <a:effectLst/>
              </a:rPr>
            </a:b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1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1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asp-controller</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="home"</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1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asp-action</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="details"</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1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asp-route-id</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1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employee.Id</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View</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1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generates</a:t>
            </a:r>
            <a:br>
              <a:rPr kumimoji="0" lang="en-US" altLang="en-US" sz="1000" b="0" i="0" u="none" strike="noStrike" cap="none" normalizeH="0" baseline="0" dirty="0">
                <a:ln>
                  <a:noFill/>
                </a:ln>
                <a:solidFill>
                  <a:schemeClr val="tx1"/>
                </a:solidFill>
                <a:effectLst/>
              </a:rPr>
            </a:b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1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a</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1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href</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="/Home/details/5"&gt;</a:t>
            </a: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View</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1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a</a:t>
            </a:r>
            <a:r>
              <a:rPr kumimoji="0" lang="en-US" altLang="en-US" sz="11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000" b="0" i="0" u="none" strike="noStrike" cap="none" normalizeH="0" baseline="0" dirty="0">
              <a:ln>
                <a:noFill/>
              </a:ln>
              <a:solidFill>
                <a:schemeClr val="tx1"/>
              </a:solidFill>
              <a:effectLst/>
            </a:endParaRPr>
          </a:p>
        </p:txBody>
      </p:sp>
      <p:sp>
        <p:nvSpPr>
          <p:cNvPr id="7" name="Rectangle 2">
            <a:extLst>
              <a:ext uri="{FF2B5EF4-FFF2-40B4-BE49-F238E27FC236}">
                <a16:creationId xmlns:a16="http://schemas.microsoft.com/office/drawing/2014/main" id="{8AB13D96-C5B6-4F9B-A211-31C7D58E70B0}"/>
              </a:ext>
            </a:extLst>
          </p:cNvPr>
          <p:cNvSpPr>
            <a:spLocks noChangeArrowheads="1"/>
          </p:cNvSpPr>
          <p:nvPr/>
        </p:nvSpPr>
        <p:spPr bwMode="auto">
          <a:xfrm>
            <a:off x="6096000" y="797511"/>
            <a:ext cx="5978014"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333333"/>
                </a:solidFill>
                <a:effectLst/>
                <a:cs typeface="Arial" panose="020B0604020202020204" pitchFamily="34" charset="0"/>
              </a:rPr>
              <a:t>Anchor Tag Helper</a:t>
            </a:r>
            <a:br>
              <a:rPr kumimoji="0" lang="en-US" altLang="en-US" sz="1200" b="0" i="0" u="none" strike="noStrike" cap="none" normalizeH="0" baseline="0" dirty="0">
                <a:ln>
                  <a:noFill/>
                </a:ln>
                <a:solidFill>
                  <a:schemeClr val="tx1"/>
                </a:solidFill>
                <a:effectLst/>
              </a:rPr>
            </a:br>
            <a:br>
              <a:rPr kumimoji="0" lang="en-US" altLang="en-US" sz="1200" b="0" i="0" u="none" strike="noStrike" cap="none" normalizeH="0" baseline="0" dirty="0">
                <a:ln>
                  <a:noFill/>
                </a:ln>
                <a:solidFill>
                  <a:schemeClr val="tx1"/>
                </a:solidFill>
                <a:effectLst/>
              </a:rPr>
            </a:br>
            <a:r>
              <a:rPr kumimoji="0" lang="en-US" altLang="en-US" sz="1200" b="0" i="0" u="none" strike="noStrike" cap="none" normalizeH="0" baseline="0" dirty="0">
                <a:ln>
                  <a:noFill/>
                </a:ln>
                <a:solidFill>
                  <a:srgbClr val="333333"/>
                </a:solidFill>
                <a:effectLst/>
                <a:cs typeface="Arial" panose="020B0604020202020204" pitchFamily="34" charset="0"/>
              </a:rPr>
              <a:t>The Anchor Tag Helper enhances the standard HTML anchor (</a:t>
            </a:r>
            <a:r>
              <a:rPr kumimoji="0" lang="en-US" altLang="en-US" sz="1200" b="0" i="0" u="none" strike="noStrike" cap="none" normalizeH="0" baseline="0" dirty="0">
                <a:ln>
                  <a:noFill/>
                </a:ln>
                <a:solidFill>
                  <a:srgbClr val="0000FF"/>
                </a:solidFill>
                <a:effectLst/>
                <a:cs typeface="Arial" panose="020B0604020202020204" pitchFamily="34" charset="0"/>
              </a:rPr>
              <a:t>&lt;</a:t>
            </a:r>
            <a:r>
              <a:rPr kumimoji="0" lang="en-US" altLang="en-US" sz="1200" b="0" i="0" u="none" strike="noStrike" cap="none" normalizeH="0" baseline="0" dirty="0">
                <a:ln>
                  <a:noFill/>
                </a:ln>
                <a:solidFill>
                  <a:srgbClr val="990000"/>
                </a:solidFill>
                <a:effectLst/>
                <a:cs typeface="Arial" panose="020B0604020202020204" pitchFamily="34" charset="0"/>
              </a:rPr>
              <a:t>a</a:t>
            </a:r>
            <a:r>
              <a:rPr kumimoji="0" lang="en-US" altLang="en-US" sz="1200" b="0" i="0" u="none" strike="noStrike" cap="none" normalizeH="0" baseline="0" dirty="0">
                <a:ln>
                  <a:noFill/>
                </a:ln>
                <a:solidFill>
                  <a:srgbClr val="333333"/>
                </a:solidFill>
                <a:effectLst/>
                <a:cs typeface="Arial" panose="020B0604020202020204" pitchFamily="34" charset="0"/>
              </a:rPr>
              <a:t> ... </a:t>
            </a:r>
            <a:r>
              <a:rPr kumimoji="0" lang="en-US" altLang="en-US" sz="1200" b="0" i="0" u="none" strike="noStrike" cap="none" normalizeH="0" baseline="0" dirty="0">
                <a:ln>
                  <a:noFill/>
                </a:ln>
                <a:solidFill>
                  <a:srgbClr val="0000FF"/>
                </a:solidFill>
                <a:effectLst/>
                <a:cs typeface="Arial" panose="020B0604020202020204" pitchFamily="34" charset="0"/>
              </a:rPr>
              <a:t>&gt;&lt;</a:t>
            </a:r>
            <a:r>
              <a:rPr kumimoji="0" lang="en-US" altLang="en-US" sz="1200" b="0" i="0" u="none" strike="noStrike" cap="none" normalizeH="0" baseline="0" dirty="0">
                <a:ln>
                  <a:noFill/>
                </a:ln>
                <a:solidFill>
                  <a:srgbClr val="990000"/>
                </a:solidFill>
                <a:effectLst/>
                <a:cs typeface="Arial" panose="020B0604020202020204" pitchFamily="34" charset="0"/>
              </a:rPr>
              <a:t>/a</a:t>
            </a:r>
            <a:r>
              <a:rPr kumimoji="0" lang="en-US" altLang="en-US" sz="1200" b="0" i="0" u="none" strike="noStrike" cap="none" normalizeH="0" baseline="0" dirty="0">
                <a:ln>
                  <a:noFill/>
                </a:ln>
                <a:solidFill>
                  <a:srgbClr val="0000FF"/>
                </a:solidFill>
                <a:effectLst/>
                <a:cs typeface="Arial" panose="020B0604020202020204" pitchFamily="34" charset="0"/>
              </a:rPr>
              <a:t>&gt;</a:t>
            </a:r>
            <a:r>
              <a:rPr kumimoji="0" lang="en-US" altLang="en-US" sz="1200" b="0" i="0" u="none" strike="noStrike" cap="none" normalizeH="0" baseline="0" dirty="0">
                <a:ln>
                  <a:noFill/>
                </a:ln>
                <a:solidFill>
                  <a:srgbClr val="333333"/>
                </a:solidFill>
                <a:effectLst/>
                <a:cs typeface="Arial" panose="020B0604020202020204" pitchFamily="34" charset="0"/>
              </a:rPr>
              <a:t>) tag by adding new attributes such as </a:t>
            </a:r>
            <a:br>
              <a:rPr kumimoji="0" lang="en-US" altLang="en-US" sz="1200" b="0" i="0" u="none" strike="noStrike" cap="none" normalizeH="0" baseline="0" dirty="0">
                <a:ln>
                  <a:noFill/>
                </a:ln>
                <a:solidFill>
                  <a:schemeClr val="tx1"/>
                </a:solidFill>
                <a:effectLst/>
              </a:rPr>
            </a:br>
            <a:r>
              <a:rPr kumimoji="0" lang="en-US" altLang="en-US" sz="1200" b="1" i="0" u="none" strike="noStrike" cap="none" normalizeH="0" baseline="0" dirty="0">
                <a:ln>
                  <a:noFill/>
                </a:ln>
                <a:solidFill>
                  <a:srgbClr val="351C75"/>
                </a:solidFill>
                <a:effectLst/>
                <a:cs typeface="Arial" panose="020B0604020202020204" pitchFamily="34" charset="0"/>
              </a:rPr>
              <a:t>asp-controller</a:t>
            </a:r>
            <a:br>
              <a:rPr kumimoji="0" lang="en-US" altLang="en-US" sz="1200" b="0" i="0" u="none" strike="noStrike" cap="none" normalizeH="0" baseline="0" dirty="0">
                <a:ln>
                  <a:noFill/>
                </a:ln>
                <a:solidFill>
                  <a:schemeClr val="tx1"/>
                </a:solidFill>
                <a:effectLst/>
              </a:rPr>
            </a:br>
            <a:r>
              <a:rPr kumimoji="0" lang="en-US" altLang="en-US" sz="1200" b="1" i="0" u="none" strike="noStrike" cap="none" normalizeH="0" baseline="0" dirty="0">
                <a:ln>
                  <a:noFill/>
                </a:ln>
                <a:solidFill>
                  <a:srgbClr val="351C75"/>
                </a:solidFill>
                <a:effectLst/>
                <a:cs typeface="Arial" panose="020B0604020202020204" pitchFamily="34" charset="0"/>
              </a:rPr>
              <a:t>asp-action</a:t>
            </a:r>
            <a:br>
              <a:rPr kumimoji="0" lang="en-US" altLang="en-US" sz="1200" b="0" i="0" u="none" strike="noStrike" cap="none" normalizeH="0" baseline="0" dirty="0">
                <a:ln>
                  <a:noFill/>
                </a:ln>
                <a:solidFill>
                  <a:schemeClr val="tx1"/>
                </a:solidFill>
                <a:effectLst/>
              </a:rPr>
            </a:br>
            <a:r>
              <a:rPr kumimoji="0" lang="en-US" altLang="en-US" sz="1200" b="1" i="0" u="none" strike="noStrike" cap="none" normalizeH="0" baseline="0" dirty="0">
                <a:ln>
                  <a:noFill/>
                </a:ln>
                <a:solidFill>
                  <a:srgbClr val="351C75"/>
                </a:solidFill>
                <a:effectLst/>
                <a:cs typeface="Arial" panose="020B0604020202020204" pitchFamily="34" charset="0"/>
              </a:rPr>
              <a:t>asp-route-{value}</a:t>
            </a:r>
            <a:br>
              <a:rPr kumimoji="0" lang="en-US" altLang="en-US" sz="1200" b="0" i="0" u="none" strike="noStrike" cap="none" normalizeH="0" baseline="0" dirty="0">
                <a:ln>
                  <a:noFill/>
                </a:ln>
                <a:solidFill>
                  <a:schemeClr val="tx1"/>
                </a:solidFill>
                <a:effectLst/>
              </a:rPr>
            </a:br>
            <a:br>
              <a:rPr kumimoji="0" lang="en-US" altLang="en-US" sz="1200" b="0" i="0" u="none" strike="noStrike" cap="none" normalizeH="0" baseline="0" dirty="0">
                <a:ln>
                  <a:noFill/>
                </a:ln>
                <a:solidFill>
                  <a:schemeClr val="tx1"/>
                </a:solidFill>
                <a:effectLst/>
              </a:rPr>
            </a:br>
            <a:r>
              <a:rPr kumimoji="0" lang="en-US" altLang="en-US" sz="1200" b="0" i="0" u="none" strike="noStrike" cap="none" normalizeH="0" baseline="0" dirty="0">
                <a:ln>
                  <a:noFill/>
                </a:ln>
                <a:solidFill>
                  <a:srgbClr val="333333"/>
                </a:solidFill>
                <a:effectLst/>
                <a:cs typeface="Arial" panose="020B0604020202020204" pitchFamily="34" charset="0"/>
              </a:rPr>
              <a:t>The rendered anchor element's </a:t>
            </a:r>
            <a:r>
              <a:rPr kumimoji="0" lang="en-US" altLang="en-US" sz="1200" b="0" i="0" u="none" strike="noStrike" cap="none" normalizeH="0" baseline="0" dirty="0" err="1">
                <a:ln>
                  <a:noFill/>
                </a:ln>
                <a:solidFill>
                  <a:srgbClr val="FF0000"/>
                </a:solidFill>
                <a:effectLst/>
                <a:cs typeface="Arial" panose="020B0604020202020204" pitchFamily="34" charset="0"/>
              </a:rPr>
              <a:t>href</a:t>
            </a:r>
            <a:r>
              <a:rPr kumimoji="0" lang="en-US" altLang="en-US" sz="1200" b="0" i="0" u="none" strike="noStrike" cap="none" normalizeH="0" baseline="0" dirty="0">
                <a:ln>
                  <a:noFill/>
                </a:ln>
                <a:solidFill>
                  <a:srgbClr val="FF0000"/>
                </a:solidFill>
                <a:effectLst/>
                <a:cs typeface="Arial" panose="020B0604020202020204" pitchFamily="34" charset="0"/>
              </a:rPr>
              <a:t> </a:t>
            </a:r>
            <a:r>
              <a:rPr kumimoji="0" lang="en-US" altLang="en-US" sz="1200" b="0" i="0" u="none" strike="noStrike" cap="none" normalizeH="0" baseline="0" dirty="0">
                <a:ln>
                  <a:noFill/>
                </a:ln>
                <a:solidFill>
                  <a:srgbClr val="333333"/>
                </a:solidFill>
                <a:effectLst/>
                <a:cs typeface="Arial" panose="020B0604020202020204" pitchFamily="34" charset="0"/>
              </a:rPr>
              <a:t>attribute value is determined by the values of these </a:t>
            </a:r>
            <a:r>
              <a:rPr kumimoji="0" lang="en-US" altLang="en-US" sz="1200" b="1" i="0" u="none" strike="noStrike" cap="none" normalizeH="0" baseline="0" dirty="0">
                <a:ln>
                  <a:noFill/>
                </a:ln>
                <a:solidFill>
                  <a:srgbClr val="333333"/>
                </a:solidFill>
                <a:effectLst/>
                <a:cs typeface="Arial" panose="020B0604020202020204" pitchFamily="34" charset="0"/>
              </a:rPr>
              <a:t>asp-</a:t>
            </a:r>
            <a:r>
              <a:rPr kumimoji="0" lang="en-US" altLang="en-US" sz="1200" b="0" i="0" u="none" strike="noStrike" cap="none" normalizeH="0" baseline="0" dirty="0">
                <a:ln>
                  <a:noFill/>
                </a:ln>
                <a:solidFill>
                  <a:srgbClr val="333333"/>
                </a:solidFill>
                <a:effectLst/>
                <a:cs typeface="Arial" panose="020B0604020202020204" pitchFamily="34" charset="0"/>
              </a:rPr>
              <a:t> attributes. </a:t>
            </a:r>
            <a:br>
              <a:rPr kumimoji="0" lang="en-US" altLang="en-US" sz="1200" b="0" i="0" u="none" strike="noStrike" cap="none" normalizeH="0" baseline="0" dirty="0">
                <a:ln>
                  <a:noFill/>
                </a:ln>
                <a:solidFill>
                  <a:schemeClr val="tx1"/>
                </a:solidFill>
                <a:effectLst/>
              </a:rPr>
            </a:br>
            <a:br>
              <a:rPr kumimoji="0" lang="en-US" altLang="en-US" sz="1200" b="0" i="0" u="none" strike="noStrike" cap="none" normalizeH="0" baseline="0" dirty="0">
                <a:ln>
                  <a:noFill/>
                </a:ln>
                <a:solidFill>
                  <a:schemeClr val="tx1"/>
                </a:solidFill>
                <a:effectLst/>
              </a:rPr>
            </a:br>
            <a:r>
              <a:rPr kumimoji="0" lang="en-US" altLang="en-US" sz="1200" b="0" i="0" u="none" strike="noStrike" cap="none" normalizeH="0" baseline="0" dirty="0">
                <a:ln>
                  <a:noFill/>
                </a:ln>
                <a:solidFill>
                  <a:srgbClr val="333333"/>
                </a:solidFill>
                <a:effectLst/>
                <a:cs typeface="Arial" panose="020B0604020202020204" pitchFamily="34" charset="0"/>
              </a:rPr>
              <a:t>As the names imply </a:t>
            </a:r>
            <a:r>
              <a:rPr kumimoji="0" lang="en-US" altLang="en-US" sz="1200" b="1" i="0" u="none" strike="noStrike" cap="none" normalizeH="0" baseline="0" dirty="0">
                <a:ln>
                  <a:noFill/>
                </a:ln>
                <a:solidFill>
                  <a:srgbClr val="351C75"/>
                </a:solidFill>
                <a:effectLst/>
                <a:cs typeface="Arial" panose="020B0604020202020204" pitchFamily="34" charset="0"/>
              </a:rPr>
              <a:t>asp-controller</a:t>
            </a:r>
            <a:r>
              <a:rPr kumimoji="0" lang="en-US" altLang="en-US" sz="1200" b="0" i="0" u="none" strike="noStrike" cap="none" normalizeH="0" baseline="0" dirty="0">
                <a:ln>
                  <a:noFill/>
                </a:ln>
                <a:solidFill>
                  <a:srgbClr val="333333"/>
                </a:solidFill>
                <a:effectLst/>
                <a:cs typeface="Arial" panose="020B0604020202020204" pitchFamily="34" charset="0"/>
              </a:rPr>
              <a:t> specifies the controller name and </a:t>
            </a:r>
            <a:r>
              <a:rPr kumimoji="0" lang="en-US" altLang="en-US" sz="1200" b="1" i="0" u="none" strike="noStrike" cap="none" normalizeH="0" baseline="0" dirty="0">
                <a:ln>
                  <a:noFill/>
                </a:ln>
                <a:solidFill>
                  <a:srgbClr val="351C75"/>
                </a:solidFill>
                <a:effectLst/>
                <a:cs typeface="Arial" panose="020B0604020202020204" pitchFamily="34" charset="0"/>
              </a:rPr>
              <a:t>asp-action</a:t>
            </a:r>
            <a:r>
              <a:rPr kumimoji="0" lang="en-US" altLang="en-US" sz="1200" b="0" i="0" u="none" strike="noStrike" cap="none" normalizeH="0" baseline="0" dirty="0">
                <a:ln>
                  <a:noFill/>
                </a:ln>
                <a:solidFill>
                  <a:srgbClr val="333333"/>
                </a:solidFill>
                <a:effectLst/>
                <a:cs typeface="Arial" panose="020B0604020202020204" pitchFamily="34" charset="0"/>
              </a:rPr>
              <a:t> specifies the action name to include in the generated </a:t>
            </a:r>
            <a:r>
              <a:rPr kumimoji="0" lang="en-US" altLang="en-US" sz="1200" b="0" i="0" u="none" strike="noStrike" cap="none" normalizeH="0" baseline="0" dirty="0" err="1">
                <a:ln>
                  <a:noFill/>
                </a:ln>
                <a:solidFill>
                  <a:srgbClr val="FF0000"/>
                </a:solidFill>
                <a:effectLst/>
                <a:cs typeface="Arial" panose="020B0604020202020204" pitchFamily="34" charset="0"/>
              </a:rPr>
              <a:t>href</a:t>
            </a:r>
            <a:r>
              <a:rPr kumimoji="0" lang="en-US" altLang="en-US" sz="1200" b="0" i="0" u="none" strike="noStrike" cap="none" normalizeH="0" baseline="0" dirty="0">
                <a:ln>
                  <a:noFill/>
                </a:ln>
                <a:solidFill>
                  <a:srgbClr val="FF0000"/>
                </a:solidFill>
                <a:effectLst/>
                <a:cs typeface="Arial" panose="020B0604020202020204" pitchFamily="34" charset="0"/>
              </a:rPr>
              <a:t> </a:t>
            </a:r>
            <a:r>
              <a:rPr kumimoji="0" lang="en-US" altLang="en-US" sz="1200" b="0" i="0" u="none" strike="noStrike" cap="none" normalizeH="0" baseline="0" dirty="0">
                <a:ln>
                  <a:noFill/>
                </a:ln>
                <a:solidFill>
                  <a:srgbClr val="333333"/>
                </a:solidFill>
                <a:effectLst/>
                <a:cs typeface="Arial" panose="020B0604020202020204" pitchFamily="34" charset="0"/>
              </a:rPr>
              <a:t>attribute value. </a:t>
            </a:r>
            <a:r>
              <a:rPr kumimoji="0" lang="en-US" altLang="en-US" sz="1200" b="1" i="0" u="none" strike="noStrike" cap="none" normalizeH="0" baseline="0" dirty="0">
                <a:ln>
                  <a:noFill/>
                </a:ln>
                <a:solidFill>
                  <a:srgbClr val="351C75"/>
                </a:solidFill>
                <a:effectLst/>
                <a:cs typeface="Arial" panose="020B0604020202020204" pitchFamily="34" charset="0"/>
              </a:rPr>
              <a:t>asp-route-{value}</a:t>
            </a:r>
            <a:r>
              <a:rPr kumimoji="0" lang="en-US" altLang="en-US" sz="1200" b="0" i="0" u="none" strike="noStrike" cap="none" normalizeH="0" baseline="0" dirty="0">
                <a:ln>
                  <a:noFill/>
                </a:ln>
                <a:solidFill>
                  <a:srgbClr val="333333"/>
                </a:solidFill>
                <a:effectLst/>
                <a:cs typeface="Arial" panose="020B0604020202020204" pitchFamily="34" charset="0"/>
              </a:rPr>
              <a:t> attribute is used to include route data in the generated </a:t>
            </a:r>
            <a:r>
              <a:rPr kumimoji="0" lang="en-US" altLang="en-US" sz="1200" b="0" i="0" u="none" strike="noStrike" cap="none" normalizeH="0" baseline="0" dirty="0" err="1">
                <a:ln>
                  <a:noFill/>
                </a:ln>
                <a:solidFill>
                  <a:srgbClr val="FF0000"/>
                </a:solidFill>
                <a:effectLst/>
                <a:cs typeface="Arial" panose="020B0604020202020204" pitchFamily="34" charset="0"/>
              </a:rPr>
              <a:t>href</a:t>
            </a:r>
            <a:r>
              <a:rPr kumimoji="0" lang="en-US" altLang="en-US" sz="1200" b="0" i="0" u="none" strike="noStrike" cap="none" normalizeH="0" baseline="0" dirty="0">
                <a:ln>
                  <a:noFill/>
                </a:ln>
                <a:solidFill>
                  <a:srgbClr val="FF0000"/>
                </a:solidFill>
                <a:effectLst/>
                <a:cs typeface="Arial" panose="020B0604020202020204" pitchFamily="34" charset="0"/>
              </a:rPr>
              <a:t> </a:t>
            </a:r>
            <a:r>
              <a:rPr kumimoji="0" lang="en-US" altLang="en-US" sz="1200" b="0" i="0" u="none" strike="noStrike" cap="none" normalizeH="0" baseline="0" dirty="0">
                <a:ln>
                  <a:noFill/>
                </a:ln>
                <a:solidFill>
                  <a:srgbClr val="333333"/>
                </a:solidFill>
                <a:effectLst/>
                <a:cs typeface="Arial" panose="020B0604020202020204" pitchFamily="34" charset="0"/>
              </a:rPr>
              <a:t>attribute value. {value} can be replaced with the route parameters such as </a:t>
            </a:r>
            <a:r>
              <a:rPr kumimoji="0" lang="en-US" altLang="en-US" sz="1200" b="0" i="0" u="none" strike="noStrike" cap="none" normalizeH="0" baseline="0" dirty="0">
                <a:ln>
                  <a:noFill/>
                </a:ln>
                <a:solidFill>
                  <a:srgbClr val="0000FF"/>
                </a:solidFill>
                <a:effectLst/>
                <a:cs typeface="Arial" panose="020B0604020202020204" pitchFamily="34" charset="0"/>
              </a:rPr>
              <a:t>id </a:t>
            </a:r>
            <a:r>
              <a:rPr kumimoji="0" lang="en-US" altLang="en-US" sz="1200" b="0" i="0" u="none" strike="noStrike" cap="none" normalizeH="0" baseline="0" dirty="0">
                <a:ln>
                  <a:noFill/>
                </a:ln>
                <a:solidFill>
                  <a:srgbClr val="333333"/>
                </a:solidFill>
                <a:effectLst/>
                <a:cs typeface="Arial" panose="020B0604020202020204" pitchFamily="34" charset="0"/>
              </a:rPr>
              <a:t>for example.</a:t>
            </a:r>
            <a:br>
              <a:rPr kumimoji="0" lang="en-US" altLang="en-US" sz="1200" b="0" i="0" u="none" strike="noStrike" cap="none" normalizeH="0" baseline="0" dirty="0">
                <a:ln>
                  <a:noFill/>
                </a:ln>
                <a:solidFill>
                  <a:schemeClr val="tx1"/>
                </a:solidFill>
                <a:effectLst/>
              </a:rPr>
            </a:br>
            <a:br>
              <a:rPr kumimoji="0" lang="en-US" altLang="en-US" sz="1200" b="0" i="0" u="none" strike="noStrike" cap="none" normalizeH="0" baseline="0" dirty="0">
                <a:ln>
                  <a:noFill/>
                </a:ln>
                <a:solidFill>
                  <a:schemeClr val="tx1"/>
                </a:solidFill>
                <a:effectLst/>
              </a:rPr>
            </a:b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cs typeface="Arial" panose="020B0604020202020204" pitchFamily="34" charset="0"/>
              </a:rPr>
              <a:t>&lt;</a:t>
            </a:r>
            <a:r>
              <a:rPr kumimoji="0" lang="en-US" altLang="en-US" sz="1200" b="1" i="0" u="none" strike="noStrike" cap="none" normalizeH="0" baseline="0" dirty="0">
                <a:ln>
                  <a:noFill/>
                </a:ln>
                <a:solidFill>
                  <a:srgbClr val="800080"/>
                </a:solidFill>
                <a:effectLst/>
                <a:cs typeface="Arial" panose="020B0604020202020204" pitchFamily="34" charset="0"/>
              </a:rPr>
              <a:t>a</a:t>
            </a:r>
            <a:r>
              <a:rPr kumimoji="0" lang="en-US" altLang="en-US" sz="1200" b="0" i="0" u="none" strike="noStrike" cap="none" normalizeH="0" baseline="0" dirty="0">
                <a:ln>
                  <a:noFill/>
                </a:ln>
                <a:solidFill>
                  <a:srgbClr val="000000"/>
                </a:solidFill>
                <a:effectLst/>
                <a:cs typeface="Arial" panose="020B0604020202020204" pitchFamily="34" charset="0"/>
              </a:rPr>
              <a:t> </a:t>
            </a:r>
            <a:r>
              <a:rPr kumimoji="0" lang="en-US" altLang="en-US" sz="1200" b="1" i="0" u="none" strike="noStrike" cap="none" normalizeH="0" baseline="0" dirty="0">
                <a:ln>
                  <a:noFill/>
                </a:ln>
                <a:solidFill>
                  <a:srgbClr val="800080"/>
                </a:solidFill>
                <a:effectLst/>
                <a:cs typeface="Arial" panose="020B0604020202020204" pitchFamily="34" charset="0"/>
              </a:rPr>
              <a:t>asp-controller</a:t>
            </a:r>
            <a:r>
              <a:rPr kumimoji="0" lang="en-US" altLang="en-US" sz="1200" b="0" i="0" u="none" strike="noStrike" cap="none" normalizeH="0" baseline="0" dirty="0">
                <a:ln>
                  <a:noFill/>
                </a:ln>
                <a:solidFill>
                  <a:srgbClr val="0000FF"/>
                </a:solidFill>
                <a:effectLst/>
                <a:cs typeface="Arial" panose="020B0604020202020204" pitchFamily="34" charset="0"/>
              </a:rPr>
              <a:t>="home"</a:t>
            </a:r>
            <a:r>
              <a:rPr kumimoji="0" lang="en-US" altLang="en-US" sz="1200" b="0" i="0" u="none" strike="noStrike" cap="none" normalizeH="0" baseline="0" dirty="0">
                <a:ln>
                  <a:noFill/>
                </a:ln>
                <a:solidFill>
                  <a:srgbClr val="000000"/>
                </a:solidFill>
                <a:effectLst/>
                <a:cs typeface="Arial" panose="020B0604020202020204" pitchFamily="34" charset="0"/>
              </a:rPr>
              <a:t> </a:t>
            </a:r>
            <a:r>
              <a:rPr kumimoji="0" lang="en-US" altLang="en-US" sz="1200" b="1" i="0" u="none" strike="noStrike" cap="none" normalizeH="0" baseline="0" dirty="0">
                <a:ln>
                  <a:noFill/>
                </a:ln>
                <a:solidFill>
                  <a:srgbClr val="800080"/>
                </a:solidFill>
                <a:effectLst/>
                <a:cs typeface="Arial" panose="020B0604020202020204" pitchFamily="34" charset="0"/>
              </a:rPr>
              <a:t>asp-action</a:t>
            </a:r>
            <a:r>
              <a:rPr kumimoji="0" lang="en-US" altLang="en-US" sz="1200" b="0" i="0" u="none" strike="noStrike" cap="none" normalizeH="0" baseline="0" dirty="0">
                <a:ln>
                  <a:noFill/>
                </a:ln>
                <a:solidFill>
                  <a:srgbClr val="0000FF"/>
                </a:solidFill>
                <a:effectLst/>
                <a:cs typeface="Arial" panose="020B0604020202020204" pitchFamily="34" charset="0"/>
              </a:rPr>
              <a:t>="details"</a:t>
            </a:r>
            <a:endParaRPr kumimoji="0" lang="en-US" altLang="en-US" sz="1200" b="0" i="0" u="none" strike="noStrike" cap="none" normalizeH="0" baseline="0" dirty="0">
              <a:ln>
                <a:noFill/>
              </a:ln>
              <a:solidFill>
                <a:srgbClr val="3333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cs typeface="Arial" panose="020B0604020202020204" pitchFamily="34" charset="0"/>
              </a:rPr>
              <a:t>    </a:t>
            </a:r>
            <a:r>
              <a:rPr kumimoji="0" lang="en-US" altLang="en-US" sz="1200" b="1" i="0" u="none" strike="noStrike" cap="none" normalizeH="0" baseline="0" dirty="0">
                <a:ln>
                  <a:noFill/>
                </a:ln>
                <a:solidFill>
                  <a:srgbClr val="800080"/>
                </a:solidFill>
                <a:effectLst/>
                <a:cs typeface="Arial" panose="020B0604020202020204" pitchFamily="34" charset="0"/>
              </a:rPr>
              <a:t>asp-route-id</a:t>
            </a:r>
            <a:r>
              <a:rPr kumimoji="0" lang="en-US" altLang="en-US" sz="1200" b="0" i="0" u="none" strike="noStrike" cap="none" normalizeH="0" baseline="0" dirty="0">
                <a:ln>
                  <a:noFill/>
                </a:ln>
                <a:solidFill>
                  <a:srgbClr val="0000FF"/>
                </a:solidFill>
                <a:effectLst/>
                <a:cs typeface="Arial" panose="020B0604020202020204" pitchFamily="34" charset="0"/>
              </a:rPr>
              <a:t>="</a:t>
            </a:r>
            <a:r>
              <a:rPr kumimoji="0" lang="en-US" altLang="en-US" sz="1200" b="0" i="0" u="none" strike="noStrike" cap="none" normalizeH="0" baseline="0" dirty="0">
                <a:ln>
                  <a:noFill/>
                </a:ln>
                <a:solidFill>
                  <a:srgbClr val="000000"/>
                </a:solidFill>
                <a:effectLst/>
                <a:cs typeface="Arial" panose="020B0604020202020204" pitchFamily="34" charset="0"/>
              </a:rPr>
              <a:t>@</a:t>
            </a:r>
            <a:r>
              <a:rPr kumimoji="0" lang="en-US" altLang="en-US" sz="1200" b="0" i="0" u="none" strike="noStrike" cap="none" normalizeH="0" baseline="0" dirty="0" err="1">
                <a:ln>
                  <a:noFill/>
                </a:ln>
                <a:solidFill>
                  <a:srgbClr val="000000"/>
                </a:solidFill>
                <a:effectLst/>
                <a:cs typeface="Arial" panose="020B0604020202020204" pitchFamily="34" charset="0"/>
              </a:rPr>
              <a:t>employee.Id</a:t>
            </a:r>
            <a:r>
              <a:rPr kumimoji="0" lang="en-US" altLang="en-US" sz="1200" b="0" i="0" u="none" strike="noStrike" cap="none" normalizeH="0" baseline="0" dirty="0">
                <a:ln>
                  <a:noFill/>
                </a:ln>
                <a:solidFill>
                  <a:srgbClr val="0000FF"/>
                </a:solidFill>
                <a:effectLst/>
                <a:cs typeface="Arial" panose="020B0604020202020204" pitchFamily="34" charset="0"/>
              </a:rPr>
              <a:t>"&gt;</a:t>
            </a:r>
            <a:r>
              <a:rPr kumimoji="0" lang="en-US" altLang="en-US" sz="1200" b="0" i="0" u="none" strike="noStrike" cap="none" normalizeH="0" baseline="0" dirty="0">
                <a:ln>
                  <a:noFill/>
                </a:ln>
                <a:solidFill>
                  <a:srgbClr val="000000"/>
                </a:solidFill>
                <a:effectLst/>
                <a:cs typeface="Arial" panose="020B0604020202020204" pitchFamily="34" charset="0"/>
              </a:rPr>
              <a:t>View</a:t>
            </a:r>
            <a:r>
              <a:rPr kumimoji="0" lang="en-US" altLang="en-US" sz="1200" b="0" i="0" u="none" strike="noStrike" cap="none" normalizeH="0" baseline="0" dirty="0">
                <a:ln>
                  <a:noFill/>
                </a:ln>
                <a:solidFill>
                  <a:srgbClr val="0000FF"/>
                </a:solidFill>
                <a:effectLst/>
                <a:cs typeface="Arial" panose="020B0604020202020204" pitchFamily="34" charset="0"/>
              </a:rPr>
              <a:t>&lt;/</a:t>
            </a:r>
            <a:r>
              <a:rPr kumimoji="0" lang="en-US" altLang="en-US" sz="1200" b="1" i="0" u="none" strike="noStrike" cap="none" normalizeH="0" baseline="0" dirty="0">
                <a:ln>
                  <a:noFill/>
                </a:ln>
                <a:solidFill>
                  <a:srgbClr val="800080"/>
                </a:solidFill>
                <a:effectLst/>
                <a:cs typeface="Arial" panose="020B0604020202020204" pitchFamily="34" charset="0"/>
              </a:rPr>
              <a:t>a</a:t>
            </a:r>
            <a:r>
              <a:rPr kumimoji="0" lang="en-US" altLang="en-US" sz="1200" b="0" i="0" u="none" strike="noStrike" cap="none" normalizeH="0" baseline="0" dirty="0">
                <a:ln>
                  <a:noFill/>
                </a:ln>
                <a:solidFill>
                  <a:srgbClr val="0000FF"/>
                </a:solidFill>
                <a:effectLst/>
                <a:cs typeface="Arial" panose="020B0604020202020204" pitchFamily="34" charset="0"/>
              </a:rPr>
              <a:t>&gt;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chemeClr val="tx1"/>
                </a:solidFill>
                <a:effectLst/>
              </a:rPr>
            </a:br>
            <a:r>
              <a:rPr kumimoji="0" lang="en-US" altLang="en-US" sz="1200" b="0" i="0" u="none" strike="noStrike" cap="none" normalizeH="0" baseline="0" dirty="0">
                <a:ln>
                  <a:noFill/>
                </a:ln>
                <a:solidFill>
                  <a:srgbClr val="333333"/>
                </a:solidFill>
                <a:effectLst/>
                <a:cs typeface="Arial" panose="020B0604020202020204" pitchFamily="34" charset="0"/>
              </a:rPr>
              <a:t>generates</a:t>
            </a:r>
            <a:br>
              <a:rPr kumimoji="0" lang="en-US" altLang="en-US" sz="1200" b="0" i="0" u="none" strike="noStrike" cap="none" normalizeH="0" baseline="0" dirty="0">
                <a:ln>
                  <a:noFill/>
                </a:ln>
                <a:solidFill>
                  <a:schemeClr val="tx1"/>
                </a:solidFill>
                <a:effectLst/>
              </a:rPr>
            </a:b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cs typeface="Arial" panose="020B0604020202020204" pitchFamily="34" charset="0"/>
              </a:rPr>
              <a:t>&lt;</a:t>
            </a:r>
            <a:r>
              <a:rPr kumimoji="0" lang="en-US" altLang="en-US" sz="1200" b="0" i="0" u="none" strike="noStrike" cap="none" normalizeH="0" baseline="0" dirty="0">
                <a:ln>
                  <a:noFill/>
                </a:ln>
                <a:solidFill>
                  <a:srgbClr val="800000"/>
                </a:solidFill>
                <a:effectLst/>
                <a:cs typeface="Arial" panose="020B0604020202020204" pitchFamily="34" charset="0"/>
              </a:rPr>
              <a:t>a</a:t>
            </a:r>
            <a:r>
              <a:rPr kumimoji="0" lang="en-US" altLang="en-US" sz="1200" b="0" i="0" u="none" strike="noStrike" cap="none" normalizeH="0" baseline="0" dirty="0">
                <a:ln>
                  <a:noFill/>
                </a:ln>
                <a:solidFill>
                  <a:srgbClr val="000000"/>
                </a:solidFill>
                <a:effectLst/>
                <a:cs typeface="Arial" panose="020B0604020202020204" pitchFamily="34" charset="0"/>
              </a:rPr>
              <a:t> </a:t>
            </a:r>
            <a:r>
              <a:rPr kumimoji="0" lang="en-US" altLang="en-US" sz="1200" b="0" i="0" u="none" strike="noStrike" cap="none" normalizeH="0" baseline="0" dirty="0" err="1">
                <a:ln>
                  <a:noFill/>
                </a:ln>
                <a:solidFill>
                  <a:srgbClr val="FF0000"/>
                </a:solidFill>
                <a:effectLst/>
                <a:cs typeface="Arial" panose="020B0604020202020204" pitchFamily="34" charset="0"/>
              </a:rPr>
              <a:t>href</a:t>
            </a:r>
            <a:r>
              <a:rPr kumimoji="0" lang="en-US" altLang="en-US" sz="1200" b="0" i="0" u="none" strike="noStrike" cap="none" normalizeH="0" baseline="0" dirty="0">
                <a:ln>
                  <a:noFill/>
                </a:ln>
                <a:solidFill>
                  <a:srgbClr val="0000FF"/>
                </a:solidFill>
                <a:effectLst/>
                <a:cs typeface="Arial" panose="020B0604020202020204" pitchFamily="34" charset="0"/>
              </a:rPr>
              <a:t>="/Home/details/5"&gt;</a:t>
            </a:r>
            <a:r>
              <a:rPr kumimoji="0" lang="en-US" altLang="en-US" sz="1200" b="0" i="0" u="none" strike="noStrike" cap="none" normalizeH="0" baseline="0" dirty="0">
                <a:ln>
                  <a:noFill/>
                </a:ln>
                <a:solidFill>
                  <a:srgbClr val="000000"/>
                </a:solidFill>
                <a:effectLst/>
                <a:cs typeface="Arial" panose="020B0604020202020204" pitchFamily="34" charset="0"/>
              </a:rPr>
              <a:t>View</a:t>
            </a:r>
            <a:r>
              <a:rPr kumimoji="0" lang="en-US" altLang="en-US" sz="1200" b="0" i="0" u="none" strike="noStrike" cap="none" normalizeH="0" baseline="0" dirty="0">
                <a:ln>
                  <a:noFill/>
                </a:ln>
                <a:solidFill>
                  <a:srgbClr val="0000FF"/>
                </a:solidFill>
                <a:effectLst/>
                <a:cs typeface="Arial" panose="020B0604020202020204" pitchFamily="34" charset="0"/>
              </a:rPr>
              <a:t>&lt;/</a:t>
            </a:r>
            <a:r>
              <a:rPr kumimoji="0" lang="en-US" altLang="en-US" sz="1200" b="0" i="0" u="none" strike="noStrike" cap="none" normalizeH="0" baseline="0" dirty="0">
                <a:ln>
                  <a:noFill/>
                </a:ln>
                <a:solidFill>
                  <a:srgbClr val="800000"/>
                </a:solidFill>
                <a:effectLst/>
                <a:cs typeface="Arial" panose="020B0604020202020204" pitchFamily="34" charset="0"/>
              </a:rPr>
              <a:t>a</a:t>
            </a:r>
            <a:r>
              <a:rPr kumimoji="0" lang="en-US" altLang="en-US" sz="1200" b="0" i="0" u="none" strike="noStrike" cap="none" normalizeH="0" baseline="0" dirty="0">
                <a:ln>
                  <a:noFill/>
                </a:ln>
                <a:solidFill>
                  <a:srgbClr val="0000FF"/>
                </a:solidFill>
                <a:effectLst/>
                <a:cs typeface="Arial" panose="020B0604020202020204" pitchFamily="34" charset="0"/>
              </a:rPr>
              <a:t>&gt;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chemeClr val="tx1"/>
                </a:solidFill>
                <a:effectLst/>
              </a:rPr>
            </a:br>
            <a:r>
              <a:rPr kumimoji="0" lang="en-US" altLang="en-US" sz="1200" b="0" i="0" u="none" strike="noStrike" cap="none" normalizeH="0" baseline="0" dirty="0">
                <a:ln>
                  <a:noFill/>
                </a:ln>
                <a:solidFill>
                  <a:srgbClr val="333333"/>
                </a:solidFill>
                <a:effectLst/>
                <a:cs typeface="Arial" panose="020B0604020202020204" pitchFamily="34" charset="0"/>
              </a:rPr>
              <a:t>As you can see from the code below, manually generating links is much easier than using HTML Helpers or Tag Helpers.</a:t>
            </a:r>
            <a:br>
              <a:rPr kumimoji="0" lang="en-US" altLang="en-US" sz="1200" b="0" i="0" u="none" strike="noStrike" cap="none" normalizeH="0" baseline="0" dirty="0">
                <a:ln>
                  <a:noFill/>
                </a:ln>
                <a:solidFill>
                  <a:schemeClr val="tx1"/>
                </a:solidFill>
                <a:effectLst/>
              </a:rPr>
            </a:b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cs typeface="Arial" panose="020B0604020202020204" pitchFamily="34" charset="0"/>
              </a:rPr>
              <a:t>&lt;</a:t>
            </a:r>
            <a:r>
              <a:rPr kumimoji="0" lang="en-US" altLang="en-US" sz="1200" b="0" i="0" u="none" strike="noStrike" cap="none" normalizeH="0" baseline="0" dirty="0">
                <a:ln>
                  <a:noFill/>
                </a:ln>
                <a:solidFill>
                  <a:srgbClr val="800000"/>
                </a:solidFill>
                <a:effectLst/>
                <a:cs typeface="Arial" panose="020B0604020202020204" pitchFamily="34" charset="0"/>
              </a:rPr>
              <a:t>a</a:t>
            </a:r>
            <a:r>
              <a:rPr kumimoji="0" lang="en-US" altLang="en-US" sz="1200" b="0" i="0" u="none" strike="noStrike" cap="none" normalizeH="0" baseline="0" dirty="0">
                <a:ln>
                  <a:noFill/>
                </a:ln>
                <a:solidFill>
                  <a:srgbClr val="000000"/>
                </a:solidFill>
                <a:effectLst/>
                <a:cs typeface="Arial" panose="020B0604020202020204" pitchFamily="34" charset="0"/>
              </a:rPr>
              <a:t> </a:t>
            </a:r>
            <a:r>
              <a:rPr kumimoji="0" lang="en-US" altLang="en-US" sz="1200" b="0" i="0" u="none" strike="noStrike" cap="none" normalizeH="0" baseline="0" dirty="0" err="1">
                <a:ln>
                  <a:noFill/>
                </a:ln>
                <a:solidFill>
                  <a:srgbClr val="FF0000"/>
                </a:solidFill>
                <a:effectLst/>
                <a:cs typeface="Arial" panose="020B0604020202020204" pitchFamily="34" charset="0"/>
              </a:rPr>
              <a:t>href</a:t>
            </a:r>
            <a:r>
              <a:rPr kumimoji="0" lang="en-US" altLang="en-US" sz="1200" b="0" i="0" u="none" strike="noStrike" cap="none" normalizeH="0" baseline="0" dirty="0">
                <a:ln>
                  <a:noFill/>
                </a:ln>
                <a:solidFill>
                  <a:srgbClr val="0000FF"/>
                </a:solidFill>
                <a:effectLst/>
                <a:cs typeface="Arial" panose="020B0604020202020204" pitchFamily="34" charset="0"/>
              </a:rPr>
              <a:t>="/home/details/</a:t>
            </a:r>
            <a:r>
              <a:rPr kumimoji="0" lang="en-US" altLang="en-US" sz="1200" b="0" i="0" u="none" strike="noStrike" cap="none" normalizeH="0" baseline="0" dirty="0">
                <a:ln>
                  <a:noFill/>
                </a:ln>
                <a:solidFill>
                  <a:srgbClr val="000000"/>
                </a:solidFill>
                <a:effectLst/>
                <a:cs typeface="Arial" panose="020B0604020202020204" pitchFamily="34" charset="0"/>
              </a:rPr>
              <a:t>@employee.Id</a:t>
            </a:r>
            <a:r>
              <a:rPr kumimoji="0" lang="en-US" altLang="en-US" sz="1200" b="0" i="0" u="none" strike="noStrike" cap="none" normalizeH="0" baseline="0" dirty="0">
                <a:ln>
                  <a:noFill/>
                </a:ln>
                <a:solidFill>
                  <a:srgbClr val="0000FF"/>
                </a:solidFill>
                <a:effectLst/>
                <a:cs typeface="Arial" panose="020B0604020202020204" pitchFamily="34" charset="0"/>
              </a:rPr>
              <a:t>"&gt;</a:t>
            </a:r>
            <a:r>
              <a:rPr kumimoji="0" lang="en-US" altLang="en-US" sz="1200" b="0" i="0" u="none" strike="noStrike" cap="none" normalizeH="0" baseline="0" dirty="0">
                <a:ln>
                  <a:noFill/>
                </a:ln>
                <a:solidFill>
                  <a:srgbClr val="000000"/>
                </a:solidFill>
                <a:effectLst/>
                <a:cs typeface="Arial" panose="020B0604020202020204" pitchFamily="34" charset="0"/>
              </a:rPr>
              <a:t>View</a:t>
            </a:r>
            <a:r>
              <a:rPr kumimoji="0" lang="en-US" altLang="en-US" sz="1200" b="0" i="0" u="none" strike="noStrike" cap="none" normalizeH="0" baseline="0" dirty="0">
                <a:ln>
                  <a:noFill/>
                </a:ln>
                <a:solidFill>
                  <a:srgbClr val="0000FF"/>
                </a:solidFill>
                <a:effectLst/>
                <a:cs typeface="Arial" panose="020B0604020202020204" pitchFamily="34" charset="0"/>
              </a:rPr>
              <a:t>&lt;/</a:t>
            </a:r>
            <a:r>
              <a:rPr kumimoji="0" lang="en-US" altLang="en-US" sz="1200" b="0" i="0" u="none" strike="noStrike" cap="none" normalizeH="0" baseline="0" dirty="0">
                <a:ln>
                  <a:noFill/>
                </a:ln>
                <a:solidFill>
                  <a:srgbClr val="800000"/>
                </a:solidFill>
                <a:effectLst/>
                <a:cs typeface="Arial" panose="020B0604020202020204" pitchFamily="34" charset="0"/>
              </a:rPr>
              <a:t>a</a:t>
            </a:r>
            <a:r>
              <a:rPr kumimoji="0" lang="en-US" altLang="en-US" sz="1200" b="0" i="0" u="none" strike="noStrike" cap="none" normalizeH="0" baseline="0" dirty="0">
                <a:ln>
                  <a:noFill/>
                </a:ln>
                <a:solidFill>
                  <a:srgbClr val="0000FF"/>
                </a:solidFill>
                <a:effectLst/>
                <a:cs typeface="Arial" panose="020B0604020202020204" pitchFamily="34" charset="0"/>
              </a:rPr>
              <a:t>&gt;</a:t>
            </a:r>
            <a:endParaRPr kumimoji="0" lang="en-US" altLang="en-US" sz="1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783218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43259F3-8636-49B4-9C61-B8C06753B388}"/>
              </a:ext>
            </a:extLst>
          </p:cNvPr>
          <p:cNvSpPr txBox="1"/>
          <p:nvPr/>
        </p:nvSpPr>
        <p:spPr>
          <a:xfrm>
            <a:off x="186812" y="108606"/>
            <a:ext cx="11710219" cy="646331"/>
          </a:xfrm>
          <a:prstGeom prst="rect">
            <a:avLst/>
          </a:prstGeom>
          <a:noFill/>
        </p:spPr>
        <p:txBody>
          <a:bodyPr wrap="square">
            <a:spAutoFit/>
          </a:bodyPr>
          <a:lstStyle/>
          <a:p>
            <a:r>
              <a:rPr lang="en-US" b="0" i="0" dirty="0">
                <a:solidFill>
                  <a:srgbClr val="333333"/>
                </a:solidFill>
                <a:effectLst/>
                <a:latin typeface="arial" panose="020B0604020202020204" pitchFamily="34" charset="0"/>
              </a:rPr>
              <a:t> </a:t>
            </a:r>
            <a:r>
              <a:rPr lang="en-US" b="1" i="0" dirty="0">
                <a:solidFill>
                  <a:srgbClr val="333333"/>
                </a:solidFill>
                <a:effectLst/>
                <a:latin typeface="arial" panose="020B0604020202020204" pitchFamily="34" charset="0"/>
              </a:rPr>
              <a:t>why should we use tag helpers</a:t>
            </a:r>
            <a:r>
              <a:rPr lang="en-US" b="0" i="0" dirty="0">
                <a:solidFill>
                  <a:srgbClr val="333333"/>
                </a:solidFill>
                <a:effectLst/>
                <a:latin typeface="arial" panose="020B0604020202020204" pitchFamily="34" charset="0"/>
              </a:rPr>
              <a:t> instead of writing the same HTML by hand. Let's understand the advantage of using tag helpers with an example.</a:t>
            </a:r>
            <a:endParaRPr lang="en-IN" dirty="0"/>
          </a:p>
        </p:txBody>
      </p:sp>
      <p:sp>
        <p:nvSpPr>
          <p:cNvPr id="7" name="TextBox 6">
            <a:extLst>
              <a:ext uri="{FF2B5EF4-FFF2-40B4-BE49-F238E27FC236}">
                <a16:creationId xmlns:a16="http://schemas.microsoft.com/office/drawing/2014/main" id="{02F25928-4271-4553-85ED-DF4E9D2FF3BE}"/>
              </a:ext>
            </a:extLst>
          </p:cNvPr>
          <p:cNvSpPr txBox="1"/>
          <p:nvPr/>
        </p:nvSpPr>
        <p:spPr>
          <a:xfrm>
            <a:off x="0" y="1099968"/>
            <a:ext cx="6096000" cy="1477328"/>
          </a:xfrm>
          <a:prstGeom prst="rect">
            <a:avLst/>
          </a:prstGeom>
          <a:noFill/>
        </p:spPr>
        <p:txBody>
          <a:bodyPr wrap="square">
            <a:spAutoFit/>
          </a:bodyPr>
          <a:lstStyle/>
          <a:p>
            <a:r>
              <a:rPr lang="en-US" b="0" i="0" dirty="0">
                <a:solidFill>
                  <a:srgbClr val="333333"/>
                </a:solidFill>
                <a:effectLst/>
                <a:latin typeface="arial" panose="020B0604020202020204" pitchFamily="34" charset="0"/>
              </a:rPr>
              <a:t>Let's say we want to view a specific employee details. So we want to generate the following hyperlink. The number 5 is the ID of the employee whose details we want to view.</a:t>
            </a:r>
            <a:br>
              <a:rPr lang="en-US" dirty="0"/>
            </a:br>
            <a:br>
              <a:rPr lang="en-US" dirty="0"/>
            </a:br>
            <a:r>
              <a:rPr lang="en-US" b="0" i="0" dirty="0">
                <a:solidFill>
                  <a:srgbClr val="0000FF"/>
                </a:solidFill>
                <a:effectLst/>
                <a:latin typeface="arial" panose="020B0604020202020204" pitchFamily="34" charset="0"/>
              </a:rPr>
              <a:t>/home/details/5</a:t>
            </a:r>
            <a:endParaRPr lang="en-IN" dirty="0"/>
          </a:p>
        </p:txBody>
      </p:sp>
      <p:sp>
        <p:nvSpPr>
          <p:cNvPr id="9" name="TextBox 8">
            <a:extLst>
              <a:ext uri="{FF2B5EF4-FFF2-40B4-BE49-F238E27FC236}">
                <a16:creationId xmlns:a16="http://schemas.microsoft.com/office/drawing/2014/main" id="{C0FF3934-4BCB-40E0-8EF0-836B6BC1A07E}"/>
              </a:ext>
            </a:extLst>
          </p:cNvPr>
          <p:cNvSpPr txBox="1"/>
          <p:nvPr/>
        </p:nvSpPr>
        <p:spPr>
          <a:xfrm>
            <a:off x="-24580" y="3004883"/>
            <a:ext cx="6120580" cy="2308324"/>
          </a:xfrm>
          <a:prstGeom prst="rect">
            <a:avLst/>
          </a:prstGeom>
          <a:noFill/>
        </p:spPr>
        <p:txBody>
          <a:bodyPr wrap="square">
            <a:spAutoFit/>
          </a:bodyPr>
          <a:lstStyle/>
          <a:p>
            <a:pPr algn="l"/>
            <a:r>
              <a:rPr lang="en-US" b="0" i="0" dirty="0">
                <a:solidFill>
                  <a:srgbClr val="333333"/>
                </a:solidFill>
                <a:effectLst/>
                <a:latin typeface="arial" panose="020B0604020202020204" pitchFamily="34" charset="0"/>
              </a:rPr>
              <a:t>We could manually generate this as shown below</a:t>
            </a:r>
            <a:br>
              <a:rPr lang="en-US" dirty="0"/>
            </a:br>
            <a:r>
              <a:rPr lang="en-US" b="0" i="0" dirty="0">
                <a:solidFill>
                  <a:srgbClr val="0000FF"/>
                </a:solidFill>
                <a:effectLst/>
                <a:latin typeface="arial" panose="020B0604020202020204" pitchFamily="34" charset="0"/>
              </a:rPr>
              <a:t>&lt;</a:t>
            </a:r>
            <a:r>
              <a:rPr lang="en-US" b="0" i="0" dirty="0">
                <a:solidFill>
                  <a:srgbClr val="800000"/>
                </a:solidFill>
                <a:effectLst/>
                <a:latin typeface="arial" panose="020B0604020202020204" pitchFamily="34" charset="0"/>
              </a:rPr>
              <a:t>a</a:t>
            </a:r>
            <a:r>
              <a:rPr lang="en-US" b="0" i="0" dirty="0">
                <a:solidFill>
                  <a:srgbClr val="000000"/>
                </a:solidFill>
                <a:effectLst/>
                <a:latin typeface="arial" panose="020B0604020202020204" pitchFamily="34" charset="0"/>
              </a:rPr>
              <a:t> </a:t>
            </a:r>
            <a:r>
              <a:rPr lang="en-US" b="0" i="0" dirty="0" err="1">
                <a:solidFill>
                  <a:srgbClr val="FF0000"/>
                </a:solidFill>
                <a:effectLst/>
                <a:latin typeface="arial" panose="020B0604020202020204" pitchFamily="34" charset="0"/>
              </a:rPr>
              <a:t>href</a:t>
            </a:r>
            <a:r>
              <a:rPr lang="en-US" b="0" i="0" dirty="0">
                <a:solidFill>
                  <a:srgbClr val="0000FF"/>
                </a:solidFill>
                <a:effectLst/>
                <a:latin typeface="arial" panose="020B0604020202020204" pitchFamily="34" charset="0"/>
              </a:rPr>
              <a:t>="/home/details/</a:t>
            </a:r>
            <a:r>
              <a:rPr lang="en-US" b="0" i="0" dirty="0">
                <a:solidFill>
                  <a:srgbClr val="000000"/>
                </a:solidFill>
                <a:effectLst/>
                <a:latin typeface="arial" panose="020B0604020202020204" pitchFamily="34" charset="0"/>
              </a:rPr>
              <a:t>@employee.Id</a:t>
            </a:r>
            <a:r>
              <a:rPr lang="en-US" b="0" i="0" dirty="0">
                <a:solidFill>
                  <a:srgbClr val="0000FF"/>
                </a:solidFill>
                <a:effectLst/>
                <a:latin typeface="arial" panose="020B0604020202020204" pitchFamily="34" charset="0"/>
              </a:rPr>
              <a:t>"&gt;</a:t>
            </a:r>
            <a:r>
              <a:rPr lang="en-US" b="0" i="0" dirty="0">
                <a:solidFill>
                  <a:srgbClr val="000000"/>
                </a:solidFill>
                <a:effectLst/>
                <a:latin typeface="arial" panose="020B0604020202020204" pitchFamily="34" charset="0"/>
              </a:rPr>
              <a:t>View</a:t>
            </a:r>
            <a:r>
              <a:rPr lang="en-US" b="0" i="0" dirty="0">
                <a:solidFill>
                  <a:srgbClr val="0000FF"/>
                </a:solidFill>
                <a:effectLst/>
                <a:latin typeface="arial" panose="020B0604020202020204" pitchFamily="34" charset="0"/>
              </a:rPr>
              <a:t>&lt;/</a:t>
            </a:r>
            <a:r>
              <a:rPr lang="en-US" b="0" i="0" dirty="0">
                <a:solidFill>
                  <a:srgbClr val="800000"/>
                </a:solidFill>
                <a:effectLst/>
                <a:latin typeface="arial" panose="020B0604020202020204" pitchFamily="34" charset="0"/>
              </a:rPr>
              <a:t>a</a:t>
            </a:r>
            <a:r>
              <a:rPr lang="en-US" b="0" i="0" dirty="0">
                <a:solidFill>
                  <a:srgbClr val="0000FF"/>
                </a:solidFill>
                <a:effectLst/>
                <a:latin typeface="arial" panose="020B0604020202020204" pitchFamily="34" charset="0"/>
              </a:rPr>
              <a:t>&gt;</a:t>
            </a:r>
            <a:endParaRPr lang="en-US" b="0" i="0" dirty="0">
              <a:solidFill>
                <a:srgbClr val="333333"/>
              </a:solidFill>
              <a:effectLst/>
              <a:latin typeface="Arial" panose="020B0604020202020204" pitchFamily="34" charset="0"/>
            </a:endParaRPr>
          </a:p>
          <a:p>
            <a:pPr algn="l"/>
            <a:br>
              <a:rPr lang="en-US" dirty="0"/>
            </a:br>
            <a:r>
              <a:rPr lang="en-US" b="1" i="0" dirty="0">
                <a:solidFill>
                  <a:srgbClr val="333333"/>
                </a:solidFill>
                <a:effectLst/>
                <a:latin typeface="arial" panose="020B0604020202020204" pitchFamily="34" charset="0"/>
              </a:rPr>
              <a:t>OR</a:t>
            </a:r>
            <a:br>
              <a:rPr lang="en-US" dirty="0"/>
            </a:br>
            <a:br>
              <a:rPr lang="en-US" dirty="0"/>
            </a:br>
            <a:r>
              <a:rPr lang="en-US" b="0" i="0" dirty="0">
                <a:solidFill>
                  <a:srgbClr val="333333"/>
                </a:solidFill>
                <a:effectLst/>
                <a:latin typeface="arial" panose="020B0604020202020204" pitchFamily="34" charset="0"/>
              </a:rPr>
              <a:t>Use the anchor </a:t>
            </a:r>
            <a:r>
              <a:rPr lang="en-US" b="0" i="0" dirty="0">
                <a:solidFill>
                  <a:srgbClr val="0000FF"/>
                </a:solidFill>
                <a:effectLst/>
                <a:latin typeface="arial" panose="020B0604020202020204" pitchFamily="34" charset="0"/>
              </a:rPr>
              <a:t>&lt;</a:t>
            </a:r>
            <a:r>
              <a:rPr lang="en-US" b="0" i="0" dirty="0">
                <a:solidFill>
                  <a:srgbClr val="990000"/>
                </a:solidFill>
                <a:effectLst/>
                <a:latin typeface="arial" panose="020B0604020202020204" pitchFamily="34" charset="0"/>
              </a:rPr>
              <a:t>a</a:t>
            </a:r>
            <a:r>
              <a:rPr lang="en-US" b="0" i="0" dirty="0">
                <a:solidFill>
                  <a:srgbClr val="0000FF"/>
                </a:solidFill>
                <a:effectLst/>
                <a:latin typeface="arial" panose="020B0604020202020204" pitchFamily="34" charset="0"/>
              </a:rPr>
              <a:t>&gt;</a:t>
            </a:r>
            <a:r>
              <a:rPr lang="en-US" b="0" i="0" dirty="0">
                <a:solidFill>
                  <a:srgbClr val="333333"/>
                </a:solidFill>
                <a:effectLst/>
                <a:latin typeface="arial" panose="020B0604020202020204" pitchFamily="34" charset="0"/>
              </a:rPr>
              <a:t> tag helper as shown below</a:t>
            </a:r>
            <a:br>
              <a:rPr lang="en-US" dirty="0"/>
            </a:br>
            <a:r>
              <a:rPr lang="en-US" b="0" i="0" dirty="0">
                <a:solidFill>
                  <a:srgbClr val="0000FF"/>
                </a:solidFill>
                <a:effectLst/>
                <a:latin typeface="arial" panose="020B0604020202020204" pitchFamily="34" charset="0"/>
              </a:rPr>
              <a:t>&lt;</a:t>
            </a:r>
            <a:r>
              <a:rPr lang="en-US" b="1" i="0" dirty="0">
                <a:solidFill>
                  <a:srgbClr val="800080"/>
                </a:solidFill>
                <a:effectLst/>
                <a:latin typeface="arial" panose="020B0604020202020204" pitchFamily="34" charset="0"/>
              </a:rPr>
              <a:t>a</a:t>
            </a:r>
            <a:r>
              <a:rPr lang="en-US" b="0" i="0" dirty="0">
                <a:solidFill>
                  <a:srgbClr val="000000"/>
                </a:solidFill>
                <a:effectLst/>
                <a:latin typeface="arial" panose="020B0604020202020204" pitchFamily="34" charset="0"/>
              </a:rPr>
              <a:t> </a:t>
            </a:r>
            <a:r>
              <a:rPr lang="en-US" b="1" i="0" dirty="0">
                <a:solidFill>
                  <a:srgbClr val="800080"/>
                </a:solidFill>
                <a:effectLst/>
                <a:latin typeface="arial" panose="020B0604020202020204" pitchFamily="34" charset="0"/>
              </a:rPr>
              <a:t>asp-controller</a:t>
            </a:r>
            <a:r>
              <a:rPr lang="en-US" b="0" i="0" dirty="0">
                <a:solidFill>
                  <a:srgbClr val="0000FF"/>
                </a:solidFill>
                <a:effectLst/>
                <a:latin typeface="arial" panose="020B0604020202020204" pitchFamily="34" charset="0"/>
              </a:rPr>
              <a:t>="home"</a:t>
            </a:r>
            <a:r>
              <a:rPr lang="en-US" b="0" i="0" dirty="0">
                <a:solidFill>
                  <a:srgbClr val="000000"/>
                </a:solidFill>
                <a:effectLst/>
                <a:latin typeface="arial" panose="020B0604020202020204" pitchFamily="34" charset="0"/>
              </a:rPr>
              <a:t> </a:t>
            </a:r>
            <a:r>
              <a:rPr lang="en-US" b="1" i="0" dirty="0">
                <a:solidFill>
                  <a:srgbClr val="800080"/>
                </a:solidFill>
                <a:effectLst/>
                <a:latin typeface="arial" panose="020B0604020202020204" pitchFamily="34" charset="0"/>
              </a:rPr>
              <a:t>asp-action</a:t>
            </a:r>
            <a:r>
              <a:rPr lang="en-US" b="0" i="0" dirty="0">
                <a:solidFill>
                  <a:srgbClr val="0000FF"/>
                </a:solidFill>
                <a:effectLst/>
                <a:latin typeface="arial" panose="020B0604020202020204" pitchFamily="34" charset="0"/>
              </a:rPr>
              <a:t>="details"</a:t>
            </a:r>
            <a:r>
              <a:rPr lang="en-US" b="0" i="0" dirty="0">
                <a:solidFill>
                  <a:srgbClr val="000000"/>
                </a:solidFill>
                <a:effectLst/>
                <a:latin typeface="arial" panose="020B0604020202020204" pitchFamily="34" charset="0"/>
              </a:rPr>
              <a:t> </a:t>
            </a:r>
            <a:r>
              <a:rPr lang="en-US" b="1" i="0" dirty="0">
                <a:solidFill>
                  <a:srgbClr val="800080"/>
                </a:solidFill>
                <a:effectLst/>
                <a:latin typeface="arial" panose="020B0604020202020204" pitchFamily="34" charset="0"/>
              </a:rPr>
              <a:t>asp-route-id</a:t>
            </a:r>
            <a:r>
              <a:rPr lang="en-US" b="0" i="0" dirty="0">
                <a:solidFill>
                  <a:srgbClr val="0000FF"/>
                </a:solidFill>
                <a:effectLst/>
                <a:latin typeface="arial" panose="020B0604020202020204" pitchFamily="34" charset="0"/>
              </a:rPr>
              <a:t>="</a:t>
            </a:r>
            <a:r>
              <a:rPr lang="en-US" b="0" i="0" dirty="0">
                <a:solidFill>
                  <a:srgbClr val="000000"/>
                </a:solidFill>
                <a:effectLst/>
                <a:latin typeface="arial" panose="020B0604020202020204" pitchFamily="34" charset="0"/>
              </a:rPr>
              <a:t>@</a:t>
            </a:r>
            <a:r>
              <a:rPr lang="en-US" b="0" i="0" dirty="0" err="1">
                <a:solidFill>
                  <a:srgbClr val="000000"/>
                </a:solidFill>
                <a:effectLst/>
                <a:latin typeface="arial" panose="020B0604020202020204" pitchFamily="34" charset="0"/>
              </a:rPr>
              <a:t>employee.Id</a:t>
            </a:r>
            <a:r>
              <a:rPr lang="en-US" b="0" i="0" dirty="0">
                <a:solidFill>
                  <a:srgbClr val="0000FF"/>
                </a:solidFill>
                <a:effectLst/>
                <a:latin typeface="arial" panose="020B0604020202020204" pitchFamily="34" charset="0"/>
              </a:rPr>
              <a:t>"&gt;</a:t>
            </a:r>
            <a:r>
              <a:rPr lang="en-US" b="0" i="0" dirty="0">
                <a:solidFill>
                  <a:srgbClr val="000000"/>
                </a:solidFill>
                <a:effectLst/>
                <a:latin typeface="arial" panose="020B0604020202020204" pitchFamily="34" charset="0"/>
              </a:rPr>
              <a:t>View</a:t>
            </a:r>
            <a:r>
              <a:rPr lang="en-US" b="0" i="0" dirty="0">
                <a:solidFill>
                  <a:srgbClr val="0000FF"/>
                </a:solidFill>
                <a:effectLst/>
                <a:latin typeface="arial" panose="020B0604020202020204" pitchFamily="34" charset="0"/>
              </a:rPr>
              <a:t>&lt;/</a:t>
            </a:r>
            <a:r>
              <a:rPr lang="en-US" b="1" i="0" dirty="0">
                <a:solidFill>
                  <a:srgbClr val="800080"/>
                </a:solidFill>
                <a:effectLst/>
                <a:latin typeface="arial" panose="020B0604020202020204" pitchFamily="34" charset="0"/>
              </a:rPr>
              <a:t>a</a:t>
            </a:r>
            <a:r>
              <a:rPr lang="en-US" b="0" i="0" dirty="0">
                <a:solidFill>
                  <a:srgbClr val="0000FF"/>
                </a:solidFill>
                <a:effectLst/>
                <a:latin typeface="arial" panose="020B0604020202020204" pitchFamily="34" charset="0"/>
              </a:rPr>
              <a:t>&gt;</a:t>
            </a:r>
            <a:endParaRPr lang="en-US" b="0" i="0" dirty="0">
              <a:solidFill>
                <a:srgbClr val="333333"/>
              </a:solidFill>
              <a:effectLst/>
              <a:latin typeface="Arial" panose="020B0604020202020204" pitchFamily="34" charset="0"/>
            </a:endParaRPr>
          </a:p>
        </p:txBody>
      </p:sp>
      <p:sp>
        <p:nvSpPr>
          <p:cNvPr id="11" name="TextBox 10">
            <a:extLst>
              <a:ext uri="{FF2B5EF4-FFF2-40B4-BE49-F238E27FC236}">
                <a16:creationId xmlns:a16="http://schemas.microsoft.com/office/drawing/2014/main" id="{189D8F3E-CACC-4881-A454-FC1F644A5A49}"/>
              </a:ext>
            </a:extLst>
          </p:cNvPr>
          <p:cNvSpPr txBox="1"/>
          <p:nvPr/>
        </p:nvSpPr>
        <p:spPr>
          <a:xfrm>
            <a:off x="6233653" y="1311192"/>
            <a:ext cx="5535560" cy="3416320"/>
          </a:xfrm>
          <a:prstGeom prst="rect">
            <a:avLst/>
          </a:prstGeom>
          <a:noFill/>
        </p:spPr>
        <p:txBody>
          <a:bodyPr wrap="square">
            <a:spAutoFit/>
          </a:bodyPr>
          <a:lstStyle/>
          <a:p>
            <a:r>
              <a:rPr lang="en-US" b="1" i="0" dirty="0">
                <a:solidFill>
                  <a:srgbClr val="333333"/>
                </a:solidFill>
                <a:effectLst/>
                <a:latin typeface="arial" panose="020B0604020202020204" pitchFamily="34" charset="0"/>
              </a:rPr>
              <a:t>Advantage of using Tag helpers</a:t>
            </a:r>
            <a:br>
              <a:rPr lang="en-US" dirty="0"/>
            </a:br>
            <a:br>
              <a:rPr lang="en-US" dirty="0"/>
            </a:br>
            <a:r>
              <a:rPr lang="en-US" b="0" i="0" dirty="0">
                <a:solidFill>
                  <a:srgbClr val="333333"/>
                </a:solidFill>
                <a:effectLst/>
                <a:latin typeface="arial" panose="020B0604020202020204" pitchFamily="34" charset="0"/>
              </a:rPr>
              <a:t>Tag helpers generate links based on the application routing templates. This means if we later change routing templates, the links generated by tag helpers will automatically reflect those changes made to the routing templates. The generated links just work. </a:t>
            </a:r>
            <a:br>
              <a:rPr lang="en-US" dirty="0"/>
            </a:br>
            <a:br>
              <a:rPr lang="en-US" dirty="0"/>
            </a:br>
            <a:r>
              <a:rPr lang="en-US" b="0" i="0" dirty="0">
                <a:solidFill>
                  <a:srgbClr val="333333"/>
                </a:solidFill>
                <a:effectLst/>
                <a:latin typeface="arial" panose="020B0604020202020204" pitchFamily="34" charset="0"/>
              </a:rPr>
              <a:t>Where as if we have hard-coded the URL paths manually, we would have to change the code in lot of places when the application routing templates change.</a:t>
            </a:r>
            <a:endParaRPr lang="en-IN" dirty="0"/>
          </a:p>
        </p:txBody>
      </p:sp>
      <p:sp>
        <p:nvSpPr>
          <p:cNvPr id="3" name="TextBox 2">
            <a:extLst>
              <a:ext uri="{FF2B5EF4-FFF2-40B4-BE49-F238E27FC236}">
                <a16:creationId xmlns:a16="http://schemas.microsoft.com/office/drawing/2014/main" id="{E94B3653-0198-48AE-AC84-E05A2E1848B0}"/>
              </a:ext>
            </a:extLst>
          </p:cNvPr>
          <p:cNvSpPr txBox="1"/>
          <p:nvPr/>
        </p:nvSpPr>
        <p:spPr>
          <a:xfrm>
            <a:off x="5882640" y="5740794"/>
            <a:ext cx="22352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b="0" i="0" dirty="0">
                <a:solidFill>
                  <a:srgbClr val="0000FF"/>
                </a:solidFill>
                <a:effectLst/>
                <a:latin typeface="arial" panose="020B0604020202020204" pitchFamily="34" charset="0"/>
              </a:rPr>
              <a:t>/home/details/5</a:t>
            </a:r>
            <a:endParaRPr lang="en-IN" dirty="0"/>
          </a:p>
        </p:txBody>
      </p:sp>
      <p:sp>
        <p:nvSpPr>
          <p:cNvPr id="4" name="TextBox 3">
            <a:extLst>
              <a:ext uri="{FF2B5EF4-FFF2-40B4-BE49-F238E27FC236}">
                <a16:creationId xmlns:a16="http://schemas.microsoft.com/office/drawing/2014/main" id="{E6A4DFFC-D99D-4B61-BF17-5C3D69CB267C}"/>
              </a:ext>
            </a:extLst>
          </p:cNvPr>
          <p:cNvSpPr txBox="1"/>
          <p:nvPr/>
        </p:nvSpPr>
        <p:spPr>
          <a:xfrm>
            <a:off x="7589520" y="4727512"/>
            <a:ext cx="3474720" cy="369332"/>
          </a:xfrm>
          <a:prstGeom prst="rect">
            <a:avLst/>
          </a:prstGeom>
          <a:noFill/>
        </p:spPr>
        <p:txBody>
          <a:bodyPr wrap="square" rtlCol="0">
            <a:spAutoFit/>
          </a:bodyPr>
          <a:lstStyle/>
          <a:p>
            <a:r>
              <a:rPr lang="en-IN" dirty="0"/>
              <a:t>URL:</a:t>
            </a:r>
            <a:r>
              <a:rPr lang="en-US" b="0" i="0" dirty="0">
                <a:solidFill>
                  <a:srgbClr val="0000FF"/>
                </a:solidFill>
                <a:effectLst/>
                <a:latin typeface="arial" panose="020B0604020202020204" pitchFamily="34" charset="0"/>
              </a:rPr>
              <a:t> home/details/9</a:t>
            </a:r>
            <a:endParaRPr lang="en-IN" dirty="0"/>
          </a:p>
        </p:txBody>
      </p:sp>
      <p:cxnSp>
        <p:nvCxnSpPr>
          <p:cNvPr id="8" name="Straight Connector 7">
            <a:extLst>
              <a:ext uri="{FF2B5EF4-FFF2-40B4-BE49-F238E27FC236}">
                <a16:creationId xmlns:a16="http://schemas.microsoft.com/office/drawing/2014/main" id="{4AC8BDFC-DCBE-4EB8-B8C7-556F1F174680}"/>
              </a:ext>
            </a:extLst>
          </p:cNvPr>
          <p:cNvCxnSpPr/>
          <p:nvPr/>
        </p:nvCxnSpPr>
        <p:spPr>
          <a:xfrm flipH="1">
            <a:off x="6233653" y="5313207"/>
            <a:ext cx="1264427" cy="1311113"/>
          </a:xfrm>
          <a:prstGeom prst="line">
            <a:avLst/>
          </a:prstGeom>
        </p:spPr>
        <p:style>
          <a:lnRef idx="3">
            <a:schemeClr val="accent2"/>
          </a:lnRef>
          <a:fillRef idx="0">
            <a:schemeClr val="accent2"/>
          </a:fillRef>
          <a:effectRef idx="2">
            <a:schemeClr val="accent2"/>
          </a:effectRef>
          <a:fontRef idx="minor">
            <a:schemeClr val="tx1"/>
          </a:fontRef>
        </p:style>
      </p:cxnSp>
      <p:cxnSp>
        <p:nvCxnSpPr>
          <p:cNvPr id="12" name="Straight Connector 11">
            <a:extLst>
              <a:ext uri="{FF2B5EF4-FFF2-40B4-BE49-F238E27FC236}">
                <a16:creationId xmlns:a16="http://schemas.microsoft.com/office/drawing/2014/main" id="{2EE03973-D95A-4D9E-8ACF-4FDACC79BCF6}"/>
              </a:ext>
            </a:extLst>
          </p:cNvPr>
          <p:cNvCxnSpPr/>
          <p:nvPr/>
        </p:nvCxnSpPr>
        <p:spPr>
          <a:xfrm>
            <a:off x="6096000" y="5313207"/>
            <a:ext cx="1656080" cy="1311113"/>
          </a:xfrm>
          <a:prstGeom prst="line">
            <a:avLst/>
          </a:prstGeom>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DC8A4048-6FB6-4870-AEC5-0F5E45C0C66A}"/>
              </a:ext>
            </a:extLst>
          </p:cNvPr>
          <p:cNvSpPr txBox="1"/>
          <p:nvPr/>
        </p:nvSpPr>
        <p:spPr>
          <a:xfrm>
            <a:off x="8255493" y="5602294"/>
            <a:ext cx="3733307"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0" i="0" dirty="0">
                <a:solidFill>
                  <a:srgbClr val="0000FF"/>
                </a:solidFill>
                <a:effectLst/>
                <a:latin typeface="arial" panose="020B0604020202020204" pitchFamily="34" charset="0"/>
              </a:rPr>
              <a:t>&lt;</a:t>
            </a:r>
            <a:r>
              <a:rPr lang="en-US" b="1" i="0" dirty="0">
                <a:solidFill>
                  <a:srgbClr val="800080"/>
                </a:solidFill>
                <a:effectLst/>
                <a:latin typeface="arial" panose="020B0604020202020204" pitchFamily="34" charset="0"/>
              </a:rPr>
              <a:t>a</a:t>
            </a:r>
            <a:r>
              <a:rPr lang="en-US" b="0" i="0" dirty="0">
                <a:solidFill>
                  <a:srgbClr val="000000"/>
                </a:solidFill>
                <a:effectLst/>
                <a:latin typeface="arial" panose="020B0604020202020204" pitchFamily="34" charset="0"/>
              </a:rPr>
              <a:t> </a:t>
            </a:r>
            <a:r>
              <a:rPr lang="en-US" b="1" i="0" dirty="0">
                <a:solidFill>
                  <a:srgbClr val="800080"/>
                </a:solidFill>
                <a:effectLst/>
                <a:latin typeface="arial" panose="020B0604020202020204" pitchFamily="34" charset="0"/>
              </a:rPr>
              <a:t>asp-controller</a:t>
            </a:r>
            <a:r>
              <a:rPr lang="en-US" b="0" i="0" dirty="0">
                <a:solidFill>
                  <a:srgbClr val="0000FF"/>
                </a:solidFill>
                <a:effectLst/>
                <a:latin typeface="arial" panose="020B0604020202020204" pitchFamily="34" charset="0"/>
              </a:rPr>
              <a:t>="home"</a:t>
            </a:r>
            <a:r>
              <a:rPr lang="en-US" b="0" i="0" dirty="0">
                <a:solidFill>
                  <a:srgbClr val="000000"/>
                </a:solidFill>
                <a:effectLst/>
                <a:latin typeface="arial" panose="020B0604020202020204" pitchFamily="34" charset="0"/>
              </a:rPr>
              <a:t> </a:t>
            </a:r>
            <a:r>
              <a:rPr lang="en-US" b="1" i="0" dirty="0">
                <a:solidFill>
                  <a:srgbClr val="800080"/>
                </a:solidFill>
                <a:effectLst/>
                <a:latin typeface="arial" panose="020B0604020202020204" pitchFamily="34" charset="0"/>
              </a:rPr>
              <a:t>asp-action</a:t>
            </a:r>
            <a:r>
              <a:rPr lang="en-US" b="0" i="0" dirty="0">
                <a:solidFill>
                  <a:srgbClr val="0000FF"/>
                </a:solidFill>
                <a:effectLst/>
                <a:latin typeface="arial" panose="020B0604020202020204" pitchFamily="34" charset="0"/>
              </a:rPr>
              <a:t>="details"</a:t>
            </a:r>
            <a:r>
              <a:rPr lang="en-US" b="0" i="0" dirty="0">
                <a:solidFill>
                  <a:srgbClr val="000000"/>
                </a:solidFill>
                <a:effectLst/>
                <a:latin typeface="arial" panose="020B0604020202020204" pitchFamily="34" charset="0"/>
              </a:rPr>
              <a:t> </a:t>
            </a:r>
            <a:r>
              <a:rPr lang="en-US" b="1" i="0" dirty="0">
                <a:solidFill>
                  <a:srgbClr val="800080"/>
                </a:solidFill>
                <a:effectLst/>
                <a:latin typeface="arial" panose="020B0604020202020204" pitchFamily="34" charset="0"/>
              </a:rPr>
              <a:t>asp-route-id</a:t>
            </a:r>
            <a:r>
              <a:rPr lang="en-US" b="0" i="0" dirty="0">
                <a:solidFill>
                  <a:srgbClr val="0000FF"/>
                </a:solidFill>
                <a:effectLst/>
                <a:latin typeface="arial" panose="020B0604020202020204" pitchFamily="34" charset="0"/>
              </a:rPr>
              <a:t>="</a:t>
            </a:r>
            <a:r>
              <a:rPr lang="en-US" b="0" i="0" dirty="0">
                <a:solidFill>
                  <a:srgbClr val="000000"/>
                </a:solidFill>
                <a:effectLst/>
                <a:latin typeface="arial" panose="020B0604020202020204" pitchFamily="34" charset="0"/>
              </a:rPr>
              <a:t>@</a:t>
            </a:r>
            <a:r>
              <a:rPr lang="en-US" b="0" i="0" dirty="0" err="1">
                <a:solidFill>
                  <a:srgbClr val="000000"/>
                </a:solidFill>
                <a:effectLst/>
                <a:latin typeface="arial" panose="020B0604020202020204" pitchFamily="34" charset="0"/>
              </a:rPr>
              <a:t>employee.Id</a:t>
            </a:r>
            <a:r>
              <a:rPr lang="en-US" b="0" i="0" dirty="0">
                <a:solidFill>
                  <a:srgbClr val="0000FF"/>
                </a:solidFill>
                <a:effectLst/>
                <a:latin typeface="arial" panose="020B0604020202020204" pitchFamily="34" charset="0"/>
              </a:rPr>
              <a:t>"&gt;</a:t>
            </a:r>
            <a:r>
              <a:rPr lang="en-US" b="0" i="0" dirty="0">
                <a:solidFill>
                  <a:srgbClr val="000000"/>
                </a:solidFill>
                <a:effectLst/>
                <a:latin typeface="arial" panose="020B0604020202020204" pitchFamily="34" charset="0"/>
              </a:rPr>
              <a:t>View</a:t>
            </a:r>
            <a:r>
              <a:rPr lang="en-US" b="0" i="0" dirty="0">
                <a:solidFill>
                  <a:srgbClr val="0000FF"/>
                </a:solidFill>
                <a:effectLst/>
                <a:latin typeface="arial" panose="020B0604020202020204" pitchFamily="34" charset="0"/>
              </a:rPr>
              <a:t>&lt;/</a:t>
            </a:r>
            <a:r>
              <a:rPr lang="en-US" b="1" i="0" dirty="0">
                <a:solidFill>
                  <a:srgbClr val="800080"/>
                </a:solidFill>
                <a:effectLst/>
                <a:latin typeface="arial" panose="020B0604020202020204" pitchFamily="34" charset="0"/>
              </a:rPr>
              <a:t>a</a:t>
            </a:r>
            <a:r>
              <a:rPr lang="en-US" b="0" i="0" dirty="0">
                <a:solidFill>
                  <a:srgbClr val="0000FF"/>
                </a:solidFill>
                <a:effectLst/>
                <a:latin typeface="arial" panose="020B0604020202020204" pitchFamily="34" charset="0"/>
              </a:rPr>
              <a:t>&gt;</a:t>
            </a:r>
            <a:endParaRPr lang="en-IN" dirty="0"/>
          </a:p>
        </p:txBody>
      </p:sp>
      <p:sp>
        <p:nvSpPr>
          <p:cNvPr id="15" name="Freeform: Shape 14">
            <a:extLst>
              <a:ext uri="{FF2B5EF4-FFF2-40B4-BE49-F238E27FC236}">
                <a16:creationId xmlns:a16="http://schemas.microsoft.com/office/drawing/2014/main" id="{C010F0A3-0BDA-4C73-BEA1-ABCC0E725DC0}"/>
              </a:ext>
            </a:extLst>
          </p:cNvPr>
          <p:cNvSpPr/>
          <p:nvPr/>
        </p:nvSpPr>
        <p:spPr>
          <a:xfrm>
            <a:off x="10403840" y="4175760"/>
            <a:ext cx="1676400" cy="1167126"/>
          </a:xfrm>
          <a:custGeom>
            <a:avLst/>
            <a:gdLst>
              <a:gd name="connsiteX0" fmla="*/ 0 w 1676400"/>
              <a:gd name="connsiteY0" fmla="*/ 833120 h 1167126"/>
              <a:gd name="connsiteX1" fmla="*/ 335280 w 1676400"/>
              <a:gd name="connsiteY1" fmla="*/ 1158240 h 1167126"/>
              <a:gd name="connsiteX2" fmla="*/ 467360 w 1676400"/>
              <a:gd name="connsiteY2" fmla="*/ 1137920 h 1167126"/>
              <a:gd name="connsiteX3" fmla="*/ 792480 w 1676400"/>
              <a:gd name="connsiteY3" fmla="*/ 924560 h 1167126"/>
              <a:gd name="connsiteX4" fmla="*/ 883920 w 1676400"/>
              <a:gd name="connsiteY4" fmla="*/ 863600 h 1167126"/>
              <a:gd name="connsiteX5" fmla="*/ 1026160 w 1676400"/>
              <a:gd name="connsiteY5" fmla="*/ 741680 h 1167126"/>
              <a:gd name="connsiteX6" fmla="*/ 1107440 w 1676400"/>
              <a:gd name="connsiteY6" fmla="*/ 670560 h 1167126"/>
              <a:gd name="connsiteX7" fmla="*/ 1280160 w 1676400"/>
              <a:gd name="connsiteY7" fmla="*/ 457200 h 1167126"/>
              <a:gd name="connsiteX8" fmla="*/ 1351280 w 1676400"/>
              <a:gd name="connsiteY8" fmla="*/ 386080 h 1167126"/>
              <a:gd name="connsiteX9" fmla="*/ 1544320 w 1676400"/>
              <a:gd name="connsiteY9" fmla="*/ 203200 h 1167126"/>
              <a:gd name="connsiteX10" fmla="*/ 1574800 w 1676400"/>
              <a:gd name="connsiteY10" fmla="*/ 132080 h 1167126"/>
              <a:gd name="connsiteX11" fmla="*/ 1615440 w 1676400"/>
              <a:gd name="connsiteY11" fmla="*/ 91440 h 1167126"/>
              <a:gd name="connsiteX12" fmla="*/ 1645920 w 1676400"/>
              <a:gd name="connsiteY12" fmla="*/ 50800 h 1167126"/>
              <a:gd name="connsiteX13" fmla="*/ 1676400 w 1676400"/>
              <a:gd name="connsiteY13" fmla="*/ 0 h 1167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76400" h="1167126">
                <a:moveTo>
                  <a:pt x="0" y="833120"/>
                </a:moveTo>
                <a:cubicBezTo>
                  <a:pt x="111760" y="941493"/>
                  <a:pt x="204884" y="1073199"/>
                  <a:pt x="335280" y="1158240"/>
                </a:cubicBezTo>
                <a:cubicBezTo>
                  <a:pt x="372591" y="1182573"/>
                  <a:pt x="424651" y="1150575"/>
                  <a:pt x="467360" y="1137920"/>
                </a:cubicBezTo>
                <a:cubicBezTo>
                  <a:pt x="640112" y="1086734"/>
                  <a:pt x="635234" y="1046863"/>
                  <a:pt x="792480" y="924560"/>
                </a:cubicBezTo>
                <a:cubicBezTo>
                  <a:pt x="821396" y="902070"/>
                  <a:pt x="854223" y="885048"/>
                  <a:pt x="883920" y="863600"/>
                </a:cubicBezTo>
                <a:cubicBezTo>
                  <a:pt x="1011975" y="771116"/>
                  <a:pt x="937072" y="823916"/>
                  <a:pt x="1026160" y="741680"/>
                </a:cubicBezTo>
                <a:cubicBezTo>
                  <a:pt x="1052613" y="717261"/>
                  <a:pt x="1083463" y="697414"/>
                  <a:pt x="1107440" y="670560"/>
                </a:cubicBezTo>
                <a:cubicBezTo>
                  <a:pt x="1168382" y="602305"/>
                  <a:pt x="1215458" y="521902"/>
                  <a:pt x="1280160" y="457200"/>
                </a:cubicBezTo>
                <a:cubicBezTo>
                  <a:pt x="1303867" y="433493"/>
                  <a:pt x="1328852" y="411000"/>
                  <a:pt x="1351280" y="386080"/>
                </a:cubicBezTo>
                <a:cubicBezTo>
                  <a:pt x="1502936" y="217574"/>
                  <a:pt x="1403465" y="291234"/>
                  <a:pt x="1544320" y="203200"/>
                </a:cubicBezTo>
                <a:cubicBezTo>
                  <a:pt x="1554480" y="179493"/>
                  <a:pt x="1560953" y="153840"/>
                  <a:pt x="1574800" y="132080"/>
                </a:cubicBezTo>
                <a:cubicBezTo>
                  <a:pt x="1585085" y="115917"/>
                  <a:pt x="1602824" y="105858"/>
                  <a:pt x="1615440" y="91440"/>
                </a:cubicBezTo>
                <a:cubicBezTo>
                  <a:pt x="1626591" y="78696"/>
                  <a:pt x="1636527" y="64889"/>
                  <a:pt x="1645920" y="50800"/>
                </a:cubicBezTo>
                <a:cubicBezTo>
                  <a:pt x="1656874" y="34369"/>
                  <a:pt x="1676400" y="0"/>
                  <a:pt x="1676400" y="0"/>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3410580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93C7D57-C739-4E2E-AF1C-1326FBBFB29B}"/>
              </a:ext>
            </a:extLst>
          </p:cNvPr>
          <p:cNvSpPr>
            <a:spLocks noChangeArrowheads="1"/>
          </p:cNvSpPr>
          <p:nvPr/>
        </p:nvSpPr>
        <p:spPr bwMode="auto">
          <a:xfrm>
            <a:off x="0" y="0"/>
            <a:ext cx="12202049"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Let's understand this with an example    The following is the route template our application is using</a:t>
            </a:r>
            <a:br>
              <a:rPr kumimoji="0" lang="en-US" altLang="en-US" sz="1200" b="0" i="0" u="none" strike="noStrike" cap="none" normalizeH="0" baseline="0" dirty="0">
                <a:ln>
                  <a:noFill/>
                </a:ln>
                <a:solidFill>
                  <a:schemeClr val="tx1"/>
                </a:solidFill>
                <a:effectLst/>
              </a:rPr>
            </a:b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rgbClr val="333333"/>
                </a:solidFill>
                <a:effectLst/>
                <a:latin typeface="Arial" panose="020B0604020202020204" pitchFamily="34" charset="0"/>
                <a:cs typeface="Arial" panose="020B0604020202020204" pitchFamily="34" charset="0"/>
              </a:rPr>
              <a:t>app.UseMvc</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(routes =&gt;</a:t>
            </a:r>
            <a:b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
            </a:r>
            <a:b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333333"/>
                </a:solidFill>
                <a:effectLst/>
                <a:latin typeface="Arial" panose="020B0604020202020204" pitchFamily="34" charset="0"/>
                <a:cs typeface="Arial" panose="020B0604020202020204" pitchFamily="34" charset="0"/>
              </a:rPr>
              <a:t>routes.MapRoute</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a:ln>
                  <a:noFill/>
                </a:ln>
                <a:solidFill>
                  <a:srgbClr val="990000"/>
                </a:solidFill>
                <a:effectLst/>
                <a:latin typeface="Arial" panose="020B0604020202020204" pitchFamily="34" charset="0"/>
                <a:cs typeface="Arial" panose="020B0604020202020204" pitchFamily="34" charset="0"/>
              </a:rPr>
              <a:t>"default"</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990000"/>
                </a:solidFill>
                <a:effectLst/>
                <a:latin typeface="Arial" panose="020B0604020202020204" pitchFamily="34" charset="0"/>
                <a:cs typeface="Arial" panose="020B0604020202020204" pitchFamily="34" charset="0"/>
              </a:rPr>
              <a:t>"{controller=Home}/{action=Index}/{id?}"</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
            </a:r>
            <a:b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The following code is </a:t>
            </a:r>
            <a:r>
              <a:rPr kumimoji="0" lang="en-US" altLang="en-US" sz="12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not using tag helpers</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We are manually generating the link by hard-coding the URL paths.</a:t>
            </a:r>
            <a:br>
              <a:rPr kumimoji="0" lang="en-US" altLang="en-US" sz="1200" b="0" i="0" u="none" strike="noStrike" cap="none" normalizeH="0" baseline="0" dirty="0">
                <a:ln>
                  <a:noFill/>
                </a:ln>
                <a:solidFill>
                  <a:schemeClr val="tx1"/>
                </a:solidFill>
                <a:effectLst/>
              </a:rPr>
            </a:b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a</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href</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="/home/details/</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@employee.Id</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View</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a</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The following code is using </a:t>
            </a:r>
            <a:r>
              <a:rPr kumimoji="0" lang="en-US" altLang="en-US" sz="1200" b="1"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a:t>
            </a:r>
            <a:r>
              <a:rPr kumimoji="0" lang="en-US" altLang="en-US" sz="1200" b="1"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anchor tag helper. </a:t>
            </a:r>
            <a:br>
              <a:rPr kumimoji="0" lang="en-US" altLang="en-US" sz="1200" b="0" i="0" u="none" strike="noStrike" cap="none" normalizeH="0" baseline="0" dirty="0">
                <a:ln>
                  <a:noFill/>
                </a:ln>
                <a:solidFill>
                  <a:schemeClr val="tx1"/>
                </a:solidFill>
                <a:effectLst/>
              </a:rPr>
            </a:b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asp-controller</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="home"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asp-action</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="details"</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asp-route-id</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employee.Id</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View</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Notice here, we are not hard coding the URL paths. We are only specifying the </a:t>
            </a:r>
            <a:r>
              <a:rPr kumimoji="0" lang="en-US" altLang="en-US" sz="12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controller and action names </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and the route parameters along with their values. When tag helpers are executed on the server they look at the route templates and generate the correct URLs automatically.</a:t>
            </a:r>
            <a:br>
              <a:rPr kumimoji="0" lang="en-US" altLang="en-US" sz="1200" b="0" i="0" u="none" strike="noStrike" cap="none" normalizeH="0" baseline="0" dirty="0">
                <a:ln>
                  <a:noFill/>
                </a:ln>
                <a:solidFill>
                  <a:schemeClr val="tx1"/>
                </a:solidFill>
                <a:effectLst/>
              </a:rPr>
            </a:b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Both the above techniques generate the correct URL path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/home/details/5</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and it works with the current route template (</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{controller=Home}/{action=Index}/{id?}</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
            </a:r>
            <a:br>
              <a:rPr kumimoji="0" lang="en-US" altLang="en-US" sz="1200" b="0" i="0" u="none" strike="noStrike" cap="none" normalizeH="0" baseline="0" dirty="0">
                <a:ln>
                  <a:noFill/>
                </a:ln>
                <a:solidFill>
                  <a:schemeClr val="tx1"/>
                </a:solidFill>
                <a:effectLst/>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Now let's say we have changed the routing template to the following. Notice in the URL we have the string literal </a:t>
            </a:r>
            <a:r>
              <a:rPr kumimoji="0" lang="en-US" altLang="en-US" sz="1200" b="0" i="0" u="none" strike="noStrike" cap="none" normalizeH="0" baseline="0" dirty="0">
                <a:ln>
                  <a:noFill/>
                </a:ln>
                <a:solidFill>
                  <a:srgbClr val="990000"/>
                </a:solidFill>
                <a:effectLst/>
                <a:latin typeface="Arial" panose="020B0604020202020204" pitchFamily="34" charset="0"/>
                <a:cs typeface="Arial" panose="020B0604020202020204" pitchFamily="34" charset="0"/>
              </a:rPr>
              <a:t>“Vita"</a:t>
            </a:r>
            <a:br>
              <a:rPr kumimoji="0" lang="en-US" altLang="en-US" sz="1200" b="0" i="0" u="none" strike="noStrike" cap="none" normalizeH="0" baseline="0" dirty="0">
                <a:ln>
                  <a:noFill/>
                </a:ln>
                <a:solidFill>
                  <a:schemeClr val="tx1"/>
                </a:solidFill>
                <a:effectLst/>
              </a:rPr>
            </a:b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app.UseMvc</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(routes =&gt;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routes.MapRoute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"default"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“Vita/{controller=Home}/{action=Index}/{id?}"</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The code that's using the anchor tag helper generates the following correct link</a:t>
            </a:r>
            <a:br>
              <a:rPr kumimoji="0" lang="en-US" altLang="en-US" sz="1200" b="0" i="0" u="none" strike="noStrike" cap="none" normalizeH="0" baseline="0" dirty="0">
                <a:ln>
                  <a:noFill/>
                </a:ln>
                <a:solidFill>
                  <a:schemeClr val="tx1"/>
                </a:solidFill>
                <a:effectLst/>
              </a:rPr>
            </a:b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a</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href</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="/Vita/home/details/1"&gt;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View</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a</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Where as the code that's not using the </a:t>
            </a:r>
            <a:r>
              <a:rPr kumimoji="0" lang="en-US" altLang="en-US" sz="12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anchor tag helper </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continues to generate the following link. </a:t>
            </a:r>
            <a:r>
              <a:rPr kumimoji="0" lang="en-US" altLang="en-US" sz="12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Notice the URL path "/</a:t>
            </a:r>
            <a:r>
              <a:rPr lang="en-US" altLang="en-US" sz="1200" dirty="0">
                <a:solidFill>
                  <a:srgbClr val="FF0000"/>
                </a:solidFill>
                <a:cs typeface="Arial" panose="020B0604020202020204" pitchFamily="34" charset="0"/>
              </a:rPr>
              <a:t>Vita</a:t>
            </a:r>
            <a:r>
              <a:rPr kumimoji="0" lang="en-US" altLang="en-US" sz="12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 is missing.</a:t>
            </a:r>
            <a:br>
              <a:rPr kumimoji="0" lang="en-US" altLang="en-US" sz="1200" b="0" i="0" u="none" strike="noStrike" cap="none" normalizeH="0" baseline="0" dirty="0">
                <a:ln>
                  <a:noFill/>
                </a:ln>
                <a:solidFill>
                  <a:schemeClr val="tx1"/>
                </a:solidFill>
                <a:effectLst/>
              </a:rPr>
            </a:b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a</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href</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="/home/details/1"&gt;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View</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a</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We also have tag helpers that generate forms. When this form is posted back to the server, the posted values are automatically handled and the associated validation messages are displayed. Without these tag helpers we would have to write a lot of custom code to achieve the same. </a:t>
            </a:r>
            <a:r>
              <a:rPr kumimoji="0" lang="en-US" altLang="en-US" sz="1200" b="0" i="0" u="none" strike="noStrike" cap="none" normalizeH="0" baseline="0" dirty="0">
                <a:ln>
                  <a:noFill/>
                </a:ln>
                <a:solidFill>
                  <a:schemeClr val="tx1"/>
                </a:solidFill>
                <a:effectLst/>
              </a:rPr>
              <a:t> </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69563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D47F73-989F-4D50-88FE-3929A973DC4D}"/>
              </a:ext>
            </a:extLst>
          </p:cNvPr>
          <p:cNvSpPr txBox="1"/>
          <p:nvPr/>
        </p:nvSpPr>
        <p:spPr>
          <a:xfrm>
            <a:off x="176980" y="0"/>
            <a:ext cx="11877367" cy="1477328"/>
          </a:xfrm>
          <a:prstGeom prst="rect">
            <a:avLst/>
          </a:prstGeom>
          <a:noFill/>
        </p:spPr>
        <p:txBody>
          <a:bodyPr wrap="square">
            <a:spAutoFit/>
          </a:bodyPr>
          <a:lstStyle/>
          <a:p>
            <a:r>
              <a:rPr lang="en-US" b="1" i="0" dirty="0">
                <a:solidFill>
                  <a:srgbClr val="333333"/>
                </a:solidFill>
                <a:effectLst/>
                <a:latin typeface="arial" panose="020B0604020202020204" pitchFamily="34" charset="0"/>
              </a:rPr>
              <a:t>Browser Cache</a:t>
            </a:r>
            <a:br>
              <a:rPr lang="en-US" dirty="0"/>
            </a:br>
            <a:br>
              <a:rPr lang="en-US" dirty="0"/>
            </a:br>
            <a:r>
              <a:rPr lang="en-US" b="0" i="0" dirty="0">
                <a:solidFill>
                  <a:srgbClr val="333333"/>
                </a:solidFill>
                <a:effectLst/>
                <a:latin typeface="arial" panose="020B0604020202020204" pitchFamily="34" charset="0"/>
              </a:rPr>
              <a:t>When we visit a web page, most modern browsers cache the images of that web page. When we visit the page again, instead of downloading the same image again from the web server, the browser serves the image from the cache. In most cases, this is not a problem as images do not change that frequently.</a:t>
            </a:r>
            <a:endParaRPr lang="en-IN" dirty="0"/>
          </a:p>
        </p:txBody>
      </p:sp>
      <p:sp>
        <p:nvSpPr>
          <p:cNvPr id="6" name="Rectangle 1">
            <a:extLst>
              <a:ext uri="{FF2B5EF4-FFF2-40B4-BE49-F238E27FC236}">
                <a16:creationId xmlns:a16="http://schemas.microsoft.com/office/drawing/2014/main" id="{986768A4-0568-4812-8DC4-0C0DB2438AE2}"/>
              </a:ext>
            </a:extLst>
          </p:cNvPr>
          <p:cNvSpPr>
            <a:spLocks noChangeArrowheads="1"/>
          </p:cNvSpPr>
          <p:nvPr/>
        </p:nvSpPr>
        <p:spPr bwMode="auto">
          <a:xfrm>
            <a:off x="176980" y="1871547"/>
            <a:ext cx="9332656" cy="311490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Disable Browser Cache</a:t>
            </a:r>
            <a:br>
              <a:rPr kumimoji="0" lang="en-US" altLang="en-US" sz="1600" b="0" i="0" u="none" strike="noStrike" cap="none" normalizeH="0" baseline="0" dirty="0">
                <a:ln>
                  <a:noFill/>
                </a:ln>
                <a:solidFill>
                  <a:schemeClr val="tx1"/>
                </a:solidFill>
                <a:effectLst/>
              </a:rPr>
            </a:b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For some reason, if you do not want a browser to use it's cache you can disable it. For example, to disable cache in Google chrome</a:t>
            </a:r>
            <a:br>
              <a:rPr kumimoji="0" lang="en-US" altLang="en-US" sz="1600" b="0" i="0" u="none" strike="noStrike" cap="none" normalizeH="0" baseline="0" dirty="0">
                <a:ln>
                  <a:noFill/>
                </a:ln>
                <a:solidFill>
                  <a:schemeClr val="tx1"/>
                </a:solidFill>
                <a:effectLst/>
              </a:rPr>
            </a:b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Using </a:t>
            </a:r>
            <a:r>
              <a:rPr kumimoji="0" lang="en-US" altLang="en-US" sz="16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F12</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key, launch Browser Developer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Click on the </a:t>
            </a:r>
            <a:r>
              <a:rPr kumimoji="0" lang="en-US" altLang="en-US" sz="16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"Network"</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tab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Check </a:t>
            </a:r>
            <a:r>
              <a:rPr kumimoji="0" lang="en-US" altLang="en-US" sz="16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"Disable Cache"</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checkbox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                             </a:t>
            </a:r>
            <a:br>
              <a:rPr kumimoji="0" lang="en-US" altLang="en-US" sz="1600" b="0" i="0" u="none" strike="noStrike" cap="none" normalizeH="0" baseline="0" dirty="0">
                <a:ln>
                  <a:noFill/>
                </a:ln>
                <a:solidFill>
                  <a:schemeClr val="tx1"/>
                </a:solidFill>
                <a:effectLst/>
                <a:latin typeface="Arial" panose="020B0604020202020204" pitchFamily="34" charset="0"/>
              </a:rPr>
            </a:b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The obvious problem with disabling the browser cache is that, the images have to be downloaded from the server, every time you visit the page.</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3074" name="Picture 2" descr="google chrome disable cache">
            <a:extLst>
              <a:ext uri="{FF2B5EF4-FFF2-40B4-BE49-F238E27FC236}">
                <a16:creationId xmlns:a16="http://schemas.microsoft.com/office/drawing/2014/main" id="{A6B49A7A-8612-42C0-8CD7-212EB859D1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6297" y="3293807"/>
            <a:ext cx="4428139" cy="744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8188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90B310-4A16-4A0D-983B-2EEF7C6B9885}"/>
              </a:ext>
            </a:extLst>
          </p:cNvPr>
          <p:cNvSpPr txBox="1"/>
          <p:nvPr/>
        </p:nvSpPr>
        <p:spPr>
          <a:xfrm>
            <a:off x="2861187" y="346276"/>
            <a:ext cx="6096000" cy="369332"/>
          </a:xfrm>
          <a:prstGeom prst="rect">
            <a:avLst/>
          </a:prstGeom>
          <a:noFill/>
        </p:spPr>
        <p:txBody>
          <a:bodyPr wrap="square">
            <a:spAutoFit/>
          </a:bodyPr>
          <a:lstStyle/>
          <a:p>
            <a:r>
              <a:rPr lang="en-IN" b="1" i="0" dirty="0">
                <a:solidFill>
                  <a:srgbClr val="333333"/>
                </a:solidFill>
                <a:effectLst/>
                <a:latin typeface="arial" panose="020B0604020202020204" pitchFamily="34" charset="0"/>
              </a:rPr>
              <a:t>ASP.NET Core Image tag helper</a:t>
            </a:r>
            <a:endParaRPr lang="en-IN" dirty="0"/>
          </a:p>
        </p:txBody>
      </p:sp>
      <p:sp>
        <p:nvSpPr>
          <p:cNvPr id="6" name="Rectangle 1">
            <a:extLst>
              <a:ext uri="{FF2B5EF4-FFF2-40B4-BE49-F238E27FC236}">
                <a16:creationId xmlns:a16="http://schemas.microsoft.com/office/drawing/2014/main" id="{7F2173A9-88C0-428C-9822-04785362004D}"/>
              </a:ext>
            </a:extLst>
          </p:cNvPr>
          <p:cNvSpPr>
            <a:spLocks noChangeArrowheads="1"/>
          </p:cNvSpPr>
          <p:nvPr/>
        </p:nvSpPr>
        <p:spPr bwMode="auto">
          <a:xfrm rot="10800000" flipV="1">
            <a:off x="75416" y="1043731"/>
            <a:ext cx="11428325" cy="47705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From a performance standpoint, wouldn't it be great to download the image only if it has changed on the server. If the image has not changed, use the image from the browser cache. This means we will have the best of both the worlds.</a:t>
            </a:r>
            <a:br>
              <a:rPr kumimoji="0" lang="en-US" altLang="en-US" sz="1600" b="0" i="0" u="none" strike="noStrike" cap="none" normalizeH="0" baseline="0" dirty="0">
                <a:ln>
                  <a:noFill/>
                </a:ln>
                <a:solidFill>
                  <a:schemeClr val="tx1"/>
                </a:solidFill>
                <a:effectLst/>
              </a:rPr>
            </a:b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Image Tag Helper </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can help us achieve this. To use the Image tag helper, include </a:t>
            </a:r>
            <a:r>
              <a:rPr kumimoji="0" lang="en-US" altLang="en-US" sz="1600" b="1" i="1" u="none" strike="noStrike" cap="none" normalizeH="0" baseline="0" dirty="0">
                <a:ln>
                  <a:noFill/>
                </a:ln>
                <a:solidFill>
                  <a:srgbClr val="351C75"/>
                </a:solidFill>
                <a:effectLst/>
                <a:highlight>
                  <a:srgbClr val="FFFF00"/>
                </a:highlight>
                <a:latin typeface="Arial" panose="020B0604020202020204" pitchFamily="34" charset="0"/>
                <a:cs typeface="Arial" panose="020B0604020202020204" pitchFamily="34" charset="0"/>
              </a:rPr>
              <a:t>asp-append-version</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attribute and set it to true.</a:t>
            </a:r>
            <a:br>
              <a:rPr kumimoji="0" lang="en-US" altLang="en-US" sz="1600" b="0" i="0" u="none" strike="noStrike" cap="none" normalizeH="0" baseline="0" dirty="0">
                <a:ln>
                  <a:noFill/>
                </a:ln>
                <a:solidFill>
                  <a:schemeClr val="tx1"/>
                </a:solidFill>
                <a:effectLst/>
              </a:rPr>
            </a:br>
            <a:br>
              <a:rPr kumimoji="0" lang="en-US" altLang="en-US" sz="1600" b="0" i="0" u="none" strike="noStrike" cap="none" normalizeH="0" baseline="0" dirty="0">
                <a:ln>
                  <a:noFill/>
                </a:ln>
                <a:solidFill>
                  <a:schemeClr val="tx1"/>
                </a:solidFill>
                <a:effectLst/>
                <a:latin typeface="Arial" panose="020B0604020202020204" pitchFamily="34" charset="0"/>
              </a:rPr>
            </a:b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600" b="1" i="0" u="none" strike="noStrike" cap="none" normalizeH="0" baseline="0" dirty="0" err="1">
                <a:ln>
                  <a:noFill/>
                </a:ln>
                <a:solidFill>
                  <a:srgbClr val="800080"/>
                </a:solidFill>
                <a:effectLst/>
                <a:latin typeface="Arial" panose="020B0604020202020204" pitchFamily="34" charset="0"/>
                <a:cs typeface="Arial" panose="020B0604020202020204" pitchFamily="34" charset="0"/>
              </a:rPr>
              <a:t>img</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1" i="0" u="none" strike="noStrike" cap="none" normalizeH="0" baseline="0" dirty="0" err="1">
                <a:ln>
                  <a:noFill/>
                </a:ln>
                <a:solidFill>
                  <a:srgbClr val="800080"/>
                </a:solidFill>
                <a:effectLst/>
                <a:latin typeface="Arial" panose="020B0604020202020204" pitchFamily="34" charset="0"/>
                <a:cs typeface="Arial" panose="020B0604020202020204" pitchFamily="34" charset="0"/>
              </a:rPr>
              <a:t>src</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="~/images/noimage.jpg"</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asp-append-version</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="true"</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Image Tag Helper</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enhances the </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600" b="0" i="0" u="none" strike="noStrike" cap="none" normalizeH="0" baseline="0" dirty="0" err="1">
                <a:ln>
                  <a:noFill/>
                </a:ln>
                <a:solidFill>
                  <a:srgbClr val="990000"/>
                </a:solidFill>
                <a:effectLst/>
                <a:latin typeface="Arial" panose="020B0604020202020204" pitchFamily="34" charset="0"/>
                <a:cs typeface="Arial" panose="020B0604020202020204" pitchFamily="34" charset="0"/>
              </a:rPr>
              <a:t>img</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tag to provide </a:t>
            </a:r>
            <a:r>
              <a:rPr kumimoji="0" lang="en-US" altLang="en-US" sz="16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cache-busting behavior</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for static image files. Based on the content of the image, a unique hash value is calculated and is appended to image URL. This unique string prompts the browser to reload the image from the server and not from the browser cache.</a:t>
            </a:r>
            <a:br>
              <a:rPr kumimoji="0" lang="en-US" altLang="en-US" sz="1600" b="0" i="0" u="none" strike="noStrike" cap="none" normalizeH="0" baseline="0" dirty="0">
                <a:ln>
                  <a:noFill/>
                </a:ln>
                <a:solidFill>
                  <a:schemeClr val="tx1"/>
                </a:solidFill>
                <a:effectLst/>
              </a:rPr>
            </a:br>
            <a:br>
              <a:rPr kumimoji="0" lang="en-US" altLang="en-US" sz="1600" b="0" i="0" u="none" strike="noStrike" cap="none" normalizeH="0" baseline="0" dirty="0">
                <a:ln>
                  <a:noFill/>
                </a:ln>
                <a:solidFill>
                  <a:schemeClr val="tx1"/>
                </a:solidFill>
                <a:effectLst/>
                <a:latin typeface="Arial" panose="020B0604020202020204" pitchFamily="34" charset="0"/>
              </a:rPr>
            </a:b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600" b="0" i="0" u="none" strike="noStrike" cap="none" normalizeH="0" baseline="0" dirty="0" err="1">
                <a:ln>
                  <a:noFill/>
                </a:ln>
                <a:solidFill>
                  <a:srgbClr val="800000"/>
                </a:solidFill>
                <a:effectLst/>
                <a:latin typeface="Arial" panose="020B0604020202020204" pitchFamily="34" charset="0"/>
                <a:cs typeface="Arial" panose="020B0604020202020204" pitchFamily="34" charset="0"/>
              </a:rPr>
              <a:t>img</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class</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="card-</a:t>
            </a:r>
            <a:r>
              <a:rPr kumimoji="0" lang="en-US" altLang="en-US" sz="1600" b="0" i="0" u="none" strike="noStrike" cap="none" normalizeH="0" baseline="0" dirty="0" err="1">
                <a:ln>
                  <a:noFill/>
                </a:ln>
                <a:solidFill>
                  <a:srgbClr val="0000FF"/>
                </a:solidFill>
                <a:effectLst/>
                <a:latin typeface="Arial" panose="020B0604020202020204" pitchFamily="34" charset="0"/>
                <a:cs typeface="Arial" panose="020B0604020202020204" pitchFamily="34" charset="0"/>
              </a:rPr>
              <a:t>img</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-top"</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err="1">
                <a:ln>
                  <a:noFill/>
                </a:ln>
                <a:solidFill>
                  <a:srgbClr val="FF0000"/>
                </a:solidFill>
                <a:effectLst/>
                <a:latin typeface="Arial" panose="020B0604020202020204" pitchFamily="34" charset="0"/>
                <a:cs typeface="Arial" panose="020B0604020202020204" pitchFamily="34" charset="0"/>
              </a:rPr>
              <a:t>src</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="/images/</a:t>
            </a:r>
            <a:r>
              <a:rPr kumimoji="0" lang="en-US" altLang="en-US" sz="1600" b="0" i="0" u="none" strike="noStrike" cap="none" normalizeH="0" baseline="0" dirty="0" err="1">
                <a:ln>
                  <a:noFill/>
                </a:ln>
                <a:solidFill>
                  <a:srgbClr val="0000FF"/>
                </a:solidFill>
                <a:effectLst/>
                <a:latin typeface="Arial" panose="020B0604020202020204" pitchFamily="34" charset="0"/>
                <a:cs typeface="Arial" panose="020B0604020202020204" pitchFamily="34" charset="0"/>
              </a:rPr>
              <a:t>noimage.jpg?v</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=IqNLbsazJ7ijEbbyzWPke-xWxkOFaVcgzpQ4SsQKBqY"</a:t>
            </a: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Each time the image on the server changes a new hash value is calculated and cached. If the image has not changed the hash isn't recalculated. Using this unique hash value, the browser keeps track of whether the image content on the server has changed</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69787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5EAE4-FEA2-47E6-A47D-F64AD62250FD}"/>
              </a:ext>
            </a:extLst>
          </p:cNvPr>
          <p:cNvSpPr>
            <a:spLocks noGrp="1"/>
          </p:cNvSpPr>
          <p:nvPr>
            <p:ph type="title"/>
          </p:nvPr>
        </p:nvSpPr>
        <p:spPr>
          <a:xfrm>
            <a:off x="1199536" y="0"/>
            <a:ext cx="5093110" cy="549275"/>
          </a:xfrm>
        </p:spPr>
        <p:txBody>
          <a:bodyPr>
            <a:normAutofit fontScale="90000"/>
          </a:bodyPr>
          <a:lstStyle/>
          <a:p>
            <a:r>
              <a:rPr lang="en-IN" dirty="0"/>
              <a:t>Form</a:t>
            </a:r>
          </a:p>
        </p:txBody>
      </p:sp>
      <p:sp>
        <p:nvSpPr>
          <p:cNvPr id="3" name="Content Placeholder 2">
            <a:extLst>
              <a:ext uri="{FF2B5EF4-FFF2-40B4-BE49-F238E27FC236}">
                <a16:creationId xmlns:a16="http://schemas.microsoft.com/office/drawing/2014/main" id="{1A26D46F-F926-4144-808C-783C9D3B877B}"/>
              </a:ext>
            </a:extLst>
          </p:cNvPr>
          <p:cNvSpPr>
            <a:spLocks noGrp="1"/>
          </p:cNvSpPr>
          <p:nvPr>
            <p:ph idx="1"/>
          </p:nvPr>
        </p:nvSpPr>
        <p:spPr>
          <a:xfrm>
            <a:off x="68827" y="757084"/>
            <a:ext cx="4050890" cy="5653548"/>
          </a:xfrm>
        </p:spPr>
        <p:txBody>
          <a:bodyPr>
            <a:normAutofit/>
          </a:bodyPr>
          <a:lstStyle/>
          <a:p>
            <a:pPr algn="l">
              <a:buFont typeface="Arial" panose="020B0604020202020204" pitchFamily="34" charset="0"/>
              <a:buChar char="•"/>
            </a:pPr>
            <a:r>
              <a:rPr lang="en-US" sz="2000" b="0" i="0" dirty="0">
                <a:solidFill>
                  <a:srgbClr val="333333"/>
                </a:solidFill>
                <a:effectLst/>
                <a:latin typeface="arial" panose="020B0604020202020204" pitchFamily="34" charset="0"/>
              </a:rPr>
              <a:t>We use the following common tag helpers to create a form in ASP.NET Core</a:t>
            </a:r>
            <a:br>
              <a:rPr lang="en-US" sz="2000" dirty="0"/>
            </a:br>
            <a:r>
              <a:rPr lang="en-US" sz="2000" b="0" i="0" dirty="0">
                <a:solidFill>
                  <a:srgbClr val="333333"/>
                </a:solidFill>
                <a:effectLst/>
                <a:latin typeface="arial" panose="020B0604020202020204" pitchFamily="34" charset="0"/>
              </a:rPr>
              <a:t>Form Tag Helper</a:t>
            </a:r>
            <a:endParaRPr lang="en-US" sz="2000" b="0" i="0" dirty="0">
              <a:solidFill>
                <a:srgbClr val="333333"/>
              </a:solidFill>
              <a:effectLst/>
              <a:latin typeface="Arial" panose="020B0604020202020204" pitchFamily="34" charset="0"/>
            </a:endParaRPr>
          </a:p>
          <a:p>
            <a:pPr algn="l">
              <a:buFont typeface="Arial" panose="020B0604020202020204" pitchFamily="34" charset="0"/>
              <a:buChar char="•"/>
            </a:pPr>
            <a:r>
              <a:rPr lang="en-US" sz="2000" b="0" i="0" dirty="0">
                <a:solidFill>
                  <a:srgbClr val="333333"/>
                </a:solidFill>
                <a:effectLst/>
                <a:latin typeface="arial" panose="020B0604020202020204" pitchFamily="34" charset="0"/>
              </a:rPr>
              <a:t>Label Tag Helper</a:t>
            </a:r>
            <a:endParaRPr lang="en-US" sz="2000" b="0" i="0" dirty="0">
              <a:solidFill>
                <a:srgbClr val="333333"/>
              </a:solidFill>
              <a:effectLst/>
              <a:latin typeface="Arial" panose="020B0604020202020204" pitchFamily="34" charset="0"/>
            </a:endParaRPr>
          </a:p>
          <a:p>
            <a:pPr algn="l">
              <a:buFont typeface="Arial" panose="020B0604020202020204" pitchFamily="34" charset="0"/>
              <a:buChar char="•"/>
            </a:pPr>
            <a:r>
              <a:rPr lang="en-US" sz="2000" b="0" i="0" dirty="0">
                <a:solidFill>
                  <a:srgbClr val="333333"/>
                </a:solidFill>
                <a:effectLst/>
                <a:latin typeface="arial" panose="020B0604020202020204" pitchFamily="34" charset="0"/>
              </a:rPr>
              <a:t>Input Tag Helper</a:t>
            </a:r>
            <a:endParaRPr lang="en-US" sz="2000" b="0" i="0" dirty="0">
              <a:solidFill>
                <a:srgbClr val="333333"/>
              </a:solidFill>
              <a:effectLst/>
              <a:latin typeface="Arial" panose="020B0604020202020204" pitchFamily="34" charset="0"/>
            </a:endParaRPr>
          </a:p>
          <a:p>
            <a:pPr algn="l">
              <a:buFont typeface="Arial" panose="020B0604020202020204" pitchFamily="34" charset="0"/>
              <a:buChar char="•"/>
            </a:pPr>
            <a:r>
              <a:rPr lang="en-US" sz="2000" b="0" i="0" dirty="0">
                <a:solidFill>
                  <a:srgbClr val="333333"/>
                </a:solidFill>
                <a:effectLst/>
                <a:latin typeface="arial" panose="020B0604020202020204" pitchFamily="34" charset="0"/>
              </a:rPr>
              <a:t>Select Tag Helper</a:t>
            </a:r>
            <a:endParaRPr lang="en-US" sz="2000" b="0" i="0" dirty="0">
              <a:solidFill>
                <a:srgbClr val="333333"/>
              </a:solidFill>
              <a:effectLst/>
              <a:latin typeface="Arial" panose="020B0604020202020204" pitchFamily="34" charset="0"/>
            </a:endParaRPr>
          </a:p>
          <a:p>
            <a:pPr algn="l">
              <a:buFont typeface="Arial" panose="020B0604020202020204" pitchFamily="34" charset="0"/>
              <a:buChar char="•"/>
            </a:pPr>
            <a:r>
              <a:rPr lang="en-US" sz="2000" b="0" i="0" dirty="0" err="1">
                <a:solidFill>
                  <a:srgbClr val="333333"/>
                </a:solidFill>
                <a:effectLst/>
                <a:latin typeface="arial" panose="020B0604020202020204" pitchFamily="34" charset="0"/>
              </a:rPr>
              <a:t>Textarea</a:t>
            </a:r>
            <a:r>
              <a:rPr lang="en-US" sz="2000" b="0" i="0" dirty="0">
                <a:solidFill>
                  <a:srgbClr val="333333"/>
                </a:solidFill>
                <a:effectLst/>
                <a:latin typeface="arial" panose="020B0604020202020204" pitchFamily="34" charset="0"/>
              </a:rPr>
              <a:t> Tag Helper</a:t>
            </a:r>
            <a:endParaRPr lang="en-US" sz="2000" b="0" i="0" dirty="0">
              <a:solidFill>
                <a:srgbClr val="333333"/>
              </a:solidFill>
              <a:effectLst/>
              <a:latin typeface="Arial" panose="020B0604020202020204" pitchFamily="34" charset="0"/>
            </a:endParaRPr>
          </a:p>
          <a:p>
            <a:endParaRPr lang="en-IN" sz="2000" dirty="0"/>
          </a:p>
        </p:txBody>
      </p:sp>
      <p:sp>
        <p:nvSpPr>
          <p:cNvPr id="4" name="Rectangle 1">
            <a:extLst>
              <a:ext uri="{FF2B5EF4-FFF2-40B4-BE49-F238E27FC236}">
                <a16:creationId xmlns:a16="http://schemas.microsoft.com/office/drawing/2014/main" id="{F6C08534-75EB-4243-8ECC-E09D363218F8}"/>
              </a:ext>
            </a:extLst>
          </p:cNvPr>
          <p:cNvSpPr>
            <a:spLocks noChangeArrowheads="1"/>
          </p:cNvSpPr>
          <p:nvPr/>
        </p:nvSpPr>
        <p:spPr bwMode="auto">
          <a:xfrm>
            <a:off x="3879691" y="1055273"/>
            <a:ext cx="7382298" cy="4747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Form Tag Helper</a:t>
            </a:r>
            <a:br>
              <a:rPr kumimoji="0" lang="en-US" altLang="en-US" sz="2800" b="0" i="0" u="none" strike="noStrike" cap="none" normalizeH="0" baseline="0" dirty="0">
                <a:ln>
                  <a:noFill/>
                </a:ln>
                <a:solidFill>
                  <a:schemeClr val="tx1"/>
                </a:solidFill>
                <a:effectLst/>
              </a:rPr>
            </a:br>
            <a:b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To create a form we use the </a:t>
            </a:r>
            <a:r>
              <a:rPr kumimoji="0" lang="en-US" altLang="en-US" sz="1200" b="1" i="1"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1" i="1" u="none" strike="noStrike" cap="none" normalizeH="0" baseline="0" dirty="0">
                <a:ln>
                  <a:noFill/>
                </a:ln>
                <a:solidFill>
                  <a:srgbClr val="660000"/>
                </a:solidFill>
                <a:effectLst/>
                <a:latin typeface="Arial" panose="020B0604020202020204" pitchFamily="34" charset="0"/>
                <a:cs typeface="Arial" panose="020B0604020202020204" pitchFamily="34" charset="0"/>
              </a:rPr>
              <a:t>form</a:t>
            </a:r>
            <a:r>
              <a:rPr kumimoji="0" lang="en-US" altLang="en-US" sz="1200" b="1" i="1"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tag helper</a:t>
            </a:r>
            <a:br>
              <a:rPr kumimoji="0" lang="en-US" altLang="en-US" sz="1050" b="0" i="0" u="none" strike="noStrike" cap="none" normalizeH="0" baseline="0" dirty="0">
                <a:ln>
                  <a:noFill/>
                </a:ln>
                <a:solidFill>
                  <a:schemeClr val="tx1"/>
                </a:solidFill>
                <a:effectLst/>
              </a:rPr>
            </a:b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Notice, we are using </a:t>
            </a:r>
            <a:r>
              <a:rPr kumimoji="0" lang="en-US" altLang="en-US" sz="1200" b="1" i="1" u="none" strike="noStrike" cap="none" normalizeH="0" baseline="0" dirty="0">
                <a:ln>
                  <a:noFill/>
                </a:ln>
                <a:solidFill>
                  <a:srgbClr val="351C75"/>
                </a:solidFill>
                <a:effectLst/>
                <a:latin typeface="Arial" panose="020B0604020202020204" pitchFamily="34" charset="0"/>
                <a:cs typeface="Arial" panose="020B0604020202020204" pitchFamily="34" charset="0"/>
              </a:rPr>
              <a:t>asp-controller</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and </a:t>
            </a:r>
            <a:r>
              <a:rPr kumimoji="0" lang="en-US" altLang="en-US" sz="1200" b="1" i="1" u="none" strike="noStrike" cap="none" normalizeH="0" baseline="0" dirty="0">
                <a:ln>
                  <a:noFill/>
                </a:ln>
                <a:solidFill>
                  <a:srgbClr val="351C75"/>
                </a:solidFill>
                <a:effectLst/>
                <a:latin typeface="Arial" panose="020B0604020202020204" pitchFamily="34" charset="0"/>
                <a:cs typeface="Arial" panose="020B0604020202020204" pitchFamily="34" charset="0"/>
              </a:rPr>
              <a:t>asp-action</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tag helpers. These 2 tag helpers specify the controller and the action method to which the form data must be posted when the form is submitted. We want to issue a POST request when the form is submitted, so we have set the </a:t>
            </a:r>
            <a:r>
              <a:rPr kumimoji="0" lang="en-US" altLang="en-US" sz="1200" b="1" i="1" u="none" strike="noStrike" cap="none" normalizeH="0" baseline="0" dirty="0">
                <a:ln>
                  <a:noFill/>
                </a:ln>
                <a:solidFill>
                  <a:srgbClr val="CC0000"/>
                </a:solidFill>
                <a:effectLst/>
                <a:latin typeface="Arial" panose="020B0604020202020204" pitchFamily="34" charset="0"/>
                <a:cs typeface="Arial" panose="020B0604020202020204" pitchFamily="34" charset="0"/>
              </a:rPr>
              <a:t>method</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attribute to </a:t>
            </a:r>
            <a:r>
              <a:rPr kumimoji="0" lang="en-US" altLang="en-US" sz="1200" b="1" i="1" u="none" strike="noStrike" cap="none" normalizeH="0" baseline="0" dirty="0">
                <a:ln>
                  <a:noFill/>
                </a:ln>
                <a:solidFill>
                  <a:srgbClr val="0000FF"/>
                </a:solidFill>
                <a:effectLst/>
                <a:latin typeface="Arial" panose="020B0604020202020204" pitchFamily="34" charset="0"/>
                <a:cs typeface="Arial" panose="020B0604020202020204" pitchFamily="34" charset="0"/>
              </a:rPr>
              <a:t>post</a:t>
            </a:r>
            <a:br>
              <a:rPr kumimoji="0" lang="en-US" altLang="en-US" sz="1050" b="0" i="0" u="none" strike="noStrike" cap="none" normalizeH="0" baseline="0" dirty="0">
                <a:ln>
                  <a:noFill/>
                </a:ln>
                <a:solidFill>
                  <a:schemeClr val="tx1"/>
                </a:solidFill>
                <a:effectLst/>
              </a:rPr>
            </a:b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form</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asp-controller</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="home"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asp-action</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="create"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method</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="post"&gt;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form</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The above code produces the following HTML when the form is rendered on the client browser. As you can see from the generated HTML when the form is submitted it will be posted to the </a:t>
            </a:r>
            <a:r>
              <a:rPr kumimoji="0" lang="en-US" altLang="en-US" sz="12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index()</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action of the </a:t>
            </a:r>
            <a:r>
              <a:rPr kumimoji="0" lang="en-US" altLang="en-US" sz="1200" b="1" i="1" u="none" strike="noStrike" cap="none" normalizeH="0" baseline="0" dirty="0" err="1">
                <a:ln>
                  <a:noFill/>
                </a:ln>
                <a:solidFill>
                  <a:srgbClr val="333333"/>
                </a:solidFill>
                <a:effectLst/>
                <a:latin typeface="Arial" panose="020B0604020202020204" pitchFamily="34" charset="0"/>
                <a:cs typeface="Arial" panose="020B0604020202020204" pitchFamily="34" charset="0"/>
              </a:rPr>
              <a:t>HomeController</a:t>
            </a:r>
            <a:r>
              <a:rPr kumimoji="0" lang="en-US" altLang="en-US" sz="12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a:t>
            </a:r>
            <a:br>
              <a:rPr kumimoji="0" lang="en-US" altLang="en-US" sz="1050" b="0" i="0" u="none" strike="noStrike" cap="none" normalizeH="0" baseline="0" dirty="0">
                <a:ln>
                  <a:noFill/>
                </a:ln>
                <a:solidFill>
                  <a:schemeClr val="tx1"/>
                </a:solidFill>
                <a:effectLst/>
              </a:rPr>
            </a:b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form</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method</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="post"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action</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="/home/create"&gt;&lt;/</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form</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12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Please note :</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By default, when a form is submitted, it will be posted to the same action of the controller that rendered the form. So this means, even if we did not specify the controller and action using the </a:t>
            </a:r>
            <a:r>
              <a:rPr kumimoji="0" lang="en-US" altLang="en-US" sz="1200" b="1" i="1" u="none" strike="noStrike" cap="none" normalizeH="0" baseline="0" dirty="0">
                <a:ln>
                  <a:noFill/>
                </a:ln>
                <a:solidFill>
                  <a:srgbClr val="351C75"/>
                </a:solidFill>
                <a:effectLst/>
                <a:latin typeface="Arial" panose="020B0604020202020204" pitchFamily="34" charset="0"/>
                <a:cs typeface="Arial" panose="020B0604020202020204" pitchFamily="34" charset="0"/>
              </a:rPr>
              <a:t>asp-controller </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and </a:t>
            </a:r>
            <a:r>
              <a:rPr kumimoji="0" lang="en-US" altLang="en-US" sz="1200" b="1" i="1" u="none" strike="noStrike" cap="none" normalizeH="0" baseline="0" dirty="0">
                <a:ln>
                  <a:noFill/>
                </a:ln>
                <a:solidFill>
                  <a:srgbClr val="351C75"/>
                </a:solidFill>
                <a:effectLst/>
                <a:latin typeface="Arial" panose="020B0604020202020204" pitchFamily="34" charset="0"/>
                <a:cs typeface="Arial" panose="020B0604020202020204" pitchFamily="34" charset="0"/>
              </a:rPr>
              <a:t>asp-action </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tag helpers, the form will still be posted to the </a:t>
            </a:r>
            <a:r>
              <a:rPr kumimoji="0" lang="en-US" altLang="en-US" sz="12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index()</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action of the </a:t>
            </a:r>
            <a:r>
              <a:rPr kumimoji="0" lang="en-US" altLang="en-US" sz="1200" b="1" i="1" u="none" strike="noStrike" cap="none" normalizeH="0" baseline="0" dirty="0" err="1">
                <a:ln>
                  <a:noFill/>
                </a:ln>
                <a:solidFill>
                  <a:srgbClr val="333333"/>
                </a:solidFill>
                <a:effectLst/>
                <a:latin typeface="Arial" panose="020B0604020202020204" pitchFamily="34" charset="0"/>
                <a:cs typeface="Arial" panose="020B0604020202020204" pitchFamily="34" charset="0"/>
              </a:rPr>
              <a:t>HomeController</a:t>
            </a:r>
            <a:r>
              <a:rPr kumimoji="0" lang="en-US" altLang="en-US" sz="12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a:t>
            </a:r>
            <a:r>
              <a:rPr kumimoji="0" lang="en-US" altLang="en-US" sz="105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34384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932328-E99B-4417-A962-5E9BD5FB623E}"/>
              </a:ext>
            </a:extLst>
          </p:cNvPr>
          <p:cNvSpPr txBox="1"/>
          <p:nvPr/>
        </p:nvSpPr>
        <p:spPr>
          <a:xfrm>
            <a:off x="344130" y="0"/>
            <a:ext cx="11847870" cy="6740307"/>
          </a:xfrm>
          <a:prstGeom prst="rect">
            <a:avLst/>
          </a:prstGeom>
          <a:noFill/>
        </p:spPr>
        <p:txBody>
          <a:bodyPr wrap="square">
            <a:spAutoFit/>
          </a:bodyPr>
          <a:lstStyle/>
          <a:p>
            <a:pPr algn="ctr"/>
            <a:r>
              <a:rPr lang="en-US" b="1" i="0" dirty="0">
                <a:solidFill>
                  <a:srgbClr val="333333"/>
                </a:solidFill>
                <a:effectLst/>
                <a:latin typeface="arial" panose="020B0604020202020204" pitchFamily="34" charset="0"/>
              </a:rPr>
              <a:t>Input Tag Helper</a:t>
            </a:r>
            <a:br>
              <a:rPr lang="en-US" dirty="0"/>
            </a:br>
            <a:endParaRPr lang="en-US" dirty="0"/>
          </a:p>
          <a:p>
            <a:r>
              <a:rPr lang="en-US" b="0" i="0" dirty="0">
                <a:solidFill>
                  <a:srgbClr val="333333"/>
                </a:solidFill>
                <a:effectLst/>
                <a:latin typeface="arial" panose="020B0604020202020204" pitchFamily="34" charset="0"/>
              </a:rPr>
              <a:t>The Input Tag Helper binds an HTML </a:t>
            </a:r>
            <a:r>
              <a:rPr lang="en-US" b="1" i="0" dirty="0">
                <a:solidFill>
                  <a:srgbClr val="0000FF"/>
                </a:solidFill>
                <a:effectLst/>
                <a:latin typeface="arial" panose="020B0604020202020204" pitchFamily="34" charset="0"/>
              </a:rPr>
              <a:t>&lt;</a:t>
            </a:r>
            <a:r>
              <a:rPr lang="en-US" b="1" i="0" dirty="0">
                <a:solidFill>
                  <a:srgbClr val="990000"/>
                </a:solidFill>
                <a:effectLst/>
                <a:latin typeface="arial" panose="020B0604020202020204" pitchFamily="34" charset="0"/>
              </a:rPr>
              <a:t>input</a:t>
            </a:r>
            <a:r>
              <a:rPr lang="en-US" b="1" i="0" dirty="0">
                <a:solidFill>
                  <a:srgbClr val="0000FF"/>
                </a:solidFill>
                <a:effectLst/>
                <a:latin typeface="arial" panose="020B0604020202020204" pitchFamily="34" charset="0"/>
              </a:rPr>
              <a:t>&gt;</a:t>
            </a:r>
            <a:r>
              <a:rPr lang="en-US" b="0" i="0" dirty="0">
                <a:solidFill>
                  <a:srgbClr val="333333"/>
                </a:solidFill>
                <a:effectLst/>
                <a:latin typeface="arial" panose="020B0604020202020204" pitchFamily="34" charset="0"/>
              </a:rPr>
              <a:t> element to a model expression in your razor view.</a:t>
            </a:r>
            <a:br>
              <a:rPr lang="en-US" dirty="0"/>
            </a:br>
            <a:br>
              <a:rPr lang="en-US" dirty="0"/>
            </a:br>
            <a:r>
              <a:rPr lang="en-US" b="0" i="0" dirty="0">
                <a:solidFill>
                  <a:srgbClr val="333333"/>
                </a:solidFill>
                <a:effectLst/>
                <a:latin typeface="arial" panose="020B0604020202020204" pitchFamily="34" charset="0"/>
              </a:rPr>
              <a:t>In our case, we want a form to create a new employee. So the model for our </a:t>
            </a:r>
            <a:r>
              <a:rPr lang="en-US" b="1" i="1" dirty="0" err="1">
                <a:solidFill>
                  <a:srgbClr val="333333"/>
                </a:solidFill>
                <a:effectLst/>
                <a:latin typeface="arial" panose="020B0604020202020204" pitchFamily="34" charset="0"/>
              </a:rPr>
              <a:t>Create.cshtml</a:t>
            </a:r>
            <a:r>
              <a:rPr lang="en-US" b="0" i="0" dirty="0">
                <a:solidFill>
                  <a:srgbClr val="333333"/>
                </a:solidFill>
                <a:effectLst/>
                <a:latin typeface="arial" panose="020B0604020202020204" pitchFamily="34" charset="0"/>
              </a:rPr>
              <a:t> view is </a:t>
            </a:r>
            <a:r>
              <a:rPr lang="en-US" b="1" i="0" dirty="0">
                <a:solidFill>
                  <a:srgbClr val="3D85C6"/>
                </a:solidFill>
                <a:effectLst/>
                <a:latin typeface="arial" panose="020B0604020202020204" pitchFamily="34" charset="0"/>
              </a:rPr>
              <a:t>Employee </a:t>
            </a:r>
            <a:r>
              <a:rPr lang="en-US" b="0" i="0" dirty="0">
                <a:solidFill>
                  <a:srgbClr val="333333"/>
                </a:solidFill>
                <a:effectLst/>
                <a:latin typeface="arial" panose="020B0604020202020204" pitchFamily="34" charset="0"/>
              </a:rPr>
              <a:t>class. We specify that using the </a:t>
            </a:r>
            <a:r>
              <a:rPr lang="en-US" b="1" i="1" dirty="0">
                <a:solidFill>
                  <a:srgbClr val="333333"/>
                </a:solidFill>
                <a:effectLst/>
                <a:latin typeface="arial" panose="020B0604020202020204" pitchFamily="34" charset="0"/>
              </a:rPr>
              <a:t>model </a:t>
            </a:r>
            <a:r>
              <a:rPr lang="en-US" b="0" i="0" dirty="0">
                <a:solidFill>
                  <a:srgbClr val="333333"/>
                </a:solidFill>
                <a:effectLst/>
                <a:latin typeface="arial" panose="020B0604020202020204" pitchFamily="34" charset="0"/>
              </a:rPr>
              <a:t>directive. </a:t>
            </a:r>
            <a:br>
              <a:rPr lang="en-US" dirty="0"/>
            </a:br>
            <a:br>
              <a:rPr lang="en-US" dirty="0"/>
            </a:br>
            <a:r>
              <a:rPr lang="en-US" b="1" i="0" dirty="0">
                <a:solidFill>
                  <a:srgbClr val="333333"/>
                </a:solidFill>
                <a:effectLst/>
                <a:latin typeface="arial" panose="020B0604020202020204" pitchFamily="34" charset="0"/>
              </a:rPr>
              <a:t>@model </a:t>
            </a:r>
            <a:r>
              <a:rPr lang="en-US" b="1" i="0" dirty="0">
                <a:solidFill>
                  <a:srgbClr val="3D85C6"/>
                </a:solidFill>
                <a:effectLst/>
                <a:latin typeface="arial" panose="020B0604020202020204" pitchFamily="34" charset="0"/>
              </a:rPr>
              <a:t>Employee</a:t>
            </a:r>
            <a:endParaRPr lang="en-US" b="0" i="0" dirty="0">
              <a:solidFill>
                <a:srgbClr val="333333"/>
              </a:solidFill>
              <a:effectLst/>
              <a:latin typeface="Arial" panose="020B0604020202020204" pitchFamily="34" charset="0"/>
            </a:endParaRPr>
          </a:p>
          <a:p>
            <a:pPr algn="l"/>
            <a:br>
              <a:rPr lang="en-US" dirty="0"/>
            </a:br>
            <a:r>
              <a:rPr lang="en-US" b="0" i="0" dirty="0">
                <a:solidFill>
                  <a:srgbClr val="333333"/>
                </a:solidFill>
                <a:effectLst/>
                <a:latin typeface="arial" panose="020B0604020202020204" pitchFamily="34" charset="0"/>
              </a:rPr>
              <a:t>To b able to capture the </a:t>
            </a:r>
            <a:r>
              <a:rPr lang="en-US" b="1" i="1" dirty="0">
                <a:solidFill>
                  <a:srgbClr val="333333"/>
                </a:solidFill>
                <a:effectLst/>
                <a:latin typeface="arial" panose="020B0604020202020204" pitchFamily="34" charset="0"/>
              </a:rPr>
              <a:t>employee name </a:t>
            </a:r>
            <a:r>
              <a:rPr lang="en-US" b="0" i="0" dirty="0">
                <a:solidFill>
                  <a:srgbClr val="333333"/>
                </a:solidFill>
                <a:effectLst/>
                <a:latin typeface="arial" panose="020B0604020202020204" pitchFamily="34" charset="0"/>
              </a:rPr>
              <a:t>we want a text box. We want the text box to bind to the </a:t>
            </a:r>
            <a:r>
              <a:rPr lang="en-US" b="1" i="1" dirty="0">
                <a:solidFill>
                  <a:srgbClr val="333333"/>
                </a:solidFill>
                <a:effectLst/>
                <a:latin typeface="arial" panose="020B0604020202020204" pitchFamily="34" charset="0"/>
              </a:rPr>
              <a:t>Name </a:t>
            </a:r>
            <a:r>
              <a:rPr lang="en-US" b="0" i="0" dirty="0">
                <a:solidFill>
                  <a:srgbClr val="333333"/>
                </a:solidFill>
                <a:effectLst/>
                <a:latin typeface="arial" panose="020B0604020202020204" pitchFamily="34" charset="0"/>
              </a:rPr>
              <a:t>property of the </a:t>
            </a:r>
            <a:r>
              <a:rPr lang="en-US" b="1" i="1" dirty="0">
                <a:solidFill>
                  <a:srgbClr val="333333"/>
                </a:solidFill>
                <a:effectLst/>
                <a:latin typeface="arial" panose="020B0604020202020204" pitchFamily="34" charset="0"/>
              </a:rPr>
              <a:t>Employee </a:t>
            </a:r>
            <a:r>
              <a:rPr lang="en-US" b="0" i="0" dirty="0">
                <a:solidFill>
                  <a:srgbClr val="333333"/>
                </a:solidFill>
                <a:effectLst/>
                <a:latin typeface="arial" panose="020B0604020202020204" pitchFamily="34" charset="0"/>
              </a:rPr>
              <a:t>model class. We do this by using </a:t>
            </a:r>
            <a:r>
              <a:rPr lang="en-US" b="1" i="1" dirty="0">
                <a:solidFill>
                  <a:srgbClr val="351C75"/>
                </a:solidFill>
                <a:effectLst/>
                <a:latin typeface="arial" panose="020B0604020202020204" pitchFamily="34" charset="0"/>
              </a:rPr>
              <a:t>asp-for </a:t>
            </a:r>
            <a:r>
              <a:rPr lang="en-US" b="0" i="0" dirty="0">
                <a:solidFill>
                  <a:srgbClr val="333333"/>
                </a:solidFill>
                <a:effectLst/>
                <a:latin typeface="arial" panose="020B0604020202020204" pitchFamily="34" charset="0"/>
              </a:rPr>
              <a:t>tag helper and setting it's value to the </a:t>
            </a:r>
            <a:r>
              <a:rPr lang="en-US" b="1" i="1" dirty="0">
                <a:solidFill>
                  <a:srgbClr val="333333"/>
                </a:solidFill>
                <a:effectLst/>
                <a:latin typeface="arial" panose="020B0604020202020204" pitchFamily="34" charset="0"/>
              </a:rPr>
              <a:t>Name</a:t>
            </a:r>
            <a:r>
              <a:rPr lang="en-US" b="0" i="0" dirty="0">
                <a:solidFill>
                  <a:srgbClr val="333333"/>
                </a:solidFill>
                <a:effectLst/>
                <a:latin typeface="arial" panose="020B0604020202020204" pitchFamily="34" charset="0"/>
              </a:rPr>
              <a:t> property of the </a:t>
            </a:r>
            <a:r>
              <a:rPr lang="en-US" b="1" i="1" dirty="0">
                <a:solidFill>
                  <a:srgbClr val="333333"/>
                </a:solidFill>
                <a:effectLst/>
                <a:latin typeface="arial" panose="020B0604020202020204" pitchFamily="34" charset="0"/>
              </a:rPr>
              <a:t>Employee </a:t>
            </a:r>
            <a:r>
              <a:rPr lang="en-US" b="0" i="0" dirty="0">
                <a:solidFill>
                  <a:srgbClr val="333333"/>
                </a:solidFill>
                <a:effectLst/>
                <a:latin typeface="arial" panose="020B0604020202020204" pitchFamily="34" charset="0"/>
              </a:rPr>
              <a:t>model class. Notice we also have </a:t>
            </a:r>
            <a:r>
              <a:rPr lang="en-US" b="0" i="0" dirty="0" err="1">
                <a:solidFill>
                  <a:srgbClr val="333333"/>
                </a:solidFill>
                <a:effectLst/>
                <a:latin typeface="arial" panose="020B0604020202020204" pitchFamily="34" charset="0"/>
              </a:rPr>
              <a:t>intellisense</a:t>
            </a:r>
            <a:r>
              <a:rPr lang="en-US" b="0" i="0" dirty="0">
                <a:solidFill>
                  <a:srgbClr val="333333"/>
                </a:solidFill>
                <a:effectLst/>
                <a:latin typeface="arial" panose="020B0604020202020204" pitchFamily="34" charset="0"/>
              </a:rPr>
              <a:t>. Later if we change the property name form </a:t>
            </a:r>
            <a:r>
              <a:rPr lang="en-US" b="1" i="1" dirty="0">
                <a:solidFill>
                  <a:srgbClr val="333333"/>
                </a:solidFill>
                <a:effectLst/>
                <a:latin typeface="arial" panose="020B0604020202020204" pitchFamily="34" charset="0"/>
              </a:rPr>
              <a:t>Name</a:t>
            </a:r>
            <a:r>
              <a:rPr lang="en-US" b="0" i="0" dirty="0">
                <a:solidFill>
                  <a:srgbClr val="333333"/>
                </a:solidFill>
                <a:effectLst/>
                <a:latin typeface="arial" panose="020B0604020202020204" pitchFamily="34" charset="0"/>
              </a:rPr>
              <a:t> to </a:t>
            </a:r>
            <a:r>
              <a:rPr lang="en-US" b="1" i="1" dirty="0" err="1">
                <a:solidFill>
                  <a:srgbClr val="333333"/>
                </a:solidFill>
                <a:effectLst/>
                <a:latin typeface="arial" panose="020B0604020202020204" pitchFamily="34" charset="0"/>
              </a:rPr>
              <a:t>FullName</a:t>
            </a:r>
            <a:r>
              <a:rPr lang="en-US" b="0" i="0" dirty="0">
                <a:solidFill>
                  <a:srgbClr val="333333"/>
                </a:solidFill>
                <a:effectLst/>
                <a:latin typeface="arial" panose="020B0604020202020204" pitchFamily="34" charset="0"/>
              </a:rPr>
              <a:t> on the </a:t>
            </a:r>
            <a:r>
              <a:rPr lang="en-US" b="1" i="1" dirty="0">
                <a:solidFill>
                  <a:srgbClr val="333333"/>
                </a:solidFill>
                <a:effectLst/>
                <a:latin typeface="arial" panose="020B0604020202020204" pitchFamily="34" charset="0"/>
              </a:rPr>
              <a:t>Employee </a:t>
            </a:r>
            <a:r>
              <a:rPr lang="en-US" b="0" i="0" dirty="0">
                <a:solidFill>
                  <a:srgbClr val="333333"/>
                </a:solidFill>
                <a:effectLst/>
                <a:latin typeface="arial" panose="020B0604020202020204" pitchFamily="34" charset="0"/>
              </a:rPr>
              <a:t>class, and if we do not change the value assigned to the tag helper, we get a compiler error.</a:t>
            </a:r>
            <a:br>
              <a:rPr lang="en-US" dirty="0"/>
            </a:br>
            <a:br>
              <a:rPr lang="en-US" dirty="0"/>
            </a:br>
            <a:r>
              <a:rPr lang="en-US" b="0" i="0" dirty="0">
                <a:solidFill>
                  <a:srgbClr val="0000FF"/>
                </a:solidFill>
                <a:effectLst/>
                <a:latin typeface="arial" panose="020B0604020202020204" pitchFamily="34" charset="0"/>
              </a:rPr>
              <a:t>&lt;</a:t>
            </a:r>
            <a:r>
              <a:rPr lang="en-US" b="1" i="0" dirty="0">
                <a:solidFill>
                  <a:srgbClr val="800080"/>
                </a:solidFill>
                <a:effectLst/>
                <a:latin typeface="arial" panose="020B0604020202020204" pitchFamily="34" charset="0"/>
              </a:rPr>
              <a:t>input</a:t>
            </a:r>
            <a:r>
              <a:rPr lang="en-US" b="0" i="0" dirty="0">
                <a:solidFill>
                  <a:srgbClr val="000000"/>
                </a:solidFill>
                <a:effectLst/>
                <a:latin typeface="arial" panose="020B0604020202020204" pitchFamily="34" charset="0"/>
              </a:rPr>
              <a:t> </a:t>
            </a:r>
            <a:r>
              <a:rPr lang="en-US" b="1" i="0" dirty="0">
                <a:solidFill>
                  <a:srgbClr val="800080"/>
                </a:solidFill>
                <a:effectLst/>
                <a:latin typeface="arial" panose="020B0604020202020204" pitchFamily="34" charset="0"/>
              </a:rPr>
              <a:t>asp-for</a:t>
            </a:r>
            <a:r>
              <a:rPr lang="en-US" b="0" i="0" dirty="0">
                <a:solidFill>
                  <a:srgbClr val="0000FF"/>
                </a:solidFill>
                <a:effectLst/>
                <a:latin typeface="arial" panose="020B0604020202020204" pitchFamily="34" charset="0"/>
              </a:rPr>
              <a:t>="</a:t>
            </a:r>
            <a:r>
              <a:rPr lang="en-US" b="0" i="0" dirty="0">
                <a:solidFill>
                  <a:srgbClr val="000000"/>
                </a:solidFill>
                <a:effectLst/>
                <a:latin typeface="arial" panose="020B0604020202020204" pitchFamily="34" charset="0"/>
              </a:rPr>
              <a:t>Name</a:t>
            </a:r>
            <a:r>
              <a:rPr lang="en-US" b="0" i="0" dirty="0">
                <a:solidFill>
                  <a:srgbClr val="0000FF"/>
                </a:solidFill>
                <a:effectLst/>
                <a:latin typeface="arial" panose="020B0604020202020204" pitchFamily="34" charset="0"/>
              </a:rPr>
              <a:t>"&gt;</a:t>
            </a:r>
            <a:endParaRPr lang="en-US" b="0" i="0" dirty="0">
              <a:solidFill>
                <a:srgbClr val="333333"/>
              </a:solidFill>
              <a:effectLst/>
              <a:latin typeface="Arial" panose="020B0604020202020204" pitchFamily="34" charset="0"/>
            </a:endParaRPr>
          </a:p>
          <a:p>
            <a:pPr algn="l"/>
            <a:br>
              <a:rPr lang="en-US" dirty="0"/>
            </a:br>
            <a:r>
              <a:rPr lang="en-US" b="0" i="0" dirty="0">
                <a:solidFill>
                  <a:srgbClr val="333333"/>
                </a:solidFill>
                <a:effectLst/>
                <a:latin typeface="arial" panose="020B0604020202020204" pitchFamily="34" charset="0"/>
              </a:rPr>
              <a:t>The above code generates an </a:t>
            </a:r>
            <a:r>
              <a:rPr lang="en-US" b="1" i="1" dirty="0">
                <a:solidFill>
                  <a:srgbClr val="333333"/>
                </a:solidFill>
                <a:effectLst/>
                <a:latin typeface="arial" panose="020B0604020202020204" pitchFamily="34" charset="0"/>
              </a:rPr>
              <a:t>input </a:t>
            </a:r>
            <a:r>
              <a:rPr lang="en-US" b="0" i="0" dirty="0">
                <a:solidFill>
                  <a:srgbClr val="333333"/>
                </a:solidFill>
                <a:effectLst/>
                <a:latin typeface="arial" panose="020B0604020202020204" pitchFamily="34" charset="0"/>
              </a:rPr>
              <a:t>element with </a:t>
            </a:r>
            <a:r>
              <a:rPr lang="en-US" b="1" i="1" dirty="0">
                <a:solidFill>
                  <a:srgbClr val="333333"/>
                </a:solidFill>
                <a:effectLst/>
                <a:latin typeface="arial" panose="020B0604020202020204" pitchFamily="34" charset="0"/>
              </a:rPr>
              <a:t>id </a:t>
            </a:r>
            <a:r>
              <a:rPr lang="en-US" b="0" i="0" dirty="0">
                <a:solidFill>
                  <a:srgbClr val="333333"/>
                </a:solidFill>
                <a:effectLst/>
                <a:latin typeface="arial" panose="020B0604020202020204" pitchFamily="34" charset="0"/>
              </a:rPr>
              <a:t>and </a:t>
            </a:r>
            <a:r>
              <a:rPr lang="en-US" b="1" i="1" dirty="0">
                <a:solidFill>
                  <a:srgbClr val="333333"/>
                </a:solidFill>
                <a:effectLst/>
                <a:latin typeface="arial" panose="020B0604020202020204" pitchFamily="34" charset="0"/>
              </a:rPr>
              <a:t>name </a:t>
            </a:r>
            <a:r>
              <a:rPr lang="en-US" b="0" i="0" dirty="0">
                <a:solidFill>
                  <a:srgbClr val="333333"/>
                </a:solidFill>
                <a:effectLst/>
                <a:latin typeface="arial" panose="020B0604020202020204" pitchFamily="34" charset="0"/>
              </a:rPr>
              <a:t>attributes. Notice both of them are set to a value of </a:t>
            </a:r>
            <a:r>
              <a:rPr lang="en-US" b="1" i="1" dirty="0">
                <a:solidFill>
                  <a:srgbClr val="333333"/>
                </a:solidFill>
                <a:effectLst/>
                <a:latin typeface="arial" panose="020B0604020202020204" pitchFamily="34" charset="0"/>
              </a:rPr>
              <a:t>Name</a:t>
            </a:r>
            <a:r>
              <a:rPr lang="en-US" b="0" i="0" dirty="0">
                <a:solidFill>
                  <a:srgbClr val="333333"/>
                </a:solidFill>
                <a:effectLst/>
                <a:latin typeface="arial" panose="020B0604020202020204" pitchFamily="34" charset="0"/>
              </a:rPr>
              <a:t>. </a:t>
            </a:r>
            <a:br>
              <a:rPr lang="en-US" dirty="0"/>
            </a:br>
            <a:br>
              <a:rPr lang="en-US" dirty="0"/>
            </a:br>
            <a:r>
              <a:rPr lang="en-US" b="0" i="0" dirty="0">
                <a:solidFill>
                  <a:srgbClr val="0000FF"/>
                </a:solidFill>
                <a:effectLst/>
                <a:latin typeface="arial" panose="020B0604020202020204" pitchFamily="34" charset="0"/>
              </a:rPr>
              <a:t>&lt;</a:t>
            </a:r>
            <a:r>
              <a:rPr lang="en-US" b="0" i="0" dirty="0">
                <a:solidFill>
                  <a:srgbClr val="800000"/>
                </a:solidFill>
                <a:effectLst/>
                <a:latin typeface="arial" panose="020B0604020202020204" pitchFamily="34" charset="0"/>
              </a:rPr>
              <a:t>input</a:t>
            </a:r>
            <a:r>
              <a:rPr lang="en-US" b="0" i="0" dirty="0">
                <a:solidFill>
                  <a:srgbClr val="000000"/>
                </a:solidFill>
                <a:effectLst/>
                <a:latin typeface="arial" panose="020B0604020202020204" pitchFamily="34" charset="0"/>
              </a:rPr>
              <a:t> </a:t>
            </a:r>
            <a:r>
              <a:rPr lang="en-US" b="0" i="0" dirty="0">
                <a:solidFill>
                  <a:srgbClr val="FF0000"/>
                </a:solidFill>
                <a:effectLst/>
                <a:latin typeface="arial" panose="020B0604020202020204" pitchFamily="34" charset="0"/>
              </a:rPr>
              <a:t>type</a:t>
            </a:r>
            <a:r>
              <a:rPr lang="en-US" b="0" i="0" dirty="0">
                <a:solidFill>
                  <a:srgbClr val="0000FF"/>
                </a:solidFill>
                <a:effectLst/>
                <a:latin typeface="arial" panose="020B0604020202020204" pitchFamily="34" charset="0"/>
              </a:rPr>
              <a:t>="text"</a:t>
            </a:r>
            <a:r>
              <a:rPr lang="en-US" b="0" i="0" dirty="0">
                <a:solidFill>
                  <a:srgbClr val="000000"/>
                </a:solidFill>
                <a:effectLst/>
                <a:latin typeface="arial" panose="020B0604020202020204" pitchFamily="34" charset="0"/>
              </a:rPr>
              <a:t> </a:t>
            </a:r>
            <a:r>
              <a:rPr lang="en-US" b="0" i="0" dirty="0">
                <a:solidFill>
                  <a:srgbClr val="FF0000"/>
                </a:solidFill>
                <a:effectLst/>
                <a:latin typeface="arial" panose="020B0604020202020204" pitchFamily="34" charset="0"/>
              </a:rPr>
              <a:t>id</a:t>
            </a:r>
            <a:r>
              <a:rPr lang="en-US" b="0" i="0" dirty="0">
                <a:solidFill>
                  <a:srgbClr val="0000FF"/>
                </a:solidFill>
                <a:effectLst/>
                <a:latin typeface="arial" panose="020B0604020202020204" pitchFamily="34" charset="0"/>
              </a:rPr>
              <a:t>="Name"</a:t>
            </a:r>
            <a:r>
              <a:rPr lang="en-US" b="0" i="0" dirty="0">
                <a:solidFill>
                  <a:srgbClr val="000000"/>
                </a:solidFill>
                <a:effectLst/>
                <a:latin typeface="arial" panose="020B0604020202020204" pitchFamily="34" charset="0"/>
              </a:rPr>
              <a:t> </a:t>
            </a:r>
            <a:r>
              <a:rPr lang="en-US" b="0" i="0" dirty="0">
                <a:solidFill>
                  <a:srgbClr val="FF0000"/>
                </a:solidFill>
                <a:effectLst/>
                <a:latin typeface="arial" panose="020B0604020202020204" pitchFamily="34" charset="0"/>
              </a:rPr>
              <a:t>name</a:t>
            </a:r>
            <a:r>
              <a:rPr lang="en-US" b="0" i="0" dirty="0">
                <a:solidFill>
                  <a:srgbClr val="0000FF"/>
                </a:solidFill>
                <a:effectLst/>
                <a:latin typeface="arial" panose="020B0604020202020204" pitchFamily="34" charset="0"/>
              </a:rPr>
              <a:t>="Name"</a:t>
            </a:r>
            <a:r>
              <a:rPr lang="en-US" b="0" i="0" dirty="0">
                <a:solidFill>
                  <a:srgbClr val="000000"/>
                </a:solidFill>
                <a:effectLst/>
                <a:latin typeface="arial" panose="020B0604020202020204" pitchFamily="34" charset="0"/>
              </a:rPr>
              <a:t> </a:t>
            </a:r>
            <a:r>
              <a:rPr lang="en-US" b="0" i="0" dirty="0">
                <a:solidFill>
                  <a:srgbClr val="FF0000"/>
                </a:solidFill>
                <a:effectLst/>
                <a:latin typeface="arial" panose="020B0604020202020204" pitchFamily="34" charset="0"/>
              </a:rPr>
              <a:t>value</a:t>
            </a:r>
            <a:r>
              <a:rPr lang="en-US" b="0" i="0" dirty="0">
                <a:solidFill>
                  <a:srgbClr val="0000FF"/>
                </a:solidFill>
                <a:effectLst/>
                <a:latin typeface="arial" panose="020B0604020202020204" pitchFamily="34" charset="0"/>
              </a:rPr>
              <a:t>=""&gt;</a:t>
            </a:r>
            <a:endParaRPr lang="en-US" b="0" i="0" dirty="0">
              <a:solidFill>
                <a:srgbClr val="333333"/>
              </a:solidFill>
              <a:effectLst/>
              <a:latin typeface="Arial" panose="020B0604020202020204" pitchFamily="34" charset="0"/>
            </a:endParaRPr>
          </a:p>
          <a:p>
            <a:br>
              <a:rPr lang="en-US" dirty="0"/>
            </a:br>
            <a:r>
              <a:rPr lang="en-US" b="0" i="0" dirty="0">
                <a:solidFill>
                  <a:srgbClr val="333333"/>
                </a:solidFill>
                <a:effectLst/>
                <a:latin typeface="arial" panose="020B0604020202020204" pitchFamily="34" charset="0"/>
              </a:rPr>
              <a:t>The </a:t>
            </a:r>
            <a:r>
              <a:rPr lang="en-US" b="1" i="1" dirty="0">
                <a:solidFill>
                  <a:srgbClr val="333333"/>
                </a:solidFill>
                <a:effectLst/>
                <a:latin typeface="arial" panose="020B0604020202020204" pitchFamily="34" charset="0"/>
              </a:rPr>
              <a:t>name</a:t>
            </a:r>
            <a:r>
              <a:rPr lang="en-US" b="0" i="0" dirty="0">
                <a:solidFill>
                  <a:srgbClr val="333333"/>
                </a:solidFill>
                <a:effectLst/>
                <a:latin typeface="arial" panose="020B0604020202020204" pitchFamily="34" charset="0"/>
              </a:rPr>
              <a:t> attribute is required and it is used to map the value of the input element to the corresponding property of the model class when the form is submitted. This is done by a process called model binding in ASP.NET Core. </a:t>
            </a:r>
            <a:endParaRPr lang="en-IN" dirty="0"/>
          </a:p>
        </p:txBody>
      </p:sp>
    </p:spTree>
    <p:extLst>
      <p:ext uri="{BB962C8B-B14F-4D97-AF65-F5344CB8AC3E}">
        <p14:creationId xmlns:p14="http://schemas.microsoft.com/office/powerpoint/2010/main" val="2032151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EE346066-0C53-471B-9718-5C0DAD6DCA3C}"/>
              </a:ext>
            </a:extLst>
          </p:cNvPr>
          <p:cNvSpPr>
            <a:spLocks noChangeArrowheads="1"/>
          </p:cNvSpPr>
          <p:nvPr/>
        </p:nvSpPr>
        <p:spPr bwMode="auto">
          <a:xfrm>
            <a:off x="186813" y="493685"/>
            <a:ext cx="10736826"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333333"/>
                </a:solidFill>
                <a:effectLst/>
                <a:latin typeface="Arial" panose="020B0604020202020204" pitchFamily="34" charset="0"/>
                <a:cs typeface="Arial" panose="020B0604020202020204" pitchFamily="34" charset="0"/>
              </a:rPr>
              <a:t>Label Tag Helper</a:t>
            </a:r>
            <a:br>
              <a:rPr kumimoji="0" lang="en-US" altLang="en-US" sz="2800" b="0" i="0" u="none" strike="noStrike" cap="none" normalizeH="0" baseline="0" dirty="0">
                <a:ln>
                  <a:noFill/>
                </a:ln>
                <a:solidFill>
                  <a:schemeClr val="tx1"/>
                </a:solidFill>
                <a:effectLst/>
              </a:rPr>
            </a:b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The Label Tag Helper generates a label with </a:t>
            </a:r>
            <a:r>
              <a:rPr kumimoji="0" lang="en-US" altLang="en-US" sz="12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for </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attribute. The </a:t>
            </a:r>
            <a:r>
              <a:rPr kumimoji="0" lang="en-US" altLang="en-US" sz="12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for </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attribute links the label with it's associated input element. Consider the following example.</a:t>
            </a:r>
            <a:br>
              <a:rPr kumimoji="0" lang="en-US" altLang="en-US" sz="1050" b="0" i="0" u="none" strike="noStrike" cap="none" normalizeH="0" baseline="0" dirty="0">
                <a:ln>
                  <a:noFill/>
                </a:ln>
                <a:solidFill>
                  <a:schemeClr val="tx1"/>
                </a:solidFill>
                <a:effectLst/>
              </a:rPr>
            </a:b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label</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asp-for</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Name</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"&gt;&lt;/</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label</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input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asp-for</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Name</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The above code generates the following HTML. </a:t>
            </a:r>
            <a:br>
              <a:rPr kumimoji="0" lang="en-US" altLang="en-US" sz="1050" b="0" i="0" u="none" strike="noStrike" cap="none" normalizeH="0" baseline="0" dirty="0">
                <a:ln>
                  <a:noFill/>
                </a:ln>
                <a:solidFill>
                  <a:schemeClr val="tx1"/>
                </a:solidFill>
                <a:effectLst/>
              </a:rPr>
            </a:b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label</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for</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="Name"&gt;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Name</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label</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input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type</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="text"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id</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="Name"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name</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="Name"</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value</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The label is linked to the input element, because both the label </a:t>
            </a:r>
            <a:r>
              <a:rPr kumimoji="0" lang="en-US" altLang="en-US" sz="12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for </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attribute and the input element </a:t>
            </a:r>
            <a:r>
              <a:rPr kumimoji="0" lang="en-US" altLang="en-US" sz="12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id </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attribute have the same value </a:t>
            </a:r>
            <a:r>
              <a:rPr kumimoji="0" lang="en-US" altLang="en-US" sz="12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(Name)</a:t>
            </a: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So this means when we click on the label, the corresponding input element receives the focus.</a:t>
            </a:r>
            <a:br>
              <a:rPr kumimoji="0" lang="en-US" altLang="en-US" sz="1050" b="0" i="0" u="none" strike="noStrike" cap="none" normalizeH="0" baseline="0" dirty="0">
                <a:ln>
                  <a:noFill/>
                </a:ln>
                <a:solidFill>
                  <a:schemeClr val="tx1"/>
                </a:solidFill>
                <a:effectLst/>
              </a:rPr>
            </a:br>
            <a:br>
              <a:rPr kumimoji="0" lang="en-US" altLang="en-US" sz="28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Similarly, the following code generates a label and an input element to capture employee email.</a:t>
            </a:r>
            <a:br>
              <a:rPr kumimoji="0" lang="en-US" altLang="en-US" sz="1050" b="0" i="0" u="none" strike="noStrike" cap="none" normalizeH="0" baseline="0" dirty="0">
                <a:ln>
                  <a:noFill/>
                </a:ln>
                <a:solidFill>
                  <a:schemeClr val="tx1"/>
                </a:solidFill>
                <a:effectLst/>
              </a:rPr>
            </a:b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label</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asp-for</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Email</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"&gt;&lt;/</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label</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2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input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asp-for</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Email</a:t>
            </a:r>
            <a:r>
              <a:rPr kumimoji="0" lang="en-US" altLang="en-US" sz="12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71682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38F3BE1-C837-4CE4-8700-B6D4D962CBE8}"/>
              </a:ext>
            </a:extLst>
          </p:cNvPr>
          <p:cNvSpPr>
            <a:spLocks noChangeArrowheads="1"/>
          </p:cNvSpPr>
          <p:nvPr/>
        </p:nvSpPr>
        <p:spPr bwMode="auto">
          <a:xfrm>
            <a:off x="88491" y="928698"/>
            <a:ext cx="5466736"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333333"/>
                </a:solidFill>
                <a:effectLst/>
                <a:cs typeface="Arial" panose="020B0604020202020204" pitchFamily="34" charset="0"/>
              </a:rPr>
              <a:t>Select Tag Helper</a:t>
            </a:r>
            <a:br>
              <a:rPr kumimoji="0" lang="en-US" altLang="en-US" sz="1400" b="0" i="0" u="none" strike="noStrike" cap="none" normalizeH="0" baseline="0" dirty="0">
                <a:ln>
                  <a:noFill/>
                </a:ln>
                <a:solidFill>
                  <a:schemeClr val="tx1"/>
                </a:solidFill>
                <a:effectLst/>
              </a:rPr>
            </a:br>
            <a:br>
              <a:rPr kumimoji="0" lang="en-US" altLang="en-US" sz="1400" b="0" i="0" u="none" strike="noStrike" cap="none" normalizeH="0" baseline="0" dirty="0">
                <a:ln>
                  <a:noFill/>
                </a:ln>
                <a:solidFill>
                  <a:schemeClr val="tx1"/>
                </a:solidFill>
                <a:effectLst/>
              </a:rPr>
            </a:br>
            <a:r>
              <a:rPr kumimoji="0" lang="en-US" altLang="en-US" sz="1400" b="0" i="0" u="none" strike="noStrike" cap="none" normalizeH="0" baseline="0" dirty="0">
                <a:ln>
                  <a:noFill/>
                </a:ln>
                <a:solidFill>
                  <a:srgbClr val="333333"/>
                </a:solidFill>
                <a:effectLst/>
                <a:cs typeface="Arial" panose="020B0604020202020204" pitchFamily="34" charset="0"/>
              </a:rPr>
              <a:t>Generates </a:t>
            </a:r>
            <a:r>
              <a:rPr kumimoji="0" lang="en-US" altLang="en-US" sz="1400" b="1" i="1" u="none" strike="noStrike" cap="none" normalizeH="0" baseline="0" dirty="0">
                <a:ln>
                  <a:noFill/>
                </a:ln>
                <a:solidFill>
                  <a:srgbClr val="333333"/>
                </a:solidFill>
                <a:effectLst/>
                <a:cs typeface="Arial" panose="020B0604020202020204" pitchFamily="34" charset="0"/>
              </a:rPr>
              <a:t>select </a:t>
            </a:r>
            <a:r>
              <a:rPr kumimoji="0" lang="en-US" altLang="en-US" sz="1400" b="0" i="0" u="none" strike="noStrike" cap="none" normalizeH="0" baseline="0" dirty="0">
                <a:ln>
                  <a:noFill/>
                </a:ln>
                <a:solidFill>
                  <a:srgbClr val="333333"/>
                </a:solidFill>
                <a:effectLst/>
                <a:cs typeface="Arial" panose="020B0604020202020204" pitchFamily="34" charset="0"/>
              </a:rPr>
              <a:t>element and it's associated option elements. In our case we want a select element to display the list of departments.</a:t>
            </a:r>
            <a:br>
              <a:rPr kumimoji="0" lang="en-US" altLang="en-US" sz="1400" b="0" i="0" u="none" strike="noStrike" cap="none" normalizeH="0" baseline="0" dirty="0">
                <a:ln>
                  <a:noFill/>
                </a:ln>
                <a:solidFill>
                  <a:schemeClr val="tx1"/>
                </a:solidFill>
                <a:effectLst/>
              </a:rPr>
            </a:br>
            <a:br>
              <a:rPr kumimoji="0" lang="en-US" altLang="en-US" sz="1400" b="0" i="0" u="none" strike="noStrike" cap="none" normalizeH="0" baseline="0" dirty="0">
                <a:ln>
                  <a:noFill/>
                </a:ln>
                <a:solidFill>
                  <a:schemeClr val="tx1"/>
                </a:solidFill>
                <a:effectLst/>
              </a:rPr>
            </a:br>
            <a:r>
              <a:rPr kumimoji="0" lang="en-US" altLang="en-US" sz="1400" b="0" i="0" u="none" strike="noStrike" cap="none" normalizeH="0" baseline="0" dirty="0">
                <a:ln>
                  <a:noFill/>
                </a:ln>
                <a:solidFill>
                  <a:srgbClr val="333333"/>
                </a:solidFill>
                <a:effectLst/>
                <a:cs typeface="Arial" panose="020B0604020202020204" pitchFamily="34" charset="0"/>
              </a:rPr>
              <a:t>Ultimately we want a label and a select element with list of department options as shown below.</a:t>
            </a:r>
            <a:br>
              <a:rPr kumimoji="0" lang="en-US" altLang="en-US" sz="1400" b="0" i="0" u="none" strike="noStrike" cap="none" normalizeH="0" baseline="0" dirty="0">
                <a:ln>
                  <a:noFill/>
                </a:ln>
                <a:solidFill>
                  <a:schemeClr val="tx1"/>
                </a:solidFill>
                <a:effectLst/>
              </a:rPr>
            </a:br>
            <a:br>
              <a:rPr kumimoji="0" lang="en-US" altLang="en-US" sz="1400" b="0" i="0" u="none" strike="noStrike" cap="none" normalizeH="0" baseline="0" dirty="0">
                <a:ln>
                  <a:noFill/>
                </a:ln>
                <a:solidFill>
                  <a:schemeClr val="tx1"/>
                </a:solidFill>
                <a:effectLst/>
              </a:rPr>
            </a:b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cs typeface="Arial" panose="020B0604020202020204" pitchFamily="34" charset="0"/>
              </a:rPr>
              <a:t>&lt;</a:t>
            </a:r>
            <a:r>
              <a:rPr kumimoji="0" lang="en-US" altLang="en-US" sz="1400" b="0" i="0" u="none" strike="noStrike" cap="none" normalizeH="0" baseline="0" dirty="0">
                <a:ln>
                  <a:noFill/>
                </a:ln>
                <a:solidFill>
                  <a:srgbClr val="800000"/>
                </a:solidFill>
                <a:effectLst/>
                <a:cs typeface="Arial" panose="020B0604020202020204" pitchFamily="34" charset="0"/>
              </a:rPr>
              <a:t>label</a:t>
            </a: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0" i="0" u="none" strike="noStrike" cap="none" normalizeH="0" baseline="0" dirty="0">
                <a:ln>
                  <a:noFill/>
                </a:ln>
                <a:solidFill>
                  <a:srgbClr val="FF0000"/>
                </a:solidFill>
                <a:effectLst/>
                <a:cs typeface="Arial" panose="020B0604020202020204" pitchFamily="34" charset="0"/>
              </a:rPr>
              <a:t>for</a:t>
            </a:r>
            <a:r>
              <a:rPr kumimoji="0" lang="en-US" altLang="en-US" sz="1400" b="0" i="0" u="none" strike="noStrike" cap="none" normalizeH="0" baseline="0" dirty="0">
                <a:ln>
                  <a:noFill/>
                </a:ln>
                <a:solidFill>
                  <a:srgbClr val="0000FF"/>
                </a:solidFill>
                <a:effectLst/>
                <a:cs typeface="Arial" panose="020B0604020202020204" pitchFamily="34" charset="0"/>
              </a:rPr>
              <a:t>="Department"&gt;</a:t>
            </a:r>
            <a:r>
              <a:rPr kumimoji="0" lang="en-US" altLang="en-US" sz="1400" b="0" i="0" u="none" strike="noStrike" cap="none" normalizeH="0" baseline="0" dirty="0">
                <a:ln>
                  <a:noFill/>
                </a:ln>
                <a:solidFill>
                  <a:srgbClr val="000000"/>
                </a:solidFill>
                <a:effectLst/>
                <a:cs typeface="Arial" panose="020B0604020202020204" pitchFamily="34" charset="0"/>
              </a:rPr>
              <a:t>Department</a:t>
            </a:r>
            <a:r>
              <a:rPr kumimoji="0" lang="en-US" altLang="en-US" sz="1400" b="0" i="0" u="none" strike="noStrike" cap="none" normalizeH="0" baseline="0" dirty="0">
                <a:ln>
                  <a:noFill/>
                </a:ln>
                <a:solidFill>
                  <a:srgbClr val="0000FF"/>
                </a:solidFill>
                <a:effectLst/>
                <a:cs typeface="Arial" panose="020B0604020202020204" pitchFamily="34" charset="0"/>
              </a:rPr>
              <a:t>&lt;/</a:t>
            </a:r>
            <a:r>
              <a:rPr kumimoji="0" lang="en-US" altLang="en-US" sz="1400" b="0" i="0" u="none" strike="noStrike" cap="none" normalizeH="0" baseline="0" dirty="0">
                <a:ln>
                  <a:noFill/>
                </a:ln>
                <a:solidFill>
                  <a:srgbClr val="800000"/>
                </a:solidFill>
                <a:effectLst/>
                <a:cs typeface="Arial" panose="020B0604020202020204" pitchFamily="34" charset="0"/>
              </a:rPr>
              <a:t>label</a:t>
            </a:r>
            <a:r>
              <a:rPr kumimoji="0" lang="en-US" altLang="en-US" sz="1400" b="0" i="0" u="none" strike="noStrike" cap="none" normalizeH="0" baseline="0" dirty="0">
                <a:ln>
                  <a:noFill/>
                </a:ln>
                <a:solidFill>
                  <a:srgbClr val="0000FF"/>
                </a:solidFill>
                <a:effectLst/>
                <a:cs typeface="Arial" panose="020B0604020202020204" pitchFamily="34" charset="0"/>
              </a:rPr>
              <a:t>&gt;</a:t>
            </a:r>
            <a:endParaRPr kumimoji="0" lang="en-US" altLang="en-US" sz="1400" b="0" i="0" u="none" strike="noStrike" cap="none" normalizeH="0" baseline="0" dirty="0">
              <a:ln>
                <a:noFill/>
              </a:ln>
              <a:solidFill>
                <a:srgbClr val="3333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0" i="0" u="none" strike="noStrike" cap="none" normalizeH="0" baseline="0" dirty="0">
                <a:ln>
                  <a:noFill/>
                </a:ln>
                <a:solidFill>
                  <a:srgbClr val="333333"/>
                </a:solidFill>
                <a:effectLst/>
                <a:cs typeface="Arial" panose="020B0604020202020204" pitchFamily="34" charset="0"/>
              </a:rPr>
            </a:br>
            <a:endParaRPr kumimoji="0" lang="en-US" altLang="en-US" sz="1400" b="0" i="0" u="none" strike="noStrike" cap="none" normalizeH="0" baseline="0" dirty="0">
              <a:ln>
                <a:noFill/>
              </a:ln>
              <a:solidFill>
                <a:srgbClr val="3333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cs typeface="Arial" panose="020B0604020202020204" pitchFamily="34" charset="0"/>
              </a:rPr>
              <a:t>&lt;</a:t>
            </a:r>
            <a:r>
              <a:rPr kumimoji="0" lang="en-US" altLang="en-US" sz="1400" b="0" i="0" u="none" strike="noStrike" cap="none" normalizeH="0" baseline="0" dirty="0">
                <a:ln>
                  <a:noFill/>
                </a:ln>
                <a:solidFill>
                  <a:srgbClr val="800000"/>
                </a:solidFill>
                <a:effectLst/>
                <a:cs typeface="Arial" panose="020B0604020202020204" pitchFamily="34" charset="0"/>
              </a:rPr>
              <a:t>select</a:t>
            </a: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0" i="0" u="none" strike="noStrike" cap="none" normalizeH="0" baseline="0" dirty="0">
                <a:ln>
                  <a:noFill/>
                </a:ln>
                <a:solidFill>
                  <a:srgbClr val="FF0000"/>
                </a:solidFill>
                <a:effectLst/>
                <a:cs typeface="Arial" panose="020B0604020202020204" pitchFamily="34" charset="0"/>
              </a:rPr>
              <a:t>id</a:t>
            </a:r>
            <a:r>
              <a:rPr kumimoji="0" lang="en-US" altLang="en-US" sz="1400" b="0" i="0" u="none" strike="noStrike" cap="none" normalizeH="0" baseline="0" dirty="0">
                <a:ln>
                  <a:noFill/>
                </a:ln>
                <a:solidFill>
                  <a:srgbClr val="0000FF"/>
                </a:solidFill>
                <a:effectLst/>
                <a:cs typeface="Arial" panose="020B0604020202020204" pitchFamily="34" charset="0"/>
              </a:rPr>
              <a:t>="Department"</a:t>
            </a: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0" i="0" u="none" strike="noStrike" cap="none" normalizeH="0" baseline="0" dirty="0">
                <a:ln>
                  <a:noFill/>
                </a:ln>
                <a:solidFill>
                  <a:srgbClr val="FF0000"/>
                </a:solidFill>
                <a:effectLst/>
                <a:cs typeface="Arial" panose="020B0604020202020204" pitchFamily="34" charset="0"/>
              </a:rPr>
              <a:t>name</a:t>
            </a:r>
            <a:r>
              <a:rPr kumimoji="0" lang="en-US" altLang="en-US" sz="1400" b="0" i="0" u="none" strike="noStrike" cap="none" normalizeH="0" baseline="0" dirty="0">
                <a:ln>
                  <a:noFill/>
                </a:ln>
                <a:solidFill>
                  <a:srgbClr val="0000FF"/>
                </a:solidFill>
                <a:effectLst/>
                <a:cs typeface="Arial" panose="020B0604020202020204" pitchFamily="34" charset="0"/>
              </a:rPr>
              <a:t>="Department"&gt;</a:t>
            </a:r>
            <a:endParaRPr kumimoji="0" lang="en-US" altLang="en-US" sz="1400" b="0" i="0" u="none" strike="noStrike" cap="none" normalizeH="0" baseline="0" dirty="0">
              <a:ln>
                <a:noFill/>
              </a:ln>
              <a:solidFill>
                <a:srgbClr val="3333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0" i="0" u="none" strike="noStrike" cap="none" normalizeH="0" baseline="0" dirty="0">
                <a:ln>
                  <a:noFill/>
                </a:ln>
                <a:solidFill>
                  <a:srgbClr val="0000FF"/>
                </a:solidFill>
                <a:effectLst/>
                <a:cs typeface="Arial" panose="020B0604020202020204" pitchFamily="34" charset="0"/>
              </a:rPr>
              <a:t>&lt;</a:t>
            </a:r>
            <a:r>
              <a:rPr kumimoji="0" lang="en-US" altLang="en-US" sz="1400" b="1" i="0" u="none" strike="noStrike" cap="none" normalizeH="0" baseline="0" dirty="0">
                <a:ln>
                  <a:noFill/>
                </a:ln>
                <a:solidFill>
                  <a:srgbClr val="800080"/>
                </a:solidFill>
                <a:effectLst/>
                <a:cs typeface="Arial" panose="020B0604020202020204" pitchFamily="34" charset="0"/>
              </a:rPr>
              <a:t>option</a:t>
            </a: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1" i="0" u="none" strike="noStrike" cap="none" normalizeH="0" baseline="0" dirty="0">
                <a:ln>
                  <a:noFill/>
                </a:ln>
                <a:solidFill>
                  <a:srgbClr val="800080"/>
                </a:solidFill>
                <a:effectLst/>
                <a:cs typeface="Arial" panose="020B0604020202020204" pitchFamily="34" charset="0"/>
              </a:rPr>
              <a:t>value</a:t>
            </a:r>
            <a:r>
              <a:rPr kumimoji="0" lang="en-US" altLang="en-US" sz="1400" b="0" i="0" u="none" strike="noStrike" cap="none" normalizeH="0" baseline="0" dirty="0">
                <a:ln>
                  <a:noFill/>
                </a:ln>
                <a:solidFill>
                  <a:srgbClr val="0000FF"/>
                </a:solidFill>
                <a:effectLst/>
                <a:cs typeface="Arial" panose="020B0604020202020204" pitchFamily="34" charset="0"/>
              </a:rPr>
              <a:t>="0"&gt;</a:t>
            </a:r>
            <a:r>
              <a:rPr kumimoji="0" lang="en-US" altLang="en-US" sz="1400" b="0" i="0" u="none" strike="noStrike" cap="none" normalizeH="0" baseline="0" dirty="0">
                <a:ln>
                  <a:noFill/>
                </a:ln>
                <a:solidFill>
                  <a:srgbClr val="000000"/>
                </a:solidFill>
                <a:effectLst/>
                <a:cs typeface="Arial" panose="020B0604020202020204" pitchFamily="34" charset="0"/>
              </a:rPr>
              <a:t>None</a:t>
            </a:r>
            <a:r>
              <a:rPr kumimoji="0" lang="en-US" altLang="en-US" sz="1400" b="0" i="0" u="none" strike="noStrike" cap="none" normalizeH="0" baseline="0" dirty="0">
                <a:ln>
                  <a:noFill/>
                </a:ln>
                <a:solidFill>
                  <a:srgbClr val="0000FF"/>
                </a:solidFill>
                <a:effectLst/>
                <a:cs typeface="Arial" panose="020B0604020202020204" pitchFamily="34" charset="0"/>
              </a:rPr>
              <a:t>&lt;/</a:t>
            </a:r>
            <a:r>
              <a:rPr kumimoji="0" lang="en-US" altLang="en-US" sz="1400" b="1" i="0" u="none" strike="noStrike" cap="none" normalizeH="0" baseline="0" dirty="0">
                <a:ln>
                  <a:noFill/>
                </a:ln>
                <a:solidFill>
                  <a:srgbClr val="800080"/>
                </a:solidFill>
                <a:effectLst/>
                <a:cs typeface="Arial" panose="020B0604020202020204" pitchFamily="34" charset="0"/>
              </a:rPr>
              <a:t>option</a:t>
            </a:r>
            <a:r>
              <a:rPr kumimoji="0" lang="en-US" altLang="en-US" sz="1400" b="0" i="0" u="none" strike="noStrike" cap="none" normalizeH="0" baseline="0" dirty="0">
                <a:ln>
                  <a:noFill/>
                </a:ln>
                <a:solidFill>
                  <a:srgbClr val="0000FF"/>
                </a:solidFill>
                <a:effectLst/>
                <a:cs typeface="Arial" panose="020B0604020202020204" pitchFamily="34" charset="0"/>
              </a:rPr>
              <a:t>&gt;</a:t>
            </a:r>
            <a:endParaRPr kumimoji="0" lang="en-US" altLang="en-US" sz="1400" b="0" i="0" u="none" strike="noStrike" cap="none" normalizeH="0" baseline="0" dirty="0">
              <a:ln>
                <a:noFill/>
              </a:ln>
              <a:solidFill>
                <a:srgbClr val="3333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0" i="0" u="none" strike="noStrike" cap="none" normalizeH="0" baseline="0" dirty="0">
                <a:ln>
                  <a:noFill/>
                </a:ln>
                <a:solidFill>
                  <a:srgbClr val="0000FF"/>
                </a:solidFill>
                <a:effectLst/>
                <a:cs typeface="Arial" panose="020B0604020202020204" pitchFamily="34" charset="0"/>
              </a:rPr>
              <a:t>&lt;</a:t>
            </a:r>
            <a:r>
              <a:rPr kumimoji="0" lang="en-US" altLang="en-US" sz="1400" b="1" i="0" u="none" strike="noStrike" cap="none" normalizeH="0" baseline="0" dirty="0">
                <a:ln>
                  <a:noFill/>
                </a:ln>
                <a:solidFill>
                  <a:srgbClr val="800080"/>
                </a:solidFill>
                <a:effectLst/>
                <a:cs typeface="Arial" panose="020B0604020202020204" pitchFamily="34" charset="0"/>
              </a:rPr>
              <a:t>option</a:t>
            </a: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1" i="0" u="none" strike="noStrike" cap="none" normalizeH="0" baseline="0" dirty="0">
                <a:ln>
                  <a:noFill/>
                </a:ln>
                <a:solidFill>
                  <a:srgbClr val="800080"/>
                </a:solidFill>
                <a:effectLst/>
                <a:cs typeface="Arial" panose="020B0604020202020204" pitchFamily="34" charset="0"/>
              </a:rPr>
              <a:t>value</a:t>
            </a:r>
            <a:r>
              <a:rPr kumimoji="0" lang="en-US" altLang="en-US" sz="1400" b="0" i="0" u="none" strike="noStrike" cap="none" normalizeH="0" baseline="0" dirty="0">
                <a:ln>
                  <a:noFill/>
                </a:ln>
                <a:solidFill>
                  <a:srgbClr val="0000FF"/>
                </a:solidFill>
                <a:effectLst/>
                <a:cs typeface="Arial" panose="020B0604020202020204" pitchFamily="34" charset="0"/>
              </a:rPr>
              <a:t>="1"&gt;</a:t>
            </a:r>
            <a:r>
              <a:rPr kumimoji="0" lang="en-US" altLang="en-US" sz="1400" b="0" i="0" u="none" strike="noStrike" cap="none" normalizeH="0" baseline="0" dirty="0">
                <a:ln>
                  <a:noFill/>
                </a:ln>
                <a:solidFill>
                  <a:srgbClr val="000000"/>
                </a:solidFill>
                <a:effectLst/>
                <a:cs typeface="Arial" panose="020B0604020202020204" pitchFamily="34" charset="0"/>
              </a:rPr>
              <a:t>HR</a:t>
            </a:r>
            <a:r>
              <a:rPr kumimoji="0" lang="en-US" altLang="en-US" sz="1400" b="0" i="0" u="none" strike="noStrike" cap="none" normalizeH="0" baseline="0" dirty="0">
                <a:ln>
                  <a:noFill/>
                </a:ln>
                <a:solidFill>
                  <a:srgbClr val="0000FF"/>
                </a:solidFill>
                <a:effectLst/>
                <a:cs typeface="Arial" panose="020B0604020202020204" pitchFamily="34" charset="0"/>
              </a:rPr>
              <a:t>&lt;/</a:t>
            </a:r>
            <a:r>
              <a:rPr kumimoji="0" lang="en-US" altLang="en-US" sz="1400" b="1" i="0" u="none" strike="noStrike" cap="none" normalizeH="0" baseline="0" dirty="0">
                <a:ln>
                  <a:noFill/>
                </a:ln>
                <a:solidFill>
                  <a:srgbClr val="800080"/>
                </a:solidFill>
                <a:effectLst/>
                <a:cs typeface="Arial" panose="020B0604020202020204" pitchFamily="34" charset="0"/>
              </a:rPr>
              <a:t>option</a:t>
            </a:r>
            <a:r>
              <a:rPr kumimoji="0" lang="en-US" altLang="en-US" sz="1400" b="0" i="0" u="none" strike="noStrike" cap="none" normalizeH="0" baseline="0" dirty="0">
                <a:ln>
                  <a:noFill/>
                </a:ln>
                <a:solidFill>
                  <a:srgbClr val="0000FF"/>
                </a:solidFill>
                <a:effectLst/>
                <a:cs typeface="Arial" panose="020B0604020202020204" pitchFamily="34" charset="0"/>
              </a:rPr>
              <a:t>&gt;</a:t>
            </a:r>
            <a:endParaRPr kumimoji="0" lang="en-US" altLang="en-US" sz="1400" b="0" i="0" u="none" strike="noStrike" cap="none" normalizeH="0" baseline="0" dirty="0">
              <a:ln>
                <a:noFill/>
              </a:ln>
              <a:solidFill>
                <a:srgbClr val="3333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0" i="0" u="none" strike="noStrike" cap="none" normalizeH="0" baseline="0" dirty="0">
                <a:ln>
                  <a:noFill/>
                </a:ln>
                <a:solidFill>
                  <a:srgbClr val="0000FF"/>
                </a:solidFill>
                <a:effectLst/>
                <a:cs typeface="Arial" panose="020B0604020202020204" pitchFamily="34" charset="0"/>
              </a:rPr>
              <a:t>&lt;</a:t>
            </a:r>
            <a:r>
              <a:rPr kumimoji="0" lang="en-US" altLang="en-US" sz="1400" b="1" i="0" u="none" strike="noStrike" cap="none" normalizeH="0" baseline="0" dirty="0">
                <a:ln>
                  <a:noFill/>
                </a:ln>
                <a:solidFill>
                  <a:srgbClr val="800080"/>
                </a:solidFill>
                <a:effectLst/>
                <a:cs typeface="Arial" panose="020B0604020202020204" pitchFamily="34" charset="0"/>
              </a:rPr>
              <a:t>option</a:t>
            </a: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1" i="0" u="none" strike="noStrike" cap="none" normalizeH="0" baseline="0" dirty="0">
                <a:ln>
                  <a:noFill/>
                </a:ln>
                <a:solidFill>
                  <a:srgbClr val="800080"/>
                </a:solidFill>
                <a:effectLst/>
                <a:cs typeface="Arial" panose="020B0604020202020204" pitchFamily="34" charset="0"/>
              </a:rPr>
              <a:t>value</a:t>
            </a:r>
            <a:r>
              <a:rPr kumimoji="0" lang="en-US" altLang="en-US" sz="1400" b="0" i="0" u="none" strike="noStrike" cap="none" normalizeH="0" baseline="0" dirty="0">
                <a:ln>
                  <a:noFill/>
                </a:ln>
                <a:solidFill>
                  <a:srgbClr val="0000FF"/>
                </a:solidFill>
                <a:effectLst/>
                <a:cs typeface="Arial" panose="020B0604020202020204" pitchFamily="34" charset="0"/>
              </a:rPr>
              <a:t>="2"&gt;</a:t>
            </a:r>
            <a:r>
              <a:rPr kumimoji="0" lang="en-US" altLang="en-US" sz="1400" b="0" i="0" u="none" strike="noStrike" cap="none" normalizeH="0" baseline="0" dirty="0">
                <a:ln>
                  <a:noFill/>
                </a:ln>
                <a:solidFill>
                  <a:srgbClr val="000000"/>
                </a:solidFill>
                <a:effectLst/>
                <a:cs typeface="Arial" panose="020B0604020202020204" pitchFamily="34" charset="0"/>
              </a:rPr>
              <a:t>Payroll</a:t>
            </a:r>
            <a:r>
              <a:rPr kumimoji="0" lang="en-US" altLang="en-US" sz="1400" b="0" i="0" u="none" strike="noStrike" cap="none" normalizeH="0" baseline="0" dirty="0">
                <a:ln>
                  <a:noFill/>
                </a:ln>
                <a:solidFill>
                  <a:srgbClr val="0000FF"/>
                </a:solidFill>
                <a:effectLst/>
                <a:cs typeface="Arial" panose="020B0604020202020204" pitchFamily="34" charset="0"/>
              </a:rPr>
              <a:t>&lt;/</a:t>
            </a:r>
            <a:r>
              <a:rPr kumimoji="0" lang="en-US" altLang="en-US" sz="1400" b="1" i="0" u="none" strike="noStrike" cap="none" normalizeH="0" baseline="0" dirty="0">
                <a:ln>
                  <a:noFill/>
                </a:ln>
                <a:solidFill>
                  <a:srgbClr val="800080"/>
                </a:solidFill>
                <a:effectLst/>
                <a:cs typeface="Arial" panose="020B0604020202020204" pitchFamily="34" charset="0"/>
              </a:rPr>
              <a:t>option</a:t>
            </a:r>
            <a:r>
              <a:rPr kumimoji="0" lang="en-US" altLang="en-US" sz="1400" b="0" i="0" u="none" strike="noStrike" cap="none" normalizeH="0" baseline="0" dirty="0">
                <a:ln>
                  <a:noFill/>
                </a:ln>
                <a:solidFill>
                  <a:srgbClr val="0000FF"/>
                </a:solidFill>
                <a:effectLst/>
                <a:cs typeface="Arial" panose="020B0604020202020204" pitchFamily="34" charset="0"/>
              </a:rPr>
              <a:t>&gt;</a:t>
            </a:r>
            <a:endParaRPr kumimoji="0" lang="en-US" altLang="en-US" sz="1400" b="0" i="0" u="none" strike="noStrike" cap="none" normalizeH="0" baseline="0" dirty="0">
              <a:ln>
                <a:noFill/>
              </a:ln>
              <a:solidFill>
                <a:srgbClr val="3333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0" i="0" u="none" strike="noStrike" cap="none" normalizeH="0" baseline="0" dirty="0">
                <a:ln>
                  <a:noFill/>
                </a:ln>
                <a:solidFill>
                  <a:srgbClr val="0000FF"/>
                </a:solidFill>
                <a:effectLst/>
                <a:cs typeface="Arial" panose="020B0604020202020204" pitchFamily="34" charset="0"/>
              </a:rPr>
              <a:t>&lt;</a:t>
            </a:r>
            <a:r>
              <a:rPr kumimoji="0" lang="en-US" altLang="en-US" sz="1400" b="1" i="0" u="none" strike="noStrike" cap="none" normalizeH="0" baseline="0" dirty="0">
                <a:ln>
                  <a:noFill/>
                </a:ln>
                <a:solidFill>
                  <a:srgbClr val="800080"/>
                </a:solidFill>
                <a:effectLst/>
                <a:cs typeface="Arial" panose="020B0604020202020204" pitchFamily="34" charset="0"/>
              </a:rPr>
              <a:t>option</a:t>
            </a:r>
            <a:r>
              <a:rPr kumimoji="0" lang="en-US" altLang="en-US" sz="1400" b="0" i="0" u="none" strike="noStrike" cap="none" normalizeH="0" baseline="0" dirty="0">
                <a:ln>
                  <a:noFill/>
                </a:ln>
                <a:solidFill>
                  <a:srgbClr val="000000"/>
                </a:solidFill>
                <a:effectLst/>
                <a:cs typeface="Arial" panose="020B0604020202020204" pitchFamily="34" charset="0"/>
              </a:rPr>
              <a:t> </a:t>
            </a:r>
            <a:r>
              <a:rPr kumimoji="0" lang="en-US" altLang="en-US" sz="1400" b="1" i="0" u="none" strike="noStrike" cap="none" normalizeH="0" baseline="0" dirty="0">
                <a:ln>
                  <a:noFill/>
                </a:ln>
                <a:solidFill>
                  <a:srgbClr val="800080"/>
                </a:solidFill>
                <a:effectLst/>
                <a:cs typeface="Arial" panose="020B0604020202020204" pitchFamily="34" charset="0"/>
              </a:rPr>
              <a:t>value</a:t>
            </a:r>
            <a:r>
              <a:rPr kumimoji="0" lang="en-US" altLang="en-US" sz="1400" b="0" i="0" u="none" strike="noStrike" cap="none" normalizeH="0" baseline="0" dirty="0">
                <a:ln>
                  <a:noFill/>
                </a:ln>
                <a:solidFill>
                  <a:srgbClr val="0000FF"/>
                </a:solidFill>
                <a:effectLst/>
                <a:cs typeface="Arial" panose="020B0604020202020204" pitchFamily="34" charset="0"/>
              </a:rPr>
              <a:t>="3"&gt;</a:t>
            </a:r>
            <a:r>
              <a:rPr kumimoji="0" lang="en-US" altLang="en-US" sz="1400" b="0" i="0" u="none" strike="noStrike" cap="none" normalizeH="0" baseline="0" dirty="0">
                <a:ln>
                  <a:noFill/>
                </a:ln>
                <a:solidFill>
                  <a:srgbClr val="000000"/>
                </a:solidFill>
                <a:effectLst/>
                <a:cs typeface="Arial" panose="020B0604020202020204" pitchFamily="34" charset="0"/>
              </a:rPr>
              <a:t>IT</a:t>
            </a:r>
            <a:r>
              <a:rPr kumimoji="0" lang="en-US" altLang="en-US" sz="1400" b="0" i="0" u="none" strike="noStrike" cap="none" normalizeH="0" baseline="0" dirty="0">
                <a:ln>
                  <a:noFill/>
                </a:ln>
                <a:solidFill>
                  <a:srgbClr val="0000FF"/>
                </a:solidFill>
                <a:effectLst/>
                <a:cs typeface="Arial" panose="020B0604020202020204" pitchFamily="34" charset="0"/>
              </a:rPr>
              <a:t>&lt;/</a:t>
            </a:r>
            <a:r>
              <a:rPr kumimoji="0" lang="en-US" altLang="en-US" sz="1400" b="1" i="0" u="none" strike="noStrike" cap="none" normalizeH="0" baseline="0" dirty="0">
                <a:ln>
                  <a:noFill/>
                </a:ln>
                <a:solidFill>
                  <a:srgbClr val="800080"/>
                </a:solidFill>
                <a:effectLst/>
                <a:cs typeface="Arial" panose="020B0604020202020204" pitchFamily="34" charset="0"/>
              </a:rPr>
              <a:t>option</a:t>
            </a:r>
            <a:r>
              <a:rPr kumimoji="0" lang="en-US" altLang="en-US" sz="1400" b="0" i="0" u="none" strike="noStrike" cap="none" normalizeH="0" baseline="0" dirty="0">
                <a:ln>
                  <a:noFill/>
                </a:ln>
                <a:solidFill>
                  <a:srgbClr val="0000FF"/>
                </a:solidFill>
                <a:effectLst/>
                <a:cs typeface="Arial" panose="020B0604020202020204" pitchFamily="34" charset="0"/>
              </a:rPr>
              <a:t>&gt;</a:t>
            </a:r>
            <a:endParaRPr kumimoji="0" lang="en-US" altLang="en-US" sz="1400" b="0" i="0" u="none" strike="noStrike" cap="none" normalizeH="0" baseline="0" dirty="0">
              <a:ln>
                <a:noFill/>
              </a:ln>
              <a:solidFill>
                <a:srgbClr val="3333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FF"/>
                </a:solidFill>
                <a:effectLst/>
                <a:cs typeface="Arial" panose="020B0604020202020204" pitchFamily="34" charset="0"/>
              </a:rPr>
              <a:t>&lt;/</a:t>
            </a:r>
            <a:r>
              <a:rPr kumimoji="0" lang="en-US" altLang="en-US" sz="1400" b="0" i="0" u="none" strike="noStrike" cap="none" normalizeH="0" baseline="0" dirty="0">
                <a:ln>
                  <a:noFill/>
                </a:ln>
                <a:solidFill>
                  <a:srgbClr val="800000"/>
                </a:solidFill>
                <a:effectLst/>
                <a:cs typeface="Arial" panose="020B0604020202020204" pitchFamily="34" charset="0"/>
              </a:rPr>
              <a:t>select</a:t>
            </a:r>
            <a:r>
              <a:rPr kumimoji="0" lang="en-US" altLang="en-US" sz="1400" b="0" i="0" u="none" strike="noStrike" cap="none" normalizeH="0" baseline="0" dirty="0">
                <a:ln>
                  <a:noFill/>
                </a:ln>
                <a:solidFill>
                  <a:srgbClr val="0000FF"/>
                </a:solidFill>
                <a:effectLst/>
                <a:cs typeface="Arial" panose="020B0604020202020204" pitchFamily="34" charset="0"/>
              </a:rPr>
              <a:t>&gt;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0" i="0" u="none" strike="noStrike" cap="none" normalizeH="0" baseline="0" dirty="0">
                <a:ln>
                  <a:noFill/>
                </a:ln>
                <a:solidFill>
                  <a:schemeClr val="tx1"/>
                </a:solidFill>
                <a:effectLst/>
              </a:rPr>
            </a:br>
            <a:r>
              <a:rPr kumimoji="0" lang="en-US" altLang="en-US" sz="1400" b="0" i="0" u="none" strike="noStrike" cap="none" normalizeH="0" baseline="0" dirty="0">
                <a:ln>
                  <a:noFill/>
                </a:ln>
                <a:solidFill>
                  <a:srgbClr val="333333"/>
                </a:solidFill>
                <a:effectLst/>
                <a:cs typeface="Arial" panose="020B0604020202020204" pitchFamily="34" charset="0"/>
              </a:rPr>
              <a:t>The options for the </a:t>
            </a:r>
            <a:r>
              <a:rPr kumimoji="0" lang="en-US" altLang="en-US" sz="1400" b="1" i="1" u="none" strike="noStrike" cap="none" normalizeH="0" baseline="0" dirty="0">
                <a:ln>
                  <a:noFill/>
                </a:ln>
                <a:solidFill>
                  <a:srgbClr val="333333"/>
                </a:solidFill>
                <a:effectLst/>
                <a:cs typeface="Arial" panose="020B0604020202020204" pitchFamily="34" charset="0"/>
              </a:rPr>
              <a:t>department </a:t>
            </a:r>
            <a:r>
              <a:rPr kumimoji="0" lang="en-US" altLang="en-US" sz="1400" b="0" i="0" u="none" strike="noStrike" cap="none" normalizeH="0" baseline="0" dirty="0">
                <a:ln>
                  <a:noFill/>
                </a:ln>
                <a:solidFill>
                  <a:srgbClr val="333333"/>
                </a:solidFill>
                <a:effectLst/>
                <a:cs typeface="Arial" panose="020B0604020202020204" pitchFamily="34" charset="0"/>
              </a:rPr>
              <a:t>select element can be hard-coded like in the example above, or they can come from an </a:t>
            </a:r>
            <a:r>
              <a:rPr kumimoji="0" lang="en-US" altLang="en-US" sz="1400" b="1" i="1" u="none" strike="noStrike" cap="none" normalizeH="0" baseline="0" dirty="0" err="1">
                <a:ln>
                  <a:noFill/>
                </a:ln>
                <a:solidFill>
                  <a:srgbClr val="0000FF"/>
                </a:solidFill>
                <a:effectLst/>
                <a:cs typeface="Arial" panose="020B0604020202020204" pitchFamily="34" charset="0"/>
              </a:rPr>
              <a:t>enum</a:t>
            </a:r>
            <a:r>
              <a:rPr kumimoji="0" lang="en-US" altLang="en-US" sz="1400" b="1" i="1" u="none" strike="noStrike" cap="none" normalizeH="0" baseline="0" dirty="0">
                <a:ln>
                  <a:noFill/>
                </a:ln>
                <a:solidFill>
                  <a:srgbClr val="0000FF"/>
                </a:solidFill>
                <a:effectLst/>
                <a:cs typeface="Arial" panose="020B0604020202020204" pitchFamily="34" charset="0"/>
              </a:rPr>
              <a:t> </a:t>
            </a:r>
            <a:r>
              <a:rPr kumimoji="0" lang="en-US" altLang="en-US" sz="1400" b="0" i="0" u="none" strike="noStrike" cap="none" normalizeH="0" baseline="0" dirty="0">
                <a:ln>
                  <a:noFill/>
                </a:ln>
                <a:solidFill>
                  <a:srgbClr val="333333"/>
                </a:solidFill>
                <a:effectLst/>
                <a:cs typeface="Arial" panose="020B0604020202020204" pitchFamily="34" charset="0"/>
              </a:rPr>
              <a:t>or a database table. </a:t>
            </a:r>
            <a:r>
              <a:rPr kumimoji="0" lang="en-US" altLang="en-US" sz="1400" b="0" i="0" u="none" strike="noStrike" cap="none" normalizeH="0" baseline="0" dirty="0">
                <a:ln>
                  <a:noFill/>
                </a:ln>
                <a:solidFill>
                  <a:schemeClr val="tx1"/>
                </a:solidFill>
                <a:effectLst/>
              </a:rPr>
              <a:t> </a:t>
            </a:r>
          </a:p>
        </p:txBody>
      </p:sp>
      <p:sp>
        <p:nvSpPr>
          <p:cNvPr id="5" name="Rectangle 2">
            <a:extLst>
              <a:ext uri="{FF2B5EF4-FFF2-40B4-BE49-F238E27FC236}">
                <a16:creationId xmlns:a16="http://schemas.microsoft.com/office/drawing/2014/main" id="{A01C4528-C995-4C1F-8346-553E41730742}"/>
              </a:ext>
            </a:extLst>
          </p:cNvPr>
          <p:cNvSpPr>
            <a:spLocks noChangeArrowheads="1"/>
          </p:cNvSpPr>
          <p:nvPr/>
        </p:nvSpPr>
        <p:spPr bwMode="auto">
          <a:xfrm>
            <a:off x="6096000" y="109830"/>
            <a:ext cx="5862835"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Place the following </a:t>
            </a:r>
            <a:r>
              <a:rPr kumimoji="0" lang="en-US" altLang="en-US" sz="1000" b="1" i="1" u="none" strike="noStrike" cap="none" normalizeH="0" baseline="0" dirty="0" err="1">
                <a:ln>
                  <a:noFill/>
                </a:ln>
                <a:solidFill>
                  <a:srgbClr val="333333"/>
                </a:solidFill>
                <a:effectLst/>
                <a:latin typeface="Arial" panose="020B0604020202020204" pitchFamily="34" charset="0"/>
                <a:cs typeface="Arial" panose="020B0604020202020204" pitchFamily="34" charset="0"/>
              </a:rPr>
              <a:t>enum</a:t>
            </a:r>
            <a:r>
              <a:rPr kumimoji="0" lang="en-US" altLang="en-US" sz="10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in </a:t>
            </a:r>
            <a:r>
              <a:rPr kumimoji="0" lang="en-US" altLang="en-US" sz="1000" b="1" i="1" u="none" strike="noStrike" cap="none" normalizeH="0" baseline="0" dirty="0" err="1">
                <a:ln>
                  <a:noFill/>
                </a:ln>
                <a:solidFill>
                  <a:srgbClr val="333333"/>
                </a:solidFill>
                <a:effectLst/>
                <a:latin typeface="Arial" panose="020B0604020202020204" pitchFamily="34" charset="0"/>
                <a:cs typeface="Arial" panose="020B0604020202020204" pitchFamily="34" charset="0"/>
              </a:rPr>
              <a:t>Dept.cs</a:t>
            </a:r>
            <a:r>
              <a:rPr kumimoji="0" lang="en-US" altLang="en-US" sz="10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file in the </a:t>
            </a:r>
            <a:r>
              <a:rPr kumimoji="0" lang="en-US" altLang="en-US" sz="10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Models </a:t>
            </a: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folder</a:t>
            </a:r>
            <a:br>
              <a:rPr kumimoji="0" lang="en-US" altLang="en-US" sz="800" b="0" i="0" u="none" strike="noStrike" cap="none" normalizeH="0" baseline="0" dirty="0">
                <a:ln>
                  <a:noFill/>
                </a:ln>
                <a:solidFill>
                  <a:schemeClr val="tx1"/>
                </a:solidFill>
                <a:effectLst/>
              </a:rPr>
            </a:b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namespace</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EmployeeManagement.Models</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FF"/>
                </a:solidFill>
                <a:effectLst/>
                <a:latin typeface="Arial" panose="020B0604020202020204" pitchFamily="34" charset="0"/>
                <a:cs typeface="Arial" panose="020B0604020202020204" pitchFamily="34" charset="0"/>
              </a:rPr>
              <a:t>enum</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2B91AF"/>
                </a:solidFill>
                <a:effectLst/>
                <a:latin typeface="Arial" panose="020B0604020202020204" pitchFamily="34" charset="0"/>
                <a:cs typeface="Arial" panose="020B0604020202020204" pitchFamily="34" charset="0"/>
              </a:rPr>
              <a:t>Dept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None,</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HR,</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Payroll,</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IT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Update the </a:t>
            </a:r>
            <a:r>
              <a:rPr kumimoji="0" lang="en-US" altLang="en-US" sz="1000" b="0" i="0" u="none" strike="noStrike" cap="none" normalizeH="0" baseline="0" dirty="0">
                <a:ln>
                  <a:noFill/>
                </a:ln>
                <a:solidFill>
                  <a:srgbClr val="3D85C6"/>
                </a:solidFill>
                <a:effectLst/>
                <a:latin typeface="Arial" panose="020B0604020202020204" pitchFamily="34" charset="0"/>
                <a:cs typeface="Arial" panose="020B0604020202020204" pitchFamily="34" charset="0"/>
              </a:rPr>
              <a:t>Employee </a:t>
            </a: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class in </a:t>
            </a:r>
            <a:r>
              <a:rPr kumimoji="0" lang="en-US" altLang="en-US" sz="1000" b="0" i="1" u="none" strike="noStrike" cap="none" normalizeH="0" baseline="0" dirty="0" err="1">
                <a:ln>
                  <a:noFill/>
                </a:ln>
                <a:solidFill>
                  <a:srgbClr val="333333"/>
                </a:solidFill>
                <a:effectLst/>
                <a:latin typeface="Arial" panose="020B0604020202020204" pitchFamily="34" charset="0"/>
                <a:cs typeface="Arial" panose="020B0604020202020204" pitchFamily="34" charset="0"/>
              </a:rPr>
              <a:t>Employee.cs</a:t>
            </a:r>
            <a:r>
              <a:rPr kumimoji="0" lang="en-US" altLang="en-US" sz="1000" b="0" i="1"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file in the </a:t>
            </a:r>
            <a:r>
              <a:rPr kumimoji="0" lang="en-US" altLang="en-US" sz="1000" b="0" i="1" u="none" strike="noStrike" cap="none" normalizeH="0" baseline="0" dirty="0">
                <a:ln>
                  <a:noFill/>
                </a:ln>
                <a:solidFill>
                  <a:srgbClr val="333333"/>
                </a:solidFill>
                <a:effectLst/>
                <a:latin typeface="Arial" panose="020B0604020202020204" pitchFamily="34" charset="0"/>
                <a:cs typeface="Arial" panose="020B0604020202020204" pitchFamily="34" charset="0"/>
              </a:rPr>
              <a:t>Models </a:t>
            </a: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folder</a:t>
            </a:r>
            <a:br>
              <a:rPr kumimoji="0" lang="en-US" altLang="en-US" sz="800" b="0" i="0" u="none" strike="noStrike" cap="none" normalizeH="0" baseline="0" dirty="0">
                <a:ln>
                  <a:noFill/>
                </a:ln>
                <a:solidFill>
                  <a:schemeClr val="tx1"/>
                </a:solidFill>
                <a:effectLst/>
              </a:rPr>
            </a:br>
            <a:r>
              <a:rPr kumimoji="0" lang="en-US" altLang="en-US" sz="1000" b="0" i="1" u="none" strike="noStrike" cap="none" normalizeH="0" baseline="0" dirty="0">
                <a:ln>
                  <a:noFill/>
                </a:ln>
                <a:solidFill>
                  <a:srgbClr val="333333"/>
                </a:solidFill>
                <a:effectLst/>
                <a:latin typeface="Arial" panose="020B0604020202020204" pitchFamily="34" charset="0"/>
                <a:cs typeface="Arial" panose="020B0604020202020204" pitchFamily="34" charset="0"/>
              </a:rPr>
              <a:t>Department </a:t>
            </a: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property data type is </a:t>
            </a:r>
            <a:r>
              <a:rPr kumimoji="0" lang="en-US" altLang="en-US" sz="10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Dept </a:t>
            </a:r>
            <a:r>
              <a:rPr kumimoji="0" lang="en-US" altLang="en-US" sz="1000" b="0" i="0" u="none" strike="noStrike" cap="none" normalizeH="0" baseline="0" dirty="0" err="1">
                <a:ln>
                  <a:noFill/>
                </a:ln>
                <a:solidFill>
                  <a:srgbClr val="333333"/>
                </a:solidFill>
                <a:effectLst/>
                <a:latin typeface="Arial" panose="020B0604020202020204" pitchFamily="34" charset="0"/>
                <a:cs typeface="Arial" panose="020B0604020202020204" pitchFamily="34" charset="0"/>
              </a:rPr>
              <a:t>enum</a:t>
            </a: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a:t>
            </a:r>
            <a:br>
              <a:rPr kumimoji="0" lang="en-US" altLang="en-US" sz="800" b="0" i="0" u="none" strike="noStrike" cap="none" normalizeH="0" baseline="0" dirty="0">
                <a:ln>
                  <a:noFill/>
                </a:ln>
                <a:solidFill>
                  <a:schemeClr val="tx1"/>
                </a:solidFill>
                <a:effectLst/>
              </a:rPr>
            </a:b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namespace</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EmployeeManagement.Models</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class</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2B91AF"/>
                </a:solidFill>
                <a:effectLst/>
                <a:latin typeface="Arial" panose="020B0604020202020204" pitchFamily="34" charset="0"/>
                <a:cs typeface="Arial" panose="020B0604020202020204" pitchFamily="34" charset="0"/>
              </a:rPr>
              <a:t>Employee</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Id {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get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set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string</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Name {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get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set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string</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Email {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get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set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Dept Department {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get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set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In </a:t>
            </a:r>
            <a:r>
              <a:rPr kumimoji="0" lang="en-US" altLang="en-US" sz="1000" b="1" i="1" u="none" strike="noStrike" cap="none" normalizeH="0" baseline="0" dirty="0" err="1">
                <a:ln>
                  <a:noFill/>
                </a:ln>
                <a:solidFill>
                  <a:srgbClr val="333333"/>
                </a:solidFill>
                <a:effectLst/>
                <a:latin typeface="Arial" panose="020B0604020202020204" pitchFamily="34" charset="0"/>
                <a:cs typeface="Arial" panose="020B0604020202020204" pitchFamily="34" charset="0"/>
              </a:rPr>
              <a:t>Create.cshtml</a:t>
            </a: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view, include the following code</a:t>
            </a:r>
            <a:br>
              <a:rPr kumimoji="0" lang="en-US" altLang="en-US" sz="800" b="0" i="0" u="none" strike="noStrike" cap="none" normalizeH="0" baseline="0" dirty="0">
                <a:ln>
                  <a:noFill/>
                </a:ln>
                <a:solidFill>
                  <a:schemeClr val="tx1"/>
                </a:solidFill>
                <a:effectLst/>
              </a:rPr>
            </a:b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label</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asp-for</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Department</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"&gt;&lt;/</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label</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select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asp-for</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Department</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00"/>
                </a:solidFill>
                <a:effectLst/>
                <a:highlight>
                  <a:srgbClr val="FFFF00"/>
                </a:highlight>
                <a:latin typeface="Arial" panose="020B0604020202020204" pitchFamily="34" charset="0"/>
                <a:cs typeface="Arial" panose="020B0604020202020204" pitchFamily="34" charset="0"/>
              </a:rPr>
              <a:t> </a:t>
            </a:r>
            <a:r>
              <a:rPr kumimoji="0" lang="en-US" altLang="en-US" sz="1000" b="1" i="0" u="none" strike="noStrike" cap="none" normalizeH="0" baseline="0" dirty="0">
                <a:ln>
                  <a:noFill/>
                </a:ln>
                <a:solidFill>
                  <a:srgbClr val="800080"/>
                </a:solidFill>
                <a:effectLst/>
                <a:highlight>
                  <a:srgbClr val="FFFF00"/>
                </a:highlight>
                <a:latin typeface="Arial" panose="020B0604020202020204" pitchFamily="34" charset="0"/>
                <a:cs typeface="Arial" panose="020B0604020202020204" pitchFamily="34" charset="0"/>
              </a:rPr>
              <a:t>asp-items</a:t>
            </a:r>
            <a:r>
              <a:rPr kumimoji="0" lang="en-US" altLang="en-US" sz="1000" b="0" i="0" u="none" strike="noStrike" cap="none" normalizeH="0" baseline="0" dirty="0">
                <a:ln>
                  <a:noFill/>
                </a:ln>
                <a:solidFill>
                  <a:srgbClr val="0000FF"/>
                </a:solidFill>
                <a:effectLst/>
                <a:highlight>
                  <a:srgbClr val="FFFF00"/>
                </a:highlight>
                <a:latin typeface="Arial" panose="020B0604020202020204" pitchFamily="34" charset="0"/>
                <a:cs typeface="Arial" panose="020B0604020202020204" pitchFamily="34" charset="0"/>
              </a:rPr>
              <a:t>="</a:t>
            </a:r>
            <a:r>
              <a:rPr kumimoji="0" lang="en-US" altLang="en-US" sz="1000" b="0" i="0" u="none" strike="noStrike" cap="none" normalizeH="0" baseline="0" dirty="0" err="1">
                <a:ln>
                  <a:noFill/>
                </a:ln>
                <a:solidFill>
                  <a:srgbClr val="000000"/>
                </a:solidFill>
                <a:effectLst/>
                <a:highlight>
                  <a:srgbClr val="FFFF00"/>
                </a:highlight>
                <a:latin typeface="Arial" panose="020B0604020202020204" pitchFamily="34" charset="0"/>
                <a:cs typeface="Arial" panose="020B0604020202020204" pitchFamily="34" charset="0"/>
              </a:rPr>
              <a:t>Html.GetEnumSelectList</a:t>
            </a:r>
            <a:r>
              <a:rPr kumimoji="0" lang="en-US" altLang="en-US" sz="1000" b="0" i="0" u="none" strike="noStrike" cap="none" normalizeH="0" baseline="0" dirty="0">
                <a:ln>
                  <a:noFill/>
                </a:ln>
                <a:solidFill>
                  <a:srgbClr val="000000"/>
                </a:solidFill>
                <a:effectLst/>
                <a:highlight>
                  <a:srgbClr val="FFFF00"/>
                </a:highlight>
                <a:latin typeface="Arial" panose="020B0604020202020204" pitchFamily="34" charset="0"/>
                <a:cs typeface="Arial" panose="020B0604020202020204" pitchFamily="34" charset="0"/>
              </a:rPr>
              <a:t>&lt;Dept&gt;()</a:t>
            </a:r>
            <a:r>
              <a:rPr kumimoji="0" lang="en-US" altLang="en-US" sz="1000" b="0" i="0" u="none" strike="noStrike" cap="none" normalizeH="0" baseline="0" dirty="0">
                <a:ln>
                  <a:noFill/>
                </a:ln>
                <a:solidFill>
                  <a:srgbClr val="0000FF"/>
                </a:solidFill>
                <a:effectLst/>
                <a:highlight>
                  <a:srgbClr val="FFFF00"/>
                </a:highlight>
                <a:latin typeface="Arial" panose="020B0604020202020204" pitchFamily="34" charset="0"/>
                <a:cs typeface="Arial" panose="020B0604020202020204" pitchFamily="34" charset="0"/>
              </a:rPr>
              <a:t>"&gt;&lt;/</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select</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Notice, we are using </a:t>
            </a:r>
            <a:r>
              <a:rPr kumimoji="0" lang="en-US" altLang="en-US" sz="1000" b="1" i="1" u="none" strike="noStrike" cap="none" normalizeH="0" baseline="0" dirty="0">
                <a:ln>
                  <a:noFill/>
                </a:ln>
                <a:solidFill>
                  <a:srgbClr val="351C75"/>
                </a:solidFill>
                <a:effectLst/>
                <a:latin typeface="Arial" panose="020B0604020202020204" pitchFamily="34" charset="0"/>
                <a:cs typeface="Arial" panose="020B0604020202020204" pitchFamily="34" charset="0"/>
              </a:rPr>
              <a:t>asp-items</a:t>
            </a:r>
            <a:r>
              <a:rPr kumimoji="0" lang="en-US" altLang="en-US" sz="10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tag helper and </a:t>
            </a:r>
            <a:r>
              <a:rPr kumimoji="0" lang="en-US" altLang="en-US" sz="1000" b="1" i="1" u="none" strike="noStrike" cap="none" normalizeH="0" baseline="0" dirty="0" err="1">
                <a:ln>
                  <a:noFill/>
                </a:ln>
                <a:solidFill>
                  <a:srgbClr val="333333"/>
                </a:solidFill>
                <a:effectLst/>
                <a:latin typeface="Arial" panose="020B0604020202020204" pitchFamily="34" charset="0"/>
                <a:cs typeface="Arial" panose="020B0604020202020204" pitchFamily="34" charset="0"/>
              </a:rPr>
              <a:t>Html.GetEnumSelectList</a:t>
            </a:r>
            <a:r>
              <a:rPr kumimoji="0" lang="en-US" altLang="en-US" sz="10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&lt;Dept&gt;()</a:t>
            </a: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 to get the options for the </a:t>
            </a:r>
            <a:r>
              <a:rPr kumimoji="0" lang="en-US" altLang="en-US" sz="1000" b="1" i="1" u="none" strike="noStrike" cap="none" normalizeH="0" baseline="0" dirty="0">
                <a:ln>
                  <a:noFill/>
                </a:ln>
                <a:solidFill>
                  <a:srgbClr val="333333"/>
                </a:solidFill>
                <a:effectLst/>
                <a:latin typeface="Arial" panose="020B0604020202020204" pitchFamily="34" charset="0"/>
                <a:cs typeface="Arial" panose="020B0604020202020204" pitchFamily="34" charset="0"/>
              </a:rPr>
              <a:t>select </a:t>
            </a: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element.</a:t>
            </a:r>
            <a:br>
              <a:rPr kumimoji="0" lang="en-US" altLang="en-US" sz="800" b="0" i="0" u="none" strike="noStrike" cap="none" normalizeH="0" baseline="0" dirty="0">
                <a:ln>
                  <a:noFill/>
                </a:ln>
                <a:solidFill>
                  <a:schemeClr val="tx1"/>
                </a:solidFill>
                <a:effectLst/>
              </a:rPr>
            </a:br>
            <a: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t>The above code produces the following HTML</a:t>
            </a:r>
            <a:br>
              <a:rPr kumimoji="0" lang="en-US" altLang="en-US" sz="800" b="0" i="0" u="none" strike="noStrike" cap="none" normalizeH="0" baseline="0" dirty="0">
                <a:ln>
                  <a:noFill/>
                </a:ln>
                <a:solidFill>
                  <a:schemeClr val="tx1"/>
                </a:solidFill>
                <a:effectLst/>
              </a:rPr>
            </a:b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0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label</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for</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="Department"&gt;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Department</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0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label</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rPr>
            </a:b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0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select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id</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="Department"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name</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="Department"&gt;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option</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value</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="0"&gt;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None</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option</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option</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value</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="1"&gt;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HR</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option</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option</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value</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="2"&gt;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Payroll</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option</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option</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value</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="3"&gt;</a:t>
            </a:r>
            <a:r>
              <a:rPr kumimoji="0" lang="en-US" altLang="en-US" sz="1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IT</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0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option</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0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000" b="0" i="0" u="none" strike="noStrike" cap="none" normalizeH="0" baseline="0" dirty="0">
                <a:ln>
                  <a:noFill/>
                </a:ln>
                <a:solidFill>
                  <a:srgbClr val="800000"/>
                </a:solidFill>
                <a:effectLst/>
                <a:latin typeface="Arial" panose="020B0604020202020204" pitchFamily="34" charset="0"/>
                <a:cs typeface="Arial" panose="020B0604020202020204" pitchFamily="34" charset="0"/>
              </a:rPr>
              <a:t>select</a:t>
            </a:r>
            <a:r>
              <a:rPr kumimoji="0" lang="en-US" altLang="en-US" sz="1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39145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61098C7-73CF-D3A7-31AD-48012494EFE3}"/>
              </a:ext>
            </a:extLst>
          </p:cNvPr>
          <p:cNvSpPr txBox="1"/>
          <p:nvPr/>
        </p:nvSpPr>
        <p:spPr>
          <a:xfrm>
            <a:off x="3047215" y="3246690"/>
            <a:ext cx="6094428" cy="369332"/>
          </a:xfrm>
          <a:prstGeom prst="rect">
            <a:avLst/>
          </a:prstGeom>
          <a:noFill/>
        </p:spPr>
        <p:txBody>
          <a:bodyPr wrap="square">
            <a:spAutoFit/>
          </a:bodyPr>
          <a:lstStyle/>
          <a:p>
            <a:r>
              <a:rPr lang="en-IN" dirty="0"/>
              <a:t>https://jonhilton.net/aspnet-core-forms-cheat-sheet/</a:t>
            </a:r>
          </a:p>
        </p:txBody>
      </p:sp>
      <p:sp>
        <p:nvSpPr>
          <p:cNvPr id="3" name="TextBox 2">
            <a:extLst>
              <a:ext uri="{FF2B5EF4-FFF2-40B4-BE49-F238E27FC236}">
                <a16:creationId xmlns:a16="http://schemas.microsoft.com/office/drawing/2014/main" id="{175E83FD-5191-6EFB-5D1B-FB2EF6B59F5E}"/>
              </a:ext>
            </a:extLst>
          </p:cNvPr>
          <p:cNvSpPr txBox="1"/>
          <p:nvPr/>
        </p:nvSpPr>
        <p:spPr>
          <a:xfrm>
            <a:off x="2429933" y="4319601"/>
            <a:ext cx="6096000" cy="369332"/>
          </a:xfrm>
          <a:prstGeom prst="rect">
            <a:avLst/>
          </a:prstGeom>
          <a:noFill/>
        </p:spPr>
        <p:txBody>
          <a:bodyPr wrap="square">
            <a:spAutoFit/>
          </a:bodyPr>
          <a:lstStyle/>
          <a:p>
            <a:r>
              <a:rPr lang="en-US" dirty="0">
                <a:hlinkClick r:id="rId2"/>
              </a:rPr>
              <a:t>Tag Helpers in forms in ASP.NET Core | Microsoft Learn</a:t>
            </a:r>
            <a:endParaRPr lang="en-IN" dirty="0"/>
          </a:p>
        </p:txBody>
      </p:sp>
    </p:spTree>
    <p:extLst>
      <p:ext uri="{BB962C8B-B14F-4D97-AF65-F5344CB8AC3E}">
        <p14:creationId xmlns:p14="http://schemas.microsoft.com/office/powerpoint/2010/main" val="3413366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TotalTime>
  <Words>2716</Words>
  <Application>Microsoft Office PowerPoint</Application>
  <PresentationFormat>Widescreen</PresentationFormat>
  <Paragraphs>129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Form</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12</cp:revision>
  <dcterms:created xsi:type="dcterms:W3CDTF">2021-10-01T22:21:29Z</dcterms:created>
  <dcterms:modified xsi:type="dcterms:W3CDTF">2024-09-20T04:35:13Z</dcterms:modified>
</cp:coreProperties>
</file>