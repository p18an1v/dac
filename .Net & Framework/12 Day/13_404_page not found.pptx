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C6CDA-E96A-496F-9B74-3E996150E9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8F2C98-D568-4BC1-A502-B518AB3444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51E82-3407-4C1E-8119-546BFF267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F782-6C58-4AB3-BEA1-6EA1EBCF1829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17986-C095-4BB6-A2D6-0961955C7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9ECBA-A328-41AB-B7E7-E6566D7F1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3E335-D0CE-440A-833D-5CBE303617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4689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2D62F-6C64-4250-AC34-E3BC420A0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A91F2-3F95-4B9B-B81E-26480E8A8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4815D-0159-405F-94D5-3BE0B9770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F782-6C58-4AB3-BEA1-6EA1EBCF1829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9E093-491F-40D5-B769-353247E4D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EA003C-3B10-42EF-87C8-A17F7308E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3E335-D0CE-440A-833D-5CBE303617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4775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20A86-D279-4EE5-A82E-87810167A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CB7C4F-4481-452F-B0C9-D8D044ECDB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6C9F4-DE1C-4ACA-B4BD-EDCDB30AF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F782-6C58-4AB3-BEA1-6EA1EBCF1829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ABFEC-A3DF-4437-A30E-D475B3DCE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BA6632-BD24-42A6-8D55-E6EBFDA09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3E335-D0CE-440A-833D-5CBE303617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3227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FC1AE-B534-4186-8718-B9399C772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0B757-A480-45FC-8D80-87A33C054C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45DFF1-AC41-4A07-82F5-7B4BD0C1D6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8AEA68-53A9-4615-8B23-32654A672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F782-6C58-4AB3-BEA1-6EA1EBCF1829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D465E1-26FA-495B-B867-136D419AB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607AD-4208-4E28-BACD-457151567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3E335-D0CE-440A-833D-5CBE303617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9197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2961D-3363-4474-A3C9-289006BA5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370604-CE3A-4D4E-9E2C-3E93B2A9D9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B5D4C5-C9F4-4203-ABA2-9A66FC7A6C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912CB3-348D-4F1B-B4AC-0B5465758C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D91E7D-CD8E-4737-9F89-3F7CD23C3F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551404-8CBF-4E6D-85B9-48D1617E9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F782-6C58-4AB3-BEA1-6EA1EBCF1829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F6266A-D6BA-4D47-8895-28E77B110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D386DF-EC2D-4193-874B-E8D8EA4DD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3E335-D0CE-440A-833D-5CBE303617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189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96242-E0B5-4708-AD79-796EEB824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545E82-1EFA-4839-B152-D0C401A1E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F782-6C58-4AB3-BEA1-6EA1EBCF1829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34A41A-FD39-4207-A84D-6BAF2BBAA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3B6556-8D09-44E1-AC1E-86128EDE5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3E335-D0CE-440A-833D-5CBE303617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6604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755787-253E-445B-9C62-B68F9B95A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F782-6C58-4AB3-BEA1-6EA1EBCF1829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2C8F84-AC6B-45C7-B7DB-30603FF34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A43F5B-11A2-42C4-8951-BBA9FA79F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3E335-D0CE-440A-833D-5CBE303617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5586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FC95C-759A-43C0-B1D9-0AA68A369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FD426-2097-4AE2-8504-01515A8A9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225B65-9B6C-49E2-B246-62F916862B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AE6F35-87F1-41CE-86C9-9188BD393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F782-6C58-4AB3-BEA1-6EA1EBCF1829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4D70A5-581E-4417-856C-315815A3D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7606B7-D7C4-4ED6-B010-8E054E2F7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3E335-D0CE-440A-833D-5CBE303617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8140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4B7F6-C293-44FD-915D-5F3E44365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75FCF3-3DB4-40CF-B393-2F777FF40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A83D89-C58A-46E3-975D-A559924884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508B8E-CB62-48F7-844D-D96436351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F782-6C58-4AB3-BEA1-6EA1EBCF1829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08EEC3-D077-424D-B479-D2820339B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80ACA2-7CAE-4819-8E41-48AC67B44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3E335-D0CE-440A-833D-5CBE303617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5922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5F8F9-00E9-4873-86FE-713DAC3C2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D163D3-5C73-43B2-B860-CEF5FB8E0D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028E8-838D-4EDE-970F-1FF4B9047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F782-6C58-4AB3-BEA1-6EA1EBCF1829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03D2FA-55D5-4D4E-AB27-7285A43C6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ED8DB-0EBA-40E1-87ED-AEF86BED2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3E335-D0CE-440A-833D-5CBE303617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7615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F90505-75FE-4747-BE71-9844BD0870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238871-D389-40EB-B6B5-D3B4FD7416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AD71D-0209-4819-AD76-47DC7BC86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F782-6C58-4AB3-BEA1-6EA1EBCF1829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EF116-1E6C-41BB-A7B4-26829F8DA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0BFA1-25D8-4987-8C35-5655F8B9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3E335-D0CE-440A-833D-5CBE303617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8067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F82EAB-09C3-4A0F-84BD-C66545FD6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9C5D88-BF94-4B03-92FA-4D5B325A5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91C92-AA9C-4C9B-AB38-682A915C55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FFF782-6C58-4AB3-BEA1-6EA1EBCF1829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65345-AD1F-41B9-9447-DC174D0F52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55926A-1653-4D5E-B12F-AC282B8535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E3E335-D0CE-440A-833D-5CBE303617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762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B042B-12F0-42B5-99C8-E489788D8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89C38-1F24-4787-8256-12CC01FEE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503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8DEC658-D003-4C48-875A-F584AB758435}"/>
              </a:ext>
            </a:extLst>
          </p:cNvPr>
          <p:cNvSpPr txBox="1"/>
          <p:nvPr/>
        </p:nvSpPr>
        <p:spPr>
          <a:xfrm>
            <a:off x="3126658" y="13979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404 Errors in ASP.NET Core</a:t>
            </a:r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DAA84D8-C911-491A-AEDE-C120808D9F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09131"/>
            <a:ext cx="5378245" cy="3016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public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D85C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ViewResult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D85C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Details(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id)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D85C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Employee 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employee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 _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employeeRepository.GetEmployee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(id);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(employee ==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null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{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Response.StatusCode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 404;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View(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A315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EmployeeNotFound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id);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}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View(employee);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D00161-06EB-400D-A037-207920989FFD}"/>
              </a:ext>
            </a:extLst>
          </p:cNvPr>
          <p:cNvSpPr txBox="1"/>
          <p:nvPr/>
        </p:nvSpPr>
        <p:spPr>
          <a:xfrm>
            <a:off x="68826" y="3628840"/>
            <a:ext cx="61058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The following URL invokes the </a:t>
            </a:r>
            <a:r>
              <a:rPr lang="en-US" b="0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Details()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action of the </a:t>
            </a:r>
            <a:r>
              <a:rPr lang="en-US" b="0" i="0" dirty="0" err="1">
                <a:solidFill>
                  <a:srgbClr val="3D85C6"/>
                </a:solidFill>
                <a:effectLst/>
                <a:latin typeface="arial" panose="020B0604020202020204" pitchFamily="34" charset="0"/>
              </a:rPr>
              <a:t>HomeController</a:t>
            </a:r>
            <a:r>
              <a:rPr lang="en-US" b="0" i="0" dirty="0">
                <a:solidFill>
                  <a:srgbClr val="3D85C6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passing it the ID of </a:t>
            </a:r>
            <a:r>
              <a:rPr lang="en-US" b="0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99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http://localhost/home/details/99</a:t>
            </a:r>
            <a:endParaRPr lang="en-US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232DC2-C07C-4BBC-B453-4F5BDC470F76}"/>
              </a:ext>
            </a:extLst>
          </p:cNvPr>
          <p:cNvSpPr txBox="1"/>
          <p:nvPr/>
        </p:nvSpPr>
        <p:spPr>
          <a:xfrm>
            <a:off x="7084142" y="769063"/>
            <a:ext cx="4576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404 Not Found View Code</a:t>
            </a:r>
            <a:endParaRPr lang="en-IN" dirty="0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5023A908-6194-424F-9C1B-E6C6E699D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9186" y="1241894"/>
            <a:ext cx="6204155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@model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@{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ViewBag.Title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"404 Error"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div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class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="alert alert-danger mt-1 mb-1"&gt;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h4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404 Not Found Error 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&lt;/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h4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/&gt;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h5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Employee with ID = @Model cannot be found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&lt;/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h5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&lt;/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div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asp-controller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="home"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asp-action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="index"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class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btn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btn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-outline-success"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style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width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auto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"&gt;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Click here to see the list of all employees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&lt;/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5267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2094AED-15DE-478C-A4FC-8CDF98D712E5}"/>
              </a:ext>
            </a:extLst>
          </p:cNvPr>
          <p:cNvSpPr txBox="1"/>
          <p:nvPr/>
        </p:nvSpPr>
        <p:spPr>
          <a:xfrm>
            <a:off x="393289" y="194553"/>
            <a:ext cx="1099246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In this case, we know the user is trying to go to the employee details page, but the provided </a:t>
            </a:r>
            <a:r>
              <a:rPr lang="en-US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ID value is invalid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. So we are returning a custom error page with the message, the ID cannot be found and a link that he could click to see the list of all employees.</a:t>
            </a:r>
            <a:br>
              <a:rPr lang="en-US" dirty="0"/>
            </a:br>
            <a:endParaRPr lang="en-IN" dirty="0"/>
          </a:p>
        </p:txBody>
      </p:sp>
      <p:pic>
        <p:nvPicPr>
          <p:cNvPr id="2050" name="Picture 2" descr="handling 404 not found in asp.net core mvc">
            <a:extLst>
              <a:ext uri="{FF2B5EF4-FFF2-40B4-BE49-F238E27FC236}">
                <a16:creationId xmlns:a16="http://schemas.microsoft.com/office/drawing/2014/main" id="{D1F7D93C-1A74-438B-BA4B-A3F8DA24D6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677" y="1802684"/>
            <a:ext cx="4933950" cy="219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B2C8A81-8B56-4F08-967C-7184B8583259}"/>
              </a:ext>
            </a:extLst>
          </p:cNvPr>
          <p:cNvSpPr txBox="1"/>
          <p:nvPr/>
        </p:nvSpPr>
        <p:spPr>
          <a:xfrm>
            <a:off x="639097" y="4173226"/>
            <a:ext cx="1061883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Type 2 : </a:t>
            </a:r>
            <a:r>
              <a:rPr lang="en-US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The URL does not match any route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Consider the following route. This also results in a </a:t>
            </a:r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404 error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http://localhost/foo/bar</a:t>
            </a:r>
            <a:endParaRPr lang="en-US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br>
              <a:rPr lang="en-US" dirty="0"/>
            </a:b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In this case we are not sure, the page the user is trying to get to so displaying a custom error page is not possible. In this case we want to return a generic error page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6347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7D7200E-BC5E-4BA0-BADA-DD2253D26B28}"/>
              </a:ext>
            </a:extLst>
          </p:cNvPr>
          <p:cNvSpPr txBox="1"/>
          <p:nvPr/>
        </p:nvSpPr>
        <p:spPr>
          <a:xfrm>
            <a:off x="216310" y="125727"/>
            <a:ext cx="114447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dirty="0"/>
            </a:b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The following is code in </a:t>
            </a:r>
            <a:r>
              <a:rPr lang="en-US" b="0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Configure()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method of </a:t>
            </a:r>
            <a:r>
              <a:rPr lang="en-US" b="0" i="0" dirty="0">
                <a:solidFill>
                  <a:srgbClr val="3D85C6"/>
                </a:solidFill>
                <a:effectLst/>
                <a:latin typeface="arial" panose="020B0604020202020204" pitchFamily="34" charset="0"/>
              </a:rPr>
              <a:t>Startup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class in </a:t>
            </a:r>
            <a:r>
              <a:rPr lang="en-US" b="0" i="0" dirty="0" err="1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Startup.cs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file. As you might already know, this </a:t>
            </a:r>
            <a:r>
              <a:rPr lang="en-US" b="0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Configure()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method configures the HTTP request processing pipeline for our asp.net core application. 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6F25BC-251F-4394-BF12-46EB0A09891B}"/>
              </a:ext>
            </a:extLst>
          </p:cNvPr>
          <p:cNvSpPr txBox="1"/>
          <p:nvPr/>
        </p:nvSpPr>
        <p:spPr>
          <a:xfrm>
            <a:off x="147483" y="4728071"/>
            <a:ext cx="1193636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At the moment we do not have anything configured in this </a:t>
            </a:r>
            <a:r>
              <a:rPr lang="en-US" b="0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http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request processing pipeline to handle </a:t>
            </a:r>
            <a:r>
              <a:rPr lang="en-US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404 errors.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So if we navigate to </a:t>
            </a:r>
            <a:r>
              <a:rPr lang="en-US" b="0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http://localhost/foo/bar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, we see the following default 404 error page. This is because the URL </a:t>
            </a:r>
            <a:r>
              <a:rPr lang="en-US" b="0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/foo/bar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does not match any routes in our application.</a:t>
            </a:r>
            <a:endParaRPr lang="en-IN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CC3657FF-0E1B-4763-8F72-F04665AF4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310" y="1395847"/>
            <a:ext cx="6037008" cy="2985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public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void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Configure(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3D85C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IApplicationBuilder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app,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3D85C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IHostingEnvironment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env)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env.IsDevelopment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())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{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app.UseDeveloperExceptionPage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}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app.UseStaticFiles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app.UseMvc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(routes =&gt;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{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routes.MapRoute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"default"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"{controller=Home}/{action=Index}/{id?}"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});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5" name="Picture 3" descr="asp.net core 404 error handling">
            <a:extLst>
              <a:ext uri="{FF2B5EF4-FFF2-40B4-BE49-F238E27FC236}">
                <a16:creationId xmlns:a16="http://schemas.microsoft.com/office/drawing/2014/main" id="{4DFCF5E7-BC2D-4D70-84C6-FDED15685D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1383" y="1516963"/>
            <a:ext cx="5019675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6001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0897727-497B-4C31-BAAD-0FAB01889D46}"/>
              </a:ext>
            </a:extLst>
          </p:cNvPr>
          <p:cNvSpPr txBox="1"/>
          <p:nvPr/>
        </p:nvSpPr>
        <p:spPr>
          <a:xfrm>
            <a:off x="471948" y="373626"/>
            <a:ext cx="115824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The major purpose of  </a:t>
            </a:r>
            <a:r>
              <a:rPr lang="en-US" b="0" i="0" dirty="0" err="1">
                <a:solidFill>
                  <a:srgbClr val="212121"/>
                </a:solidFill>
                <a:effectLst/>
                <a:highlight>
                  <a:srgbClr val="FFFF00"/>
                </a:highlight>
                <a:latin typeface="open sans" panose="020B0606030504020204" pitchFamily="34" charset="0"/>
              </a:rPr>
              <a:t>UseDeveloperExceptionPage</a:t>
            </a:r>
            <a:r>
              <a:rPr lang="en-US" b="0" i="0" dirty="0">
                <a:solidFill>
                  <a:srgbClr val="212121"/>
                </a:solidFill>
                <a:effectLst/>
                <a:highlight>
                  <a:srgbClr val="FFFF00"/>
                </a:highlight>
                <a:latin typeface="open sans" panose="020B0606030504020204" pitchFamily="34" charset="0"/>
              </a:rPr>
              <a:t>(</a:t>
            </a:r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) is to help the user to inspect exception details during the development phase.</a:t>
            </a:r>
          </a:p>
          <a:p>
            <a:pPr algn="l"/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 </a:t>
            </a:r>
          </a:p>
          <a:p>
            <a:pPr algn="l"/>
            <a:r>
              <a:rPr lang="en-US" b="1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Namespace for the method</a:t>
            </a:r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 - </a:t>
            </a:r>
            <a:r>
              <a:rPr lang="en-US" b="0" i="0" dirty="0" err="1">
                <a:solidFill>
                  <a:srgbClr val="212121"/>
                </a:solidFill>
                <a:effectLst/>
                <a:highlight>
                  <a:srgbClr val="FFFF00"/>
                </a:highlight>
                <a:latin typeface="open sans" panose="020B0606030504020204" pitchFamily="34" charset="0"/>
              </a:rPr>
              <a:t>Microsoft.AspNetCore.Builder</a:t>
            </a:r>
            <a:endParaRPr lang="en-US" b="0" i="0" dirty="0">
              <a:solidFill>
                <a:srgbClr val="212121"/>
              </a:solidFill>
              <a:effectLst/>
              <a:highlight>
                <a:srgbClr val="FFFF00"/>
              </a:highlight>
              <a:latin typeface="open sans" panose="020B0606030504020204" pitchFamily="34" charset="0"/>
            </a:endParaRPr>
          </a:p>
          <a:p>
            <a:pPr algn="l"/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 </a:t>
            </a:r>
          </a:p>
          <a:p>
            <a:pPr algn="l"/>
            <a:r>
              <a:rPr lang="en-US" b="1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Purpose of function</a:t>
            </a:r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 </a:t>
            </a:r>
          </a:p>
          <a:p>
            <a:pPr algn="l"/>
            <a:endParaRPr lang="en-US" b="0" i="0" dirty="0">
              <a:solidFill>
                <a:srgbClr val="212121"/>
              </a:solidFill>
              <a:effectLst/>
              <a:latin typeface="open sans" panose="020B0606030504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To capture Synchronous and Asynchronous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SystemException</a:t>
            </a:r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 instance from the pipeline &amp; generate HTML error response. It returns a reference to the application after the operation is completed.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212121"/>
              </a:solidFill>
              <a:effectLst/>
              <a:latin typeface="open sans" panose="020B0606030504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We use the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UseDeveloperException</a:t>
            </a:r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() extension method to render the exception during the development mode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212121"/>
              </a:solidFill>
              <a:effectLst/>
              <a:latin typeface="open sans" panose="020B0606030504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This method adds middleware into the request pipeline which displays developer-friendly exception detail page. This helps developers in tracing errors that occur during the development phase</a:t>
            </a:r>
          </a:p>
        </p:txBody>
      </p:sp>
    </p:spTree>
    <p:extLst>
      <p:ext uri="{BB962C8B-B14F-4D97-AF65-F5344CB8AC3E}">
        <p14:creationId xmlns:p14="http://schemas.microsoft.com/office/powerpoint/2010/main" val="773318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42E3AEF-7384-4A75-87F2-63FE29120059}"/>
              </a:ext>
            </a:extLst>
          </p:cNvPr>
          <p:cNvSpPr txBox="1"/>
          <p:nvPr/>
        </p:nvSpPr>
        <p:spPr>
          <a:xfrm>
            <a:off x="270387" y="0"/>
            <a:ext cx="1165122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Handling non-success http status codes</a:t>
            </a:r>
            <a:br>
              <a:rPr lang="en-IN" dirty="0"/>
            </a:br>
            <a:br>
              <a:rPr lang="en-IN" dirty="0"/>
            </a:br>
            <a:r>
              <a:rPr lang="en-I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To handle non-success http status codes such as </a:t>
            </a:r>
            <a:r>
              <a:rPr lang="en-IN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404 </a:t>
            </a:r>
            <a:r>
              <a:rPr lang="en-I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for example, we could use the following 3 </a:t>
            </a:r>
            <a:r>
              <a:rPr lang="en-IN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built-in asp.net core middleware components.</a:t>
            </a:r>
            <a:br>
              <a:rPr lang="en-IN" dirty="0"/>
            </a:br>
            <a:br>
              <a:rPr lang="en-IN" dirty="0"/>
            </a:br>
            <a:r>
              <a:rPr lang="en-IN" b="0" i="0" dirty="0" err="1">
                <a:solidFill>
                  <a:srgbClr val="3D85C6"/>
                </a:solidFill>
                <a:effectLst/>
                <a:latin typeface="arial" panose="020B0604020202020204" pitchFamily="34" charset="0"/>
              </a:rPr>
              <a:t>UseStatusCodePages</a:t>
            </a:r>
            <a:br>
              <a:rPr lang="en-IN" dirty="0"/>
            </a:br>
            <a:r>
              <a:rPr lang="en-IN" b="0" i="0" dirty="0" err="1">
                <a:solidFill>
                  <a:srgbClr val="3D85C6"/>
                </a:solidFill>
                <a:effectLst/>
                <a:latin typeface="arial" panose="020B0604020202020204" pitchFamily="34" charset="0"/>
              </a:rPr>
              <a:t>UseStatusCodePagesWithRedirects</a:t>
            </a:r>
            <a:br>
              <a:rPr lang="en-IN" dirty="0"/>
            </a:b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05D343-B93A-4194-88ED-3D6D3FE9B24F}"/>
              </a:ext>
            </a:extLst>
          </p:cNvPr>
          <p:cNvSpPr txBox="1"/>
          <p:nvPr/>
        </p:nvSpPr>
        <p:spPr>
          <a:xfrm>
            <a:off x="4601497" y="1154162"/>
            <a:ext cx="732011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UseStatusCodePages</a:t>
            </a:r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Middleware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This is the least useful of the 3 status code middleware components. For this reason, we rarely use it in a real world production application. To use it in an application and see what it can do, plug it into the http processing pipeline as shown below.</a:t>
            </a:r>
            <a:endParaRPr lang="en-IN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6372F4F-DFEC-4C95-A033-250CB06B3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58" y="3123931"/>
            <a:ext cx="5535561" cy="3277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>
                <a:solidFill>
                  <a:srgbClr val="000000"/>
                </a:solidFill>
                <a:cs typeface="Arial" panose="020B0604020202020204" pitchFamily="34" charset="0"/>
              </a:rPr>
              <a:t>(</a:t>
            </a:r>
            <a:r>
              <a:rPr lang="en-IN" sz="1200" dirty="0" err="1">
                <a:solidFill>
                  <a:srgbClr val="000000"/>
                </a:solidFill>
                <a:cs typeface="Arial" panose="020B0604020202020204" pitchFamily="34" charset="0"/>
              </a:rPr>
              <a:t>app.Environment.IsDevelopment</a:t>
            </a:r>
            <a:r>
              <a:rPr lang="en-IN" sz="1200" dirty="0">
                <a:solidFill>
                  <a:srgbClr val="000000"/>
                </a:solidFill>
                <a:cs typeface="Arial" panose="020B0604020202020204" pitchFamily="34" charset="0"/>
              </a:rPr>
              <a:t>())</a:t>
            </a:r>
            <a:r>
              <a:rPr lang="en-US" altLang="en-US" sz="1200" dirty="0">
                <a:solidFill>
                  <a:srgbClr val="000000"/>
                </a:solidFill>
                <a:cs typeface="Arial" panose="020B0604020202020204" pitchFamily="34" charset="0"/>
              </a:rPr>
              <a:t>   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app.UseDeveloperExceptionPage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}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else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{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app.UseStatusCodePages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00FFFF"/>
              </a:highlight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}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app.UseStaticFiles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app.UseMvc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(routes =&gt;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{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routes.MapRoute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"default"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"{controller=Home}/{action=Index}/{id?}"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});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717C84-2547-4813-9FAC-4ECBD6067A49}"/>
              </a:ext>
            </a:extLst>
          </p:cNvPr>
          <p:cNvSpPr txBox="1"/>
          <p:nvPr/>
        </p:nvSpPr>
        <p:spPr>
          <a:xfrm>
            <a:off x="5663383" y="313932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With </a:t>
            </a:r>
            <a:r>
              <a:rPr lang="en-US" b="0" i="0" dirty="0" err="1">
                <a:solidFill>
                  <a:srgbClr val="3D85C6"/>
                </a:solidFill>
                <a:effectLst/>
                <a:latin typeface="arial" panose="020B0604020202020204" pitchFamily="34" charset="0"/>
              </a:rPr>
              <a:t>UseStatusCodePages</a:t>
            </a:r>
            <a:r>
              <a:rPr lang="en-US" b="0" i="0" dirty="0">
                <a:solidFill>
                  <a:srgbClr val="3D85C6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Middleware configured, if we navigate to </a:t>
            </a:r>
            <a:r>
              <a:rPr lang="en-US" b="0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http://localhost/foo/bar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, it returns the following simple text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respons</a:t>
            </a:r>
            <a:endParaRPr lang="en-IN" dirty="0"/>
          </a:p>
        </p:txBody>
      </p:sp>
      <p:pic>
        <p:nvPicPr>
          <p:cNvPr id="4099" name="Picture 3" descr="asp.net core usestatuscodepages">
            <a:extLst>
              <a:ext uri="{FF2B5EF4-FFF2-40B4-BE49-F238E27FC236}">
                <a16:creationId xmlns:a16="http://schemas.microsoft.com/office/drawing/2014/main" id="{458DCFF5-0EE2-452C-B029-62B97C6198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8529" y="4775504"/>
            <a:ext cx="2686050" cy="66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2527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B291040-B9F7-4391-8293-5985EAFB1B37}"/>
              </a:ext>
            </a:extLst>
          </p:cNvPr>
          <p:cNvSpPr txBox="1"/>
          <p:nvPr/>
        </p:nvSpPr>
        <p:spPr>
          <a:xfrm>
            <a:off x="137651" y="0"/>
            <a:ext cx="1193636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UseStatusCodePagesWithRedirects</a:t>
            </a:r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Middleware</a:t>
            </a:r>
            <a:br>
              <a:rPr lang="en-US" dirty="0"/>
            </a:br>
            <a:br>
              <a:rPr lang="en-US" dirty="0"/>
            </a:br>
            <a:r>
              <a:rPr lang="en-US" sz="14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In a production quality application we want to intercept these non-success http status codes and return a custom error view. To achieve this, we can either use </a:t>
            </a:r>
            <a:r>
              <a:rPr lang="en-US" sz="1400" b="0" i="0" dirty="0" err="1">
                <a:solidFill>
                  <a:srgbClr val="3D85C6"/>
                </a:solidFill>
                <a:effectLst/>
                <a:latin typeface="arial" panose="020B0604020202020204" pitchFamily="34" charset="0"/>
              </a:rPr>
              <a:t>UseStatusCodePagesWithRedirects</a:t>
            </a:r>
            <a:r>
              <a:rPr lang="en-US" sz="1400" b="0" i="0" dirty="0">
                <a:solidFill>
                  <a:srgbClr val="3D85C6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sz="14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middleware or </a:t>
            </a:r>
            <a:r>
              <a:rPr lang="en-US" sz="1400" b="0" i="0" dirty="0" err="1">
                <a:solidFill>
                  <a:srgbClr val="3D85C6"/>
                </a:solidFill>
                <a:effectLst/>
                <a:latin typeface="arial" panose="020B0604020202020204" pitchFamily="34" charset="0"/>
              </a:rPr>
              <a:t>UseStatusCodePagesWithReExecute</a:t>
            </a:r>
            <a:r>
              <a:rPr lang="en-US" sz="1400" b="0" i="0" dirty="0">
                <a:solidFill>
                  <a:srgbClr val="3D85C6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sz="14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middleware.</a:t>
            </a:r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96B755E-13C7-409F-BB14-1E1426EE8B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94" y="1289953"/>
            <a:ext cx="6056671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public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void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Configure(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D85C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IApplicationBuilder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D85C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app, 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D85C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IHostingEnvironment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D85C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env)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env.IsDevelopment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())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{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app.UseDeveloperExceptionPage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}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else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{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app.UseStatusCodePagesWithRedirects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"/Error/{0}"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}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app.UseStaticFiles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app.UseMvc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(routes =&gt;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{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routes.MapRoute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"default"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"{controller=Home}/{action=Index}/{id?}"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});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E228B39-9523-4273-BD59-AF7C63ACA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198980"/>
            <a:ext cx="6037006" cy="3924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public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class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ErrorController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: Controller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// If there is 404 status code, the route path will become Error/404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[Route(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"Error/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A315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statusCode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)]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public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IActionResult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HttpStatusCodeHandler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statusCode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{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switch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statusCode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{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   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case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404: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        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ViewBag.ErrorMessage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"Sorry, the resource you requested could not be found"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       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break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}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View(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A315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NotFound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}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F4EDAD11-3939-4A1E-917E-7F2BEE71E3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5333498"/>
            <a:ext cx="5860026" cy="14157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@{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ViewBag.Title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 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"Not Found"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h1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@ViewBag.ErrorMessage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&lt;/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h1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asp-action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="index"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asp-controller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="home"&gt;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Click here to navigate to the home page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&lt;/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B1A146-3692-466F-9EBD-9F08B01A0D61}"/>
              </a:ext>
            </a:extLst>
          </p:cNvPr>
          <p:cNvSpPr txBox="1"/>
          <p:nvPr/>
        </p:nvSpPr>
        <p:spPr>
          <a:xfrm>
            <a:off x="19665" y="5778414"/>
            <a:ext cx="58600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At this point, if we navigate to </a:t>
            </a:r>
            <a:r>
              <a:rPr lang="en-US" b="0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http://localhost/foo/bar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we see the following custom 404 error view </a:t>
            </a:r>
            <a:r>
              <a:rPr lang="en-US" b="0" i="0" dirty="0" err="1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NotFound.cshtml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as expected.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5165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1047</Words>
  <Application>Microsoft Office PowerPoint</Application>
  <PresentationFormat>Widescreen</PresentationFormat>
  <Paragraphs>123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arial</vt:lpstr>
      <vt:lpstr>Calibri</vt:lpstr>
      <vt:lpstr>Calibri Light</vt:lpstr>
      <vt:lpstr>Cascadia Mono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Ketki Acharya</dc:creator>
  <cp:lastModifiedBy>sriram mantri vidyanidhi infotech academy</cp:lastModifiedBy>
  <cp:revision>7</cp:revision>
  <dcterms:created xsi:type="dcterms:W3CDTF">2021-10-02T09:59:19Z</dcterms:created>
  <dcterms:modified xsi:type="dcterms:W3CDTF">2024-10-24T05:34:35Z</dcterms:modified>
</cp:coreProperties>
</file>