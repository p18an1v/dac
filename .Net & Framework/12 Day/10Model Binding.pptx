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BF33B-54E1-4E71-98E7-209C384E8D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5DD4B67-317C-4053-9CBA-F349DF37A5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515696-F44B-49B8-A75E-5D6D9FD58D04}"/>
              </a:ext>
            </a:extLst>
          </p:cNvPr>
          <p:cNvSpPr>
            <a:spLocks noGrp="1"/>
          </p:cNvSpPr>
          <p:nvPr>
            <p:ph type="dt" sz="half" idx="10"/>
          </p:nvPr>
        </p:nvSpPr>
        <p:spPr/>
        <p:txBody>
          <a:bodyPr/>
          <a:lstStyle/>
          <a:p>
            <a:fld id="{4D5AD624-4E23-400C-8336-CAD982D9A082}" type="datetimeFigureOut">
              <a:rPr lang="en-IN" smtClean="0"/>
              <a:t>30-09-2023</a:t>
            </a:fld>
            <a:endParaRPr lang="en-IN"/>
          </a:p>
        </p:txBody>
      </p:sp>
      <p:sp>
        <p:nvSpPr>
          <p:cNvPr id="5" name="Footer Placeholder 4">
            <a:extLst>
              <a:ext uri="{FF2B5EF4-FFF2-40B4-BE49-F238E27FC236}">
                <a16:creationId xmlns:a16="http://schemas.microsoft.com/office/drawing/2014/main" id="{D7D3EC95-CEC0-4940-9A62-A95C4E3442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983AEE-AE54-4080-BF78-D813C0EE3C09}"/>
              </a:ext>
            </a:extLst>
          </p:cNvPr>
          <p:cNvSpPr>
            <a:spLocks noGrp="1"/>
          </p:cNvSpPr>
          <p:nvPr>
            <p:ph type="sldNum" sz="quarter" idx="12"/>
          </p:nvPr>
        </p:nvSpPr>
        <p:spPr/>
        <p:txBody>
          <a:bodyPr/>
          <a:lstStyle/>
          <a:p>
            <a:fld id="{26BAF1B5-47AD-41DE-A7C3-83E5A7FF8568}" type="slidenum">
              <a:rPr lang="en-IN" smtClean="0"/>
              <a:t>‹#›</a:t>
            </a:fld>
            <a:endParaRPr lang="en-IN"/>
          </a:p>
        </p:txBody>
      </p:sp>
    </p:spTree>
    <p:extLst>
      <p:ext uri="{BB962C8B-B14F-4D97-AF65-F5344CB8AC3E}">
        <p14:creationId xmlns:p14="http://schemas.microsoft.com/office/powerpoint/2010/main" val="3348466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3E5C2-A522-4020-934E-985E895D597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4373B1-2D6B-45F5-9695-D35CCF9E09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D059C4-FB6A-4875-A8BE-4B3AD4825F2B}"/>
              </a:ext>
            </a:extLst>
          </p:cNvPr>
          <p:cNvSpPr>
            <a:spLocks noGrp="1"/>
          </p:cNvSpPr>
          <p:nvPr>
            <p:ph type="dt" sz="half" idx="10"/>
          </p:nvPr>
        </p:nvSpPr>
        <p:spPr/>
        <p:txBody>
          <a:bodyPr/>
          <a:lstStyle/>
          <a:p>
            <a:fld id="{4D5AD624-4E23-400C-8336-CAD982D9A082}" type="datetimeFigureOut">
              <a:rPr lang="en-IN" smtClean="0"/>
              <a:t>30-09-2023</a:t>
            </a:fld>
            <a:endParaRPr lang="en-IN"/>
          </a:p>
        </p:txBody>
      </p:sp>
      <p:sp>
        <p:nvSpPr>
          <p:cNvPr id="5" name="Footer Placeholder 4">
            <a:extLst>
              <a:ext uri="{FF2B5EF4-FFF2-40B4-BE49-F238E27FC236}">
                <a16:creationId xmlns:a16="http://schemas.microsoft.com/office/drawing/2014/main" id="{1E9EA2EA-A87D-4D7A-9E9F-3B788569B9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88DEEB-0877-49C5-A473-BB044C17325E}"/>
              </a:ext>
            </a:extLst>
          </p:cNvPr>
          <p:cNvSpPr>
            <a:spLocks noGrp="1"/>
          </p:cNvSpPr>
          <p:nvPr>
            <p:ph type="sldNum" sz="quarter" idx="12"/>
          </p:nvPr>
        </p:nvSpPr>
        <p:spPr/>
        <p:txBody>
          <a:bodyPr/>
          <a:lstStyle/>
          <a:p>
            <a:fld id="{26BAF1B5-47AD-41DE-A7C3-83E5A7FF8568}" type="slidenum">
              <a:rPr lang="en-IN" smtClean="0"/>
              <a:t>‹#›</a:t>
            </a:fld>
            <a:endParaRPr lang="en-IN"/>
          </a:p>
        </p:txBody>
      </p:sp>
    </p:spTree>
    <p:extLst>
      <p:ext uri="{BB962C8B-B14F-4D97-AF65-F5344CB8AC3E}">
        <p14:creationId xmlns:p14="http://schemas.microsoft.com/office/powerpoint/2010/main" val="2878979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4E83E-D0B9-4549-BE58-F8154B607D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2715EEB-04EE-46FC-AFEF-55F26E0693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9D0270-4688-4FAC-AC93-C7C22A61E763}"/>
              </a:ext>
            </a:extLst>
          </p:cNvPr>
          <p:cNvSpPr>
            <a:spLocks noGrp="1"/>
          </p:cNvSpPr>
          <p:nvPr>
            <p:ph type="dt" sz="half" idx="10"/>
          </p:nvPr>
        </p:nvSpPr>
        <p:spPr/>
        <p:txBody>
          <a:bodyPr/>
          <a:lstStyle/>
          <a:p>
            <a:fld id="{4D5AD624-4E23-400C-8336-CAD982D9A082}" type="datetimeFigureOut">
              <a:rPr lang="en-IN" smtClean="0"/>
              <a:t>30-09-2023</a:t>
            </a:fld>
            <a:endParaRPr lang="en-IN"/>
          </a:p>
        </p:txBody>
      </p:sp>
      <p:sp>
        <p:nvSpPr>
          <p:cNvPr id="5" name="Footer Placeholder 4">
            <a:extLst>
              <a:ext uri="{FF2B5EF4-FFF2-40B4-BE49-F238E27FC236}">
                <a16:creationId xmlns:a16="http://schemas.microsoft.com/office/drawing/2014/main" id="{513521A4-9A78-4C81-B0D0-1DA4407DE2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39D956-8224-49A1-A064-6E586D29C8A8}"/>
              </a:ext>
            </a:extLst>
          </p:cNvPr>
          <p:cNvSpPr>
            <a:spLocks noGrp="1"/>
          </p:cNvSpPr>
          <p:nvPr>
            <p:ph type="sldNum" sz="quarter" idx="12"/>
          </p:nvPr>
        </p:nvSpPr>
        <p:spPr/>
        <p:txBody>
          <a:bodyPr/>
          <a:lstStyle/>
          <a:p>
            <a:fld id="{26BAF1B5-47AD-41DE-A7C3-83E5A7FF8568}" type="slidenum">
              <a:rPr lang="en-IN" smtClean="0"/>
              <a:t>‹#›</a:t>
            </a:fld>
            <a:endParaRPr lang="en-IN"/>
          </a:p>
        </p:txBody>
      </p:sp>
    </p:spTree>
    <p:extLst>
      <p:ext uri="{BB962C8B-B14F-4D97-AF65-F5344CB8AC3E}">
        <p14:creationId xmlns:p14="http://schemas.microsoft.com/office/powerpoint/2010/main" val="2843433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C7C40-2930-4F5B-8E92-3AC5BAEE14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3EC8D84-D9D4-409F-B1CC-873730D89A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3BC6A0C-CA05-4431-91D0-03DD04A1A4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0755CC1-37A9-4973-942B-54354EF078D9}"/>
              </a:ext>
            </a:extLst>
          </p:cNvPr>
          <p:cNvSpPr>
            <a:spLocks noGrp="1"/>
          </p:cNvSpPr>
          <p:nvPr>
            <p:ph type="dt" sz="half" idx="10"/>
          </p:nvPr>
        </p:nvSpPr>
        <p:spPr/>
        <p:txBody>
          <a:bodyPr/>
          <a:lstStyle/>
          <a:p>
            <a:fld id="{4D5AD624-4E23-400C-8336-CAD982D9A082}" type="datetimeFigureOut">
              <a:rPr lang="en-IN" smtClean="0"/>
              <a:t>30-09-2023</a:t>
            </a:fld>
            <a:endParaRPr lang="en-IN"/>
          </a:p>
        </p:txBody>
      </p:sp>
      <p:sp>
        <p:nvSpPr>
          <p:cNvPr id="6" name="Footer Placeholder 5">
            <a:extLst>
              <a:ext uri="{FF2B5EF4-FFF2-40B4-BE49-F238E27FC236}">
                <a16:creationId xmlns:a16="http://schemas.microsoft.com/office/drawing/2014/main" id="{9B1D4FF6-926F-4AB1-8E03-04136C718A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81676B-2EAD-4648-9BAB-5843D01AF6B7}"/>
              </a:ext>
            </a:extLst>
          </p:cNvPr>
          <p:cNvSpPr>
            <a:spLocks noGrp="1"/>
          </p:cNvSpPr>
          <p:nvPr>
            <p:ph type="sldNum" sz="quarter" idx="12"/>
          </p:nvPr>
        </p:nvSpPr>
        <p:spPr/>
        <p:txBody>
          <a:bodyPr/>
          <a:lstStyle/>
          <a:p>
            <a:fld id="{26BAF1B5-47AD-41DE-A7C3-83E5A7FF8568}" type="slidenum">
              <a:rPr lang="en-IN" smtClean="0"/>
              <a:t>‹#›</a:t>
            </a:fld>
            <a:endParaRPr lang="en-IN"/>
          </a:p>
        </p:txBody>
      </p:sp>
    </p:spTree>
    <p:extLst>
      <p:ext uri="{BB962C8B-B14F-4D97-AF65-F5344CB8AC3E}">
        <p14:creationId xmlns:p14="http://schemas.microsoft.com/office/powerpoint/2010/main" val="6949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1168B-FFA0-4510-81BB-962EBE92E2C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C2C992-533F-4A37-945C-9941D29F61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D04ABA-FDC3-4F6F-882C-4AF34BD69B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80A922E-52D3-476E-9560-15B953EE7D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8C1FD4-1A8C-420C-BF6B-A50265A3D4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400E186-B812-4566-BF56-915BADEEF066}"/>
              </a:ext>
            </a:extLst>
          </p:cNvPr>
          <p:cNvSpPr>
            <a:spLocks noGrp="1"/>
          </p:cNvSpPr>
          <p:nvPr>
            <p:ph type="dt" sz="half" idx="10"/>
          </p:nvPr>
        </p:nvSpPr>
        <p:spPr/>
        <p:txBody>
          <a:bodyPr/>
          <a:lstStyle/>
          <a:p>
            <a:fld id="{4D5AD624-4E23-400C-8336-CAD982D9A082}" type="datetimeFigureOut">
              <a:rPr lang="en-IN" smtClean="0"/>
              <a:t>30-09-2023</a:t>
            </a:fld>
            <a:endParaRPr lang="en-IN"/>
          </a:p>
        </p:txBody>
      </p:sp>
      <p:sp>
        <p:nvSpPr>
          <p:cNvPr id="8" name="Footer Placeholder 7">
            <a:extLst>
              <a:ext uri="{FF2B5EF4-FFF2-40B4-BE49-F238E27FC236}">
                <a16:creationId xmlns:a16="http://schemas.microsoft.com/office/drawing/2014/main" id="{8BEBB44E-B15B-41D7-B4CA-5D1926337DD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9CE3807-58E8-4D02-B808-ADEF543954FC}"/>
              </a:ext>
            </a:extLst>
          </p:cNvPr>
          <p:cNvSpPr>
            <a:spLocks noGrp="1"/>
          </p:cNvSpPr>
          <p:nvPr>
            <p:ph type="sldNum" sz="quarter" idx="12"/>
          </p:nvPr>
        </p:nvSpPr>
        <p:spPr/>
        <p:txBody>
          <a:bodyPr/>
          <a:lstStyle/>
          <a:p>
            <a:fld id="{26BAF1B5-47AD-41DE-A7C3-83E5A7FF8568}" type="slidenum">
              <a:rPr lang="en-IN" smtClean="0"/>
              <a:t>‹#›</a:t>
            </a:fld>
            <a:endParaRPr lang="en-IN"/>
          </a:p>
        </p:txBody>
      </p:sp>
    </p:spTree>
    <p:extLst>
      <p:ext uri="{BB962C8B-B14F-4D97-AF65-F5344CB8AC3E}">
        <p14:creationId xmlns:p14="http://schemas.microsoft.com/office/powerpoint/2010/main" val="594850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AF149-F130-4822-ACD2-DB3B379C46B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7441525-3337-4849-8CBB-C8B98EF6FDD8}"/>
              </a:ext>
            </a:extLst>
          </p:cNvPr>
          <p:cNvSpPr>
            <a:spLocks noGrp="1"/>
          </p:cNvSpPr>
          <p:nvPr>
            <p:ph type="dt" sz="half" idx="10"/>
          </p:nvPr>
        </p:nvSpPr>
        <p:spPr/>
        <p:txBody>
          <a:bodyPr/>
          <a:lstStyle/>
          <a:p>
            <a:fld id="{4D5AD624-4E23-400C-8336-CAD982D9A082}" type="datetimeFigureOut">
              <a:rPr lang="en-IN" smtClean="0"/>
              <a:t>30-09-2023</a:t>
            </a:fld>
            <a:endParaRPr lang="en-IN"/>
          </a:p>
        </p:txBody>
      </p:sp>
      <p:sp>
        <p:nvSpPr>
          <p:cNvPr id="4" name="Footer Placeholder 3">
            <a:extLst>
              <a:ext uri="{FF2B5EF4-FFF2-40B4-BE49-F238E27FC236}">
                <a16:creationId xmlns:a16="http://schemas.microsoft.com/office/drawing/2014/main" id="{7C31DCDC-E5B6-4D33-B3DD-594AB32B8FD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13EBE33-AAEA-4434-9291-EAB751C3E767}"/>
              </a:ext>
            </a:extLst>
          </p:cNvPr>
          <p:cNvSpPr>
            <a:spLocks noGrp="1"/>
          </p:cNvSpPr>
          <p:nvPr>
            <p:ph type="sldNum" sz="quarter" idx="12"/>
          </p:nvPr>
        </p:nvSpPr>
        <p:spPr/>
        <p:txBody>
          <a:bodyPr/>
          <a:lstStyle/>
          <a:p>
            <a:fld id="{26BAF1B5-47AD-41DE-A7C3-83E5A7FF8568}" type="slidenum">
              <a:rPr lang="en-IN" smtClean="0"/>
              <a:t>‹#›</a:t>
            </a:fld>
            <a:endParaRPr lang="en-IN"/>
          </a:p>
        </p:txBody>
      </p:sp>
    </p:spTree>
    <p:extLst>
      <p:ext uri="{BB962C8B-B14F-4D97-AF65-F5344CB8AC3E}">
        <p14:creationId xmlns:p14="http://schemas.microsoft.com/office/powerpoint/2010/main" val="3395347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13E47B-B871-4DA8-8E0F-44B2236213AB}"/>
              </a:ext>
            </a:extLst>
          </p:cNvPr>
          <p:cNvSpPr>
            <a:spLocks noGrp="1"/>
          </p:cNvSpPr>
          <p:nvPr>
            <p:ph type="dt" sz="half" idx="10"/>
          </p:nvPr>
        </p:nvSpPr>
        <p:spPr/>
        <p:txBody>
          <a:bodyPr/>
          <a:lstStyle/>
          <a:p>
            <a:fld id="{4D5AD624-4E23-400C-8336-CAD982D9A082}" type="datetimeFigureOut">
              <a:rPr lang="en-IN" smtClean="0"/>
              <a:t>30-09-2023</a:t>
            </a:fld>
            <a:endParaRPr lang="en-IN"/>
          </a:p>
        </p:txBody>
      </p:sp>
      <p:sp>
        <p:nvSpPr>
          <p:cNvPr id="3" name="Footer Placeholder 2">
            <a:extLst>
              <a:ext uri="{FF2B5EF4-FFF2-40B4-BE49-F238E27FC236}">
                <a16:creationId xmlns:a16="http://schemas.microsoft.com/office/drawing/2014/main" id="{D055F8B6-3F5D-4745-BFC2-1802A129673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C35F3A6-B4AA-466A-8218-6DEB2119CFD5}"/>
              </a:ext>
            </a:extLst>
          </p:cNvPr>
          <p:cNvSpPr>
            <a:spLocks noGrp="1"/>
          </p:cNvSpPr>
          <p:nvPr>
            <p:ph type="sldNum" sz="quarter" idx="12"/>
          </p:nvPr>
        </p:nvSpPr>
        <p:spPr/>
        <p:txBody>
          <a:bodyPr/>
          <a:lstStyle/>
          <a:p>
            <a:fld id="{26BAF1B5-47AD-41DE-A7C3-83E5A7FF8568}" type="slidenum">
              <a:rPr lang="en-IN" smtClean="0"/>
              <a:t>‹#›</a:t>
            </a:fld>
            <a:endParaRPr lang="en-IN"/>
          </a:p>
        </p:txBody>
      </p:sp>
    </p:spTree>
    <p:extLst>
      <p:ext uri="{BB962C8B-B14F-4D97-AF65-F5344CB8AC3E}">
        <p14:creationId xmlns:p14="http://schemas.microsoft.com/office/powerpoint/2010/main" val="2432058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481C7-60E0-4AF3-AD26-4747B4FE63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F7CD13B-8890-485C-B29D-0F89A34DF8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8B577DB-FF19-42F0-BA94-4DA4CBF95E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FECA1D-0794-4B44-976C-215BED7386E8}"/>
              </a:ext>
            </a:extLst>
          </p:cNvPr>
          <p:cNvSpPr>
            <a:spLocks noGrp="1"/>
          </p:cNvSpPr>
          <p:nvPr>
            <p:ph type="dt" sz="half" idx="10"/>
          </p:nvPr>
        </p:nvSpPr>
        <p:spPr/>
        <p:txBody>
          <a:bodyPr/>
          <a:lstStyle/>
          <a:p>
            <a:fld id="{4D5AD624-4E23-400C-8336-CAD982D9A082}" type="datetimeFigureOut">
              <a:rPr lang="en-IN" smtClean="0"/>
              <a:t>30-09-2023</a:t>
            </a:fld>
            <a:endParaRPr lang="en-IN"/>
          </a:p>
        </p:txBody>
      </p:sp>
      <p:sp>
        <p:nvSpPr>
          <p:cNvPr id="6" name="Footer Placeholder 5">
            <a:extLst>
              <a:ext uri="{FF2B5EF4-FFF2-40B4-BE49-F238E27FC236}">
                <a16:creationId xmlns:a16="http://schemas.microsoft.com/office/drawing/2014/main" id="{3792A8F0-E1A3-4D04-925F-853856EF43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3457C1-4F92-4D69-A096-219343D01C0A}"/>
              </a:ext>
            </a:extLst>
          </p:cNvPr>
          <p:cNvSpPr>
            <a:spLocks noGrp="1"/>
          </p:cNvSpPr>
          <p:nvPr>
            <p:ph type="sldNum" sz="quarter" idx="12"/>
          </p:nvPr>
        </p:nvSpPr>
        <p:spPr/>
        <p:txBody>
          <a:bodyPr/>
          <a:lstStyle/>
          <a:p>
            <a:fld id="{26BAF1B5-47AD-41DE-A7C3-83E5A7FF8568}" type="slidenum">
              <a:rPr lang="en-IN" smtClean="0"/>
              <a:t>‹#›</a:t>
            </a:fld>
            <a:endParaRPr lang="en-IN"/>
          </a:p>
        </p:txBody>
      </p:sp>
    </p:spTree>
    <p:extLst>
      <p:ext uri="{BB962C8B-B14F-4D97-AF65-F5344CB8AC3E}">
        <p14:creationId xmlns:p14="http://schemas.microsoft.com/office/powerpoint/2010/main" val="1618265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FB659-0484-4075-9E36-0775EEAF5B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5A86353-1F82-46C5-A2EF-F08E88C82B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FBC12F9-2D1E-48D6-8498-53290999EA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4F41EA-84B9-4F49-92D7-D7E6B96AD584}"/>
              </a:ext>
            </a:extLst>
          </p:cNvPr>
          <p:cNvSpPr>
            <a:spLocks noGrp="1"/>
          </p:cNvSpPr>
          <p:nvPr>
            <p:ph type="dt" sz="half" idx="10"/>
          </p:nvPr>
        </p:nvSpPr>
        <p:spPr/>
        <p:txBody>
          <a:bodyPr/>
          <a:lstStyle/>
          <a:p>
            <a:fld id="{4D5AD624-4E23-400C-8336-CAD982D9A082}" type="datetimeFigureOut">
              <a:rPr lang="en-IN" smtClean="0"/>
              <a:t>30-09-2023</a:t>
            </a:fld>
            <a:endParaRPr lang="en-IN"/>
          </a:p>
        </p:txBody>
      </p:sp>
      <p:sp>
        <p:nvSpPr>
          <p:cNvPr id="6" name="Footer Placeholder 5">
            <a:extLst>
              <a:ext uri="{FF2B5EF4-FFF2-40B4-BE49-F238E27FC236}">
                <a16:creationId xmlns:a16="http://schemas.microsoft.com/office/drawing/2014/main" id="{1B0A4E7D-BD9E-4558-B841-F12EBD5832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666167E-79E8-46D0-856D-A82620353079}"/>
              </a:ext>
            </a:extLst>
          </p:cNvPr>
          <p:cNvSpPr>
            <a:spLocks noGrp="1"/>
          </p:cNvSpPr>
          <p:nvPr>
            <p:ph type="sldNum" sz="quarter" idx="12"/>
          </p:nvPr>
        </p:nvSpPr>
        <p:spPr/>
        <p:txBody>
          <a:bodyPr/>
          <a:lstStyle/>
          <a:p>
            <a:fld id="{26BAF1B5-47AD-41DE-A7C3-83E5A7FF8568}" type="slidenum">
              <a:rPr lang="en-IN" smtClean="0"/>
              <a:t>‹#›</a:t>
            </a:fld>
            <a:endParaRPr lang="en-IN"/>
          </a:p>
        </p:txBody>
      </p:sp>
    </p:spTree>
    <p:extLst>
      <p:ext uri="{BB962C8B-B14F-4D97-AF65-F5344CB8AC3E}">
        <p14:creationId xmlns:p14="http://schemas.microsoft.com/office/powerpoint/2010/main" val="1479719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3D21B-1D42-4CE2-834B-6CB5F8E6869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1E25B8-5A3F-4701-B5B9-48C45F880D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C11CA7-6F6E-46FA-B459-8CD2B8958D83}"/>
              </a:ext>
            </a:extLst>
          </p:cNvPr>
          <p:cNvSpPr>
            <a:spLocks noGrp="1"/>
          </p:cNvSpPr>
          <p:nvPr>
            <p:ph type="dt" sz="half" idx="10"/>
          </p:nvPr>
        </p:nvSpPr>
        <p:spPr/>
        <p:txBody>
          <a:bodyPr/>
          <a:lstStyle/>
          <a:p>
            <a:fld id="{4D5AD624-4E23-400C-8336-CAD982D9A082}" type="datetimeFigureOut">
              <a:rPr lang="en-IN" smtClean="0"/>
              <a:t>30-09-2023</a:t>
            </a:fld>
            <a:endParaRPr lang="en-IN"/>
          </a:p>
        </p:txBody>
      </p:sp>
      <p:sp>
        <p:nvSpPr>
          <p:cNvPr id="5" name="Footer Placeholder 4">
            <a:extLst>
              <a:ext uri="{FF2B5EF4-FFF2-40B4-BE49-F238E27FC236}">
                <a16:creationId xmlns:a16="http://schemas.microsoft.com/office/drawing/2014/main" id="{BF108991-62BD-4960-9393-E9A24D3596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44C695-0EC0-4D58-9A43-2131498E9A5E}"/>
              </a:ext>
            </a:extLst>
          </p:cNvPr>
          <p:cNvSpPr>
            <a:spLocks noGrp="1"/>
          </p:cNvSpPr>
          <p:nvPr>
            <p:ph type="sldNum" sz="quarter" idx="12"/>
          </p:nvPr>
        </p:nvSpPr>
        <p:spPr/>
        <p:txBody>
          <a:bodyPr/>
          <a:lstStyle/>
          <a:p>
            <a:fld id="{26BAF1B5-47AD-41DE-A7C3-83E5A7FF8568}" type="slidenum">
              <a:rPr lang="en-IN" smtClean="0"/>
              <a:t>‹#›</a:t>
            </a:fld>
            <a:endParaRPr lang="en-IN"/>
          </a:p>
        </p:txBody>
      </p:sp>
    </p:spTree>
    <p:extLst>
      <p:ext uri="{BB962C8B-B14F-4D97-AF65-F5344CB8AC3E}">
        <p14:creationId xmlns:p14="http://schemas.microsoft.com/office/powerpoint/2010/main" val="2792457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898628-9289-4B97-8E3F-346D4FEC601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AC7508D-0DF7-4002-B1A2-F1DF36C345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C8A06B-96C9-4D2C-A33B-6B6A1E1C3065}"/>
              </a:ext>
            </a:extLst>
          </p:cNvPr>
          <p:cNvSpPr>
            <a:spLocks noGrp="1"/>
          </p:cNvSpPr>
          <p:nvPr>
            <p:ph type="dt" sz="half" idx="10"/>
          </p:nvPr>
        </p:nvSpPr>
        <p:spPr/>
        <p:txBody>
          <a:bodyPr/>
          <a:lstStyle/>
          <a:p>
            <a:fld id="{4D5AD624-4E23-400C-8336-CAD982D9A082}" type="datetimeFigureOut">
              <a:rPr lang="en-IN" smtClean="0"/>
              <a:t>30-09-2023</a:t>
            </a:fld>
            <a:endParaRPr lang="en-IN"/>
          </a:p>
        </p:txBody>
      </p:sp>
      <p:sp>
        <p:nvSpPr>
          <p:cNvPr id="5" name="Footer Placeholder 4">
            <a:extLst>
              <a:ext uri="{FF2B5EF4-FFF2-40B4-BE49-F238E27FC236}">
                <a16:creationId xmlns:a16="http://schemas.microsoft.com/office/drawing/2014/main" id="{2E5204F3-CAF8-4A7C-BC15-DDBB34ACDA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FF3AA3-71AB-4C32-803E-D70FFA86D620}"/>
              </a:ext>
            </a:extLst>
          </p:cNvPr>
          <p:cNvSpPr>
            <a:spLocks noGrp="1"/>
          </p:cNvSpPr>
          <p:nvPr>
            <p:ph type="sldNum" sz="quarter" idx="12"/>
          </p:nvPr>
        </p:nvSpPr>
        <p:spPr/>
        <p:txBody>
          <a:bodyPr/>
          <a:lstStyle/>
          <a:p>
            <a:fld id="{26BAF1B5-47AD-41DE-A7C3-83E5A7FF8568}" type="slidenum">
              <a:rPr lang="en-IN" smtClean="0"/>
              <a:t>‹#›</a:t>
            </a:fld>
            <a:endParaRPr lang="en-IN"/>
          </a:p>
        </p:txBody>
      </p:sp>
    </p:spTree>
    <p:extLst>
      <p:ext uri="{BB962C8B-B14F-4D97-AF65-F5344CB8AC3E}">
        <p14:creationId xmlns:p14="http://schemas.microsoft.com/office/powerpoint/2010/main" val="1929162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1F45B-38E5-4AC2-8335-DA71560B8F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D97B25-172D-48FD-AF65-FC29E82AC1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B8D8B3-7380-49CE-B7A7-F6FAF38CE7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5AD624-4E23-400C-8336-CAD982D9A082}" type="datetimeFigureOut">
              <a:rPr lang="en-IN" smtClean="0"/>
              <a:t>30-09-2023</a:t>
            </a:fld>
            <a:endParaRPr lang="en-IN"/>
          </a:p>
        </p:txBody>
      </p:sp>
      <p:sp>
        <p:nvSpPr>
          <p:cNvPr id="5" name="Footer Placeholder 4">
            <a:extLst>
              <a:ext uri="{FF2B5EF4-FFF2-40B4-BE49-F238E27FC236}">
                <a16:creationId xmlns:a16="http://schemas.microsoft.com/office/drawing/2014/main" id="{B173D6EF-53C3-4226-91B3-2F327BC909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E7255A0-B0D9-40BC-9F83-33FA68A7D6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BAF1B5-47AD-41DE-A7C3-83E5A7FF8568}" type="slidenum">
              <a:rPr lang="en-IN" smtClean="0"/>
              <a:t>‹#›</a:t>
            </a:fld>
            <a:endParaRPr lang="en-IN"/>
          </a:p>
        </p:txBody>
      </p:sp>
    </p:spTree>
    <p:extLst>
      <p:ext uri="{BB962C8B-B14F-4D97-AF65-F5344CB8AC3E}">
        <p14:creationId xmlns:p14="http://schemas.microsoft.com/office/powerpoint/2010/main" val="34163183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localhost:48118/home/details/2?name=Acharaya"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9C8C2-9A3A-47CD-9B4D-02B327EFC2F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6E9FB21-E9F8-4FC9-A1AC-76FBCE480371}"/>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193013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85DD8C-702A-47E6-9B3F-4D1108FBE9DE}"/>
              </a:ext>
            </a:extLst>
          </p:cNvPr>
          <p:cNvSpPr txBox="1"/>
          <p:nvPr/>
        </p:nvSpPr>
        <p:spPr>
          <a:xfrm>
            <a:off x="147484" y="0"/>
            <a:ext cx="11897032" cy="1754326"/>
          </a:xfrm>
          <a:prstGeom prst="rect">
            <a:avLst/>
          </a:prstGeom>
          <a:noFill/>
        </p:spPr>
        <p:txBody>
          <a:bodyPr wrap="square">
            <a:spAutoFit/>
          </a:bodyPr>
          <a:lstStyle/>
          <a:p>
            <a:pPr algn="ctr"/>
            <a:r>
              <a:rPr lang="en-US" b="1" i="0" dirty="0">
                <a:solidFill>
                  <a:srgbClr val="333333"/>
                </a:solidFill>
                <a:effectLst/>
                <a:latin typeface="arial" panose="020B0604020202020204" pitchFamily="34" charset="0"/>
              </a:rPr>
              <a:t>What is Model Binding</a:t>
            </a:r>
          </a:p>
          <a:p>
            <a:pPr marL="285750" indent="-285750">
              <a:buFont typeface="Arial" panose="020B0604020202020204" pitchFamily="34" charset="0"/>
              <a:buChar char="•"/>
            </a:pPr>
            <a:r>
              <a:rPr lang="en-US" b="0" i="0" dirty="0">
                <a:solidFill>
                  <a:srgbClr val="333333"/>
                </a:solidFill>
                <a:effectLst/>
                <a:latin typeface="arial" panose="020B0604020202020204" pitchFamily="34" charset="0"/>
              </a:rPr>
              <a:t>Model binding maps data in an HTTP request to controller action method parameters</a:t>
            </a:r>
            <a:endParaRPr lang="en-US" b="0" i="0" dirty="0">
              <a:solidFill>
                <a:srgbClr val="333333"/>
              </a:solidFill>
              <a:effectLst/>
              <a:latin typeface="Arial" panose="020B0604020202020204" pitchFamily="34" charset="0"/>
            </a:endParaRPr>
          </a:p>
          <a:p>
            <a:pPr marL="285750" indent="-285750" algn="l">
              <a:buFont typeface="Arial" panose="020B0604020202020204" pitchFamily="34" charset="0"/>
              <a:buChar char="•"/>
            </a:pPr>
            <a:r>
              <a:rPr lang="en-US" b="0" i="0" dirty="0">
                <a:solidFill>
                  <a:srgbClr val="333333"/>
                </a:solidFill>
                <a:effectLst/>
                <a:latin typeface="arial" panose="020B0604020202020204" pitchFamily="34" charset="0"/>
              </a:rPr>
              <a:t>The action parameters may be simple types such as integers, strings, </a:t>
            </a:r>
            <a:r>
              <a:rPr lang="en-US" b="0" i="0" dirty="0" err="1">
                <a:solidFill>
                  <a:srgbClr val="333333"/>
                </a:solidFill>
                <a:effectLst/>
                <a:latin typeface="arial" panose="020B0604020202020204" pitchFamily="34" charset="0"/>
              </a:rPr>
              <a:t>etc</a:t>
            </a:r>
            <a:r>
              <a:rPr lang="en-US" b="0" i="0" dirty="0">
                <a:solidFill>
                  <a:srgbClr val="333333"/>
                </a:solidFill>
                <a:effectLst/>
                <a:latin typeface="arial" panose="020B0604020202020204" pitchFamily="34" charset="0"/>
              </a:rPr>
              <a:t> or complex types like Customer, Employee, Order etc.</a:t>
            </a:r>
            <a:endParaRPr lang="en-US" b="0" i="0" dirty="0">
              <a:solidFill>
                <a:srgbClr val="333333"/>
              </a:solidFill>
              <a:effectLst/>
              <a:latin typeface="Arial" panose="020B0604020202020204" pitchFamily="34" charset="0"/>
            </a:endParaRPr>
          </a:p>
          <a:p>
            <a:pPr marL="285750" indent="-285750" algn="l">
              <a:buFont typeface="Arial" panose="020B0604020202020204" pitchFamily="34" charset="0"/>
              <a:buChar char="•"/>
            </a:pPr>
            <a:r>
              <a:rPr lang="en-US" b="0" i="0" dirty="0">
                <a:solidFill>
                  <a:srgbClr val="333333"/>
                </a:solidFill>
                <a:effectLst/>
                <a:latin typeface="arial" panose="020B0604020202020204" pitchFamily="34" charset="0"/>
              </a:rPr>
              <a:t>Model binding is great, because without it we have to write lot of custom code to map request data to action method parameters which is not only tedious but also error prone.</a:t>
            </a:r>
            <a:endParaRPr lang="en-US" b="0" i="0" dirty="0">
              <a:solidFill>
                <a:srgbClr val="333333"/>
              </a:solidFill>
              <a:effectLst/>
              <a:latin typeface="Arial" panose="020B0604020202020204" pitchFamily="34" charset="0"/>
            </a:endParaRPr>
          </a:p>
        </p:txBody>
      </p:sp>
      <p:sp>
        <p:nvSpPr>
          <p:cNvPr id="7" name="TextBox 6">
            <a:extLst>
              <a:ext uri="{FF2B5EF4-FFF2-40B4-BE49-F238E27FC236}">
                <a16:creationId xmlns:a16="http://schemas.microsoft.com/office/drawing/2014/main" id="{EEAE6D01-B8F7-4FBD-B324-FCEE08D9582C}"/>
              </a:ext>
            </a:extLst>
          </p:cNvPr>
          <p:cNvSpPr txBox="1"/>
          <p:nvPr/>
        </p:nvSpPr>
        <p:spPr>
          <a:xfrm>
            <a:off x="3175820" y="1904688"/>
            <a:ext cx="6096000" cy="369332"/>
          </a:xfrm>
          <a:prstGeom prst="rect">
            <a:avLst/>
          </a:prstGeom>
          <a:noFill/>
        </p:spPr>
        <p:txBody>
          <a:bodyPr wrap="square">
            <a:spAutoFit/>
          </a:bodyPr>
          <a:lstStyle/>
          <a:p>
            <a:r>
              <a:rPr lang="en-US" b="1" i="0" dirty="0">
                <a:solidFill>
                  <a:srgbClr val="333333"/>
                </a:solidFill>
                <a:effectLst/>
                <a:latin typeface="arial" panose="020B0604020202020204" pitchFamily="34" charset="0"/>
              </a:rPr>
              <a:t>ASP.NET Core Model Binding Example</a:t>
            </a:r>
            <a:endParaRPr lang="en-IN" dirty="0"/>
          </a:p>
        </p:txBody>
      </p:sp>
      <p:sp>
        <p:nvSpPr>
          <p:cNvPr id="9" name="TextBox 8">
            <a:extLst>
              <a:ext uri="{FF2B5EF4-FFF2-40B4-BE49-F238E27FC236}">
                <a16:creationId xmlns:a16="http://schemas.microsoft.com/office/drawing/2014/main" id="{93B4B97A-6719-48C4-82A7-6FF944036CD3}"/>
              </a:ext>
            </a:extLst>
          </p:cNvPr>
          <p:cNvSpPr txBox="1"/>
          <p:nvPr/>
        </p:nvSpPr>
        <p:spPr>
          <a:xfrm>
            <a:off x="0" y="2275657"/>
            <a:ext cx="11897032" cy="2031325"/>
          </a:xfrm>
          <a:prstGeom prst="rect">
            <a:avLst/>
          </a:prstGeom>
          <a:noFill/>
        </p:spPr>
        <p:txBody>
          <a:bodyPr wrap="square">
            <a:spAutoFit/>
          </a:bodyPr>
          <a:lstStyle/>
          <a:p>
            <a:r>
              <a:rPr lang="en-US" b="0" i="0" dirty="0">
                <a:solidFill>
                  <a:srgbClr val="333333"/>
                </a:solidFill>
                <a:effectLst/>
                <a:latin typeface="arial" panose="020B0604020202020204" pitchFamily="34" charset="0"/>
              </a:rPr>
              <a:t>When an HTTP request arrives at our MVC application it is the Controller action method that handles the incoming request. Let's say we want to view </a:t>
            </a:r>
            <a:r>
              <a:rPr lang="en-US" b="0" i="0" dirty="0">
                <a:solidFill>
                  <a:srgbClr val="FF0000"/>
                </a:solidFill>
                <a:effectLst/>
                <a:latin typeface="arial" panose="020B0604020202020204" pitchFamily="34" charset="0"/>
              </a:rPr>
              <a:t>employee details whose ID is 2</a:t>
            </a:r>
            <a:r>
              <a:rPr lang="en-US" b="0" i="0" dirty="0">
                <a:solidFill>
                  <a:srgbClr val="333333"/>
                </a:solidFill>
                <a:effectLst/>
                <a:latin typeface="arial" panose="020B0604020202020204" pitchFamily="34" charset="0"/>
              </a:rPr>
              <a:t>. For this we issue a GET request to the following URL</a:t>
            </a:r>
            <a:br>
              <a:rPr lang="en-US" dirty="0"/>
            </a:br>
            <a:r>
              <a:rPr lang="en-US" b="0" i="0" dirty="0">
                <a:solidFill>
                  <a:srgbClr val="0000FF"/>
                </a:solidFill>
                <a:effectLst/>
                <a:latin typeface="arial" panose="020B0604020202020204" pitchFamily="34" charset="0"/>
              </a:rPr>
              <a:t>http://localhost:48118/home/details/2</a:t>
            </a:r>
            <a:br>
              <a:rPr lang="en-US" dirty="0"/>
            </a:br>
            <a:br>
              <a:rPr lang="en-US" dirty="0"/>
            </a:br>
            <a:r>
              <a:rPr lang="en-US" b="0" i="0" dirty="0">
                <a:solidFill>
                  <a:srgbClr val="333333"/>
                </a:solidFill>
                <a:effectLst/>
                <a:latin typeface="arial" panose="020B0604020202020204" pitchFamily="34" charset="0"/>
              </a:rPr>
              <a:t>Our application default route template </a:t>
            </a:r>
            <a:r>
              <a:rPr lang="en-US" b="0" i="0" dirty="0">
                <a:solidFill>
                  <a:srgbClr val="0000FF"/>
                </a:solidFill>
                <a:effectLst/>
                <a:latin typeface="arial" panose="020B0604020202020204" pitchFamily="34" charset="0"/>
              </a:rPr>
              <a:t>({controller=Home}/{action=Index}/{id?}) </a:t>
            </a:r>
            <a:r>
              <a:rPr lang="en-US" b="0" i="0" dirty="0">
                <a:solidFill>
                  <a:srgbClr val="333333"/>
                </a:solidFill>
                <a:effectLst/>
                <a:latin typeface="arial" panose="020B0604020202020204" pitchFamily="34" charset="0"/>
              </a:rPr>
              <a:t>routes this request to </a:t>
            </a:r>
            <a:r>
              <a:rPr lang="en-US" b="0" i="1" dirty="0">
                <a:solidFill>
                  <a:srgbClr val="0000FF"/>
                </a:solidFill>
                <a:effectLst/>
                <a:latin typeface="arial" panose="020B0604020202020204" pitchFamily="34" charset="0"/>
              </a:rPr>
              <a:t>Details(int? id)</a:t>
            </a:r>
            <a:r>
              <a:rPr lang="en-US" b="0" i="0" dirty="0">
                <a:solidFill>
                  <a:srgbClr val="333333"/>
                </a:solidFill>
                <a:effectLst/>
                <a:latin typeface="arial" panose="020B0604020202020204" pitchFamily="34" charset="0"/>
              </a:rPr>
              <a:t> action method of the </a:t>
            </a:r>
            <a:r>
              <a:rPr lang="en-US" b="0" i="1" dirty="0" err="1">
                <a:solidFill>
                  <a:srgbClr val="0000FF"/>
                </a:solidFill>
                <a:effectLst/>
                <a:latin typeface="arial" panose="020B0604020202020204" pitchFamily="34" charset="0"/>
              </a:rPr>
              <a:t>HomeController</a:t>
            </a:r>
            <a:r>
              <a:rPr lang="en-US" b="0" i="0" dirty="0">
                <a:solidFill>
                  <a:srgbClr val="333333"/>
                </a:solidFill>
                <a:effectLst/>
                <a:latin typeface="arial" panose="020B0604020202020204" pitchFamily="34" charset="0"/>
              </a:rPr>
              <a:t>.</a:t>
            </a:r>
            <a:endParaRPr lang="en-IN" dirty="0"/>
          </a:p>
        </p:txBody>
      </p:sp>
      <p:sp>
        <p:nvSpPr>
          <p:cNvPr id="10" name="Rectangle 1">
            <a:extLst>
              <a:ext uri="{FF2B5EF4-FFF2-40B4-BE49-F238E27FC236}">
                <a16:creationId xmlns:a16="http://schemas.microsoft.com/office/drawing/2014/main" id="{F9A31332-089C-4C64-A39A-DAEB8B30678E}"/>
              </a:ext>
            </a:extLst>
          </p:cNvPr>
          <p:cNvSpPr>
            <a:spLocks noChangeArrowheads="1"/>
          </p:cNvSpPr>
          <p:nvPr/>
        </p:nvSpPr>
        <p:spPr bwMode="auto">
          <a:xfrm rot="10800000" flipV="1">
            <a:off x="147484" y="4457082"/>
            <a:ext cx="5506064" cy="2308324"/>
          </a:xfrm>
          <a:prstGeom prst="rect">
            <a:avLst/>
          </a:prstGeom>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ViewResult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Details(</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int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id)</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HomeDetailsViewModel</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homeDetailsViewModel</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new</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HomeDetailsViewModel</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Employee = _</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employeeRepository.GetEmployee</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(id ?? 1),</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PageTitle</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a:t>
            </a:r>
            <a:r>
              <a:rPr kumimoji="0" lang="en-US" altLang="en-US" sz="12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"Employee Details"</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b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return</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View(</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homeDetailsViewModel</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050" b="0" i="0" u="none" strike="noStrike" cap="none" normalizeH="0" baseline="0" dirty="0">
              <a:ln>
                <a:noFill/>
              </a:ln>
              <a:solidFill>
                <a:schemeClr val="tx1"/>
              </a:solidFill>
              <a:effectLst/>
            </a:endParaRPr>
          </a:p>
        </p:txBody>
      </p:sp>
      <p:sp>
        <p:nvSpPr>
          <p:cNvPr id="12" name="TextBox 11">
            <a:extLst>
              <a:ext uri="{FF2B5EF4-FFF2-40B4-BE49-F238E27FC236}">
                <a16:creationId xmlns:a16="http://schemas.microsoft.com/office/drawing/2014/main" id="{34F61AE8-9D46-408D-971C-A056CD38781A}"/>
              </a:ext>
            </a:extLst>
          </p:cNvPr>
          <p:cNvSpPr txBox="1"/>
          <p:nvPr/>
        </p:nvSpPr>
        <p:spPr>
          <a:xfrm>
            <a:off x="5776452" y="4333971"/>
            <a:ext cx="6120580" cy="2554545"/>
          </a:xfrm>
          <a:prstGeom prst="rect">
            <a:avLst/>
          </a:prstGeom>
          <a:noFill/>
        </p:spPr>
        <p:txBody>
          <a:bodyPr wrap="square">
            <a:spAutoFit/>
          </a:bodyPr>
          <a:lstStyle/>
          <a:p>
            <a:r>
              <a:rPr lang="en-US" sz="1600" b="0" i="0" dirty="0">
                <a:solidFill>
                  <a:srgbClr val="333333"/>
                </a:solidFill>
                <a:effectLst/>
                <a:latin typeface="arial" panose="020B0604020202020204" pitchFamily="34" charset="0"/>
              </a:rPr>
              <a:t>The</a:t>
            </a:r>
            <a:r>
              <a:rPr lang="en-US" sz="1600" b="0" i="1" dirty="0">
                <a:solidFill>
                  <a:srgbClr val="0000FF"/>
                </a:solidFill>
                <a:effectLst/>
                <a:latin typeface="arial" panose="020B0604020202020204" pitchFamily="34" charset="0"/>
              </a:rPr>
              <a:t> id value 2</a:t>
            </a:r>
            <a:r>
              <a:rPr lang="en-US" sz="1600" b="0" i="0" dirty="0">
                <a:solidFill>
                  <a:srgbClr val="333333"/>
                </a:solidFill>
                <a:effectLst/>
                <a:latin typeface="arial" panose="020B0604020202020204" pitchFamily="34" charset="0"/>
              </a:rPr>
              <a:t> in the request URL is mapped to the </a:t>
            </a:r>
            <a:r>
              <a:rPr lang="en-US" sz="1600" b="0" i="1" dirty="0">
                <a:solidFill>
                  <a:srgbClr val="0000FF"/>
                </a:solidFill>
                <a:effectLst/>
                <a:latin typeface="arial" panose="020B0604020202020204" pitchFamily="34" charset="0"/>
              </a:rPr>
              <a:t>id </a:t>
            </a:r>
            <a:r>
              <a:rPr lang="en-US" sz="1600" b="0" i="0" dirty="0">
                <a:solidFill>
                  <a:srgbClr val="333333"/>
                </a:solidFill>
                <a:effectLst/>
                <a:latin typeface="arial" panose="020B0604020202020204" pitchFamily="34" charset="0"/>
              </a:rPr>
              <a:t>parameter of the </a:t>
            </a:r>
            <a:r>
              <a:rPr lang="en-US" sz="1600" b="0" i="1" dirty="0">
                <a:solidFill>
                  <a:srgbClr val="0000FF"/>
                </a:solidFill>
                <a:effectLst/>
                <a:latin typeface="arial" panose="020B0604020202020204" pitchFamily="34" charset="0"/>
              </a:rPr>
              <a:t>details(int? id) </a:t>
            </a:r>
            <a:r>
              <a:rPr lang="en-US" sz="1600" b="0" i="0" dirty="0">
                <a:solidFill>
                  <a:srgbClr val="333333"/>
                </a:solidFill>
                <a:effectLst/>
                <a:latin typeface="arial" panose="020B0604020202020204" pitchFamily="34" charset="0"/>
              </a:rPr>
              <a:t>action method.</a:t>
            </a:r>
          </a:p>
          <a:p>
            <a:r>
              <a:rPr lang="en-US" sz="1600" b="0" i="0" dirty="0">
                <a:solidFill>
                  <a:srgbClr val="333333"/>
                </a:solidFill>
                <a:effectLst/>
                <a:latin typeface="arial" panose="020B0604020202020204" pitchFamily="34" charset="0"/>
              </a:rPr>
              <a:t> MVC will bind the data in the request to the action parameters by </a:t>
            </a:r>
            <a:r>
              <a:rPr lang="en-US" sz="1600" b="1" i="0" dirty="0">
                <a:solidFill>
                  <a:srgbClr val="333333"/>
                </a:solidFill>
                <a:effectLst/>
                <a:latin typeface="arial" panose="020B0604020202020204" pitchFamily="34" charset="0"/>
              </a:rPr>
              <a:t>name. </a:t>
            </a:r>
          </a:p>
          <a:p>
            <a:r>
              <a:rPr lang="en-US" sz="1600" b="0" i="0" dirty="0">
                <a:solidFill>
                  <a:srgbClr val="333333"/>
                </a:solidFill>
                <a:effectLst/>
                <a:latin typeface="arial" panose="020B0604020202020204" pitchFamily="34" charset="0"/>
              </a:rPr>
              <a:t>Notice, in the above example, the parameter name in the default route template is</a:t>
            </a:r>
            <a:r>
              <a:rPr lang="en-US" sz="1600" b="0" i="1" dirty="0">
                <a:solidFill>
                  <a:srgbClr val="0000FF"/>
                </a:solidFill>
                <a:effectLst/>
                <a:latin typeface="arial" panose="020B0604020202020204" pitchFamily="34" charset="0"/>
              </a:rPr>
              <a:t> "id" </a:t>
            </a:r>
            <a:r>
              <a:rPr lang="en-US" sz="1600" b="0" i="0" dirty="0">
                <a:solidFill>
                  <a:srgbClr val="333333"/>
                </a:solidFill>
                <a:effectLst/>
                <a:latin typeface="arial" panose="020B0604020202020204" pitchFamily="34" charset="0"/>
              </a:rPr>
              <a:t>and the parameter name on the </a:t>
            </a:r>
            <a:r>
              <a:rPr lang="en-US" sz="1600" b="0" i="1" dirty="0">
                <a:solidFill>
                  <a:srgbClr val="0000FF"/>
                </a:solidFill>
                <a:effectLst/>
                <a:latin typeface="arial" panose="020B0604020202020204" pitchFamily="34" charset="0"/>
              </a:rPr>
              <a:t>Details(int? id)</a:t>
            </a:r>
            <a:r>
              <a:rPr lang="en-US" sz="1600" b="0" i="0" dirty="0">
                <a:solidFill>
                  <a:srgbClr val="333333"/>
                </a:solidFill>
                <a:effectLst/>
                <a:latin typeface="arial" panose="020B0604020202020204" pitchFamily="34" charset="0"/>
              </a:rPr>
              <a:t> action method is also </a:t>
            </a:r>
            <a:r>
              <a:rPr lang="en-US" sz="1600" b="0" i="1" dirty="0">
                <a:solidFill>
                  <a:srgbClr val="0000FF"/>
                </a:solidFill>
                <a:effectLst/>
                <a:latin typeface="arial" panose="020B0604020202020204" pitchFamily="34" charset="0"/>
              </a:rPr>
              <a:t>id</a:t>
            </a:r>
            <a:r>
              <a:rPr lang="en-US" sz="1600" b="0" i="0" dirty="0">
                <a:solidFill>
                  <a:srgbClr val="333333"/>
                </a:solidFill>
                <a:effectLst/>
                <a:latin typeface="arial" panose="020B0604020202020204" pitchFamily="34" charset="0"/>
              </a:rPr>
              <a:t>. </a:t>
            </a:r>
          </a:p>
          <a:p>
            <a:r>
              <a:rPr lang="en-US" sz="1600" b="0" i="0" dirty="0">
                <a:solidFill>
                  <a:srgbClr val="333333"/>
                </a:solidFill>
                <a:effectLst/>
                <a:latin typeface="arial" panose="020B0604020202020204" pitchFamily="34" charset="0"/>
              </a:rPr>
              <a:t>So the value </a:t>
            </a:r>
            <a:r>
              <a:rPr lang="en-US" sz="1600" b="0" i="1" dirty="0">
                <a:solidFill>
                  <a:srgbClr val="0000FF"/>
                </a:solidFill>
                <a:effectLst/>
                <a:latin typeface="arial" panose="020B0604020202020204" pitchFamily="34" charset="0"/>
              </a:rPr>
              <a:t>2</a:t>
            </a:r>
            <a:r>
              <a:rPr lang="en-US" sz="1600" b="0" i="0" dirty="0">
                <a:solidFill>
                  <a:srgbClr val="333333"/>
                </a:solidFill>
                <a:effectLst/>
                <a:latin typeface="arial" panose="020B0604020202020204" pitchFamily="34" charset="0"/>
              </a:rPr>
              <a:t> in the URL </a:t>
            </a:r>
            <a:r>
              <a:rPr lang="en-US" sz="1600" b="0" i="0" dirty="0">
                <a:solidFill>
                  <a:srgbClr val="0000FF"/>
                </a:solidFill>
                <a:effectLst/>
                <a:latin typeface="arial" panose="020B0604020202020204" pitchFamily="34" charset="0"/>
              </a:rPr>
              <a:t>(http://localhost:48118/home/details/2)</a:t>
            </a:r>
            <a:r>
              <a:rPr lang="en-US" sz="1600" b="0" i="0" dirty="0">
                <a:solidFill>
                  <a:srgbClr val="333333"/>
                </a:solidFill>
                <a:effectLst/>
                <a:latin typeface="arial" panose="020B0604020202020204" pitchFamily="34" charset="0"/>
              </a:rPr>
              <a:t> is mapped to the </a:t>
            </a:r>
            <a:r>
              <a:rPr lang="en-US" sz="1600" b="0" i="1" dirty="0">
                <a:solidFill>
                  <a:srgbClr val="0000FF"/>
                </a:solidFill>
                <a:effectLst/>
                <a:latin typeface="arial" panose="020B0604020202020204" pitchFamily="34" charset="0"/>
              </a:rPr>
              <a:t>id </a:t>
            </a:r>
            <a:r>
              <a:rPr lang="en-US" sz="1600" b="0" i="0" dirty="0">
                <a:solidFill>
                  <a:srgbClr val="333333"/>
                </a:solidFill>
                <a:effectLst/>
                <a:latin typeface="arial" panose="020B0604020202020204" pitchFamily="34" charset="0"/>
              </a:rPr>
              <a:t>parameter on the </a:t>
            </a:r>
            <a:r>
              <a:rPr lang="en-US" sz="1600" b="0" i="1" dirty="0">
                <a:solidFill>
                  <a:srgbClr val="0000FF"/>
                </a:solidFill>
                <a:effectLst/>
                <a:latin typeface="arial" panose="020B0604020202020204" pitchFamily="34" charset="0"/>
              </a:rPr>
              <a:t>Details(int? id)</a:t>
            </a:r>
            <a:r>
              <a:rPr lang="en-US" sz="1600" b="0" i="0" dirty="0">
                <a:solidFill>
                  <a:srgbClr val="333333"/>
                </a:solidFill>
                <a:effectLst/>
                <a:latin typeface="arial" panose="020B0604020202020204" pitchFamily="34" charset="0"/>
              </a:rPr>
              <a:t> action method.</a:t>
            </a:r>
            <a:endParaRPr lang="en-IN" sz="1600" dirty="0"/>
          </a:p>
        </p:txBody>
      </p:sp>
    </p:spTree>
    <p:extLst>
      <p:ext uri="{BB962C8B-B14F-4D97-AF65-F5344CB8AC3E}">
        <p14:creationId xmlns:p14="http://schemas.microsoft.com/office/powerpoint/2010/main" val="118616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BB4EE31-F892-4CF5-99EA-C223F2ECD0FC}"/>
              </a:ext>
            </a:extLst>
          </p:cNvPr>
          <p:cNvSpPr>
            <a:spLocks noChangeArrowheads="1"/>
          </p:cNvSpPr>
          <p:nvPr/>
        </p:nvSpPr>
        <p:spPr bwMode="auto">
          <a:xfrm>
            <a:off x="98321" y="177815"/>
            <a:ext cx="5781369" cy="2054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Request URL</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50" b="0" i="0" u="none" strike="noStrike" cap="none" normalizeH="0" baseline="0" dirty="0">
                <a:ln>
                  <a:noFill/>
                </a:ln>
                <a:solidFill>
                  <a:schemeClr val="tx1"/>
                </a:solidFill>
                <a:effectLst/>
              </a:rPr>
            </a:b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http://localhost:48118/home/details/2?</a:t>
            </a:r>
            <a:r>
              <a:rPr kumimoji="0" lang="en-US" altLang="en-US" sz="1200" b="0" i="0" u="none" strike="noStrike" cap="none" normalizeH="0" baseline="0" dirty="0">
                <a:ln>
                  <a:noFill/>
                </a:ln>
                <a:solidFill>
                  <a:srgbClr val="0000FF"/>
                </a:solidFill>
                <a:effectLst/>
                <a:highlight>
                  <a:srgbClr val="FFFF00"/>
                </a:highlight>
                <a:latin typeface="Arial" panose="020B0604020202020204" pitchFamily="34" charset="0"/>
                <a:cs typeface="Arial" panose="020B0604020202020204" pitchFamily="34" charset="0"/>
              </a:rPr>
              <a:t>name</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=Vita</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50" b="0" i="0" u="none" strike="noStrike" cap="none" normalizeH="0" baseline="0" dirty="0">
                <a:ln>
                  <a:noFill/>
                </a:ln>
                <a:solidFill>
                  <a:schemeClr val="tx1"/>
                </a:solidFill>
                <a:effectLst/>
              </a:rPr>
            </a:b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The following </a:t>
            </a:r>
            <a:r>
              <a:rPr kumimoji="0" lang="en-US" altLang="en-US" sz="1200" b="0" i="1" u="none" strike="noStrike" cap="none" normalizeH="0" baseline="0" dirty="0">
                <a:ln>
                  <a:noFill/>
                </a:ln>
                <a:solidFill>
                  <a:srgbClr val="0000FF"/>
                </a:solidFill>
                <a:effectLst/>
                <a:latin typeface="Arial" panose="020B0604020202020204" pitchFamily="34" charset="0"/>
                <a:cs typeface="Arial" panose="020B0604020202020204" pitchFamily="34" charset="0"/>
              </a:rPr>
              <a:t>Details() </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action method handles the above request URL and maps the value </a:t>
            </a:r>
            <a:r>
              <a:rPr kumimoji="0" lang="en-US" altLang="en-US" sz="1200" b="0" i="1" u="none" strike="noStrike" cap="none" normalizeH="0" baseline="0" dirty="0">
                <a:ln>
                  <a:noFill/>
                </a:ln>
                <a:solidFill>
                  <a:srgbClr val="0000FF"/>
                </a:solidFill>
                <a:effectLst/>
                <a:latin typeface="Arial" panose="020B0604020202020204" pitchFamily="34" charset="0"/>
                <a:cs typeface="Arial" panose="020B0604020202020204" pitchFamily="34" charset="0"/>
              </a:rPr>
              <a:t>2</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to the </a:t>
            </a:r>
            <a:r>
              <a:rPr kumimoji="0" lang="en-US" altLang="en-US" sz="1200" b="0" i="1" u="none" strike="noStrike" cap="none" normalizeH="0" baseline="0" dirty="0">
                <a:ln>
                  <a:noFill/>
                </a:ln>
                <a:solidFill>
                  <a:srgbClr val="0000FF"/>
                </a:solidFill>
                <a:effectLst/>
                <a:latin typeface="Arial" panose="020B0604020202020204" pitchFamily="34" charset="0"/>
                <a:cs typeface="Arial" panose="020B0604020202020204" pitchFamily="34" charset="0"/>
              </a:rPr>
              <a:t>id</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parameter and the value</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hlinkClick r:id="rId2"/>
              </a:rPr>
              <a:t> Vita </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to the </a:t>
            </a:r>
            <a:r>
              <a:rPr kumimoji="0" lang="en-US" altLang="en-US" sz="1200" b="0" i="1" u="none" strike="noStrike" cap="none" normalizeH="0" baseline="0" dirty="0">
                <a:ln>
                  <a:noFill/>
                </a:ln>
                <a:solidFill>
                  <a:srgbClr val="0000FF"/>
                </a:solidFill>
                <a:effectLst/>
                <a:latin typeface="Arial" panose="020B0604020202020204" pitchFamily="34" charset="0"/>
                <a:cs typeface="Arial" panose="020B0604020202020204" pitchFamily="34" charset="0"/>
              </a:rPr>
              <a:t>name </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parameter</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50" b="0" i="0" u="none" strike="noStrike" cap="none" normalizeH="0" baseline="0" dirty="0">
                <a:ln>
                  <a:noFill/>
                </a:ln>
                <a:solidFill>
                  <a:schemeClr val="tx1"/>
                </a:solidFill>
                <a:effectLst/>
              </a:rPr>
            </a:b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string</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Details(</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int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id,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string</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00"/>
                </a:solidFill>
                <a:effectLst/>
                <a:highlight>
                  <a:srgbClr val="FFFF00"/>
                </a:highlight>
                <a:latin typeface="Arial" panose="020B0604020202020204" pitchFamily="34" charset="0"/>
                <a:cs typeface="Arial" panose="020B0604020202020204" pitchFamily="34" charset="0"/>
              </a:rPr>
              <a:t>name</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return</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"id = "</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id.Value.ToString</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a:t>
            </a:r>
            <a:r>
              <a:rPr kumimoji="0" lang="en-US" altLang="en-US" sz="12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 and name = "</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name;</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77DE0ACE-0969-45D7-8A5B-3AF323759A2C}"/>
              </a:ext>
            </a:extLst>
          </p:cNvPr>
          <p:cNvSpPr txBox="1"/>
          <p:nvPr/>
        </p:nvSpPr>
        <p:spPr>
          <a:xfrm>
            <a:off x="245806" y="2600913"/>
            <a:ext cx="11582399" cy="2308324"/>
          </a:xfrm>
          <a:prstGeom prst="rect">
            <a:avLst/>
          </a:prstGeom>
          <a:noFill/>
        </p:spPr>
        <p:txBody>
          <a:bodyPr wrap="square">
            <a:spAutoFit/>
          </a:bodyPr>
          <a:lstStyle/>
          <a:p>
            <a:r>
              <a:rPr lang="en-US" b="1" i="0" dirty="0">
                <a:solidFill>
                  <a:srgbClr val="333333"/>
                </a:solidFill>
                <a:effectLst/>
                <a:latin typeface="arial" panose="020B0604020202020204" pitchFamily="34" charset="0"/>
              </a:rPr>
              <a:t>HTTP Request Data</a:t>
            </a:r>
            <a:br>
              <a:rPr lang="en-US" dirty="0"/>
            </a:br>
            <a:br>
              <a:rPr lang="en-US" dirty="0"/>
            </a:br>
            <a:r>
              <a:rPr lang="en-US" b="0" i="0" dirty="0">
                <a:solidFill>
                  <a:srgbClr val="333333"/>
                </a:solidFill>
                <a:effectLst/>
                <a:latin typeface="arial" panose="020B0604020202020204" pitchFamily="34" charset="0"/>
              </a:rPr>
              <a:t>To bind the request data to the controller action method parameters, model binding looks for data in the HTTP request in the following places in the order specified below.</a:t>
            </a:r>
          </a:p>
          <a:p>
            <a:pPr marL="285750" indent="-285750">
              <a:buFont typeface="Arial" panose="020B0604020202020204" pitchFamily="34" charset="0"/>
              <a:buChar char="•"/>
            </a:pPr>
            <a:endParaRPr lang="en-US" b="0" i="0" dirty="0">
              <a:solidFill>
                <a:srgbClr val="333333"/>
              </a:solidFill>
              <a:effectLst/>
              <a:latin typeface="arial" panose="020B0604020202020204" pitchFamily="34" charset="0"/>
            </a:endParaRPr>
          </a:p>
          <a:p>
            <a:pPr marL="285750" indent="-285750">
              <a:buFont typeface="Arial" panose="020B0604020202020204" pitchFamily="34" charset="0"/>
              <a:buChar char="•"/>
            </a:pPr>
            <a:r>
              <a:rPr lang="en-US" b="0" i="0" dirty="0">
                <a:solidFill>
                  <a:srgbClr val="333333"/>
                </a:solidFill>
                <a:effectLst/>
                <a:latin typeface="arial" panose="020B0604020202020204" pitchFamily="34" charset="0"/>
              </a:rPr>
              <a:t>Form values</a:t>
            </a:r>
            <a:endParaRPr lang="en-US" b="0" i="0" dirty="0">
              <a:solidFill>
                <a:srgbClr val="333333"/>
              </a:solidFill>
              <a:effectLst/>
              <a:latin typeface="Arial" panose="020B0604020202020204" pitchFamily="34" charset="0"/>
            </a:endParaRPr>
          </a:p>
          <a:p>
            <a:pPr marL="285750" indent="-285750" algn="l">
              <a:buFont typeface="Arial" panose="020B0604020202020204" pitchFamily="34" charset="0"/>
              <a:buChar char="•"/>
            </a:pPr>
            <a:r>
              <a:rPr lang="en-US" b="0" i="0" dirty="0">
                <a:solidFill>
                  <a:srgbClr val="333333"/>
                </a:solidFill>
                <a:effectLst/>
                <a:latin typeface="arial" panose="020B0604020202020204" pitchFamily="34" charset="0"/>
              </a:rPr>
              <a:t>Route values</a:t>
            </a:r>
            <a:endParaRPr lang="en-US" b="0" i="0" dirty="0">
              <a:solidFill>
                <a:srgbClr val="333333"/>
              </a:solidFill>
              <a:effectLst/>
              <a:latin typeface="Arial" panose="020B0604020202020204" pitchFamily="34" charset="0"/>
            </a:endParaRPr>
          </a:p>
          <a:p>
            <a:pPr marL="285750" indent="-285750" algn="l">
              <a:buFont typeface="Arial" panose="020B0604020202020204" pitchFamily="34" charset="0"/>
              <a:buChar char="•"/>
            </a:pPr>
            <a:r>
              <a:rPr lang="en-US" b="0" i="0" dirty="0">
                <a:solidFill>
                  <a:srgbClr val="333333"/>
                </a:solidFill>
                <a:effectLst/>
                <a:latin typeface="arial" panose="020B0604020202020204" pitchFamily="34" charset="0"/>
              </a:rPr>
              <a:t>Query strings</a:t>
            </a:r>
            <a:endParaRPr lang="en-US" b="0" i="0" dirty="0">
              <a:solidFill>
                <a:srgbClr val="333333"/>
              </a:solidFill>
              <a:effectLst/>
              <a:latin typeface="Arial" panose="020B0604020202020204" pitchFamily="34" charset="0"/>
            </a:endParaRPr>
          </a:p>
        </p:txBody>
      </p:sp>
    </p:spTree>
    <p:extLst>
      <p:ext uri="{BB962C8B-B14F-4D97-AF65-F5344CB8AC3E}">
        <p14:creationId xmlns:p14="http://schemas.microsoft.com/office/powerpoint/2010/main" val="1576176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0CBE30B-BC38-4221-98D1-A6A638057B7F}"/>
              </a:ext>
            </a:extLst>
          </p:cNvPr>
          <p:cNvSpPr txBox="1"/>
          <p:nvPr/>
        </p:nvSpPr>
        <p:spPr>
          <a:xfrm>
            <a:off x="-78658" y="137651"/>
            <a:ext cx="5909187" cy="1477328"/>
          </a:xfrm>
          <a:prstGeom prst="rect">
            <a:avLst/>
          </a:prstGeom>
          <a:noFill/>
        </p:spPr>
        <p:txBody>
          <a:bodyPr wrap="square">
            <a:spAutoFit/>
          </a:bodyPr>
          <a:lstStyle/>
          <a:p>
            <a:r>
              <a:rPr lang="en-US" b="1" i="0" dirty="0">
                <a:solidFill>
                  <a:srgbClr val="333333"/>
                </a:solidFill>
                <a:effectLst/>
                <a:latin typeface="arial" panose="020B0604020202020204" pitchFamily="34" charset="0"/>
              </a:rPr>
              <a:t>Model Binding Complex Types</a:t>
            </a:r>
            <a:br>
              <a:rPr lang="en-US" dirty="0"/>
            </a:br>
            <a:br>
              <a:rPr lang="en-US" dirty="0"/>
            </a:br>
            <a:r>
              <a:rPr lang="en-US" b="0" i="0" dirty="0">
                <a:solidFill>
                  <a:srgbClr val="333333"/>
                </a:solidFill>
                <a:effectLst/>
                <a:latin typeface="arial" panose="020B0604020202020204" pitchFamily="34" charset="0"/>
              </a:rPr>
              <a:t>Model Binding also works with complex types such as Customer, Order, Employee etc. Consider the following </a:t>
            </a:r>
            <a:r>
              <a:rPr lang="en-US" b="0" i="1" dirty="0">
                <a:solidFill>
                  <a:srgbClr val="0000FF"/>
                </a:solidFill>
                <a:effectLst/>
                <a:latin typeface="arial" panose="020B0604020202020204" pitchFamily="34" charset="0"/>
              </a:rPr>
              <a:t>"Create Employee Form"</a:t>
            </a:r>
            <a:endParaRPr lang="en-IN" dirty="0"/>
          </a:p>
        </p:txBody>
      </p:sp>
      <p:pic>
        <p:nvPicPr>
          <p:cNvPr id="3074" name="Picture 2" descr="asp.net core model binding complex object">
            <a:extLst>
              <a:ext uri="{FF2B5EF4-FFF2-40B4-BE49-F238E27FC236}">
                <a16:creationId xmlns:a16="http://schemas.microsoft.com/office/drawing/2014/main" id="{8976CE9F-E8C0-445B-ACF9-5A15395AF5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274" y="1864903"/>
            <a:ext cx="4962525" cy="269557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3E753BAD-92AE-4C50-BFDD-2DE700CA9297}"/>
              </a:ext>
            </a:extLst>
          </p:cNvPr>
          <p:cNvSpPr>
            <a:spLocks noChangeArrowheads="1"/>
          </p:cNvSpPr>
          <p:nvPr/>
        </p:nvSpPr>
        <p:spPr bwMode="auto">
          <a:xfrm>
            <a:off x="5614219" y="1"/>
            <a:ext cx="6335507" cy="631578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When the above form is posted to the server, the values in the form are mapped to the </a:t>
            </a:r>
            <a:r>
              <a:rPr kumimoji="0" lang="en-US" altLang="en-US" sz="1600" b="0" i="0" u="none" strike="noStrike" cap="none" normalizeH="0" baseline="0" dirty="0">
                <a:ln>
                  <a:noFill/>
                </a:ln>
                <a:solidFill>
                  <a:srgbClr val="3D85C6"/>
                </a:solidFill>
                <a:effectLst/>
                <a:latin typeface="Arial" panose="020B0604020202020204" pitchFamily="34" charset="0"/>
                <a:cs typeface="Arial" panose="020B0604020202020204" pitchFamily="34" charset="0"/>
              </a:rPr>
              <a:t>Employee </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object parameter of the following </a:t>
            </a:r>
            <a:r>
              <a:rPr kumimoji="0" lang="en-US" altLang="en-US" sz="1600" b="0" i="1" u="none" strike="noStrike" cap="none" normalizeH="0" baseline="0" dirty="0">
                <a:ln>
                  <a:noFill/>
                </a:ln>
                <a:solidFill>
                  <a:srgbClr val="0000FF"/>
                </a:solidFill>
                <a:effectLst/>
                <a:latin typeface="Arial" panose="020B0604020202020204" pitchFamily="34" charset="0"/>
                <a:cs typeface="Arial" panose="020B0604020202020204" pitchFamily="34" charset="0"/>
              </a:rPr>
              <a:t>Create()</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action method.</a:t>
            </a:r>
            <a:br>
              <a:rPr kumimoji="0" lang="en-US" altLang="en-US" sz="1600" b="0" i="0" u="none" strike="noStrike" cap="none" normalizeH="0" baseline="0" dirty="0">
                <a:ln>
                  <a:noFill/>
                </a:ln>
                <a:solidFill>
                  <a:schemeClr val="tx1"/>
                </a:solidFill>
                <a:effectLst/>
              </a:rPr>
            </a:br>
            <a:br>
              <a:rPr kumimoji="0" lang="en-US" altLang="en-US" sz="1600" b="0" i="0" u="none" strike="noStrike" cap="none" normalizeH="0" baseline="0" dirty="0">
                <a:ln>
                  <a:noFill/>
                </a:ln>
                <a:solidFill>
                  <a:schemeClr val="tx1"/>
                </a:solidFill>
                <a:effectLst/>
                <a:latin typeface="Arial" panose="020B0604020202020204" pitchFamily="34" charset="0"/>
              </a:rPr>
            </a:b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RedirectToActionResult</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Create(Employee employee)</a:t>
            </a:r>
            <a:endPar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Employee </a:t>
            </a:r>
            <a:r>
              <a:rPr kumimoji="0" lang="en-US" altLang="en-US" sz="16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newEmployee</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_</a:t>
            </a:r>
            <a:r>
              <a:rPr kumimoji="0" lang="en-US" altLang="en-US" sz="16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employeeRepository.Add</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(employee);</a:t>
            </a:r>
            <a:endPar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return</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RedirectToAction</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6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"details"</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new</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id = </a:t>
            </a:r>
            <a:r>
              <a:rPr kumimoji="0" lang="en-US" altLang="en-US" sz="16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newEmployee.Id</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Model binder in asp.net core binds the posted form values to the properties of the </a:t>
            </a:r>
            <a:r>
              <a:rPr kumimoji="0" lang="en-US" altLang="en-US" sz="1600" b="0" i="0" u="none" strike="noStrike" cap="none" normalizeH="0" baseline="0" dirty="0">
                <a:ln>
                  <a:noFill/>
                </a:ln>
                <a:solidFill>
                  <a:srgbClr val="3D85C6"/>
                </a:solidFill>
                <a:effectLst/>
                <a:latin typeface="Arial" panose="020B0604020202020204" pitchFamily="34" charset="0"/>
                <a:cs typeface="Arial" panose="020B0604020202020204" pitchFamily="34" charset="0"/>
              </a:rPr>
              <a:t>Employee </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object that is passed as a parameter to the </a:t>
            </a:r>
            <a:r>
              <a:rPr kumimoji="0" lang="en-US" altLang="en-US" sz="1600" b="0" i="1" u="none" strike="noStrike" cap="none" normalizeH="0" baseline="0" dirty="0">
                <a:ln>
                  <a:noFill/>
                </a:ln>
                <a:solidFill>
                  <a:srgbClr val="0000FF"/>
                </a:solidFill>
                <a:effectLst/>
                <a:latin typeface="Arial" panose="020B0604020202020204" pitchFamily="34" charset="0"/>
                <a:cs typeface="Arial" panose="020B0604020202020204" pitchFamily="34" charset="0"/>
              </a:rPr>
              <a:t>Create()</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action method.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The value in the input element that has the </a:t>
            </a:r>
            <a:r>
              <a:rPr kumimoji="0" lang="en-US" altLang="en-US" sz="1600" b="0" i="1" u="none" strike="noStrike" cap="none" normalizeH="0" baseline="0" dirty="0">
                <a:ln>
                  <a:noFill/>
                </a:ln>
                <a:solidFill>
                  <a:srgbClr val="0000FF"/>
                </a:solidFill>
                <a:effectLst/>
                <a:latin typeface="Arial" panose="020B0604020202020204" pitchFamily="34" charset="0"/>
                <a:cs typeface="Arial" panose="020B0604020202020204" pitchFamily="34" charset="0"/>
              </a:rPr>
              <a:t>name </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attribute set to </a:t>
            </a:r>
            <a:r>
              <a:rPr kumimoji="0" lang="en-US" altLang="en-US" sz="1600" b="0" i="1" u="none" strike="noStrike" cap="none" normalizeH="0" baseline="0" dirty="0">
                <a:ln>
                  <a:noFill/>
                </a:ln>
                <a:solidFill>
                  <a:srgbClr val="0000FF"/>
                </a:solidFill>
                <a:effectLst/>
                <a:latin typeface="Arial" panose="020B0604020202020204" pitchFamily="34" charset="0"/>
                <a:cs typeface="Arial" panose="020B0604020202020204" pitchFamily="34" charset="0"/>
              </a:rPr>
              <a:t>"Name"</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is mapped to the </a:t>
            </a:r>
            <a:r>
              <a:rPr kumimoji="0" lang="en-US" altLang="en-US" sz="1600" b="0" i="1" u="none" strike="noStrike" cap="none" normalizeH="0" baseline="0" dirty="0">
                <a:ln>
                  <a:noFill/>
                </a:ln>
                <a:solidFill>
                  <a:srgbClr val="0000FF"/>
                </a:solidFill>
                <a:effectLst/>
                <a:latin typeface="Arial" panose="020B0604020202020204" pitchFamily="34" charset="0"/>
                <a:cs typeface="Arial" panose="020B0604020202020204" pitchFamily="34" charset="0"/>
              </a:rPr>
              <a:t>Name </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property of the </a:t>
            </a:r>
            <a:r>
              <a:rPr kumimoji="0" lang="en-US" altLang="en-US" sz="1600" b="0" i="0" u="none" strike="noStrike" cap="none" normalizeH="0" baseline="0" dirty="0">
                <a:ln>
                  <a:noFill/>
                </a:ln>
                <a:solidFill>
                  <a:srgbClr val="3D85C6"/>
                </a:solidFill>
                <a:effectLst/>
                <a:latin typeface="Arial" panose="020B0604020202020204" pitchFamily="34" charset="0"/>
                <a:cs typeface="Arial" panose="020B0604020202020204" pitchFamily="34" charset="0"/>
              </a:rPr>
              <a:t>Employee </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object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Similarly value in the input element with name </a:t>
            </a:r>
            <a:r>
              <a:rPr kumimoji="0" lang="en-US" altLang="en-US" sz="1600" b="0" i="1" u="none" strike="noStrike" cap="none" normalizeH="0" baseline="0" dirty="0">
                <a:ln>
                  <a:noFill/>
                </a:ln>
                <a:solidFill>
                  <a:srgbClr val="0000FF"/>
                </a:solidFill>
                <a:effectLst/>
                <a:latin typeface="Arial" panose="020B0604020202020204" pitchFamily="34" charset="0"/>
                <a:cs typeface="Arial" panose="020B0604020202020204" pitchFamily="34" charset="0"/>
              </a:rPr>
              <a:t>"Email" </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is mapped to </a:t>
            </a:r>
            <a:r>
              <a:rPr kumimoji="0" lang="en-US" altLang="en-US" sz="1600" b="0" i="1" u="none" strike="noStrike" cap="none" normalizeH="0" baseline="0" dirty="0">
                <a:ln>
                  <a:noFill/>
                </a:ln>
                <a:solidFill>
                  <a:srgbClr val="0000FF"/>
                </a:solidFill>
                <a:effectLst/>
                <a:latin typeface="Arial" panose="020B0604020202020204" pitchFamily="34" charset="0"/>
                <a:cs typeface="Arial" panose="020B0604020202020204" pitchFamily="34" charset="0"/>
              </a:rPr>
              <a:t>Email </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property of the </a:t>
            </a:r>
            <a:r>
              <a:rPr kumimoji="0" lang="en-US" altLang="en-US" sz="1600" b="0" i="0" u="none" strike="noStrike" cap="none" normalizeH="0" baseline="0" dirty="0">
                <a:ln>
                  <a:noFill/>
                </a:ln>
                <a:solidFill>
                  <a:srgbClr val="3D85C6"/>
                </a:solidFill>
                <a:effectLst/>
                <a:latin typeface="Arial" panose="020B0604020202020204" pitchFamily="34" charset="0"/>
                <a:cs typeface="Arial" panose="020B0604020202020204" pitchFamily="34" charset="0"/>
              </a:rPr>
              <a:t>Employee </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object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The same is true for </a:t>
            </a:r>
            <a:r>
              <a:rPr kumimoji="0" lang="en-US" altLang="en-US" sz="1600" b="0" i="1" u="none" strike="noStrike" cap="none" normalizeH="0" baseline="0" dirty="0">
                <a:ln>
                  <a:noFill/>
                </a:ln>
                <a:solidFill>
                  <a:srgbClr val="0000FF"/>
                </a:solidFill>
                <a:effectLst/>
                <a:latin typeface="Arial" panose="020B0604020202020204" pitchFamily="34" charset="0"/>
                <a:cs typeface="Arial" panose="020B0604020202020204" pitchFamily="34" charset="0"/>
              </a:rPr>
              <a:t>Department</a:t>
            </a:r>
            <a:endPar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73610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EAEFA6C-C6DF-44D5-8644-6966E61DC7E4}"/>
              </a:ext>
            </a:extLst>
          </p:cNvPr>
          <p:cNvSpPr txBox="1"/>
          <p:nvPr/>
        </p:nvSpPr>
        <p:spPr>
          <a:xfrm>
            <a:off x="186813" y="169295"/>
            <a:ext cx="6096000" cy="369332"/>
          </a:xfrm>
          <a:prstGeom prst="rect">
            <a:avLst/>
          </a:prstGeom>
          <a:noFill/>
        </p:spPr>
        <p:txBody>
          <a:bodyPr wrap="square">
            <a:spAutoFit/>
          </a:bodyPr>
          <a:lstStyle/>
          <a:p>
            <a:r>
              <a:rPr lang="en-IN" b="1" i="0" dirty="0">
                <a:solidFill>
                  <a:srgbClr val="333333"/>
                </a:solidFill>
                <a:effectLst/>
                <a:latin typeface="arial" panose="020B0604020202020204" pitchFamily="34" charset="0"/>
              </a:rPr>
              <a:t>Add() method - </a:t>
            </a:r>
            <a:r>
              <a:rPr lang="en-IN" b="1" i="0" dirty="0" err="1">
                <a:solidFill>
                  <a:srgbClr val="333333"/>
                </a:solidFill>
                <a:effectLst/>
                <a:latin typeface="arial" panose="020B0604020202020204" pitchFamily="34" charset="0"/>
              </a:rPr>
              <a:t>IEmployeeRepository</a:t>
            </a:r>
            <a:r>
              <a:rPr lang="en-IN" b="1" i="0" dirty="0">
                <a:solidFill>
                  <a:srgbClr val="333333"/>
                </a:solidFill>
                <a:effectLst/>
                <a:latin typeface="arial" panose="020B0604020202020204" pitchFamily="34" charset="0"/>
              </a:rPr>
              <a:t> interface</a:t>
            </a:r>
            <a:endParaRPr lang="en-IN" dirty="0"/>
          </a:p>
        </p:txBody>
      </p:sp>
      <p:sp>
        <p:nvSpPr>
          <p:cNvPr id="6" name="Rectangle 1">
            <a:extLst>
              <a:ext uri="{FF2B5EF4-FFF2-40B4-BE49-F238E27FC236}">
                <a16:creationId xmlns:a16="http://schemas.microsoft.com/office/drawing/2014/main" id="{D693506C-9E24-47D2-828D-C2909E35DA29}"/>
              </a:ext>
            </a:extLst>
          </p:cNvPr>
          <p:cNvSpPr>
            <a:spLocks noChangeArrowheads="1"/>
          </p:cNvSpPr>
          <p:nvPr/>
        </p:nvSpPr>
        <p:spPr bwMode="auto">
          <a:xfrm>
            <a:off x="186813" y="651413"/>
            <a:ext cx="476864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interface</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err="1">
                <a:ln>
                  <a:noFill/>
                </a:ln>
                <a:solidFill>
                  <a:srgbClr val="2B91AF"/>
                </a:solidFill>
                <a:effectLst/>
                <a:latin typeface="Arial" panose="020B0604020202020204" pitchFamily="34" charset="0"/>
                <a:cs typeface="Arial" panose="020B0604020202020204" pitchFamily="34" charset="0"/>
              </a:rPr>
              <a:t>IEmployeeRepository</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Employee </a:t>
            </a:r>
            <a:r>
              <a:rPr kumimoji="0" lang="en-US" altLang="en-US" sz="16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GetEmployee</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int</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Id);</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IEnumerable</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&lt;Employee&gt; </a:t>
            </a:r>
            <a:r>
              <a:rPr kumimoji="0" lang="en-US" altLang="en-US" sz="16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GetAllEmployees</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Employee Add(Employee employee);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DD40FBB1-FFBE-41DF-94C3-927A3755D234}"/>
              </a:ext>
            </a:extLst>
          </p:cNvPr>
          <p:cNvSpPr>
            <a:spLocks noChangeArrowheads="1"/>
          </p:cNvSpPr>
          <p:nvPr/>
        </p:nvSpPr>
        <p:spPr bwMode="auto">
          <a:xfrm>
            <a:off x="4817808" y="727924"/>
            <a:ext cx="7698658" cy="637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Add() method - </a:t>
            </a:r>
            <a:r>
              <a:rPr kumimoji="0" lang="en-US" altLang="en-US" sz="1200" b="1" i="0" u="none" strike="noStrike" cap="none" normalizeH="0" baseline="0" dirty="0" err="1">
                <a:ln>
                  <a:noFill/>
                </a:ln>
                <a:solidFill>
                  <a:srgbClr val="333333"/>
                </a:solidFill>
                <a:effectLst/>
                <a:latin typeface="Arial" panose="020B0604020202020204" pitchFamily="34" charset="0"/>
                <a:cs typeface="Arial" panose="020B0604020202020204" pitchFamily="34" charset="0"/>
              </a:rPr>
              <a:t>MockEmployeeRepository</a:t>
            </a:r>
            <a:r>
              <a:rPr kumimoji="0" lang="en-US" altLang="en-US" sz="12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 class </a:t>
            </a:r>
            <a:br>
              <a:rPr kumimoji="0" lang="en-US" altLang="en-US" sz="1200" b="0" i="0" u="none" strike="noStrike" cap="none" normalizeH="0" baseline="0" dirty="0">
                <a:ln>
                  <a:noFill/>
                </a:ln>
                <a:solidFill>
                  <a:schemeClr val="tx1"/>
                </a:solidFill>
                <a:effectLst/>
              </a:rPr>
            </a:b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class</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2B91AF"/>
                </a:solidFill>
                <a:effectLst/>
                <a:latin typeface="Arial" panose="020B0604020202020204" pitchFamily="34" charset="0"/>
                <a:cs typeface="Arial" panose="020B0604020202020204" pitchFamily="34" charset="0"/>
              </a:rPr>
              <a:t>MockEmployeeRepository</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IEmployeeRepository</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private</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List&lt;Employee&gt; _</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employeeList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MockEmployeeRepository</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_</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employeeList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new</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List&lt;Employee&gt;()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new</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Employee() { Id = 1, Name = </a:t>
            </a:r>
            <a:r>
              <a:rPr kumimoji="0" lang="en-US" altLang="en-US" sz="12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"Mary"</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Department = Dept.HR, Email = </a:t>
            </a:r>
            <a:r>
              <a:rPr kumimoji="0" lang="en-US" altLang="en-US" sz="12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"mary@cdac.com"</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new</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Employee() { Id = 2, Name = </a:t>
            </a:r>
            <a:r>
              <a:rPr kumimoji="0" lang="en-US" altLang="en-US" sz="12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"John"</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Department = Dept.IT, Email = </a:t>
            </a:r>
            <a:r>
              <a:rPr kumimoji="0" lang="en-US" altLang="en-US" sz="12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"john@cdac.com"</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new</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Employee() { Id = 3, Name = </a:t>
            </a:r>
            <a:r>
              <a:rPr kumimoji="0" lang="en-US" altLang="en-US" sz="12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"Sam"</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Department = Dept.IT, Email = </a:t>
            </a:r>
            <a:r>
              <a:rPr kumimoji="0" lang="en-US" altLang="en-US" sz="12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"sam@cdac.com"</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Employee Add(Employee employee)</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employee.Id</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_</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employeeList.Max</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 =&gt;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e.Id</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+ 1;</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_</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employeeList.Add</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(employee);</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return</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employee;</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IEnumerable</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&lt;Employee&gt;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GetAllEmployees</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return</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_</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employeeList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Employee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GetEmployee</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int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Id)</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return</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this</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._</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employeeList.FirstOrDefault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 =&gt;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e.Id</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Id);</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40584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01C096-721D-422B-8968-0BBB3FF11189}"/>
              </a:ext>
            </a:extLst>
          </p:cNvPr>
          <p:cNvSpPr txBox="1"/>
          <p:nvPr/>
        </p:nvSpPr>
        <p:spPr>
          <a:xfrm>
            <a:off x="560439" y="149631"/>
            <a:ext cx="6096000" cy="369332"/>
          </a:xfrm>
          <a:prstGeom prst="rect">
            <a:avLst/>
          </a:prstGeom>
          <a:noFill/>
        </p:spPr>
        <p:txBody>
          <a:bodyPr wrap="square">
            <a:spAutoFit/>
          </a:bodyPr>
          <a:lstStyle/>
          <a:p>
            <a:r>
              <a:rPr lang="en-IN" b="1" i="0" dirty="0" err="1">
                <a:solidFill>
                  <a:srgbClr val="333333"/>
                </a:solidFill>
                <a:effectLst/>
                <a:latin typeface="arial" panose="020B0604020202020204" pitchFamily="34" charset="0"/>
              </a:rPr>
              <a:t>HttpGet</a:t>
            </a:r>
            <a:r>
              <a:rPr lang="en-IN" b="1" i="0" dirty="0">
                <a:solidFill>
                  <a:srgbClr val="333333"/>
                </a:solidFill>
                <a:effectLst/>
                <a:latin typeface="arial" panose="020B0604020202020204" pitchFamily="34" charset="0"/>
              </a:rPr>
              <a:t> vs </a:t>
            </a:r>
            <a:r>
              <a:rPr lang="en-IN" b="1" i="0" dirty="0" err="1">
                <a:solidFill>
                  <a:srgbClr val="333333"/>
                </a:solidFill>
                <a:effectLst/>
                <a:latin typeface="arial" panose="020B0604020202020204" pitchFamily="34" charset="0"/>
              </a:rPr>
              <a:t>HttpPost</a:t>
            </a:r>
            <a:endParaRPr lang="en-IN" dirty="0"/>
          </a:p>
        </p:txBody>
      </p:sp>
      <p:sp>
        <p:nvSpPr>
          <p:cNvPr id="7" name="TextBox 6">
            <a:extLst>
              <a:ext uri="{FF2B5EF4-FFF2-40B4-BE49-F238E27FC236}">
                <a16:creationId xmlns:a16="http://schemas.microsoft.com/office/drawing/2014/main" id="{DD8F9A8B-25EA-46BB-B4DA-188AE4FEFEF2}"/>
              </a:ext>
            </a:extLst>
          </p:cNvPr>
          <p:cNvSpPr txBox="1"/>
          <p:nvPr/>
        </p:nvSpPr>
        <p:spPr>
          <a:xfrm>
            <a:off x="216309" y="719054"/>
            <a:ext cx="5496233" cy="646331"/>
          </a:xfrm>
          <a:prstGeom prst="rect">
            <a:avLst/>
          </a:prstGeom>
          <a:noFill/>
        </p:spPr>
        <p:txBody>
          <a:bodyPr wrap="square">
            <a:spAutoFit/>
          </a:bodyPr>
          <a:lstStyle/>
          <a:p>
            <a:r>
              <a:rPr lang="en-US" b="0" i="0" dirty="0">
                <a:solidFill>
                  <a:srgbClr val="333333"/>
                </a:solidFill>
                <a:effectLst/>
                <a:latin typeface="arial" panose="020B0604020202020204" pitchFamily="34" charset="0"/>
              </a:rPr>
              <a:t>At the moment in the </a:t>
            </a:r>
            <a:r>
              <a:rPr lang="en-US" b="0" i="0" dirty="0" err="1">
                <a:solidFill>
                  <a:srgbClr val="3D85C6"/>
                </a:solidFill>
                <a:effectLst/>
                <a:latin typeface="arial" panose="020B0604020202020204" pitchFamily="34" charset="0"/>
              </a:rPr>
              <a:t>HomeController</a:t>
            </a:r>
            <a:r>
              <a:rPr lang="en-US" b="0" i="0" dirty="0">
                <a:solidFill>
                  <a:srgbClr val="3D85C6"/>
                </a:solidFill>
                <a:effectLst/>
                <a:latin typeface="arial" panose="020B0604020202020204" pitchFamily="34" charset="0"/>
              </a:rPr>
              <a:t> </a:t>
            </a:r>
            <a:r>
              <a:rPr lang="en-US" b="0" i="0" dirty="0">
                <a:solidFill>
                  <a:srgbClr val="333333"/>
                </a:solidFill>
                <a:effectLst/>
                <a:latin typeface="arial" panose="020B0604020202020204" pitchFamily="34" charset="0"/>
              </a:rPr>
              <a:t>we have the following 2 </a:t>
            </a:r>
            <a:r>
              <a:rPr lang="en-US" b="0" i="1" dirty="0">
                <a:solidFill>
                  <a:srgbClr val="0000FF"/>
                </a:solidFill>
                <a:effectLst/>
                <a:latin typeface="arial" panose="020B0604020202020204" pitchFamily="34" charset="0"/>
              </a:rPr>
              <a:t>Create()</a:t>
            </a:r>
            <a:r>
              <a:rPr lang="en-US" b="0" i="0" dirty="0">
                <a:solidFill>
                  <a:srgbClr val="333333"/>
                </a:solidFill>
                <a:effectLst/>
                <a:latin typeface="arial" panose="020B0604020202020204" pitchFamily="34" charset="0"/>
              </a:rPr>
              <a:t> action methods. </a:t>
            </a:r>
            <a:endParaRPr lang="en-IN" dirty="0"/>
          </a:p>
        </p:txBody>
      </p:sp>
      <p:sp>
        <p:nvSpPr>
          <p:cNvPr id="8" name="Rectangle 1">
            <a:extLst>
              <a:ext uri="{FF2B5EF4-FFF2-40B4-BE49-F238E27FC236}">
                <a16:creationId xmlns:a16="http://schemas.microsoft.com/office/drawing/2014/main" id="{20D65EE2-6EBA-4160-9F2A-8E7A5947511A}"/>
              </a:ext>
            </a:extLst>
          </p:cNvPr>
          <p:cNvSpPr>
            <a:spLocks noChangeArrowheads="1"/>
          </p:cNvSpPr>
          <p:nvPr/>
        </p:nvSpPr>
        <p:spPr bwMode="auto">
          <a:xfrm>
            <a:off x="216309" y="1688550"/>
            <a:ext cx="5624052" cy="2462213"/>
          </a:xfrm>
          <a:prstGeom prst="rect">
            <a:avLst/>
          </a:prstGeom>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FF"/>
                </a:solidFill>
                <a:effectLst/>
                <a:cs typeface="Arial" panose="020B0604020202020204" pitchFamily="34" charset="0"/>
              </a:rPr>
              <a:t>public</a:t>
            </a:r>
            <a:r>
              <a:rPr kumimoji="0" lang="en-US" altLang="en-US" sz="1400" b="0" i="0" u="none" strike="noStrike" cap="none" normalizeH="0" baseline="0" dirty="0">
                <a:ln>
                  <a:noFill/>
                </a:ln>
                <a:solidFill>
                  <a:srgbClr val="000000"/>
                </a:solidFill>
                <a:effectLst/>
                <a:cs typeface="Arial" panose="020B0604020202020204" pitchFamily="34" charset="0"/>
              </a:rPr>
              <a:t> </a:t>
            </a:r>
            <a:r>
              <a:rPr kumimoji="0" lang="en-US" altLang="en-US" sz="1400" b="0" i="0" u="none" strike="noStrike" cap="none" normalizeH="0" baseline="0" dirty="0" err="1">
                <a:ln>
                  <a:noFill/>
                </a:ln>
                <a:solidFill>
                  <a:srgbClr val="000000"/>
                </a:solidFill>
                <a:effectLst/>
                <a:cs typeface="Arial" panose="020B0604020202020204" pitchFamily="34" charset="0"/>
              </a:rPr>
              <a:t>ViewResult</a:t>
            </a:r>
            <a:r>
              <a:rPr kumimoji="0" lang="en-US" altLang="en-US" sz="1400" b="0" i="0" u="none" strike="noStrike" cap="none" normalizeH="0" baseline="0" dirty="0">
                <a:ln>
                  <a:noFill/>
                </a:ln>
                <a:solidFill>
                  <a:srgbClr val="000000"/>
                </a:solidFill>
                <a:effectLst/>
                <a:cs typeface="Arial" panose="020B0604020202020204" pitchFamily="34" charset="0"/>
              </a:rPr>
              <a:t> Create()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cs typeface="Arial" panose="020B0604020202020204" pitchFamily="34"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cs typeface="Arial" panose="020B0604020202020204" pitchFamily="34" charset="0"/>
              </a:rPr>
              <a:t>    </a:t>
            </a:r>
            <a:r>
              <a:rPr kumimoji="0" lang="en-US" altLang="en-US" sz="1400" b="0" i="0" u="none" strike="noStrike" cap="none" normalizeH="0" baseline="0" dirty="0">
                <a:ln>
                  <a:noFill/>
                </a:ln>
                <a:solidFill>
                  <a:srgbClr val="0000FF"/>
                </a:solidFill>
                <a:effectLst/>
                <a:cs typeface="Arial" panose="020B0604020202020204" pitchFamily="34" charset="0"/>
              </a:rPr>
              <a:t>return</a:t>
            </a:r>
            <a:r>
              <a:rPr kumimoji="0" lang="en-US" altLang="en-US" sz="1400" b="0" i="0" u="none" strike="noStrike" cap="none" normalizeH="0" baseline="0" dirty="0">
                <a:ln>
                  <a:noFill/>
                </a:ln>
                <a:solidFill>
                  <a:srgbClr val="000000"/>
                </a:solidFill>
                <a:effectLst/>
                <a:cs typeface="Arial" panose="020B0604020202020204" pitchFamily="34" charset="0"/>
              </a:rPr>
              <a:t> View();</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cs typeface="Arial" panose="020B0604020202020204" pitchFamily="34"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400" b="0" i="0" u="none" strike="noStrike" cap="none" normalizeH="0" baseline="0" dirty="0">
                <a:ln>
                  <a:noFill/>
                </a:ln>
                <a:solidFill>
                  <a:srgbClr val="333333"/>
                </a:solidFill>
                <a:effectLst/>
                <a:cs typeface="Arial" panose="020B0604020202020204" pitchFamily="34" charset="0"/>
              </a:rPr>
            </a:b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FF"/>
                </a:solidFill>
                <a:effectLst/>
                <a:cs typeface="Arial" panose="020B0604020202020204" pitchFamily="34" charset="0"/>
              </a:rPr>
              <a:t>public</a:t>
            </a:r>
            <a:r>
              <a:rPr kumimoji="0" lang="en-US" altLang="en-US" sz="1400" b="0" i="0" u="none" strike="noStrike" cap="none" normalizeH="0" baseline="0" dirty="0">
                <a:ln>
                  <a:noFill/>
                </a:ln>
                <a:solidFill>
                  <a:srgbClr val="000000"/>
                </a:solidFill>
                <a:effectLst/>
                <a:cs typeface="Arial" panose="020B0604020202020204" pitchFamily="34" charset="0"/>
              </a:rPr>
              <a:t> </a:t>
            </a:r>
            <a:r>
              <a:rPr kumimoji="0" lang="en-US" altLang="en-US" sz="1400" b="0" i="0" u="none" strike="noStrike" cap="none" normalizeH="0" baseline="0" dirty="0" err="1">
                <a:ln>
                  <a:noFill/>
                </a:ln>
                <a:solidFill>
                  <a:srgbClr val="000000"/>
                </a:solidFill>
                <a:effectLst/>
                <a:cs typeface="Arial" panose="020B0604020202020204" pitchFamily="34" charset="0"/>
              </a:rPr>
              <a:t>RedirectToActionResult</a:t>
            </a:r>
            <a:r>
              <a:rPr kumimoji="0" lang="en-US" altLang="en-US" sz="1400" b="0" i="0" u="none" strike="noStrike" cap="none" normalizeH="0" baseline="0" dirty="0">
                <a:ln>
                  <a:noFill/>
                </a:ln>
                <a:solidFill>
                  <a:srgbClr val="000000"/>
                </a:solidFill>
                <a:effectLst/>
                <a:cs typeface="Arial" panose="020B0604020202020204" pitchFamily="34" charset="0"/>
              </a:rPr>
              <a:t> Create(Employee employee)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cs typeface="Arial" panose="020B0604020202020204" pitchFamily="34"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cs typeface="Arial" panose="020B0604020202020204" pitchFamily="34" charset="0"/>
              </a:rPr>
              <a:t>    Employee </a:t>
            </a:r>
            <a:r>
              <a:rPr kumimoji="0" lang="en-US" altLang="en-US" sz="1400" b="0" i="0" u="none" strike="noStrike" cap="none" normalizeH="0" baseline="0" dirty="0" err="1">
                <a:ln>
                  <a:noFill/>
                </a:ln>
                <a:solidFill>
                  <a:srgbClr val="000000"/>
                </a:solidFill>
                <a:effectLst/>
                <a:cs typeface="Arial" panose="020B0604020202020204" pitchFamily="34" charset="0"/>
              </a:rPr>
              <a:t>newEmployee</a:t>
            </a:r>
            <a:r>
              <a:rPr kumimoji="0" lang="en-US" altLang="en-US" sz="1400" b="0" i="0" u="none" strike="noStrike" cap="none" normalizeH="0" baseline="0" dirty="0">
                <a:ln>
                  <a:noFill/>
                </a:ln>
                <a:solidFill>
                  <a:srgbClr val="000000"/>
                </a:solidFill>
                <a:effectLst/>
                <a:cs typeface="Arial" panose="020B0604020202020204" pitchFamily="34" charset="0"/>
              </a:rPr>
              <a:t> = _</a:t>
            </a:r>
            <a:r>
              <a:rPr kumimoji="0" lang="en-US" altLang="en-US" sz="1400" b="0" i="0" u="none" strike="noStrike" cap="none" normalizeH="0" baseline="0" dirty="0" err="1">
                <a:ln>
                  <a:noFill/>
                </a:ln>
                <a:solidFill>
                  <a:srgbClr val="000000"/>
                </a:solidFill>
                <a:effectLst/>
                <a:cs typeface="Arial" panose="020B0604020202020204" pitchFamily="34" charset="0"/>
              </a:rPr>
              <a:t>employeeRepository.Add</a:t>
            </a:r>
            <a:r>
              <a:rPr kumimoji="0" lang="en-US" altLang="en-US" sz="1400" b="0" i="0" u="none" strike="noStrike" cap="none" normalizeH="0" baseline="0" dirty="0">
                <a:ln>
                  <a:noFill/>
                </a:ln>
                <a:solidFill>
                  <a:srgbClr val="000000"/>
                </a:solidFill>
                <a:effectLst/>
                <a:cs typeface="Arial" panose="020B0604020202020204" pitchFamily="34" charset="0"/>
              </a:rPr>
              <a:t>(employee);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cs typeface="Arial" panose="020B0604020202020204" pitchFamily="34" charset="0"/>
              </a:rPr>
              <a:t>    </a:t>
            </a:r>
            <a:r>
              <a:rPr kumimoji="0" lang="en-US" altLang="en-US" sz="1400" b="0" i="0" u="none" strike="noStrike" cap="none" normalizeH="0" baseline="0" dirty="0">
                <a:ln>
                  <a:noFill/>
                </a:ln>
                <a:solidFill>
                  <a:srgbClr val="0000FF"/>
                </a:solidFill>
                <a:effectLst/>
                <a:cs typeface="Arial" panose="020B0604020202020204" pitchFamily="34" charset="0"/>
              </a:rPr>
              <a:t>return</a:t>
            </a:r>
            <a:r>
              <a:rPr kumimoji="0" lang="en-US" altLang="en-US" sz="1400" b="0" i="0" u="none" strike="noStrike" cap="none" normalizeH="0" baseline="0" dirty="0">
                <a:ln>
                  <a:noFill/>
                </a:ln>
                <a:solidFill>
                  <a:srgbClr val="000000"/>
                </a:solidFill>
                <a:effectLst/>
                <a:cs typeface="Arial" panose="020B0604020202020204" pitchFamily="34" charset="0"/>
              </a:rPr>
              <a:t> </a:t>
            </a:r>
            <a:r>
              <a:rPr kumimoji="0" lang="en-US" altLang="en-US" sz="1400" b="0" i="0" u="none" strike="noStrike" cap="none" normalizeH="0" baseline="0" dirty="0" err="1">
                <a:ln>
                  <a:noFill/>
                </a:ln>
                <a:solidFill>
                  <a:srgbClr val="000000"/>
                </a:solidFill>
                <a:effectLst/>
                <a:cs typeface="Arial" panose="020B0604020202020204" pitchFamily="34" charset="0"/>
              </a:rPr>
              <a:t>RedirectToAction</a:t>
            </a:r>
            <a:r>
              <a:rPr kumimoji="0" lang="en-US" altLang="en-US" sz="1400" b="0" i="0" u="none" strike="noStrike" cap="none" normalizeH="0" baseline="0" dirty="0">
                <a:ln>
                  <a:noFill/>
                </a:ln>
                <a:solidFill>
                  <a:srgbClr val="000000"/>
                </a:solidFill>
                <a:effectLst/>
                <a:cs typeface="Arial" panose="020B0604020202020204" pitchFamily="34" charset="0"/>
              </a:rPr>
              <a:t>(</a:t>
            </a:r>
            <a:r>
              <a:rPr kumimoji="0" lang="en-US" altLang="en-US" sz="1400" b="0" i="0" u="none" strike="noStrike" cap="none" normalizeH="0" baseline="0" dirty="0">
                <a:ln>
                  <a:noFill/>
                </a:ln>
                <a:solidFill>
                  <a:srgbClr val="A31515"/>
                </a:solidFill>
                <a:effectLst/>
                <a:cs typeface="Arial" panose="020B0604020202020204" pitchFamily="34" charset="0"/>
              </a:rPr>
              <a:t>"details"</a:t>
            </a:r>
            <a:r>
              <a:rPr kumimoji="0" lang="en-US" altLang="en-US" sz="1400" b="0" i="0" u="none" strike="noStrike" cap="none" normalizeH="0" baseline="0" dirty="0">
                <a:ln>
                  <a:noFill/>
                </a:ln>
                <a:solidFill>
                  <a:srgbClr val="000000"/>
                </a:solidFill>
                <a:effectLst/>
                <a:cs typeface="Arial" panose="020B0604020202020204" pitchFamily="34" charset="0"/>
              </a:rPr>
              <a:t>, </a:t>
            </a:r>
            <a:r>
              <a:rPr kumimoji="0" lang="en-US" altLang="en-US" sz="1400" b="0" i="0" u="none" strike="noStrike" cap="none" normalizeH="0" baseline="0" dirty="0">
                <a:ln>
                  <a:noFill/>
                </a:ln>
                <a:solidFill>
                  <a:srgbClr val="0000FF"/>
                </a:solidFill>
                <a:effectLst/>
                <a:cs typeface="Arial" panose="020B0604020202020204" pitchFamily="34" charset="0"/>
              </a:rPr>
              <a:t>new</a:t>
            </a:r>
            <a:r>
              <a:rPr kumimoji="0" lang="en-US" altLang="en-US" sz="1400" b="0" i="0" u="none" strike="noStrike" cap="none" normalizeH="0" baseline="0" dirty="0">
                <a:ln>
                  <a:noFill/>
                </a:ln>
                <a:solidFill>
                  <a:srgbClr val="000000"/>
                </a:solidFill>
                <a:effectLst/>
                <a:cs typeface="Arial" panose="020B0604020202020204" pitchFamily="34" charset="0"/>
              </a:rPr>
              <a:t> { id = </a:t>
            </a:r>
            <a:r>
              <a:rPr kumimoji="0" lang="en-US" altLang="en-US" sz="1400" b="0" i="0" u="none" strike="noStrike" cap="none" normalizeH="0" baseline="0" dirty="0" err="1">
                <a:ln>
                  <a:noFill/>
                </a:ln>
                <a:solidFill>
                  <a:srgbClr val="000000"/>
                </a:solidFill>
                <a:effectLst/>
                <a:cs typeface="Arial" panose="020B0604020202020204" pitchFamily="34" charset="0"/>
              </a:rPr>
              <a:t>newEmployee.Id</a:t>
            </a:r>
            <a:r>
              <a:rPr kumimoji="0" lang="en-US" altLang="en-US" sz="1400" b="0" i="0" u="none" strike="noStrike" cap="none" normalizeH="0" baseline="0" dirty="0">
                <a:ln>
                  <a:noFill/>
                </a:ln>
                <a:solidFill>
                  <a:srgbClr val="000000"/>
                </a:solidFill>
                <a:effectLst/>
                <a:cs typeface="Arial" panose="020B0604020202020204" pitchFamily="34"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cs typeface="Arial" panose="020B0604020202020204" pitchFamily="34" charset="0"/>
              </a:rPr>
              <a:t>}</a:t>
            </a:r>
            <a:endParaRPr kumimoji="0" lang="en-US" altLang="en-US" sz="1400" b="0" i="0" u="none" strike="noStrike" cap="none" normalizeH="0" baseline="0" dirty="0">
              <a:ln>
                <a:noFill/>
              </a:ln>
              <a:solidFill>
                <a:schemeClr val="tx1"/>
              </a:solidFill>
              <a:effectLst/>
            </a:endParaRPr>
          </a:p>
        </p:txBody>
      </p:sp>
      <p:sp>
        <p:nvSpPr>
          <p:cNvPr id="10" name="TextBox 9">
            <a:extLst>
              <a:ext uri="{FF2B5EF4-FFF2-40B4-BE49-F238E27FC236}">
                <a16:creationId xmlns:a16="http://schemas.microsoft.com/office/drawing/2014/main" id="{0B3A6DDD-3720-411F-B3A4-7BA2DA783BC3}"/>
              </a:ext>
            </a:extLst>
          </p:cNvPr>
          <p:cNvSpPr txBox="1"/>
          <p:nvPr/>
        </p:nvSpPr>
        <p:spPr>
          <a:xfrm>
            <a:off x="88488" y="4639806"/>
            <a:ext cx="5751873" cy="1200329"/>
          </a:xfrm>
          <a:prstGeom prst="rect">
            <a:avLst/>
          </a:prstGeom>
          <a:noFill/>
        </p:spPr>
        <p:txBody>
          <a:bodyPr wrap="square">
            <a:spAutoFit/>
          </a:bodyPr>
          <a:lstStyle/>
          <a:p>
            <a:r>
              <a:rPr lang="en-US" b="0" i="0" dirty="0">
                <a:solidFill>
                  <a:srgbClr val="333333"/>
                </a:solidFill>
                <a:effectLst/>
                <a:latin typeface="arial" panose="020B0604020202020204" pitchFamily="34" charset="0"/>
              </a:rPr>
              <a:t>If we now navigate to the URL </a:t>
            </a:r>
            <a:r>
              <a:rPr lang="en-US" b="0" i="0" dirty="0">
                <a:solidFill>
                  <a:srgbClr val="0000FF"/>
                </a:solidFill>
                <a:effectLst/>
                <a:latin typeface="arial" panose="020B0604020202020204" pitchFamily="34" charset="0"/>
              </a:rPr>
              <a:t>(http://localhost:1234/home/create)</a:t>
            </a:r>
            <a:r>
              <a:rPr lang="en-US" b="0" i="0" dirty="0">
                <a:solidFill>
                  <a:srgbClr val="333333"/>
                </a:solidFill>
                <a:effectLst/>
                <a:latin typeface="arial" panose="020B0604020202020204" pitchFamily="34" charset="0"/>
              </a:rPr>
              <a:t> we get the following error</a:t>
            </a:r>
            <a:br>
              <a:rPr lang="en-US" dirty="0"/>
            </a:br>
            <a:r>
              <a:rPr lang="en-US" b="0" i="0" dirty="0" err="1">
                <a:solidFill>
                  <a:srgbClr val="FF0000"/>
                </a:solidFill>
                <a:effectLst/>
                <a:latin typeface="arial" panose="020B0604020202020204" pitchFamily="34" charset="0"/>
              </a:rPr>
              <a:t>AmbiguousActionException</a:t>
            </a:r>
            <a:r>
              <a:rPr lang="en-US" b="0" i="0" dirty="0">
                <a:solidFill>
                  <a:srgbClr val="FF0000"/>
                </a:solidFill>
                <a:effectLst/>
                <a:latin typeface="arial" panose="020B0604020202020204" pitchFamily="34" charset="0"/>
              </a:rPr>
              <a:t>: Multiple actions matched.</a:t>
            </a:r>
            <a:endParaRPr lang="en-IN" dirty="0"/>
          </a:p>
        </p:txBody>
      </p:sp>
      <p:sp>
        <p:nvSpPr>
          <p:cNvPr id="12" name="TextBox 11">
            <a:extLst>
              <a:ext uri="{FF2B5EF4-FFF2-40B4-BE49-F238E27FC236}">
                <a16:creationId xmlns:a16="http://schemas.microsoft.com/office/drawing/2014/main" id="{51095A3D-F322-4911-B251-FC48B017FE9E}"/>
              </a:ext>
            </a:extLst>
          </p:cNvPr>
          <p:cNvSpPr txBox="1"/>
          <p:nvPr/>
        </p:nvSpPr>
        <p:spPr>
          <a:xfrm>
            <a:off x="6312310" y="0"/>
            <a:ext cx="5879690" cy="3416320"/>
          </a:xfrm>
          <a:prstGeom prst="rect">
            <a:avLst/>
          </a:prstGeom>
          <a:noFill/>
        </p:spPr>
        <p:txBody>
          <a:bodyPr wrap="square">
            <a:spAutoFit/>
          </a:bodyPr>
          <a:lstStyle/>
          <a:p>
            <a:r>
              <a:rPr lang="en-US" b="0" i="0" dirty="0">
                <a:solidFill>
                  <a:srgbClr val="333333"/>
                </a:solidFill>
                <a:effectLst/>
                <a:latin typeface="arial" panose="020B0604020202020204" pitchFamily="34" charset="0"/>
              </a:rPr>
              <a:t>This is because asp.net core does not know which action method to execute. </a:t>
            </a:r>
          </a:p>
          <a:p>
            <a:r>
              <a:rPr lang="en-US" b="0" i="0" dirty="0">
                <a:solidFill>
                  <a:srgbClr val="333333"/>
                </a:solidFill>
                <a:effectLst/>
                <a:latin typeface="arial" panose="020B0604020202020204" pitchFamily="34" charset="0"/>
              </a:rPr>
              <a:t>We want the first </a:t>
            </a:r>
            <a:r>
              <a:rPr lang="en-US" b="0" i="1" dirty="0">
                <a:solidFill>
                  <a:srgbClr val="0000FF"/>
                </a:solidFill>
                <a:effectLst/>
                <a:latin typeface="arial" panose="020B0604020202020204" pitchFamily="34" charset="0"/>
              </a:rPr>
              <a:t>Create()</a:t>
            </a:r>
            <a:r>
              <a:rPr lang="en-US" b="0" i="0" dirty="0">
                <a:solidFill>
                  <a:srgbClr val="333333"/>
                </a:solidFill>
                <a:effectLst/>
                <a:latin typeface="arial" panose="020B0604020202020204" pitchFamily="34" charset="0"/>
              </a:rPr>
              <a:t> action method to respond to GET request </a:t>
            </a:r>
          </a:p>
          <a:p>
            <a:r>
              <a:rPr lang="en-US" b="0" i="0" dirty="0">
                <a:solidFill>
                  <a:srgbClr val="333333"/>
                </a:solidFill>
                <a:effectLst/>
                <a:latin typeface="arial" panose="020B0604020202020204" pitchFamily="34" charset="0"/>
              </a:rPr>
              <a:t>and </a:t>
            </a:r>
          </a:p>
          <a:p>
            <a:r>
              <a:rPr lang="en-US" b="0" i="0" dirty="0">
                <a:solidFill>
                  <a:srgbClr val="333333"/>
                </a:solidFill>
                <a:effectLst/>
                <a:latin typeface="arial" panose="020B0604020202020204" pitchFamily="34" charset="0"/>
              </a:rPr>
              <a:t>the second </a:t>
            </a:r>
            <a:r>
              <a:rPr lang="en-US" b="0" i="1" dirty="0">
                <a:solidFill>
                  <a:srgbClr val="0000FF"/>
                </a:solidFill>
                <a:effectLst/>
                <a:latin typeface="arial" panose="020B0604020202020204" pitchFamily="34" charset="0"/>
              </a:rPr>
              <a:t>Create()</a:t>
            </a:r>
            <a:r>
              <a:rPr lang="en-US" b="0" i="0" dirty="0">
                <a:solidFill>
                  <a:srgbClr val="333333"/>
                </a:solidFill>
                <a:effectLst/>
                <a:latin typeface="arial" panose="020B0604020202020204" pitchFamily="34" charset="0"/>
              </a:rPr>
              <a:t> action method to respond to the POST request. </a:t>
            </a:r>
          </a:p>
          <a:p>
            <a:endParaRPr lang="en-US" dirty="0">
              <a:solidFill>
                <a:srgbClr val="333333"/>
              </a:solidFill>
              <a:latin typeface="arial" panose="020B0604020202020204" pitchFamily="34" charset="0"/>
            </a:endParaRPr>
          </a:p>
          <a:p>
            <a:r>
              <a:rPr lang="en-US" b="0" i="0" dirty="0">
                <a:solidFill>
                  <a:srgbClr val="333333"/>
                </a:solidFill>
                <a:effectLst/>
                <a:latin typeface="arial" panose="020B0604020202020204" pitchFamily="34" charset="0"/>
              </a:rPr>
              <a:t>To tell this to asp.net core decorate the </a:t>
            </a:r>
            <a:r>
              <a:rPr lang="en-US" b="0" i="1" dirty="0">
                <a:solidFill>
                  <a:srgbClr val="0000FF"/>
                </a:solidFill>
                <a:effectLst/>
                <a:latin typeface="arial" panose="020B0604020202020204" pitchFamily="34" charset="0"/>
              </a:rPr>
              <a:t>Create()</a:t>
            </a:r>
            <a:r>
              <a:rPr lang="en-US" b="0" i="0" dirty="0">
                <a:solidFill>
                  <a:srgbClr val="333333"/>
                </a:solidFill>
                <a:effectLst/>
                <a:latin typeface="arial" panose="020B0604020202020204" pitchFamily="34" charset="0"/>
              </a:rPr>
              <a:t> action methods with </a:t>
            </a:r>
            <a:r>
              <a:rPr lang="en-US" b="0" i="1" dirty="0" err="1">
                <a:solidFill>
                  <a:srgbClr val="0000FF"/>
                </a:solidFill>
                <a:effectLst/>
                <a:latin typeface="arial" panose="020B0604020202020204" pitchFamily="34" charset="0"/>
              </a:rPr>
              <a:t>HttpGet</a:t>
            </a:r>
            <a:r>
              <a:rPr lang="en-US" b="0" i="1" dirty="0">
                <a:solidFill>
                  <a:srgbClr val="0000FF"/>
                </a:solidFill>
                <a:effectLst/>
                <a:latin typeface="arial" panose="020B0604020202020204" pitchFamily="34" charset="0"/>
              </a:rPr>
              <a:t> </a:t>
            </a:r>
            <a:r>
              <a:rPr lang="en-US" b="0" i="0" dirty="0">
                <a:solidFill>
                  <a:srgbClr val="333333"/>
                </a:solidFill>
                <a:effectLst/>
                <a:latin typeface="arial" panose="020B0604020202020204" pitchFamily="34" charset="0"/>
              </a:rPr>
              <a:t>and </a:t>
            </a:r>
            <a:r>
              <a:rPr lang="en-US" b="0" i="1" dirty="0" err="1">
                <a:solidFill>
                  <a:srgbClr val="0000FF"/>
                </a:solidFill>
                <a:effectLst/>
                <a:latin typeface="arial" panose="020B0604020202020204" pitchFamily="34" charset="0"/>
              </a:rPr>
              <a:t>HttpPost</a:t>
            </a:r>
            <a:r>
              <a:rPr lang="en-US" b="0" i="1" dirty="0">
                <a:solidFill>
                  <a:srgbClr val="0000FF"/>
                </a:solidFill>
                <a:effectLst/>
                <a:latin typeface="arial" panose="020B0604020202020204" pitchFamily="34" charset="0"/>
              </a:rPr>
              <a:t> </a:t>
            </a:r>
            <a:r>
              <a:rPr lang="en-US" b="0" i="0" dirty="0">
                <a:solidFill>
                  <a:srgbClr val="333333"/>
                </a:solidFill>
                <a:effectLst/>
                <a:latin typeface="arial" panose="020B0604020202020204" pitchFamily="34" charset="0"/>
              </a:rPr>
              <a:t>attributes as shown below.</a:t>
            </a:r>
            <a:br>
              <a:rPr lang="en-US" dirty="0"/>
            </a:br>
            <a:endParaRPr lang="en-IN" dirty="0"/>
          </a:p>
        </p:txBody>
      </p:sp>
      <p:sp>
        <p:nvSpPr>
          <p:cNvPr id="13" name="Rectangle 2">
            <a:extLst>
              <a:ext uri="{FF2B5EF4-FFF2-40B4-BE49-F238E27FC236}">
                <a16:creationId xmlns:a16="http://schemas.microsoft.com/office/drawing/2014/main" id="{3FF30C02-DF31-4334-BC9F-BFD96CA6FC47}"/>
              </a:ext>
            </a:extLst>
          </p:cNvPr>
          <p:cNvSpPr>
            <a:spLocks noChangeArrowheads="1"/>
          </p:cNvSpPr>
          <p:nvPr/>
        </p:nvSpPr>
        <p:spPr bwMode="auto">
          <a:xfrm>
            <a:off x="6312310" y="3216339"/>
            <a:ext cx="5751871" cy="2846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HttpGet</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ViewResult</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Create()</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return</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View();</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b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HttpPost</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RedirectToActionResult</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Create(Employee employee)</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Employee </a:t>
            </a:r>
            <a:r>
              <a:rPr kumimoji="0" lang="en-US" altLang="en-US"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newEmployee</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_</a:t>
            </a:r>
            <a:r>
              <a:rPr kumimoji="0" lang="en-US" altLang="en-US"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employeeRepository.Add</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(employee);</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return</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RedirectToAction</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4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"details"</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new</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id = </a:t>
            </a:r>
            <a:r>
              <a:rPr kumimoji="0" lang="en-US" altLang="en-US"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newEmployee.Id</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63176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E68CE9F-FB67-4558-BF62-452D0384E4CC}"/>
              </a:ext>
            </a:extLst>
          </p:cNvPr>
          <p:cNvSpPr txBox="1"/>
          <p:nvPr/>
        </p:nvSpPr>
        <p:spPr>
          <a:xfrm>
            <a:off x="186812" y="141152"/>
            <a:ext cx="11847871" cy="1200329"/>
          </a:xfrm>
          <a:prstGeom prst="rect">
            <a:avLst/>
          </a:prstGeom>
          <a:noFill/>
        </p:spPr>
        <p:txBody>
          <a:bodyPr wrap="square">
            <a:spAutoFit/>
          </a:bodyPr>
          <a:lstStyle/>
          <a:p>
            <a:r>
              <a:rPr lang="en-US" b="0" i="0" dirty="0">
                <a:solidFill>
                  <a:srgbClr val="333333"/>
                </a:solidFill>
                <a:effectLst/>
                <a:latin typeface="arial" panose="020B0604020202020204" pitchFamily="34" charset="0"/>
              </a:rPr>
              <a:t>The </a:t>
            </a:r>
            <a:r>
              <a:rPr lang="en-US" b="0" i="1" dirty="0">
                <a:solidFill>
                  <a:srgbClr val="0000FF"/>
                </a:solidFill>
                <a:effectLst/>
                <a:latin typeface="arial" panose="020B0604020202020204" pitchFamily="34" charset="0"/>
              </a:rPr>
              <a:t>Create()</a:t>
            </a:r>
            <a:r>
              <a:rPr lang="en-US" b="0" i="0" dirty="0">
                <a:solidFill>
                  <a:srgbClr val="333333"/>
                </a:solidFill>
                <a:effectLst/>
                <a:latin typeface="arial" panose="020B0604020202020204" pitchFamily="34" charset="0"/>
              </a:rPr>
              <a:t> action method that responds to the POST action adds the new employee to the </a:t>
            </a:r>
            <a:r>
              <a:rPr lang="en-US" b="0" i="0" dirty="0" err="1">
                <a:solidFill>
                  <a:srgbClr val="3D85C6"/>
                </a:solidFill>
                <a:effectLst/>
                <a:latin typeface="arial" panose="020B0604020202020204" pitchFamily="34" charset="0"/>
              </a:rPr>
              <a:t>EmployeeRepository</a:t>
            </a:r>
            <a:r>
              <a:rPr lang="en-US" b="0" i="0" dirty="0">
                <a:solidFill>
                  <a:srgbClr val="3D85C6"/>
                </a:solidFill>
                <a:effectLst/>
                <a:latin typeface="arial" panose="020B0604020202020204" pitchFamily="34" charset="0"/>
              </a:rPr>
              <a:t> </a:t>
            </a:r>
            <a:r>
              <a:rPr lang="en-US" b="0" i="0" dirty="0">
                <a:solidFill>
                  <a:srgbClr val="333333"/>
                </a:solidFill>
                <a:effectLst/>
                <a:latin typeface="arial" panose="020B0604020202020204" pitchFamily="34" charset="0"/>
              </a:rPr>
              <a:t>and redirects the user to the </a:t>
            </a:r>
            <a:r>
              <a:rPr lang="en-US" b="0" i="1" dirty="0">
                <a:solidFill>
                  <a:srgbClr val="0000FF"/>
                </a:solidFill>
                <a:effectLst/>
                <a:latin typeface="arial" panose="020B0604020202020204" pitchFamily="34" charset="0"/>
              </a:rPr>
              <a:t>Details()</a:t>
            </a:r>
            <a:r>
              <a:rPr lang="en-US" b="0" i="0" dirty="0">
                <a:solidFill>
                  <a:srgbClr val="333333"/>
                </a:solidFill>
                <a:effectLst/>
                <a:latin typeface="arial" panose="020B0604020202020204" pitchFamily="34" charset="0"/>
              </a:rPr>
              <a:t> action method passing it the </a:t>
            </a:r>
            <a:r>
              <a:rPr lang="en-US" b="0" i="1" dirty="0">
                <a:solidFill>
                  <a:srgbClr val="0000FF"/>
                </a:solidFill>
                <a:effectLst/>
                <a:latin typeface="arial" panose="020B0604020202020204" pitchFamily="34" charset="0"/>
              </a:rPr>
              <a:t>ID </a:t>
            </a:r>
            <a:r>
              <a:rPr lang="en-US" b="0" i="0" dirty="0">
                <a:solidFill>
                  <a:srgbClr val="333333"/>
                </a:solidFill>
                <a:effectLst/>
                <a:latin typeface="arial" panose="020B0604020202020204" pitchFamily="34" charset="0"/>
              </a:rPr>
              <a:t>of the newly created employee. </a:t>
            </a:r>
            <a:br>
              <a:rPr lang="en-US" dirty="0"/>
            </a:br>
            <a:endParaRPr lang="en-IN" dirty="0"/>
          </a:p>
        </p:txBody>
      </p:sp>
      <p:sp>
        <p:nvSpPr>
          <p:cNvPr id="6" name="Rectangle 1">
            <a:extLst>
              <a:ext uri="{FF2B5EF4-FFF2-40B4-BE49-F238E27FC236}">
                <a16:creationId xmlns:a16="http://schemas.microsoft.com/office/drawing/2014/main" id="{B7340C22-106B-4C09-986A-D65D0F7ECED4}"/>
              </a:ext>
            </a:extLst>
          </p:cNvPr>
          <p:cNvSpPr>
            <a:spLocks noChangeArrowheads="1"/>
          </p:cNvSpPr>
          <p:nvPr/>
        </p:nvSpPr>
        <p:spPr bwMode="auto">
          <a:xfrm>
            <a:off x="319548" y="1648757"/>
            <a:ext cx="955695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00FF"/>
                </a:solidFill>
                <a:effectLst/>
                <a:latin typeface="Arial" panose="020B0604020202020204" pitchFamily="34" charset="0"/>
                <a:cs typeface="Arial" panose="020B0604020202020204" pitchFamily="34" charset="0"/>
              </a:rPr>
              <a:t>class</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2B91AF"/>
                </a:solidFill>
                <a:effectLst/>
                <a:latin typeface="Arial" panose="020B0604020202020204" pitchFamily="34" charset="0"/>
                <a:cs typeface="Arial" panose="020B0604020202020204" pitchFamily="34" charset="0"/>
              </a:rPr>
              <a:t>Startup</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builder.Services.AddMvc</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builder.Services.AddSingleton</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&lt;</a:t>
            </a:r>
            <a:r>
              <a:rPr kumimoji="0" lang="en-US" altLang="en-US"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IEmployeeRepository</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MockEmployeeRepository</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&gt;();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b="0" i="0" u="none" strike="noStrike" cap="none" normalizeH="0" baseline="0" dirty="0">
                <a:ln>
                  <a:noFill/>
                </a:ln>
                <a:solidFill>
                  <a:srgbClr val="333333"/>
                </a:solidFill>
                <a:effectLst/>
                <a:latin typeface="Arial" panose="020B0604020202020204" pitchFamily="34" charset="0"/>
                <a:cs typeface="Arial" panose="020B0604020202020204" pitchFamily="34" charset="0"/>
              </a:rPr>
            </a:b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8000"/>
                </a:solidFill>
                <a:effectLst/>
                <a:latin typeface="Arial" panose="020B0604020202020204" pitchFamily="34" charset="0"/>
                <a:cs typeface="Arial" panose="020B0604020202020204" pitchFamily="34" charset="0"/>
              </a:rPr>
              <a:t>// Other code here....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DDEAE1B5-62B3-4124-B072-B0CEB40D81AA}"/>
              </a:ext>
            </a:extLst>
          </p:cNvPr>
          <p:cNvSpPr txBox="1"/>
          <p:nvPr/>
        </p:nvSpPr>
        <p:spPr>
          <a:xfrm>
            <a:off x="319548" y="5732828"/>
            <a:ext cx="11552904" cy="646331"/>
          </a:xfrm>
          <a:prstGeom prst="rect">
            <a:avLst/>
          </a:prstGeom>
          <a:noFill/>
        </p:spPr>
        <p:txBody>
          <a:bodyPr wrap="square">
            <a:spAutoFit/>
          </a:bodyPr>
          <a:lstStyle/>
          <a:p>
            <a:r>
              <a:rPr lang="en-US" b="0" i="0" dirty="0">
                <a:solidFill>
                  <a:srgbClr val="333333"/>
                </a:solidFill>
                <a:effectLst/>
                <a:latin typeface="arial" panose="020B0604020202020204" pitchFamily="34" charset="0"/>
              </a:rPr>
              <a:t>At the moment </a:t>
            </a:r>
            <a:r>
              <a:rPr lang="en-US" b="0" i="1" dirty="0">
                <a:solidFill>
                  <a:srgbClr val="0000FF"/>
                </a:solidFill>
                <a:effectLst/>
                <a:latin typeface="arial" panose="020B0604020202020204" pitchFamily="34" charset="0"/>
              </a:rPr>
              <a:t>Create Employee Form</a:t>
            </a:r>
            <a:r>
              <a:rPr lang="en-US" b="0" i="0" dirty="0">
                <a:solidFill>
                  <a:srgbClr val="333333"/>
                </a:solidFill>
                <a:effectLst/>
                <a:latin typeface="arial" panose="020B0604020202020204" pitchFamily="34" charset="0"/>
              </a:rPr>
              <a:t> does not have any validation in place. If we submit the form without filling any of the form fields, we will end up creating a new employee whose </a:t>
            </a:r>
            <a:r>
              <a:rPr lang="en-US" b="0" i="1" dirty="0">
                <a:solidFill>
                  <a:srgbClr val="0000FF"/>
                </a:solidFill>
                <a:effectLst/>
                <a:latin typeface="arial" panose="020B0604020202020204" pitchFamily="34" charset="0"/>
              </a:rPr>
              <a:t>name </a:t>
            </a:r>
            <a:r>
              <a:rPr lang="en-US" b="0" i="0" dirty="0">
                <a:solidFill>
                  <a:srgbClr val="333333"/>
                </a:solidFill>
                <a:effectLst/>
                <a:latin typeface="arial" panose="020B0604020202020204" pitchFamily="34" charset="0"/>
              </a:rPr>
              <a:t>and </a:t>
            </a:r>
            <a:r>
              <a:rPr lang="en-US" b="0" i="1" dirty="0">
                <a:solidFill>
                  <a:srgbClr val="0000FF"/>
                </a:solidFill>
                <a:effectLst/>
                <a:latin typeface="arial" panose="020B0604020202020204" pitchFamily="34" charset="0"/>
              </a:rPr>
              <a:t>email </a:t>
            </a:r>
            <a:r>
              <a:rPr lang="en-US" b="0" i="0" dirty="0">
                <a:solidFill>
                  <a:srgbClr val="333333"/>
                </a:solidFill>
                <a:effectLst/>
                <a:latin typeface="arial" panose="020B0604020202020204" pitchFamily="34" charset="0"/>
              </a:rPr>
              <a:t>fields are null</a:t>
            </a:r>
            <a:endParaRPr lang="en-IN" dirty="0"/>
          </a:p>
        </p:txBody>
      </p:sp>
    </p:spTree>
    <p:extLst>
      <p:ext uri="{BB962C8B-B14F-4D97-AF65-F5344CB8AC3E}">
        <p14:creationId xmlns:p14="http://schemas.microsoft.com/office/powerpoint/2010/main" val="1383264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92727" y="230909"/>
            <a:ext cx="8986982" cy="369332"/>
          </a:xfrm>
          <a:prstGeom prst="rect">
            <a:avLst/>
          </a:prstGeom>
          <a:noFill/>
        </p:spPr>
        <p:txBody>
          <a:bodyPr wrap="square" rtlCol="0">
            <a:spAutoFit/>
          </a:bodyPr>
          <a:lstStyle/>
          <a:p>
            <a:r>
              <a:rPr lang="en-IN" dirty="0"/>
              <a:t>Generally we don’t use </a:t>
            </a:r>
            <a:r>
              <a:rPr lang="en-IN" dirty="0" err="1"/>
              <a:t>IFormCollection</a:t>
            </a:r>
            <a:endParaRPr lang="en-IN" dirty="0"/>
          </a:p>
        </p:txBody>
      </p:sp>
      <p:sp>
        <p:nvSpPr>
          <p:cNvPr id="5" name="Rectangle 4"/>
          <p:cNvSpPr/>
          <p:nvPr/>
        </p:nvSpPr>
        <p:spPr>
          <a:xfrm>
            <a:off x="1071416" y="727907"/>
            <a:ext cx="9504219" cy="6001643"/>
          </a:xfrm>
          <a:prstGeom prst="rect">
            <a:avLst/>
          </a:prstGeom>
        </p:spPr>
        <p:txBody>
          <a:bodyPr wrap="square">
            <a:spAutoFit/>
          </a:bodyPr>
          <a:lstStyle/>
          <a:p>
            <a:r>
              <a:rPr lang="en-IN" sz="1600" dirty="0">
                <a:solidFill>
                  <a:srgbClr val="008000"/>
                </a:solidFill>
                <a:latin typeface="Cascadia Mono" panose="020B0609020000020004" pitchFamily="49" charset="0"/>
              </a:rPr>
              <a:t>// GET: </a:t>
            </a:r>
            <a:r>
              <a:rPr lang="en-IN" sz="1600" dirty="0" err="1">
                <a:solidFill>
                  <a:srgbClr val="008000"/>
                </a:solidFill>
                <a:latin typeface="Cascadia Mono" panose="020B0609020000020004" pitchFamily="49" charset="0"/>
              </a:rPr>
              <a:t>EmployeeController</a:t>
            </a:r>
            <a:r>
              <a:rPr lang="en-IN" sz="1600" dirty="0">
                <a:solidFill>
                  <a:srgbClr val="008000"/>
                </a:solidFill>
                <a:latin typeface="Cascadia Mono" panose="020B0609020000020004" pitchFamily="49" charset="0"/>
              </a:rPr>
              <a:t>/Create</a:t>
            </a:r>
            <a:endParaRPr lang="en-IN" sz="1600" dirty="0">
              <a:solidFill>
                <a:srgbClr val="000000"/>
              </a:solidFill>
              <a:latin typeface="Cascadia Mono" panose="020B0609020000020004" pitchFamily="49" charset="0"/>
            </a:endParaRPr>
          </a:p>
          <a:p>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public</a:t>
            </a:r>
            <a:r>
              <a:rPr lang="en-IN" sz="1600" dirty="0">
                <a:solidFill>
                  <a:srgbClr val="000000"/>
                </a:solidFill>
                <a:latin typeface="Cascadia Mono" panose="020B0609020000020004" pitchFamily="49" charset="0"/>
              </a:rPr>
              <a:t> </a:t>
            </a:r>
            <a:r>
              <a:rPr lang="en-IN" sz="1600" dirty="0" err="1">
                <a:solidFill>
                  <a:srgbClr val="000000"/>
                </a:solidFill>
                <a:latin typeface="Cascadia Mono" panose="020B0609020000020004" pitchFamily="49" charset="0"/>
              </a:rPr>
              <a:t>ActionResult</a:t>
            </a:r>
            <a:r>
              <a:rPr lang="en-IN" sz="1600" dirty="0">
                <a:solidFill>
                  <a:srgbClr val="000000"/>
                </a:solidFill>
                <a:latin typeface="Cascadia Mono" panose="020B0609020000020004" pitchFamily="49" charset="0"/>
              </a:rPr>
              <a:t> Create()</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r>
              <a:rPr lang="en-IN" sz="1600" dirty="0" err="1">
                <a:solidFill>
                  <a:srgbClr val="000000"/>
                </a:solidFill>
                <a:latin typeface="Cascadia Mono" panose="020B0609020000020004" pitchFamily="49" charset="0"/>
              </a:rPr>
              <a:t>ViewBag.deptnm</a:t>
            </a:r>
            <a:r>
              <a:rPr lang="en-IN" sz="1600" dirty="0">
                <a:solidFill>
                  <a:srgbClr val="000000"/>
                </a:solidFill>
                <a:latin typeface="Cascadia Mono" panose="020B0609020000020004" pitchFamily="49" charset="0"/>
              </a:rPr>
              <a:t> = </a:t>
            </a:r>
            <a:r>
              <a:rPr lang="en-IN" sz="1600" dirty="0" err="1">
                <a:solidFill>
                  <a:srgbClr val="000000"/>
                </a:solidFill>
                <a:latin typeface="Cascadia Mono" panose="020B0609020000020004" pitchFamily="49" charset="0"/>
              </a:rPr>
              <a:t>deparr</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return</a:t>
            </a:r>
            <a:r>
              <a:rPr lang="en-IN" sz="1600" dirty="0">
                <a:solidFill>
                  <a:srgbClr val="000000"/>
                </a:solidFill>
                <a:latin typeface="Cascadia Mono" panose="020B0609020000020004" pitchFamily="49" charset="0"/>
              </a:rPr>
              <a:t> View();</a:t>
            </a:r>
          </a:p>
          <a:p>
            <a:r>
              <a:rPr lang="en-IN" sz="1600" dirty="0">
                <a:solidFill>
                  <a:srgbClr val="000000"/>
                </a:solidFill>
                <a:latin typeface="Cascadia Mono" panose="020B0609020000020004" pitchFamily="49" charset="0"/>
              </a:rPr>
              <a:t>        }</a:t>
            </a:r>
          </a:p>
          <a:p>
            <a:endParaRPr lang="en-IN" sz="1600" dirty="0">
              <a:solidFill>
                <a:srgbClr val="000000"/>
              </a:solidFill>
              <a:latin typeface="Cascadia Mono" panose="020B0609020000020004" pitchFamily="49" charset="0"/>
            </a:endParaRPr>
          </a:p>
          <a:p>
            <a:r>
              <a:rPr lang="en-IN" sz="1600" dirty="0">
                <a:solidFill>
                  <a:srgbClr val="000000"/>
                </a:solidFill>
                <a:latin typeface="Cascadia Mono" panose="020B0609020000020004" pitchFamily="49" charset="0"/>
              </a:rPr>
              <a:t>        </a:t>
            </a:r>
            <a:r>
              <a:rPr lang="en-IN" sz="1600" dirty="0">
                <a:solidFill>
                  <a:srgbClr val="008000"/>
                </a:solidFill>
                <a:latin typeface="Cascadia Mono" panose="020B0609020000020004" pitchFamily="49" charset="0"/>
              </a:rPr>
              <a:t>// POST: </a:t>
            </a:r>
            <a:r>
              <a:rPr lang="en-IN" sz="1600" dirty="0" err="1">
                <a:solidFill>
                  <a:srgbClr val="008000"/>
                </a:solidFill>
                <a:latin typeface="Cascadia Mono" panose="020B0609020000020004" pitchFamily="49" charset="0"/>
              </a:rPr>
              <a:t>EmployeeController</a:t>
            </a:r>
            <a:r>
              <a:rPr lang="en-IN" sz="1600" dirty="0">
                <a:solidFill>
                  <a:srgbClr val="008000"/>
                </a:solidFill>
                <a:latin typeface="Cascadia Mono" panose="020B0609020000020004" pitchFamily="49" charset="0"/>
              </a:rPr>
              <a:t>/Create</a:t>
            </a:r>
            <a:endParaRPr lang="en-IN" sz="1600" dirty="0">
              <a:solidFill>
                <a:srgbClr val="000000"/>
              </a:solidFill>
              <a:latin typeface="Cascadia Mono" panose="020B0609020000020004" pitchFamily="49" charset="0"/>
            </a:endParaRPr>
          </a:p>
          <a:p>
            <a:r>
              <a:rPr lang="en-IN" sz="1600" dirty="0">
                <a:solidFill>
                  <a:srgbClr val="000000"/>
                </a:solidFill>
                <a:latin typeface="Cascadia Mono" panose="020B0609020000020004" pitchFamily="49" charset="0"/>
              </a:rPr>
              <a:t>        [</a:t>
            </a:r>
            <a:r>
              <a:rPr lang="en-IN" sz="1600" dirty="0" err="1">
                <a:solidFill>
                  <a:srgbClr val="000000"/>
                </a:solidFill>
                <a:latin typeface="Cascadia Mono" panose="020B0609020000020004" pitchFamily="49" charset="0"/>
              </a:rPr>
              <a:t>HttpPost</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r>
              <a:rPr lang="en-IN" sz="1600" dirty="0" err="1">
                <a:solidFill>
                  <a:srgbClr val="000000"/>
                </a:solidFill>
                <a:latin typeface="Cascadia Mono" panose="020B0609020000020004" pitchFamily="49" charset="0"/>
              </a:rPr>
              <a:t>ValidateAntiForgeryToken</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public</a:t>
            </a:r>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string</a:t>
            </a:r>
            <a:r>
              <a:rPr lang="en-IN" sz="1600" dirty="0">
                <a:solidFill>
                  <a:srgbClr val="000000"/>
                </a:solidFill>
                <a:latin typeface="Cascadia Mono" panose="020B0609020000020004" pitchFamily="49" charset="0"/>
              </a:rPr>
              <a:t> Create(</a:t>
            </a:r>
            <a:r>
              <a:rPr lang="en-IN" sz="1600" dirty="0" err="1">
                <a:solidFill>
                  <a:srgbClr val="000000"/>
                </a:solidFill>
                <a:latin typeface="Cascadia Mono" panose="020B0609020000020004" pitchFamily="49" charset="0"/>
              </a:rPr>
              <a:t>IFormCollection</a:t>
            </a:r>
            <a:r>
              <a:rPr lang="en-IN" sz="1600" dirty="0">
                <a:solidFill>
                  <a:srgbClr val="000000"/>
                </a:solidFill>
                <a:latin typeface="Cascadia Mono" panose="020B0609020000020004" pitchFamily="49" charset="0"/>
              </a:rPr>
              <a:t> collection)</a:t>
            </a:r>
          </a:p>
          <a:p>
            <a:r>
              <a:rPr lang="en-IN" sz="1600" dirty="0">
                <a:solidFill>
                  <a:srgbClr val="000000"/>
                </a:solidFill>
                <a:latin typeface="Cascadia Mono" panose="020B0609020000020004" pitchFamily="49" charset="0"/>
              </a:rPr>
              <a:t>        { </a:t>
            </a:r>
            <a:r>
              <a:rPr lang="en-IN" sz="1600" dirty="0">
                <a:solidFill>
                  <a:srgbClr val="0000FF"/>
                </a:solidFill>
                <a:latin typeface="Cascadia Mono" panose="020B0609020000020004" pitchFamily="49" charset="0"/>
              </a:rPr>
              <a:t>string</a:t>
            </a:r>
            <a:r>
              <a:rPr lang="en-IN" sz="1600" dirty="0">
                <a:solidFill>
                  <a:srgbClr val="000000"/>
                </a:solidFill>
                <a:latin typeface="Cascadia Mono" panose="020B0609020000020004" pitchFamily="49" charset="0"/>
              </a:rPr>
              <a:t> </a:t>
            </a:r>
            <a:r>
              <a:rPr lang="en-IN" sz="1600" dirty="0" err="1">
                <a:solidFill>
                  <a:srgbClr val="000000"/>
                </a:solidFill>
                <a:latin typeface="Cascadia Mono" panose="020B0609020000020004" pitchFamily="49" charset="0"/>
              </a:rPr>
              <a:t>frm</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try</a:t>
            </a:r>
            <a:endParaRPr lang="en-IN" sz="1600" dirty="0">
              <a:solidFill>
                <a:srgbClr val="000000"/>
              </a:solidFill>
              <a:latin typeface="Cascadia Mono" panose="020B0609020000020004" pitchFamily="49" charset="0"/>
            </a:endParaRPr>
          </a:p>
          <a:p>
            <a:r>
              <a:rPr lang="en-IN"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8000"/>
                </a:solidFill>
                <a:latin typeface="Cascadia Mono" panose="020B0609020000020004" pitchFamily="49" charset="0"/>
              </a:rPr>
              <a:t>//  </a:t>
            </a:r>
            <a:r>
              <a:rPr lang="en-US" sz="1600" dirty="0" err="1">
                <a:solidFill>
                  <a:srgbClr val="008000"/>
                </a:solidFill>
                <a:latin typeface="Cascadia Mono" panose="020B0609020000020004" pitchFamily="49" charset="0"/>
              </a:rPr>
              <a:t>frm</a:t>
            </a:r>
            <a:r>
              <a:rPr lang="en-US" sz="1600" dirty="0">
                <a:solidFill>
                  <a:srgbClr val="008000"/>
                </a:solidFill>
                <a:latin typeface="Cascadia Mono" panose="020B0609020000020004" pitchFamily="49" charset="0"/>
              </a:rPr>
              <a:t> = collection["Id"].</a:t>
            </a:r>
            <a:r>
              <a:rPr lang="en-US" sz="1600" dirty="0" err="1">
                <a:solidFill>
                  <a:srgbClr val="008000"/>
                </a:solidFill>
                <a:latin typeface="Cascadia Mono" panose="020B0609020000020004" pitchFamily="49" charset="0"/>
              </a:rPr>
              <a:t>ToString</a:t>
            </a:r>
            <a:r>
              <a:rPr lang="en-US" sz="1600" dirty="0">
                <a:solidFill>
                  <a:srgbClr val="008000"/>
                </a:solidFill>
                <a:latin typeface="Cascadia Mono" panose="020B0609020000020004" pitchFamily="49" charset="0"/>
              </a:rPr>
              <a:t>() + " " + collection["Name"] + " " + collection["Email"] +" "+ collection["</a:t>
            </a:r>
            <a:r>
              <a:rPr lang="en-US" sz="1600" dirty="0" err="1">
                <a:solidFill>
                  <a:srgbClr val="008000"/>
                </a:solidFill>
                <a:latin typeface="Cascadia Mono" panose="020B0609020000020004" pitchFamily="49" charset="0"/>
              </a:rPr>
              <a:t>Department.Name</a:t>
            </a:r>
            <a:r>
              <a:rPr lang="en-US" sz="1600" dirty="0">
                <a:solidFill>
                  <a:srgbClr val="008000"/>
                </a:solidFill>
                <a:latin typeface="Cascadia Mono" panose="020B0609020000020004" pitchFamily="49" charset="0"/>
              </a:rPr>
              <a:t>"];</a:t>
            </a:r>
            <a:endParaRPr lang="en-US" sz="1600" dirty="0">
              <a:solidFill>
                <a:srgbClr val="000000"/>
              </a:solidFill>
              <a:latin typeface="Cascadia Mono" panose="020B0609020000020004" pitchFamily="49" charset="0"/>
            </a:endParaRPr>
          </a:p>
          <a:p>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return</a:t>
            </a:r>
            <a:r>
              <a:rPr lang="en-IN" sz="1600" dirty="0">
                <a:solidFill>
                  <a:srgbClr val="000000"/>
                </a:solidFill>
                <a:latin typeface="Cascadia Mono" panose="020B0609020000020004" pitchFamily="49" charset="0"/>
              </a:rPr>
              <a:t> </a:t>
            </a:r>
            <a:r>
              <a:rPr lang="en-IN" sz="1600" dirty="0" err="1">
                <a:solidFill>
                  <a:srgbClr val="000000"/>
                </a:solidFill>
                <a:latin typeface="Cascadia Mono" panose="020B0609020000020004" pitchFamily="49" charset="0"/>
              </a:rPr>
              <a:t>collection.ToString</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catch</a:t>
            </a:r>
            <a:endParaRPr lang="en-IN" sz="1600" dirty="0">
              <a:solidFill>
                <a:srgbClr val="000000"/>
              </a:solidFill>
              <a:latin typeface="Cascadia Mono" panose="020B0609020000020004" pitchFamily="49" charset="0"/>
            </a:endParaRP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return</a:t>
            </a:r>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null</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p>
        </p:txBody>
      </p:sp>
    </p:spTree>
    <p:extLst>
      <p:ext uri="{BB962C8B-B14F-4D97-AF65-F5344CB8AC3E}">
        <p14:creationId xmlns:p14="http://schemas.microsoft.com/office/powerpoint/2010/main" val="1632152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TotalTime>
  <Words>1337</Words>
  <Application>Microsoft Office PowerPoint</Application>
  <PresentationFormat>Widescreen</PresentationFormat>
  <Paragraphs>150</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Arial</vt:lpstr>
      <vt:lpstr>Calibri</vt:lpstr>
      <vt:lpstr>Calibri Light</vt:lpstr>
      <vt:lpstr>Cascadia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vidyanidhi school</cp:lastModifiedBy>
  <cp:revision>17</cp:revision>
  <dcterms:created xsi:type="dcterms:W3CDTF">2021-10-02T04:17:38Z</dcterms:created>
  <dcterms:modified xsi:type="dcterms:W3CDTF">2023-09-30T07:04:30Z</dcterms:modified>
</cp:coreProperties>
</file>