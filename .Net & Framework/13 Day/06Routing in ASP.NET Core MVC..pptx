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5"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647ED-DC35-4049-8EA6-A95E25905D82}" type="datetimeFigureOut">
              <a:rPr lang="en-IN" smtClean="0"/>
              <a:t>21-04-2025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B316A8-BC58-4736-9982-87D66A65D374}" type="slidenum">
              <a:rPr lang="en-IN" smtClean="0"/>
              <a:t>‹#›</a:t>
            </a:fld>
            <a:endParaRPr lang="en-IN"/>
          </a:p>
        </p:txBody>
      </p:sp>
    </p:spTree>
    <p:extLst>
      <p:ext uri="{BB962C8B-B14F-4D97-AF65-F5344CB8AC3E}">
        <p14:creationId xmlns:p14="http://schemas.microsoft.com/office/powerpoint/2010/main" val="4196432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B316A8-BC58-4736-9982-87D66A65D374}" type="slidenum">
              <a:rPr lang="en-IN" smtClean="0"/>
              <a:t>10</a:t>
            </a:fld>
            <a:endParaRPr lang="en-IN"/>
          </a:p>
        </p:txBody>
      </p:sp>
    </p:spTree>
    <p:extLst>
      <p:ext uri="{BB962C8B-B14F-4D97-AF65-F5344CB8AC3E}">
        <p14:creationId xmlns:p14="http://schemas.microsoft.com/office/powerpoint/2010/main" val="3321593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C61D9-6F0E-458C-94FD-07AEBBEE42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9DD1CD-87F5-4BC6-9DB2-97DF6D312E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F7156B-ACA0-4542-B588-53261A03F89A}"/>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5" name="Footer Placeholder 4">
            <a:extLst>
              <a:ext uri="{FF2B5EF4-FFF2-40B4-BE49-F238E27FC236}">
                <a16:creationId xmlns:a16="http://schemas.microsoft.com/office/drawing/2014/main" id="{40A8B4F7-759A-41A4-9ECC-862F369EB2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38E3D2-273B-4164-A2B5-3EC087D5F4F8}"/>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2332146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F6004-59EC-4A64-A91D-BC07ADBEA8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59EB7E-A01B-420A-AFE4-10F1B69B63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D95FE4-854B-4177-A8B3-ED45B499E44E}"/>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5" name="Footer Placeholder 4">
            <a:extLst>
              <a:ext uri="{FF2B5EF4-FFF2-40B4-BE49-F238E27FC236}">
                <a16:creationId xmlns:a16="http://schemas.microsoft.com/office/drawing/2014/main" id="{257CD493-2E6B-4B2C-9F87-FC135878D7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409599-A851-465B-B485-ABA69455CB66}"/>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1180229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0C2B-1E2A-4675-8B14-99A799FDA2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5E7FB5-916C-4038-B667-5100D08067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045572-8E81-4C53-9715-F8A7EE0B28E4}"/>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5" name="Footer Placeholder 4">
            <a:extLst>
              <a:ext uri="{FF2B5EF4-FFF2-40B4-BE49-F238E27FC236}">
                <a16:creationId xmlns:a16="http://schemas.microsoft.com/office/drawing/2014/main" id="{6CC73C29-D755-4E91-B734-FD7418524F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80EE77-06AC-4A1B-9932-3AFB386426AC}"/>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1869360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92E79-A624-4BC9-A667-E49F8D85FA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DF59D4-C745-4387-B1BB-1B6BC4C5F6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8041B5-1401-4C48-8FEF-726B297DF1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6CCDE3-CED7-4A1C-BEB3-866DD2D71285}"/>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6" name="Footer Placeholder 5">
            <a:extLst>
              <a:ext uri="{FF2B5EF4-FFF2-40B4-BE49-F238E27FC236}">
                <a16:creationId xmlns:a16="http://schemas.microsoft.com/office/drawing/2014/main" id="{E9E12169-475A-4EF3-8753-C9B7BEBB55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C0A295-1FAB-45FB-B744-09A96B1561B1}"/>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2361262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A83EF-4196-42B8-BCEC-265286B9F45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29C811-74E4-4199-94E6-BB50090206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554467-B5EA-466C-853A-30C44822A6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F8B11A4-4794-4BD5-AC64-6F06803CF3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9C9C18-04E4-4B32-BD71-CD660E2D31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D012D4-CD07-480B-8F08-AF2A4E1B191C}"/>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8" name="Footer Placeholder 7">
            <a:extLst>
              <a:ext uri="{FF2B5EF4-FFF2-40B4-BE49-F238E27FC236}">
                <a16:creationId xmlns:a16="http://schemas.microsoft.com/office/drawing/2014/main" id="{B006F250-8528-437A-8D80-92E35A7EB8D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B0F7DD-8743-4CAC-8C7D-0EA545D24C71}"/>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3893711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C46C-6DD5-445F-BADB-9BC2268827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9D4C6E-A356-4921-B0D7-518AB4452166}"/>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4" name="Footer Placeholder 3">
            <a:extLst>
              <a:ext uri="{FF2B5EF4-FFF2-40B4-BE49-F238E27FC236}">
                <a16:creationId xmlns:a16="http://schemas.microsoft.com/office/drawing/2014/main" id="{8E63C090-D16F-4E02-A0CD-255053ADC7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4683BB-6232-4270-A323-24FBA8415957}"/>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4293959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6862C9-12EE-4E1B-A2A7-CBF7757EE544}"/>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3" name="Footer Placeholder 2">
            <a:extLst>
              <a:ext uri="{FF2B5EF4-FFF2-40B4-BE49-F238E27FC236}">
                <a16:creationId xmlns:a16="http://schemas.microsoft.com/office/drawing/2014/main" id="{64B2D082-D3E8-4EB6-B26E-A1C9FAE89E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0BF0135-0783-404D-B7C4-250878F438E0}"/>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2506648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655DF-5802-4120-BB57-288A904605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14270F-34FC-4C32-97B2-CF6250B80D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F77947-BF31-4ED1-9DE9-8A3CAFCC9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F0703C-3F8C-49BB-B0FC-96BD434F772B}"/>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6" name="Footer Placeholder 5">
            <a:extLst>
              <a:ext uri="{FF2B5EF4-FFF2-40B4-BE49-F238E27FC236}">
                <a16:creationId xmlns:a16="http://schemas.microsoft.com/office/drawing/2014/main" id="{E1085699-4026-4828-BA87-0F828A6999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81BC84-E59B-4EA0-8E12-82C2273F3282}"/>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422553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3FFB2-DD06-438C-9627-57258BF32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CCDB0D-297E-4A2B-B137-D6F1BC0678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ABD11D5-4704-4D6B-944F-ABFC0236A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A4C607-1F0C-4D25-B768-115CF121446B}"/>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6" name="Footer Placeholder 5">
            <a:extLst>
              <a:ext uri="{FF2B5EF4-FFF2-40B4-BE49-F238E27FC236}">
                <a16:creationId xmlns:a16="http://schemas.microsoft.com/office/drawing/2014/main" id="{E7901649-F4D3-4525-AED4-5D519E2897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124A0F-7C86-421C-991C-1B1B8D6CB00D}"/>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1310153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5F279-8FFE-4F75-BA51-52169FAD11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709E39-F252-4276-8799-E8D85EE140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0CD6E4-26FA-4384-B2C1-F2C8AF6766FC}"/>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5" name="Footer Placeholder 4">
            <a:extLst>
              <a:ext uri="{FF2B5EF4-FFF2-40B4-BE49-F238E27FC236}">
                <a16:creationId xmlns:a16="http://schemas.microsoft.com/office/drawing/2014/main" id="{357A9EB7-5367-4632-B462-17409B76F6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79B170-DA3C-4ACB-8905-D9D939A0BABF}"/>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1420462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18B321-4374-4F39-8359-20A8E9E396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5A802C-3657-4CC4-8E0F-BE80E84403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274618-7AE1-41C1-B423-387AA6450CCA}"/>
              </a:ext>
            </a:extLst>
          </p:cNvPr>
          <p:cNvSpPr>
            <a:spLocks noGrp="1"/>
          </p:cNvSpPr>
          <p:nvPr>
            <p:ph type="dt" sz="half" idx="10"/>
          </p:nvPr>
        </p:nvSpPr>
        <p:spPr/>
        <p:txBody>
          <a:bodyPr/>
          <a:lstStyle/>
          <a:p>
            <a:fld id="{92244EF5-02CB-4856-BFC7-C739127447FF}" type="datetimeFigureOut">
              <a:rPr lang="en-IN" smtClean="0"/>
              <a:t>21-04-2025</a:t>
            </a:fld>
            <a:endParaRPr lang="en-IN"/>
          </a:p>
        </p:txBody>
      </p:sp>
      <p:sp>
        <p:nvSpPr>
          <p:cNvPr id="5" name="Footer Placeholder 4">
            <a:extLst>
              <a:ext uri="{FF2B5EF4-FFF2-40B4-BE49-F238E27FC236}">
                <a16:creationId xmlns:a16="http://schemas.microsoft.com/office/drawing/2014/main" id="{DF4D986D-610A-4A09-96F3-4770B4E537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F0D1BC-D476-46DA-BA47-ECE8E882DA5E}"/>
              </a:ext>
            </a:extLst>
          </p:cNvPr>
          <p:cNvSpPr>
            <a:spLocks noGrp="1"/>
          </p:cNvSpPr>
          <p:nvPr>
            <p:ph type="sldNum" sz="quarter" idx="12"/>
          </p:nvPr>
        </p:nvSpPr>
        <p:spPr/>
        <p:txBody>
          <a:bodyPr/>
          <a:lstStyle/>
          <a:p>
            <a:fld id="{4B105E8F-1F2B-466D-9CBB-1FF9300652DF}" type="slidenum">
              <a:rPr lang="en-IN" smtClean="0"/>
              <a:t>‹#›</a:t>
            </a:fld>
            <a:endParaRPr lang="en-IN"/>
          </a:p>
        </p:txBody>
      </p:sp>
    </p:spTree>
    <p:extLst>
      <p:ext uri="{BB962C8B-B14F-4D97-AF65-F5344CB8AC3E}">
        <p14:creationId xmlns:p14="http://schemas.microsoft.com/office/powerpoint/2010/main" val="1331987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F050B2-EBED-40E3-B75F-49ADAB7EE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2EA4DE-AD9F-4EAB-BAB7-87383370F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05C414-F82D-4E2E-B5AB-3CB107B2A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244EF5-02CB-4856-BFC7-C739127447FF}" type="datetimeFigureOut">
              <a:rPr lang="en-IN" smtClean="0"/>
              <a:t>21-04-2025</a:t>
            </a:fld>
            <a:endParaRPr lang="en-IN"/>
          </a:p>
        </p:txBody>
      </p:sp>
      <p:sp>
        <p:nvSpPr>
          <p:cNvPr id="5" name="Footer Placeholder 4">
            <a:extLst>
              <a:ext uri="{FF2B5EF4-FFF2-40B4-BE49-F238E27FC236}">
                <a16:creationId xmlns:a16="http://schemas.microsoft.com/office/drawing/2014/main" id="{6A5CA822-EBE3-4B4D-9D62-F91D6FD98F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3A480D6-9571-4BB0-90DC-EA01D1B10A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105E8F-1F2B-466D-9CBB-1FF9300652DF}" type="slidenum">
              <a:rPr lang="en-IN" smtClean="0"/>
              <a:t>‹#›</a:t>
            </a:fld>
            <a:endParaRPr lang="en-IN"/>
          </a:p>
        </p:txBody>
      </p:sp>
    </p:spTree>
    <p:extLst>
      <p:ext uri="{BB962C8B-B14F-4D97-AF65-F5344CB8AC3E}">
        <p14:creationId xmlns:p14="http://schemas.microsoft.com/office/powerpoint/2010/main" val="558583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34834-4E77-4D09-A389-43DE79ABBAE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B432DA8-A701-4EF6-963F-6DDCAAA0BB5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50051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FA4670-38F2-455F-B50E-3C832FBC1755}"/>
              </a:ext>
            </a:extLst>
          </p:cNvPr>
          <p:cNvSpPr txBox="1"/>
          <p:nvPr/>
        </p:nvSpPr>
        <p:spPr>
          <a:xfrm>
            <a:off x="3460955" y="49473"/>
            <a:ext cx="6096000" cy="369332"/>
          </a:xfrm>
          <a:prstGeom prst="rect">
            <a:avLst/>
          </a:prstGeom>
          <a:noFill/>
        </p:spPr>
        <p:txBody>
          <a:bodyPr wrap="square">
            <a:spAutoFit/>
          </a:bodyPr>
          <a:lstStyle/>
          <a:p>
            <a:r>
              <a:rPr lang="en-US" b="1" i="0" dirty="0">
                <a:solidFill>
                  <a:srgbClr val="333333"/>
                </a:solidFill>
                <a:effectLst/>
                <a:latin typeface="arial" panose="020B0604020202020204" pitchFamily="34" charset="0"/>
              </a:rPr>
              <a:t>Routing in ASP.NET Core MVC. </a:t>
            </a:r>
            <a:endParaRPr lang="en-IN" dirty="0"/>
          </a:p>
        </p:txBody>
      </p:sp>
      <p:sp>
        <p:nvSpPr>
          <p:cNvPr id="7" name="TextBox 6">
            <a:extLst>
              <a:ext uri="{FF2B5EF4-FFF2-40B4-BE49-F238E27FC236}">
                <a16:creationId xmlns:a16="http://schemas.microsoft.com/office/drawing/2014/main" id="{A01DD66D-B43F-4675-9F04-4180F25FDB8A}"/>
              </a:ext>
            </a:extLst>
          </p:cNvPr>
          <p:cNvSpPr txBox="1"/>
          <p:nvPr/>
        </p:nvSpPr>
        <p:spPr>
          <a:xfrm>
            <a:off x="137651" y="365214"/>
            <a:ext cx="11159613" cy="369332"/>
          </a:xfrm>
          <a:prstGeom prst="rect">
            <a:avLst/>
          </a:prstGeom>
          <a:noFill/>
        </p:spPr>
        <p:txBody>
          <a:bodyPr wrap="square">
            <a:spAutoFit/>
          </a:bodyPr>
          <a:lstStyle/>
          <a:p>
            <a:r>
              <a:rPr lang="en-US" b="0" i="0" dirty="0">
                <a:solidFill>
                  <a:srgbClr val="333333"/>
                </a:solidFill>
                <a:effectLst/>
                <a:latin typeface="arial" panose="020B0604020202020204" pitchFamily="34" charset="0"/>
              </a:rPr>
              <a:t>There are 2 routing techniques in ASP.NET Core MVC. </a:t>
            </a:r>
            <a:r>
              <a:rPr lang="en-US" b="1" i="0" dirty="0">
                <a:solidFill>
                  <a:srgbClr val="333333"/>
                </a:solidFill>
                <a:effectLst/>
                <a:latin typeface="arial" panose="020B0604020202020204" pitchFamily="34" charset="0"/>
              </a:rPr>
              <a:t>Conventional Routing </a:t>
            </a:r>
            <a:r>
              <a:rPr lang="en-US" b="0" i="0" dirty="0">
                <a:solidFill>
                  <a:srgbClr val="333333"/>
                </a:solidFill>
                <a:effectLst/>
                <a:latin typeface="arial" panose="020B0604020202020204" pitchFamily="34" charset="0"/>
              </a:rPr>
              <a:t>and </a:t>
            </a:r>
            <a:r>
              <a:rPr lang="en-US" b="1" i="0" dirty="0">
                <a:solidFill>
                  <a:srgbClr val="333333"/>
                </a:solidFill>
                <a:effectLst/>
                <a:latin typeface="arial" panose="020B0604020202020204" pitchFamily="34" charset="0"/>
              </a:rPr>
              <a:t>Attribute Routing</a:t>
            </a:r>
            <a:endParaRPr lang="en-IN" dirty="0"/>
          </a:p>
        </p:txBody>
      </p:sp>
      <p:sp>
        <p:nvSpPr>
          <p:cNvPr id="9" name="TextBox 8">
            <a:extLst>
              <a:ext uri="{FF2B5EF4-FFF2-40B4-BE49-F238E27FC236}">
                <a16:creationId xmlns:a16="http://schemas.microsoft.com/office/drawing/2014/main" id="{D188C292-1CC6-4D37-8486-D7E640B67887}"/>
              </a:ext>
            </a:extLst>
          </p:cNvPr>
          <p:cNvSpPr txBox="1"/>
          <p:nvPr/>
        </p:nvSpPr>
        <p:spPr>
          <a:xfrm>
            <a:off x="137651" y="649368"/>
            <a:ext cx="11592233" cy="923330"/>
          </a:xfrm>
          <a:prstGeom prst="rect">
            <a:avLst/>
          </a:prstGeom>
          <a:noFill/>
        </p:spPr>
        <p:txBody>
          <a:bodyPr wrap="square">
            <a:spAutoFit/>
          </a:bodyPr>
          <a:lstStyle/>
          <a:p>
            <a:r>
              <a:rPr lang="en-US" b="0" i="0" dirty="0">
                <a:solidFill>
                  <a:srgbClr val="333333"/>
                </a:solidFill>
                <a:effectLst/>
                <a:latin typeface="arial" panose="020B0604020202020204" pitchFamily="34" charset="0"/>
              </a:rPr>
              <a:t>When a request from the browser arrives at our application, it is the controller in the MVC design pattern, that handles the incoming http request and responds to the user action. The incoming request URL is mapped to a controller action method. This mapping is done by the routing rules defined in our application.</a:t>
            </a:r>
            <a:endParaRPr lang="en-IN" dirty="0"/>
          </a:p>
        </p:txBody>
      </p:sp>
      <p:pic>
        <p:nvPicPr>
          <p:cNvPr id="1026" name="Picture 2" descr="routing in asp.net mvc">
            <a:extLst>
              <a:ext uri="{FF2B5EF4-FFF2-40B4-BE49-F238E27FC236}">
                <a16:creationId xmlns:a16="http://schemas.microsoft.com/office/drawing/2014/main" id="{00C2C7B9-3187-4A3F-8928-CC56BB04FA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74" y="2826228"/>
            <a:ext cx="5562600" cy="28860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20C8F17-F695-4AB9-8DA4-45FAF44AE258}"/>
              </a:ext>
            </a:extLst>
          </p:cNvPr>
          <p:cNvSpPr txBox="1"/>
          <p:nvPr/>
        </p:nvSpPr>
        <p:spPr>
          <a:xfrm>
            <a:off x="6096000" y="1572698"/>
            <a:ext cx="6012428" cy="1477328"/>
          </a:xfrm>
          <a:prstGeom prst="rect">
            <a:avLst/>
          </a:prstGeom>
          <a:noFill/>
        </p:spPr>
        <p:txBody>
          <a:bodyPr wrap="square">
            <a:spAutoFit/>
          </a:bodyPr>
          <a:lstStyle/>
          <a:p>
            <a:r>
              <a:rPr lang="en-US" b="0" i="0" dirty="0">
                <a:solidFill>
                  <a:srgbClr val="333333"/>
                </a:solidFill>
                <a:effectLst/>
                <a:latin typeface="arial" panose="020B0604020202020204" pitchFamily="34" charset="0"/>
              </a:rPr>
              <a:t>Similarly, when a request is issued to </a:t>
            </a:r>
            <a:r>
              <a:rPr lang="en-US" b="0" i="0" dirty="0">
                <a:solidFill>
                  <a:srgbClr val="0000FF"/>
                </a:solidFill>
                <a:effectLst/>
                <a:latin typeface="arial" panose="020B0604020202020204" pitchFamily="34" charset="0"/>
              </a:rPr>
              <a:t>/Home/Details/1</a:t>
            </a:r>
            <a:r>
              <a:rPr lang="en-US" b="0" i="0" dirty="0">
                <a:solidFill>
                  <a:srgbClr val="333333"/>
                </a:solidFill>
                <a:effectLst/>
                <a:latin typeface="arial" panose="020B0604020202020204" pitchFamily="34" charset="0"/>
              </a:rPr>
              <a:t>, this URL is mapped to the </a:t>
            </a:r>
            <a:r>
              <a:rPr lang="en-US" b="0" i="0" dirty="0">
                <a:solidFill>
                  <a:srgbClr val="0000FF"/>
                </a:solidFill>
                <a:effectLst/>
                <a:latin typeface="arial" panose="020B0604020202020204" pitchFamily="34" charset="0"/>
              </a:rPr>
              <a:t>Details()</a:t>
            </a:r>
            <a:r>
              <a:rPr lang="en-US" b="0" i="0" dirty="0">
                <a:solidFill>
                  <a:srgbClr val="333333"/>
                </a:solidFill>
                <a:effectLst/>
                <a:latin typeface="arial" panose="020B0604020202020204" pitchFamily="34" charset="0"/>
              </a:rPr>
              <a:t> action method in the </a:t>
            </a:r>
            <a:r>
              <a:rPr lang="en-US" b="0" i="0" dirty="0" err="1">
                <a:solidFill>
                  <a:srgbClr val="3D85C6"/>
                </a:solidFill>
                <a:effectLst/>
                <a:latin typeface="arial" panose="020B0604020202020204" pitchFamily="34" charset="0"/>
              </a:rPr>
              <a:t>HomeController</a:t>
            </a:r>
            <a:r>
              <a:rPr lang="en-US" b="0" i="0" dirty="0">
                <a:solidFill>
                  <a:srgbClr val="3D85C6"/>
                </a:solidFill>
                <a:effectLst/>
                <a:latin typeface="arial" panose="020B0604020202020204" pitchFamily="34" charset="0"/>
              </a:rPr>
              <a:t> </a:t>
            </a:r>
            <a:r>
              <a:rPr lang="en-US" b="0" i="0" dirty="0">
                <a:solidFill>
                  <a:srgbClr val="333333"/>
                </a:solidFill>
                <a:effectLst/>
                <a:latin typeface="arial" panose="020B0604020202020204" pitchFamily="34" charset="0"/>
              </a:rPr>
              <a:t>class. The value 1 in the URL is automatically mapped to the </a:t>
            </a:r>
            <a:r>
              <a:rPr lang="en-US" b="0" i="0" dirty="0">
                <a:solidFill>
                  <a:srgbClr val="CC0000"/>
                </a:solidFill>
                <a:effectLst/>
                <a:latin typeface="arial" panose="020B0604020202020204" pitchFamily="34" charset="0"/>
              </a:rPr>
              <a:t>"id"</a:t>
            </a:r>
            <a:r>
              <a:rPr lang="en-US" b="0" i="0" dirty="0">
                <a:solidFill>
                  <a:srgbClr val="333333"/>
                </a:solidFill>
                <a:effectLst/>
                <a:latin typeface="arial" panose="020B0604020202020204" pitchFamily="34" charset="0"/>
              </a:rPr>
              <a:t> parameter of the </a:t>
            </a:r>
            <a:r>
              <a:rPr lang="en-US" b="0" i="0" dirty="0">
                <a:solidFill>
                  <a:srgbClr val="0000FF"/>
                </a:solidFill>
                <a:effectLst/>
                <a:latin typeface="arial" panose="020B0604020202020204" pitchFamily="34" charset="0"/>
              </a:rPr>
              <a:t>Details(int id) </a:t>
            </a:r>
            <a:r>
              <a:rPr lang="en-US" b="0" i="0" dirty="0">
                <a:solidFill>
                  <a:srgbClr val="333333"/>
                </a:solidFill>
                <a:effectLst/>
                <a:latin typeface="arial" panose="020B0604020202020204" pitchFamily="34" charset="0"/>
              </a:rPr>
              <a:t>action method.</a:t>
            </a:r>
            <a:endParaRPr lang="en-IN" dirty="0"/>
          </a:p>
        </p:txBody>
      </p:sp>
      <p:sp>
        <p:nvSpPr>
          <p:cNvPr id="14" name="TextBox 13">
            <a:extLst>
              <a:ext uri="{FF2B5EF4-FFF2-40B4-BE49-F238E27FC236}">
                <a16:creationId xmlns:a16="http://schemas.microsoft.com/office/drawing/2014/main" id="{62E1E283-3BC5-46BA-B3D1-1D344A56D2B8}"/>
              </a:ext>
            </a:extLst>
          </p:cNvPr>
          <p:cNvSpPr txBox="1"/>
          <p:nvPr/>
        </p:nvSpPr>
        <p:spPr>
          <a:xfrm>
            <a:off x="137651" y="1551589"/>
            <a:ext cx="5454446" cy="1200329"/>
          </a:xfrm>
          <a:prstGeom prst="rect">
            <a:avLst/>
          </a:prstGeom>
          <a:noFill/>
        </p:spPr>
        <p:txBody>
          <a:bodyPr wrap="square">
            <a:spAutoFit/>
          </a:bodyPr>
          <a:lstStyle/>
          <a:p>
            <a:r>
              <a:rPr kumimoji="0" lang="en-US" sz="18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For example, when a request is issued to </a:t>
            </a:r>
            <a:r>
              <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/Home/Index</a:t>
            </a:r>
            <a:r>
              <a:rPr kumimoji="0" lang="en-US" sz="18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this URL is mapped to the </a:t>
            </a:r>
            <a:r>
              <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Index() </a:t>
            </a:r>
            <a:r>
              <a:rPr kumimoji="0" lang="en-US" sz="18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action method in the </a:t>
            </a:r>
            <a:r>
              <a:rPr kumimoji="0" lang="en-US" sz="1800" b="0" i="0" u="none" strike="noStrike" kern="1200" cap="none" spc="0" normalizeH="0" baseline="0" noProof="0" dirty="0" err="1">
                <a:ln>
                  <a:noFill/>
                </a:ln>
                <a:solidFill>
                  <a:srgbClr val="3D85C6"/>
                </a:solidFill>
                <a:effectLst/>
                <a:uLnTx/>
                <a:uFillTx/>
                <a:latin typeface="arial" panose="020B0604020202020204" pitchFamily="34" charset="0"/>
                <a:ea typeface="+mn-ea"/>
                <a:cs typeface="+mn-cs"/>
              </a:rPr>
              <a:t>HomeController</a:t>
            </a:r>
            <a:r>
              <a:rPr kumimoji="0" lang="en-US" sz="1800" b="0" i="0" u="none" strike="noStrike" kern="1200" cap="none" spc="0" normalizeH="0" baseline="0" noProof="0" dirty="0">
                <a:ln>
                  <a:noFill/>
                </a:ln>
                <a:solidFill>
                  <a:srgbClr val="3D85C6"/>
                </a:solidFill>
                <a:effectLst/>
                <a:uLnTx/>
                <a:uFillTx/>
                <a:latin typeface="arial" panose="020B0604020202020204" pitchFamily="34" charset="0"/>
                <a:ea typeface="+mn-ea"/>
                <a:cs typeface="+mn-cs"/>
              </a:rPr>
              <a:t> </a:t>
            </a:r>
            <a:r>
              <a:rPr kumimoji="0" lang="en-US" sz="18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class.</a:t>
            </a:r>
            <a:endParaRPr lang="en-IN" dirty="0"/>
          </a:p>
        </p:txBody>
      </p:sp>
      <p:pic>
        <p:nvPicPr>
          <p:cNvPr id="1028" name="Picture 4" descr="asp.net core conventional routing">
            <a:extLst>
              <a:ext uri="{FF2B5EF4-FFF2-40B4-BE49-F238E27FC236}">
                <a16:creationId xmlns:a16="http://schemas.microsoft.com/office/drawing/2014/main" id="{CEF8913F-2D6C-4083-BAF1-02A77E041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8234" y="3050026"/>
            <a:ext cx="5581650" cy="35814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1E244A33-FA11-4558-9D3F-E37A4ABEEF32}"/>
              </a:ext>
            </a:extLst>
          </p:cNvPr>
          <p:cNvSpPr txBox="1"/>
          <p:nvPr/>
        </p:nvSpPr>
        <p:spPr>
          <a:xfrm>
            <a:off x="52234" y="6031262"/>
            <a:ext cx="6096000" cy="600164"/>
          </a:xfrm>
          <a:prstGeom prst="rect">
            <a:avLst/>
          </a:prstGeom>
          <a:noFill/>
        </p:spPr>
        <p:txBody>
          <a:bodyPr wrap="square">
            <a:spAutoFit/>
          </a:bodyPr>
          <a:lstStyle/>
          <a:p>
            <a:r>
              <a:rPr lang="en-US" sz="1100" b="0" i="0" dirty="0">
                <a:solidFill>
                  <a:srgbClr val="333333"/>
                </a:solidFill>
                <a:effectLst/>
                <a:latin typeface="arial" panose="020B0604020202020204" pitchFamily="34" charset="0"/>
              </a:rPr>
              <a:t>At the moment, we have not explicitly defined any routing rules in our ASP.NET Core MVC application. So the question that comes to our mind is, how is this URL (</a:t>
            </a:r>
            <a:r>
              <a:rPr lang="en-US" sz="1100" b="0" i="0" dirty="0">
                <a:solidFill>
                  <a:srgbClr val="0000FF"/>
                </a:solidFill>
                <a:effectLst/>
                <a:latin typeface="arial" panose="020B0604020202020204" pitchFamily="34" charset="0"/>
              </a:rPr>
              <a:t>/Home/Index</a:t>
            </a:r>
            <a:r>
              <a:rPr lang="en-US" sz="1100" b="0" i="0" dirty="0">
                <a:solidFill>
                  <a:srgbClr val="333333"/>
                </a:solidFill>
                <a:effectLst/>
                <a:latin typeface="arial" panose="020B0604020202020204" pitchFamily="34" charset="0"/>
              </a:rPr>
              <a:t>) mapped to the </a:t>
            </a:r>
            <a:r>
              <a:rPr lang="en-US" sz="1100" b="0" i="0" dirty="0">
                <a:solidFill>
                  <a:srgbClr val="0000FF"/>
                </a:solidFill>
                <a:effectLst/>
                <a:latin typeface="arial" panose="020B0604020202020204" pitchFamily="34" charset="0"/>
              </a:rPr>
              <a:t>Index()</a:t>
            </a:r>
            <a:r>
              <a:rPr lang="en-US" sz="1100" b="0" i="0" dirty="0">
                <a:solidFill>
                  <a:srgbClr val="333333"/>
                </a:solidFill>
                <a:effectLst/>
                <a:latin typeface="arial" panose="020B0604020202020204" pitchFamily="34" charset="0"/>
              </a:rPr>
              <a:t> action method in the </a:t>
            </a:r>
            <a:r>
              <a:rPr lang="en-US" sz="1100" b="0" i="0" dirty="0" err="1">
                <a:solidFill>
                  <a:srgbClr val="3D85C6"/>
                </a:solidFill>
                <a:effectLst/>
                <a:latin typeface="arial" panose="020B0604020202020204" pitchFamily="34" charset="0"/>
              </a:rPr>
              <a:t>HomeController</a:t>
            </a:r>
            <a:r>
              <a:rPr lang="en-US" sz="1100" b="0" i="0" dirty="0">
                <a:solidFill>
                  <a:srgbClr val="333333"/>
                </a:solidFill>
                <a:effectLst/>
                <a:latin typeface="arial" panose="020B0604020202020204" pitchFamily="34" charset="0"/>
              </a:rPr>
              <a:t>.</a:t>
            </a:r>
            <a:endParaRPr lang="en-IN" sz="1100" dirty="0"/>
          </a:p>
        </p:txBody>
      </p:sp>
    </p:spTree>
    <p:extLst>
      <p:ext uri="{BB962C8B-B14F-4D97-AF65-F5344CB8AC3E}">
        <p14:creationId xmlns:p14="http://schemas.microsoft.com/office/powerpoint/2010/main" val="462645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C2F82D-A881-4BC4-BF9E-CCF90DA397D4}"/>
              </a:ext>
            </a:extLst>
          </p:cNvPr>
          <p:cNvSpPr txBox="1"/>
          <p:nvPr/>
        </p:nvSpPr>
        <p:spPr>
          <a:xfrm>
            <a:off x="294968" y="0"/>
            <a:ext cx="11356258" cy="1200329"/>
          </a:xfrm>
          <a:prstGeom prst="rect">
            <a:avLst/>
          </a:prstGeom>
          <a:noFill/>
        </p:spPr>
        <p:txBody>
          <a:bodyPr wrap="square">
            <a:spAutoFit/>
          </a:bodyPr>
          <a:lstStyle/>
          <a:p>
            <a:r>
              <a:rPr lang="en-US" b="1" i="0" dirty="0">
                <a:solidFill>
                  <a:srgbClr val="333333"/>
                </a:solidFill>
                <a:effectLst/>
                <a:latin typeface="arial" panose="020B0604020202020204" pitchFamily="34" charset="0"/>
              </a:rPr>
              <a:t>Default Route in ASP.NET Core MVC</a:t>
            </a:r>
            <a:br>
              <a:rPr lang="en-US" dirty="0"/>
            </a:br>
            <a:br>
              <a:rPr lang="en-US" dirty="0"/>
            </a:br>
            <a:r>
              <a:rPr lang="en-US" b="0" i="0" dirty="0">
                <a:solidFill>
                  <a:srgbClr val="333333"/>
                </a:solidFill>
                <a:effectLst/>
                <a:latin typeface="arial" panose="020B0604020202020204" pitchFamily="34" charset="0"/>
              </a:rPr>
              <a:t>The following is the code in the </a:t>
            </a:r>
            <a:r>
              <a:rPr lang="en-US" b="0" i="0" dirty="0">
                <a:solidFill>
                  <a:srgbClr val="0000FF"/>
                </a:solidFill>
                <a:effectLst/>
                <a:latin typeface="arial" panose="020B0604020202020204" pitchFamily="34" charset="0"/>
              </a:rPr>
              <a:t>Configure()</a:t>
            </a:r>
            <a:r>
              <a:rPr lang="en-US" b="0" i="0" dirty="0">
                <a:solidFill>
                  <a:srgbClr val="333333"/>
                </a:solidFill>
                <a:effectLst/>
                <a:latin typeface="arial" panose="020B0604020202020204" pitchFamily="34" charset="0"/>
              </a:rPr>
              <a:t> method in </a:t>
            </a:r>
            <a:r>
              <a:rPr lang="en-US" b="0" i="0" dirty="0" err="1">
                <a:solidFill>
                  <a:srgbClr val="CC0000"/>
                </a:solidFill>
                <a:effectLst/>
                <a:latin typeface="arial" panose="020B0604020202020204" pitchFamily="34" charset="0"/>
              </a:rPr>
              <a:t>Startup.cs</a:t>
            </a:r>
            <a:r>
              <a:rPr lang="en-US" b="0" i="0" dirty="0">
                <a:solidFill>
                  <a:srgbClr val="333333"/>
                </a:solidFill>
                <a:effectLst/>
                <a:latin typeface="arial" panose="020B0604020202020204" pitchFamily="34" charset="0"/>
              </a:rPr>
              <a:t> file. The code in this method sets up the HTTP request processing pipeline. </a:t>
            </a:r>
            <a:endParaRPr lang="en-IN" dirty="0"/>
          </a:p>
        </p:txBody>
      </p:sp>
      <p:sp>
        <p:nvSpPr>
          <p:cNvPr id="7" name="TextBox 6">
            <a:extLst>
              <a:ext uri="{FF2B5EF4-FFF2-40B4-BE49-F238E27FC236}">
                <a16:creationId xmlns:a16="http://schemas.microsoft.com/office/drawing/2014/main" id="{029E0A25-57F6-4F07-8AD7-F60E4B2190A9}"/>
              </a:ext>
            </a:extLst>
          </p:cNvPr>
          <p:cNvSpPr txBox="1"/>
          <p:nvPr/>
        </p:nvSpPr>
        <p:spPr>
          <a:xfrm>
            <a:off x="0" y="1346568"/>
            <a:ext cx="6096000" cy="5078313"/>
          </a:xfrm>
          <a:prstGeom prst="rect">
            <a:avLst/>
          </a:prstGeom>
          <a:noFill/>
        </p:spPr>
        <p:txBody>
          <a:bodyPr wrap="square">
            <a:spAutoFit/>
          </a:bodyPr>
          <a:lstStyle/>
          <a:p>
            <a:r>
              <a:rPr lang="en-IN" sz="1200" dirty="0">
                <a:solidFill>
                  <a:srgbClr val="0000FF"/>
                </a:solidFill>
                <a:latin typeface="Consolas" panose="020B0609020204030204" pitchFamily="49" charset="0"/>
              </a:rPr>
              <a:t>if</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env.IsDevelopment</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app.UseDeveloperExceptionPage</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else</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app.UseExceptionHandler</a:t>
            </a:r>
            <a:r>
              <a:rPr lang="en-IN" sz="1200" dirty="0">
                <a:solidFill>
                  <a:srgbClr val="000000"/>
                </a:solidFill>
                <a:latin typeface="Consolas" panose="020B0609020204030204" pitchFamily="49" charset="0"/>
              </a:rPr>
              <a:t>(</a:t>
            </a:r>
            <a:r>
              <a:rPr lang="en-IN" sz="1200" dirty="0">
                <a:solidFill>
                  <a:srgbClr val="A31515"/>
                </a:solidFill>
                <a:latin typeface="Consolas" panose="020B0609020204030204" pitchFamily="49" charset="0"/>
              </a:rPr>
              <a:t>"/Home/Error"</a:t>
            </a:r>
            <a:r>
              <a:rPr lang="en-IN" sz="1200" dirty="0">
                <a:solidFill>
                  <a:srgbClr val="000000"/>
                </a:solidFill>
                <a:latin typeface="Consolas" panose="020B0609020204030204" pitchFamily="49" charset="0"/>
              </a:rPr>
              <a:t>);</a:t>
            </a:r>
          </a:p>
          <a:p>
            <a:endParaRPr lang="en-IN"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The default HSTS value is 30 days. You may want to change this for production scenarios, see https://aka.ms/aspnetcore-hsts.</a:t>
            </a:r>
            <a:endParaRPr lang="en-US"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app.UseHsts</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app.UseHttpsRedirection</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app.UseStaticFiles</a:t>
            </a:r>
            <a:r>
              <a:rPr lang="en-IN" sz="1200" dirty="0">
                <a:solidFill>
                  <a:srgbClr val="000000"/>
                </a:solidFill>
                <a:latin typeface="Consolas" panose="020B0609020204030204" pitchFamily="49" charset="0"/>
              </a:rPr>
              <a:t>();</a:t>
            </a:r>
          </a:p>
          <a:p>
            <a:endParaRPr lang="en-IN" sz="1200" dirty="0">
              <a:solidFill>
                <a:srgbClr val="000000"/>
              </a:solidFill>
              <a:latin typeface="Consolas" panose="020B0609020204030204" pitchFamily="49" charset="0"/>
            </a:endParaRPr>
          </a:p>
          <a:p>
            <a:r>
              <a:rPr lang="en-IN" sz="1200" dirty="0">
                <a:solidFill>
                  <a:srgbClr val="000000"/>
                </a:solidFill>
                <a:highlight>
                  <a:srgbClr val="FFFF00"/>
                </a:highlight>
                <a:latin typeface="Consolas" panose="020B0609020204030204" pitchFamily="49" charset="0"/>
              </a:rPr>
              <a:t>            </a:t>
            </a:r>
            <a:r>
              <a:rPr lang="en-IN" sz="1200" dirty="0" err="1">
                <a:solidFill>
                  <a:srgbClr val="000000"/>
                </a:solidFill>
                <a:highlight>
                  <a:srgbClr val="FFFF00"/>
                </a:highlight>
                <a:latin typeface="Consolas" panose="020B0609020204030204" pitchFamily="49" charset="0"/>
              </a:rPr>
              <a:t>app.UseRouting</a:t>
            </a:r>
            <a:r>
              <a:rPr lang="en-IN" sz="1200" dirty="0">
                <a:solidFill>
                  <a:srgbClr val="000000"/>
                </a:solidFill>
                <a:highlight>
                  <a:srgbClr val="FFFF00"/>
                </a:highlight>
                <a:latin typeface="Consolas" panose="020B0609020204030204" pitchFamily="49" charset="0"/>
              </a:rPr>
              <a:t>();</a:t>
            </a:r>
          </a:p>
          <a:p>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app.UseAuthorization</a:t>
            </a:r>
            <a:r>
              <a:rPr lang="en-IN" sz="1200" dirty="0">
                <a:solidFill>
                  <a:srgbClr val="000000"/>
                </a:solidFill>
                <a:latin typeface="Consolas" panose="020B0609020204030204" pitchFamily="49" charset="0"/>
              </a:rPr>
              <a:t>();</a:t>
            </a:r>
          </a:p>
          <a:p>
            <a:endParaRPr lang="en-IN" sz="1200" dirty="0">
              <a:solidFill>
                <a:srgbClr val="000000"/>
              </a:solidFill>
              <a:latin typeface="Consolas" panose="020B0609020204030204" pitchFamily="49" charset="0"/>
            </a:endParaRPr>
          </a:p>
          <a:p>
            <a:r>
              <a:rPr lang="en-IN" sz="1200" dirty="0">
                <a:solidFill>
                  <a:srgbClr val="000000"/>
                </a:solidFill>
                <a:highlight>
                  <a:srgbClr val="FFFF00"/>
                </a:highlight>
                <a:latin typeface="Consolas" panose="020B0609020204030204" pitchFamily="49" charset="0"/>
              </a:rPr>
              <a:t>            </a:t>
            </a:r>
            <a:r>
              <a:rPr lang="en-IN" sz="1200" dirty="0" err="1">
                <a:solidFill>
                  <a:srgbClr val="000000"/>
                </a:solidFill>
                <a:highlight>
                  <a:srgbClr val="FFFF00"/>
                </a:highlight>
                <a:latin typeface="Consolas" panose="020B0609020204030204" pitchFamily="49" charset="0"/>
              </a:rPr>
              <a:t>app.UseEndpoints</a:t>
            </a:r>
            <a:r>
              <a:rPr lang="en-IN" sz="1200" dirty="0">
                <a:solidFill>
                  <a:srgbClr val="000000"/>
                </a:solidFill>
                <a:highlight>
                  <a:srgbClr val="FFFF00"/>
                </a:highlight>
                <a:latin typeface="Consolas" panose="020B0609020204030204" pitchFamily="49" charset="0"/>
              </a:rPr>
              <a:t>(endpoints =&gt;</a:t>
            </a:r>
          </a:p>
          <a:p>
            <a:r>
              <a:rPr lang="en-IN" sz="1200" dirty="0">
                <a:solidFill>
                  <a:srgbClr val="000000"/>
                </a:solidFill>
                <a:highlight>
                  <a:srgbClr val="FFFF00"/>
                </a:highlight>
                <a:latin typeface="Consolas" panose="020B0609020204030204" pitchFamily="49" charset="0"/>
              </a:rPr>
              <a:t>            {</a:t>
            </a:r>
          </a:p>
          <a:p>
            <a:r>
              <a:rPr lang="en-IN" sz="1200" dirty="0">
                <a:solidFill>
                  <a:srgbClr val="000000"/>
                </a:solidFill>
                <a:highlight>
                  <a:srgbClr val="FFFF00"/>
                </a:highlight>
                <a:latin typeface="Consolas" panose="020B0609020204030204" pitchFamily="49" charset="0"/>
              </a:rPr>
              <a:t>                </a:t>
            </a:r>
            <a:r>
              <a:rPr lang="en-IN" sz="1200" dirty="0" err="1">
                <a:solidFill>
                  <a:srgbClr val="000000"/>
                </a:solidFill>
                <a:highlight>
                  <a:srgbClr val="FFFF00"/>
                </a:highlight>
                <a:latin typeface="Consolas" panose="020B0609020204030204" pitchFamily="49" charset="0"/>
              </a:rPr>
              <a:t>endpoints.MapControllerRoute</a:t>
            </a:r>
            <a:r>
              <a:rPr lang="en-IN" sz="1200" dirty="0">
                <a:solidFill>
                  <a:srgbClr val="000000"/>
                </a:solidFill>
                <a:highlight>
                  <a:srgbClr val="FFFF00"/>
                </a:highlight>
                <a:latin typeface="Consolas" panose="020B0609020204030204" pitchFamily="49" charset="0"/>
              </a:rPr>
              <a:t>(</a:t>
            </a:r>
          </a:p>
          <a:p>
            <a:r>
              <a:rPr lang="en-IN" sz="1200" dirty="0">
                <a:solidFill>
                  <a:srgbClr val="000000"/>
                </a:solidFill>
                <a:highlight>
                  <a:srgbClr val="FFFF00"/>
                </a:highlight>
                <a:latin typeface="Consolas" panose="020B0609020204030204" pitchFamily="49" charset="0"/>
              </a:rPr>
              <a:t>                    name: </a:t>
            </a:r>
            <a:r>
              <a:rPr lang="en-IN" sz="1200" dirty="0">
                <a:solidFill>
                  <a:srgbClr val="A31515"/>
                </a:solidFill>
                <a:highlight>
                  <a:srgbClr val="FFFF00"/>
                </a:highlight>
                <a:latin typeface="Consolas" panose="020B0609020204030204" pitchFamily="49" charset="0"/>
              </a:rPr>
              <a:t>"default"</a:t>
            </a:r>
            <a:r>
              <a:rPr lang="en-IN" sz="1200" dirty="0">
                <a:solidFill>
                  <a:srgbClr val="000000"/>
                </a:solidFill>
                <a:highlight>
                  <a:srgbClr val="FFFF00"/>
                </a:highlight>
                <a:latin typeface="Consolas" panose="020B0609020204030204" pitchFamily="49" charset="0"/>
              </a:rPr>
              <a:t>,</a:t>
            </a:r>
          </a:p>
          <a:p>
            <a:r>
              <a:rPr lang="en-IN" sz="1200" dirty="0">
                <a:solidFill>
                  <a:srgbClr val="000000"/>
                </a:solidFill>
                <a:highlight>
                  <a:srgbClr val="FFFF00"/>
                </a:highlight>
                <a:latin typeface="Consolas" panose="020B0609020204030204" pitchFamily="49" charset="0"/>
              </a:rPr>
              <a:t>                    pattern: </a:t>
            </a:r>
            <a:r>
              <a:rPr lang="en-IN" sz="1200" dirty="0">
                <a:solidFill>
                  <a:srgbClr val="A31515"/>
                </a:solidFill>
                <a:highlight>
                  <a:srgbClr val="FFFF00"/>
                </a:highlight>
                <a:latin typeface="Consolas" panose="020B0609020204030204" pitchFamily="49" charset="0"/>
              </a:rPr>
              <a:t>"{controller=Home}/{action=Index}/{id?}"</a:t>
            </a:r>
            <a:r>
              <a:rPr lang="en-IN" sz="1200" dirty="0">
                <a:solidFill>
                  <a:srgbClr val="000000"/>
                </a:solidFill>
                <a:highlight>
                  <a:srgbClr val="FFFF00"/>
                </a:highlight>
                <a:latin typeface="Consolas" panose="020B0609020204030204" pitchFamily="49" charset="0"/>
              </a:rPr>
              <a:t>);</a:t>
            </a:r>
          </a:p>
          <a:p>
            <a:r>
              <a:rPr lang="en-IN" sz="1200" dirty="0">
                <a:solidFill>
                  <a:srgbClr val="000000"/>
                </a:solidFill>
                <a:highlight>
                  <a:srgbClr val="FFFF00"/>
                </a:highlight>
                <a:latin typeface="Consolas" panose="020B0609020204030204" pitchFamily="49" charset="0"/>
              </a:rPr>
              <a:t>            });</a:t>
            </a:r>
          </a:p>
          <a:p>
            <a:r>
              <a:rPr lang="en-IN" sz="1200" dirty="0">
                <a:solidFill>
                  <a:srgbClr val="000000"/>
                </a:solidFill>
                <a:latin typeface="Consolas" panose="020B0609020204030204" pitchFamily="49" charset="0"/>
              </a:rPr>
              <a:t>        }</a:t>
            </a:r>
            <a:endParaRPr lang="en-IN" sz="3200" dirty="0"/>
          </a:p>
        </p:txBody>
      </p:sp>
      <p:sp>
        <p:nvSpPr>
          <p:cNvPr id="11" name="TextBox 10">
            <a:extLst>
              <a:ext uri="{FF2B5EF4-FFF2-40B4-BE49-F238E27FC236}">
                <a16:creationId xmlns:a16="http://schemas.microsoft.com/office/drawing/2014/main" id="{17CD2A03-0C11-4830-ACF5-429F13B3B408}"/>
              </a:ext>
            </a:extLst>
          </p:cNvPr>
          <p:cNvSpPr txBox="1"/>
          <p:nvPr/>
        </p:nvSpPr>
        <p:spPr>
          <a:xfrm>
            <a:off x="6491748" y="1200329"/>
            <a:ext cx="5405284" cy="2585323"/>
          </a:xfrm>
          <a:prstGeom prst="rect">
            <a:avLst/>
          </a:prstGeom>
          <a:noFill/>
        </p:spPr>
        <p:txBody>
          <a:bodyPr wrap="square">
            <a:spAutoFit/>
          </a:bodyPr>
          <a:lstStyle/>
          <a:p>
            <a:r>
              <a:rPr lang="en-US" b="1" i="0" dirty="0">
                <a:solidFill>
                  <a:srgbClr val="333333"/>
                </a:solidFill>
                <a:effectLst/>
                <a:latin typeface="arial" panose="020B0604020202020204" pitchFamily="34" charset="0"/>
              </a:rPr>
              <a:t>Understanding the default route</a:t>
            </a:r>
            <a:br>
              <a:rPr lang="en-US" dirty="0"/>
            </a:br>
            <a:br>
              <a:rPr lang="en-US" dirty="0"/>
            </a:br>
            <a:r>
              <a:rPr lang="en-US" b="0" i="0" dirty="0">
                <a:solidFill>
                  <a:srgbClr val="333333"/>
                </a:solidFill>
                <a:effectLst/>
                <a:latin typeface="arial" panose="020B0604020202020204" pitchFamily="34" charset="0"/>
              </a:rPr>
              <a:t>The default route template </a:t>
            </a:r>
            <a:r>
              <a:rPr lang="en-US" b="0" i="0" dirty="0">
                <a:solidFill>
                  <a:srgbClr val="CC0000"/>
                </a:solidFill>
                <a:effectLst/>
                <a:latin typeface="arial" panose="020B0604020202020204" pitchFamily="34" charset="0"/>
              </a:rPr>
              <a:t>"{controller=Home}/{action=Index}/{id?}"</a:t>
            </a:r>
            <a:r>
              <a:rPr lang="en-US" b="0" i="0" dirty="0">
                <a:solidFill>
                  <a:srgbClr val="333333"/>
                </a:solidFill>
                <a:effectLst/>
                <a:latin typeface="arial" panose="020B0604020202020204" pitchFamily="34" charset="0"/>
              </a:rPr>
              <a:t> maps most URL's that have the following pattern</a:t>
            </a:r>
            <a:br>
              <a:rPr lang="en-US" dirty="0"/>
            </a:br>
            <a:br>
              <a:rPr lang="en-US" dirty="0"/>
            </a:br>
            <a:r>
              <a:rPr lang="en-US" b="0" i="0" dirty="0">
                <a:solidFill>
                  <a:srgbClr val="0000FF"/>
                </a:solidFill>
                <a:effectLst/>
                <a:latin typeface="arial" panose="020B0604020202020204" pitchFamily="34" charset="0"/>
              </a:rPr>
              <a:t>http://localhost:1234/Employees/Details/1</a:t>
            </a:r>
            <a:br>
              <a:rPr lang="en-US" dirty="0"/>
            </a:br>
            <a:br>
              <a:rPr lang="en-US" dirty="0"/>
            </a:br>
            <a:r>
              <a:rPr lang="en-US" b="0" i="0" dirty="0">
                <a:solidFill>
                  <a:srgbClr val="333333"/>
                </a:solidFill>
                <a:effectLst/>
                <a:latin typeface="arial" panose="020B0604020202020204" pitchFamily="34" charset="0"/>
              </a:rPr>
              <a:t>In the above example</a:t>
            </a:r>
            <a:endParaRPr lang="en-IN" dirty="0"/>
          </a:p>
        </p:txBody>
      </p:sp>
      <p:graphicFrame>
        <p:nvGraphicFramePr>
          <p:cNvPr id="12" name="Table 11">
            <a:extLst>
              <a:ext uri="{FF2B5EF4-FFF2-40B4-BE49-F238E27FC236}">
                <a16:creationId xmlns:a16="http://schemas.microsoft.com/office/drawing/2014/main" id="{7FCA0E5D-6A82-4433-B858-0E93ED82A34C}"/>
              </a:ext>
            </a:extLst>
          </p:cNvPr>
          <p:cNvGraphicFramePr>
            <a:graphicFrameLocks noGrp="1"/>
          </p:cNvGraphicFramePr>
          <p:nvPr>
            <p:extLst>
              <p:ext uri="{D42A27DB-BD31-4B8C-83A1-F6EECF244321}">
                <p14:modId xmlns:p14="http://schemas.microsoft.com/office/powerpoint/2010/main" val="3554926823"/>
              </p:ext>
            </p:extLst>
          </p:nvPr>
        </p:nvGraphicFramePr>
        <p:xfrm>
          <a:off x="6177116" y="3931891"/>
          <a:ext cx="5090652" cy="2103120"/>
        </p:xfrm>
        <a:graphic>
          <a:graphicData uri="http://schemas.openxmlformats.org/drawingml/2006/table">
            <a:tbl>
              <a:tblPr/>
              <a:tblGrid>
                <a:gridCol w="2545326">
                  <a:extLst>
                    <a:ext uri="{9D8B030D-6E8A-4147-A177-3AD203B41FA5}">
                      <a16:colId xmlns:a16="http://schemas.microsoft.com/office/drawing/2014/main" val="1696210844"/>
                    </a:ext>
                  </a:extLst>
                </a:gridCol>
                <a:gridCol w="2545326">
                  <a:extLst>
                    <a:ext uri="{9D8B030D-6E8A-4147-A177-3AD203B41FA5}">
                      <a16:colId xmlns:a16="http://schemas.microsoft.com/office/drawing/2014/main" val="2631210188"/>
                    </a:ext>
                  </a:extLst>
                </a:gridCol>
              </a:tblGrid>
              <a:tr h="303094">
                <a:tc>
                  <a:txBody>
                    <a:bodyPr/>
                    <a:lstStyle/>
                    <a:p>
                      <a:r>
                        <a:rPr lang="en-IN">
                          <a:effectLst/>
                        </a:rPr>
                        <a:t>Path Segment</a:t>
                      </a:r>
                    </a:p>
                  </a:txBody>
                  <a:tcPr marL="22860" marR="22860" marT="22860" marB="22860" anchor="ctr">
                    <a:lnL>
                      <a:noFill/>
                    </a:lnL>
                    <a:lnR>
                      <a:noFill/>
                    </a:lnR>
                    <a:lnT>
                      <a:noFill/>
                    </a:lnT>
                    <a:lnB>
                      <a:noFill/>
                    </a:lnB>
                    <a:solidFill>
                      <a:srgbClr val="FFC000"/>
                    </a:solidFill>
                  </a:tcPr>
                </a:tc>
                <a:tc>
                  <a:txBody>
                    <a:bodyPr/>
                    <a:lstStyle/>
                    <a:p>
                      <a:r>
                        <a:rPr lang="en-IN">
                          <a:effectLst/>
                        </a:rPr>
                        <a:t>Maps to</a:t>
                      </a:r>
                    </a:p>
                  </a:txBody>
                  <a:tcPr marL="22860" marR="22860" marT="22860" marB="22860" anchor="ctr">
                    <a:lnL>
                      <a:noFill/>
                    </a:lnL>
                    <a:lnR>
                      <a:noFill/>
                    </a:lnR>
                    <a:lnT>
                      <a:noFill/>
                    </a:lnT>
                    <a:lnB>
                      <a:noFill/>
                    </a:lnB>
                    <a:solidFill>
                      <a:srgbClr val="FFC000"/>
                    </a:solidFill>
                  </a:tcPr>
                </a:tc>
                <a:extLst>
                  <a:ext uri="{0D108BD9-81ED-4DB2-BD59-A6C34878D82A}">
                    <a16:rowId xmlns:a16="http://schemas.microsoft.com/office/drawing/2014/main" val="264917773"/>
                  </a:ext>
                </a:extLst>
              </a:tr>
              <a:tr h="303094">
                <a:tc>
                  <a:txBody>
                    <a:bodyPr/>
                    <a:lstStyle/>
                    <a:p>
                      <a:r>
                        <a:rPr lang="en-IN">
                          <a:effectLst/>
                        </a:rPr>
                        <a:t>/Employees</a:t>
                      </a:r>
                    </a:p>
                  </a:txBody>
                  <a:tcPr marL="22860" marR="22860" marT="22860" marB="22860" anchor="ctr">
                    <a:lnL>
                      <a:noFill/>
                    </a:lnL>
                    <a:lnR>
                      <a:noFill/>
                    </a:lnR>
                    <a:lnT>
                      <a:noFill/>
                    </a:lnT>
                    <a:lnB>
                      <a:noFill/>
                    </a:lnB>
                    <a:solidFill>
                      <a:srgbClr val="FFFFFF"/>
                    </a:solidFill>
                  </a:tcPr>
                </a:tc>
                <a:tc>
                  <a:txBody>
                    <a:bodyPr/>
                    <a:lstStyle/>
                    <a:p>
                      <a:r>
                        <a:rPr lang="en-IN">
                          <a:effectLst/>
                        </a:rPr>
                        <a:t>EmployeesController class</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328807368"/>
                  </a:ext>
                </a:extLst>
              </a:tr>
              <a:tr h="303094">
                <a:tc>
                  <a:txBody>
                    <a:bodyPr/>
                    <a:lstStyle/>
                    <a:p>
                      <a:r>
                        <a:rPr lang="en-IN">
                          <a:effectLst/>
                        </a:rPr>
                        <a:t>/Details</a:t>
                      </a:r>
                    </a:p>
                  </a:txBody>
                  <a:tcPr marL="22860" marR="22860" marT="22860" marB="22860" anchor="ctr">
                    <a:lnL>
                      <a:noFill/>
                    </a:lnL>
                    <a:lnR>
                      <a:noFill/>
                    </a:lnR>
                    <a:lnT>
                      <a:noFill/>
                    </a:lnT>
                    <a:lnB>
                      <a:noFill/>
                    </a:lnB>
                    <a:solidFill>
                      <a:srgbClr val="FFFFFF"/>
                    </a:solidFill>
                  </a:tcPr>
                </a:tc>
                <a:tc>
                  <a:txBody>
                    <a:bodyPr/>
                    <a:lstStyle/>
                    <a:p>
                      <a:r>
                        <a:rPr lang="en-US" dirty="0">
                          <a:effectLst/>
                        </a:rPr>
                        <a:t>Details(int id) action method</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4168740914"/>
                  </a:ext>
                </a:extLst>
              </a:tr>
              <a:tr h="303094">
                <a:tc>
                  <a:txBody>
                    <a:bodyPr/>
                    <a:lstStyle/>
                    <a:p>
                      <a:r>
                        <a:rPr lang="en-IN">
                          <a:effectLst/>
                        </a:rPr>
                        <a:t>/1</a:t>
                      </a:r>
                    </a:p>
                  </a:txBody>
                  <a:tcPr marL="22860" marR="22860" marT="22860" marB="22860" anchor="ctr">
                    <a:lnL>
                      <a:noFill/>
                    </a:lnL>
                    <a:lnR>
                      <a:noFill/>
                    </a:lnR>
                    <a:lnT>
                      <a:noFill/>
                    </a:lnT>
                    <a:lnB>
                      <a:noFill/>
                    </a:lnB>
                    <a:solidFill>
                      <a:srgbClr val="FFFFFF"/>
                    </a:solidFill>
                  </a:tcPr>
                </a:tc>
                <a:tc>
                  <a:txBody>
                    <a:bodyPr/>
                    <a:lstStyle/>
                    <a:p>
                      <a:r>
                        <a:rPr lang="en-US" dirty="0">
                          <a:effectLst/>
                        </a:rPr>
                        <a:t>id parameter of the Details(int id) action method</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246210177"/>
                  </a:ext>
                </a:extLst>
              </a:tr>
            </a:tbl>
          </a:graphicData>
        </a:graphic>
      </p:graphicFrame>
      <p:sp>
        <p:nvSpPr>
          <p:cNvPr id="13" name="Rectangle 2">
            <a:extLst>
              <a:ext uri="{FF2B5EF4-FFF2-40B4-BE49-F238E27FC236}">
                <a16:creationId xmlns:a16="http://schemas.microsoft.com/office/drawing/2014/main" id="{2C244F0C-F037-4976-A492-3E6D15B219D7}"/>
              </a:ext>
            </a:extLst>
          </p:cNvPr>
          <p:cNvSpPr>
            <a:spLocks noChangeArrowheads="1"/>
          </p:cNvSpPr>
          <p:nvPr/>
        </p:nvSpPr>
        <p:spPr bwMode="auto">
          <a:xfrm>
            <a:off x="838200" y="33607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0738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sp.net core routing tutorial">
            <a:extLst>
              <a:ext uri="{FF2B5EF4-FFF2-40B4-BE49-F238E27FC236}">
                <a16:creationId xmlns:a16="http://schemas.microsoft.com/office/drawing/2014/main" id="{D57E4609-8FA4-4EA1-BAE1-FEC6BD2CC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52" y="131010"/>
            <a:ext cx="4886325" cy="2667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148C9C-6F15-4B69-8D55-0C7664EFB2B9}"/>
              </a:ext>
            </a:extLst>
          </p:cNvPr>
          <p:cNvSpPr>
            <a:spLocks noChangeArrowheads="1"/>
          </p:cNvSpPr>
          <p:nvPr/>
        </p:nvSpPr>
        <p:spPr bwMode="auto">
          <a:xfrm>
            <a:off x="5402266" y="398373"/>
            <a:ext cx="6425534"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first URL path segment </a:t>
            </a:r>
            <a:r>
              <a:rPr kumimoji="0" lang="en-US" altLang="en-US" sz="1200" b="0" i="0" u="none" strike="noStrike" cap="none" normalizeH="0" baseline="0" dirty="0">
                <a:ln>
                  <a:noFill/>
                </a:ln>
                <a:solidFill>
                  <a:srgbClr val="CC0000"/>
                </a:solidFill>
                <a:effectLst/>
                <a:latin typeface="Arial" panose="020B0604020202020204" pitchFamily="34" charset="0"/>
                <a:cs typeface="Arial" panose="020B0604020202020204" pitchFamily="34" charset="0"/>
              </a:rPr>
              <a:t>"/Employees"</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is mapped to the </a:t>
            </a:r>
            <a:r>
              <a:rPr kumimoji="0" lang="en-US" altLang="en-US" sz="1200" b="0" i="0" u="none" strike="noStrike" cap="none" normalizeH="0" baseline="0" dirty="0">
                <a:ln>
                  <a:noFill/>
                </a:ln>
                <a:solidFill>
                  <a:srgbClr val="CC0000"/>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rgbClr val="CC0000"/>
                </a:solidFill>
                <a:effectLst/>
                <a:latin typeface="Arial" panose="020B0604020202020204" pitchFamily="34" charset="0"/>
                <a:cs typeface="Arial" panose="020B0604020202020204" pitchFamily="34" charset="0"/>
              </a:rPr>
              <a:t>EmployeesController</a:t>
            </a:r>
            <a:r>
              <a:rPr kumimoji="0" lang="en-US" altLang="en-US" sz="1200" b="0" i="0" u="none" strike="noStrike" cap="none" normalizeH="0" baseline="0" dirty="0">
                <a:ln>
                  <a:noFill/>
                </a:ln>
                <a:solidFill>
                  <a:srgbClr val="CC0000"/>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In the URL we do not have to have the word Controller. When MVC finds the word </a:t>
            </a:r>
            <a:r>
              <a:rPr kumimoji="0" lang="en-US" altLang="en-US" sz="1200" b="0" i="0" u="none" strike="noStrike" cap="none" normalizeH="0" baseline="0" dirty="0">
                <a:ln>
                  <a:noFill/>
                </a:ln>
                <a:solidFill>
                  <a:srgbClr val="CC0000"/>
                </a:solidFill>
                <a:effectLst/>
                <a:latin typeface="Arial" panose="020B0604020202020204" pitchFamily="34" charset="0"/>
                <a:cs typeface="Arial" panose="020B0604020202020204" pitchFamily="34" charset="0"/>
              </a:rPr>
              <a:t>/Employee</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in the first URL path segment, it appends the word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Controller </a:t>
            </a: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and</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looks for a class with name </a:t>
            </a:r>
            <a:r>
              <a:rPr kumimoji="0" lang="en-US" altLang="en-US" sz="1200" b="0" i="0" u="none" strike="noStrike" cap="none" normalizeH="0" baseline="0" dirty="0" err="1">
                <a:ln>
                  <a:noFill/>
                </a:ln>
                <a:solidFill>
                  <a:srgbClr val="3D85C6"/>
                </a:solidFill>
                <a:effectLst/>
                <a:latin typeface="Arial" panose="020B0604020202020204" pitchFamily="34" charset="0"/>
                <a:cs typeface="Arial" panose="020B0604020202020204" pitchFamily="34" charset="0"/>
              </a:rPr>
              <a:t>EmployeesController</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br>
              <a:rPr kumimoji="0" lang="en-US" altLang="en-US" sz="1050" b="0" i="0" u="none" strike="noStrike" cap="none" normalizeH="0" baseline="0" dirty="0">
                <a:ln>
                  <a:noFill/>
                </a:ln>
                <a:solidFill>
                  <a:schemeClr val="tx1"/>
                </a:solidFill>
                <a:effectLst/>
              </a:rPr>
            </a:b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second URL path segment </a:t>
            </a:r>
            <a:r>
              <a:rPr kumimoji="0" lang="en-US" altLang="en-US" sz="1200" b="0" i="0" u="none" strike="noStrike" cap="none" normalizeH="0" baseline="0" dirty="0">
                <a:ln>
                  <a:noFill/>
                </a:ln>
                <a:solidFill>
                  <a:srgbClr val="CC0000"/>
                </a:solidFill>
                <a:effectLst/>
                <a:latin typeface="Arial" panose="020B0604020202020204" pitchFamily="34" charset="0"/>
                <a:cs typeface="Arial" panose="020B0604020202020204" pitchFamily="34" charset="0"/>
              </a:rPr>
              <a:t>"/Details"</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is mapped to the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Details(int id)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action method in the </a:t>
            </a:r>
            <a:r>
              <a:rPr kumimoji="0" lang="en-US" altLang="en-US" sz="1200" b="0" i="0" u="none" strike="noStrike" cap="none" normalizeH="0" baseline="0" dirty="0" err="1">
                <a:ln>
                  <a:noFill/>
                </a:ln>
                <a:solidFill>
                  <a:srgbClr val="3D85C6"/>
                </a:solidFill>
                <a:effectLst/>
                <a:latin typeface="Arial" panose="020B0604020202020204" pitchFamily="34" charset="0"/>
                <a:cs typeface="Arial" panose="020B0604020202020204" pitchFamily="34" charset="0"/>
              </a:rPr>
              <a:t>EmployeesController</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endParaRPr kumimoji="0" lang="en-US" altLang="en-US" sz="105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639EC61-D2BD-4B44-A56C-4971D6FB48C1}"/>
              </a:ext>
            </a:extLst>
          </p:cNvPr>
          <p:cNvSpPr txBox="1"/>
          <p:nvPr/>
        </p:nvSpPr>
        <p:spPr>
          <a:xfrm>
            <a:off x="157316" y="3117783"/>
            <a:ext cx="11739716" cy="1600438"/>
          </a:xfrm>
          <a:prstGeom prst="rect">
            <a:avLst/>
          </a:prstGeom>
          <a:noFill/>
        </p:spPr>
        <p:txBody>
          <a:bodyPr wrap="square">
            <a:spAutoFit/>
          </a:bodyPr>
          <a:lstStyle/>
          <a:p>
            <a:r>
              <a:rPr lang="en-US" sz="1400" b="0" i="0" dirty="0">
                <a:solidFill>
                  <a:srgbClr val="333333"/>
                </a:solidFill>
                <a:effectLst/>
                <a:latin typeface="arial" panose="020B0604020202020204" pitchFamily="34" charset="0"/>
              </a:rPr>
              <a:t>The third path segment </a:t>
            </a:r>
            <a:r>
              <a:rPr lang="en-US" sz="1400" b="1" i="0" dirty="0">
                <a:solidFill>
                  <a:srgbClr val="CC0000"/>
                </a:solidFill>
                <a:effectLst/>
                <a:latin typeface="arial" panose="020B0604020202020204" pitchFamily="34" charset="0"/>
              </a:rPr>
              <a:t>"1"</a:t>
            </a:r>
            <a:r>
              <a:rPr lang="en-US" sz="1400" b="0" i="0" dirty="0">
                <a:solidFill>
                  <a:srgbClr val="333333"/>
                </a:solidFill>
                <a:effectLst/>
                <a:latin typeface="arial" panose="020B0604020202020204" pitchFamily="34" charset="0"/>
              </a:rPr>
              <a:t> is mapped to the </a:t>
            </a:r>
            <a:r>
              <a:rPr lang="en-US" sz="1400" b="0" i="0" dirty="0">
                <a:solidFill>
                  <a:srgbClr val="0000FF"/>
                </a:solidFill>
                <a:effectLst/>
                <a:latin typeface="arial" panose="020B0604020202020204" pitchFamily="34" charset="0"/>
              </a:rPr>
              <a:t>id </a:t>
            </a:r>
            <a:r>
              <a:rPr lang="en-US" sz="1400" b="0" i="0" dirty="0">
                <a:solidFill>
                  <a:srgbClr val="333333"/>
                </a:solidFill>
                <a:effectLst/>
                <a:latin typeface="arial" panose="020B0604020202020204" pitchFamily="34" charset="0"/>
              </a:rPr>
              <a:t>parameter of the </a:t>
            </a:r>
            <a:r>
              <a:rPr lang="en-US" sz="1400" b="0" i="0" dirty="0">
                <a:solidFill>
                  <a:srgbClr val="0000FF"/>
                </a:solidFill>
                <a:effectLst/>
                <a:latin typeface="arial" panose="020B0604020202020204" pitchFamily="34" charset="0"/>
              </a:rPr>
              <a:t>Details(int id) </a:t>
            </a:r>
            <a:r>
              <a:rPr lang="en-US" sz="1400" b="0" i="0" dirty="0">
                <a:solidFill>
                  <a:srgbClr val="333333"/>
                </a:solidFill>
                <a:effectLst/>
                <a:latin typeface="arial" panose="020B0604020202020204" pitchFamily="34" charset="0"/>
              </a:rPr>
              <a:t>action method. This is done by a process called </a:t>
            </a:r>
            <a:r>
              <a:rPr lang="en-US" sz="1400" b="1" i="0" dirty="0">
                <a:solidFill>
                  <a:srgbClr val="333333"/>
                </a:solidFill>
                <a:effectLst/>
                <a:latin typeface="arial" panose="020B0604020202020204" pitchFamily="34" charset="0"/>
              </a:rPr>
              <a:t>model binding</a:t>
            </a:r>
            <a:r>
              <a:rPr lang="en-US" sz="1400" b="0" i="0" dirty="0">
                <a:solidFill>
                  <a:srgbClr val="333333"/>
                </a:solidFill>
                <a:effectLst/>
                <a:latin typeface="arial" panose="020B0604020202020204" pitchFamily="34" charset="0"/>
              </a:rPr>
              <a:t>. </a:t>
            </a:r>
            <a:br>
              <a:rPr lang="en-US" sz="1400" dirty="0"/>
            </a:br>
            <a:br>
              <a:rPr lang="en-US" sz="1400" dirty="0"/>
            </a:br>
            <a:r>
              <a:rPr lang="en-US" sz="1400" b="0" i="0" dirty="0">
                <a:solidFill>
                  <a:srgbClr val="333333"/>
                </a:solidFill>
                <a:effectLst/>
                <a:latin typeface="arial" panose="020B0604020202020204" pitchFamily="34" charset="0"/>
              </a:rPr>
              <a:t>Notice in the following default route template, we have a question mark after the id parameter. </a:t>
            </a:r>
            <a:br>
              <a:rPr lang="en-US" sz="1400" dirty="0"/>
            </a:br>
            <a:r>
              <a:rPr lang="en-US" sz="1400" b="0" i="0" dirty="0">
                <a:solidFill>
                  <a:srgbClr val="333333"/>
                </a:solidFill>
                <a:effectLst/>
                <a:latin typeface="arial" panose="020B0604020202020204" pitchFamily="34" charset="0"/>
              </a:rPr>
              <a:t>The default route template </a:t>
            </a:r>
            <a:r>
              <a:rPr lang="en-US" sz="1400" b="1" i="0" dirty="0">
                <a:solidFill>
                  <a:srgbClr val="0000FF"/>
                </a:solidFill>
                <a:effectLst/>
                <a:latin typeface="arial" panose="020B0604020202020204" pitchFamily="34" charset="0"/>
              </a:rPr>
              <a:t>"{controller=Home}/{action=Index}/{id?}"</a:t>
            </a:r>
            <a:br>
              <a:rPr lang="en-US" sz="1400" dirty="0"/>
            </a:br>
            <a:br>
              <a:rPr lang="en-US" sz="1400" dirty="0"/>
            </a:br>
            <a:r>
              <a:rPr lang="en-US" sz="1400" b="0" i="0" dirty="0">
                <a:solidFill>
                  <a:srgbClr val="333333"/>
                </a:solidFill>
                <a:effectLst/>
                <a:latin typeface="arial" panose="020B0604020202020204" pitchFamily="34" charset="0"/>
              </a:rPr>
              <a:t>The question mark, makes the </a:t>
            </a:r>
            <a:r>
              <a:rPr lang="en-US" sz="1400" b="0" i="0" dirty="0">
                <a:solidFill>
                  <a:srgbClr val="0000FF"/>
                </a:solidFill>
                <a:effectLst/>
                <a:latin typeface="arial" panose="020B0604020202020204" pitchFamily="34" charset="0"/>
              </a:rPr>
              <a:t>id </a:t>
            </a:r>
            <a:r>
              <a:rPr lang="en-US" sz="1400" b="0" i="0" dirty="0">
                <a:solidFill>
                  <a:srgbClr val="333333"/>
                </a:solidFill>
                <a:effectLst/>
                <a:latin typeface="arial" panose="020B0604020202020204" pitchFamily="34" charset="0"/>
              </a:rPr>
              <a:t>parameter in the URL optional. This means both the following URLs will be mapped to the </a:t>
            </a:r>
            <a:r>
              <a:rPr lang="en-US" sz="1400" b="0" i="0" dirty="0">
                <a:solidFill>
                  <a:srgbClr val="0000FF"/>
                </a:solidFill>
                <a:effectLst/>
                <a:latin typeface="arial" panose="020B0604020202020204" pitchFamily="34" charset="0"/>
              </a:rPr>
              <a:t>Details()</a:t>
            </a:r>
            <a:r>
              <a:rPr lang="en-US" sz="1400" b="0" i="0" dirty="0">
                <a:solidFill>
                  <a:srgbClr val="333333"/>
                </a:solidFill>
                <a:effectLst/>
                <a:latin typeface="arial" panose="020B0604020202020204" pitchFamily="34" charset="0"/>
              </a:rPr>
              <a:t> action method of the </a:t>
            </a:r>
            <a:r>
              <a:rPr lang="en-US" sz="1400" b="0" i="0" dirty="0" err="1">
                <a:solidFill>
                  <a:srgbClr val="3D85C6"/>
                </a:solidFill>
                <a:effectLst/>
                <a:latin typeface="arial" panose="020B0604020202020204" pitchFamily="34" charset="0"/>
              </a:rPr>
              <a:t>EmployeesController</a:t>
            </a:r>
            <a:r>
              <a:rPr lang="en-US" sz="1400" b="0" i="0" dirty="0">
                <a:solidFill>
                  <a:srgbClr val="3D85C6"/>
                </a:solidFill>
                <a:effectLst/>
                <a:latin typeface="arial" panose="020B0604020202020204" pitchFamily="34" charset="0"/>
              </a:rPr>
              <a:t> </a:t>
            </a:r>
            <a:r>
              <a:rPr lang="en-US" sz="1400" b="0" i="0" dirty="0">
                <a:solidFill>
                  <a:srgbClr val="333333"/>
                </a:solidFill>
                <a:effectLst/>
                <a:latin typeface="arial" panose="020B0604020202020204" pitchFamily="34" charset="0"/>
              </a:rPr>
              <a:t>class.</a:t>
            </a:r>
            <a:endParaRPr lang="en-IN" sz="1400" dirty="0"/>
          </a:p>
        </p:txBody>
      </p:sp>
      <p:sp>
        <p:nvSpPr>
          <p:cNvPr id="9" name="TextBox 8">
            <a:extLst>
              <a:ext uri="{FF2B5EF4-FFF2-40B4-BE49-F238E27FC236}">
                <a16:creationId xmlns:a16="http://schemas.microsoft.com/office/drawing/2014/main" id="{79174CD1-31BC-40C8-B952-E8E9E05C9B3F}"/>
              </a:ext>
            </a:extLst>
          </p:cNvPr>
          <p:cNvSpPr txBox="1"/>
          <p:nvPr/>
        </p:nvSpPr>
        <p:spPr>
          <a:xfrm>
            <a:off x="280373" y="4892472"/>
            <a:ext cx="2816788" cy="646331"/>
          </a:xfrm>
          <a:prstGeom prst="rect">
            <a:avLst/>
          </a:prstGeom>
          <a:noFill/>
        </p:spPr>
        <p:txBody>
          <a:bodyPr wrap="square">
            <a:spAutoFit/>
          </a:bodyPr>
          <a:lstStyle/>
          <a:p>
            <a:r>
              <a:rPr lang="en-US" b="0" i="0" dirty="0">
                <a:solidFill>
                  <a:srgbClr val="CC0000"/>
                </a:solidFill>
                <a:effectLst/>
                <a:latin typeface="arial" panose="020B0604020202020204" pitchFamily="34" charset="0"/>
              </a:rPr>
              <a:t>/Employees/Details/1</a:t>
            </a:r>
            <a:br>
              <a:rPr lang="en-US" dirty="0"/>
            </a:br>
            <a:r>
              <a:rPr lang="en-US" b="0" i="0" dirty="0">
                <a:solidFill>
                  <a:srgbClr val="CC0000"/>
                </a:solidFill>
                <a:effectLst/>
                <a:latin typeface="arial" panose="020B0604020202020204" pitchFamily="34" charset="0"/>
              </a:rPr>
              <a:t>/Employees/Details</a:t>
            </a:r>
            <a:endParaRPr lang="en-IN" dirty="0"/>
          </a:p>
        </p:txBody>
      </p:sp>
      <p:sp>
        <p:nvSpPr>
          <p:cNvPr id="11" name="TextBox 10">
            <a:extLst>
              <a:ext uri="{FF2B5EF4-FFF2-40B4-BE49-F238E27FC236}">
                <a16:creationId xmlns:a16="http://schemas.microsoft.com/office/drawing/2014/main" id="{0B40B601-A961-4909-AB19-41107357EE35}"/>
              </a:ext>
            </a:extLst>
          </p:cNvPr>
          <p:cNvSpPr txBox="1"/>
          <p:nvPr/>
        </p:nvSpPr>
        <p:spPr>
          <a:xfrm>
            <a:off x="2949677" y="4432396"/>
            <a:ext cx="8947355" cy="230832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200" b="0" i="0" dirty="0">
                <a:solidFill>
                  <a:srgbClr val="333333"/>
                </a:solidFill>
                <a:effectLst/>
                <a:latin typeface="arial" panose="020B0604020202020204" pitchFamily="34" charset="0"/>
              </a:rPr>
              <a:t>The value </a:t>
            </a:r>
            <a:r>
              <a:rPr lang="en-US" sz="1200" b="0" i="0" dirty="0">
                <a:solidFill>
                  <a:srgbClr val="CC0000"/>
                </a:solidFill>
                <a:effectLst/>
                <a:latin typeface="arial" panose="020B0604020202020204" pitchFamily="34" charset="0"/>
              </a:rPr>
              <a:t>"Home"</a:t>
            </a:r>
            <a:r>
              <a:rPr lang="en-US" sz="1200" b="0" i="0" dirty="0">
                <a:solidFill>
                  <a:srgbClr val="333333"/>
                </a:solidFill>
                <a:effectLst/>
                <a:latin typeface="arial" panose="020B0604020202020204" pitchFamily="34" charset="0"/>
              </a:rPr>
              <a:t> in </a:t>
            </a:r>
            <a:r>
              <a:rPr lang="en-US" sz="1200" b="0" i="0" dirty="0">
                <a:solidFill>
                  <a:srgbClr val="0000FF"/>
                </a:solidFill>
                <a:effectLst/>
                <a:latin typeface="arial" panose="020B0604020202020204" pitchFamily="34" charset="0"/>
              </a:rPr>
              <a:t>{controller=Home}</a:t>
            </a:r>
            <a:r>
              <a:rPr lang="en-US" sz="1200" b="0" i="0" dirty="0">
                <a:solidFill>
                  <a:srgbClr val="333333"/>
                </a:solidFill>
                <a:effectLst/>
                <a:latin typeface="arial" panose="020B0604020202020204" pitchFamily="34" charset="0"/>
              </a:rPr>
              <a:t> is the default value for the Controller. Similarly the value </a:t>
            </a:r>
            <a:r>
              <a:rPr lang="en-US" sz="1200" b="0" i="0" dirty="0">
                <a:solidFill>
                  <a:srgbClr val="CC0000"/>
                </a:solidFill>
                <a:effectLst/>
                <a:latin typeface="arial" panose="020B0604020202020204" pitchFamily="34" charset="0"/>
              </a:rPr>
              <a:t>"Index"</a:t>
            </a:r>
            <a:r>
              <a:rPr lang="en-US" sz="1200" b="0" i="0" dirty="0">
                <a:solidFill>
                  <a:srgbClr val="333333"/>
                </a:solidFill>
                <a:effectLst/>
                <a:latin typeface="arial" panose="020B0604020202020204" pitchFamily="34" charset="0"/>
              </a:rPr>
              <a:t> in </a:t>
            </a:r>
            <a:r>
              <a:rPr lang="en-US" sz="1200" b="0" i="0" dirty="0">
                <a:solidFill>
                  <a:srgbClr val="0000FF"/>
                </a:solidFill>
                <a:effectLst/>
                <a:latin typeface="arial" panose="020B0604020202020204" pitchFamily="34" charset="0"/>
              </a:rPr>
              <a:t>{action=Index}</a:t>
            </a:r>
            <a:r>
              <a:rPr lang="en-US" sz="1200" b="0" i="0" dirty="0">
                <a:solidFill>
                  <a:srgbClr val="333333"/>
                </a:solidFill>
                <a:effectLst/>
                <a:latin typeface="arial" panose="020B0604020202020204" pitchFamily="34" charset="0"/>
              </a:rPr>
              <a:t> is the default value for the action method. </a:t>
            </a:r>
            <a:br>
              <a:rPr lang="en-US" sz="1200" dirty="0"/>
            </a:br>
            <a:br>
              <a:rPr lang="en-US" sz="1200" dirty="0"/>
            </a:br>
            <a:r>
              <a:rPr lang="en-US" sz="1200" b="0" i="0" dirty="0">
                <a:solidFill>
                  <a:srgbClr val="333333"/>
                </a:solidFill>
                <a:effectLst/>
                <a:latin typeface="arial" panose="020B0604020202020204" pitchFamily="34" charset="0"/>
              </a:rPr>
              <a:t>So with these default values in place, if we navigate to the application root URL like the following. Notice in the URL we do not have the Controller and Action method path segments. So the default values will be used and the request will be mapped to the </a:t>
            </a:r>
            <a:r>
              <a:rPr lang="en-US" sz="1200" b="0" i="0" dirty="0">
                <a:solidFill>
                  <a:srgbClr val="0000FF"/>
                </a:solidFill>
                <a:effectLst/>
                <a:latin typeface="arial" panose="020B0604020202020204" pitchFamily="34" charset="0"/>
              </a:rPr>
              <a:t>Index()</a:t>
            </a:r>
            <a:r>
              <a:rPr lang="en-US" sz="1200" b="0" i="0" dirty="0">
                <a:solidFill>
                  <a:srgbClr val="333333"/>
                </a:solidFill>
                <a:effectLst/>
                <a:latin typeface="arial" panose="020B0604020202020204" pitchFamily="34" charset="0"/>
              </a:rPr>
              <a:t> action method of the </a:t>
            </a:r>
            <a:r>
              <a:rPr lang="en-US" sz="1200" b="0" i="0" dirty="0" err="1">
                <a:solidFill>
                  <a:srgbClr val="3D85C6"/>
                </a:solidFill>
                <a:effectLst/>
                <a:latin typeface="arial" panose="020B0604020202020204" pitchFamily="34" charset="0"/>
              </a:rPr>
              <a:t>HomeController</a:t>
            </a:r>
            <a:r>
              <a:rPr lang="en-US" sz="1200" b="0" i="0" dirty="0">
                <a:solidFill>
                  <a:srgbClr val="3D85C6"/>
                </a:solidFill>
                <a:effectLst/>
                <a:latin typeface="arial" panose="020B0604020202020204" pitchFamily="34" charset="0"/>
              </a:rPr>
              <a:t> </a:t>
            </a:r>
            <a:r>
              <a:rPr lang="en-US" sz="1200" b="0" i="0" dirty="0">
                <a:solidFill>
                  <a:srgbClr val="333333"/>
                </a:solidFill>
                <a:effectLst/>
                <a:latin typeface="arial" panose="020B0604020202020204" pitchFamily="34" charset="0"/>
              </a:rPr>
              <a:t>class.</a:t>
            </a:r>
            <a:br>
              <a:rPr lang="en-US" sz="1200" dirty="0"/>
            </a:br>
            <a:r>
              <a:rPr lang="en-US" sz="1200" b="0" i="0" dirty="0">
                <a:solidFill>
                  <a:srgbClr val="0000FF"/>
                </a:solidFill>
                <a:effectLst/>
                <a:latin typeface="arial" panose="020B0604020202020204" pitchFamily="34" charset="0"/>
              </a:rPr>
              <a:t>http://localhost:1234</a:t>
            </a:r>
            <a:br>
              <a:rPr lang="en-US" sz="1200" dirty="0"/>
            </a:br>
            <a:br>
              <a:rPr lang="en-US" sz="1200" dirty="0"/>
            </a:br>
            <a:r>
              <a:rPr lang="en-US" sz="1200" b="0" i="0" dirty="0">
                <a:solidFill>
                  <a:srgbClr val="333333"/>
                </a:solidFill>
                <a:effectLst/>
                <a:latin typeface="arial" panose="020B0604020202020204" pitchFamily="34" charset="0"/>
              </a:rPr>
              <a:t>Along the same lines both the following request URL's will also be mapped to the </a:t>
            </a:r>
            <a:r>
              <a:rPr lang="en-US" sz="1200" b="0" i="0" dirty="0">
                <a:solidFill>
                  <a:srgbClr val="0000FF"/>
                </a:solidFill>
                <a:effectLst/>
                <a:latin typeface="arial" panose="020B0604020202020204" pitchFamily="34" charset="0"/>
              </a:rPr>
              <a:t>Index()</a:t>
            </a:r>
            <a:r>
              <a:rPr lang="en-US" sz="1200" b="0" i="0" dirty="0">
                <a:solidFill>
                  <a:srgbClr val="333333"/>
                </a:solidFill>
                <a:effectLst/>
                <a:latin typeface="arial" panose="020B0604020202020204" pitchFamily="34" charset="0"/>
              </a:rPr>
              <a:t> action method of the </a:t>
            </a:r>
            <a:r>
              <a:rPr lang="en-US" sz="1200" b="0" i="0" dirty="0" err="1">
                <a:solidFill>
                  <a:srgbClr val="3D85C6"/>
                </a:solidFill>
                <a:effectLst/>
                <a:latin typeface="arial" panose="020B0604020202020204" pitchFamily="34" charset="0"/>
              </a:rPr>
              <a:t>HomeController</a:t>
            </a:r>
            <a:r>
              <a:rPr lang="en-US" sz="1200" b="0" i="0" dirty="0">
                <a:solidFill>
                  <a:srgbClr val="3D85C6"/>
                </a:solidFill>
                <a:effectLst/>
                <a:latin typeface="arial" panose="020B0604020202020204" pitchFamily="34" charset="0"/>
              </a:rPr>
              <a:t> </a:t>
            </a:r>
            <a:r>
              <a:rPr lang="en-US" sz="1200" b="0" i="0" dirty="0">
                <a:solidFill>
                  <a:srgbClr val="333333"/>
                </a:solidFill>
                <a:effectLst/>
                <a:latin typeface="arial" panose="020B0604020202020204" pitchFamily="34" charset="0"/>
              </a:rPr>
              <a:t>class.</a:t>
            </a:r>
            <a:br>
              <a:rPr lang="en-US" sz="1200" dirty="0"/>
            </a:br>
            <a:r>
              <a:rPr lang="en-US" sz="1200" b="0" i="0" dirty="0">
                <a:solidFill>
                  <a:srgbClr val="0000FF"/>
                </a:solidFill>
                <a:effectLst/>
                <a:latin typeface="arial" panose="020B0604020202020204" pitchFamily="34" charset="0"/>
              </a:rPr>
              <a:t>http://localhost:1234/Home</a:t>
            </a:r>
            <a:br>
              <a:rPr lang="en-US" sz="1200" dirty="0"/>
            </a:br>
            <a:r>
              <a:rPr lang="en-US" sz="1200" b="0" i="0" dirty="0">
                <a:solidFill>
                  <a:srgbClr val="0000FF"/>
                </a:solidFill>
                <a:effectLst/>
                <a:latin typeface="arial" panose="020B0604020202020204" pitchFamily="34" charset="0"/>
              </a:rPr>
              <a:t>http://localhost:1234/Home/Index</a:t>
            </a:r>
            <a:endParaRPr lang="en-IN" sz="1200" dirty="0"/>
          </a:p>
        </p:txBody>
      </p:sp>
    </p:spTree>
    <p:extLst>
      <p:ext uri="{BB962C8B-B14F-4D97-AF65-F5344CB8AC3E}">
        <p14:creationId xmlns:p14="http://schemas.microsoft.com/office/powerpoint/2010/main" val="2612381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B4168-D4A8-36B7-70B0-BCA757CD72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4D2B3C-85E7-6BDC-174C-77F63F48A2D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14474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962B8D-D690-410A-9B20-5BE252867464}"/>
              </a:ext>
            </a:extLst>
          </p:cNvPr>
          <p:cNvSpPr txBox="1"/>
          <p:nvPr/>
        </p:nvSpPr>
        <p:spPr>
          <a:xfrm>
            <a:off x="2792361" y="159463"/>
            <a:ext cx="6096000" cy="369332"/>
          </a:xfrm>
          <a:prstGeom prst="rect">
            <a:avLst/>
          </a:prstGeom>
          <a:noFill/>
        </p:spPr>
        <p:txBody>
          <a:bodyPr wrap="square">
            <a:spAutoFit/>
          </a:bodyPr>
          <a:lstStyle/>
          <a:p>
            <a:pPr algn="l"/>
            <a:r>
              <a:rPr lang="en-IN" b="1" dirty="0">
                <a:solidFill>
                  <a:srgbClr val="333333"/>
                </a:solidFill>
                <a:effectLst/>
                <a:latin typeface="Arial" panose="020B0604020202020204" pitchFamily="34" charset="0"/>
              </a:rPr>
              <a:t>Attribute Routing in ASP.NET Core MVC</a:t>
            </a:r>
          </a:p>
        </p:txBody>
      </p:sp>
      <p:sp>
        <p:nvSpPr>
          <p:cNvPr id="7" name="TextBox 6">
            <a:extLst>
              <a:ext uri="{FF2B5EF4-FFF2-40B4-BE49-F238E27FC236}">
                <a16:creationId xmlns:a16="http://schemas.microsoft.com/office/drawing/2014/main" id="{79293B2C-24DC-436A-8914-466C0BBF890B}"/>
              </a:ext>
            </a:extLst>
          </p:cNvPr>
          <p:cNvSpPr txBox="1"/>
          <p:nvPr/>
        </p:nvSpPr>
        <p:spPr>
          <a:xfrm>
            <a:off x="186813" y="717359"/>
            <a:ext cx="11307096" cy="923330"/>
          </a:xfrm>
          <a:prstGeom prst="rect">
            <a:avLst/>
          </a:prstGeom>
          <a:noFill/>
        </p:spPr>
        <p:txBody>
          <a:bodyPr wrap="square">
            <a:spAutoFit/>
          </a:bodyPr>
          <a:lstStyle/>
          <a:p>
            <a:r>
              <a:rPr lang="en-US" b="0" i="0" dirty="0">
                <a:solidFill>
                  <a:srgbClr val="333333"/>
                </a:solidFill>
                <a:effectLst/>
                <a:latin typeface="arial" panose="020B0604020202020204" pitchFamily="34" charset="0"/>
              </a:rPr>
              <a:t>Consider the following code  </a:t>
            </a:r>
            <a:r>
              <a:rPr lang="en-US" b="0" i="0" dirty="0" err="1">
                <a:solidFill>
                  <a:srgbClr val="CC0000"/>
                </a:solidFill>
                <a:effectLst/>
                <a:latin typeface="arial" panose="020B0604020202020204" pitchFamily="34" charset="0"/>
              </a:rPr>
              <a:t>Startup.cs</a:t>
            </a:r>
            <a:r>
              <a:rPr lang="en-US" b="0" i="0" dirty="0">
                <a:solidFill>
                  <a:srgbClr val="333333"/>
                </a:solidFill>
                <a:effectLst/>
                <a:latin typeface="arial" panose="020B0604020202020204" pitchFamily="34" charset="0"/>
              </a:rPr>
              <a:t> file. Notice we are using </a:t>
            </a:r>
            <a:r>
              <a:rPr lang="en-US" b="0" i="0" dirty="0" err="1">
                <a:solidFill>
                  <a:srgbClr val="0000FF"/>
                </a:solidFill>
                <a:effectLst/>
                <a:latin typeface="arial" panose="020B0604020202020204" pitchFamily="34" charset="0"/>
              </a:rPr>
              <a:t>UseMvc</a:t>
            </a:r>
            <a:r>
              <a:rPr lang="en-US" b="0" i="0" dirty="0">
                <a:solidFill>
                  <a:srgbClr val="0000FF"/>
                </a:solidFill>
                <a:effectLst/>
                <a:latin typeface="arial" panose="020B0604020202020204" pitchFamily="34" charset="0"/>
              </a:rPr>
              <a:t>()/</a:t>
            </a:r>
            <a:r>
              <a:rPr lang="en-IN" sz="1800" dirty="0">
                <a:solidFill>
                  <a:srgbClr val="000000"/>
                </a:solidFill>
                <a:latin typeface="Consolas" panose="020B0609020204030204" pitchFamily="49" charset="0"/>
              </a:rPr>
              <a:t> </a:t>
            </a:r>
            <a:r>
              <a:rPr lang="en-IN" dirty="0" err="1">
                <a:solidFill>
                  <a:srgbClr val="0000FF"/>
                </a:solidFill>
                <a:latin typeface="arial" panose="020B0604020202020204" pitchFamily="34" charset="0"/>
              </a:rPr>
              <a:t>services.AddControllersWithViews</a:t>
            </a:r>
            <a:r>
              <a:rPr lang="en-IN" dirty="0">
                <a:solidFill>
                  <a:srgbClr val="0000FF"/>
                </a:solidFill>
                <a:latin typeface="arial" panose="020B0604020202020204" pitchFamily="34" charset="0"/>
              </a:rPr>
              <a:t>();</a:t>
            </a:r>
            <a:r>
              <a:rPr lang="en-US" dirty="0">
                <a:solidFill>
                  <a:srgbClr val="0000FF"/>
                </a:solidFill>
                <a:latin typeface="arial" panose="020B0604020202020204" pitchFamily="34" charset="0"/>
              </a:rPr>
              <a:t> </a:t>
            </a:r>
            <a:r>
              <a:rPr lang="en-US" b="0" i="0" dirty="0">
                <a:solidFill>
                  <a:srgbClr val="333333"/>
                </a:solidFill>
                <a:effectLst/>
                <a:latin typeface="arial" panose="020B0604020202020204" pitchFamily="34" charset="0"/>
              </a:rPr>
              <a:t>method without passing the default route template as a parameter.</a:t>
            </a:r>
            <a:br>
              <a:rPr lang="en-US" dirty="0"/>
            </a:br>
            <a:endParaRPr lang="en-IN" dirty="0"/>
          </a:p>
        </p:txBody>
      </p:sp>
      <p:sp>
        <p:nvSpPr>
          <p:cNvPr id="9" name="TextBox 8">
            <a:extLst>
              <a:ext uri="{FF2B5EF4-FFF2-40B4-BE49-F238E27FC236}">
                <a16:creationId xmlns:a16="http://schemas.microsoft.com/office/drawing/2014/main" id="{B247E3BC-3E20-4C19-AE28-6479CA88DE72}"/>
              </a:ext>
            </a:extLst>
          </p:cNvPr>
          <p:cNvSpPr txBox="1"/>
          <p:nvPr/>
        </p:nvSpPr>
        <p:spPr>
          <a:xfrm>
            <a:off x="186813" y="1367588"/>
            <a:ext cx="11661058" cy="923330"/>
          </a:xfrm>
          <a:prstGeom prst="rect">
            <a:avLst/>
          </a:prstGeom>
          <a:noFill/>
        </p:spPr>
        <p:txBody>
          <a:bodyPr wrap="square">
            <a:spAutoFit/>
          </a:bodyPr>
          <a:lstStyle/>
          <a:p>
            <a:br>
              <a:rPr lang="en-US" dirty="0"/>
            </a:br>
            <a:r>
              <a:rPr lang="en-US" b="0" i="0" dirty="0">
                <a:solidFill>
                  <a:srgbClr val="333333"/>
                </a:solidFill>
                <a:effectLst/>
                <a:latin typeface="arial" panose="020B0604020202020204" pitchFamily="34" charset="0"/>
              </a:rPr>
              <a:t>With attribute routing, we use the </a:t>
            </a:r>
            <a:r>
              <a:rPr lang="en-US" b="0" i="0" dirty="0">
                <a:solidFill>
                  <a:srgbClr val="3D85C6"/>
                </a:solidFill>
                <a:effectLst/>
                <a:latin typeface="arial" panose="020B0604020202020204" pitchFamily="34" charset="0"/>
              </a:rPr>
              <a:t>Route </a:t>
            </a:r>
            <a:r>
              <a:rPr lang="en-US" b="0" i="0" dirty="0">
                <a:solidFill>
                  <a:srgbClr val="333333"/>
                </a:solidFill>
                <a:effectLst/>
                <a:latin typeface="arial" panose="020B0604020202020204" pitchFamily="34" charset="0"/>
              </a:rPr>
              <a:t>attribute to define our routes. We could apply the </a:t>
            </a:r>
            <a:r>
              <a:rPr lang="en-US" b="0" i="0" dirty="0">
                <a:solidFill>
                  <a:srgbClr val="3D85C6"/>
                </a:solidFill>
                <a:effectLst/>
                <a:latin typeface="arial" panose="020B0604020202020204" pitchFamily="34" charset="0"/>
              </a:rPr>
              <a:t>Route </a:t>
            </a:r>
            <a:r>
              <a:rPr lang="en-US" b="0" i="0" dirty="0">
                <a:solidFill>
                  <a:srgbClr val="333333"/>
                </a:solidFill>
                <a:effectLst/>
                <a:latin typeface="arial" panose="020B0604020202020204" pitchFamily="34" charset="0"/>
              </a:rPr>
              <a:t>attribute on the </a:t>
            </a:r>
            <a:r>
              <a:rPr lang="en-US" b="0" i="0" dirty="0">
                <a:solidFill>
                  <a:srgbClr val="3D85C6"/>
                </a:solidFill>
                <a:effectLst/>
                <a:latin typeface="arial" panose="020B0604020202020204" pitchFamily="34" charset="0"/>
              </a:rPr>
              <a:t>Controller </a:t>
            </a:r>
            <a:r>
              <a:rPr lang="en-US" b="0" i="0" dirty="0">
                <a:solidFill>
                  <a:srgbClr val="333333"/>
                </a:solidFill>
                <a:effectLst/>
                <a:latin typeface="arial" panose="020B0604020202020204" pitchFamily="34" charset="0"/>
              </a:rPr>
              <a:t>or on the </a:t>
            </a:r>
            <a:r>
              <a:rPr lang="en-US" b="0" i="0" dirty="0">
                <a:solidFill>
                  <a:srgbClr val="3D85C6"/>
                </a:solidFill>
                <a:effectLst/>
                <a:latin typeface="arial" panose="020B0604020202020204" pitchFamily="34" charset="0"/>
              </a:rPr>
              <a:t>Controller Action Methods</a:t>
            </a:r>
            <a:r>
              <a:rPr lang="en-US" b="0" i="0" dirty="0">
                <a:solidFill>
                  <a:srgbClr val="333333"/>
                </a:solidFill>
                <a:effectLst/>
                <a:latin typeface="arial" panose="020B0604020202020204" pitchFamily="34" charset="0"/>
              </a:rPr>
              <a:t>.</a:t>
            </a:r>
            <a:endParaRPr lang="en-IN" dirty="0"/>
          </a:p>
        </p:txBody>
      </p:sp>
      <p:sp>
        <p:nvSpPr>
          <p:cNvPr id="11" name="TextBox 10">
            <a:extLst>
              <a:ext uri="{FF2B5EF4-FFF2-40B4-BE49-F238E27FC236}">
                <a16:creationId xmlns:a16="http://schemas.microsoft.com/office/drawing/2014/main" id="{D876427C-1DCD-4BD4-9213-73DEDB2BFBD2}"/>
              </a:ext>
            </a:extLst>
          </p:cNvPr>
          <p:cNvSpPr txBox="1"/>
          <p:nvPr/>
        </p:nvSpPr>
        <p:spPr>
          <a:xfrm>
            <a:off x="98323" y="2746702"/>
            <a:ext cx="5191432" cy="3139321"/>
          </a:xfrm>
          <a:prstGeom prst="rect">
            <a:avLst/>
          </a:prstGeom>
          <a:noFill/>
        </p:spPr>
        <p:txBody>
          <a:bodyPr wrap="square">
            <a:spAutoFit/>
          </a:bodyPr>
          <a:lstStyle/>
          <a:p>
            <a:r>
              <a:rPr lang="en-US" b="0" i="0" dirty="0">
                <a:solidFill>
                  <a:srgbClr val="0000FF"/>
                </a:solidFill>
                <a:effectLst/>
                <a:latin typeface="arial" panose="020B0604020202020204" pitchFamily="34" charset="0"/>
              </a:rPr>
              <a:t>public class</a:t>
            </a:r>
            <a:r>
              <a:rPr lang="en-US" b="0" i="0" dirty="0">
                <a:solidFill>
                  <a:srgbClr val="333333"/>
                </a:solidFill>
                <a:effectLst/>
                <a:latin typeface="arial" panose="020B0604020202020204" pitchFamily="34" charset="0"/>
              </a:rPr>
              <a:t> </a:t>
            </a:r>
            <a:r>
              <a:rPr lang="en-US" b="0" i="0" dirty="0" err="1">
                <a:solidFill>
                  <a:srgbClr val="3D85C6"/>
                </a:solidFill>
                <a:effectLst/>
                <a:latin typeface="arial" panose="020B0604020202020204" pitchFamily="34" charset="0"/>
              </a:rPr>
              <a:t>HomeController</a:t>
            </a:r>
            <a:r>
              <a:rPr lang="en-US" b="0" i="0" dirty="0">
                <a:solidFill>
                  <a:srgbClr val="3D85C6"/>
                </a:solidFill>
                <a:effectLst/>
                <a:latin typeface="arial" panose="020B0604020202020204" pitchFamily="34" charset="0"/>
              </a:rPr>
              <a:t> </a:t>
            </a:r>
            <a:r>
              <a:rPr lang="en-US" b="0" i="0" dirty="0">
                <a:solidFill>
                  <a:srgbClr val="333333"/>
                </a:solidFill>
                <a:effectLst/>
                <a:latin typeface="arial" panose="020B0604020202020204" pitchFamily="34" charset="0"/>
              </a:rPr>
              <a:t>: </a:t>
            </a:r>
            <a:r>
              <a:rPr lang="en-US" b="0" i="0" dirty="0">
                <a:solidFill>
                  <a:srgbClr val="3D85C6"/>
                </a:solidFill>
                <a:effectLst/>
                <a:latin typeface="arial" panose="020B0604020202020204" pitchFamily="34" charset="0"/>
              </a:rPr>
              <a:t>Controller</a:t>
            </a:r>
            <a:br>
              <a:rPr lang="en-US" dirty="0"/>
            </a:br>
            <a:r>
              <a:rPr lang="en-US" b="0" i="0" dirty="0">
                <a:solidFill>
                  <a:srgbClr val="333333"/>
                </a:solidFill>
                <a:effectLst/>
                <a:latin typeface="arial" panose="020B0604020202020204" pitchFamily="34" charset="0"/>
              </a:rPr>
              <a:t>{</a:t>
            </a:r>
            <a:br>
              <a:rPr lang="en-US" dirty="0"/>
            </a:br>
            <a:br>
              <a:rPr lang="en-US" b="0" i="0" dirty="0">
                <a:solidFill>
                  <a:srgbClr val="333333"/>
                </a:solidFill>
                <a:effectLst/>
                <a:latin typeface="arial" panose="020B0604020202020204" pitchFamily="34" charset="0"/>
              </a:rPr>
            </a:br>
            <a:r>
              <a:rPr lang="en-US" b="0" i="0" dirty="0">
                <a:solidFill>
                  <a:srgbClr val="333333"/>
                </a:solidFill>
                <a:effectLst/>
                <a:latin typeface="arial" panose="020B0604020202020204" pitchFamily="34" charset="0"/>
              </a:rPr>
              <a:t>    [</a:t>
            </a:r>
            <a:r>
              <a:rPr lang="en-US" b="0" i="0" dirty="0">
                <a:solidFill>
                  <a:srgbClr val="3D85C6"/>
                </a:solidFill>
                <a:effectLst/>
                <a:latin typeface="arial" panose="020B0604020202020204" pitchFamily="34" charset="0"/>
              </a:rPr>
              <a:t>Route</a:t>
            </a:r>
            <a:r>
              <a:rPr lang="en-US" b="0" i="0" dirty="0">
                <a:solidFill>
                  <a:srgbClr val="333333"/>
                </a:solidFill>
                <a:effectLst/>
                <a:latin typeface="arial" panose="020B0604020202020204" pitchFamily="34" charset="0"/>
              </a:rPr>
              <a:t>(</a:t>
            </a:r>
            <a:r>
              <a:rPr lang="en-US" b="0" i="0" dirty="0">
                <a:solidFill>
                  <a:srgbClr val="CC0000"/>
                </a:solidFill>
                <a:effectLst/>
                <a:latin typeface="arial" panose="020B0604020202020204" pitchFamily="34" charset="0"/>
              </a:rPr>
              <a:t>""</a:t>
            </a:r>
            <a:r>
              <a:rPr lang="en-US" b="0" i="0" dirty="0">
                <a:solidFill>
                  <a:srgbClr val="333333"/>
                </a:solidFill>
                <a:effectLst/>
                <a:latin typeface="arial" panose="020B0604020202020204" pitchFamily="34" charset="0"/>
              </a:rPr>
              <a:t>)]</a:t>
            </a:r>
            <a:br>
              <a:rPr lang="en-US" dirty="0"/>
            </a:br>
            <a:r>
              <a:rPr lang="en-US" b="0" i="0" dirty="0">
                <a:solidFill>
                  <a:srgbClr val="333333"/>
                </a:solidFill>
                <a:effectLst/>
                <a:latin typeface="arial" panose="020B0604020202020204" pitchFamily="34" charset="0"/>
              </a:rPr>
              <a:t>    [</a:t>
            </a:r>
            <a:r>
              <a:rPr lang="en-US" b="0" i="0" dirty="0">
                <a:solidFill>
                  <a:srgbClr val="3D85C6"/>
                </a:solidFill>
                <a:effectLst/>
                <a:latin typeface="arial" panose="020B0604020202020204" pitchFamily="34" charset="0"/>
              </a:rPr>
              <a:t>Route</a:t>
            </a:r>
            <a:r>
              <a:rPr lang="en-US" b="0" i="0" dirty="0">
                <a:solidFill>
                  <a:srgbClr val="333333"/>
                </a:solidFill>
                <a:effectLst/>
                <a:latin typeface="arial" panose="020B0604020202020204" pitchFamily="34" charset="0"/>
              </a:rPr>
              <a:t>(</a:t>
            </a:r>
            <a:r>
              <a:rPr lang="en-US" b="0" i="0" dirty="0">
                <a:solidFill>
                  <a:srgbClr val="CC0000"/>
                </a:solidFill>
                <a:effectLst/>
                <a:latin typeface="arial" panose="020B0604020202020204" pitchFamily="34" charset="0"/>
              </a:rPr>
              <a:t>"Home"</a:t>
            </a:r>
            <a:r>
              <a:rPr lang="en-US" b="0" i="0" dirty="0">
                <a:solidFill>
                  <a:srgbClr val="333333"/>
                </a:solidFill>
                <a:effectLst/>
                <a:latin typeface="arial" panose="020B0604020202020204" pitchFamily="34" charset="0"/>
              </a:rPr>
              <a:t>)]</a:t>
            </a:r>
            <a:br>
              <a:rPr lang="en-US" dirty="0"/>
            </a:br>
            <a:r>
              <a:rPr lang="en-US" b="0" i="0" dirty="0">
                <a:solidFill>
                  <a:srgbClr val="333333"/>
                </a:solidFill>
                <a:effectLst/>
                <a:latin typeface="arial" panose="020B0604020202020204" pitchFamily="34" charset="0"/>
              </a:rPr>
              <a:t>    [</a:t>
            </a:r>
            <a:r>
              <a:rPr lang="en-US" b="0" i="0" dirty="0">
                <a:solidFill>
                  <a:srgbClr val="3D85C6"/>
                </a:solidFill>
                <a:effectLst/>
                <a:latin typeface="arial" panose="020B0604020202020204" pitchFamily="34" charset="0"/>
              </a:rPr>
              <a:t>Route</a:t>
            </a:r>
            <a:r>
              <a:rPr lang="en-US" b="0" i="0" dirty="0">
                <a:solidFill>
                  <a:srgbClr val="333333"/>
                </a:solidFill>
                <a:effectLst/>
                <a:latin typeface="arial" panose="020B0604020202020204" pitchFamily="34" charset="0"/>
              </a:rPr>
              <a:t>(</a:t>
            </a:r>
            <a:r>
              <a:rPr lang="en-US" b="0" i="0" dirty="0">
                <a:solidFill>
                  <a:srgbClr val="CC0000"/>
                </a:solidFill>
                <a:effectLst/>
                <a:latin typeface="arial" panose="020B0604020202020204" pitchFamily="34" charset="0"/>
              </a:rPr>
              <a:t>"Home/Index"</a:t>
            </a:r>
            <a:r>
              <a:rPr lang="en-US" b="0" i="0" dirty="0">
                <a:solidFill>
                  <a:srgbClr val="333333"/>
                </a:solidFill>
                <a:effectLst/>
                <a:latin typeface="arial" panose="020B0604020202020204" pitchFamily="34" charset="0"/>
              </a:rPr>
              <a:t>)]</a:t>
            </a:r>
            <a:br>
              <a:rPr lang="en-US" dirty="0"/>
            </a:br>
            <a:r>
              <a:rPr lang="en-US" b="0" i="0" dirty="0">
                <a:solidFill>
                  <a:srgbClr val="333333"/>
                </a:solidFill>
                <a:effectLst/>
                <a:latin typeface="arial" panose="020B0604020202020204" pitchFamily="34" charset="0"/>
              </a:rPr>
              <a:t>    </a:t>
            </a:r>
            <a:r>
              <a:rPr lang="en-US" b="0" i="0" dirty="0">
                <a:solidFill>
                  <a:srgbClr val="0000FF"/>
                </a:solidFill>
                <a:effectLst/>
                <a:latin typeface="arial" panose="020B0604020202020204" pitchFamily="34" charset="0"/>
              </a:rPr>
              <a:t>public </a:t>
            </a:r>
            <a:r>
              <a:rPr lang="en-US" b="0" i="0" dirty="0" err="1">
                <a:solidFill>
                  <a:srgbClr val="3D85C6"/>
                </a:solidFill>
                <a:effectLst/>
                <a:latin typeface="arial" panose="020B0604020202020204" pitchFamily="34" charset="0"/>
              </a:rPr>
              <a:t>ViewResult</a:t>
            </a:r>
            <a:r>
              <a:rPr lang="en-US" b="0" i="0" dirty="0">
                <a:solidFill>
                  <a:srgbClr val="3D85C6"/>
                </a:solidFill>
                <a:effectLst/>
                <a:latin typeface="arial" panose="020B0604020202020204" pitchFamily="34" charset="0"/>
              </a:rPr>
              <a:t> </a:t>
            </a:r>
            <a:r>
              <a:rPr lang="en-US" b="0" i="0" dirty="0">
                <a:solidFill>
                  <a:srgbClr val="333333"/>
                </a:solidFill>
                <a:effectLst/>
                <a:latin typeface="arial" panose="020B0604020202020204" pitchFamily="34" charset="0"/>
              </a:rPr>
              <a:t>Index()</a:t>
            </a:r>
            <a:br>
              <a:rPr lang="en-US" dirty="0"/>
            </a:br>
            <a:r>
              <a:rPr lang="en-US" b="0" i="0" dirty="0">
                <a:solidFill>
                  <a:srgbClr val="333333"/>
                </a:solidFill>
                <a:effectLst/>
                <a:latin typeface="arial" panose="020B0604020202020204" pitchFamily="34" charset="0"/>
              </a:rPr>
              <a:t>    {</a:t>
            </a:r>
            <a:br>
              <a:rPr lang="en-US" dirty="0"/>
            </a:br>
            <a:r>
              <a:rPr lang="en-US" b="0" i="0" dirty="0">
                <a:solidFill>
                  <a:srgbClr val="333333"/>
                </a:solidFill>
                <a:effectLst/>
                <a:latin typeface="arial" panose="020B0604020202020204" pitchFamily="34" charset="0"/>
              </a:rPr>
              <a:t>        </a:t>
            </a:r>
            <a:r>
              <a:rPr lang="en-US" b="0" i="0" dirty="0">
                <a:solidFill>
                  <a:srgbClr val="0000FF"/>
                </a:solidFill>
                <a:effectLst/>
                <a:latin typeface="arial" panose="020B0604020202020204" pitchFamily="34" charset="0"/>
              </a:rPr>
              <a:t>return </a:t>
            </a:r>
            <a:r>
              <a:rPr lang="en-US" b="0" i="0" dirty="0">
                <a:solidFill>
                  <a:srgbClr val="333333"/>
                </a:solidFill>
                <a:effectLst/>
                <a:latin typeface="arial" panose="020B0604020202020204" pitchFamily="34" charset="0"/>
              </a:rPr>
              <a:t>View();</a:t>
            </a:r>
            <a:br>
              <a:rPr lang="en-US" dirty="0"/>
            </a:br>
            <a:r>
              <a:rPr lang="en-US" b="0" i="0" dirty="0">
                <a:solidFill>
                  <a:srgbClr val="333333"/>
                </a:solidFill>
                <a:effectLst/>
                <a:latin typeface="arial" panose="020B0604020202020204" pitchFamily="34" charset="0"/>
              </a:rPr>
              <a:t>    }</a:t>
            </a:r>
            <a:br>
              <a:rPr lang="en-US" dirty="0"/>
            </a:br>
            <a:r>
              <a:rPr lang="en-US" b="0" i="0" dirty="0">
                <a:solidFill>
                  <a:srgbClr val="333333"/>
                </a:solidFill>
                <a:effectLst/>
                <a:latin typeface="arial" panose="020B0604020202020204" pitchFamily="34" charset="0"/>
              </a:rPr>
              <a:t>}</a:t>
            </a:r>
            <a:endParaRPr lang="en-IN" dirty="0"/>
          </a:p>
        </p:txBody>
      </p:sp>
      <p:sp>
        <p:nvSpPr>
          <p:cNvPr id="13" name="TextBox 12">
            <a:extLst>
              <a:ext uri="{FF2B5EF4-FFF2-40B4-BE49-F238E27FC236}">
                <a16:creationId xmlns:a16="http://schemas.microsoft.com/office/drawing/2014/main" id="{31BACED7-BD31-4566-885E-0192E321D6E2}"/>
              </a:ext>
            </a:extLst>
          </p:cNvPr>
          <p:cNvSpPr txBox="1"/>
          <p:nvPr/>
        </p:nvSpPr>
        <p:spPr>
          <a:xfrm>
            <a:off x="5574890" y="2285037"/>
            <a:ext cx="6096000" cy="2031325"/>
          </a:xfrm>
          <a:prstGeom prst="rect">
            <a:avLst/>
          </a:prstGeom>
          <a:noFill/>
        </p:spPr>
        <p:txBody>
          <a:bodyPr wrap="square">
            <a:spAutoFit/>
          </a:bodyPr>
          <a:lstStyle/>
          <a:p>
            <a:r>
              <a:rPr lang="en-US" b="0" i="0" dirty="0">
                <a:solidFill>
                  <a:srgbClr val="333333"/>
                </a:solidFill>
                <a:effectLst/>
                <a:latin typeface="arial" panose="020B0604020202020204" pitchFamily="34" charset="0"/>
              </a:rPr>
              <a:t>The </a:t>
            </a:r>
            <a:r>
              <a:rPr lang="en-US" b="0" i="0" dirty="0">
                <a:solidFill>
                  <a:srgbClr val="3D85C6"/>
                </a:solidFill>
                <a:effectLst/>
                <a:latin typeface="arial" panose="020B0604020202020204" pitchFamily="34" charset="0"/>
              </a:rPr>
              <a:t>Route</a:t>
            </a:r>
            <a:r>
              <a:rPr lang="en-US" b="0" i="0" dirty="0">
                <a:solidFill>
                  <a:srgbClr val="333333"/>
                </a:solidFill>
                <a:effectLst/>
                <a:latin typeface="arial" panose="020B0604020202020204" pitchFamily="34" charset="0"/>
              </a:rPr>
              <a:t>() attribute is specified 3 times on the </a:t>
            </a:r>
            <a:r>
              <a:rPr lang="en-US" b="0" i="0" dirty="0">
                <a:solidFill>
                  <a:srgbClr val="0000FF"/>
                </a:solidFill>
                <a:effectLst/>
                <a:latin typeface="arial" panose="020B0604020202020204" pitchFamily="34" charset="0"/>
              </a:rPr>
              <a:t>Index() </a:t>
            </a:r>
            <a:r>
              <a:rPr lang="en-US" b="0" i="0" dirty="0">
                <a:solidFill>
                  <a:srgbClr val="333333"/>
                </a:solidFill>
                <a:effectLst/>
                <a:latin typeface="arial" panose="020B0604020202020204" pitchFamily="34" charset="0"/>
              </a:rPr>
              <a:t>action method. With each instance of the </a:t>
            </a:r>
            <a:r>
              <a:rPr lang="en-US" b="0" i="0" dirty="0">
                <a:solidFill>
                  <a:srgbClr val="3D85C6"/>
                </a:solidFill>
                <a:effectLst/>
                <a:latin typeface="arial" panose="020B0604020202020204" pitchFamily="34" charset="0"/>
              </a:rPr>
              <a:t>Route</a:t>
            </a:r>
            <a:r>
              <a:rPr lang="en-US" b="0" i="0" dirty="0">
                <a:solidFill>
                  <a:srgbClr val="333333"/>
                </a:solidFill>
                <a:effectLst/>
                <a:latin typeface="arial" panose="020B0604020202020204" pitchFamily="34" charset="0"/>
              </a:rPr>
              <a:t>() attribute we specified a different route template. With these 3 route templates in place, the </a:t>
            </a:r>
            <a:r>
              <a:rPr lang="en-US" b="0" i="0" dirty="0">
                <a:solidFill>
                  <a:srgbClr val="0000FF"/>
                </a:solidFill>
                <a:effectLst/>
                <a:latin typeface="arial" panose="020B0604020202020204" pitchFamily="34" charset="0"/>
              </a:rPr>
              <a:t>Index() </a:t>
            </a:r>
            <a:r>
              <a:rPr lang="en-US" b="0" i="0" dirty="0">
                <a:solidFill>
                  <a:srgbClr val="333333"/>
                </a:solidFill>
                <a:effectLst/>
                <a:latin typeface="arial" panose="020B0604020202020204" pitchFamily="34" charset="0"/>
              </a:rPr>
              <a:t>action method of the </a:t>
            </a:r>
            <a:r>
              <a:rPr lang="en-US" b="0" i="0" dirty="0" err="1">
                <a:solidFill>
                  <a:srgbClr val="3D85C6"/>
                </a:solidFill>
                <a:effectLst/>
                <a:latin typeface="arial" panose="020B0604020202020204" pitchFamily="34" charset="0"/>
              </a:rPr>
              <a:t>HomeController</a:t>
            </a:r>
            <a:r>
              <a:rPr lang="en-US" b="0" i="0" dirty="0">
                <a:solidFill>
                  <a:srgbClr val="3D85C6"/>
                </a:solidFill>
                <a:effectLst/>
                <a:latin typeface="arial" panose="020B0604020202020204" pitchFamily="34" charset="0"/>
              </a:rPr>
              <a:t> </a:t>
            </a:r>
            <a:r>
              <a:rPr lang="en-US" b="0" i="0" dirty="0">
                <a:solidFill>
                  <a:srgbClr val="333333"/>
                </a:solidFill>
                <a:effectLst/>
                <a:latin typeface="arial" panose="020B0604020202020204" pitchFamily="34" charset="0"/>
              </a:rPr>
              <a:t>will be executed for any of the following 3 URL paths.</a:t>
            </a:r>
            <a:br>
              <a:rPr lang="en-US" dirty="0"/>
            </a:br>
            <a:endParaRPr lang="en-IN" dirty="0"/>
          </a:p>
        </p:txBody>
      </p:sp>
    </p:spTree>
    <p:extLst>
      <p:ext uri="{BB962C8B-B14F-4D97-AF65-F5344CB8AC3E}">
        <p14:creationId xmlns:p14="http://schemas.microsoft.com/office/powerpoint/2010/main" val="3663628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827F71-D4DF-4F09-92E7-64621838F711}"/>
              </a:ext>
            </a:extLst>
          </p:cNvPr>
          <p:cNvSpPr txBox="1"/>
          <p:nvPr/>
        </p:nvSpPr>
        <p:spPr>
          <a:xfrm>
            <a:off x="2448232" y="120134"/>
            <a:ext cx="6096000" cy="369332"/>
          </a:xfrm>
          <a:prstGeom prst="rect">
            <a:avLst/>
          </a:prstGeom>
          <a:noFill/>
        </p:spPr>
        <p:txBody>
          <a:bodyPr wrap="square">
            <a:spAutoFit/>
          </a:bodyPr>
          <a:lstStyle/>
          <a:p>
            <a:r>
              <a:rPr lang="en-IN" b="1" i="0" dirty="0">
                <a:solidFill>
                  <a:srgbClr val="333333"/>
                </a:solidFill>
                <a:effectLst/>
                <a:latin typeface="arial" panose="020B0604020202020204" pitchFamily="34" charset="0"/>
              </a:rPr>
              <a:t>Attribute Routing Parameters</a:t>
            </a:r>
            <a:endParaRPr lang="en-IN" dirty="0"/>
          </a:p>
        </p:txBody>
      </p:sp>
      <p:sp>
        <p:nvSpPr>
          <p:cNvPr id="7" name="TextBox 6">
            <a:extLst>
              <a:ext uri="{FF2B5EF4-FFF2-40B4-BE49-F238E27FC236}">
                <a16:creationId xmlns:a16="http://schemas.microsoft.com/office/drawing/2014/main" id="{01699FC2-BFBB-4DF8-A6D5-0A2315B5A306}"/>
              </a:ext>
            </a:extLst>
          </p:cNvPr>
          <p:cNvSpPr txBox="1"/>
          <p:nvPr/>
        </p:nvSpPr>
        <p:spPr>
          <a:xfrm>
            <a:off x="176980" y="368538"/>
            <a:ext cx="11700387"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With conventional routing we can specify route parameter as part of the route template. We can do the same with attribute routing as well. Consider the example below. </a:t>
            </a:r>
            <a:endParaRPr lang="en-IN" dirty="0"/>
          </a:p>
        </p:txBody>
      </p:sp>
      <p:sp>
        <p:nvSpPr>
          <p:cNvPr id="11" name="Rectangle 4">
            <a:extLst>
              <a:ext uri="{FF2B5EF4-FFF2-40B4-BE49-F238E27FC236}">
                <a16:creationId xmlns:a16="http://schemas.microsoft.com/office/drawing/2014/main" id="{9448F980-3889-4A36-AB34-61014A057B70}"/>
              </a:ext>
            </a:extLst>
          </p:cNvPr>
          <p:cNvSpPr>
            <a:spLocks noChangeArrowheads="1"/>
          </p:cNvSpPr>
          <p:nvPr/>
        </p:nvSpPr>
        <p:spPr bwMode="auto">
          <a:xfrm>
            <a:off x="88491" y="1373124"/>
            <a:ext cx="5034116" cy="4708981"/>
          </a:xfrm>
          <a:prstGeom prst="rect">
            <a:avLst/>
          </a:prstGeo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2B91AF"/>
                </a:solidFill>
                <a:effectLst/>
                <a:latin typeface="Arial" panose="020B0604020202020204" pitchFamily="34" charset="0"/>
                <a:cs typeface="Arial" panose="020B0604020202020204" pitchFamily="34" charset="0"/>
              </a:rPr>
              <a:t>HomeController</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Controller</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private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IEmployeeRepository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HomeController</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IEmployeeRepository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Route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"Home/Details/{id}"</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ViewResult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Details(</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 _</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employeeRepository.GetEmployee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(id),</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PageTitle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"Employee Details"</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View(</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50" b="0" i="0" u="none" strike="noStrike" cap="none" normalizeH="0" baseline="0" dirty="0">
              <a:ln>
                <a:noFill/>
              </a:ln>
              <a:solidFill>
                <a:schemeClr val="tx1"/>
              </a:solidFill>
              <a:effectLst/>
            </a:endParaRPr>
          </a:p>
        </p:txBody>
      </p:sp>
      <p:sp>
        <p:nvSpPr>
          <p:cNvPr id="13" name="TextBox 12">
            <a:extLst>
              <a:ext uri="{FF2B5EF4-FFF2-40B4-BE49-F238E27FC236}">
                <a16:creationId xmlns:a16="http://schemas.microsoft.com/office/drawing/2014/main" id="{9E40E84E-B67A-45EF-B497-F57FA4275BD9}"/>
              </a:ext>
            </a:extLst>
          </p:cNvPr>
          <p:cNvSpPr txBox="1"/>
          <p:nvPr/>
        </p:nvSpPr>
        <p:spPr>
          <a:xfrm>
            <a:off x="6646606" y="639999"/>
            <a:ext cx="5407742" cy="369332"/>
          </a:xfrm>
          <a:prstGeom prst="rect">
            <a:avLst/>
          </a:prstGeom>
          <a:noFill/>
        </p:spPr>
        <p:txBody>
          <a:bodyPr wrap="square">
            <a:spAutoFit/>
          </a:bodyPr>
          <a:lstStyle/>
          <a:p>
            <a:r>
              <a:rPr lang="en-IN" b="1" i="0" dirty="0">
                <a:solidFill>
                  <a:srgbClr val="333333"/>
                </a:solidFill>
                <a:effectLst/>
                <a:latin typeface="arial" panose="020B0604020202020204" pitchFamily="34" charset="0"/>
              </a:rPr>
              <a:t>Attribute Route Optional Parameters</a:t>
            </a:r>
            <a:endParaRPr lang="en-IN" dirty="0"/>
          </a:p>
        </p:txBody>
      </p:sp>
      <p:sp>
        <p:nvSpPr>
          <p:cNvPr id="15" name="TextBox 14">
            <a:extLst>
              <a:ext uri="{FF2B5EF4-FFF2-40B4-BE49-F238E27FC236}">
                <a16:creationId xmlns:a16="http://schemas.microsoft.com/office/drawing/2014/main" id="{28F60717-9103-460D-A46E-E0E7DE3BE1F0}"/>
              </a:ext>
            </a:extLst>
          </p:cNvPr>
          <p:cNvSpPr txBox="1"/>
          <p:nvPr/>
        </p:nvSpPr>
        <p:spPr>
          <a:xfrm>
            <a:off x="5486400" y="1173069"/>
            <a:ext cx="6567948" cy="1815882"/>
          </a:xfrm>
          <a:prstGeom prst="rect">
            <a:avLst/>
          </a:prstGeom>
          <a:noFill/>
        </p:spPr>
        <p:txBody>
          <a:bodyPr wrap="square">
            <a:spAutoFit/>
          </a:bodyPr>
          <a:lstStyle/>
          <a:p>
            <a:r>
              <a:rPr lang="en-US" sz="1400" b="0" i="0" dirty="0">
                <a:solidFill>
                  <a:srgbClr val="333333"/>
                </a:solidFill>
                <a:effectLst/>
                <a:latin typeface="arial" panose="020B0604020202020204" pitchFamily="34" charset="0"/>
              </a:rPr>
              <a:t>At the moment, the </a:t>
            </a:r>
            <a:r>
              <a:rPr lang="en-US" sz="1400" b="0" i="0" dirty="0">
                <a:solidFill>
                  <a:srgbClr val="0000FF"/>
                </a:solidFill>
                <a:effectLst/>
                <a:latin typeface="arial" panose="020B0604020202020204" pitchFamily="34" charset="0"/>
              </a:rPr>
              <a:t>Details(int id)</a:t>
            </a:r>
            <a:r>
              <a:rPr lang="en-US" sz="1400" b="0" i="0" dirty="0">
                <a:solidFill>
                  <a:srgbClr val="333333"/>
                </a:solidFill>
                <a:effectLst/>
                <a:latin typeface="arial" panose="020B0604020202020204" pitchFamily="34" charset="0"/>
              </a:rPr>
              <a:t> action method of the </a:t>
            </a:r>
            <a:r>
              <a:rPr lang="en-US" sz="1400" b="0" i="0" dirty="0" err="1">
                <a:solidFill>
                  <a:srgbClr val="3D85C6"/>
                </a:solidFill>
                <a:effectLst/>
                <a:latin typeface="arial" panose="020B0604020202020204" pitchFamily="34" charset="0"/>
              </a:rPr>
              <a:t>HomeController</a:t>
            </a:r>
            <a:r>
              <a:rPr lang="en-US" sz="1400" b="0" i="0" dirty="0">
                <a:solidFill>
                  <a:srgbClr val="3D85C6"/>
                </a:solidFill>
                <a:effectLst/>
                <a:latin typeface="arial" panose="020B0604020202020204" pitchFamily="34" charset="0"/>
              </a:rPr>
              <a:t> </a:t>
            </a:r>
            <a:r>
              <a:rPr lang="en-US" sz="1400" b="0" i="0" dirty="0">
                <a:solidFill>
                  <a:srgbClr val="333333"/>
                </a:solidFill>
                <a:effectLst/>
                <a:latin typeface="arial" panose="020B0604020202020204" pitchFamily="34" charset="0"/>
              </a:rPr>
              <a:t>is executed, only if we have a value for the </a:t>
            </a:r>
            <a:r>
              <a:rPr lang="en-US" sz="1400" b="0" i="0" dirty="0">
                <a:solidFill>
                  <a:srgbClr val="0000FF"/>
                </a:solidFill>
                <a:effectLst/>
                <a:latin typeface="arial" panose="020B0604020202020204" pitchFamily="34" charset="0"/>
              </a:rPr>
              <a:t>"id"</a:t>
            </a:r>
            <a:r>
              <a:rPr lang="en-US" sz="1400" b="0" i="0" dirty="0">
                <a:solidFill>
                  <a:srgbClr val="333333"/>
                </a:solidFill>
                <a:effectLst/>
                <a:latin typeface="arial" panose="020B0604020202020204" pitchFamily="34" charset="0"/>
              </a:rPr>
              <a:t> route parameter in the URL</a:t>
            </a:r>
            <a:r>
              <a:rPr lang="en-US" sz="1400" b="0" i="0" dirty="0">
                <a:solidFill>
                  <a:srgbClr val="0000FF"/>
                </a:solidFill>
                <a:effectLst/>
                <a:latin typeface="arial" panose="020B0604020202020204" pitchFamily="34" charset="0"/>
              </a:rPr>
              <a:t>(/Home/Details/1)</a:t>
            </a:r>
            <a:r>
              <a:rPr lang="en-US" sz="1400" b="0" i="0" dirty="0">
                <a:solidFill>
                  <a:srgbClr val="333333"/>
                </a:solidFill>
                <a:effectLst/>
                <a:latin typeface="arial" panose="020B0604020202020204" pitchFamily="34" charset="0"/>
              </a:rPr>
              <a:t>. </a:t>
            </a:r>
          </a:p>
          <a:p>
            <a:endParaRPr lang="en-US" sz="1400" dirty="0">
              <a:solidFill>
                <a:srgbClr val="333333"/>
              </a:solidFill>
              <a:latin typeface="arial" panose="020B0604020202020204" pitchFamily="34" charset="0"/>
            </a:endParaRPr>
          </a:p>
          <a:p>
            <a:r>
              <a:rPr lang="en-US" sz="1400" b="0" i="0" dirty="0">
                <a:solidFill>
                  <a:srgbClr val="333333"/>
                </a:solidFill>
                <a:effectLst/>
                <a:latin typeface="arial" panose="020B0604020202020204" pitchFamily="34" charset="0"/>
              </a:rPr>
              <a:t>If the </a:t>
            </a:r>
            <a:r>
              <a:rPr lang="en-US" sz="1400" b="0" i="0" dirty="0">
                <a:solidFill>
                  <a:srgbClr val="0000FF"/>
                </a:solidFill>
                <a:effectLst/>
                <a:latin typeface="arial" panose="020B0604020202020204" pitchFamily="34" charset="0"/>
              </a:rPr>
              <a:t>id </a:t>
            </a:r>
            <a:r>
              <a:rPr lang="en-US" sz="1400" b="0" i="0" dirty="0">
                <a:solidFill>
                  <a:srgbClr val="333333"/>
                </a:solidFill>
                <a:effectLst/>
                <a:latin typeface="arial" panose="020B0604020202020204" pitchFamily="34" charset="0"/>
              </a:rPr>
              <a:t>value is not in the URL, we get </a:t>
            </a:r>
            <a:r>
              <a:rPr lang="en-US" sz="1400" b="0" i="0" dirty="0">
                <a:solidFill>
                  <a:srgbClr val="FF0000"/>
                </a:solidFill>
                <a:effectLst/>
                <a:latin typeface="arial" panose="020B0604020202020204" pitchFamily="34" charset="0"/>
              </a:rPr>
              <a:t>404</a:t>
            </a:r>
            <a:r>
              <a:rPr lang="en-US" sz="1400" b="0" i="0" dirty="0">
                <a:solidFill>
                  <a:srgbClr val="333333"/>
                </a:solidFill>
                <a:effectLst/>
                <a:latin typeface="arial" panose="020B0604020202020204" pitchFamily="34" charset="0"/>
              </a:rPr>
              <a:t>. For example, </a:t>
            </a:r>
            <a:r>
              <a:rPr lang="en-US" sz="1400" b="0" i="0" dirty="0" err="1">
                <a:solidFill>
                  <a:srgbClr val="333333"/>
                </a:solidFill>
                <a:effectLst/>
                <a:latin typeface="arial" panose="020B0604020202020204" pitchFamily="34" charset="0"/>
              </a:rPr>
              <a:t>URl</a:t>
            </a:r>
            <a:r>
              <a:rPr lang="en-US" sz="1400" b="0" i="0" dirty="0">
                <a:solidFill>
                  <a:srgbClr val="333333"/>
                </a:solidFill>
                <a:effectLst/>
                <a:latin typeface="arial" panose="020B0604020202020204" pitchFamily="34" charset="0"/>
              </a:rPr>
              <a:t> </a:t>
            </a:r>
            <a:r>
              <a:rPr lang="en-US" sz="1400" b="0" i="0" dirty="0">
                <a:solidFill>
                  <a:srgbClr val="0000FF"/>
                </a:solidFill>
                <a:effectLst/>
                <a:latin typeface="arial" panose="020B0604020202020204" pitchFamily="34" charset="0"/>
              </a:rPr>
              <a:t>/Home/Details</a:t>
            </a:r>
            <a:r>
              <a:rPr lang="en-US" sz="1400" b="0" i="0" dirty="0">
                <a:solidFill>
                  <a:srgbClr val="333333"/>
                </a:solidFill>
                <a:effectLst/>
                <a:latin typeface="arial" panose="020B0604020202020204" pitchFamily="34" charset="0"/>
              </a:rPr>
              <a:t> will not execute the </a:t>
            </a:r>
            <a:r>
              <a:rPr lang="en-US" sz="1400" b="0" i="0" dirty="0">
                <a:solidFill>
                  <a:srgbClr val="0000FF"/>
                </a:solidFill>
                <a:effectLst/>
                <a:latin typeface="arial" panose="020B0604020202020204" pitchFamily="34" charset="0"/>
              </a:rPr>
              <a:t>Details(int id)</a:t>
            </a:r>
            <a:r>
              <a:rPr lang="en-US" sz="1400" b="0" i="0" dirty="0">
                <a:solidFill>
                  <a:srgbClr val="333333"/>
                </a:solidFill>
                <a:effectLst/>
                <a:latin typeface="arial" panose="020B0604020202020204" pitchFamily="34" charset="0"/>
              </a:rPr>
              <a:t> action method. Instead </a:t>
            </a:r>
            <a:r>
              <a:rPr lang="en-US" sz="1400" b="0" i="0" dirty="0">
                <a:solidFill>
                  <a:srgbClr val="FF0000"/>
                </a:solidFill>
                <a:effectLst/>
                <a:latin typeface="arial" panose="020B0604020202020204" pitchFamily="34" charset="0"/>
              </a:rPr>
              <a:t>404 error</a:t>
            </a:r>
            <a:r>
              <a:rPr lang="en-US" sz="1400" b="0" i="0" dirty="0">
                <a:solidFill>
                  <a:srgbClr val="333333"/>
                </a:solidFill>
                <a:effectLst/>
                <a:latin typeface="arial" panose="020B0604020202020204" pitchFamily="34" charset="0"/>
              </a:rPr>
              <a:t> </a:t>
            </a:r>
            <a:r>
              <a:rPr lang="en-US" sz="1200" b="0" i="0" dirty="0">
                <a:solidFill>
                  <a:srgbClr val="333333"/>
                </a:solidFill>
                <a:effectLst/>
                <a:latin typeface="arial" panose="020B0604020202020204" pitchFamily="34" charset="0"/>
              </a:rPr>
              <a:t>is</a:t>
            </a:r>
            <a:r>
              <a:rPr lang="en-US" sz="1400" b="0" i="0" dirty="0">
                <a:solidFill>
                  <a:srgbClr val="333333"/>
                </a:solidFill>
                <a:effectLst/>
                <a:latin typeface="arial" panose="020B0604020202020204" pitchFamily="34" charset="0"/>
              </a:rPr>
              <a:t> displayed.</a:t>
            </a:r>
            <a:br>
              <a:rPr lang="en-US" sz="1400" dirty="0"/>
            </a:br>
            <a:br>
              <a:rPr lang="en-US" sz="1400" dirty="0"/>
            </a:br>
            <a:r>
              <a:rPr lang="en-US" sz="1400" b="0" i="0" dirty="0">
                <a:solidFill>
                  <a:srgbClr val="333333"/>
                </a:solidFill>
                <a:effectLst/>
                <a:latin typeface="arial" panose="020B0604020202020204" pitchFamily="34" charset="0"/>
              </a:rPr>
              <a:t>To make the route parameter </a:t>
            </a:r>
            <a:r>
              <a:rPr lang="en-US" sz="1400" b="1" i="0" dirty="0">
                <a:solidFill>
                  <a:srgbClr val="CC0000"/>
                </a:solidFill>
                <a:effectLst/>
                <a:latin typeface="arial" panose="020B0604020202020204" pitchFamily="34" charset="0"/>
              </a:rPr>
              <a:t>"id"</a:t>
            </a:r>
            <a:r>
              <a:rPr lang="en-US" sz="1400" b="0" i="0" dirty="0">
                <a:solidFill>
                  <a:srgbClr val="333333"/>
                </a:solidFill>
                <a:effectLst/>
                <a:latin typeface="arial" panose="020B0604020202020204" pitchFamily="34" charset="0"/>
              </a:rPr>
              <a:t> optional, simply include a </a:t>
            </a:r>
            <a:r>
              <a:rPr lang="en-US" sz="1400" b="1" i="0" dirty="0">
                <a:solidFill>
                  <a:srgbClr val="CC0000"/>
                </a:solidFill>
                <a:effectLst/>
                <a:latin typeface="arial" panose="020B0604020202020204" pitchFamily="34" charset="0"/>
              </a:rPr>
              <a:t>"?"</a:t>
            </a:r>
            <a:r>
              <a:rPr lang="en-US" sz="1400" b="0" i="0" dirty="0">
                <a:solidFill>
                  <a:srgbClr val="333333"/>
                </a:solidFill>
                <a:effectLst/>
                <a:latin typeface="arial" panose="020B0604020202020204" pitchFamily="34" charset="0"/>
              </a:rPr>
              <a:t> at the end.</a:t>
            </a:r>
            <a:endParaRPr lang="en-IN" sz="1400" dirty="0"/>
          </a:p>
        </p:txBody>
      </p:sp>
      <p:sp>
        <p:nvSpPr>
          <p:cNvPr id="16" name="Rectangle 5">
            <a:extLst>
              <a:ext uri="{FF2B5EF4-FFF2-40B4-BE49-F238E27FC236}">
                <a16:creationId xmlns:a16="http://schemas.microsoft.com/office/drawing/2014/main" id="{496363E7-6B1F-4308-ACA4-897F73A12CEE}"/>
              </a:ext>
            </a:extLst>
          </p:cNvPr>
          <p:cNvSpPr>
            <a:spLocks noChangeArrowheads="1"/>
          </p:cNvSpPr>
          <p:nvPr/>
        </p:nvSpPr>
        <p:spPr bwMode="auto">
          <a:xfrm>
            <a:off x="5629275" y="3119789"/>
            <a:ext cx="6169435"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2B91AF"/>
                </a:solidFill>
                <a:effectLst/>
                <a:latin typeface="Arial" panose="020B0604020202020204" pitchFamily="34" charset="0"/>
                <a:cs typeface="Arial" panose="020B0604020202020204" pitchFamily="34" charset="0"/>
              </a:rPr>
              <a:t>HomeController</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Controller</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private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HomeController</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8000"/>
                </a:solidFill>
                <a:effectLst/>
                <a:latin typeface="Arial" panose="020B0604020202020204" pitchFamily="34" charset="0"/>
                <a:cs typeface="Arial" panose="020B0604020202020204" pitchFamily="34" charset="0"/>
              </a:rPr>
              <a:t>// The ? makes id route parameter optional. To make it required remove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 [Route(</a:t>
            </a:r>
            <a:r>
              <a:rPr kumimoji="0" lang="en-US" altLang="en-US" sz="1000" b="0" i="0" u="none" strike="noStrike" cap="none" normalizeH="0" baseline="0" dirty="0">
                <a:ln>
                  <a:noFill/>
                </a:ln>
                <a:solidFill>
                  <a:srgbClr val="A31515"/>
                </a:solidFill>
                <a:effectLst/>
                <a:highlight>
                  <a:srgbClr val="FFFF00"/>
                </a:highlight>
                <a:latin typeface="Arial" panose="020B0604020202020204" pitchFamily="34" charset="0"/>
                <a:cs typeface="Arial" panose="020B0604020202020204" pitchFamily="34" charset="0"/>
              </a:rPr>
              <a:t>"Home/Details/{id?}"</a:t>
            </a:r>
            <a:r>
              <a:rPr kumimoji="0" lang="en-US" altLang="en-US" sz="10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highlight>
                <a:srgbClr val="FFFF00"/>
              </a:highligh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8000"/>
                </a:solidFill>
                <a:effectLst/>
                <a:latin typeface="Arial" panose="020B0604020202020204" pitchFamily="34" charset="0"/>
                <a:cs typeface="Arial" panose="020B0604020202020204" pitchFamily="34" charset="0"/>
              </a:rPr>
              <a:t>// ? makes id method parameter nullable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ViewResult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Details(</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8000"/>
                </a:solidFill>
                <a:effectLst/>
                <a:latin typeface="Arial" panose="020B0604020202020204" pitchFamily="34" charset="0"/>
                <a:cs typeface="Arial" panose="020B0604020202020204" pitchFamily="34" charset="0"/>
              </a:rPr>
              <a:t>// If "id" is null use 1, else use the value passed from the route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 _</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employeeRepository.GetEmployee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(id ?? 1),</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PageTitle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0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"Employee Details"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View(</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9506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1BF439-8CA7-400E-8955-055569ABC8F4}"/>
              </a:ext>
            </a:extLst>
          </p:cNvPr>
          <p:cNvSpPr txBox="1"/>
          <p:nvPr/>
        </p:nvSpPr>
        <p:spPr>
          <a:xfrm>
            <a:off x="2782529" y="99623"/>
            <a:ext cx="6096000" cy="646331"/>
          </a:xfrm>
          <a:prstGeom prst="rect">
            <a:avLst/>
          </a:prstGeom>
          <a:noFill/>
        </p:spPr>
        <p:txBody>
          <a:bodyPr wrap="square">
            <a:spAutoFit/>
          </a:bodyPr>
          <a:lstStyle/>
          <a:p>
            <a:r>
              <a:rPr lang="en-US" b="1" i="0" dirty="0">
                <a:solidFill>
                  <a:srgbClr val="333333"/>
                </a:solidFill>
                <a:effectLst/>
                <a:latin typeface="arial" panose="020B0604020202020204" pitchFamily="34" charset="0"/>
              </a:rPr>
              <a:t>Controller and Action Method Names</a:t>
            </a:r>
            <a:br>
              <a:rPr lang="en-US" dirty="0"/>
            </a:br>
            <a:endParaRPr lang="en-IN" dirty="0"/>
          </a:p>
        </p:txBody>
      </p:sp>
      <p:sp>
        <p:nvSpPr>
          <p:cNvPr id="7" name="TextBox 6">
            <a:extLst>
              <a:ext uri="{FF2B5EF4-FFF2-40B4-BE49-F238E27FC236}">
                <a16:creationId xmlns:a16="http://schemas.microsoft.com/office/drawing/2014/main" id="{9A5122A6-40EF-498E-BB5C-7022B83CA295}"/>
              </a:ext>
            </a:extLst>
          </p:cNvPr>
          <p:cNvSpPr txBox="1"/>
          <p:nvPr/>
        </p:nvSpPr>
        <p:spPr>
          <a:xfrm>
            <a:off x="452283" y="745954"/>
            <a:ext cx="11631562"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With attribute routing the controller name and action method names play no role in which action is selected. Consider the example below. </a:t>
            </a:r>
            <a:endParaRPr lang="en-IN" dirty="0"/>
          </a:p>
        </p:txBody>
      </p:sp>
      <p:sp>
        <p:nvSpPr>
          <p:cNvPr id="8" name="Rectangle 1">
            <a:extLst>
              <a:ext uri="{FF2B5EF4-FFF2-40B4-BE49-F238E27FC236}">
                <a16:creationId xmlns:a16="http://schemas.microsoft.com/office/drawing/2014/main" id="{18374B1B-9DD0-4553-BDEF-0536F47F7E48}"/>
              </a:ext>
            </a:extLst>
          </p:cNvPr>
          <p:cNvSpPr>
            <a:spLocks noChangeArrowheads="1"/>
          </p:cNvSpPr>
          <p:nvPr/>
        </p:nvSpPr>
        <p:spPr bwMode="auto">
          <a:xfrm>
            <a:off x="373625" y="1645784"/>
            <a:ext cx="481780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rgbClr val="2B91AF"/>
                </a:solidFill>
                <a:effectLst/>
                <a:latin typeface="Arial" panose="020B0604020202020204" pitchFamily="34" charset="0"/>
                <a:cs typeface="Arial" panose="020B0604020202020204" pitchFamily="34" charset="0"/>
              </a:rPr>
              <a:t>WelcomeController</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Controller</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Route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Route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"Home"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Route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"Home/Index"</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ViewResult</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Welcome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View();</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B68C8021-AA5D-4E52-8263-A604D6931B78}"/>
              </a:ext>
            </a:extLst>
          </p:cNvPr>
          <p:cNvSpPr txBox="1"/>
          <p:nvPr/>
        </p:nvSpPr>
        <p:spPr>
          <a:xfrm>
            <a:off x="5191432" y="1559541"/>
            <a:ext cx="6096000" cy="2308324"/>
          </a:xfrm>
          <a:prstGeom prst="rect">
            <a:avLst/>
          </a:prstGeom>
          <a:noFill/>
        </p:spPr>
        <p:txBody>
          <a:bodyPr wrap="square">
            <a:spAutoFit/>
          </a:bodyPr>
          <a:lstStyle/>
          <a:p>
            <a:r>
              <a:rPr lang="en-US" b="0" i="0" dirty="0">
                <a:solidFill>
                  <a:srgbClr val="333333"/>
                </a:solidFill>
                <a:effectLst/>
                <a:latin typeface="arial" panose="020B0604020202020204" pitchFamily="34" charset="0"/>
              </a:rPr>
              <a:t>Since we have specified the route template directly on the action method, </a:t>
            </a:r>
            <a:r>
              <a:rPr lang="en-US" b="0" i="0" dirty="0">
                <a:solidFill>
                  <a:srgbClr val="0000FF"/>
                </a:solidFill>
                <a:effectLst/>
                <a:latin typeface="arial" panose="020B0604020202020204" pitchFamily="34" charset="0"/>
              </a:rPr>
              <a:t>Welcome()</a:t>
            </a:r>
            <a:r>
              <a:rPr lang="en-US" b="0" i="0" dirty="0">
                <a:solidFill>
                  <a:srgbClr val="333333"/>
                </a:solidFill>
                <a:effectLst/>
                <a:latin typeface="arial" panose="020B0604020202020204" pitchFamily="34" charset="0"/>
              </a:rPr>
              <a:t> action in the </a:t>
            </a:r>
            <a:r>
              <a:rPr lang="en-US" b="0" i="0" dirty="0" err="1">
                <a:solidFill>
                  <a:srgbClr val="3D85C6"/>
                </a:solidFill>
                <a:effectLst/>
                <a:latin typeface="arial" panose="020B0604020202020204" pitchFamily="34" charset="0"/>
              </a:rPr>
              <a:t>WelcomeController</a:t>
            </a:r>
            <a:r>
              <a:rPr lang="en-US" b="0" i="0" dirty="0">
                <a:solidFill>
                  <a:srgbClr val="3D85C6"/>
                </a:solidFill>
                <a:effectLst/>
                <a:latin typeface="arial" panose="020B0604020202020204" pitchFamily="34" charset="0"/>
              </a:rPr>
              <a:t> </a:t>
            </a:r>
            <a:r>
              <a:rPr lang="en-US" b="0" i="0" dirty="0">
                <a:solidFill>
                  <a:srgbClr val="333333"/>
                </a:solidFill>
                <a:effectLst/>
                <a:latin typeface="arial" panose="020B0604020202020204" pitchFamily="34" charset="0"/>
              </a:rPr>
              <a:t>is executed for all the following 3 URL paths. </a:t>
            </a:r>
            <a:br>
              <a:rPr lang="en-US" dirty="0"/>
            </a:br>
            <a:br>
              <a:rPr lang="en-US" dirty="0"/>
            </a:br>
            <a:r>
              <a:rPr lang="en-US" b="1" i="0" dirty="0">
                <a:solidFill>
                  <a:srgbClr val="0000FF"/>
                </a:solidFill>
                <a:effectLst/>
                <a:latin typeface="arial" panose="020B0604020202020204" pitchFamily="34" charset="0"/>
              </a:rPr>
              <a:t>/</a:t>
            </a:r>
            <a:br>
              <a:rPr lang="en-US" dirty="0"/>
            </a:br>
            <a:r>
              <a:rPr lang="en-US" b="1" i="0" dirty="0">
                <a:solidFill>
                  <a:srgbClr val="0000FF"/>
                </a:solidFill>
                <a:effectLst/>
                <a:latin typeface="arial" panose="020B0604020202020204" pitchFamily="34" charset="0"/>
              </a:rPr>
              <a:t>/Home</a:t>
            </a:r>
            <a:br>
              <a:rPr lang="en-US" dirty="0"/>
            </a:br>
            <a:r>
              <a:rPr lang="en-US" b="1" i="0" dirty="0">
                <a:solidFill>
                  <a:srgbClr val="0000FF"/>
                </a:solidFill>
                <a:effectLst/>
                <a:latin typeface="arial" panose="020B0604020202020204" pitchFamily="34" charset="0"/>
              </a:rPr>
              <a:t>/Home/Index</a:t>
            </a:r>
            <a:endParaRPr lang="en-IN" dirty="0"/>
          </a:p>
        </p:txBody>
      </p:sp>
    </p:spTree>
    <p:extLst>
      <p:ext uri="{BB962C8B-B14F-4D97-AF65-F5344CB8AC3E}">
        <p14:creationId xmlns:p14="http://schemas.microsoft.com/office/powerpoint/2010/main" val="3341339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C45BA7-F68A-4C5D-BC11-E8BE20EC49F1}"/>
              </a:ext>
            </a:extLst>
          </p:cNvPr>
          <p:cNvSpPr txBox="1"/>
          <p:nvPr/>
        </p:nvSpPr>
        <p:spPr>
          <a:xfrm>
            <a:off x="3048000" y="0"/>
            <a:ext cx="6096000" cy="646331"/>
          </a:xfrm>
          <a:prstGeom prst="rect">
            <a:avLst/>
          </a:prstGeom>
          <a:noFill/>
        </p:spPr>
        <p:txBody>
          <a:bodyPr wrap="square">
            <a:spAutoFit/>
          </a:bodyPr>
          <a:lstStyle/>
          <a:p>
            <a:r>
              <a:rPr lang="en-IN" b="1" i="0" dirty="0">
                <a:solidFill>
                  <a:srgbClr val="333333"/>
                </a:solidFill>
                <a:effectLst/>
                <a:latin typeface="arial" panose="020B0604020202020204" pitchFamily="34" charset="0"/>
              </a:rPr>
              <a:t>Attribute Routes are Hierarchical</a:t>
            </a:r>
            <a:br>
              <a:rPr lang="en-IN" dirty="0"/>
            </a:br>
            <a:endParaRPr lang="en-IN" dirty="0"/>
          </a:p>
        </p:txBody>
      </p:sp>
      <p:sp>
        <p:nvSpPr>
          <p:cNvPr id="7" name="TextBox 6">
            <a:extLst>
              <a:ext uri="{FF2B5EF4-FFF2-40B4-BE49-F238E27FC236}">
                <a16:creationId xmlns:a16="http://schemas.microsoft.com/office/drawing/2014/main" id="{DA57B74E-DF31-4479-8977-DB61FB1CC89C}"/>
              </a:ext>
            </a:extLst>
          </p:cNvPr>
          <p:cNvSpPr txBox="1"/>
          <p:nvPr/>
        </p:nvSpPr>
        <p:spPr>
          <a:xfrm>
            <a:off x="137649" y="323165"/>
            <a:ext cx="11759381" cy="1200329"/>
          </a:xfrm>
          <a:prstGeom prst="rect">
            <a:avLst/>
          </a:prstGeom>
          <a:noFill/>
        </p:spPr>
        <p:txBody>
          <a:bodyPr wrap="square">
            <a:spAutoFit/>
          </a:bodyPr>
          <a:lstStyle/>
          <a:p>
            <a:r>
              <a:rPr lang="en-US" b="0" i="0" dirty="0">
                <a:solidFill>
                  <a:srgbClr val="333333"/>
                </a:solidFill>
                <a:effectLst/>
                <a:latin typeface="arial" panose="020B0604020202020204" pitchFamily="34" charset="0"/>
              </a:rPr>
              <a:t>he </a:t>
            </a:r>
            <a:r>
              <a:rPr lang="en-US" b="0" i="0" dirty="0">
                <a:solidFill>
                  <a:srgbClr val="3D85C6"/>
                </a:solidFill>
                <a:effectLst/>
                <a:latin typeface="arial" panose="020B0604020202020204" pitchFamily="34" charset="0"/>
              </a:rPr>
              <a:t>Route</a:t>
            </a:r>
            <a:r>
              <a:rPr lang="en-US" b="0" i="0" dirty="0">
                <a:solidFill>
                  <a:srgbClr val="333333"/>
                </a:solidFill>
                <a:effectLst/>
                <a:latin typeface="arial" panose="020B0604020202020204" pitchFamily="34" charset="0"/>
              </a:rPr>
              <a:t>() attribute can be applied on the </a:t>
            </a:r>
            <a:r>
              <a:rPr lang="en-US" b="0" i="0" dirty="0">
                <a:solidFill>
                  <a:srgbClr val="3D85C6"/>
                </a:solidFill>
                <a:effectLst/>
                <a:latin typeface="arial" panose="020B0604020202020204" pitchFamily="34" charset="0"/>
              </a:rPr>
              <a:t>Controller </a:t>
            </a:r>
            <a:r>
              <a:rPr lang="en-US" b="0" i="0" dirty="0">
                <a:solidFill>
                  <a:srgbClr val="333333"/>
                </a:solidFill>
                <a:effectLst/>
                <a:latin typeface="arial" panose="020B0604020202020204" pitchFamily="34" charset="0"/>
              </a:rPr>
              <a:t>class as well on the individual actions. To make attribute routing less repetitive, route attributes on the controller are combined with route attributes on the individual action methods. </a:t>
            </a:r>
            <a:br>
              <a:rPr lang="en-US" dirty="0"/>
            </a:br>
            <a:endParaRPr lang="en-IN" dirty="0"/>
          </a:p>
        </p:txBody>
      </p:sp>
      <p:sp>
        <p:nvSpPr>
          <p:cNvPr id="9" name="TextBox 8">
            <a:extLst>
              <a:ext uri="{FF2B5EF4-FFF2-40B4-BE49-F238E27FC236}">
                <a16:creationId xmlns:a16="http://schemas.microsoft.com/office/drawing/2014/main" id="{DF7E1C7F-3C1B-468D-979F-973048F55CEB}"/>
              </a:ext>
            </a:extLst>
          </p:cNvPr>
          <p:cNvSpPr txBox="1"/>
          <p:nvPr/>
        </p:nvSpPr>
        <p:spPr>
          <a:xfrm>
            <a:off x="137649" y="1200328"/>
            <a:ext cx="11120285"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To make these routes less repetitive, apply the </a:t>
            </a:r>
            <a:r>
              <a:rPr lang="en-US" b="0" i="0" dirty="0">
                <a:solidFill>
                  <a:srgbClr val="3D85C6"/>
                </a:solidFill>
                <a:effectLst/>
                <a:latin typeface="arial" panose="020B0604020202020204" pitchFamily="34" charset="0"/>
              </a:rPr>
              <a:t>Route()</a:t>
            </a:r>
            <a:r>
              <a:rPr lang="en-US" b="0" i="0" dirty="0">
                <a:solidFill>
                  <a:srgbClr val="333333"/>
                </a:solidFill>
                <a:effectLst/>
                <a:latin typeface="arial" panose="020B0604020202020204" pitchFamily="34" charset="0"/>
              </a:rPr>
              <a:t> attribute on the </a:t>
            </a:r>
            <a:r>
              <a:rPr lang="en-US" b="0" i="0" dirty="0" err="1">
                <a:solidFill>
                  <a:srgbClr val="3D85C6"/>
                </a:solidFill>
                <a:effectLst/>
                <a:latin typeface="arial" panose="020B0604020202020204" pitchFamily="34" charset="0"/>
              </a:rPr>
              <a:t>HomeController</a:t>
            </a:r>
            <a:r>
              <a:rPr lang="en-US" b="0" i="0" dirty="0">
                <a:solidFill>
                  <a:srgbClr val="3D85C6"/>
                </a:solidFill>
                <a:effectLst/>
                <a:latin typeface="arial" panose="020B0604020202020204" pitchFamily="34" charset="0"/>
              </a:rPr>
              <a:t> </a:t>
            </a:r>
            <a:r>
              <a:rPr lang="en-US" b="0" i="0" dirty="0">
                <a:solidFill>
                  <a:srgbClr val="333333"/>
                </a:solidFill>
                <a:effectLst/>
                <a:latin typeface="arial" panose="020B0604020202020204" pitchFamily="34" charset="0"/>
              </a:rPr>
              <a:t>class as shown below.</a:t>
            </a:r>
            <a:endParaRPr lang="en-IN" dirty="0"/>
          </a:p>
        </p:txBody>
      </p:sp>
      <p:sp>
        <p:nvSpPr>
          <p:cNvPr id="10" name="Rectangle 1">
            <a:extLst>
              <a:ext uri="{FF2B5EF4-FFF2-40B4-BE49-F238E27FC236}">
                <a16:creationId xmlns:a16="http://schemas.microsoft.com/office/drawing/2014/main" id="{621B4958-2AC2-4826-AD3D-0E14208469EF}"/>
              </a:ext>
            </a:extLst>
          </p:cNvPr>
          <p:cNvSpPr>
            <a:spLocks noChangeArrowheads="1"/>
          </p:cNvSpPr>
          <p:nvPr/>
        </p:nvSpPr>
        <p:spPr bwMode="auto">
          <a:xfrm>
            <a:off x="137649" y="1843950"/>
            <a:ext cx="5338919" cy="5016758"/>
          </a:xfrm>
          <a:prstGeom prst="rect">
            <a:avLst/>
          </a:prstGeo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rgbClr val="3D85C6"/>
                </a:solidFill>
                <a:effectLst/>
                <a:highlight>
                  <a:srgbClr val="FFFF00"/>
                </a:highlight>
                <a:latin typeface="Arial" panose="020B0604020202020204" pitchFamily="34" charset="0"/>
                <a:cs typeface="Arial" panose="020B0604020202020204" pitchFamily="34" charset="0"/>
              </a:rPr>
              <a:t>Route</a:t>
            </a:r>
            <a:r>
              <a:rPr kumimoji="0" lang="en-US" altLang="en-US" sz="10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rgbClr val="A31515"/>
                </a:solidFill>
                <a:effectLst/>
                <a:highlight>
                  <a:srgbClr val="FFFF00"/>
                </a:highlight>
                <a:latin typeface="Arial" panose="020B0604020202020204" pitchFamily="34" charset="0"/>
                <a:cs typeface="Arial" panose="020B0604020202020204" pitchFamily="34" charset="0"/>
              </a:rPr>
              <a:t>"Home"</a:t>
            </a:r>
            <a:r>
              <a:rPr kumimoji="0" lang="en-US" altLang="en-US" sz="10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highlight>
                <a:srgbClr val="FFFF00"/>
              </a:highligh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2B91AF"/>
                </a:solidFill>
                <a:effectLst/>
                <a:latin typeface="Arial" panose="020B0604020202020204" pitchFamily="34" charset="0"/>
                <a:cs typeface="Arial" panose="020B0604020202020204" pitchFamily="34" charset="0"/>
              </a:rPr>
              <a:t>HomeController</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Controller</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private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HomeController</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_</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Route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Route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"Index"</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ViewResult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Index()</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var</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model = _</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employeeRepository.GetAllEmployees</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View(model);</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Route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"Details/{id?}"</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ViewResult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Details(</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Employee = _</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employeeRepository.GetEmployee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(id ?? 1),</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PageTitle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0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"Employee Details"</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View(</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homeDetailsViewModel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26781794-6D0D-4160-A2C8-DDA668255CE8}"/>
              </a:ext>
            </a:extLst>
          </p:cNvPr>
          <p:cNvSpPr txBox="1"/>
          <p:nvPr/>
        </p:nvSpPr>
        <p:spPr>
          <a:xfrm>
            <a:off x="5697791" y="1843950"/>
            <a:ext cx="6096000" cy="1384995"/>
          </a:xfrm>
          <a:prstGeom prst="rect">
            <a:avLst/>
          </a:prstGeom>
          <a:noFill/>
        </p:spPr>
        <p:txBody>
          <a:bodyPr wrap="square">
            <a:spAutoFit/>
          </a:bodyPr>
          <a:lstStyle/>
          <a:p>
            <a:r>
              <a:rPr lang="en-US" sz="1400" b="0" i="0" dirty="0">
                <a:solidFill>
                  <a:srgbClr val="333333"/>
                </a:solidFill>
                <a:effectLst/>
                <a:latin typeface="arial" panose="020B0604020202020204" pitchFamily="34" charset="0"/>
              </a:rPr>
              <a:t>The Route template applied on the controller is prepended to the route template applied on the action. However, when we navigate to the root URL (</a:t>
            </a:r>
            <a:r>
              <a:rPr lang="en-US" sz="1400" b="0" i="0" dirty="0">
                <a:solidFill>
                  <a:srgbClr val="0000FF"/>
                </a:solidFill>
                <a:effectLst/>
                <a:latin typeface="arial" panose="020B0604020202020204" pitchFamily="34" charset="0"/>
              </a:rPr>
              <a:t>http://localhost:1234</a:t>
            </a:r>
            <a:r>
              <a:rPr lang="en-US" sz="1400" b="0" i="0" dirty="0">
                <a:solidFill>
                  <a:srgbClr val="333333"/>
                </a:solidFill>
                <a:effectLst/>
                <a:latin typeface="arial" panose="020B0604020202020204" pitchFamily="34" charset="0"/>
              </a:rPr>
              <a:t>), the </a:t>
            </a:r>
            <a:r>
              <a:rPr lang="en-US" sz="1400" b="0" i="0" dirty="0">
                <a:solidFill>
                  <a:srgbClr val="0000FF"/>
                </a:solidFill>
                <a:effectLst/>
                <a:latin typeface="arial" panose="020B0604020202020204" pitchFamily="34" charset="0"/>
              </a:rPr>
              <a:t>Index()</a:t>
            </a:r>
            <a:r>
              <a:rPr lang="en-US" sz="1400" b="0" i="0" dirty="0">
                <a:solidFill>
                  <a:srgbClr val="333333"/>
                </a:solidFill>
                <a:effectLst/>
                <a:latin typeface="arial" panose="020B0604020202020204" pitchFamily="34" charset="0"/>
              </a:rPr>
              <a:t> action method of the </a:t>
            </a:r>
            <a:r>
              <a:rPr lang="en-US" sz="1400" b="0" i="0" dirty="0" err="1">
                <a:solidFill>
                  <a:srgbClr val="3D85C6"/>
                </a:solidFill>
                <a:effectLst/>
                <a:latin typeface="arial" panose="020B0604020202020204" pitchFamily="34" charset="0"/>
              </a:rPr>
              <a:t>HomeController</a:t>
            </a:r>
            <a:r>
              <a:rPr lang="en-US" sz="1400" b="0" i="0" dirty="0">
                <a:solidFill>
                  <a:srgbClr val="3D85C6"/>
                </a:solidFill>
                <a:effectLst/>
                <a:latin typeface="arial" panose="020B0604020202020204" pitchFamily="34" charset="0"/>
              </a:rPr>
              <a:t> </a:t>
            </a:r>
            <a:r>
              <a:rPr lang="en-US" sz="1400" b="0" i="0" dirty="0">
                <a:solidFill>
                  <a:srgbClr val="333333"/>
                </a:solidFill>
                <a:effectLst/>
                <a:latin typeface="arial" panose="020B0604020202020204" pitchFamily="34" charset="0"/>
              </a:rPr>
              <a:t>will not be executed. We instead see </a:t>
            </a:r>
            <a:r>
              <a:rPr lang="en-US" sz="1400" b="0" i="0" dirty="0">
                <a:solidFill>
                  <a:srgbClr val="FF0000"/>
                </a:solidFill>
                <a:effectLst/>
                <a:latin typeface="arial" panose="020B0604020202020204" pitchFamily="34" charset="0"/>
              </a:rPr>
              <a:t>404</a:t>
            </a:r>
            <a:r>
              <a:rPr lang="en-US" sz="1400" b="0" i="0" dirty="0">
                <a:solidFill>
                  <a:srgbClr val="333333"/>
                </a:solidFill>
                <a:effectLst/>
                <a:latin typeface="arial" panose="020B0604020202020204" pitchFamily="34" charset="0"/>
              </a:rPr>
              <a:t>. To address this, include route template that begins with </a:t>
            </a:r>
            <a:r>
              <a:rPr lang="en-US" sz="1400" b="1" i="0" dirty="0">
                <a:solidFill>
                  <a:srgbClr val="333333"/>
                </a:solidFill>
                <a:effectLst/>
                <a:latin typeface="arial" panose="020B0604020202020204" pitchFamily="34" charset="0"/>
              </a:rPr>
              <a:t>"/"</a:t>
            </a:r>
            <a:r>
              <a:rPr lang="en-US" sz="1400" b="0" i="0" dirty="0">
                <a:solidFill>
                  <a:srgbClr val="333333"/>
                </a:solidFill>
                <a:effectLst/>
                <a:latin typeface="arial" panose="020B0604020202020204" pitchFamily="34" charset="0"/>
              </a:rPr>
              <a:t> on the </a:t>
            </a:r>
            <a:r>
              <a:rPr lang="en-US" sz="1400" b="0" i="0" dirty="0">
                <a:solidFill>
                  <a:srgbClr val="0000FF"/>
                </a:solidFill>
                <a:effectLst/>
                <a:latin typeface="arial" panose="020B0604020202020204" pitchFamily="34" charset="0"/>
              </a:rPr>
              <a:t>Index()</a:t>
            </a:r>
            <a:r>
              <a:rPr lang="en-US" sz="1400" b="0" i="0" dirty="0">
                <a:solidFill>
                  <a:srgbClr val="333333"/>
                </a:solidFill>
                <a:effectLst/>
                <a:latin typeface="arial" panose="020B0604020202020204" pitchFamily="34" charset="0"/>
              </a:rPr>
              <a:t> action method as shown below.</a:t>
            </a:r>
            <a:endParaRPr lang="en-IN" sz="1400" dirty="0"/>
          </a:p>
        </p:txBody>
      </p:sp>
      <p:sp>
        <p:nvSpPr>
          <p:cNvPr id="13" name="Rectangle 2">
            <a:extLst>
              <a:ext uri="{FF2B5EF4-FFF2-40B4-BE49-F238E27FC236}">
                <a16:creationId xmlns:a16="http://schemas.microsoft.com/office/drawing/2014/main" id="{C4FE9098-C5A6-4E83-AF53-42DC6E775EE7}"/>
              </a:ext>
            </a:extLst>
          </p:cNvPr>
          <p:cNvSpPr>
            <a:spLocks noChangeArrowheads="1"/>
          </p:cNvSpPr>
          <p:nvPr/>
        </p:nvSpPr>
        <p:spPr bwMode="auto">
          <a:xfrm>
            <a:off x="5938681" y="3445450"/>
            <a:ext cx="392307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b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a:ln>
                  <a:noFill/>
                </a:ln>
                <a:solidFill>
                  <a:srgbClr val="3D85C6"/>
                </a:solidFill>
                <a:effectLst/>
                <a:latin typeface="Arial" panose="020B0604020202020204" pitchFamily="34" charset="0"/>
                <a:cs typeface="Arial" panose="020B0604020202020204" pitchFamily="34" charset="0"/>
              </a:rPr>
              <a:t>Route</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a:ln>
                  <a:noFill/>
                </a:ln>
                <a:solidFill>
                  <a:srgbClr val="A31515"/>
                </a:solidFill>
                <a:effectLst/>
                <a:latin typeface="Arial" panose="020B0604020202020204" pitchFamily="34" charset="0"/>
                <a:cs typeface="Arial" panose="020B0604020202020204" pitchFamily="34" charset="0"/>
              </a:rPr>
              <a:t>"/"</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a:ln>
                  <a:noFill/>
                </a:ln>
                <a:solidFill>
                  <a:srgbClr val="3D85C6"/>
                </a:solidFill>
                <a:effectLst/>
                <a:latin typeface="Arial" panose="020B0604020202020204" pitchFamily="34" charset="0"/>
                <a:cs typeface="Arial" panose="020B0604020202020204" pitchFamily="34" charset="0"/>
              </a:rPr>
              <a:t>Route</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a:ln>
                  <a:noFill/>
                </a:ln>
                <a:solidFill>
                  <a:srgbClr val="A31515"/>
                </a:solidFill>
                <a:effectLst/>
                <a:latin typeface="Arial" panose="020B0604020202020204" pitchFamily="34" charset="0"/>
                <a:cs typeface="Arial" panose="020B0604020202020204" pitchFamily="34" charset="0"/>
              </a:rPr>
              <a:t>""</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a:ln>
                  <a:noFill/>
                </a:ln>
                <a:solidFill>
                  <a:srgbClr val="3D85C6"/>
                </a:solidFill>
                <a:effectLst/>
                <a:latin typeface="Arial" panose="020B0604020202020204" pitchFamily="34" charset="0"/>
                <a:cs typeface="Arial" panose="020B0604020202020204" pitchFamily="34" charset="0"/>
              </a:rPr>
              <a:t>Route</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a:ln>
                  <a:noFill/>
                </a:ln>
                <a:solidFill>
                  <a:srgbClr val="A31515"/>
                </a:solidFill>
                <a:effectLst/>
                <a:latin typeface="Arial" panose="020B0604020202020204" pitchFamily="34" charset="0"/>
                <a:cs typeface="Arial" panose="020B0604020202020204" pitchFamily="34" charset="0"/>
              </a:rPr>
              <a:t>"Index"</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FF"/>
                </a:solidFill>
                <a:effectLst/>
                <a:latin typeface="Arial" panose="020B0604020202020204" pitchFamily="34" charset="0"/>
                <a:cs typeface="Arial" panose="020B0604020202020204" pitchFamily="34" charset="0"/>
              </a:rPr>
              <a:t>public</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 ViewResult Index()</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a:ln>
                  <a:noFill/>
                </a:ln>
                <a:solidFill>
                  <a:srgbClr val="0000FF"/>
                </a:solidFill>
                <a:effectLst/>
                <a:latin typeface="Arial" panose="020B0604020202020204" pitchFamily="34" charset="0"/>
                <a:cs typeface="Arial" panose="020B0604020202020204" pitchFamily="34" charset="0"/>
              </a:rPr>
              <a:t>var</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 model = _employeeRepository.GetAllEmployees();</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a:ln>
                  <a:noFill/>
                </a:ln>
                <a:solidFill>
                  <a:srgbClr val="0000FF"/>
                </a:solidFill>
                <a:effectLst/>
                <a:latin typeface="Arial" panose="020B0604020202020204" pitchFamily="34" charset="0"/>
                <a:cs typeface="Arial" panose="020B0604020202020204" pitchFamily="34" charset="0"/>
              </a:rPr>
              <a:t>return</a:t>
            </a: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 View(model);</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en-US" altLang="en-US" sz="3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1603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9A4045-CB62-4750-9DFF-79CAED785CE1}"/>
              </a:ext>
            </a:extLst>
          </p:cNvPr>
          <p:cNvSpPr txBox="1"/>
          <p:nvPr/>
        </p:nvSpPr>
        <p:spPr>
          <a:xfrm>
            <a:off x="2871020" y="238121"/>
            <a:ext cx="6096000" cy="369332"/>
          </a:xfrm>
          <a:prstGeom prst="rect">
            <a:avLst/>
          </a:prstGeom>
          <a:noFill/>
        </p:spPr>
        <p:txBody>
          <a:bodyPr wrap="square">
            <a:spAutoFit/>
          </a:bodyPr>
          <a:lstStyle/>
          <a:p>
            <a:r>
              <a:rPr lang="en-IN" b="1" i="0" dirty="0">
                <a:solidFill>
                  <a:srgbClr val="333333"/>
                </a:solidFill>
                <a:effectLst/>
                <a:latin typeface="arial" panose="020B0604020202020204" pitchFamily="34" charset="0"/>
              </a:rPr>
              <a:t>Tokens in Attribute Routing</a:t>
            </a:r>
            <a:endParaRPr lang="en-IN" dirty="0"/>
          </a:p>
        </p:txBody>
      </p:sp>
      <p:sp>
        <p:nvSpPr>
          <p:cNvPr id="7" name="TextBox 6">
            <a:extLst>
              <a:ext uri="{FF2B5EF4-FFF2-40B4-BE49-F238E27FC236}">
                <a16:creationId xmlns:a16="http://schemas.microsoft.com/office/drawing/2014/main" id="{2ED2463A-C00A-4CCC-BF1F-28AB73293CB5}"/>
              </a:ext>
            </a:extLst>
          </p:cNvPr>
          <p:cNvSpPr txBox="1"/>
          <p:nvPr/>
        </p:nvSpPr>
        <p:spPr>
          <a:xfrm>
            <a:off x="68826" y="726343"/>
            <a:ext cx="11965858" cy="923330"/>
          </a:xfrm>
          <a:prstGeom prst="rect">
            <a:avLst/>
          </a:prstGeom>
          <a:noFill/>
        </p:spPr>
        <p:txBody>
          <a:bodyPr wrap="square">
            <a:spAutoFit/>
          </a:bodyPr>
          <a:lstStyle/>
          <a:p>
            <a:r>
              <a:rPr lang="en-US" b="0" i="0" dirty="0">
                <a:solidFill>
                  <a:srgbClr val="333333"/>
                </a:solidFill>
                <a:effectLst/>
                <a:latin typeface="arial" panose="020B0604020202020204" pitchFamily="34" charset="0"/>
              </a:rPr>
              <a:t>Attribute routes support token replacement by enclosing a token in square-braces ([ ]). The tokens </a:t>
            </a:r>
            <a:r>
              <a:rPr lang="en-US" b="0" i="0" dirty="0">
                <a:solidFill>
                  <a:srgbClr val="CC0000"/>
                </a:solidFill>
                <a:effectLst/>
                <a:latin typeface="arial" panose="020B0604020202020204" pitchFamily="34" charset="0"/>
              </a:rPr>
              <a:t>[controller]</a:t>
            </a:r>
            <a:r>
              <a:rPr lang="en-US" b="0" i="0" dirty="0">
                <a:solidFill>
                  <a:srgbClr val="333333"/>
                </a:solidFill>
                <a:effectLst/>
                <a:latin typeface="arial" panose="020B0604020202020204" pitchFamily="34" charset="0"/>
              </a:rPr>
              <a:t> and </a:t>
            </a:r>
            <a:r>
              <a:rPr lang="en-US" b="0" i="0" dirty="0">
                <a:solidFill>
                  <a:srgbClr val="CC0000"/>
                </a:solidFill>
                <a:effectLst/>
                <a:latin typeface="arial" panose="020B0604020202020204" pitchFamily="34" charset="0"/>
              </a:rPr>
              <a:t>[action]</a:t>
            </a:r>
            <a:r>
              <a:rPr lang="en-US" b="0" i="0" dirty="0">
                <a:solidFill>
                  <a:srgbClr val="333333"/>
                </a:solidFill>
                <a:effectLst/>
                <a:latin typeface="arial" panose="020B0604020202020204" pitchFamily="34" charset="0"/>
              </a:rPr>
              <a:t> are replaced with the values of the controller name and action name where the route is defined. </a:t>
            </a:r>
            <a:endParaRPr lang="en-IN" dirty="0"/>
          </a:p>
        </p:txBody>
      </p:sp>
      <p:sp>
        <p:nvSpPr>
          <p:cNvPr id="9" name="TextBox 8">
            <a:extLst>
              <a:ext uri="{FF2B5EF4-FFF2-40B4-BE49-F238E27FC236}">
                <a16:creationId xmlns:a16="http://schemas.microsoft.com/office/drawing/2014/main" id="{558F1481-E7AD-4DFA-9CD6-F6FD22074577}"/>
              </a:ext>
            </a:extLst>
          </p:cNvPr>
          <p:cNvSpPr txBox="1"/>
          <p:nvPr/>
        </p:nvSpPr>
        <p:spPr>
          <a:xfrm>
            <a:off x="68826" y="1936558"/>
            <a:ext cx="12123174"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This is a very powerful technique because, later if we rename the controller or action name we do not have to change our route templates. The application just works with the new controller and action names.</a:t>
            </a:r>
            <a:endParaRPr lang="en-IN" dirty="0"/>
          </a:p>
        </p:txBody>
      </p:sp>
      <p:sp>
        <p:nvSpPr>
          <p:cNvPr id="10" name="Rectangle 1">
            <a:extLst>
              <a:ext uri="{FF2B5EF4-FFF2-40B4-BE49-F238E27FC236}">
                <a16:creationId xmlns:a16="http://schemas.microsoft.com/office/drawing/2014/main" id="{6CE99F49-BB48-4953-8E41-DC31892189AE}"/>
              </a:ext>
            </a:extLst>
          </p:cNvPr>
          <p:cNvSpPr>
            <a:spLocks noChangeArrowheads="1"/>
          </p:cNvSpPr>
          <p:nvPr/>
        </p:nvSpPr>
        <p:spPr bwMode="auto">
          <a:xfrm>
            <a:off x="255639" y="2886444"/>
            <a:ext cx="3854246"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Route</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"[controller]/[action]"</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2B91AF"/>
                </a:solidFill>
                <a:effectLst/>
                <a:latin typeface="Arial" panose="020B0604020202020204" pitchFamily="34" charset="0"/>
                <a:cs typeface="Arial" panose="020B0604020202020204" pitchFamily="34" charset="0"/>
              </a:rPr>
              <a:t>DepartmentsController</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Controller</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List()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"List() of </a:t>
            </a:r>
            <a:r>
              <a:rPr kumimoji="0" lang="en-US" altLang="en-US" sz="1400" b="0" i="0" u="none" strike="noStrike" cap="none" normalizeH="0" baseline="0" dirty="0" err="1">
                <a:ln>
                  <a:noFill/>
                </a:ln>
                <a:solidFill>
                  <a:srgbClr val="A31515"/>
                </a:solidFill>
                <a:effectLst/>
                <a:latin typeface="Arial" panose="020B0604020202020204" pitchFamily="34" charset="0"/>
                <a:cs typeface="Arial" panose="020B0604020202020204" pitchFamily="34" charset="0"/>
              </a:rPr>
              <a:t>DepartmentsController</a:t>
            </a:r>
            <a:r>
              <a:rPr kumimoji="0" lang="en-US" altLang="en-US" sz="14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Details()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return</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"Details() of </a:t>
            </a:r>
            <a:r>
              <a:rPr kumimoji="0" lang="en-US" altLang="en-US" sz="1400" b="0" i="0" u="none" strike="noStrike" cap="none" normalizeH="0" baseline="0" dirty="0" err="1">
                <a:ln>
                  <a:noFill/>
                </a:ln>
                <a:solidFill>
                  <a:srgbClr val="A31515"/>
                </a:solidFill>
                <a:effectLst/>
                <a:latin typeface="Arial" panose="020B0604020202020204" pitchFamily="34" charset="0"/>
                <a:cs typeface="Arial" panose="020B0604020202020204" pitchFamily="34" charset="0"/>
              </a:rPr>
              <a:t>DepartmentsController</a:t>
            </a:r>
            <a:r>
              <a:rPr kumimoji="0" lang="en-US" altLang="en-US" sz="14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C623F69D-6A88-4A41-8B67-8590A07BE9E6}"/>
              </a:ext>
            </a:extLst>
          </p:cNvPr>
          <p:cNvSpPr txBox="1"/>
          <p:nvPr/>
        </p:nvSpPr>
        <p:spPr>
          <a:xfrm>
            <a:off x="4581832" y="2869774"/>
            <a:ext cx="7452851" cy="3970318"/>
          </a:xfrm>
          <a:prstGeom prst="rect">
            <a:avLst/>
          </a:prstGeom>
          <a:noFill/>
        </p:spPr>
        <p:txBody>
          <a:bodyPr wrap="square">
            <a:spAutoFit/>
          </a:bodyPr>
          <a:lstStyle/>
          <a:p>
            <a:r>
              <a:rPr lang="en-US" b="1" i="0" dirty="0">
                <a:solidFill>
                  <a:srgbClr val="333333"/>
                </a:solidFill>
                <a:effectLst/>
                <a:latin typeface="arial" panose="020B0604020202020204" pitchFamily="34" charset="0"/>
              </a:rPr>
              <a:t>Conventional Routing vs Attribute Routing</a:t>
            </a:r>
            <a:br>
              <a:rPr lang="en-US" dirty="0"/>
            </a:br>
            <a:br>
              <a:rPr lang="en-US" dirty="0"/>
            </a:br>
            <a:r>
              <a:rPr lang="en-US" b="0" i="0" dirty="0">
                <a:solidFill>
                  <a:srgbClr val="333333"/>
                </a:solidFill>
                <a:effectLst/>
                <a:latin typeface="arial" panose="020B0604020202020204" pitchFamily="34" charset="0"/>
              </a:rPr>
              <a:t>With attribute routing, routes are placed next to the action methods that will actually use them. </a:t>
            </a:r>
          </a:p>
          <a:p>
            <a:r>
              <a:rPr lang="en-US" b="0" i="0" dirty="0">
                <a:solidFill>
                  <a:srgbClr val="333333"/>
                </a:solidFill>
                <a:effectLst/>
                <a:latin typeface="arial" panose="020B0604020202020204" pitchFamily="34" charset="0"/>
              </a:rPr>
              <a:t>Attribute routes offer a bit more flexibility than conventional routes. However, in general, conventional routes are used for controllers that serve HTML pages, </a:t>
            </a:r>
          </a:p>
          <a:p>
            <a:r>
              <a:rPr lang="en-US" b="0" i="0" dirty="0">
                <a:solidFill>
                  <a:srgbClr val="333333"/>
                </a:solidFill>
                <a:effectLst/>
                <a:latin typeface="arial" panose="020B0604020202020204" pitchFamily="34" charset="0"/>
              </a:rPr>
              <a:t>and </a:t>
            </a:r>
          </a:p>
          <a:p>
            <a:r>
              <a:rPr lang="en-US" b="0" i="0" dirty="0">
                <a:solidFill>
                  <a:srgbClr val="333333"/>
                </a:solidFill>
                <a:effectLst/>
                <a:latin typeface="arial" panose="020B0604020202020204" pitchFamily="34" charset="0"/>
              </a:rPr>
              <a:t>attribute routes for controllers that serve REST APIs.</a:t>
            </a:r>
          </a:p>
          <a:p>
            <a:endParaRPr lang="en-US" dirty="0">
              <a:solidFill>
                <a:srgbClr val="333333"/>
              </a:solidFill>
              <a:latin typeface="arial" panose="020B0604020202020204" pitchFamily="34" charset="0"/>
            </a:endParaRPr>
          </a:p>
          <a:p>
            <a:r>
              <a:rPr lang="en-US" b="0" i="0" dirty="0">
                <a:solidFill>
                  <a:srgbClr val="333333"/>
                </a:solidFill>
                <a:effectLst/>
                <a:latin typeface="arial" panose="020B0604020202020204" pitchFamily="34" charset="0"/>
              </a:rPr>
              <a:t> However, there is nothing stopping us from mixing conventional routing with attribute routing in a single application to get a bit more flexibility with routes.</a:t>
            </a:r>
            <a:br>
              <a:rPr lang="en-US" dirty="0"/>
            </a:br>
            <a:endParaRPr lang="en-IN" dirty="0"/>
          </a:p>
        </p:txBody>
      </p:sp>
    </p:spTree>
    <p:extLst>
      <p:ext uri="{BB962C8B-B14F-4D97-AF65-F5344CB8AC3E}">
        <p14:creationId xmlns:p14="http://schemas.microsoft.com/office/powerpoint/2010/main" val="383993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1983</Words>
  <Application>Microsoft Office PowerPoint</Application>
  <PresentationFormat>Widescreen</PresentationFormat>
  <Paragraphs>179</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9</cp:revision>
  <dcterms:created xsi:type="dcterms:W3CDTF">2021-10-01T21:35:27Z</dcterms:created>
  <dcterms:modified xsi:type="dcterms:W3CDTF">2025-04-21T13:42:33Z</dcterms:modified>
</cp:coreProperties>
</file>