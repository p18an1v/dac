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083E3-2363-EE96-EFA0-ABA6741D2E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7121B6-6583-E8D9-C591-401B1D6A33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7F259C-8999-F1E9-FB9E-8E81534E0365}"/>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5" name="Footer Placeholder 4">
            <a:extLst>
              <a:ext uri="{FF2B5EF4-FFF2-40B4-BE49-F238E27FC236}">
                <a16:creationId xmlns:a16="http://schemas.microsoft.com/office/drawing/2014/main" id="{7A5DB8FD-2C76-2B2F-E409-4224AE542D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7A9748-65DF-F841-96DF-29A219025A92}"/>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3681080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8834-BC39-A53F-4D88-F6E342A45D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0500C8-02E8-1B00-21AA-DE7BB3F8E3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A8A64C-DEF3-F045-A3DD-9DB31E47755D}"/>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5" name="Footer Placeholder 4">
            <a:extLst>
              <a:ext uri="{FF2B5EF4-FFF2-40B4-BE49-F238E27FC236}">
                <a16:creationId xmlns:a16="http://schemas.microsoft.com/office/drawing/2014/main" id="{4BF03605-1B98-2026-F35D-9A382B9F3F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0EF2F6-C66E-32EE-B051-3B109F79D5BD}"/>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1265218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6F79-2B47-E82C-938F-3031523993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61231F8-DD9C-AD5C-F3CC-44885AFB08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C84BDD-BFA6-1AF2-E8EE-382C5CABD426}"/>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5" name="Footer Placeholder 4">
            <a:extLst>
              <a:ext uri="{FF2B5EF4-FFF2-40B4-BE49-F238E27FC236}">
                <a16:creationId xmlns:a16="http://schemas.microsoft.com/office/drawing/2014/main" id="{33FCA64F-50CA-D4F5-1918-239220B1DD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882B41-6CB3-7275-5CAF-203965AB1B24}"/>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2231214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6C7F4-0521-C74F-199D-EC2FCC1E9A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9D9BA5-F8AB-2635-1402-448ED3A632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15AFC8-5EEB-05D4-79E8-C7D7821D06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ABC5CF-338E-525F-5713-BEB66933751A}"/>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6" name="Footer Placeholder 5">
            <a:extLst>
              <a:ext uri="{FF2B5EF4-FFF2-40B4-BE49-F238E27FC236}">
                <a16:creationId xmlns:a16="http://schemas.microsoft.com/office/drawing/2014/main" id="{73DEC5B6-17BE-5EAE-4831-75AB5D2255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48DD9D-0B62-FE4F-F6DF-8D2018F133E3}"/>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2969128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E522-32D5-6289-13C2-F879A46A12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7FCCB4-4B09-72D9-1D4E-5480FEC2ED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CC7177-9330-5FF0-CFC4-D1700F3B7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5F8EE8-FE01-7270-1051-E32D390C8F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DDBCB-E842-0A83-0208-626B978BD1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0370A1-9E79-9215-AF78-E2C0926F0789}"/>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8" name="Footer Placeholder 7">
            <a:extLst>
              <a:ext uri="{FF2B5EF4-FFF2-40B4-BE49-F238E27FC236}">
                <a16:creationId xmlns:a16="http://schemas.microsoft.com/office/drawing/2014/main" id="{505E5EF0-785D-B082-A399-DFB83C2BA4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30F685-69AE-C278-228D-A867B80C0084}"/>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1198425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1DAA1-A03B-A2BF-754B-24388D0AE78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58C646-733A-D415-3D9E-570F8F637801}"/>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4" name="Footer Placeholder 3">
            <a:extLst>
              <a:ext uri="{FF2B5EF4-FFF2-40B4-BE49-F238E27FC236}">
                <a16:creationId xmlns:a16="http://schemas.microsoft.com/office/drawing/2014/main" id="{656596B9-5BEB-AA06-30BD-10B1A7ABA0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BE8F9DE-9702-FE1B-39DE-09EFB08F0D36}"/>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1685508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071535-D0C9-13B4-9454-DD62233877B1}"/>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3" name="Footer Placeholder 2">
            <a:extLst>
              <a:ext uri="{FF2B5EF4-FFF2-40B4-BE49-F238E27FC236}">
                <a16:creationId xmlns:a16="http://schemas.microsoft.com/office/drawing/2014/main" id="{ED03B22F-30DC-6201-0947-85ABCC9C06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506E6CA-C32B-5D48-9894-5155FEC595BC}"/>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1418769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09402-64CB-4C08-492A-4D5CA5101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788FEF-32E7-03C5-9C5B-BFE452909C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A420BA8-7397-C406-E4E6-6769B5C3DA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0B1875-4C2B-B913-00BB-32E009CBEC7E}"/>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6" name="Footer Placeholder 5">
            <a:extLst>
              <a:ext uri="{FF2B5EF4-FFF2-40B4-BE49-F238E27FC236}">
                <a16:creationId xmlns:a16="http://schemas.microsoft.com/office/drawing/2014/main" id="{4481912A-DA45-0157-75C9-FBC8459B71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4EC6E5-C2AB-847D-5F15-E7CC677B5E07}"/>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3282095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33FF2-7448-69C5-4737-FA7EEDAAD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B95660A-CB29-4D92-1DD9-7FF8D15964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25B13D-3DD3-2239-15D1-C49249125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CB5EDF-6650-9803-78DB-8F4A09FD3F87}"/>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6" name="Footer Placeholder 5">
            <a:extLst>
              <a:ext uri="{FF2B5EF4-FFF2-40B4-BE49-F238E27FC236}">
                <a16:creationId xmlns:a16="http://schemas.microsoft.com/office/drawing/2014/main" id="{E5279F9D-5C9B-2562-C178-A33EE22813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A1B1A7-DED8-F49B-528F-19EA5AC299D3}"/>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1325421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11F11-239D-97B2-C9D4-E8C8DE16895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78AEC1-FD24-7B4F-1D2C-92B517161C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DEBD8D-883D-7932-CC3B-0123C741AEC9}"/>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5" name="Footer Placeholder 4">
            <a:extLst>
              <a:ext uri="{FF2B5EF4-FFF2-40B4-BE49-F238E27FC236}">
                <a16:creationId xmlns:a16="http://schemas.microsoft.com/office/drawing/2014/main" id="{15BA86FA-A440-A858-66BF-C6B3594D6B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CAD1D9-B85A-10CE-F75D-589A5844D57F}"/>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4235867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793A0C-D5DB-6DC8-81A2-7202E05F5E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248CD0-98D9-BE88-B5F0-FC95CB7733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C93B2C-21FB-2753-7DE5-5996643E746D}"/>
              </a:ext>
            </a:extLst>
          </p:cNvPr>
          <p:cNvSpPr>
            <a:spLocks noGrp="1"/>
          </p:cNvSpPr>
          <p:nvPr>
            <p:ph type="dt" sz="half" idx="10"/>
          </p:nvPr>
        </p:nvSpPr>
        <p:spPr/>
        <p:txBody>
          <a:bodyPr/>
          <a:lstStyle/>
          <a:p>
            <a:fld id="{C26458FF-ABB7-4DD3-89AC-5BCE10566BF4}" type="datetimeFigureOut">
              <a:rPr lang="en-IN" smtClean="0"/>
              <a:t>08-02-2023</a:t>
            </a:fld>
            <a:endParaRPr lang="en-IN"/>
          </a:p>
        </p:txBody>
      </p:sp>
      <p:sp>
        <p:nvSpPr>
          <p:cNvPr id="5" name="Footer Placeholder 4">
            <a:extLst>
              <a:ext uri="{FF2B5EF4-FFF2-40B4-BE49-F238E27FC236}">
                <a16:creationId xmlns:a16="http://schemas.microsoft.com/office/drawing/2014/main" id="{5E6F2D9E-B4C6-3FF6-C8BC-B3FFC78CE2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E9173D-2EC9-01C2-12D1-886935D5E2B7}"/>
              </a:ext>
            </a:extLst>
          </p:cNvPr>
          <p:cNvSpPr>
            <a:spLocks noGrp="1"/>
          </p:cNvSpPr>
          <p:nvPr>
            <p:ph type="sldNum" sz="quarter" idx="12"/>
          </p:nvPr>
        </p:nvSpPr>
        <p:spPr/>
        <p:txBody>
          <a:bodyPr/>
          <a:lstStyle/>
          <a:p>
            <a:fld id="{463A30F4-843B-48E3-B279-31908E725B76}" type="slidenum">
              <a:rPr lang="en-IN" smtClean="0"/>
              <a:t>‹#›</a:t>
            </a:fld>
            <a:endParaRPr lang="en-IN"/>
          </a:p>
        </p:txBody>
      </p:sp>
    </p:spTree>
    <p:extLst>
      <p:ext uri="{BB962C8B-B14F-4D97-AF65-F5344CB8AC3E}">
        <p14:creationId xmlns:p14="http://schemas.microsoft.com/office/powerpoint/2010/main" val="2564572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B311C2-AC9F-D043-AF8E-BAB2A7FDCB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15CA6D-1C20-047E-B027-B80D23FF6A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6F932-8141-2470-6CA9-9445B3651A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6458FF-ABB7-4DD3-89AC-5BCE10566BF4}" type="datetimeFigureOut">
              <a:rPr lang="en-IN" smtClean="0"/>
              <a:t>08-02-2023</a:t>
            </a:fld>
            <a:endParaRPr lang="en-IN"/>
          </a:p>
        </p:txBody>
      </p:sp>
      <p:sp>
        <p:nvSpPr>
          <p:cNvPr id="5" name="Footer Placeholder 4">
            <a:extLst>
              <a:ext uri="{FF2B5EF4-FFF2-40B4-BE49-F238E27FC236}">
                <a16:creationId xmlns:a16="http://schemas.microsoft.com/office/drawing/2014/main" id="{0FD233CE-2E6F-C497-3F97-70EEEAA62D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2B9A220-9445-35A3-019E-F0EA4753BA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3A30F4-843B-48E3-B279-31908E725B76}" type="slidenum">
              <a:rPr lang="en-IN" smtClean="0"/>
              <a:t>‹#›</a:t>
            </a:fld>
            <a:endParaRPr lang="en-IN"/>
          </a:p>
        </p:txBody>
      </p:sp>
    </p:spTree>
    <p:extLst>
      <p:ext uri="{BB962C8B-B14F-4D97-AF65-F5344CB8AC3E}">
        <p14:creationId xmlns:p14="http://schemas.microsoft.com/office/powerpoint/2010/main" val="643042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1AF7AF-8735-DE50-BC2C-FECD859147A7}"/>
              </a:ext>
            </a:extLst>
          </p:cNvPr>
          <p:cNvSpPr txBox="1"/>
          <p:nvPr/>
        </p:nvSpPr>
        <p:spPr>
          <a:xfrm>
            <a:off x="266307" y="214342"/>
            <a:ext cx="11705733" cy="670120"/>
          </a:xfrm>
          <a:prstGeom prst="rect">
            <a:avLst/>
          </a:prstGeom>
          <a:noFill/>
        </p:spPr>
        <p:txBody>
          <a:bodyPr wrap="square">
            <a:spAutoFit/>
          </a:bodyPr>
          <a:lstStyle/>
          <a:p>
            <a:pPr algn="just" fontAlgn="base">
              <a:lnSpc>
                <a:spcPct val="107000"/>
              </a:lnSpc>
              <a:spcAft>
                <a:spcPts val="800"/>
              </a:spcAft>
            </a:pPr>
            <a: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C# 7.0, it offers a shorter syntax for invoking the method without parameters. The variable can be declared directly within the invocation.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8C7948D2-847B-ED2C-E39D-12688B6E78D1}"/>
              </a:ext>
            </a:extLst>
          </p:cNvPr>
          <p:cNvSpPr txBox="1"/>
          <p:nvPr/>
        </p:nvSpPr>
        <p:spPr>
          <a:xfrm>
            <a:off x="916757" y="1767006"/>
            <a:ext cx="10772480" cy="3108543"/>
          </a:xfrm>
          <a:prstGeom prst="rect">
            <a:avLst/>
          </a:prstGeom>
          <a:noFill/>
        </p:spPr>
        <p:txBody>
          <a:bodyPr wrap="square">
            <a:spAutoFit/>
          </a:bodyPr>
          <a:lstStyle/>
          <a:p>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Program</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static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Main(</a:t>
            </a:r>
            <a:r>
              <a:rPr lang="en-US" sz="1400" dirty="0">
                <a:solidFill>
                  <a:srgbClr val="0000FF"/>
                </a:solidFill>
                <a:latin typeface="Cascadia Mono" panose="020B0609020000020004" pitchFamily="49" charset="0"/>
              </a:rPr>
              <a:t>string</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args</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OUT(</a:t>
            </a:r>
            <a:r>
              <a:rPr lang="en-IN" sz="1400" dirty="0">
                <a:solidFill>
                  <a:srgbClr val="0000FF"/>
                </a:solidFill>
                <a:latin typeface="Cascadia Mono" panose="020B0609020000020004" pitchFamily="49" charset="0"/>
              </a:rPr>
              <a:t>out</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int</a:t>
            </a:r>
            <a:r>
              <a:rPr lang="en-IN" sz="1400" dirty="0">
                <a:solidFill>
                  <a:srgbClr val="000000"/>
                </a:solidFill>
                <a:latin typeface="Cascadia Mono" panose="020B0609020000020004" pitchFamily="49" charset="0"/>
              </a:rPr>
              <a:t> no);</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Console.WriteLine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$"After the invocation of </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nameof</a:t>
            </a:r>
            <a:r>
              <a:rPr lang="en-US" sz="1400" dirty="0">
                <a:solidFill>
                  <a:srgbClr val="000000"/>
                </a:solidFill>
                <a:latin typeface="Cascadia Mono" panose="020B0609020000020004" pitchFamily="49" charset="0"/>
              </a:rPr>
              <a:t>(OUT)}</a:t>
            </a:r>
            <a:r>
              <a:rPr lang="en-US" sz="1400" dirty="0">
                <a:solidFill>
                  <a:srgbClr val="A31515"/>
                </a:solidFill>
                <a:latin typeface="Cascadia Mono" panose="020B0609020000020004" pitchFamily="49" charset="0"/>
              </a:rPr>
              <a:t> method, </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nameof</a:t>
            </a:r>
            <a:r>
              <a:rPr lang="en-US" sz="1400" dirty="0">
                <a:solidFill>
                  <a:srgbClr val="000000"/>
                </a:solidFill>
                <a:latin typeface="Cascadia Mono" panose="020B0609020000020004" pitchFamily="49" charset="0"/>
              </a:rPr>
              <a:t>(no)}</a:t>
            </a:r>
            <a:r>
              <a:rPr lang="en-US" sz="1400" dirty="0">
                <a:solidFill>
                  <a:srgbClr val="A31515"/>
                </a:solidFill>
                <a:latin typeface="Cascadia Mono" panose="020B0609020000020004" pitchFamily="49" charset="0"/>
              </a:rPr>
              <a:t> = </a:t>
            </a:r>
            <a:r>
              <a:rPr lang="en-US" sz="1400" dirty="0">
                <a:solidFill>
                  <a:srgbClr val="000000"/>
                </a:solidFill>
                <a:latin typeface="Cascadia Mono" panose="020B0609020000020004" pitchFamily="49" charset="0"/>
              </a:rPr>
              <a:t>{no}</a:t>
            </a:r>
            <a:r>
              <a:rPr lang="en-US" sz="1400" dirty="0">
                <a:solidFill>
                  <a:srgbClr val="A31515"/>
                </a:solidFill>
                <a:latin typeface="Cascadia Mono" panose="020B0609020000020004" pitchFamily="49" charset="0"/>
              </a:rPr>
              <a:t>"</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Console.WriteLine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"Press any key to Exit."</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Console.ReadLine</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static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OUT(</a:t>
            </a:r>
            <a:r>
              <a:rPr lang="en-US" sz="1400" dirty="0">
                <a:solidFill>
                  <a:srgbClr val="0000FF"/>
                </a:solidFill>
                <a:latin typeface="Cascadia Mono" panose="020B0609020000020004" pitchFamily="49" charset="0"/>
              </a:rPr>
              <a:t>out</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x)</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x = 2;</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1729914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753CAC-3765-24D3-2A26-37A88D3B2AC3}"/>
              </a:ext>
            </a:extLst>
          </p:cNvPr>
          <p:cNvSpPr txBox="1"/>
          <p:nvPr/>
        </p:nvSpPr>
        <p:spPr>
          <a:xfrm>
            <a:off x="3179191" y="275034"/>
            <a:ext cx="6094428" cy="373757"/>
          </a:xfrm>
          <a:prstGeom prst="rect">
            <a:avLst/>
          </a:prstGeom>
          <a:noFill/>
        </p:spPr>
        <p:txBody>
          <a:bodyPr wrap="square">
            <a:spAutoFit/>
          </a:bodyPr>
          <a:lstStyle/>
          <a:p>
            <a:pPr algn="just" fontAlgn="base">
              <a:lnSpc>
                <a:spcPct val="107000"/>
              </a:lnSpc>
              <a:spcAft>
                <a:spcPts val="800"/>
              </a:spcAft>
            </a:pPr>
            <a:r>
              <a:rPr lang="en-IN" sz="18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Ref Local in 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2DF9B0D-DA3D-251C-3353-F96F38AA83A6}"/>
              </a:ext>
            </a:extLst>
          </p:cNvPr>
          <p:cNvSpPr txBox="1"/>
          <p:nvPr/>
        </p:nvSpPr>
        <p:spPr>
          <a:xfrm>
            <a:off x="358219" y="648792"/>
            <a:ext cx="11632676" cy="1110945"/>
          </a:xfrm>
          <a:prstGeom prst="rect">
            <a:avLst/>
          </a:prstGeom>
          <a:noFill/>
        </p:spPr>
        <p:txBody>
          <a:bodyPr wrap="square">
            <a:spAutoFit/>
          </a:bodyPr>
          <a:lstStyle/>
          <a:p>
            <a:pPr algn="just" fontAlgn="base">
              <a:lnSpc>
                <a:spcPct val="107000"/>
              </a:lnSpc>
              <a:spcAft>
                <a:spcPts val="800"/>
              </a:spcAft>
            </a:pP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Ref local in C#</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is a new variable type that is used to store the references. It is mostly used in conjunction with Ref returns to store the reference in a local variable. That means Local variables now can also be declared with the ref modifier.</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Let us understand Ref local in C# with one example.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the following example, the variable no2 references variable no1, and thus changing no2 changes no 1 as well:</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67636D58-77FC-40B5-8F52-6A616517CDEE}"/>
              </a:ext>
            </a:extLst>
          </p:cNvPr>
          <p:cNvSpPr txBox="1"/>
          <p:nvPr/>
        </p:nvSpPr>
        <p:spPr>
          <a:xfrm>
            <a:off x="1586061" y="2260222"/>
            <a:ext cx="6094428" cy="2292935"/>
          </a:xfrm>
          <a:prstGeom prst="rect">
            <a:avLst/>
          </a:prstGeom>
          <a:noFill/>
        </p:spPr>
        <p:txBody>
          <a:bodyPr wrap="square">
            <a:spAutoFit/>
          </a:bodyPr>
          <a:lstStyle/>
          <a:p>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Main(</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no1 = 1;</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ref</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no2 = </a:t>
            </a:r>
            <a:r>
              <a:rPr lang="en-IN" sz="1100" dirty="0">
                <a:solidFill>
                  <a:srgbClr val="0000FF"/>
                </a:solidFill>
                <a:latin typeface="Cascadia Mono" panose="020B0609020000020004" pitchFamily="49" charset="0"/>
              </a:rPr>
              <a:t>ref</a:t>
            </a:r>
            <a:r>
              <a:rPr lang="en-IN" sz="1100" dirty="0">
                <a:solidFill>
                  <a:srgbClr val="000000"/>
                </a:solidFill>
                <a:latin typeface="Cascadia Mono" panose="020B0609020000020004" pitchFamily="49" charset="0"/>
              </a:rPr>
              <a:t> no1;</a:t>
            </a:r>
          </a:p>
          <a:p>
            <a:r>
              <a:rPr lang="en-IN" sz="1100" dirty="0">
                <a:solidFill>
                  <a:srgbClr val="000000"/>
                </a:solidFill>
                <a:latin typeface="Cascadia Mono" panose="020B0609020000020004" pitchFamily="49" charset="0"/>
              </a:rPr>
              <a:t>        no2 = 2;</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Console.WriteLine</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$"local variable </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nameof</a:t>
            </a:r>
            <a:r>
              <a:rPr lang="en-US" sz="1100" dirty="0">
                <a:solidFill>
                  <a:srgbClr val="000000"/>
                </a:solidFill>
                <a:latin typeface="Cascadia Mono" panose="020B0609020000020004" pitchFamily="49" charset="0"/>
              </a:rPr>
              <a:t>(no1)}</a:t>
            </a:r>
            <a:r>
              <a:rPr lang="en-US" sz="1100" dirty="0">
                <a:solidFill>
                  <a:srgbClr val="A31515"/>
                </a:solidFill>
                <a:latin typeface="Cascadia Mono" panose="020B0609020000020004" pitchFamily="49" charset="0"/>
              </a:rPr>
              <a:t> after the change: </a:t>
            </a:r>
            <a:r>
              <a:rPr lang="en-US" sz="1100" dirty="0">
                <a:solidFill>
                  <a:srgbClr val="000000"/>
                </a:solidFill>
                <a:latin typeface="Cascadia Mono" panose="020B0609020000020004" pitchFamily="49" charset="0"/>
              </a:rPr>
              <a:t>{no1}</a:t>
            </a:r>
            <a:r>
              <a:rPr lang="en-US" sz="1100" dirty="0">
                <a:solidFill>
                  <a:srgbClr val="A31515"/>
                </a:solidFill>
                <a:latin typeface="Cascadia Mono" panose="020B0609020000020004" pitchFamily="49" charset="0"/>
              </a:rPr>
              <a:t>"</a:t>
            </a:r>
            <a:r>
              <a:rPr lang="en-US"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Console.WriteLine</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"Press any key to Exit."</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Console.ReadLine</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2573774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9B5C50-E4A6-F03D-632D-7718E6FC9D60}"/>
              </a:ext>
            </a:extLst>
          </p:cNvPr>
          <p:cNvSpPr txBox="1"/>
          <p:nvPr/>
        </p:nvSpPr>
        <p:spPr>
          <a:xfrm>
            <a:off x="238026" y="207390"/>
            <a:ext cx="11253247" cy="2370842"/>
          </a:xfrm>
          <a:prstGeom prst="rect">
            <a:avLst/>
          </a:prstGeom>
          <a:noFill/>
        </p:spPr>
        <p:txBody>
          <a:bodyPr wrap="square">
            <a:spAutoFit/>
          </a:bodyPr>
          <a:lstStyle/>
          <a:p>
            <a:pPr algn="just" fontAlgn="base">
              <a:lnSpc>
                <a:spcPct val="107000"/>
              </a:lnSpc>
              <a:spcAft>
                <a:spcPts val="800"/>
              </a:spcAft>
            </a:pPr>
            <a:r>
              <a:rPr lang="en-IN" sz="1400" b="1" dirty="0">
                <a:solidFill>
                  <a:srgbClr val="3A3A3A"/>
                </a:solidFill>
                <a:effectLst/>
                <a:latin typeface="Arial" panose="020B0604020202020204" pitchFamily="34" charset="0"/>
                <a:ea typeface="Times New Roman" panose="02020603050405020304" pitchFamily="18" charset="0"/>
                <a:cs typeface="Times New Roman" panose="02020603050405020304" pitchFamily="18" charset="0"/>
              </a:rPr>
              <a:t>Ref Returns in C#</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As a developer, you may be aware of the C# “ref” keyword and its </a:t>
            </a:r>
            <a:r>
              <a:rPr lang="en-IN" sz="1100"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behaviors</a:t>
            </a:r>
            <a:r>
              <a:rPr lang="en-IN" sz="1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As we know the ref keyword returns the address of the variable rather than the value. It can also be used with the reference type where new memory allocation has to be done within the calling method.</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Before C# 7.0, the ref was only used to be passed as a parameter in a method, however, there was no provision to return it and use it later. With C# 7.0, this constraint has been waived off and now you can return references from a method as well. This change is really adding flexibility to handle the scenarios when we want references to return in order to make an in-lined replacement.</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200" b="1" dirty="0">
                <a:solidFill>
                  <a:srgbClr val="3A3A3A"/>
                </a:solidFill>
                <a:effectLst/>
                <a:latin typeface="Arial" panose="020B0604020202020204" pitchFamily="34" charset="0"/>
                <a:ea typeface="Times New Roman" panose="02020603050405020304" pitchFamily="18" charset="0"/>
                <a:cs typeface="Times New Roman" panose="02020603050405020304" pitchFamily="18" charset="0"/>
              </a:rPr>
              <a:t>Let us understand Ref Returns in C# with an example.</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the following example, I am searching for an odd number inside an integer array and if it is not found throwing an exception, the method is not returning it as the value but as a reference. So, we need to store that value which has been returned as a reference. To store it in a local variable, we can use the ‘ref’ keyword with local variables, known as ref locals in C#.</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24154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6C42F4-032B-6C31-B73A-BD05F58A702C}"/>
              </a:ext>
            </a:extLst>
          </p:cNvPr>
          <p:cNvSpPr txBox="1"/>
          <p:nvPr/>
        </p:nvSpPr>
        <p:spPr>
          <a:xfrm>
            <a:off x="294588" y="0"/>
            <a:ext cx="6094428" cy="6771084"/>
          </a:xfrm>
          <a:prstGeom prst="rect">
            <a:avLst/>
          </a:prstGeom>
          <a:noFill/>
        </p:spPr>
        <p:txBody>
          <a:bodyPr wrap="square">
            <a:spAutoFit/>
          </a:bodyPr>
          <a:lstStyle/>
          <a:p>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Program</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highlight>
                  <a:srgbClr val="FFFF00"/>
                </a:highlight>
                <a:latin typeface="Cascadia Mono" panose="020B0609020000020004" pitchFamily="49" charset="0"/>
              </a:rPr>
              <a:t>ref</a:t>
            </a:r>
            <a:r>
              <a:rPr lang="en-US" sz="1400" dirty="0">
                <a:solidFill>
                  <a:srgbClr val="000000"/>
                </a:solidFill>
                <a:highlight>
                  <a:srgbClr val="FFFF00"/>
                </a:highlight>
                <a:latin typeface="Cascadia Mono" panose="020B0609020000020004" pitchFamily="49" charset="0"/>
              </a:rPr>
              <a:t> </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GetFirstOddNumber</a:t>
            </a:r>
            <a:r>
              <a:rPr lang="en-US" sz="1400" dirty="0">
                <a:solidFill>
                  <a:srgbClr val="000000"/>
                </a:solidFill>
                <a:latin typeface="Cascadia Mono" panose="020B0609020000020004" pitchFamily="49" charset="0"/>
              </a:rPr>
              <a:t>(</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numbers)</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for</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int</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i</a:t>
            </a:r>
            <a:r>
              <a:rPr lang="en-IN" sz="1400" dirty="0">
                <a:solidFill>
                  <a:srgbClr val="000000"/>
                </a:solidFill>
                <a:latin typeface="Cascadia Mono" panose="020B0609020000020004" pitchFamily="49" charset="0"/>
              </a:rPr>
              <a:t> = 0; </a:t>
            </a:r>
            <a:r>
              <a:rPr lang="en-IN" sz="1400" dirty="0" err="1">
                <a:solidFill>
                  <a:srgbClr val="000000"/>
                </a:solidFill>
                <a:latin typeface="Cascadia Mono" panose="020B0609020000020004" pitchFamily="49" charset="0"/>
              </a:rPr>
              <a:t>i</a:t>
            </a:r>
            <a:r>
              <a:rPr lang="en-IN" sz="1400" dirty="0">
                <a:solidFill>
                  <a:srgbClr val="000000"/>
                </a:solidFill>
                <a:latin typeface="Cascadia Mono" panose="020B0609020000020004" pitchFamily="49" charset="0"/>
              </a:rPr>
              <a:t> &lt; </a:t>
            </a:r>
            <a:r>
              <a:rPr lang="en-IN" sz="1400" dirty="0" err="1">
                <a:solidFill>
                  <a:srgbClr val="000000"/>
                </a:solidFill>
                <a:latin typeface="Cascadia Mono" panose="020B0609020000020004" pitchFamily="49" charset="0"/>
              </a:rPr>
              <a:t>numbers.Length</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i</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if</a:t>
            </a:r>
            <a:r>
              <a:rPr lang="en-US" sz="1400" dirty="0">
                <a:solidFill>
                  <a:srgbClr val="000000"/>
                </a:solidFill>
                <a:latin typeface="Cascadia Mono" panose="020B0609020000020004" pitchFamily="49" charset="0"/>
              </a:rPr>
              <a:t> (numbers[</a:t>
            </a:r>
            <a:r>
              <a:rPr lang="en-US" sz="1400" dirty="0" err="1">
                <a:solidFill>
                  <a:srgbClr val="000000"/>
                </a:solidFill>
                <a:latin typeface="Cascadia Mono" panose="020B0609020000020004" pitchFamily="49" charset="0"/>
              </a:rPr>
              <a:t>i</a:t>
            </a:r>
            <a:r>
              <a:rPr lang="en-US" sz="1400" dirty="0">
                <a:solidFill>
                  <a:srgbClr val="000000"/>
                </a:solidFill>
                <a:latin typeface="Cascadia Mono" panose="020B0609020000020004" pitchFamily="49" charset="0"/>
              </a:rPr>
              <a:t>] % 2 == 1)</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a:t>
            </a:r>
            <a:r>
              <a:rPr lang="en-US" sz="1400" dirty="0">
                <a:solidFill>
                  <a:srgbClr val="0000FF"/>
                </a:solidFill>
                <a:highlight>
                  <a:srgbClr val="FFFF00"/>
                </a:highlight>
                <a:latin typeface="Cascadia Mono" panose="020B0609020000020004" pitchFamily="49" charset="0"/>
              </a:rPr>
              <a:t>ref</a:t>
            </a:r>
            <a:r>
              <a:rPr lang="en-US" sz="1400" dirty="0">
                <a:solidFill>
                  <a:srgbClr val="000000"/>
                </a:solidFill>
                <a:latin typeface="Cascadia Mono" panose="020B0609020000020004" pitchFamily="49" charset="0"/>
              </a:rPr>
              <a:t> numbers[</a:t>
            </a:r>
            <a:r>
              <a:rPr lang="en-US" sz="1400" dirty="0" err="1">
                <a:solidFill>
                  <a:srgbClr val="000000"/>
                </a:solidFill>
                <a:latin typeface="Cascadia Mono" panose="020B0609020000020004" pitchFamily="49" charset="0"/>
              </a:rPr>
              <a:t>i</a:t>
            </a:r>
            <a:r>
              <a:rPr lang="en-US" sz="1400" dirty="0">
                <a:solidFill>
                  <a:srgbClr val="000000"/>
                </a:solidFill>
                <a:latin typeface="Cascadia Mono" panose="020B0609020000020004" pitchFamily="49" charset="0"/>
              </a:rPr>
              <a:t>]; </a:t>
            </a:r>
            <a:r>
              <a:rPr lang="en-US" sz="1400" dirty="0">
                <a:solidFill>
                  <a:srgbClr val="008000"/>
                </a:solidFill>
                <a:latin typeface="Cascadia Mono" panose="020B0609020000020004" pitchFamily="49" charset="0"/>
              </a:rPr>
              <a:t>//returning as reference </a:t>
            </a:r>
            <a:endParaRPr lang="en-US"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throw</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Exception(</a:t>
            </a:r>
            <a:r>
              <a:rPr lang="en-US" sz="1400" dirty="0">
                <a:solidFill>
                  <a:srgbClr val="A31515"/>
                </a:solidFill>
                <a:latin typeface="Cascadia Mono" panose="020B0609020000020004" pitchFamily="49" charset="0"/>
              </a:rPr>
              <a:t>"odd number not found"</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static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Main(</a:t>
            </a:r>
            <a:r>
              <a:rPr lang="en-US" sz="1400" dirty="0">
                <a:solidFill>
                  <a:srgbClr val="0000FF"/>
                </a:solidFill>
                <a:latin typeface="Cascadia Mono" panose="020B0609020000020004" pitchFamily="49" charset="0"/>
              </a:rPr>
              <a:t>string</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args</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Program p = </a:t>
            </a:r>
            <a:r>
              <a:rPr lang="en-IN" sz="1400" dirty="0">
                <a:solidFill>
                  <a:srgbClr val="0000FF"/>
                </a:solidFill>
                <a:latin typeface="Cascadia Mono" panose="020B0609020000020004" pitchFamily="49" charset="0"/>
              </a:rPr>
              <a:t>new</a:t>
            </a:r>
            <a:r>
              <a:rPr lang="en-IN" sz="1400" dirty="0">
                <a:solidFill>
                  <a:srgbClr val="000000"/>
                </a:solidFill>
                <a:latin typeface="Cascadia Mono" panose="020B0609020000020004" pitchFamily="49" charset="0"/>
              </a:rPr>
              <a:t> Program();</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int</a:t>
            </a:r>
            <a:r>
              <a:rPr lang="en-IN" sz="1400" dirty="0">
                <a:solidFill>
                  <a:srgbClr val="000000"/>
                </a:solidFill>
                <a:latin typeface="Cascadia Mono" panose="020B0609020000020004" pitchFamily="49" charset="0"/>
              </a:rPr>
              <a:t>[] x = { 2, 4, 62, 54, 33, 55, 66, 71, 92 };</a:t>
            </a:r>
          </a:p>
          <a:p>
            <a:r>
              <a:rPr lang="en-US" sz="1400" dirty="0">
                <a:solidFill>
                  <a:srgbClr val="000000"/>
                </a:solidFill>
                <a:latin typeface="Cascadia Mono" panose="020B0609020000020004" pitchFamily="49" charset="0"/>
              </a:rPr>
              <a:t>        </a:t>
            </a:r>
            <a:r>
              <a:rPr lang="en-US" sz="1400" dirty="0">
                <a:solidFill>
                  <a:srgbClr val="0000FF"/>
                </a:solidFill>
                <a:highlight>
                  <a:srgbClr val="FFFF00"/>
                </a:highlight>
                <a:latin typeface="Cascadia Mono" panose="020B0609020000020004" pitchFamily="49" charset="0"/>
              </a:rPr>
              <a:t>ref</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oddNum</a:t>
            </a: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ref</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p.GetFirstOddNumber</a:t>
            </a:r>
            <a:r>
              <a:rPr lang="en-US" sz="1400" dirty="0">
                <a:solidFill>
                  <a:srgbClr val="000000"/>
                </a:solidFill>
                <a:latin typeface="Cascadia Mono" panose="020B0609020000020004" pitchFamily="49" charset="0"/>
              </a:rPr>
              <a:t>(x); </a:t>
            </a:r>
            <a:r>
              <a:rPr lang="en-US" sz="1400" dirty="0">
                <a:solidFill>
                  <a:srgbClr val="008000"/>
                </a:solidFill>
                <a:latin typeface="Cascadia Mono" panose="020B0609020000020004" pitchFamily="49" charset="0"/>
              </a:rPr>
              <a:t>//storing as reference </a:t>
            </a:r>
            <a:endParaRPr lang="en-US"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err="1">
                <a:solidFill>
                  <a:srgbClr val="000000"/>
                </a:solidFill>
                <a:latin typeface="Cascadia Mono" panose="020B0609020000020004" pitchFamily="49" charset="0"/>
              </a:rPr>
              <a:t>Console.WriteLine</a:t>
            </a:r>
            <a:r>
              <a:rPr lang="fr-FR" sz="1400" dirty="0">
                <a:solidFill>
                  <a:srgbClr val="000000"/>
                </a:solidFill>
                <a:latin typeface="Cascadia Mono" panose="020B0609020000020004" pitchFamily="49" charset="0"/>
              </a:rPr>
              <a:t>(</a:t>
            </a:r>
            <a:r>
              <a:rPr lang="fr-FR" sz="1400" dirty="0">
                <a:solidFill>
                  <a:srgbClr val="A31515"/>
                </a:solidFill>
                <a:latin typeface="Cascadia Mono" panose="020B0609020000020004" pitchFamily="49" charset="0"/>
              </a:rPr>
              <a:t>$"\t\t</a:t>
            </a:r>
            <a:r>
              <a:rPr lang="fr-FR" sz="1400" dirty="0">
                <a:solidFill>
                  <a:srgbClr val="000000"/>
                </a:solidFill>
                <a:latin typeface="Cascadia Mono" panose="020B0609020000020004" pitchFamily="49" charset="0"/>
              </a:rPr>
              <a:t>{</a:t>
            </a:r>
            <a:r>
              <a:rPr lang="fr-FR" sz="1400" dirty="0" err="1">
                <a:solidFill>
                  <a:srgbClr val="000000"/>
                </a:solidFill>
                <a:latin typeface="Cascadia Mono" panose="020B0609020000020004" pitchFamily="49" charset="0"/>
              </a:rPr>
              <a:t>oddNum</a:t>
            </a:r>
            <a:r>
              <a:rPr lang="fr-FR" sz="1400" dirty="0">
                <a:solidFill>
                  <a:srgbClr val="000000"/>
                </a:solidFill>
                <a:latin typeface="Cascadia Mono" panose="020B0609020000020004" pitchFamily="49" charset="0"/>
              </a:rPr>
              <a:t>}</a:t>
            </a:r>
            <a:r>
              <a:rPr lang="fr-FR" sz="1400" dirty="0">
                <a:solidFill>
                  <a:srgbClr val="A31515"/>
                </a:solidFill>
                <a:latin typeface="Cascadia Mono" panose="020B0609020000020004" pitchFamily="49" charset="0"/>
              </a:rPr>
              <a:t>"</a:t>
            </a:r>
            <a:r>
              <a:rPr lang="fr-FR"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oddNum</a:t>
            </a:r>
            <a:r>
              <a:rPr lang="en-IN" sz="1400" dirty="0">
                <a:solidFill>
                  <a:srgbClr val="000000"/>
                </a:solidFill>
                <a:latin typeface="Cascadia Mono" panose="020B0609020000020004" pitchFamily="49" charset="0"/>
              </a:rPr>
              <a:t> = 35;</a:t>
            </a:r>
          </a:p>
          <a:p>
            <a:r>
              <a:rPr lang="nn-NO" sz="1400" dirty="0">
                <a:solidFill>
                  <a:srgbClr val="000000"/>
                </a:solidFill>
                <a:latin typeface="Cascadia Mono" panose="020B0609020000020004" pitchFamily="49" charset="0"/>
              </a:rPr>
              <a:t>        </a:t>
            </a:r>
            <a:r>
              <a:rPr lang="nn-NO" sz="1400" dirty="0">
                <a:solidFill>
                  <a:srgbClr val="0000FF"/>
                </a:solidFill>
                <a:latin typeface="Cascadia Mono" panose="020B0609020000020004" pitchFamily="49" charset="0"/>
              </a:rPr>
              <a:t>for</a:t>
            </a:r>
            <a:r>
              <a:rPr lang="nn-NO" sz="1400" dirty="0">
                <a:solidFill>
                  <a:srgbClr val="000000"/>
                </a:solidFill>
                <a:latin typeface="Cascadia Mono" panose="020B0609020000020004" pitchFamily="49" charset="0"/>
              </a:rPr>
              <a:t> (</a:t>
            </a:r>
            <a:r>
              <a:rPr lang="nn-NO" sz="1400" dirty="0">
                <a:solidFill>
                  <a:srgbClr val="0000FF"/>
                </a:solidFill>
                <a:latin typeface="Cascadia Mono" panose="020B0609020000020004" pitchFamily="49" charset="0"/>
              </a:rPr>
              <a:t>int</a:t>
            </a:r>
            <a:r>
              <a:rPr lang="nn-NO" sz="1400" dirty="0">
                <a:solidFill>
                  <a:srgbClr val="000000"/>
                </a:solidFill>
                <a:latin typeface="Cascadia Mono" panose="020B0609020000020004" pitchFamily="49" charset="0"/>
              </a:rPr>
              <a:t> i = 0; i &lt; x.Length; i++)</a:t>
            </a:r>
          </a:p>
          <a:p>
            <a:r>
              <a:rPr lang="en-IN"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err="1">
                <a:solidFill>
                  <a:srgbClr val="000000"/>
                </a:solidFill>
                <a:latin typeface="Cascadia Mono" panose="020B0609020000020004" pitchFamily="49" charset="0"/>
              </a:rPr>
              <a:t>Console.Write</a:t>
            </a:r>
            <a:r>
              <a:rPr lang="fr-FR" sz="1400" dirty="0">
                <a:solidFill>
                  <a:srgbClr val="000000"/>
                </a:solidFill>
                <a:latin typeface="Cascadia Mono" panose="020B0609020000020004" pitchFamily="49" charset="0"/>
              </a:rPr>
              <a:t>(</a:t>
            </a:r>
            <a:r>
              <a:rPr lang="fr-FR" sz="1400" dirty="0">
                <a:solidFill>
                  <a:srgbClr val="A31515"/>
                </a:solidFill>
                <a:latin typeface="Cascadia Mono" panose="020B0609020000020004" pitchFamily="49" charset="0"/>
              </a:rPr>
              <a:t>$"</a:t>
            </a:r>
            <a:r>
              <a:rPr lang="fr-FR" sz="1400" dirty="0">
                <a:solidFill>
                  <a:srgbClr val="000000"/>
                </a:solidFill>
                <a:latin typeface="Cascadia Mono" panose="020B0609020000020004" pitchFamily="49" charset="0"/>
              </a:rPr>
              <a:t>{x[i]}</a:t>
            </a:r>
            <a:r>
              <a:rPr lang="fr-FR" sz="1400" dirty="0">
                <a:solidFill>
                  <a:srgbClr val="A31515"/>
                </a:solidFill>
                <a:latin typeface="Cascadia Mono" panose="020B0609020000020004" pitchFamily="49" charset="0"/>
              </a:rPr>
              <a:t>\t"</a:t>
            </a:r>
            <a:r>
              <a:rPr lang="fr-FR"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Console.WriteLine</a:t>
            </a:r>
            <a:r>
              <a:rPr lang="en-IN"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Console.WriteLine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"Press any key to exist."</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Console.ReadKey</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p>
        </p:txBody>
      </p:sp>
      <p:sp>
        <p:nvSpPr>
          <p:cNvPr id="7" name="TextBox 6">
            <a:extLst>
              <a:ext uri="{FF2B5EF4-FFF2-40B4-BE49-F238E27FC236}">
                <a16:creationId xmlns:a16="http://schemas.microsoft.com/office/drawing/2014/main" id="{3C653E4A-02B7-2FE4-C1DF-E56BA7D20511}"/>
              </a:ext>
            </a:extLst>
          </p:cNvPr>
          <p:cNvSpPr txBox="1"/>
          <p:nvPr/>
        </p:nvSpPr>
        <p:spPr>
          <a:xfrm>
            <a:off x="5960097" y="4029691"/>
            <a:ext cx="6094428" cy="1233286"/>
          </a:xfrm>
          <a:prstGeom prst="rect">
            <a:avLst/>
          </a:prstGeom>
          <a:noFill/>
        </p:spPr>
        <p:txBody>
          <a:bodyPr wrap="square">
            <a:spAutoFit/>
          </a:bodyPr>
          <a:lstStyle/>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If you print “</a:t>
            </a:r>
            <a:r>
              <a:rPr lang="en-IN" sz="1400"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oddNum</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first time, then it will print 33 but after that, I have re-assigned its value and set “</a:t>
            </a:r>
            <a:r>
              <a:rPr lang="en-IN" sz="1400"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oddNum</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=35” now iterating the array and printing elements of the array and you can see that whatever I have done, a modification for “</a:t>
            </a:r>
            <a:r>
              <a:rPr lang="en-IN" sz="1400"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oddNum</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from outside is also reflecting inside the array and internal value has been modified from 33 to 35.</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EF9A34B6-75DB-C648-0013-D90EE613249F}"/>
              </a:ext>
            </a:extLst>
          </p:cNvPr>
          <p:cNvSpPr/>
          <p:nvPr/>
        </p:nvSpPr>
        <p:spPr>
          <a:xfrm>
            <a:off x="6512873" y="1962756"/>
            <a:ext cx="612741" cy="306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t>oddNum</a:t>
            </a:r>
            <a:endParaRPr lang="en-IN" sz="900" dirty="0"/>
          </a:p>
        </p:txBody>
      </p:sp>
      <p:cxnSp>
        <p:nvCxnSpPr>
          <p:cNvPr id="4" name="Straight Arrow Connector 3">
            <a:extLst>
              <a:ext uri="{FF2B5EF4-FFF2-40B4-BE49-F238E27FC236}">
                <a16:creationId xmlns:a16="http://schemas.microsoft.com/office/drawing/2014/main" id="{68D73933-4E8E-DCB5-30EB-96064C045022}"/>
              </a:ext>
            </a:extLst>
          </p:cNvPr>
          <p:cNvCxnSpPr>
            <a:cxnSpLocks/>
            <a:stCxn id="2" idx="3"/>
          </p:cNvCxnSpPr>
          <p:nvPr/>
        </p:nvCxnSpPr>
        <p:spPr>
          <a:xfrm flipV="1">
            <a:off x="7125614" y="1178532"/>
            <a:ext cx="2046666" cy="9375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 name="Table 7">
            <a:extLst>
              <a:ext uri="{FF2B5EF4-FFF2-40B4-BE49-F238E27FC236}">
                <a16:creationId xmlns:a16="http://schemas.microsoft.com/office/drawing/2014/main" id="{7A9BFFB0-0F0B-E884-7543-F21EC9AAA540}"/>
              </a:ext>
            </a:extLst>
          </p:cNvPr>
          <p:cNvGraphicFramePr>
            <a:graphicFrameLocks noGrp="1"/>
          </p:cNvGraphicFramePr>
          <p:nvPr>
            <p:extLst>
              <p:ext uri="{D42A27DB-BD31-4B8C-83A1-F6EECF244321}">
                <p14:modId xmlns:p14="http://schemas.microsoft.com/office/powerpoint/2010/main" val="704662018"/>
              </p:ext>
            </p:extLst>
          </p:nvPr>
        </p:nvGraphicFramePr>
        <p:xfrm>
          <a:off x="6852237" y="281957"/>
          <a:ext cx="5339763" cy="1005840"/>
        </p:xfrm>
        <a:graphic>
          <a:graphicData uri="http://schemas.openxmlformats.org/drawingml/2006/table">
            <a:tbl>
              <a:tblPr firstRow="1" bandRow="1">
                <a:tableStyleId>{5C22544A-7EE6-4342-B048-85BDC9FD1C3A}</a:tableStyleId>
              </a:tblPr>
              <a:tblGrid>
                <a:gridCol w="593307">
                  <a:extLst>
                    <a:ext uri="{9D8B030D-6E8A-4147-A177-3AD203B41FA5}">
                      <a16:colId xmlns:a16="http://schemas.microsoft.com/office/drawing/2014/main" val="912734962"/>
                    </a:ext>
                  </a:extLst>
                </a:gridCol>
                <a:gridCol w="593307">
                  <a:extLst>
                    <a:ext uri="{9D8B030D-6E8A-4147-A177-3AD203B41FA5}">
                      <a16:colId xmlns:a16="http://schemas.microsoft.com/office/drawing/2014/main" val="2514532677"/>
                    </a:ext>
                  </a:extLst>
                </a:gridCol>
                <a:gridCol w="593307">
                  <a:extLst>
                    <a:ext uri="{9D8B030D-6E8A-4147-A177-3AD203B41FA5}">
                      <a16:colId xmlns:a16="http://schemas.microsoft.com/office/drawing/2014/main" val="2978110930"/>
                    </a:ext>
                  </a:extLst>
                </a:gridCol>
                <a:gridCol w="593307">
                  <a:extLst>
                    <a:ext uri="{9D8B030D-6E8A-4147-A177-3AD203B41FA5}">
                      <a16:colId xmlns:a16="http://schemas.microsoft.com/office/drawing/2014/main" val="2578167117"/>
                    </a:ext>
                  </a:extLst>
                </a:gridCol>
                <a:gridCol w="593307">
                  <a:extLst>
                    <a:ext uri="{9D8B030D-6E8A-4147-A177-3AD203B41FA5}">
                      <a16:colId xmlns:a16="http://schemas.microsoft.com/office/drawing/2014/main" val="2608423465"/>
                    </a:ext>
                  </a:extLst>
                </a:gridCol>
                <a:gridCol w="593307">
                  <a:extLst>
                    <a:ext uri="{9D8B030D-6E8A-4147-A177-3AD203B41FA5}">
                      <a16:colId xmlns:a16="http://schemas.microsoft.com/office/drawing/2014/main" val="3014522308"/>
                    </a:ext>
                  </a:extLst>
                </a:gridCol>
                <a:gridCol w="593307">
                  <a:extLst>
                    <a:ext uri="{9D8B030D-6E8A-4147-A177-3AD203B41FA5}">
                      <a16:colId xmlns:a16="http://schemas.microsoft.com/office/drawing/2014/main" val="678809947"/>
                    </a:ext>
                  </a:extLst>
                </a:gridCol>
                <a:gridCol w="593307">
                  <a:extLst>
                    <a:ext uri="{9D8B030D-6E8A-4147-A177-3AD203B41FA5}">
                      <a16:colId xmlns:a16="http://schemas.microsoft.com/office/drawing/2014/main" val="720961638"/>
                    </a:ext>
                  </a:extLst>
                </a:gridCol>
                <a:gridCol w="593307">
                  <a:extLst>
                    <a:ext uri="{9D8B030D-6E8A-4147-A177-3AD203B41FA5}">
                      <a16:colId xmlns:a16="http://schemas.microsoft.com/office/drawing/2014/main" val="3846325783"/>
                    </a:ext>
                  </a:extLst>
                </a:gridCol>
              </a:tblGrid>
              <a:tr h="274791">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tc>
                  <a:txBody>
                    <a:bodyPr/>
                    <a:lstStyle/>
                    <a:p>
                      <a:r>
                        <a:rPr lang="en-US" dirty="0"/>
                        <a:t>8</a:t>
                      </a:r>
                      <a:endParaRPr lang="en-IN" dirty="0"/>
                    </a:p>
                  </a:txBody>
                  <a:tcPr/>
                </a:tc>
                <a:extLst>
                  <a:ext uri="{0D108BD9-81ED-4DB2-BD59-A6C34878D82A}">
                    <a16:rowId xmlns:a16="http://schemas.microsoft.com/office/drawing/2014/main" val="1308710262"/>
                  </a:ext>
                </a:extLst>
              </a:tr>
              <a:tr h="480885">
                <a:tc>
                  <a:txBody>
                    <a:bodyPr/>
                    <a:lstStyle/>
                    <a:p>
                      <a:r>
                        <a:rPr lang="en-US" dirty="0"/>
                        <a:t>2</a:t>
                      </a:r>
                      <a:endParaRPr lang="en-IN" dirty="0"/>
                    </a:p>
                  </a:txBody>
                  <a:tcPr/>
                </a:tc>
                <a:tc>
                  <a:txBody>
                    <a:bodyPr/>
                    <a:lstStyle/>
                    <a:p>
                      <a:r>
                        <a:rPr lang="en-US" dirty="0"/>
                        <a:t>4</a:t>
                      </a:r>
                      <a:endParaRPr lang="en-IN" dirty="0"/>
                    </a:p>
                  </a:txBody>
                  <a:tcPr/>
                </a:tc>
                <a:tc>
                  <a:txBody>
                    <a:bodyPr/>
                    <a:lstStyle/>
                    <a:p>
                      <a:r>
                        <a:rPr lang="en-US" dirty="0"/>
                        <a:t>62</a:t>
                      </a:r>
                      <a:endParaRPr lang="en-IN" dirty="0"/>
                    </a:p>
                  </a:txBody>
                  <a:tcPr/>
                </a:tc>
                <a:tc>
                  <a:txBody>
                    <a:bodyPr/>
                    <a:lstStyle/>
                    <a:p>
                      <a:r>
                        <a:rPr lang="en-US" dirty="0"/>
                        <a:t>54</a:t>
                      </a:r>
                      <a:endParaRPr lang="en-IN" dirty="0"/>
                    </a:p>
                  </a:txBody>
                  <a:tcPr/>
                </a:tc>
                <a:tc>
                  <a:txBody>
                    <a:bodyPr/>
                    <a:lstStyle/>
                    <a:p>
                      <a:r>
                        <a:rPr lang="en-US" dirty="0"/>
                        <a:t>33 35</a:t>
                      </a:r>
                      <a:endParaRPr lang="en-IN" dirty="0"/>
                    </a:p>
                  </a:txBody>
                  <a:tcPr/>
                </a:tc>
                <a:tc>
                  <a:txBody>
                    <a:bodyPr/>
                    <a:lstStyle/>
                    <a:p>
                      <a:r>
                        <a:rPr lang="en-US" dirty="0"/>
                        <a:t>55</a:t>
                      </a:r>
                      <a:endParaRPr lang="en-IN" dirty="0"/>
                    </a:p>
                  </a:txBody>
                  <a:tcPr/>
                </a:tc>
                <a:tc>
                  <a:txBody>
                    <a:bodyPr/>
                    <a:lstStyle/>
                    <a:p>
                      <a:r>
                        <a:rPr lang="en-US" dirty="0"/>
                        <a:t>66</a:t>
                      </a:r>
                      <a:endParaRPr lang="en-IN" dirty="0"/>
                    </a:p>
                  </a:txBody>
                  <a:tcPr/>
                </a:tc>
                <a:tc>
                  <a:txBody>
                    <a:bodyPr/>
                    <a:lstStyle/>
                    <a:p>
                      <a:r>
                        <a:rPr lang="en-US" dirty="0"/>
                        <a:t>71</a:t>
                      </a:r>
                      <a:endParaRPr lang="en-IN" dirty="0"/>
                    </a:p>
                  </a:txBody>
                  <a:tcPr/>
                </a:tc>
                <a:tc>
                  <a:txBody>
                    <a:bodyPr/>
                    <a:lstStyle/>
                    <a:p>
                      <a:r>
                        <a:rPr lang="en-US" dirty="0"/>
                        <a:t>92</a:t>
                      </a:r>
                      <a:endParaRPr lang="en-IN" dirty="0"/>
                    </a:p>
                  </a:txBody>
                  <a:tcPr/>
                </a:tc>
                <a:extLst>
                  <a:ext uri="{0D108BD9-81ED-4DB2-BD59-A6C34878D82A}">
                    <a16:rowId xmlns:a16="http://schemas.microsoft.com/office/drawing/2014/main" val="461730292"/>
                  </a:ext>
                </a:extLst>
              </a:tr>
            </a:tbl>
          </a:graphicData>
        </a:graphic>
      </p:graphicFrame>
      <p:sp>
        <p:nvSpPr>
          <p:cNvPr id="8" name="Rectangle 7">
            <a:extLst>
              <a:ext uri="{FF2B5EF4-FFF2-40B4-BE49-F238E27FC236}">
                <a16:creationId xmlns:a16="http://schemas.microsoft.com/office/drawing/2014/main" id="{1B615A62-3BC7-B346-AAFD-7F685D8A4F11}"/>
              </a:ext>
            </a:extLst>
          </p:cNvPr>
          <p:cNvSpPr/>
          <p:nvPr/>
        </p:nvSpPr>
        <p:spPr>
          <a:xfrm>
            <a:off x="6239496" y="1263641"/>
            <a:ext cx="612741" cy="306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x</a:t>
            </a:r>
            <a:endParaRPr lang="en-IN" sz="900" dirty="0"/>
          </a:p>
        </p:txBody>
      </p:sp>
      <p:cxnSp>
        <p:nvCxnSpPr>
          <p:cNvPr id="9" name="Straight Arrow Connector 8">
            <a:extLst>
              <a:ext uri="{FF2B5EF4-FFF2-40B4-BE49-F238E27FC236}">
                <a16:creationId xmlns:a16="http://schemas.microsoft.com/office/drawing/2014/main" id="{8FD7822B-54AD-01B7-72D3-C2E824B668C4}"/>
              </a:ext>
            </a:extLst>
          </p:cNvPr>
          <p:cNvCxnSpPr/>
          <p:nvPr/>
        </p:nvCxnSpPr>
        <p:spPr>
          <a:xfrm flipV="1">
            <a:off x="7040773" y="1263641"/>
            <a:ext cx="575035" cy="165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B98DFC-3930-0C3E-93F1-1FC9F17F18CE}"/>
              </a:ext>
            </a:extLst>
          </p:cNvPr>
          <p:cNvCxnSpPr>
            <a:cxnSpLocks/>
          </p:cNvCxnSpPr>
          <p:nvPr/>
        </p:nvCxnSpPr>
        <p:spPr>
          <a:xfrm>
            <a:off x="9313682" y="744718"/>
            <a:ext cx="188537" cy="245096"/>
          </a:xfrm>
          <a:prstGeom prst="line">
            <a:avLst/>
          </a:prstGeom>
        </p:spPr>
        <p:style>
          <a:lnRef idx="3">
            <a:schemeClr val="accent2"/>
          </a:lnRef>
          <a:fillRef idx="0">
            <a:schemeClr val="accent2"/>
          </a:fillRef>
          <a:effectRef idx="2">
            <a:schemeClr val="accent2"/>
          </a:effectRef>
          <a:fontRef idx="minor">
            <a:schemeClr val="tx1"/>
          </a:fontRef>
        </p:style>
      </p:cxnSp>
      <p:pic>
        <p:nvPicPr>
          <p:cNvPr id="19" name="Picture 18">
            <a:extLst>
              <a:ext uri="{FF2B5EF4-FFF2-40B4-BE49-F238E27FC236}">
                <a16:creationId xmlns:a16="http://schemas.microsoft.com/office/drawing/2014/main" id="{E7747983-59DE-6980-2B79-625886843913}"/>
              </a:ext>
            </a:extLst>
          </p:cNvPr>
          <p:cNvPicPr>
            <a:picLocks noChangeAspect="1"/>
          </p:cNvPicPr>
          <p:nvPr/>
        </p:nvPicPr>
        <p:blipFill rotWithShape="1">
          <a:blip r:embed="rId2"/>
          <a:srcRect l="8930" t="14731" r="41082" b="67285"/>
          <a:stretch/>
        </p:blipFill>
        <p:spPr>
          <a:xfrm>
            <a:off x="5992041" y="2551438"/>
            <a:ext cx="6094428" cy="1233286"/>
          </a:xfrm>
          <a:prstGeom prst="rect">
            <a:avLst/>
          </a:prstGeom>
        </p:spPr>
      </p:pic>
    </p:spTree>
    <p:extLst>
      <p:ext uri="{BB962C8B-B14F-4D97-AF65-F5344CB8AC3E}">
        <p14:creationId xmlns:p14="http://schemas.microsoft.com/office/powerpoint/2010/main" val="16093740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810</Words>
  <Application>Microsoft Office PowerPoint</Application>
  <PresentationFormat>Widescreen</PresentationFormat>
  <Paragraphs>86</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Cascadia Mono</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8</cp:revision>
  <dcterms:created xsi:type="dcterms:W3CDTF">2023-02-08T05:23:17Z</dcterms:created>
  <dcterms:modified xsi:type="dcterms:W3CDTF">2023-02-08T12:08:23Z</dcterms:modified>
</cp:coreProperties>
</file>