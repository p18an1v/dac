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ED38B-FA32-9C36-8820-7204834C8C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F70EB2-9C70-52AE-BCBB-AF3BC9C611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BBDC21-6A5F-4433-5FC1-6E8EC0A5D926}"/>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98B4B9DA-DBB9-FF38-F37D-78E87C70D7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AA4547-110D-1D57-A65D-6E2C9815556A}"/>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37366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9F463-BF7B-94D0-93BB-71AE93289C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EB0454-83E8-4CDE-C581-BC613C089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80D4BF-6A3F-987C-E0F2-83ABED39A4E5}"/>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D60F8017-545F-7DD0-FAC6-2068B7AEF1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EC88A0-59EC-D89B-F349-28BC88337808}"/>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510018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1BF1-F36C-E694-DB45-EDB8E6CF4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0403DA-3E70-57F8-B9B6-51B29BB0D8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8B505B-DFAD-16DD-7F62-8CFED706B8EE}"/>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61FFB809-8E8F-DEBE-E41D-9FA2F3A0C8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C803A0-76AD-EE62-7AF4-58488F1BCE99}"/>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349151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2DBC-4887-3822-B838-D11FCEEC4A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B77602-EC09-1CAA-5EFA-5396F53C6E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B79264-E860-4635-E3BB-2DF6C63DCD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42BEA11-2D48-67AC-59C8-1A2C4A755A93}"/>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6" name="Footer Placeholder 5">
            <a:extLst>
              <a:ext uri="{FF2B5EF4-FFF2-40B4-BE49-F238E27FC236}">
                <a16:creationId xmlns:a16="http://schemas.microsoft.com/office/drawing/2014/main" id="{65B467CD-B5BB-E630-95D6-66A4673FF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2BED8B-CAED-83A5-B926-6D641256E861}"/>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2786152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B3439-D158-291F-C8B5-E806286DCF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2A3FC6-0E46-5A12-ADB2-745187495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FF4479-5753-412E-EEA2-A86B2462F4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42BBAF-A2C9-722F-BBAD-9A71FE5DB8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76D4BA-AF46-AC13-A0AC-371D87C27D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F692CB-993D-90D0-E00B-30B5F5CBDCB3}"/>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8" name="Footer Placeholder 7">
            <a:extLst>
              <a:ext uri="{FF2B5EF4-FFF2-40B4-BE49-F238E27FC236}">
                <a16:creationId xmlns:a16="http://schemas.microsoft.com/office/drawing/2014/main" id="{13F6A354-B9F0-6B58-CC25-7B12AD5F3B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1CE3AE-0DF9-AE77-EA84-B25DE6F3C561}"/>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3428930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6B03-AAA8-E5A7-6286-9CFF3AF4B2F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B4B52D-520F-94EA-9FEA-28E0A6373FF8}"/>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4" name="Footer Placeholder 3">
            <a:extLst>
              <a:ext uri="{FF2B5EF4-FFF2-40B4-BE49-F238E27FC236}">
                <a16:creationId xmlns:a16="http://schemas.microsoft.com/office/drawing/2014/main" id="{8B9137E3-EC00-E0A9-93B3-F703F49312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770C13-B3C9-4CDD-E7D3-702075CBFB5F}"/>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212430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06E954-2398-5E65-869D-60D4D05D45AB}"/>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3" name="Footer Placeholder 2">
            <a:extLst>
              <a:ext uri="{FF2B5EF4-FFF2-40B4-BE49-F238E27FC236}">
                <a16:creationId xmlns:a16="http://schemas.microsoft.com/office/drawing/2014/main" id="{69E3BC64-672A-7B81-87C5-0343B0FC79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F35E09-8C9D-014A-298B-99EEBD630773}"/>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3081367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0AA9-D62E-2362-60FF-1AA8CC0C7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A4D685-BFA3-C509-C53D-BE9C52F16E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823664-053B-1732-BF52-23B3BBE704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DC92A-09F5-3840-6CCD-A8EC5BA2AA21}"/>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6" name="Footer Placeholder 5">
            <a:extLst>
              <a:ext uri="{FF2B5EF4-FFF2-40B4-BE49-F238E27FC236}">
                <a16:creationId xmlns:a16="http://schemas.microsoft.com/office/drawing/2014/main" id="{04C71FBE-DF7E-5DB1-04CF-CA2F111C35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039E51-D877-CF91-3CE6-95BD784F90E3}"/>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2762281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4C3E9-4561-F7FD-79E8-27E43D6A2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1D0B1E-093F-638D-CF7A-AA0234339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2F3C26-3CC6-73A0-964A-B30BE53BEF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D85CB-C9D6-895C-57AD-22E8FE7616C5}"/>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6" name="Footer Placeholder 5">
            <a:extLst>
              <a:ext uri="{FF2B5EF4-FFF2-40B4-BE49-F238E27FC236}">
                <a16:creationId xmlns:a16="http://schemas.microsoft.com/office/drawing/2014/main" id="{9D73FDC2-02BA-898B-54A6-EFE8EF40A1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5C1017-D1D5-6879-EDE0-3062C3181161}"/>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161773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C9EC-7312-5CC3-68B2-909BC3895B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631426-10E5-C675-5403-266EF38598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246BEB-F696-80E1-5C00-DB312AE09859}"/>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3CED503A-9A2C-5BA4-E7B1-47FF8FF0A5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0D4784-BC59-A9EA-9ED2-AFD9782BD57D}"/>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50025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74869F-68EC-097B-5A28-592E1E602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03A620-136D-DCFD-27F1-2841ED164A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5C5972-D37F-46FF-9659-AF550A99EDA0}"/>
              </a:ext>
            </a:extLst>
          </p:cNvPr>
          <p:cNvSpPr>
            <a:spLocks noGrp="1"/>
          </p:cNvSpPr>
          <p:nvPr>
            <p:ph type="dt" sz="half" idx="10"/>
          </p:nvPr>
        </p:nvSpPr>
        <p:spPr/>
        <p:txBody>
          <a:body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FBD50E47-4AB4-387F-BDAA-C29172DA0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7B264F-2155-4DC8-29C5-76E95CDBA4DB}"/>
              </a:ext>
            </a:extLst>
          </p:cNvPr>
          <p:cNvSpPr>
            <a:spLocks noGrp="1"/>
          </p:cNvSpPr>
          <p:nvPr>
            <p:ph type="sldNum" sz="quarter" idx="12"/>
          </p:nvPr>
        </p:nvSpPr>
        <p:spPr/>
        <p:txBody>
          <a:bodyPr/>
          <a:lstStyle/>
          <a:p>
            <a:fld id="{99197D9A-7014-4F99-879A-8BB1AACBC05D}" type="slidenum">
              <a:rPr lang="en-IN" smtClean="0"/>
              <a:t>‹#›</a:t>
            </a:fld>
            <a:endParaRPr lang="en-IN"/>
          </a:p>
        </p:txBody>
      </p:sp>
    </p:spTree>
    <p:extLst>
      <p:ext uri="{BB962C8B-B14F-4D97-AF65-F5344CB8AC3E}">
        <p14:creationId xmlns:p14="http://schemas.microsoft.com/office/powerpoint/2010/main" val="1013923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A556FE-D888-186B-741D-722C1CF30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2150F6-E820-FE96-A672-B95C1D269D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C1EDCB-8460-3CE6-A718-56EA13B14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E9ADAD-8140-45C4-AE73-0DB8DDAFC9B5}" type="datetimeFigureOut">
              <a:rPr lang="en-IN" smtClean="0"/>
              <a:t>08-02-2023</a:t>
            </a:fld>
            <a:endParaRPr lang="en-IN"/>
          </a:p>
        </p:txBody>
      </p:sp>
      <p:sp>
        <p:nvSpPr>
          <p:cNvPr id="5" name="Footer Placeholder 4">
            <a:extLst>
              <a:ext uri="{FF2B5EF4-FFF2-40B4-BE49-F238E27FC236}">
                <a16:creationId xmlns:a16="http://schemas.microsoft.com/office/drawing/2014/main" id="{325D7094-3F68-BAC2-5ACF-BE1071CA3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201CA7-CA4E-F150-ACC4-5BCB736E27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197D9A-7014-4F99-879A-8BB1AACBC05D}" type="slidenum">
              <a:rPr lang="en-IN" smtClean="0"/>
              <a:t>‹#›</a:t>
            </a:fld>
            <a:endParaRPr lang="en-IN"/>
          </a:p>
        </p:txBody>
      </p:sp>
    </p:spTree>
    <p:extLst>
      <p:ext uri="{BB962C8B-B14F-4D97-AF65-F5344CB8AC3E}">
        <p14:creationId xmlns:p14="http://schemas.microsoft.com/office/powerpoint/2010/main" val="1722885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DDF174-BEE7-DAFC-F9A6-EB67F42AC4E9}"/>
              </a:ext>
            </a:extLst>
          </p:cNvPr>
          <p:cNvSpPr txBox="1"/>
          <p:nvPr/>
        </p:nvSpPr>
        <p:spPr>
          <a:xfrm>
            <a:off x="124904" y="129766"/>
            <a:ext cx="11828283" cy="1264642"/>
          </a:xfrm>
          <a:prstGeom prst="rect">
            <a:avLst/>
          </a:prstGeom>
          <a:noFill/>
        </p:spPr>
        <p:txBody>
          <a:bodyPr wrap="square">
            <a:spAutoFit/>
          </a:bodyPr>
          <a:lstStyle/>
          <a:p>
            <a:pPr algn="just" fontAlgn="base">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 C#, we generally use the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 parameter </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to pass a method argument’s reference. If you want to use an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parameter, then you need to explicitly specify the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keyword in both the calling method and method definition. Before C# 7, we need to split their declaration and usage into two parts i.e. first we need to declare a variable and then we need to pass that variable to the method using the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keyword.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4881F185-3DFC-5566-F7E1-F6600BE51139}"/>
              </a:ext>
            </a:extLst>
          </p:cNvPr>
          <p:cNvSpPr txBox="1"/>
          <p:nvPr/>
        </p:nvSpPr>
        <p:spPr>
          <a:xfrm>
            <a:off x="5507611" y="1280137"/>
            <a:ext cx="6094428" cy="35394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System;</a:t>
            </a:r>
          </a:p>
          <a:p>
            <a:endParaRPr lang="en-IN" sz="800" dirty="0">
              <a:solidFill>
                <a:srgbClr val="000000"/>
              </a:solidFill>
              <a:latin typeface="Cascadia Mono" panose="020B0609020000020004" pitchFamily="49" charset="0"/>
            </a:endParaRPr>
          </a:p>
          <a:p>
            <a:r>
              <a:rPr lang="en-IN" sz="800" dirty="0">
                <a:solidFill>
                  <a:srgbClr val="0000FF"/>
                </a:solidFill>
                <a:latin typeface="Cascadia Mono" panose="020B0609020000020004" pitchFamily="49" charset="0"/>
              </a:rPr>
              <a:t>namespace</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ConsoleAppnewversion</a:t>
            </a:r>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a:t>
            </a:r>
          </a:p>
          <a:p>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class</a:t>
            </a:r>
            <a:r>
              <a:rPr lang="en-IN" sz="800" dirty="0">
                <a:solidFill>
                  <a:srgbClr val="000000"/>
                </a:solidFill>
                <a:latin typeface="Cascadia Mono" panose="020B0609020000020004" pitchFamily="49" charset="0"/>
              </a:rPr>
              <a:t> </a:t>
            </a:r>
            <a:r>
              <a:rPr lang="en-IN" sz="800" dirty="0">
                <a:solidFill>
                  <a:srgbClr val="2B91AF"/>
                </a:solidFill>
                <a:latin typeface="Cascadia Mono" panose="020B0609020000020004" pitchFamily="49" charset="0"/>
              </a:rPr>
              <a:t>Program</a:t>
            </a:r>
            <a:endParaRPr lang="en-IN"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static</a:t>
            </a:r>
            <a:r>
              <a:rPr lang="en-IN" sz="800" dirty="0">
                <a:solidFill>
                  <a:srgbClr val="000000"/>
                </a:solidFill>
                <a:latin typeface="Cascadia Mono" panose="020B0609020000020004" pitchFamily="49" charset="0"/>
              </a:rPr>
              <a:t> </a:t>
            </a:r>
            <a:r>
              <a:rPr lang="en-IN" sz="800" dirty="0">
                <a:solidFill>
                  <a:srgbClr val="0000FF"/>
                </a:solidFill>
                <a:latin typeface="Cascadia Mono" panose="020B0609020000020004" pitchFamily="49" charset="0"/>
              </a:rPr>
              <a:t>void</a:t>
            </a:r>
            <a:r>
              <a:rPr lang="en-IN" sz="800" dirty="0">
                <a:solidFill>
                  <a:srgbClr val="000000"/>
                </a:solidFill>
                <a:latin typeface="Cascadia Mono" panose="020B0609020000020004" pitchFamily="49" charset="0"/>
              </a:rPr>
              <a:t> Main()</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GetEmployeeDetails</a:t>
            </a:r>
            <a:r>
              <a:rPr lang="en-US" sz="800" dirty="0">
                <a:solidFill>
                  <a:srgbClr val="000000"/>
                </a:solidFill>
                <a:latin typeface="Cascadia Mono" panose="020B0609020000020004" pitchFamily="49" charset="0"/>
              </a:rPr>
              <a:t>(</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highlight>
                  <a:srgbClr val="FFFF00"/>
                </a:highlight>
                <a:latin typeface="Cascadia Mono" panose="020B0609020000020004" pitchFamily="49" charset="0"/>
              </a:rPr>
              <a:t>string</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EmployeeName</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highlight>
                  <a:srgbClr val="FFFF00"/>
                </a:highlight>
                <a:latin typeface="Cascadia Mono" panose="020B0609020000020004" pitchFamily="49" charset="0"/>
              </a:rPr>
              <a:t>string</a:t>
            </a:r>
            <a:r>
              <a:rPr lang="en-US" sz="800" dirty="0">
                <a:solidFill>
                  <a:srgbClr val="000000"/>
                </a:solidFill>
                <a:latin typeface="Cascadia Mono" panose="020B0609020000020004" pitchFamily="49" charset="0"/>
              </a:rPr>
              <a:t> Gender, </a:t>
            </a:r>
            <a:r>
              <a:rPr lang="en-US" sz="800" dirty="0">
                <a:solidFill>
                  <a:srgbClr val="0000FF"/>
                </a:solidFill>
                <a:highlight>
                  <a:srgbClr val="FFFF00"/>
                </a:highlight>
                <a:latin typeface="Cascadia Mono" panose="020B0609020000020004" pitchFamily="49" charset="0"/>
              </a:rPr>
              <a:t>long</a:t>
            </a:r>
            <a:r>
              <a:rPr lang="en-US" sz="800" dirty="0">
                <a:solidFill>
                  <a:srgbClr val="000000"/>
                </a:solidFill>
                <a:highlight>
                  <a:srgbClr val="FFFF00"/>
                </a:highlight>
                <a:latin typeface="Cascadia Mono" panose="020B0609020000020004" pitchFamily="49" charset="0"/>
              </a:rPr>
              <a:t> </a:t>
            </a:r>
            <a:r>
              <a:rPr lang="en-US" sz="800" dirty="0">
                <a:solidFill>
                  <a:srgbClr val="000000"/>
                </a:solidFill>
                <a:latin typeface="Cascadia Mono" panose="020B0609020000020004" pitchFamily="49" charset="0"/>
              </a:rPr>
              <a:t> Salary, </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highlight>
                  <a:srgbClr val="FFFF00"/>
                </a:highlight>
                <a:latin typeface="Cascadia Mono" panose="020B0609020000020004" pitchFamily="49" charset="0"/>
              </a:rPr>
              <a:t>string</a:t>
            </a:r>
            <a:r>
              <a:rPr lang="en-US" sz="800" dirty="0">
                <a:solidFill>
                  <a:srgbClr val="000000"/>
                </a:solidFill>
                <a:latin typeface="Cascadia Mono" panose="020B0609020000020004" pitchFamily="49" charset="0"/>
              </a:rPr>
              <a:t> Department);</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Console.WriteLine</a:t>
            </a:r>
            <a:r>
              <a:rPr lang="en-IN" sz="800" dirty="0">
                <a:solidFill>
                  <a:srgbClr val="000000"/>
                </a:solidFill>
                <a:latin typeface="Cascadia Mono" panose="020B0609020000020004" pitchFamily="49" charset="0"/>
              </a:rPr>
              <a:t>(</a:t>
            </a:r>
            <a:r>
              <a:rPr lang="en-IN" sz="800" dirty="0">
                <a:solidFill>
                  <a:srgbClr val="A31515"/>
                </a:solidFill>
                <a:latin typeface="Cascadia Mono" panose="020B0609020000020004" pitchFamily="49" charset="0"/>
              </a:rPr>
              <a:t>"Employee Details:"</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Console.WriteLine</a:t>
            </a:r>
            <a:r>
              <a:rPr lang="en-IN" sz="800" dirty="0">
                <a:solidFill>
                  <a:srgbClr val="000000"/>
                </a:solidFill>
                <a:latin typeface="Cascadia Mono" panose="020B0609020000020004" pitchFamily="49" charset="0"/>
              </a:rPr>
              <a:t>(</a:t>
            </a:r>
            <a:r>
              <a:rPr lang="en-IN" sz="800" dirty="0">
                <a:solidFill>
                  <a:srgbClr val="A31515"/>
                </a:solidFill>
                <a:latin typeface="Cascadia Mono" panose="020B0609020000020004" pitchFamily="49" charset="0"/>
              </a:rPr>
              <a:t>"Name: {0}, Gender: {1}, Salary: {2}, Department: {3}"</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EmployeeName</a:t>
            </a:r>
            <a:r>
              <a:rPr lang="en-IN" sz="800" dirty="0">
                <a:solidFill>
                  <a:srgbClr val="000000"/>
                </a:solidFill>
                <a:latin typeface="Cascadia Mono" panose="020B0609020000020004" pitchFamily="49" charset="0"/>
              </a:rPr>
              <a:t>, Gender, Salary, Department);</a:t>
            </a:r>
          </a:p>
          <a:p>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Console.WriteLine</a:t>
            </a:r>
            <a:r>
              <a:rPr lang="en-US" sz="800" dirty="0">
                <a:solidFill>
                  <a:srgbClr val="000000"/>
                </a:solidFill>
                <a:latin typeface="Cascadia Mono" panose="020B0609020000020004" pitchFamily="49" charset="0"/>
              </a:rPr>
              <a:t>(</a:t>
            </a:r>
            <a:r>
              <a:rPr lang="en-US" sz="800" dirty="0">
                <a:solidFill>
                  <a:srgbClr val="A31515"/>
                </a:solidFill>
                <a:latin typeface="Cascadia Mono" panose="020B0609020000020004" pitchFamily="49" charset="0"/>
              </a:rPr>
              <a:t>"Press any key to exit."</a:t>
            </a:r>
            <a:r>
              <a:rPr lang="en-US"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Console.ReadKey</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static</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void</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GetEmployeeDetails</a:t>
            </a:r>
            <a:r>
              <a:rPr lang="en-US" sz="800" dirty="0">
                <a:solidFill>
                  <a:srgbClr val="000000"/>
                </a:solidFill>
                <a:latin typeface="Cascadia Mono" panose="020B0609020000020004" pitchFamily="49" charset="0"/>
              </a:rPr>
              <a:t>(</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string</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EmployeeName</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string</a:t>
            </a:r>
            <a:r>
              <a:rPr lang="en-US" sz="800" dirty="0">
                <a:solidFill>
                  <a:srgbClr val="000000"/>
                </a:solidFill>
                <a:latin typeface="Cascadia Mono" panose="020B0609020000020004" pitchFamily="49" charset="0"/>
              </a:rPr>
              <a:t> Gender, </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long</a:t>
            </a:r>
            <a:r>
              <a:rPr lang="en-US" sz="800" dirty="0">
                <a:solidFill>
                  <a:srgbClr val="000000"/>
                </a:solidFill>
                <a:latin typeface="Cascadia Mono" panose="020B0609020000020004" pitchFamily="49" charset="0"/>
              </a:rPr>
              <a:t> Salary, </a:t>
            </a:r>
            <a:r>
              <a:rPr lang="en-US" sz="800" dirty="0">
                <a:solidFill>
                  <a:srgbClr val="0000FF"/>
                </a:solidFill>
                <a:latin typeface="Cascadia Mono" panose="020B0609020000020004" pitchFamily="49" charset="0"/>
              </a:rPr>
              <a:t>out</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string</a:t>
            </a:r>
            <a:r>
              <a:rPr lang="en-US" sz="800" dirty="0">
                <a:solidFill>
                  <a:srgbClr val="000000"/>
                </a:solidFill>
                <a:latin typeface="Cascadia Mono" panose="020B0609020000020004" pitchFamily="49" charset="0"/>
              </a:rPr>
              <a:t> Department)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EmployeeName</a:t>
            </a:r>
            <a:r>
              <a:rPr lang="en-IN" sz="800" dirty="0">
                <a:solidFill>
                  <a:srgbClr val="000000"/>
                </a:solidFill>
                <a:latin typeface="Cascadia Mono" panose="020B0609020000020004" pitchFamily="49" charset="0"/>
              </a:rPr>
              <a:t> = </a:t>
            </a:r>
            <a:r>
              <a:rPr lang="en-IN" sz="800" dirty="0">
                <a:solidFill>
                  <a:srgbClr val="A31515"/>
                </a:solidFill>
                <a:latin typeface="Cascadia Mono" panose="020B0609020000020004" pitchFamily="49" charset="0"/>
              </a:rPr>
              <a:t>"</a:t>
            </a:r>
            <a:r>
              <a:rPr lang="en-IN" sz="800" dirty="0" err="1">
                <a:solidFill>
                  <a:srgbClr val="A31515"/>
                </a:solidFill>
                <a:latin typeface="Cascadia Mono" panose="020B0609020000020004" pitchFamily="49" charset="0"/>
              </a:rPr>
              <a:t>Pranaya</a:t>
            </a:r>
            <a:r>
              <a:rPr lang="en-IN" sz="800" dirty="0">
                <a:solidFill>
                  <a:srgbClr val="A31515"/>
                </a:solidFill>
                <a:latin typeface="Cascadia Mono" panose="020B0609020000020004" pitchFamily="49" charset="0"/>
              </a:rPr>
              <a:t> Rout"</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Gender = </a:t>
            </a:r>
            <a:r>
              <a:rPr lang="en-IN" sz="800" dirty="0">
                <a:solidFill>
                  <a:srgbClr val="A31515"/>
                </a:solidFill>
                <a:latin typeface="Cascadia Mono" panose="020B0609020000020004" pitchFamily="49" charset="0"/>
              </a:rPr>
              <a:t>"Male"</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Salary = 20000;</a:t>
            </a:r>
          </a:p>
          <a:p>
            <a:r>
              <a:rPr lang="en-IN" sz="800" dirty="0">
                <a:solidFill>
                  <a:srgbClr val="000000"/>
                </a:solidFill>
                <a:latin typeface="Cascadia Mono" panose="020B0609020000020004" pitchFamily="49" charset="0"/>
              </a:rPr>
              <a:t>            Department = </a:t>
            </a:r>
            <a:r>
              <a:rPr lang="en-IN" sz="800" dirty="0">
                <a:solidFill>
                  <a:srgbClr val="A31515"/>
                </a:solidFill>
                <a:latin typeface="Cascadia Mono" panose="020B0609020000020004" pitchFamily="49" charset="0"/>
              </a:rPr>
              <a:t>"IT"</a:t>
            </a:r>
            <a:r>
              <a:rPr lang="en-IN" sz="800" dirty="0">
                <a:solidFill>
                  <a:srgbClr val="000000"/>
                </a:solidFill>
                <a:latin typeface="Cascadia Mono" panose="020B0609020000020004" pitchFamily="49" charset="0"/>
              </a:rPr>
              <a:t>;</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    }</a:t>
            </a:r>
          </a:p>
          <a:p>
            <a:r>
              <a:rPr lang="en-IN" sz="800" dirty="0">
                <a:solidFill>
                  <a:srgbClr val="000000"/>
                </a:solidFill>
                <a:latin typeface="Cascadia Mono" panose="020B0609020000020004" pitchFamily="49" charset="0"/>
              </a:rPr>
              <a:t>}</a:t>
            </a:r>
            <a:endParaRPr lang="en-IN" sz="800" dirty="0"/>
          </a:p>
        </p:txBody>
      </p:sp>
      <p:sp>
        <p:nvSpPr>
          <p:cNvPr id="13" name="TextBox 12">
            <a:extLst>
              <a:ext uri="{FF2B5EF4-FFF2-40B4-BE49-F238E27FC236}">
                <a16:creationId xmlns:a16="http://schemas.microsoft.com/office/drawing/2014/main" id="{51B35FE5-AE4D-7AA0-4E21-5E8BFD1C3898}"/>
              </a:ext>
            </a:extLst>
          </p:cNvPr>
          <p:cNvSpPr txBox="1"/>
          <p:nvPr/>
        </p:nvSpPr>
        <p:spPr>
          <a:xfrm>
            <a:off x="5309648" y="4835742"/>
            <a:ext cx="6094428" cy="584775"/>
          </a:xfrm>
          <a:prstGeom prst="rect">
            <a:avLst/>
          </a:prstGeom>
          <a:noFill/>
        </p:spPr>
        <p:txBody>
          <a:bodyPr wrap="square">
            <a:spAutoFit/>
          </a:bodyPr>
          <a:lstStyle/>
          <a:p>
            <a:r>
              <a:rPr lang="en-IN" sz="1600" dirty="0">
                <a:solidFill>
                  <a:srgbClr val="000000"/>
                </a:solidFill>
                <a:effectLst/>
                <a:latin typeface="Calibri" panose="020F0502020204030204" pitchFamily="34" charset="0"/>
                <a:ea typeface="Times New Roman" panose="02020603050405020304" pitchFamily="18" charset="0"/>
              </a:rPr>
              <a:t>With the introduction of C# 7, now it is possible to define a method’s out parameters </a:t>
            </a:r>
            <a:r>
              <a:rPr lang="en-IN" sz="1600" dirty="0">
                <a:solidFill>
                  <a:srgbClr val="000000"/>
                </a:solidFill>
                <a:effectLst/>
                <a:highlight>
                  <a:srgbClr val="FFFF00"/>
                </a:highlight>
                <a:latin typeface="Calibri" panose="020F0502020204030204" pitchFamily="34" charset="0"/>
                <a:ea typeface="Times New Roman" panose="02020603050405020304" pitchFamily="18" charset="0"/>
              </a:rPr>
              <a:t>directly within the method. </a:t>
            </a:r>
          </a:p>
        </p:txBody>
      </p:sp>
      <p:sp>
        <p:nvSpPr>
          <p:cNvPr id="15" name="TextBox 14">
            <a:extLst>
              <a:ext uri="{FF2B5EF4-FFF2-40B4-BE49-F238E27FC236}">
                <a16:creationId xmlns:a16="http://schemas.microsoft.com/office/drawing/2014/main" id="{0A9AE921-412D-3199-E725-997F71EC20AF}"/>
              </a:ext>
            </a:extLst>
          </p:cNvPr>
          <p:cNvSpPr txBox="1"/>
          <p:nvPr/>
        </p:nvSpPr>
        <p:spPr>
          <a:xfrm>
            <a:off x="124904" y="2004197"/>
            <a:ext cx="5184744" cy="3416320"/>
          </a:xfrm>
          <a:prstGeom prst="rect">
            <a:avLst/>
          </a:prstGeom>
          <a:noFill/>
        </p:spPr>
        <p:txBody>
          <a:bodyPr wrap="square">
            <a:spAutoFit/>
          </a:bodyPr>
          <a:lstStyle/>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string</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FFFF00"/>
                </a:highlight>
                <a:latin typeface="Cascadia Mono" panose="020B0609020000020004" pitchFamily="49" charset="0"/>
              </a:rPr>
              <a:t>EmployeeName</a:t>
            </a:r>
            <a:r>
              <a:rPr lang="en-IN" sz="900" dirty="0">
                <a:solidFill>
                  <a:srgbClr val="000000"/>
                </a:solidFill>
                <a:highlight>
                  <a:srgbClr val="FFFF00"/>
                </a:highlight>
                <a:latin typeface="Cascadia Mono" panose="020B0609020000020004" pitchFamily="49" charset="0"/>
              </a:rPr>
              <a:t>, Gender, Department;</a:t>
            </a:r>
          </a:p>
          <a:p>
            <a:r>
              <a:rPr lang="en-IN" sz="900" dirty="0">
                <a:solidFill>
                  <a:srgbClr val="000000"/>
                </a:solidFill>
                <a:highlight>
                  <a:srgbClr val="FFFF00"/>
                </a:highlight>
                <a:latin typeface="Cascadia Mono" panose="020B0609020000020004" pitchFamily="49" charset="0"/>
              </a:rPr>
              <a:t>        </a:t>
            </a:r>
            <a:r>
              <a:rPr lang="en-IN" sz="900" dirty="0">
                <a:solidFill>
                  <a:srgbClr val="0000FF"/>
                </a:solidFill>
                <a:highlight>
                  <a:srgbClr val="FFFF00"/>
                </a:highlight>
                <a:latin typeface="Cascadia Mono" panose="020B0609020000020004" pitchFamily="49" charset="0"/>
              </a:rPr>
              <a:t>long</a:t>
            </a:r>
            <a:r>
              <a:rPr lang="en-IN" sz="900" dirty="0">
                <a:solidFill>
                  <a:srgbClr val="000000"/>
                </a:solidFill>
                <a:highlight>
                  <a:srgbClr val="FFFF00"/>
                </a:highlight>
                <a:latin typeface="Cascadia Mono" panose="020B0609020000020004" pitchFamily="49" charset="0"/>
              </a:rPr>
              <a:t> Salary;</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Gender,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Salary,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Department);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"Employee Details:"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"Name: {0}, Gender: {1}, Salary: {2}, Department: {3}"</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EmployeeName</a:t>
            </a:r>
            <a:r>
              <a:rPr lang="en-IN" sz="900" dirty="0">
                <a:solidFill>
                  <a:srgbClr val="000000"/>
                </a:solidFill>
                <a:latin typeface="Cascadia Mono" panose="020B0609020000020004" pitchFamily="49" charset="0"/>
              </a:rPr>
              <a:t>, Gender, Salary, Department);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"Press any key to exit."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Console.ReadKey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Gender,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long</a:t>
            </a:r>
            <a:r>
              <a:rPr lang="en-US" sz="900" dirty="0">
                <a:solidFill>
                  <a:srgbClr val="000000"/>
                </a:solidFill>
                <a:latin typeface="Cascadia Mono" panose="020B0609020000020004" pitchFamily="49" charset="0"/>
              </a:rPr>
              <a:t> Salary,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Department)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EmployeeName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Pranaya</a:t>
            </a:r>
            <a:r>
              <a:rPr lang="en-IN" sz="900" dirty="0">
                <a:solidFill>
                  <a:srgbClr val="A31515"/>
                </a:solidFill>
                <a:latin typeface="Cascadia Mono" panose="020B0609020000020004" pitchFamily="49" charset="0"/>
              </a:rPr>
              <a:t> Rout"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Gender = </a:t>
            </a:r>
            <a:r>
              <a:rPr lang="en-IN" sz="900" dirty="0">
                <a:solidFill>
                  <a:srgbClr val="A31515"/>
                </a:solidFill>
                <a:latin typeface="Cascadia Mono" panose="020B0609020000020004" pitchFamily="49" charset="0"/>
              </a:rPr>
              <a:t>"Male"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Salary = 20000;</a:t>
            </a:r>
          </a:p>
          <a:p>
            <a:r>
              <a:rPr lang="en-IN" sz="900" dirty="0">
                <a:solidFill>
                  <a:srgbClr val="000000"/>
                </a:solidFill>
                <a:latin typeface="Cascadia Mono" panose="020B0609020000020004" pitchFamily="49" charset="0"/>
              </a:rPr>
              <a:t>        Department = </a:t>
            </a:r>
            <a:r>
              <a:rPr lang="en-IN" sz="900" dirty="0">
                <a:solidFill>
                  <a:srgbClr val="A31515"/>
                </a:solidFill>
                <a:latin typeface="Cascadia Mono" panose="020B0609020000020004" pitchFamily="49" charset="0"/>
              </a:rPr>
              <a:t>"IT"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
        <p:nvSpPr>
          <p:cNvPr id="17" name="TextBox 16">
            <a:extLst>
              <a:ext uri="{FF2B5EF4-FFF2-40B4-BE49-F238E27FC236}">
                <a16:creationId xmlns:a16="http://schemas.microsoft.com/office/drawing/2014/main" id="{281EFD73-323B-985F-F7FF-BD20AADC834C}"/>
              </a:ext>
            </a:extLst>
          </p:cNvPr>
          <p:cNvSpPr txBox="1"/>
          <p:nvPr/>
        </p:nvSpPr>
        <p:spPr>
          <a:xfrm>
            <a:off x="5309648" y="5753464"/>
            <a:ext cx="6094428" cy="943913"/>
          </a:xfrm>
          <a:prstGeom prst="rect">
            <a:avLst/>
          </a:prstGeom>
          <a:noFill/>
        </p:spPr>
        <p:txBody>
          <a:bodyPr wrap="square">
            <a:spAutoFit/>
          </a:bodyPr>
          <a:lstStyle/>
          <a:p>
            <a:pPr fontAlgn="base">
              <a:lnSpc>
                <a:spcPct val="107000"/>
              </a:lnSpc>
              <a:spcAft>
                <a:spcPts val="800"/>
              </a:spcAft>
            </a:pPr>
            <a:r>
              <a:rPr lang="en-IN" sz="115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is the Scope of Out Parameter?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5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As we declared the out parameter directly within the method so we need to understand the scope out parameter. In the above program, the out variables are in the scope of the enclosing block. So the </a:t>
            </a:r>
            <a:r>
              <a:rPr lang="en-IN" sz="115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subsequent line can use them.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8875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0CE21A-C4C9-3B94-2242-E15D29D3E20F}"/>
              </a:ext>
            </a:extLst>
          </p:cNvPr>
          <p:cNvSpPr txBox="1"/>
          <p:nvPr/>
        </p:nvSpPr>
        <p:spPr>
          <a:xfrm>
            <a:off x="539685" y="0"/>
            <a:ext cx="9763812" cy="1355243"/>
          </a:xfrm>
          <a:prstGeom prst="rect">
            <a:avLst/>
          </a:prstGeom>
          <a:noFill/>
        </p:spPr>
        <p:txBody>
          <a:bodyPr wrap="square">
            <a:spAutoFit/>
          </a:bodyPr>
          <a:lstStyle/>
          <a:p>
            <a:pPr fontAlgn="base">
              <a:lnSpc>
                <a:spcPct val="107000"/>
              </a:lnSpc>
              <a:spcAft>
                <a:spcPts val="80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Can we declare the out variable with var data type from C# 7?</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Calibri" panose="020F0502020204030204" pitchFamily="34" charset="0"/>
                <a:ea typeface="Times New Roman" panose="02020603050405020304" pitchFamily="18" charset="0"/>
              </a:rPr>
              <a:t>Yes, you can. As the </a:t>
            </a:r>
            <a:r>
              <a:rPr lang="en-IN" sz="1800" b="1" dirty="0">
                <a:solidFill>
                  <a:srgbClr val="000000"/>
                </a:solidFill>
                <a:effectLst/>
                <a:latin typeface="Calibri" panose="020F0502020204030204" pitchFamily="34" charset="0"/>
                <a:ea typeface="Times New Roman" panose="02020603050405020304" pitchFamily="18" charset="0"/>
              </a:rPr>
              <a:t>out</a:t>
            </a:r>
            <a:r>
              <a:rPr lang="en-IN" sz="1800" dirty="0">
                <a:solidFill>
                  <a:srgbClr val="000000"/>
                </a:solidFill>
                <a:effectLst/>
                <a:latin typeface="Calibri" panose="020F0502020204030204" pitchFamily="34" charset="0"/>
                <a:ea typeface="Times New Roman" panose="02020603050405020304" pitchFamily="18" charset="0"/>
              </a:rPr>
              <a:t> variables are declared directly as arguments to the out parameters, so, the compiler can easily tell what their data type should be. So it is alw</a:t>
            </a:r>
            <a:r>
              <a:rPr lang="en-IN" sz="1800" b="1" dirty="0">
                <a:solidFill>
                  <a:srgbClr val="000000"/>
                </a:solidFill>
                <a:effectLst/>
                <a:latin typeface="Calibri" panose="020F0502020204030204" pitchFamily="34" charset="0"/>
                <a:ea typeface="Times New Roman" panose="02020603050405020304" pitchFamily="18" charset="0"/>
              </a:rPr>
              <a:t>ays better to use the “var” data type to declare them</a:t>
            </a:r>
            <a:r>
              <a:rPr lang="en-IN" sz="1800" dirty="0">
                <a:solidFill>
                  <a:srgbClr val="000000"/>
                </a:solidFill>
                <a:effectLst/>
                <a:latin typeface="Calibri" panose="020F0502020204030204" pitchFamily="34" charset="0"/>
                <a:ea typeface="Times New Roman" panose="02020603050405020304" pitchFamily="18" charset="0"/>
              </a:rPr>
              <a:t> </a:t>
            </a:r>
            <a:endParaRPr lang="en-IN" dirty="0"/>
          </a:p>
        </p:txBody>
      </p:sp>
      <p:sp>
        <p:nvSpPr>
          <p:cNvPr id="7" name="TextBox 6">
            <a:extLst>
              <a:ext uri="{FF2B5EF4-FFF2-40B4-BE49-F238E27FC236}">
                <a16:creationId xmlns:a16="http://schemas.microsoft.com/office/drawing/2014/main" id="{DDEFCFD7-89EF-0F4D-C0BC-9088D5B0E756}"/>
              </a:ext>
            </a:extLst>
          </p:cNvPr>
          <p:cNvSpPr txBox="1"/>
          <p:nvPr/>
        </p:nvSpPr>
        <p:spPr>
          <a:xfrm>
            <a:off x="115479" y="1544100"/>
            <a:ext cx="6094428" cy="3970318"/>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System;</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ConsoleAppnewversion</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00"/>
                </a:solidFill>
                <a:highlight>
                  <a:srgbClr val="FFFF00"/>
                </a:highlight>
                <a:latin typeface="Cascadia Mono" panose="020B0609020000020004" pitchFamily="49" charset="0"/>
              </a:rPr>
              <a:t>var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v</a:t>
            </a:r>
            <a:r>
              <a:rPr lang="en-US" sz="900" dirty="0">
                <a:solidFill>
                  <a:srgbClr val="000000"/>
                </a:solidFill>
                <a:highlight>
                  <a:srgbClr val="FFFF00"/>
                </a:highlight>
                <a:latin typeface="Cascadia Mono" panose="020B0609020000020004" pitchFamily="49" charset="0"/>
              </a:rPr>
              <a:t>ar </a:t>
            </a:r>
            <a:r>
              <a:rPr lang="en-US" sz="900" dirty="0">
                <a:solidFill>
                  <a:srgbClr val="000000"/>
                </a:solidFill>
                <a:latin typeface="Cascadia Mono" panose="020B0609020000020004" pitchFamily="49" charset="0"/>
              </a:rPr>
              <a:t>Gender,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00"/>
                </a:solidFill>
                <a:highlight>
                  <a:srgbClr val="FFFF00"/>
                </a:highlight>
                <a:latin typeface="Cascadia Mono" panose="020B0609020000020004" pitchFamily="49" charset="0"/>
              </a:rPr>
              <a:t>var</a:t>
            </a:r>
            <a:r>
              <a:rPr lang="en-US" sz="900" dirty="0">
                <a:solidFill>
                  <a:srgbClr val="000000"/>
                </a:solidFill>
                <a:latin typeface="Cascadia Mono" panose="020B0609020000020004" pitchFamily="49" charset="0"/>
              </a:rPr>
              <a:t> Salary,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var Department);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"Employee Details:"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Console.WriteLine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"Name: {0}, Gender: {1}, Salary: {2}, Department: {3}"</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EmployeeName</a:t>
            </a:r>
            <a:r>
              <a:rPr lang="en-IN" sz="900" dirty="0">
                <a:solidFill>
                  <a:srgbClr val="000000"/>
                </a:solidFill>
                <a:latin typeface="Cascadia Mono" panose="020B0609020000020004" pitchFamily="49" charset="0"/>
              </a:rPr>
              <a:t>, Gender, Salary, Department);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"Press any key to exit."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Console.ReadKey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GetEmployeeDetails</a:t>
            </a:r>
            <a:r>
              <a:rPr lang="en-US" sz="900" dirty="0">
                <a:solidFill>
                  <a:srgbClr val="000000"/>
                </a:solidFill>
                <a:latin typeface="Cascadia Mono" panose="020B0609020000020004" pitchFamily="49" charset="0"/>
              </a:rPr>
              <a:t>(</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EmployeeName</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Gender,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long</a:t>
            </a:r>
            <a:r>
              <a:rPr lang="en-US" sz="900" dirty="0">
                <a:solidFill>
                  <a:srgbClr val="000000"/>
                </a:solidFill>
                <a:latin typeface="Cascadia Mono" panose="020B0609020000020004" pitchFamily="49" charset="0"/>
              </a:rPr>
              <a:t> Salary, </a:t>
            </a:r>
            <a:r>
              <a:rPr lang="en-US" sz="900" dirty="0">
                <a:solidFill>
                  <a:srgbClr val="0000FF"/>
                </a:solidFill>
                <a:latin typeface="Cascadia Mono" panose="020B0609020000020004" pitchFamily="49" charset="0"/>
              </a:rPr>
              <a:t>out</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Department)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EmployeeName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Pranaya</a:t>
            </a:r>
            <a:r>
              <a:rPr lang="en-IN" sz="900" dirty="0">
                <a:solidFill>
                  <a:srgbClr val="A31515"/>
                </a:solidFill>
                <a:latin typeface="Cascadia Mono" panose="020B0609020000020004" pitchFamily="49" charset="0"/>
              </a:rPr>
              <a:t> Rout"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Gender = </a:t>
            </a:r>
            <a:r>
              <a:rPr lang="en-IN" sz="900" dirty="0">
                <a:solidFill>
                  <a:srgbClr val="A31515"/>
                </a:solidFill>
                <a:latin typeface="Cascadia Mono" panose="020B0609020000020004" pitchFamily="49" charset="0"/>
              </a:rPr>
              <a:t>"Male"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Salary = 20000;</a:t>
            </a:r>
          </a:p>
          <a:p>
            <a:r>
              <a:rPr lang="en-IN" sz="900" dirty="0">
                <a:solidFill>
                  <a:srgbClr val="000000"/>
                </a:solidFill>
                <a:latin typeface="Cascadia Mono" panose="020B0609020000020004" pitchFamily="49" charset="0"/>
              </a:rPr>
              <a:t>            Department = </a:t>
            </a:r>
            <a:r>
              <a:rPr lang="en-IN" sz="900" dirty="0">
                <a:solidFill>
                  <a:srgbClr val="A31515"/>
                </a:solidFill>
                <a:latin typeface="Cascadia Mono" panose="020B0609020000020004" pitchFamily="49" charset="0"/>
              </a:rPr>
              <a:t>"IT"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4275850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948225-E6EB-0EC6-7397-72E15AABF15A}"/>
              </a:ext>
            </a:extLst>
          </p:cNvPr>
          <p:cNvSpPr txBox="1"/>
          <p:nvPr/>
        </p:nvSpPr>
        <p:spPr>
          <a:xfrm>
            <a:off x="332294" y="144815"/>
            <a:ext cx="11375797" cy="909223"/>
          </a:xfrm>
          <a:prstGeom prst="rect">
            <a:avLst/>
          </a:prstGeom>
          <a:noFill/>
        </p:spPr>
        <p:txBody>
          <a:bodyPr wrap="square">
            <a:spAutoFit/>
          </a:bodyPr>
          <a:lstStyle/>
          <a:p>
            <a:pPr algn="just" fontAlgn="base">
              <a:lnSpc>
                <a:spcPct val="107000"/>
              </a:lnSpc>
              <a:spcAft>
                <a:spcPts val="800"/>
              </a:spcAft>
            </a:pPr>
            <a:r>
              <a:rPr lang="en-IN" sz="16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How to Ignore an out parameter in 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If you want to ignore an out parameter then you need to use a wildcard called </a:t>
            </a:r>
            <a:r>
              <a:rPr lang="en-IN" sz="1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underscore (‘_’)</a:t>
            </a:r>
            <a:r>
              <a:rPr lang="en-IN" sz="1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 the name of the parameter. For example, if you don’t care about the </a:t>
            </a:r>
            <a:r>
              <a:rPr lang="en-IN" sz="1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Department</a:t>
            </a:r>
            <a:r>
              <a:rPr lang="en-IN" sz="1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parameter, then you could just replace it with an </a:t>
            </a:r>
            <a:r>
              <a:rPr lang="en-IN" sz="1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underscore (‘_’)</a:t>
            </a:r>
            <a:r>
              <a:rPr lang="en-IN" sz="1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as shown below.</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A91AF86-21E4-97B9-4C4D-180EE52A4926}"/>
              </a:ext>
            </a:extLst>
          </p:cNvPr>
          <p:cNvSpPr txBox="1"/>
          <p:nvPr/>
        </p:nvSpPr>
        <p:spPr>
          <a:xfrm>
            <a:off x="765927" y="1739147"/>
            <a:ext cx="9367887" cy="3647152"/>
          </a:xfrm>
          <a:prstGeom prst="rect">
            <a:avLst/>
          </a:prstGeom>
          <a:noFill/>
        </p:spPr>
        <p:txBody>
          <a:bodyPr wrap="square">
            <a:spAutoFit/>
          </a:bodyPr>
          <a:lstStyle/>
          <a:p>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a:solidFill>
                  <a:srgbClr val="2B91AF"/>
                </a:solidFill>
                <a:latin typeface="Cascadia Mono" panose="020B0609020000020004" pitchFamily="49" charset="0"/>
              </a:rPr>
              <a:t>Program</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static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void</a:t>
            </a:r>
            <a:r>
              <a:rPr lang="en-IN" sz="1100" dirty="0">
                <a:solidFill>
                  <a:srgbClr val="000000"/>
                </a:solidFill>
                <a:latin typeface="Cascadia Mono" panose="020B0609020000020004" pitchFamily="49" charset="0"/>
              </a:rPr>
              <a:t> Main()</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GetEmployeeDetails</a:t>
            </a:r>
            <a:r>
              <a:rPr lang="en-US" sz="1100" dirty="0">
                <a:solidFill>
                  <a:srgbClr val="000000"/>
                </a:solidFill>
                <a:latin typeface="Cascadia Mono" panose="020B0609020000020004" pitchFamily="49" charset="0"/>
              </a:rPr>
              <a:t>(</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var </a:t>
            </a:r>
            <a:r>
              <a:rPr lang="en-US" sz="1100" dirty="0" err="1">
                <a:solidFill>
                  <a:srgbClr val="000000"/>
                </a:solidFill>
                <a:latin typeface="Cascadia Mono" panose="020B0609020000020004" pitchFamily="49" charset="0"/>
              </a:rPr>
              <a:t>EmployeeName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var Gender,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var Salary,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var </a:t>
            </a:r>
            <a:r>
              <a:rPr lang="en-US" sz="1100" dirty="0">
                <a:solidFill>
                  <a:srgbClr val="0000FF"/>
                </a:solidFill>
                <a:highlight>
                  <a:srgbClr val="FFFF00"/>
                </a:highlight>
                <a:latin typeface="Cascadia Mono" panose="020B0609020000020004" pitchFamily="49" charset="0"/>
              </a:rPr>
              <a:t>_</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"Employee Details:"</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Console.WriteLine</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"Name: {0}, Gender: {1}, Salary: {2}"</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EmployeeName</a:t>
            </a:r>
            <a:r>
              <a:rPr lang="en-IN" sz="1100" dirty="0">
                <a:solidFill>
                  <a:srgbClr val="000000"/>
                </a:solidFill>
                <a:latin typeface="Cascadia Mono" panose="020B0609020000020004" pitchFamily="49" charset="0"/>
              </a:rPr>
              <a:t>, Gender, Salary);</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Console.WriteLine</a:t>
            </a:r>
            <a:r>
              <a:rPr lang="en-US" sz="1100" dirty="0">
                <a:solidFill>
                  <a:srgbClr val="000000"/>
                </a:solidFill>
                <a:latin typeface="Cascadia Mono" panose="020B0609020000020004" pitchFamily="49" charset="0"/>
              </a:rPr>
              <a:t>(</a:t>
            </a:r>
            <a:r>
              <a:rPr lang="en-US" sz="1100" dirty="0">
                <a:solidFill>
                  <a:srgbClr val="A31515"/>
                </a:solidFill>
                <a:latin typeface="Cascadia Mono" panose="020B0609020000020004" pitchFamily="49" charset="0"/>
              </a:rPr>
              <a:t>"Press any key to exit."</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Console.ReadKey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GetEmployeeDetails</a:t>
            </a:r>
            <a:r>
              <a:rPr lang="en-US" sz="1100" dirty="0">
                <a:solidFill>
                  <a:srgbClr val="000000"/>
                </a:solidFill>
                <a:latin typeface="Cascadia Mono" panose="020B0609020000020004" pitchFamily="49" charset="0"/>
              </a:rPr>
              <a:t>(</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EmployeeName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Gender,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long</a:t>
            </a:r>
            <a:r>
              <a:rPr lang="en-US" sz="1100" dirty="0">
                <a:solidFill>
                  <a:srgbClr val="000000"/>
                </a:solidFill>
                <a:latin typeface="Cascadia Mono" panose="020B0609020000020004" pitchFamily="49" charset="0"/>
              </a:rPr>
              <a:t> Salary, </a:t>
            </a:r>
            <a:r>
              <a:rPr lang="en-US" sz="1100" dirty="0">
                <a:solidFill>
                  <a:srgbClr val="0000FF"/>
                </a:solidFill>
                <a:latin typeface="Cascadia Mono" panose="020B0609020000020004" pitchFamily="49" charset="0"/>
              </a:rPr>
              <a:t>out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Department)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EmployeeName</a:t>
            </a:r>
            <a:r>
              <a:rPr lang="en-IN" sz="1100" dirty="0">
                <a:solidFill>
                  <a:srgbClr val="000000"/>
                </a:solidFill>
                <a:latin typeface="Cascadia Mono" panose="020B0609020000020004" pitchFamily="49" charset="0"/>
              </a:rPr>
              <a:t> = </a:t>
            </a:r>
            <a:r>
              <a:rPr lang="en-IN" sz="1100" dirty="0">
                <a:solidFill>
                  <a:srgbClr val="A31515"/>
                </a:solidFill>
                <a:latin typeface="Cascadia Mono" panose="020B0609020000020004" pitchFamily="49" charset="0"/>
              </a:rPr>
              <a:t>"</a:t>
            </a:r>
            <a:r>
              <a:rPr lang="en-IN" sz="1100" dirty="0" err="1">
                <a:solidFill>
                  <a:srgbClr val="A31515"/>
                </a:solidFill>
                <a:latin typeface="Cascadia Mono" panose="020B0609020000020004" pitchFamily="49" charset="0"/>
              </a:rPr>
              <a:t>Pranaya</a:t>
            </a:r>
            <a:r>
              <a:rPr lang="en-IN" sz="1100" dirty="0">
                <a:solidFill>
                  <a:srgbClr val="A31515"/>
                </a:solidFill>
                <a:latin typeface="Cascadia Mono" panose="020B0609020000020004" pitchFamily="49" charset="0"/>
              </a:rPr>
              <a:t> Rout"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Gender = </a:t>
            </a:r>
            <a:r>
              <a:rPr lang="en-IN" sz="1100" dirty="0">
                <a:solidFill>
                  <a:srgbClr val="A31515"/>
                </a:solidFill>
                <a:latin typeface="Cascadia Mono" panose="020B0609020000020004" pitchFamily="49" charset="0"/>
              </a:rPr>
              <a:t>"Male"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Salary = 20000;</a:t>
            </a:r>
          </a:p>
          <a:p>
            <a:r>
              <a:rPr lang="en-IN" sz="1100" dirty="0">
                <a:solidFill>
                  <a:srgbClr val="000000"/>
                </a:solidFill>
                <a:latin typeface="Cascadia Mono" panose="020B0609020000020004" pitchFamily="49" charset="0"/>
              </a:rPr>
              <a:t>        Department = </a:t>
            </a:r>
            <a:r>
              <a:rPr lang="en-IN" sz="1100" dirty="0">
                <a:solidFill>
                  <a:srgbClr val="A31515"/>
                </a:solidFill>
                <a:latin typeface="Cascadia Mono" panose="020B0609020000020004" pitchFamily="49" charset="0"/>
              </a:rPr>
              <a:t>"IT"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121246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8A7D52-DD69-24C5-79C4-6E6E56A482C5}"/>
              </a:ext>
            </a:extLst>
          </p:cNvPr>
          <p:cNvSpPr txBox="1"/>
          <p:nvPr/>
        </p:nvSpPr>
        <p:spPr>
          <a:xfrm>
            <a:off x="190893" y="0"/>
            <a:ext cx="11498344" cy="1400192"/>
          </a:xfrm>
          <a:prstGeom prst="rect">
            <a:avLst/>
          </a:prstGeom>
          <a:noFill/>
        </p:spPr>
        <p:txBody>
          <a:bodyPr wrap="square">
            <a:spAutoFit/>
          </a:bodyPr>
          <a:lstStyle/>
          <a:p>
            <a:pPr algn="just" fontAlgn="base">
              <a:lnSpc>
                <a:spcPct val="107000"/>
              </a:lnSpc>
              <a:spcAft>
                <a:spcPts val="800"/>
              </a:spcAf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 Parameter Using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TryParse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When you are working with real-time applications, then the common use of the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variable is the Try… pattern, where a </a:t>
            </a:r>
            <a:r>
              <a:rPr lang="en-IN" sz="18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boolean</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return value indicates the success, and if successful then the </a:t>
            </a:r>
            <a:r>
              <a:rPr lang="en-IN" sz="18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out</a:t>
            </a:r>
            <a:r>
              <a:rPr lang="en-IN"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parameters carry the results. Let us understand this with an example.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D2C189B-1B99-BDE8-4888-EAE0B6DD2114}"/>
              </a:ext>
            </a:extLst>
          </p:cNvPr>
          <p:cNvSpPr txBox="1"/>
          <p:nvPr/>
        </p:nvSpPr>
        <p:spPr>
          <a:xfrm>
            <a:off x="558538" y="1838129"/>
            <a:ext cx="10583944" cy="3323987"/>
          </a:xfrm>
          <a:prstGeom prst="rect">
            <a:avLst/>
          </a:prstGeom>
          <a:noFill/>
        </p:spPr>
        <p:txBody>
          <a:bodyPr wrap="square">
            <a:spAutoFit/>
          </a:bodyPr>
          <a:lstStyle/>
          <a:p>
            <a:r>
              <a:rPr lang="en-IN" sz="1050" dirty="0">
                <a:solidFill>
                  <a:srgbClr val="0000FF"/>
                </a:solidFill>
                <a:latin typeface="Cascadia Mono" panose="020B0609020000020004" pitchFamily="49" charset="0"/>
              </a:rPr>
              <a:t>class</a:t>
            </a:r>
            <a:r>
              <a:rPr lang="en-IN" sz="1050" dirty="0">
                <a:solidFill>
                  <a:srgbClr val="000000"/>
                </a:solidFill>
                <a:latin typeface="Cascadia Mono" panose="020B0609020000020004" pitchFamily="49" charset="0"/>
              </a:rPr>
              <a:t> </a:t>
            </a:r>
            <a:r>
              <a:rPr lang="en-IN" sz="1050" dirty="0">
                <a:solidFill>
                  <a:srgbClr val="2B91AF"/>
                </a:solidFill>
                <a:latin typeface="Cascadia Mono" panose="020B0609020000020004" pitchFamily="49" charset="0"/>
              </a:rPr>
              <a:t>Program</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static</a:t>
            </a:r>
            <a:r>
              <a:rPr lang="en-IN" sz="1050" dirty="0">
                <a:solidFill>
                  <a:srgbClr val="000000"/>
                </a:solidFill>
                <a:latin typeface="Cascadia Mono" panose="020B0609020000020004" pitchFamily="49" charset="0"/>
              </a:rPr>
              <a:t> </a:t>
            </a:r>
            <a:r>
              <a:rPr lang="en-IN" sz="1050" dirty="0">
                <a:solidFill>
                  <a:srgbClr val="0000FF"/>
                </a:solidFill>
                <a:latin typeface="Cascadia Mono" panose="020B0609020000020004" pitchFamily="49" charset="0"/>
              </a:rPr>
              <a:t>void</a:t>
            </a:r>
            <a:r>
              <a:rPr lang="en-IN" sz="1050" dirty="0">
                <a:solidFill>
                  <a:srgbClr val="000000"/>
                </a:solidFill>
                <a:latin typeface="Cascadia Mono" panose="020B0609020000020004" pitchFamily="49" charset="0"/>
              </a:rPr>
              <a:t> Main()</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GetEmployeeDetails</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var </a:t>
            </a:r>
            <a:r>
              <a:rPr lang="en-US" sz="1050" dirty="0" err="1">
                <a:solidFill>
                  <a:srgbClr val="000000"/>
                </a:solidFill>
                <a:latin typeface="Cascadia Mono" panose="020B0609020000020004" pitchFamily="49" charset="0"/>
              </a:rPr>
              <a:t>EmployeeName</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var Gender,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var Salary,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var </a:t>
            </a:r>
            <a:r>
              <a:rPr lang="en-US" sz="1050" dirty="0">
                <a:solidFill>
                  <a:srgbClr val="0000FF"/>
                </a:solidFill>
                <a:highlight>
                  <a:srgbClr val="FFFF00"/>
                </a:highlight>
                <a:latin typeface="Cascadia Mono" panose="020B0609020000020004" pitchFamily="49" charset="0"/>
              </a:rPr>
              <a:t>_</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"Employee Details:"</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Console.WriteLine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"Name: {0}, Gender: {1}, Salary: {2}"</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EmployeeName</a:t>
            </a:r>
            <a:r>
              <a:rPr lang="en-IN" sz="1050" dirty="0">
                <a:solidFill>
                  <a:srgbClr val="000000"/>
                </a:solidFill>
                <a:latin typeface="Cascadia Mono" panose="020B0609020000020004" pitchFamily="49" charset="0"/>
              </a:rPr>
              <a:t>, Gender, Salary);</a:t>
            </a:r>
          </a:p>
          <a:p>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Console.WriteLine</a:t>
            </a:r>
            <a:r>
              <a:rPr lang="en-US" sz="1050" dirty="0">
                <a:solidFill>
                  <a:srgbClr val="000000"/>
                </a:solidFill>
                <a:latin typeface="Cascadia Mono" panose="020B0609020000020004" pitchFamily="49" charset="0"/>
              </a:rPr>
              <a:t>(</a:t>
            </a:r>
            <a:r>
              <a:rPr lang="en-US" sz="1050" dirty="0">
                <a:solidFill>
                  <a:srgbClr val="A31515"/>
                </a:solidFill>
                <a:latin typeface="Cascadia Mono" panose="020B0609020000020004" pitchFamily="49" charset="0"/>
              </a:rPr>
              <a:t>"Press any key to exit."</a:t>
            </a:r>
            <a:r>
              <a:rPr lang="en-US"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Console.ReadKey</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static</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void</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GetEmployeeDetails</a:t>
            </a:r>
            <a:r>
              <a:rPr lang="en-US" sz="1050" dirty="0">
                <a:solidFill>
                  <a:srgbClr val="000000"/>
                </a:solidFill>
                <a:latin typeface="Cascadia Mono" panose="020B0609020000020004" pitchFamily="49" charset="0"/>
              </a:rPr>
              <a:t>(</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err="1">
                <a:solidFill>
                  <a:srgbClr val="000000"/>
                </a:solidFill>
                <a:latin typeface="Cascadia Mono" panose="020B0609020000020004" pitchFamily="49" charset="0"/>
              </a:rPr>
              <a:t>EmployeeName</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Gender,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long</a:t>
            </a:r>
            <a:r>
              <a:rPr lang="en-US" sz="1050" dirty="0">
                <a:solidFill>
                  <a:srgbClr val="000000"/>
                </a:solidFill>
                <a:latin typeface="Cascadia Mono" panose="020B0609020000020004" pitchFamily="49" charset="0"/>
              </a:rPr>
              <a:t> Salary, </a:t>
            </a:r>
            <a:r>
              <a:rPr lang="en-US" sz="1050" dirty="0">
                <a:solidFill>
                  <a:srgbClr val="0000FF"/>
                </a:solidFill>
                <a:latin typeface="Cascadia Mono" panose="020B0609020000020004" pitchFamily="49" charset="0"/>
              </a:rPr>
              <a:t>out</a:t>
            </a:r>
            <a:r>
              <a:rPr lang="en-US" sz="1050" dirty="0">
                <a:solidFill>
                  <a:srgbClr val="000000"/>
                </a:solidFill>
                <a:latin typeface="Cascadia Mono" panose="020B0609020000020004" pitchFamily="49" charset="0"/>
              </a:rPr>
              <a:t> </a:t>
            </a:r>
            <a:r>
              <a:rPr lang="en-US" sz="1050" dirty="0">
                <a:solidFill>
                  <a:srgbClr val="0000FF"/>
                </a:solidFill>
                <a:latin typeface="Cascadia Mono" panose="020B0609020000020004" pitchFamily="49" charset="0"/>
              </a:rPr>
              <a:t>string</a:t>
            </a:r>
            <a:r>
              <a:rPr lang="en-US" sz="1050" dirty="0">
                <a:solidFill>
                  <a:srgbClr val="000000"/>
                </a:solidFill>
                <a:latin typeface="Cascadia Mono" panose="020B0609020000020004" pitchFamily="49" charset="0"/>
              </a:rPr>
              <a:t> </a:t>
            </a:r>
            <a:r>
              <a:rPr lang="en-US" sz="1050" dirty="0">
                <a:solidFill>
                  <a:srgbClr val="000000"/>
                </a:solidFill>
                <a:highlight>
                  <a:srgbClr val="FFFF00"/>
                </a:highlight>
                <a:latin typeface="Cascadia Mono" panose="020B0609020000020004" pitchFamily="49" charset="0"/>
              </a:rPr>
              <a:t>_)</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err="1">
                <a:solidFill>
                  <a:srgbClr val="000000"/>
                </a:solidFill>
                <a:latin typeface="Cascadia Mono" panose="020B0609020000020004" pitchFamily="49" charset="0"/>
              </a:rPr>
              <a:t>EmployeeName</a:t>
            </a:r>
            <a:r>
              <a:rPr lang="en-IN" sz="1050" dirty="0">
                <a:solidFill>
                  <a:srgbClr val="000000"/>
                </a:solidFill>
                <a:latin typeface="Cascadia Mono" panose="020B0609020000020004" pitchFamily="49" charset="0"/>
              </a:rPr>
              <a:t> =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Pranaya</a:t>
            </a:r>
            <a:r>
              <a:rPr lang="en-IN" sz="1050" dirty="0">
                <a:solidFill>
                  <a:srgbClr val="A31515"/>
                </a:solidFill>
                <a:latin typeface="Cascadia Mono" panose="020B0609020000020004" pitchFamily="49" charset="0"/>
              </a:rPr>
              <a:t> Rout"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Gender = </a:t>
            </a:r>
            <a:r>
              <a:rPr lang="en-IN" sz="1050" dirty="0">
                <a:solidFill>
                  <a:srgbClr val="A31515"/>
                </a:solidFill>
                <a:latin typeface="Cascadia Mono" panose="020B0609020000020004" pitchFamily="49" charset="0"/>
              </a:rPr>
              <a:t>"Male"</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Salary = 20000;</a:t>
            </a:r>
          </a:p>
          <a:p>
            <a:r>
              <a:rPr lang="en-IN" sz="1050" dirty="0">
                <a:solidFill>
                  <a:srgbClr val="000000"/>
                </a:solidFill>
                <a:latin typeface="Cascadia Mono" panose="020B0609020000020004" pitchFamily="49" charset="0"/>
              </a:rPr>
              <a:t>        _ = </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a:t>
            </a:r>
            <a:endParaRPr lang="en-IN" sz="2400" dirty="0"/>
          </a:p>
        </p:txBody>
      </p:sp>
    </p:spTree>
    <p:extLst>
      <p:ext uri="{BB962C8B-B14F-4D97-AF65-F5344CB8AC3E}">
        <p14:creationId xmlns:p14="http://schemas.microsoft.com/office/powerpoint/2010/main" val="3142461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1047</Words>
  <Application>Microsoft Office PowerPoint</Application>
  <PresentationFormat>Widescreen</PresentationFormat>
  <Paragraphs>123</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Cascadia Mono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15</cp:revision>
  <dcterms:created xsi:type="dcterms:W3CDTF">2023-02-08T03:16:40Z</dcterms:created>
  <dcterms:modified xsi:type="dcterms:W3CDTF">2023-02-08T04:33:28Z</dcterms:modified>
</cp:coreProperties>
</file>