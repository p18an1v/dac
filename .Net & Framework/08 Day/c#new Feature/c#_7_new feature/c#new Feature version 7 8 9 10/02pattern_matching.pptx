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6452D-F853-460A-B3D1-C26609D5EA38}" type="datetimeFigureOut">
              <a:rPr lang="en-IN" smtClean="0"/>
              <a:t>08-02-2023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A59238-C29B-457D-B3AD-5DEBD7C904B3}" type="slidenum">
              <a:rPr lang="en-IN" smtClean="0"/>
              <a:t>‹#›</a:t>
            </a:fld>
            <a:endParaRPr lang="en-IN"/>
          </a:p>
        </p:txBody>
      </p:sp>
    </p:spTree>
    <p:extLst>
      <p:ext uri="{BB962C8B-B14F-4D97-AF65-F5344CB8AC3E}">
        <p14:creationId xmlns:p14="http://schemas.microsoft.com/office/powerpoint/2010/main" val="868841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A59238-C29B-457D-B3AD-5DEBD7C904B3}" type="slidenum">
              <a:rPr lang="en-IN" smtClean="0"/>
              <a:t>4</a:t>
            </a:fld>
            <a:endParaRPr lang="en-IN"/>
          </a:p>
        </p:txBody>
      </p:sp>
    </p:spTree>
    <p:extLst>
      <p:ext uri="{BB962C8B-B14F-4D97-AF65-F5344CB8AC3E}">
        <p14:creationId xmlns:p14="http://schemas.microsoft.com/office/powerpoint/2010/main" val="1583541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54878-7682-0ADE-B418-BD22E62809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46EDF8-7545-87E0-06C4-A5F2B328F8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0CD45-1C4A-D43C-CD63-DB3CFEB5D2F2}"/>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5" name="Footer Placeholder 4">
            <a:extLst>
              <a:ext uri="{FF2B5EF4-FFF2-40B4-BE49-F238E27FC236}">
                <a16:creationId xmlns:a16="http://schemas.microsoft.com/office/drawing/2014/main" id="{64093EF0-3AE2-5E66-4822-03A2387DDC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59DBC5-AA40-6037-5BDD-4A66A6B65B81}"/>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387513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3B29A-D223-03E0-07F1-996A2CE030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60C0EA-65C6-700C-30FF-EE0C2BD2DC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440A37-E4B8-2855-1D79-F1F1496EFB97}"/>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5" name="Footer Placeholder 4">
            <a:extLst>
              <a:ext uri="{FF2B5EF4-FFF2-40B4-BE49-F238E27FC236}">
                <a16:creationId xmlns:a16="http://schemas.microsoft.com/office/drawing/2014/main" id="{3332225E-CE03-23C5-855F-A955925077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2B8391-3ECD-1D40-6ADD-B0847CF9CA64}"/>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262990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5E60-A235-562A-EF01-4D70E62453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D93AA6-30B8-DBEF-72D9-24BF2A7A5A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0DA419-4844-302C-1E03-64E8ED264474}"/>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5" name="Footer Placeholder 4">
            <a:extLst>
              <a:ext uri="{FF2B5EF4-FFF2-40B4-BE49-F238E27FC236}">
                <a16:creationId xmlns:a16="http://schemas.microsoft.com/office/drawing/2014/main" id="{F13EB363-F879-7CD5-6F4F-C0EC37635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77FF84-8EB4-51E6-1A7A-53ECCFC01177}"/>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418794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B81FB-96B0-8660-8E1A-866C3A8439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79D8F4-B6D6-22C6-CC08-A865CB5BE9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C8A5E4-3290-C119-0D9F-D51F25AAE5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D99BFE-2B46-CBE2-E2AD-4D775B7C009F}"/>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6" name="Footer Placeholder 5">
            <a:extLst>
              <a:ext uri="{FF2B5EF4-FFF2-40B4-BE49-F238E27FC236}">
                <a16:creationId xmlns:a16="http://schemas.microsoft.com/office/drawing/2014/main" id="{150BBAE5-2B29-F7DC-91F6-616F4C3A67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7D4ED4-7C39-4027-523D-88D9AD28A683}"/>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326240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F44-8C1D-09F7-8ED2-99126A3458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5A3C47-6341-12EE-D9E7-43BA641244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62C6E8-D610-7CBC-CE9F-42CFC04774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814F04-20CB-6714-2534-69BF9B37A1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66BFB9-0CBC-145B-A961-6CD4CC5D9C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CDC330-E436-1226-D4AA-F6DCF2797AE6}"/>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8" name="Footer Placeholder 7">
            <a:extLst>
              <a:ext uri="{FF2B5EF4-FFF2-40B4-BE49-F238E27FC236}">
                <a16:creationId xmlns:a16="http://schemas.microsoft.com/office/drawing/2014/main" id="{AE2FD3D9-949B-DAED-930D-1CD8DCFE75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187459D-DC2A-B6D7-9A5A-1CCD78D577E0}"/>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2251198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26424-80A6-7C70-ABE6-7AE88E10EFA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24F5F2-13AD-E8BC-57BD-A4149EDDB6E2}"/>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4" name="Footer Placeholder 3">
            <a:extLst>
              <a:ext uri="{FF2B5EF4-FFF2-40B4-BE49-F238E27FC236}">
                <a16:creationId xmlns:a16="http://schemas.microsoft.com/office/drawing/2014/main" id="{5CFA953A-1958-3B18-9AC7-E702D67E2B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6EC5A5E-4F0B-B2CC-0E4C-84814D9B107B}"/>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114597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A9814-D3E1-E45E-6D37-CF965B477C05}"/>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3" name="Footer Placeholder 2">
            <a:extLst>
              <a:ext uri="{FF2B5EF4-FFF2-40B4-BE49-F238E27FC236}">
                <a16:creationId xmlns:a16="http://schemas.microsoft.com/office/drawing/2014/main" id="{50ADC591-3859-51BC-1683-A7629ED8D04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B0852D-A13C-A9EF-39CA-BD4FC31C684B}"/>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3911079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894A5-1ABF-4162-1BE0-61F673229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69DE8F-80C4-D368-6297-AD4C48F44B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2907653-85C4-D8DC-E2E3-BF4B132D1A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3F50B9-2349-39F5-2990-6B0F9C315FD3}"/>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6" name="Footer Placeholder 5">
            <a:extLst>
              <a:ext uri="{FF2B5EF4-FFF2-40B4-BE49-F238E27FC236}">
                <a16:creationId xmlns:a16="http://schemas.microsoft.com/office/drawing/2014/main" id="{5D45C104-04E2-939D-AC0F-23719F701F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28A34F-45F8-C08E-C81A-FE0C8A93A0A8}"/>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278039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7B31-D130-C997-48E2-412C92FAB1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FEDCE48-49EC-8F67-577A-F14EC46879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63FA18-7AAB-B2CC-AAC6-69B8225873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C105B-5CDD-247D-F377-39D59051FD6E}"/>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6" name="Footer Placeholder 5">
            <a:extLst>
              <a:ext uri="{FF2B5EF4-FFF2-40B4-BE49-F238E27FC236}">
                <a16:creationId xmlns:a16="http://schemas.microsoft.com/office/drawing/2014/main" id="{2908811A-746C-9EAB-D395-5FA8AD861C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DAA2AC-6107-AD7A-61EA-0E092A7D6688}"/>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4114011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264E4-1AB0-6B7F-6B3A-AF4C5E09E3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444383-0C0C-BC83-2061-D1A9FC5685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78B75B-2857-6AEB-EAFE-141D5BE2F9AE}"/>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5" name="Footer Placeholder 4">
            <a:extLst>
              <a:ext uri="{FF2B5EF4-FFF2-40B4-BE49-F238E27FC236}">
                <a16:creationId xmlns:a16="http://schemas.microsoft.com/office/drawing/2014/main" id="{81CA6046-11EA-4C1A-C6A5-5D1A1B8105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DC1E4C-65E1-2032-9D25-F35788B7A427}"/>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150926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BE739B-25B5-EB55-0858-35B05A443F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07659C-7F28-BABA-CAFA-419071256A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F38950-AF14-9C20-1B81-FE2A57CB27BD}"/>
              </a:ext>
            </a:extLst>
          </p:cNvPr>
          <p:cNvSpPr>
            <a:spLocks noGrp="1"/>
          </p:cNvSpPr>
          <p:nvPr>
            <p:ph type="dt" sz="half" idx="10"/>
          </p:nvPr>
        </p:nvSpPr>
        <p:spPr/>
        <p:txBody>
          <a:bodyPr/>
          <a:lstStyle/>
          <a:p>
            <a:fld id="{1BEC9B5A-EE39-4FB4-A6F5-A2C16B89624A}" type="datetimeFigureOut">
              <a:rPr lang="en-IN" smtClean="0"/>
              <a:t>08-02-2023</a:t>
            </a:fld>
            <a:endParaRPr lang="en-IN"/>
          </a:p>
        </p:txBody>
      </p:sp>
      <p:sp>
        <p:nvSpPr>
          <p:cNvPr id="5" name="Footer Placeholder 4">
            <a:extLst>
              <a:ext uri="{FF2B5EF4-FFF2-40B4-BE49-F238E27FC236}">
                <a16:creationId xmlns:a16="http://schemas.microsoft.com/office/drawing/2014/main" id="{E9BAE388-4709-2AEE-E3F1-674E08FA99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3342A4-5770-7906-F507-7C7C00EF0945}"/>
              </a:ext>
            </a:extLst>
          </p:cNvPr>
          <p:cNvSpPr>
            <a:spLocks noGrp="1"/>
          </p:cNvSpPr>
          <p:nvPr>
            <p:ph type="sldNum" sz="quarter" idx="12"/>
          </p:nvPr>
        </p:nvSpPr>
        <p:spPr/>
        <p:txBody>
          <a:bodyPr/>
          <a:lstStyle/>
          <a:p>
            <a:fld id="{D3CFF4E5-C997-41E1-99C0-A2D01C3AA6AC}" type="slidenum">
              <a:rPr lang="en-IN" smtClean="0"/>
              <a:t>‹#›</a:t>
            </a:fld>
            <a:endParaRPr lang="en-IN"/>
          </a:p>
        </p:txBody>
      </p:sp>
    </p:spTree>
    <p:extLst>
      <p:ext uri="{BB962C8B-B14F-4D97-AF65-F5344CB8AC3E}">
        <p14:creationId xmlns:p14="http://schemas.microsoft.com/office/powerpoint/2010/main" val="1590122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E53CA0-0BDA-A3A2-63E2-053B8A457F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E28826-B380-E28E-B564-EA1A3CBE58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B91F5-F45A-7FEA-7E89-66990C3D89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EC9B5A-EE39-4FB4-A6F5-A2C16B89624A}" type="datetimeFigureOut">
              <a:rPr lang="en-IN" smtClean="0"/>
              <a:t>08-02-2023</a:t>
            </a:fld>
            <a:endParaRPr lang="en-IN"/>
          </a:p>
        </p:txBody>
      </p:sp>
      <p:sp>
        <p:nvSpPr>
          <p:cNvPr id="5" name="Footer Placeholder 4">
            <a:extLst>
              <a:ext uri="{FF2B5EF4-FFF2-40B4-BE49-F238E27FC236}">
                <a16:creationId xmlns:a16="http://schemas.microsoft.com/office/drawing/2014/main" id="{157EDF06-EC0E-AF00-7014-142B934AD4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4386ABE-4EB4-75CD-7281-6EDAF3AB7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CFF4E5-C997-41E1-99C0-A2D01C3AA6AC}" type="slidenum">
              <a:rPr lang="en-IN" smtClean="0"/>
              <a:t>‹#›</a:t>
            </a:fld>
            <a:endParaRPr lang="en-IN"/>
          </a:p>
        </p:txBody>
      </p:sp>
    </p:spTree>
    <p:extLst>
      <p:ext uri="{BB962C8B-B14F-4D97-AF65-F5344CB8AC3E}">
        <p14:creationId xmlns:p14="http://schemas.microsoft.com/office/powerpoint/2010/main" val="1508627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387ED4-47D7-4C4B-C857-72CA5F0674D7}"/>
              </a:ext>
            </a:extLst>
          </p:cNvPr>
          <p:cNvSpPr txBox="1"/>
          <p:nvPr/>
        </p:nvSpPr>
        <p:spPr>
          <a:xfrm>
            <a:off x="377072" y="-14299"/>
            <a:ext cx="11632676" cy="3169907"/>
          </a:xfrm>
          <a:prstGeom prst="rect">
            <a:avLst/>
          </a:prstGeom>
          <a:noFill/>
        </p:spPr>
        <p:txBody>
          <a:bodyPr wrap="square">
            <a:spAutoFit/>
          </a:bodyPr>
          <a:lstStyle/>
          <a:p>
            <a:pPr algn="just" fontAlgn="base">
              <a:lnSpc>
                <a:spcPct val="107000"/>
              </a:lnSpc>
              <a:spcAft>
                <a:spcPts val="800"/>
              </a:spcAft>
            </a:pPr>
            <a:r>
              <a:rPr lang="en-IN"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What is Pattern Matching in 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Pattern Matching</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is a mechanism which tests a value i.e. whether the value has a specific shape or not. It the value is in a specific shape then it will extract the data from the value. </a:t>
            </a:r>
            <a:r>
              <a:rPr lang="en-IN"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How to implement Pattern Matching in 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To implement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Pattern Matching</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we are provided with two language constructs such as: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Pattern Matching using the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is</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expression</a:t>
            </a:r>
            <a:endParaRPr lang="en-IN" sz="12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Pattern Matching using the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case</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statements</a:t>
            </a:r>
            <a:endParaRPr lang="en-IN" sz="12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the upcoming versions of C#, we may expect more pattern matching expressions. The Pattern Matching is useful in many ways however C# 7.0 currently supports the following.</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It can be used with any data type including the custom data types whereas if/else can only be used with primitive types.</a:t>
            </a:r>
            <a:endParaRPr lang="en-IN" sz="12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Pattern matching has the ability to extract the data from the expression.</a:t>
            </a:r>
            <a:endParaRPr lang="en-IN" sz="12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18752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CE10D8-3BFF-B55A-66E5-5D41AD3B280F}"/>
              </a:ext>
            </a:extLst>
          </p:cNvPr>
          <p:cNvSpPr txBox="1"/>
          <p:nvPr/>
        </p:nvSpPr>
        <p:spPr>
          <a:xfrm>
            <a:off x="0" y="298670"/>
            <a:ext cx="4807670" cy="466281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Shape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const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float</a:t>
            </a:r>
            <a:r>
              <a:rPr lang="en-US" sz="900" dirty="0">
                <a:solidFill>
                  <a:srgbClr val="000000"/>
                </a:solidFill>
                <a:latin typeface="Cascadia Mono" panose="020B0609020000020004" pitchFamily="49" charset="0"/>
              </a:rPr>
              <a:t> PI = 3.14f;</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Circle</a:t>
            </a:r>
            <a:r>
              <a:rPr lang="en-IN" sz="900" dirty="0">
                <a:solidFill>
                  <a:srgbClr val="000000"/>
                </a:solidFill>
                <a:latin typeface="Cascadia Mono" panose="020B0609020000020004" pitchFamily="49" charset="0"/>
              </a:rPr>
              <a:t> : Shape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Radius { </a:t>
            </a:r>
            <a:r>
              <a:rPr lang="en-IN" sz="900" dirty="0">
                <a:solidFill>
                  <a:srgbClr val="0000FF"/>
                </a:solidFill>
                <a:latin typeface="Cascadia Mono" panose="020B0609020000020004" pitchFamily="49" charset="0"/>
              </a:rPr>
              <a:t>get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Circle</a:t>
            </a:r>
            <a:r>
              <a:rPr lang="en-IN" sz="900" dirty="0">
                <a:solidFill>
                  <a:srgbClr val="000000"/>
                </a:solidFill>
                <a:latin typeface="Cascadia Mono" panose="020B0609020000020004" pitchFamily="49" charset="0"/>
              </a:rPr>
              <a:t>(</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radius)</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Radius = radius;</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Rectangle</a:t>
            </a:r>
            <a:r>
              <a:rPr lang="en-IN" sz="900" dirty="0">
                <a:solidFill>
                  <a:srgbClr val="000000"/>
                </a:solidFill>
                <a:latin typeface="Cascadia Mono" panose="020B0609020000020004" pitchFamily="49" charset="0"/>
              </a:rPr>
              <a:t> : Shape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Length { </a:t>
            </a:r>
            <a:r>
              <a:rPr lang="en-IN" sz="900" dirty="0">
                <a:solidFill>
                  <a:srgbClr val="0000FF"/>
                </a:solidFill>
                <a:latin typeface="Cascadia Mono" panose="020B0609020000020004" pitchFamily="49" charset="0"/>
              </a:rPr>
              <a:t>get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Height { </a:t>
            </a:r>
            <a:r>
              <a:rPr lang="en-IN" sz="900" dirty="0">
                <a:solidFill>
                  <a:srgbClr val="0000FF"/>
                </a:solidFill>
                <a:latin typeface="Cascadia Mono" panose="020B0609020000020004" pitchFamily="49" charset="0"/>
              </a:rPr>
              <a:t>get</a:t>
            </a:r>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2B91AF"/>
                </a:solidFill>
                <a:latin typeface="Cascadia Mono" panose="020B0609020000020004" pitchFamily="49" charset="0"/>
              </a:rPr>
              <a:t>Rectangle</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double</a:t>
            </a:r>
            <a:r>
              <a:rPr lang="en-US" sz="900" dirty="0">
                <a:solidFill>
                  <a:srgbClr val="000000"/>
                </a:solidFill>
                <a:latin typeface="Cascadia Mono" panose="020B0609020000020004" pitchFamily="49" charset="0"/>
              </a:rPr>
              <a:t> length, </a:t>
            </a:r>
            <a:r>
              <a:rPr lang="en-US" sz="900" dirty="0">
                <a:solidFill>
                  <a:srgbClr val="0000FF"/>
                </a:solidFill>
                <a:latin typeface="Cascadia Mono" panose="020B0609020000020004" pitchFamily="49" charset="0"/>
              </a:rPr>
              <a:t>double</a:t>
            </a:r>
            <a:r>
              <a:rPr lang="en-US" sz="900" dirty="0">
                <a:solidFill>
                  <a:srgbClr val="000000"/>
                </a:solidFill>
                <a:latin typeface="Cascadia Mono" panose="020B0609020000020004" pitchFamily="49" charset="0"/>
              </a:rPr>
              <a:t> height)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Length = length;</a:t>
            </a:r>
          </a:p>
          <a:p>
            <a:r>
              <a:rPr lang="en-IN" sz="900" dirty="0">
                <a:solidFill>
                  <a:srgbClr val="000000"/>
                </a:solidFill>
                <a:latin typeface="Cascadia Mono" panose="020B0609020000020004" pitchFamily="49" charset="0"/>
              </a:rPr>
              <a:t>            Height = height;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Triangle</a:t>
            </a:r>
            <a:r>
              <a:rPr lang="en-IN" sz="900" dirty="0">
                <a:solidFill>
                  <a:srgbClr val="000000"/>
                </a:solidFill>
                <a:latin typeface="Cascadia Mono" panose="020B0609020000020004" pitchFamily="49" charset="0"/>
              </a:rPr>
              <a:t> : Shape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Base { </a:t>
            </a:r>
            <a:r>
              <a:rPr lang="en-IN" sz="900" dirty="0">
                <a:solidFill>
                  <a:srgbClr val="0000FF"/>
                </a:solidFill>
                <a:latin typeface="Cascadia Mono" panose="020B0609020000020004" pitchFamily="49" charset="0"/>
              </a:rPr>
              <a:t>get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Height { </a:t>
            </a:r>
            <a:r>
              <a:rPr lang="en-IN" sz="900" dirty="0">
                <a:solidFill>
                  <a:srgbClr val="0000FF"/>
                </a:solidFill>
                <a:latin typeface="Cascadia Mono" panose="020B0609020000020004" pitchFamily="49" charset="0"/>
              </a:rPr>
              <a:t>get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Triangle</a:t>
            </a:r>
            <a:r>
              <a:rPr lang="en-IN" sz="900" dirty="0">
                <a:solidFill>
                  <a:srgbClr val="000000"/>
                </a:solidFill>
                <a:latin typeface="Cascadia Mono" panose="020B0609020000020004" pitchFamily="49" charset="0"/>
              </a:rPr>
              <a:t>(</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@base, </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height)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Base = @base;</a:t>
            </a:r>
          </a:p>
          <a:p>
            <a:r>
              <a:rPr lang="en-IN" sz="900" dirty="0">
                <a:solidFill>
                  <a:srgbClr val="000000"/>
                </a:solidFill>
                <a:latin typeface="Cascadia Mono" panose="020B0609020000020004" pitchFamily="49" charset="0"/>
              </a:rPr>
              <a:t>            Height = height;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endParaRPr lang="en-IN" dirty="0"/>
          </a:p>
        </p:txBody>
      </p:sp>
      <p:sp>
        <p:nvSpPr>
          <p:cNvPr id="7" name="TextBox 6">
            <a:extLst>
              <a:ext uri="{FF2B5EF4-FFF2-40B4-BE49-F238E27FC236}">
                <a16:creationId xmlns:a16="http://schemas.microsoft.com/office/drawing/2014/main" id="{D2860190-668D-6CCD-8780-75495B881EFD}"/>
              </a:ext>
            </a:extLst>
          </p:cNvPr>
          <p:cNvSpPr txBox="1"/>
          <p:nvPr/>
        </p:nvSpPr>
        <p:spPr>
          <a:xfrm>
            <a:off x="5139966" y="115939"/>
            <a:ext cx="6094428" cy="521681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fr-FR" sz="900" dirty="0">
                <a:solidFill>
                  <a:srgbClr val="000000"/>
                </a:solidFill>
                <a:latin typeface="Cascadia Mono" panose="020B0609020000020004" pitchFamily="49" charset="0"/>
              </a:rPr>
              <a:t>        Circle </a:t>
            </a:r>
            <a:r>
              <a:rPr lang="fr-FR" sz="900" dirty="0" err="1">
                <a:solidFill>
                  <a:srgbClr val="000000"/>
                </a:solidFill>
                <a:latin typeface="Cascadia Mono" panose="020B0609020000020004" pitchFamily="49" charset="0"/>
              </a:rPr>
              <a:t>circle</a:t>
            </a:r>
            <a:r>
              <a:rPr lang="fr-FR" sz="900" dirty="0">
                <a:solidFill>
                  <a:srgbClr val="000000"/>
                </a:solidFill>
                <a:latin typeface="Cascadia Mono" panose="020B0609020000020004" pitchFamily="49" charset="0"/>
              </a:rPr>
              <a:t> = </a:t>
            </a:r>
            <a:r>
              <a:rPr lang="fr-FR" sz="900" dirty="0">
                <a:solidFill>
                  <a:srgbClr val="0000FF"/>
                </a:solidFill>
                <a:latin typeface="Cascadia Mono" panose="020B0609020000020004" pitchFamily="49" charset="0"/>
              </a:rPr>
              <a:t>new</a:t>
            </a:r>
            <a:r>
              <a:rPr lang="fr-FR" sz="900" dirty="0">
                <a:solidFill>
                  <a:srgbClr val="000000"/>
                </a:solidFill>
                <a:latin typeface="Cascadia Mono" panose="020B0609020000020004" pitchFamily="49" charset="0"/>
              </a:rPr>
              <a:t> Circle(10);</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DisplayArea</a:t>
            </a:r>
            <a:r>
              <a:rPr lang="en-IN" sz="900" dirty="0">
                <a:solidFill>
                  <a:srgbClr val="000000"/>
                </a:solidFill>
                <a:latin typeface="Cascadia Mono" panose="020B0609020000020004" pitchFamily="49" charset="0"/>
              </a:rPr>
              <a:t>(circle);</a:t>
            </a:r>
          </a:p>
          <a:p>
            <a:r>
              <a:rPr lang="en-IN" sz="900" dirty="0">
                <a:solidFill>
                  <a:srgbClr val="000000"/>
                </a:solidFill>
                <a:latin typeface="Cascadia Mono" panose="020B0609020000020004" pitchFamily="49" charset="0"/>
              </a:rPr>
              <a:t>        Rectangle </a:t>
            </a:r>
            <a:r>
              <a:rPr lang="en-IN" sz="900" dirty="0" err="1">
                <a:solidFill>
                  <a:srgbClr val="000000"/>
                </a:solidFill>
                <a:latin typeface="Cascadia Mono" panose="020B0609020000020004" pitchFamily="49" charset="0"/>
              </a:rPr>
              <a:t>rectangle</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Rectangle(10, 5);</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DisplayArea</a:t>
            </a:r>
            <a:r>
              <a:rPr lang="en-IN" sz="900" dirty="0">
                <a:solidFill>
                  <a:srgbClr val="000000"/>
                </a:solidFill>
                <a:latin typeface="Cascadia Mono" panose="020B0609020000020004" pitchFamily="49" charset="0"/>
              </a:rPr>
              <a:t>(rectangle);</a:t>
            </a:r>
          </a:p>
          <a:p>
            <a:r>
              <a:rPr lang="en-US" sz="900" dirty="0">
                <a:solidFill>
                  <a:srgbClr val="000000"/>
                </a:solidFill>
                <a:latin typeface="Cascadia Mono" panose="020B0609020000020004" pitchFamily="49" charset="0"/>
              </a:rPr>
              <a:t>        Triangle </a:t>
            </a:r>
            <a:r>
              <a:rPr lang="en-US" sz="900" dirty="0" err="1">
                <a:solidFill>
                  <a:srgbClr val="000000"/>
                </a:solidFill>
                <a:latin typeface="Cascadia Mono" panose="020B0609020000020004" pitchFamily="49" charset="0"/>
              </a:rPr>
              <a:t>triangle</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Triangle(10, 5);</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DisplayArea</a:t>
            </a:r>
            <a:r>
              <a:rPr lang="en-IN" sz="900" dirty="0">
                <a:solidFill>
                  <a:srgbClr val="000000"/>
                </a:solidFill>
                <a:latin typeface="Cascadia Mono" panose="020B0609020000020004" pitchFamily="49" charset="0"/>
              </a:rPr>
              <a:t>(triangle);</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Console.ReadKey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DisplayArea</a:t>
            </a:r>
            <a:r>
              <a:rPr lang="en-US" sz="900" dirty="0">
                <a:solidFill>
                  <a:srgbClr val="000000"/>
                </a:solidFill>
                <a:latin typeface="Cascadia Mono" panose="020B0609020000020004" pitchFamily="49" charset="0"/>
              </a:rPr>
              <a:t>(Shape shape)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(shape </a:t>
            </a:r>
            <a:r>
              <a:rPr lang="en-IN" sz="900" dirty="0">
                <a:solidFill>
                  <a:srgbClr val="0000FF"/>
                </a:solidFill>
                <a:latin typeface="Cascadia Mono" panose="020B0609020000020004" pitchFamily="49" charset="0"/>
              </a:rPr>
              <a:t>is</a:t>
            </a:r>
            <a:r>
              <a:rPr lang="en-IN" sz="900" dirty="0">
                <a:solidFill>
                  <a:srgbClr val="000000"/>
                </a:solidFill>
                <a:latin typeface="Cascadia Mono" panose="020B0609020000020004" pitchFamily="49" charset="0"/>
              </a:rPr>
              <a:t> Circle)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Circle c = (Circle)shape;</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"Area of Circle is : "</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c.Radius</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c.Radius</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Shape.PI</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else</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if</a:t>
            </a:r>
            <a:r>
              <a:rPr lang="en-US" sz="900" dirty="0">
                <a:solidFill>
                  <a:srgbClr val="000000"/>
                </a:solidFill>
                <a:latin typeface="Cascadia Mono" panose="020B0609020000020004" pitchFamily="49" charset="0"/>
              </a:rPr>
              <a:t> (shape </a:t>
            </a:r>
            <a:r>
              <a:rPr lang="en-US" sz="900" dirty="0">
                <a:solidFill>
                  <a:srgbClr val="0000FF"/>
                </a:solidFill>
                <a:latin typeface="Cascadia Mono" panose="020B0609020000020004" pitchFamily="49" charset="0"/>
              </a:rPr>
              <a:t>is</a:t>
            </a:r>
            <a:r>
              <a:rPr lang="en-US" sz="900" dirty="0">
                <a:solidFill>
                  <a:srgbClr val="000000"/>
                </a:solidFill>
                <a:latin typeface="Cascadia Mono" panose="020B0609020000020004" pitchFamily="49" charset="0"/>
              </a:rPr>
              <a:t> Rectangle)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Rectangle r = (Rectangle)shape;</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"Area of Rectangle is : "</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r.Length</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r.Height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else</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if</a:t>
            </a:r>
            <a:r>
              <a:rPr lang="en-US" sz="900" dirty="0">
                <a:solidFill>
                  <a:srgbClr val="000000"/>
                </a:solidFill>
                <a:latin typeface="Cascadia Mono" panose="020B0609020000020004" pitchFamily="49" charset="0"/>
              </a:rPr>
              <a:t> (shape </a:t>
            </a:r>
            <a:r>
              <a:rPr lang="en-US" sz="900" dirty="0">
                <a:solidFill>
                  <a:srgbClr val="0000FF"/>
                </a:solidFill>
                <a:latin typeface="Cascadia Mono" panose="020B0609020000020004" pitchFamily="49" charset="0"/>
              </a:rPr>
              <a:t>is</a:t>
            </a:r>
            <a:r>
              <a:rPr lang="en-US" sz="900" dirty="0">
                <a:solidFill>
                  <a:srgbClr val="000000"/>
                </a:solidFill>
                <a:latin typeface="Cascadia Mono" panose="020B0609020000020004" pitchFamily="49" charset="0"/>
              </a:rPr>
              <a:t> Triangle)</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Triangle t = (Triangle)shape;  </a:t>
            </a:r>
            <a:r>
              <a:rPr lang="en-US" sz="900" dirty="0">
                <a:solidFill>
                  <a:srgbClr val="008000"/>
                </a:solidFill>
                <a:latin typeface="Cascadia Mono" panose="020B0609020000020004" pitchFamily="49" charset="0"/>
              </a:rPr>
              <a:t>//shape as Triangle</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"Area of Triangle is : "</a:t>
            </a:r>
            <a:r>
              <a:rPr lang="en-US" sz="900" dirty="0">
                <a:solidFill>
                  <a:srgbClr val="000000"/>
                </a:solidFill>
                <a:latin typeface="Cascadia Mono" panose="020B0609020000020004" pitchFamily="49" charset="0"/>
              </a:rPr>
              <a:t> + 0.5 * </a:t>
            </a:r>
            <a:r>
              <a:rPr lang="en-US" sz="900" dirty="0" err="1">
                <a:solidFill>
                  <a:srgbClr val="000000"/>
                </a:solidFill>
                <a:latin typeface="Cascadia Mono" panose="020B0609020000020004" pitchFamily="49" charset="0"/>
              </a:rPr>
              <a:t>t.Base</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t.Height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else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throw</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ArgumentException</a:t>
            </a:r>
            <a:r>
              <a:rPr lang="en-US" sz="900" dirty="0">
                <a:solidFill>
                  <a:srgbClr val="000000"/>
                </a:solidFill>
                <a:latin typeface="Cascadia Mono" panose="020B0609020000020004" pitchFamily="49" charset="0"/>
              </a:rPr>
              <a:t>(message: </a:t>
            </a:r>
            <a:r>
              <a:rPr lang="en-US" sz="900" dirty="0">
                <a:solidFill>
                  <a:srgbClr val="A31515"/>
                </a:solidFill>
                <a:latin typeface="Cascadia Mono" panose="020B0609020000020004" pitchFamily="49" charset="0"/>
              </a:rPr>
              <a:t>"Invalid Shape"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paramName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(shape));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1639467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749794-7F4B-90B1-EC37-1353079C5DB1}"/>
              </a:ext>
            </a:extLst>
          </p:cNvPr>
          <p:cNvSpPr txBox="1"/>
          <p:nvPr/>
        </p:nvSpPr>
        <p:spPr>
          <a:xfrm>
            <a:off x="813062" y="322438"/>
            <a:ext cx="10649932" cy="786369"/>
          </a:xfrm>
          <a:prstGeom prst="rect">
            <a:avLst/>
          </a:prstGeom>
          <a:noFill/>
        </p:spPr>
        <p:txBody>
          <a:bodyPr wrap="square">
            <a:spAutoFit/>
          </a:bodyPr>
          <a:lstStyle/>
          <a:p>
            <a:pPr algn="just" fontAlgn="base">
              <a:lnSpc>
                <a:spcPct val="107000"/>
              </a:lnSpc>
              <a:spcAft>
                <a:spcPts val="800"/>
              </a:spcAft>
            </a:pPr>
            <a:r>
              <a:rPr lang="en-IN" sz="13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Pattern Matching using the “switch” statement in C#</a:t>
            </a:r>
            <a:r>
              <a:rPr lang="en-IN" sz="13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traditional switch statement in C# is also a pattern-matching expression. So, let us see how to use the switch statement to implement the previous example. Modify the </a:t>
            </a:r>
            <a:r>
              <a:rPr lang="en-IN" sz="1150"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DisplayArea</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method as shown below to implement Pattern Matching using a switch statement in C#.</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90CE338-2E12-D957-1D9E-1CAE48E20251}"/>
              </a:ext>
            </a:extLst>
          </p:cNvPr>
          <p:cNvSpPr txBox="1"/>
          <p:nvPr/>
        </p:nvSpPr>
        <p:spPr>
          <a:xfrm>
            <a:off x="275735" y="1431325"/>
            <a:ext cx="6094428" cy="300082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endParaRPr lang="en-IN" sz="900" dirty="0">
              <a:solidFill>
                <a:srgbClr val="000000"/>
              </a:solidFill>
              <a:latin typeface="Cascadia Mono" panose="020B0609020000020004" pitchFamily="49" charset="0"/>
            </a:endParaRPr>
          </a:p>
          <a:p>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DisplayArea</a:t>
            </a:r>
            <a:r>
              <a:rPr lang="en-US" sz="900" dirty="0">
                <a:solidFill>
                  <a:srgbClr val="000000"/>
                </a:solidFill>
                <a:latin typeface="Cascadia Mono" panose="020B0609020000020004" pitchFamily="49" charset="0"/>
              </a:rPr>
              <a:t>(Shape shape)</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switch</a:t>
            </a:r>
            <a:r>
              <a:rPr lang="en-IN" sz="900" dirty="0">
                <a:solidFill>
                  <a:srgbClr val="000000"/>
                </a:solidFill>
                <a:latin typeface="Cascadia Mono" panose="020B0609020000020004" pitchFamily="49" charset="0"/>
              </a:rPr>
              <a:t> (shape)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case</a:t>
            </a:r>
            <a:r>
              <a:rPr lang="en-IN" sz="900" dirty="0">
                <a:solidFill>
                  <a:srgbClr val="000000"/>
                </a:solidFill>
                <a:latin typeface="Cascadia Mono" panose="020B0609020000020004" pitchFamily="49" charset="0"/>
              </a:rPr>
              <a:t> Circle c:</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"Area of Circle is : "</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c.Radius</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c.Radius</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Shape.PI</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break</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case</a:t>
            </a:r>
            <a:r>
              <a:rPr lang="en-IN" sz="900" dirty="0">
                <a:solidFill>
                  <a:srgbClr val="000000"/>
                </a:solidFill>
                <a:latin typeface="Cascadia Mono" panose="020B0609020000020004" pitchFamily="49" charset="0"/>
              </a:rPr>
              <a:t> Rectangle r:</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"Area of Rectangle is : "</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r.Length</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r.Height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break</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case</a:t>
            </a:r>
            <a:r>
              <a:rPr lang="en-IN" sz="900" dirty="0">
                <a:solidFill>
                  <a:srgbClr val="000000"/>
                </a:solidFill>
                <a:latin typeface="Cascadia Mono" panose="020B0609020000020004" pitchFamily="49" charset="0"/>
              </a:rPr>
              <a:t> Triangle 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"Area of Triangle is : "</a:t>
            </a:r>
            <a:r>
              <a:rPr lang="en-US" sz="900" dirty="0">
                <a:solidFill>
                  <a:srgbClr val="000000"/>
                </a:solidFill>
                <a:latin typeface="Cascadia Mono" panose="020B0609020000020004" pitchFamily="49" charset="0"/>
              </a:rPr>
              <a:t> + 0.5 * </a:t>
            </a:r>
            <a:r>
              <a:rPr lang="en-US" sz="900" dirty="0" err="1">
                <a:solidFill>
                  <a:srgbClr val="000000"/>
                </a:solidFill>
                <a:latin typeface="Cascadia Mono" panose="020B0609020000020004" pitchFamily="49" charset="0"/>
              </a:rPr>
              <a:t>t.Base</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t.Height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break</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default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throw</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ArgumentException</a:t>
            </a:r>
            <a:r>
              <a:rPr lang="en-US" sz="900" dirty="0">
                <a:solidFill>
                  <a:srgbClr val="000000"/>
                </a:solidFill>
                <a:latin typeface="Cascadia Mono" panose="020B0609020000020004" pitchFamily="49" charset="0"/>
              </a:rPr>
              <a:t>(message: </a:t>
            </a:r>
            <a:r>
              <a:rPr lang="en-US" sz="900" dirty="0">
                <a:solidFill>
                  <a:srgbClr val="A31515"/>
                </a:solidFill>
                <a:latin typeface="Cascadia Mono" panose="020B0609020000020004" pitchFamily="49" charset="0"/>
              </a:rPr>
              <a:t>"Invalid Shape"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paramName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(shape));</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case</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throw</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ArgumentNullException</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(shape));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9" name="TextBox 8">
            <a:extLst>
              <a:ext uri="{FF2B5EF4-FFF2-40B4-BE49-F238E27FC236}">
                <a16:creationId xmlns:a16="http://schemas.microsoft.com/office/drawing/2014/main" id="{D3640979-13BE-18B6-D535-CBB18BEC4082}"/>
              </a:ext>
            </a:extLst>
          </p:cNvPr>
          <p:cNvSpPr txBox="1"/>
          <p:nvPr/>
        </p:nvSpPr>
        <p:spPr>
          <a:xfrm>
            <a:off x="275735" y="4626402"/>
            <a:ext cx="9353746" cy="1748940"/>
          </a:xfrm>
          <a:prstGeom prst="rect">
            <a:avLst/>
          </a:prstGeom>
          <a:noFill/>
        </p:spPr>
        <p:txBody>
          <a:bodyPr wrap="square">
            <a:spAutoFit/>
          </a:bodyPr>
          <a:lstStyle/>
          <a:p>
            <a:pPr fontAlgn="base">
              <a:lnSpc>
                <a:spcPct val="107000"/>
              </a:lnSpc>
              <a:spcAft>
                <a:spcPts val="800"/>
              </a:spcAft>
            </a:pPr>
            <a:r>
              <a:rPr lang="en-IN" sz="13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Points to Remember while working with Case Statement in C#:</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You need to remember the following points while working with the newly extended switch statement for Pattern Matching.</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default clause is always evaluated last: </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our example, the </a:t>
            </a: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null case</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statement comes at the last but it will be checked before the default case statement is checked. The reason for this is for the compatibility with the existing switch statements. So it is always advisable and a good programming practice to put the default statement at the end.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order of case clauses is now mattered:</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Just like the catch clauses in the try block, the first </a:t>
            </a: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one that matches in the case statement gets picked</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So as a developer it is important to write the case statement in the proper order.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7219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654FFB-C645-9C52-686E-9C58522ED20D}"/>
              </a:ext>
            </a:extLst>
          </p:cNvPr>
          <p:cNvSpPr txBox="1"/>
          <p:nvPr/>
        </p:nvSpPr>
        <p:spPr>
          <a:xfrm>
            <a:off x="407710" y="191828"/>
            <a:ext cx="11008150" cy="1632242"/>
          </a:xfrm>
          <a:prstGeom prst="rect">
            <a:avLst/>
          </a:prstGeom>
          <a:noFill/>
        </p:spPr>
        <p:txBody>
          <a:bodyPr wrap="square">
            <a:spAutoFit/>
          </a:bodyPr>
          <a:lstStyle/>
          <a:p>
            <a:pPr algn="just" fontAlgn="base">
              <a:lnSpc>
                <a:spcPct val="107000"/>
              </a:lnSpc>
              <a:spcAft>
                <a:spcPts val="800"/>
              </a:spcAft>
            </a:pPr>
            <a:r>
              <a:rPr lang="en-IN" sz="20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Case Expressions using When clauses in C#:</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0000"/>
                </a:solidFill>
                <a:effectLst/>
                <a:latin typeface="Arial" panose="020B0604020202020204" pitchFamily="34" charset="0"/>
                <a:ea typeface="Times New Roman" panose="02020603050405020304" pitchFamily="18" charset="0"/>
              </a:rPr>
              <a:t>Let us understand the use of case Expression using when clause with an example. In our example, when the length and height both are same for the </a:t>
            </a:r>
            <a:r>
              <a:rPr lang="en-IN" sz="1800" dirty="0" err="1">
                <a:solidFill>
                  <a:srgbClr val="000000"/>
                </a:solidFill>
                <a:effectLst/>
                <a:latin typeface="Arial" panose="020B0604020202020204" pitchFamily="34" charset="0"/>
                <a:ea typeface="Times New Roman" panose="02020603050405020304" pitchFamily="18" charset="0"/>
              </a:rPr>
              <a:t>rectange</a:t>
            </a:r>
            <a:r>
              <a:rPr lang="en-IN" sz="1800" dirty="0">
                <a:solidFill>
                  <a:srgbClr val="000000"/>
                </a:solidFill>
                <a:effectLst/>
                <a:latin typeface="Arial" panose="020B0604020202020204" pitchFamily="34" charset="0"/>
                <a:ea typeface="Times New Roman" panose="02020603050405020304" pitchFamily="18" charset="0"/>
              </a:rPr>
              <a:t> then we need to treat it as a Square and display the message accordingly. We can specify this condition using the when clause. So, modify the main method and </a:t>
            </a:r>
            <a:r>
              <a:rPr lang="en-IN" sz="1800" dirty="0" err="1">
                <a:solidFill>
                  <a:srgbClr val="000000"/>
                </a:solidFill>
                <a:effectLst/>
                <a:latin typeface="Arial" panose="020B0604020202020204" pitchFamily="34" charset="0"/>
                <a:ea typeface="Times New Roman" panose="02020603050405020304" pitchFamily="18" charset="0"/>
              </a:rPr>
              <a:t>DisplayArea</a:t>
            </a:r>
            <a:r>
              <a:rPr lang="en-IN" sz="1800" dirty="0">
                <a:solidFill>
                  <a:srgbClr val="000000"/>
                </a:solidFill>
                <a:effectLst/>
                <a:latin typeface="Arial" panose="020B0604020202020204" pitchFamily="34" charset="0"/>
                <a:ea typeface="Times New Roman" panose="02020603050405020304" pitchFamily="18" charset="0"/>
              </a:rPr>
              <a:t> method of the Program class as shown below</a:t>
            </a:r>
            <a:endParaRPr lang="en-IN" dirty="0"/>
          </a:p>
        </p:txBody>
      </p:sp>
      <p:sp>
        <p:nvSpPr>
          <p:cNvPr id="7" name="TextBox 6">
            <a:extLst>
              <a:ext uri="{FF2B5EF4-FFF2-40B4-BE49-F238E27FC236}">
                <a16:creationId xmlns:a16="http://schemas.microsoft.com/office/drawing/2014/main" id="{C25DDC9D-9795-F022-5610-6A4A5B9CB488}"/>
              </a:ext>
            </a:extLst>
          </p:cNvPr>
          <p:cNvSpPr txBox="1"/>
          <p:nvPr/>
        </p:nvSpPr>
        <p:spPr>
          <a:xfrm>
            <a:off x="3659956" y="2846896"/>
            <a:ext cx="8433721" cy="3647152"/>
          </a:xfrm>
          <a:prstGeom prst="rect">
            <a:avLst/>
          </a:prstGeom>
          <a:noFill/>
        </p:spPr>
        <p:txBody>
          <a:bodyPr wrap="square">
            <a:spAutoFit/>
          </a:bodyPr>
          <a:lstStyle/>
          <a:p>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static</a:t>
            </a:r>
            <a:r>
              <a:rPr lang="en-US" sz="1050" dirty="0">
                <a:solidFill>
                  <a:srgbClr val="000000"/>
                </a:solidFill>
                <a:latin typeface="Cascadia Mono" panose="020B0609020000020004" pitchFamily="49" charset="0"/>
              </a:rPr>
              <a:t> Area </a:t>
            </a:r>
            <a:r>
              <a:rPr lang="en-US" sz="1050" dirty="0">
                <a:solidFill>
                  <a:srgbClr val="0000FF"/>
                </a:solidFill>
                <a:latin typeface="Cascadia Mono" panose="020B0609020000020004" pitchFamily="49" charset="0"/>
              </a:rPr>
              <a:t>void</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DisplayArea</a:t>
            </a:r>
            <a:r>
              <a:rPr lang="en-US" sz="1050" dirty="0">
                <a:solidFill>
                  <a:srgbClr val="000000"/>
                </a:solidFill>
                <a:latin typeface="Cascadia Mono" panose="020B0609020000020004" pitchFamily="49" charset="0"/>
              </a:rPr>
              <a:t>(Shape shape)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switch</a:t>
            </a:r>
            <a:r>
              <a:rPr lang="en-IN" sz="1050" dirty="0">
                <a:solidFill>
                  <a:srgbClr val="000000"/>
                </a:solidFill>
                <a:latin typeface="Cascadia Mono" panose="020B0609020000020004" pitchFamily="49" charset="0"/>
              </a:rPr>
              <a:t> (shape)</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case</a:t>
            </a:r>
            <a:r>
              <a:rPr lang="en-US" sz="1050" dirty="0">
                <a:solidFill>
                  <a:srgbClr val="000000"/>
                </a:solidFill>
                <a:latin typeface="Cascadia Mono" panose="020B0609020000020004" pitchFamily="49" charset="0"/>
              </a:rPr>
              <a:t> Rectangle r </a:t>
            </a:r>
            <a:r>
              <a:rPr lang="en-US" sz="1050" dirty="0">
                <a:solidFill>
                  <a:srgbClr val="0000FF"/>
                </a:solidFill>
                <a:latin typeface="Cascadia Mono" panose="020B0609020000020004" pitchFamily="49" charset="0"/>
              </a:rPr>
              <a:t>when</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r.Length</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r.Height</a:t>
            </a:r>
            <a:r>
              <a:rPr lang="en-US"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Console.WriteLine</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"of </a:t>
            </a:r>
            <a:r>
              <a:rPr lang="en-US" sz="1050" dirty="0" err="1">
                <a:solidFill>
                  <a:srgbClr val="A31515"/>
                </a:solidFill>
                <a:latin typeface="Cascadia Mono" panose="020B0609020000020004" pitchFamily="49" charset="0"/>
              </a:rPr>
              <a:t>Sqaure</a:t>
            </a:r>
            <a:r>
              <a:rPr lang="en-US" sz="1050" dirty="0">
                <a:solidFill>
                  <a:srgbClr val="A31515"/>
                </a:solidFill>
                <a:latin typeface="Cascadia Mono" panose="020B0609020000020004" pitchFamily="49" charset="0"/>
              </a:rPr>
              <a:t> is : "</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r.Length</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r.Height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break</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case</a:t>
            </a:r>
            <a:r>
              <a:rPr lang="en-IN" sz="1050" dirty="0">
                <a:solidFill>
                  <a:srgbClr val="000000"/>
                </a:solidFill>
                <a:latin typeface="Cascadia Mono" panose="020B0609020000020004" pitchFamily="49" charset="0"/>
              </a:rPr>
              <a:t> Rectangle r:</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Console.WriteLine</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"Area of Rectangle is : "</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r.Length</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r.Height</a:t>
            </a:r>
            <a:r>
              <a:rPr lang="en-US"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		break</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case</a:t>
            </a:r>
            <a:r>
              <a:rPr lang="en-IN" sz="1050" dirty="0">
                <a:solidFill>
                  <a:srgbClr val="000000"/>
                </a:solidFill>
                <a:latin typeface="Cascadia Mono" panose="020B0609020000020004" pitchFamily="49" charset="0"/>
              </a:rPr>
              <a:t> Circle c:</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DisplayArea</a:t>
            </a:r>
            <a:r>
              <a:rPr lang="en-IN" sz="1050" dirty="0">
                <a:solidFill>
                  <a:srgbClr val="000000"/>
                </a:solidFill>
                <a:latin typeface="Cascadia Mono" panose="020B0609020000020004" pitchFamily="49" charset="0"/>
              </a:rPr>
              <a:t>(triangle);</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Console.WriteLine</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"Area of Circle is : "</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c.Radius</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c.Radius</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Shape.PI</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break</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case</a:t>
            </a:r>
            <a:r>
              <a:rPr lang="en-IN" sz="1050" dirty="0">
                <a:solidFill>
                  <a:srgbClr val="000000"/>
                </a:solidFill>
                <a:latin typeface="Cascadia Mono" panose="020B0609020000020004" pitchFamily="49" charset="0"/>
              </a:rPr>
              <a:t> Triangle t:</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Console.WriteLine</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"Area of Triangle is : "</a:t>
            </a:r>
            <a:r>
              <a:rPr lang="en-US" sz="1050" dirty="0">
                <a:solidFill>
                  <a:srgbClr val="000000"/>
                </a:solidFill>
                <a:latin typeface="Cascadia Mono" panose="020B0609020000020004" pitchFamily="49" charset="0"/>
              </a:rPr>
              <a:t> + 0.5 * </a:t>
            </a:r>
            <a:r>
              <a:rPr lang="en-US" sz="1050" dirty="0" err="1">
                <a:solidFill>
                  <a:srgbClr val="000000"/>
                </a:solidFill>
                <a:latin typeface="Cascadia Mono" panose="020B0609020000020004" pitchFamily="49" charset="0"/>
              </a:rPr>
              <a:t>t.Base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t.Height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break</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default</a:t>
            </a:r>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throw</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new</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ArgumentException</a:t>
            </a:r>
            <a:r>
              <a:rPr lang="en-US" sz="1050" dirty="0">
                <a:solidFill>
                  <a:srgbClr val="000000"/>
                </a:solidFill>
                <a:latin typeface="Cascadia Mono" panose="020B0609020000020004" pitchFamily="49" charset="0"/>
              </a:rPr>
              <a:t>(message: </a:t>
            </a:r>
            <a:r>
              <a:rPr lang="en-US" sz="1050" dirty="0">
                <a:solidFill>
                  <a:srgbClr val="A31515"/>
                </a:solidFill>
                <a:latin typeface="Cascadia Mono" panose="020B0609020000020004" pitchFamily="49" charset="0"/>
              </a:rPr>
              <a:t>"Invalid Shape"</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paramName</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nameof</a:t>
            </a:r>
            <a:r>
              <a:rPr lang="en-US" sz="1050" dirty="0">
                <a:solidFill>
                  <a:srgbClr val="000000"/>
                </a:solidFill>
                <a:latin typeface="Cascadia Mono" panose="020B0609020000020004" pitchFamily="49" charset="0"/>
              </a:rPr>
              <a:t>(shape));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p:txBody>
      </p:sp>
      <p:sp>
        <p:nvSpPr>
          <p:cNvPr id="9" name="TextBox 8">
            <a:extLst>
              <a:ext uri="{FF2B5EF4-FFF2-40B4-BE49-F238E27FC236}">
                <a16:creationId xmlns:a16="http://schemas.microsoft.com/office/drawing/2014/main" id="{781848D7-0172-D7F8-B323-4371D2389616}"/>
              </a:ext>
            </a:extLst>
          </p:cNvPr>
          <p:cNvSpPr txBox="1"/>
          <p:nvPr/>
        </p:nvSpPr>
        <p:spPr>
          <a:xfrm>
            <a:off x="3047215" y="3180703"/>
            <a:ext cx="6094428" cy="369332"/>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endParaRPr lang="en-IN" dirty="0"/>
          </a:p>
        </p:txBody>
      </p:sp>
      <p:sp>
        <p:nvSpPr>
          <p:cNvPr id="11" name="TextBox 10">
            <a:extLst>
              <a:ext uri="{FF2B5EF4-FFF2-40B4-BE49-F238E27FC236}">
                <a16:creationId xmlns:a16="http://schemas.microsoft.com/office/drawing/2014/main" id="{BD167A04-9F15-1D45-A054-367267B63E5F}"/>
              </a:ext>
            </a:extLst>
          </p:cNvPr>
          <p:cNvSpPr txBox="1"/>
          <p:nvPr/>
        </p:nvSpPr>
        <p:spPr>
          <a:xfrm>
            <a:off x="-307155" y="2942471"/>
            <a:ext cx="6096000" cy="235449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class</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50" b="0" i="0" u="none" strike="noStrike" kern="1200" cap="none" spc="0" normalizeH="0" baseline="0" noProof="0" dirty="0">
                <a:ln>
                  <a:noFill/>
                </a:ln>
                <a:solidFill>
                  <a:srgbClr val="2B91AF"/>
                </a:solidFill>
                <a:effectLst/>
                <a:uLnTx/>
                <a:uFillTx/>
                <a:latin typeface="Cascadia Mono" panose="020B0609020000020004" pitchFamily="49" charset="0"/>
                <a:ea typeface="+mn-ea"/>
                <a:cs typeface="+mn-cs"/>
              </a:rPr>
              <a:t>Program</a:t>
            </a:r>
            <a:endPar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static</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5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void</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Rectangle square = </a:t>
            </a:r>
            <a:r>
              <a:rPr kumimoji="0" lang="en-US" sz="105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US"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Rectangle(10,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5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DisplayArea</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(square);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Rectangle </a:t>
            </a:r>
            <a:r>
              <a:rPr kumimoji="0" lang="en-IN" sz="105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rectangle</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105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Rectangle(10,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5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DisplayArea</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(rectangle);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Circle </a:t>
            </a:r>
            <a:r>
              <a:rPr kumimoji="0" lang="fr-FR" sz="105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circle</a:t>
            </a:r>
            <a:r>
              <a:rPr kumimoji="0" lang="fr-FR"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fr-FR" sz="105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fr-FR"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Circle(10);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5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DisplayArea</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(circle);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Triangle </a:t>
            </a:r>
            <a:r>
              <a:rPr kumimoji="0" lang="en-US" sz="105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triangle</a:t>
            </a:r>
            <a:r>
              <a:rPr kumimoji="0" lang="en-US"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US" sz="105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US"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Triangle(10,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5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Console.ReadKey</a:t>
            </a: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p:txBody>
      </p:sp>
    </p:spTree>
    <p:extLst>
      <p:ext uri="{BB962C8B-B14F-4D97-AF65-F5344CB8AC3E}">
        <p14:creationId xmlns:p14="http://schemas.microsoft.com/office/powerpoint/2010/main" val="2288098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1219</Words>
  <Application>Microsoft Office PowerPoint</Application>
  <PresentationFormat>Widescreen</PresentationFormat>
  <Paragraphs>143</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Cascadia Mono</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8</cp:revision>
  <dcterms:created xsi:type="dcterms:W3CDTF">2023-02-08T04:50:16Z</dcterms:created>
  <dcterms:modified xsi:type="dcterms:W3CDTF">2023-02-08T05:09:14Z</dcterms:modified>
</cp:coreProperties>
</file>