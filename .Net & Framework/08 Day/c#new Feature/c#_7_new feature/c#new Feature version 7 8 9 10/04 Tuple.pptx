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AE870-1596-25D8-6457-EDE8D01A7C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0B6C7C-F7DA-9E3F-EDAA-B6A5DD936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FC73C1-2B64-9458-E3B5-7DB8541B76DA}"/>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5" name="Footer Placeholder 4">
            <a:extLst>
              <a:ext uri="{FF2B5EF4-FFF2-40B4-BE49-F238E27FC236}">
                <a16:creationId xmlns:a16="http://schemas.microsoft.com/office/drawing/2014/main" id="{7F5E0011-F64D-7FF6-C586-01AE9AB8B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6D4A82-A3AB-D069-B3AE-C504DB7772DB}"/>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4098455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C6BD-8D94-C650-B041-E04C5686C7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C17F5B-2E10-9673-0106-AD4D3415B9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92F2DD-E116-7865-A997-D0C427CD6454}"/>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5" name="Footer Placeholder 4">
            <a:extLst>
              <a:ext uri="{FF2B5EF4-FFF2-40B4-BE49-F238E27FC236}">
                <a16:creationId xmlns:a16="http://schemas.microsoft.com/office/drawing/2014/main" id="{95EA8372-C255-1A4F-9E00-15E1FE6C33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B4E6CD-28CA-A784-2B10-84D795973D9B}"/>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796145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3F4AF-CE0D-3598-8CA3-703E907CB8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97DA9C-453F-ADD6-AED9-7676D40FA2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75D33-37F4-CD69-98CE-FF7D661D75BA}"/>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5" name="Footer Placeholder 4">
            <a:extLst>
              <a:ext uri="{FF2B5EF4-FFF2-40B4-BE49-F238E27FC236}">
                <a16:creationId xmlns:a16="http://schemas.microsoft.com/office/drawing/2014/main" id="{CFE800FB-6C7D-2C0B-4DC2-0E74D47EB8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3B83CC-3391-E79C-D66A-2C1807680618}"/>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2665253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AB383-1390-2C49-BC9F-7D9A50DBC8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976C8F-1AB6-A4C1-326C-8AC9D41BFE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B93499-6547-4504-BE72-CDF3A3A7F3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2CBDC5-DBC2-C4BE-20DB-5D7A1F088356}"/>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6" name="Footer Placeholder 5">
            <a:extLst>
              <a:ext uri="{FF2B5EF4-FFF2-40B4-BE49-F238E27FC236}">
                <a16:creationId xmlns:a16="http://schemas.microsoft.com/office/drawing/2014/main" id="{F1820AE7-0233-E5C1-A3DC-7076B6323C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1963FA-B479-3426-370C-5A7179DF5B16}"/>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868259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357DC-E713-A131-E58E-FF9C437A72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399691-D862-7082-253A-863F1FC449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8D2CB-3B52-B92F-0AA6-4538749534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DB9A6F-A7F3-E01B-42EA-5FCF94D296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0D71CE-810D-DFA3-53D2-951CBB028A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956EAE-2C7D-D4E9-1BEC-C493C289DC9E}"/>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8" name="Footer Placeholder 7">
            <a:extLst>
              <a:ext uri="{FF2B5EF4-FFF2-40B4-BE49-F238E27FC236}">
                <a16:creationId xmlns:a16="http://schemas.microsoft.com/office/drawing/2014/main" id="{62E601B9-900F-AA0C-3CC6-4A28363FAE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2A4594-0B11-8BFE-A25D-DE098EA32E5B}"/>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1342267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9BBFD-CA79-463E-30D9-B3FC66E888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DAB84E-105E-3F08-26DA-22FCE7121615}"/>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4" name="Footer Placeholder 3">
            <a:extLst>
              <a:ext uri="{FF2B5EF4-FFF2-40B4-BE49-F238E27FC236}">
                <a16:creationId xmlns:a16="http://schemas.microsoft.com/office/drawing/2014/main" id="{19F51786-BB1A-8FB1-3CCE-4EAF3A7C07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10442A-68F7-806B-FB73-5983F8A17D41}"/>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3933630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6C7964-B63B-0002-D0E1-D00D9F67A344}"/>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3" name="Footer Placeholder 2">
            <a:extLst>
              <a:ext uri="{FF2B5EF4-FFF2-40B4-BE49-F238E27FC236}">
                <a16:creationId xmlns:a16="http://schemas.microsoft.com/office/drawing/2014/main" id="{5FB4FA4B-4CA5-493E-5881-08B160087D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02371D-4CD7-4A12-FEA2-34E3EB82F8A8}"/>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269606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E873-43B4-956C-CBB5-2FB74E48A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03923A-DFEC-DC8D-FD17-E27F70EEC1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3E5E96-FEC1-9B5E-CB2C-FFBAE48681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A17E94-9B36-E1A6-2F2C-4B3BB9DFB737}"/>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6" name="Footer Placeholder 5">
            <a:extLst>
              <a:ext uri="{FF2B5EF4-FFF2-40B4-BE49-F238E27FC236}">
                <a16:creationId xmlns:a16="http://schemas.microsoft.com/office/drawing/2014/main" id="{50A301DB-A06D-79C1-5C5B-F0117F9A98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F6E2B9-ECED-8FBE-AFDD-76D75B77C10D}"/>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2400392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36B3-642F-CAC0-5D6B-3732ABF763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2FF6C0-56A0-17D3-44DD-2F9BA8D289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56F4C9-F74C-25E2-9B3C-DF93C95AF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0687A8-3F56-1154-3D72-2F22856A3FCD}"/>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6" name="Footer Placeholder 5">
            <a:extLst>
              <a:ext uri="{FF2B5EF4-FFF2-40B4-BE49-F238E27FC236}">
                <a16:creationId xmlns:a16="http://schemas.microsoft.com/office/drawing/2014/main" id="{423019C2-9835-25A1-B436-D0BA99D506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DB04E0-9B68-FBDA-484A-3831595453A4}"/>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4010642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41EA5-35CF-C948-DB99-EF59131774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608EEB-0055-B2E6-12D7-20B9C75CDF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324E2E-132E-CC29-47E9-CFBA0A0E007C}"/>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5" name="Footer Placeholder 4">
            <a:extLst>
              <a:ext uri="{FF2B5EF4-FFF2-40B4-BE49-F238E27FC236}">
                <a16:creationId xmlns:a16="http://schemas.microsoft.com/office/drawing/2014/main" id="{739A4B6C-6A05-8679-1761-EB54E96474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9504A-6B1F-B85D-A1F7-B7F5EC953DB9}"/>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2154910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F4CA40-3434-F970-67E9-9C23C16A93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2F3ADA-AEAD-EBBB-ADB8-18A465673E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D1BF12-A324-DD32-6596-278A7A0B86C5}"/>
              </a:ext>
            </a:extLst>
          </p:cNvPr>
          <p:cNvSpPr>
            <a:spLocks noGrp="1"/>
          </p:cNvSpPr>
          <p:nvPr>
            <p:ph type="dt" sz="half" idx="10"/>
          </p:nvPr>
        </p:nvSpPr>
        <p:spPr/>
        <p:txBody>
          <a:bodyPr/>
          <a:lstStyle/>
          <a:p>
            <a:fld id="{2DB33BF5-368E-4533-8962-91E35D4C1097}" type="datetimeFigureOut">
              <a:rPr lang="en-IN" smtClean="0"/>
              <a:t>17-10-2024</a:t>
            </a:fld>
            <a:endParaRPr lang="en-IN"/>
          </a:p>
        </p:txBody>
      </p:sp>
      <p:sp>
        <p:nvSpPr>
          <p:cNvPr id="5" name="Footer Placeholder 4">
            <a:extLst>
              <a:ext uri="{FF2B5EF4-FFF2-40B4-BE49-F238E27FC236}">
                <a16:creationId xmlns:a16="http://schemas.microsoft.com/office/drawing/2014/main" id="{B2726CE3-5555-80B6-3F04-9E18D68178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0DB73A-F8B9-E08A-9C57-DAEA5575A14B}"/>
              </a:ext>
            </a:extLst>
          </p:cNvPr>
          <p:cNvSpPr>
            <a:spLocks noGrp="1"/>
          </p:cNvSpPr>
          <p:nvPr>
            <p:ph type="sldNum" sz="quarter" idx="12"/>
          </p:nvPr>
        </p:nvSpPr>
        <p:spPr/>
        <p:txBody>
          <a:bodyPr/>
          <a:lstStyle/>
          <a:p>
            <a:fld id="{0EF597B5-C34D-4D3A-BDDF-34950758841A}" type="slidenum">
              <a:rPr lang="en-IN" smtClean="0"/>
              <a:t>‹#›</a:t>
            </a:fld>
            <a:endParaRPr lang="en-IN"/>
          </a:p>
        </p:txBody>
      </p:sp>
    </p:spTree>
    <p:extLst>
      <p:ext uri="{BB962C8B-B14F-4D97-AF65-F5344CB8AC3E}">
        <p14:creationId xmlns:p14="http://schemas.microsoft.com/office/powerpoint/2010/main" val="301285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36140A-E310-7572-831F-6053C1B224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81727C-0FC4-CD93-4810-797B36B77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B73A31-4122-5403-2349-FC56E3A8D1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33BF5-368E-4533-8962-91E35D4C1097}" type="datetimeFigureOut">
              <a:rPr lang="en-IN" smtClean="0"/>
              <a:t>17-10-2024</a:t>
            </a:fld>
            <a:endParaRPr lang="en-IN"/>
          </a:p>
        </p:txBody>
      </p:sp>
      <p:sp>
        <p:nvSpPr>
          <p:cNvPr id="5" name="Footer Placeholder 4">
            <a:extLst>
              <a:ext uri="{FF2B5EF4-FFF2-40B4-BE49-F238E27FC236}">
                <a16:creationId xmlns:a16="http://schemas.microsoft.com/office/drawing/2014/main" id="{E0C11437-5B3B-24F5-9DA8-3787D1B13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6B5F93-BEB7-F6B9-9D15-0C5BCD3E53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F597B5-C34D-4D3A-BDDF-34950758841A}" type="slidenum">
              <a:rPr lang="en-IN" smtClean="0"/>
              <a:t>‹#›</a:t>
            </a:fld>
            <a:endParaRPr lang="en-IN"/>
          </a:p>
        </p:txBody>
      </p:sp>
    </p:spTree>
    <p:extLst>
      <p:ext uri="{BB962C8B-B14F-4D97-AF65-F5344CB8AC3E}">
        <p14:creationId xmlns:p14="http://schemas.microsoft.com/office/powerpoint/2010/main" val="4153595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90FB49-8714-6649-13CC-4F94D280F485}"/>
              </a:ext>
            </a:extLst>
          </p:cNvPr>
          <p:cNvSpPr txBox="1"/>
          <p:nvPr/>
        </p:nvSpPr>
        <p:spPr>
          <a:xfrm>
            <a:off x="388855" y="299824"/>
            <a:ext cx="11177833" cy="2879763"/>
          </a:xfrm>
          <a:prstGeom prst="rect">
            <a:avLst/>
          </a:prstGeom>
          <a:noFill/>
        </p:spPr>
        <p:txBody>
          <a:bodyPr wrap="square">
            <a:spAutoFit/>
          </a:bodyPr>
          <a:lstStyle/>
          <a:p>
            <a:pPr algn="just" fontAlgn="base">
              <a:lnSpc>
                <a:spcPct val="107000"/>
              </a:lnSpc>
              <a:spcAft>
                <a:spcPts val="800"/>
              </a:spcAft>
            </a:pPr>
            <a:r>
              <a:rPr lang="en-IN" sz="13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Why we need Tuples?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If you want to return more than one value from a method then you need to use Tuples. And in the programming world, it is a very common thing to return multiple values from a method. Tuples in C# 7, provides a better mechanism to return multiple values from a method.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3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What are the different ways to return more than one value from a method?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Following are the different mechanisms available in C# to return multiple values from a method: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Using Custom </a:t>
            </a:r>
            <a:r>
              <a:rPr lang="en-IN" sz="115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DataType</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You can return multiple values from a method by using a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custom data type (i.e. class)</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as the return type of the method. But sometimes we don’t need or don’t want to use classes and objects because that’s just too much for the given purpose.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Using Ref and Out variable:</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You can also return more than one value from the method either by using the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“out”</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or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“ref”</a:t>
            </a:r>
            <a:r>
              <a:rPr lang="en-IN" sz="115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parameters. Using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“out”</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or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“ref”</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parameters quite difficult to understand and moreover, the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“out” and “ref”</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parameters will not work with the async methods.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Using dynamic keyword:</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You can also return multiple values from a method by using the dynamic keyword as the return type. The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dynamic</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keyword was introduced in C# 4. But from a performance point of view, we probably don’t want to use dynamic.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41926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52D3A9-0C08-FDA5-4AA0-B1D368FFFE64}"/>
              </a:ext>
            </a:extLst>
          </p:cNvPr>
          <p:cNvSpPr txBox="1"/>
          <p:nvPr/>
        </p:nvSpPr>
        <p:spPr>
          <a:xfrm>
            <a:off x="351148" y="0"/>
            <a:ext cx="8048135" cy="5170646"/>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System;</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System.Collections.Generic</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TulesDemo</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static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Main()</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values = </a:t>
            </a:r>
            <a:r>
              <a:rPr lang="en-IN" sz="1100" dirty="0">
                <a:solidFill>
                  <a:srgbClr val="0000FF"/>
                </a:solidFill>
                <a:latin typeface="Cascadia Mono" panose="020B0609020000020004" pitchFamily="49" charset="0"/>
              </a:rPr>
              <a:t>new</a:t>
            </a:r>
            <a:r>
              <a:rPr lang="en-IN" sz="1100" dirty="0">
                <a:solidFill>
                  <a:srgbClr val="000000"/>
                </a:solidFill>
                <a:latin typeface="Cascadia Mono" panose="020B0609020000020004" pitchFamily="49" charset="0"/>
              </a:rPr>
              <a:t> List&lt;</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&gt;() { 10, 20, 30, 40, 50 };</a:t>
            </a:r>
          </a:p>
          <a:p>
            <a:r>
              <a:rPr lang="fr-FR" sz="1100" dirty="0">
                <a:solidFill>
                  <a:srgbClr val="000000"/>
                </a:solidFill>
                <a:latin typeface="Cascadia Mono" panose="020B0609020000020004" pitchFamily="49" charset="0"/>
              </a:rPr>
              <a:t>            </a:t>
            </a:r>
            <a:r>
              <a:rPr lang="fr-FR" sz="1100" dirty="0">
                <a:solidFill>
                  <a:srgbClr val="000000"/>
                </a:solidFill>
                <a:highlight>
                  <a:srgbClr val="FFFF00"/>
                </a:highlight>
                <a:latin typeface="Cascadia Mono" panose="020B0609020000020004" pitchFamily="49" charset="0"/>
              </a:rPr>
              <a:t>Tuple&lt;</a:t>
            </a:r>
            <a:r>
              <a:rPr lang="fr-FR" sz="1100" dirty="0" err="1">
                <a:solidFill>
                  <a:srgbClr val="0000FF"/>
                </a:solidFill>
                <a:highlight>
                  <a:srgbClr val="FFFF00"/>
                </a:highlight>
                <a:latin typeface="Cascadia Mono" panose="020B0609020000020004" pitchFamily="49" charset="0"/>
              </a:rPr>
              <a:t>int</a:t>
            </a:r>
            <a:r>
              <a:rPr lang="fr-FR" sz="1100" dirty="0">
                <a:solidFill>
                  <a:srgbClr val="000000"/>
                </a:solidFill>
                <a:highlight>
                  <a:srgbClr val="FFFF00"/>
                </a:highlight>
                <a:latin typeface="Cascadia Mono" panose="020B0609020000020004" pitchFamily="49" charset="0"/>
              </a:rPr>
              <a:t>, </a:t>
            </a:r>
            <a:r>
              <a:rPr lang="fr-FR" sz="1100" dirty="0">
                <a:solidFill>
                  <a:srgbClr val="0000FF"/>
                </a:solidFill>
                <a:highlight>
                  <a:srgbClr val="FFFF00"/>
                </a:highlight>
                <a:latin typeface="Cascadia Mono" panose="020B0609020000020004" pitchFamily="49" charset="0"/>
              </a:rPr>
              <a:t>double</a:t>
            </a:r>
            <a:r>
              <a:rPr lang="fr-FR" sz="1100" dirty="0">
                <a:solidFill>
                  <a:srgbClr val="000000"/>
                </a:solidFill>
                <a:highlight>
                  <a:srgbClr val="FFFF00"/>
                </a:highlight>
                <a:latin typeface="Cascadia Mono" panose="020B0609020000020004" pitchFamily="49" charset="0"/>
              </a:rPr>
              <a:t>&gt; t </a:t>
            </a:r>
            <a:r>
              <a:rPr lang="fr-FR" sz="1100" dirty="0">
                <a:solidFill>
                  <a:srgbClr val="000000"/>
                </a:solidFill>
                <a:latin typeface="Cascadia Mono" panose="020B0609020000020004" pitchFamily="49" charset="0"/>
              </a:rPr>
              <a:t>= </a:t>
            </a:r>
            <a:r>
              <a:rPr lang="fr-FR" sz="1100" dirty="0" err="1">
                <a:solidFill>
                  <a:srgbClr val="000000"/>
                </a:solidFill>
                <a:latin typeface="Cascadia Mono" panose="020B0609020000020004" pitchFamily="49" charset="0"/>
              </a:rPr>
              <a:t>Calulate</a:t>
            </a:r>
            <a:r>
              <a:rPr lang="fr-FR" sz="1100" dirty="0">
                <a:solidFill>
                  <a:srgbClr val="000000"/>
                </a:solidFill>
                <a:latin typeface="Cascadia Mono" panose="020B0609020000020004" pitchFamily="49" charset="0"/>
              </a:rPr>
              <a:t>(values);</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Console.WriteLine</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$"There are </a:t>
            </a:r>
            <a:r>
              <a:rPr lang="en-US" sz="1100" dirty="0">
                <a:solidFill>
                  <a:srgbClr val="000000"/>
                </a:solidFill>
                <a:latin typeface="Cascadia Mono" panose="020B0609020000020004" pitchFamily="49" charset="0"/>
              </a:rPr>
              <a:t>{t.Item1}</a:t>
            </a:r>
            <a:r>
              <a:rPr lang="en-US" sz="1100" dirty="0">
                <a:solidFill>
                  <a:srgbClr val="A31515"/>
                </a:solidFill>
                <a:latin typeface="Cascadia Mono" panose="020B0609020000020004" pitchFamily="49" charset="0"/>
              </a:rPr>
              <a:t> values and their sum is </a:t>
            </a:r>
            <a:r>
              <a:rPr lang="en-US" sz="1100" dirty="0">
                <a:solidFill>
                  <a:srgbClr val="000000"/>
                </a:solidFill>
                <a:latin typeface="Cascadia Mono" panose="020B0609020000020004" pitchFamily="49" charset="0"/>
              </a:rPr>
              <a:t>{t.Item2}</a:t>
            </a:r>
            <a:r>
              <a:rPr lang="en-US" sz="1100" dirty="0">
                <a:solidFill>
                  <a:srgbClr val="A31515"/>
                </a:solidFill>
                <a:latin typeface="Cascadia Mono" panose="020B0609020000020004" pitchFamily="49" charset="0"/>
              </a:rPr>
              <a:t>"</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Console.ReadKey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//Declaring the return type as Tuple&lt;int, double&gt;</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private</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static</a:t>
            </a:r>
            <a:r>
              <a:rPr lang="en-IN" sz="1100" dirty="0">
                <a:solidFill>
                  <a:srgbClr val="000000"/>
                </a:solidFill>
                <a:latin typeface="Cascadia Mono" panose="020B0609020000020004" pitchFamily="49" charset="0"/>
              </a:rPr>
              <a:t> </a:t>
            </a:r>
            <a:r>
              <a:rPr lang="en-IN" sz="1100" dirty="0">
                <a:solidFill>
                  <a:srgbClr val="000000"/>
                </a:solidFill>
                <a:highlight>
                  <a:srgbClr val="FFFF00"/>
                </a:highlight>
                <a:latin typeface="Cascadia Mono" panose="020B0609020000020004" pitchFamily="49" charset="0"/>
              </a:rPr>
              <a:t>Tuple&lt;</a:t>
            </a:r>
            <a:r>
              <a:rPr lang="en-IN" sz="1100" dirty="0">
                <a:solidFill>
                  <a:srgbClr val="0000FF"/>
                </a:solidFill>
                <a:highlight>
                  <a:srgbClr val="FFFF00"/>
                </a:highlight>
                <a:latin typeface="Cascadia Mono" panose="020B0609020000020004" pitchFamily="49" charset="0"/>
              </a:rPr>
              <a:t>int</a:t>
            </a:r>
            <a:r>
              <a:rPr lang="en-IN" sz="1100" dirty="0">
                <a:solidFill>
                  <a:srgbClr val="000000"/>
                </a:solidFill>
                <a:highlight>
                  <a:srgbClr val="FFFF00"/>
                </a:highlight>
                <a:latin typeface="Cascadia Mono" panose="020B0609020000020004" pitchFamily="49" charset="0"/>
              </a:rPr>
              <a:t>, </a:t>
            </a:r>
            <a:r>
              <a:rPr lang="en-IN" sz="1100" dirty="0">
                <a:solidFill>
                  <a:srgbClr val="0000FF"/>
                </a:solidFill>
                <a:highlight>
                  <a:srgbClr val="FFFF00"/>
                </a:highlight>
                <a:latin typeface="Cascadia Mono" panose="020B0609020000020004" pitchFamily="49" charset="0"/>
              </a:rPr>
              <a:t>double</a:t>
            </a:r>
            <a:r>
              <a:rPr lang="en-IN" sz="1100" dirty="0">
                <a:solidFill>
                  <a:srgbClr val="000000"/>
                </a:solidFill>
                <a:highlight>
                  <a:srgbClr val="FFFF00"/>
                </a:highlight>
                <a:latin typeface="Cascadia Mono" panose="020B0609020000020004" pitchFamily="49" charset="0"/>
              </a:rPr>
              <a:t>&gt; </a:t>
            </a:r>
            <a:r>
              <a:rPr lang="en-IN" sz="1100" dirty="0" err="1">
                <a:solidFill>
                  <a:srgbClr val="000000"/>
                </a:solidFill>
                <a:latin typeface="Cascadia Mono" panose="020B0609020000020004" pitchFamily="49" charset="0"/>
              </a:rPr>
              <a:t>Calulate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IEnumerable</a:t>
            </a:r>
            <a:r>
              <a:rPr lang="en-IN" sz="1100" dirty="0">
                <a:solidFill>
                  <a:srgbClr val="000000"/>
                </a:solidFill>
                <a:latin typeface="Cascadia Mono" panose="020B0609020000020004" pitchFamily="49" charset="0"/>
              </a:rPr>
              <a:t>&lt;</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&gt; values)</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count = 0;</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double</a:t>
            </a:r>
            <a:r>
              <a:rPr lang="en-IN" sz="1100" dirty="0">
                <a:solidFill>
                  <a:srgbClr val="000000"/>
                </a:solidFill>
                <a:latin typeface="Cascadia Mono" panose="020B0609020000020004" pitchFamily="49" charset="0"/>
              </a:rPr>
              <a:t> sum = 0.0;</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foreach</a:t>
            </a:r>
            <a:r>
              <a:rPr lang="en-US" sz="1100" dirty="0">
                <a:solidFill>
                  <a:srgbClr val="000000"/>
                </a:solidFill>
                <a:latin typeface="Cascadia Mono" panose="020B0609020000020004" pitchFamily="49" charset="0"/>
              </a:rPr>
              <a:t> (var value </a:t>
            </a:r>
            <a:r>
              <a:rPr lang="en-US" sz="1100" dirty="0">
                <a:solidFill>
                  <a:srgbClr val="0000FF"/>
                </a:solidFill>
                <a:latin typeface="Cascadia Mono" panose="020B0609020000020004" pitchFamily="49" charset="0"/>
              </a:rPr>
              <a:t>in</a:t>
            </a:r>
            <a:r>
              <a:rPr lang="en-US" sz="1100" dirty="0">
                <a:solidFill>
                  <a:srgbClr val="000000"/>
                </a:solidFill>
                <a:latin typeface="Cascadia Mono" panose="020B0609020000020004" pitchFamily="49" charset="0"/>
              </a:rPr>
              <a:t> values)</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count++;</a:t>
            </a:r>
          </a:p>
          <a:p>
            <a:r>
              <a:rPr lang="en-IN" sz="1100" dirty="0">
                <a:solidFill>
                  <a:srgbClr val="000000"/>
                </a:solidFill>
                <a:latin typeface="Cascadia Mono" panose="020B0609020000020004" pitchFamily="49" charset="0"/>
              </a:rPr>
              <a:t>                sum += value;</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//Creating an object of Tuple class by calling the static Create method</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00"/>
                </a:solidFill>
                <a:highlight>
                  <a:srgbClr val="FFFF00"/>
                </a:highlight>
                <a:latin typeface="Cascadia Mono" panose="020B0609020000020004" pitchFamily="49" charset="0"/>
              </a:rPr>
              <a:t>Tuple&lt;</a:t>
            </a:r>
            <a:r>
              <a:rPr lang="en-IN" sz="1100" dirty="0">
                <a:solidFill>
                  <a:srgbClr val="0000FF"/>
                </a:solidFill>
                <a:highlight>
                  <a:srgbClr val="FFFF00"/>
                </a:highlight>
                <a:latin typeface="Cascadia Mono" panose="020B0609020000020004" pitchFamily="49" charset="0"/>
              </a:rPr>
              <a:t>int</a:t>
            </a:r>
            <a:r>
              <a:rPr lang="en-IN" sz="1100" dirty="0">
                <a:solidFill>
                  <a:srgbClr val="000000"/>
                </a:solidFill>
                <a:highlight>
                  <a:srgbClr val="FFFF00"/>
                </a:highlight>
                <a:latin typeface="Cascadia Mono" panose="020B0609020000020004" pitchFamily="49" charset="0"/>
              </a:rPr>
              <a:t>, </a:t>
            </a:r>
            <a:r>
              <a:rPr lang="en-IN" sz="1100" dirty="0">
                <a:solidFill>
                  <a:srgbClr val="0000FF"/>
                </a:solidFill>
                <a:highlight>
                  <a:srgbClr val="FFFF00"/>
                </a:highlight>
                <a:latin typeface="Cascadia Mono" panose="020B0609020000020004" pitchFamily="49" charset="0"/>
              </a:rPr>
              <a:t>double</a:t>
            </a:r>
            <a:r>
              <a:rPr lang="en-IN" sz="1100" dirty="0">
                <a:solidFill>
                  <a:srgbClr val="000000"/>
                </a:solidFill>
                <a:highlight>
                  <a:srgbClr val="FFFF00"/>
                </a:highlight>
                <a:latin typeface="Cascadia Mono" panose="020B0609020000020004" pitchFamily="49" charset="0"/>
              </a:rPr>
              <a:t>&gt; t = </a:t>
            </a:r>
            <a:r>
              <a:rPr lang="en-IN" sz="1100" dirty="0" err="1">
                <a:solidFill>
                  <a:srgbClr val="000000"/>
                </a:solidFill>
                <a:highlight>
                  <a:srgbClr val="FFFF00"/>
                </a:highlight>
                <a:latin typeface="Cascadia Mono" panose="020B0609020000020004" pitchFamily="49" charset="0"/>
              </a:rPr>
              <a:t>Tuple.Create</a:t>
            </a:r>
            <a:r>
              <a:rPr lang="en-IN" sz="1100" dirty="0">
                <a:solidFill>
                  <a:srgbClr val="000000"/>
                </a:solidFill>
                <a:highlight>
                  <a:srgbClr val="FFFF00"/>
                </a:highlight>
                <a:latin typeface="Cascadia Mono" panose="020B0609020000020004" pitchFamily="49" charset="0"/>
              </a:rPr>
              <a:t>(count, sum);</a:t>
            </a: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//Returning the tuple instance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highlight>
                  <a:srgbClr val="FFFF00"/>
                </a:highlight>
                <a:latin typeface="Cascadia Mono" panose="020B0609020000020004" pitchFamily="49" charset="0"/>
              </a:rPr>
              <a:t>return</a:t>
            </a:r>
            <a:r>
              <a:rPr lang="en-IN" sz="1100" dirty="0">
                <a:solidFill>
                  <a:srgbClr val="000000"/>
                </a:solidFill>
                <a:highlight>
                  <a:srgbClr val="FFFF00"/>
                </a:highlight>
                <a:latin typeface="Cascadia Mono" panose="020B0609020000020004" pitchFamily="49" charset="0"/>
              </a:rPr>
              <a:t> 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A234E6B5-5632-53A2-460F-7FD7F071AD5A}"/>
              </a:ext>
            </a:extLst>
          </p:cNvPr>
          <p:cNvSpPr txBox="1"/>
          <p:nvPr/>
        </p:nvSpPr>
        <p:spPr>
          <a:xfrm>
            <a:off x="7296345" y="2130459"/>
            <a:ext cx="4725971" cy="3555653"/>
          </a:xfrm>
          <a:prstGeom prst="rect">
            <a:avLst/>
          </a:prstGeom>
          <a:noFill/>
        </p:spPr>
        <p:txBody>
          <a:bodyPr wrap="square">
            <a:spAutoFit/>
          </a:bodyPr>
          <a:lstStyle/>
          <a:p>
            <a:pPr algn="just" fontAlgn="base">
              <a:lnSpc>
                <a:spcPct val="107000"/>
              </a:lnSpc>
              <a:spcAft>
                <a:spcPts val="800"/>
              </a:spcAft>
            </a:pPr>
            <a:r>
              <a:rPr lang="en-IN" sz="13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Problems with the above code: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There are 3 major problems in the above code with Tuple: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first problem</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is that the Tuples in C# are classes, i.e. reference types. As reference types, the memory is allocated on the heap area and garbage collected only when they are no longer used. For applications where performance is the major concerns, it can be an issue.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second problem</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is that the elements in the tuple don’t have any names and you can only access them by using the names Item1, Item2, Item3, etc. which are not meaningful at all. The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Tuple&lt;T1, T2&gt;</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type does not provide any information about what the tuple actually represents which makes it a poor choice in public APIs.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15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third problem</a:t>
            </a:r>
            <a:r>
              <a:rPr lang="en-IN" sz="115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is that you can use a maximum of 8 properties in a Tuple in C#. If you want to return more than 8 values from a method,  then again the last argument of the Tuple must be another Tuple. This makes the syntax more difficult to understand.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80331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392B69-69BD-8890-B5EA-4EFAB53AFFA5}"/>
              </a:ext>
            </a:extLst>
          </p:cNvPr>
          <p:cNvSpPr txBox="1"/>
          <p:nvPr/>
        </p:nvSpPr>
        <p:spPr>
          <a:xfrm>
            <a:off x="-1" y="-102726"/>
            <a:ext cx="11924907" cy="1173398"/>
          </a:xfrm>
          <a:prstGeom prst="rect">
            <a:avLst/>
          </a:prstGeom>
          <a:noFill/>
        </p:spPr>
        <p:txBody>
          <a:bodyPr wrap="square">
            <a:spAutoFit/>
          </a:bodyPr>
          <a:lstStyle/>
          <a:p>
            <a:pPr algn="just" fontAlgn="base">
              <a:lnSpc>
                <a:spcPct val="107000"/>
              </a:lnSpc>
              <a:spcAft>
                <a:spcPts val="800"/>
              </a:spcAft>
            </a:pP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How to overcome the above Problems?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 overcome the above three problems, C# 7 comes with a new feature which is used to improve the support for tuples in C#. With C# 7, now it is possible to declare the tuple as </a:t>
            </a: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“inline”</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which is like an anonymous type, except that they </a:t>
            </a:r>
            <a:r>
              <a:rPr lang="en-IN" sz="1200" dirty="0">
                <a:solidFill>
                  <a:srgbClr val="000000"/>
                </a:solidFill>
                <a:effectLst/>
                <a:highlight>
                  <a:srgbClr val="FFFF00"/>
                </a:highlight>
                <a:latin typeface="Arial" panose="020B0604020202020204" pitchFamily="34" charset="0"/>
                <a:ea typeface="Times New Roman" panose="02020603050405020304" pitchFamily="18" charset="0"/>
                <a:cs typeface="Times New Roman" panose="02020603050405020304" pitchFamily="18" charset="0"/>
              </a:rPr>
              <a:t>are not limited to the current method</a:t>
            </a:r>
            <a:r>
              <a:rPr lang="en-IN" sz="12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Let’s modify the code as shown below to see the use of new improvements of Tuples in C# 7.</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4A0301A3-10FD-1A55-7B83-6DCDA78E82BD}"/>
              </a:ext>
            </a:extLst>
          </p:cNvPr>
          <p:cNvSpPr txBox="1"/>
          <p:nvPr/>
        </p:nvSpPr>
        <p:spPr>
          <a:xfrm>
            <a:off x="5059050" y="4109281"/>
            <a:ext cx="6865856" cy="1002775"/>
          </a:xfrm>
          <a:prstGeom prst="rect">
            <a:avLst/>
          </a:prstGeom>
          <a:noFill/>
        </p:spPr>
        <p:txBody>
          <a:bodyPr wrap="square">
            <a:spAutoFit/>
          </a:bodyPr>
          <a:lstStyle/>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As you can see in the above code, we are returning two values i.e. int and double from the Calculate method and then we are accessing the values. This is much better. If you want then you can also give specific names to the tuples returning values.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A23AA1A8-614C-66E8-FF2E-73DE98D2B90D}"/>
              </a:ext>
            </a:extLst>
          </p:cNvPr>
          <p:cNvSpPr txBox="1"/>
          <p:nvPr/>
        </p:nvSpPr>
        <p:spPr>
          <a:xfrm>
            <a:off x="108408" y="945884"/>
            <a:ext cx="6117996" cy="5447645"/>
          </a:xfrm>
          <a:prstGeom prst="rect">
            <a:avLst/>
          </a:prstGeom>
          <a:noFill/>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System;</a:t>
            </a:r>
          </a:p>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System.Collections.Generic</a:t>
            </a:r>
            <a:r>
              <a:rPr lang="en-IN" sz="1200" dirty="0">
                <a:solidFill>
                  <a:srgbClr val="000000"/>
                </a:solidFill>
                <a:latin typeface="Cascadia Mono" panose="020B0609020000020004" pitchFamily="49" charset="0"/>
              </a:rPr>
              <a:t>;</a:t>
            </a:r>
          </a:p>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TulesDemo</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a:solidFill>
                  <a:srgbClr val="2B91AF"/>
                </a:solidFill>
                <a:latin typeface="Cascadia Mono" panose="020B0609020000020004" pitchFamily="49" charset="0"/>
              </a:rPr>
              <a:t>Program</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Main()</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values = </a:t>
            </a:r>
            <a:r>
              <a:rPr lang="en-IN" sz="1200" dirty="0">
                <a:solidFill>
                  <a:srgbClr val="0000FF"/>
                </a:solidFill>
                <a:latin typeface="Cascadia Mono" panose="020B0609020000020004" pitchFamily="49" charset="0"/>
              </a:rPr>
              <a:t>new</a:t>
            </a:r>
            <a:r>
              <a:rPr lang="en-IN" sz="1200" dirty="0">
                <a:solidFill>
                  <a:srgbClr val="000000"/>
                </a:solidFill>
                <a:latin typeface="Cascadia Mono" panose="020B0609020000020004" pitchFamily="49" charset="0"/>
              </a:rPr>
              <a:t> List&lt;</a:t>
            </a:r>
            <a:r>
              <a:rPr lang="en-IN" sz="1200" dirty="0">
                <a:solidFill>
                  <a:srgbClr val="0000FF"/>
                </a:solidFill>
                <a:latin typeface="Cascadia Mono" panose="020B0609020000020004" pitchFamily="49" charset="0"/>
              </a:rPr>
              <a:t>double</a:t>
            </a:r>
            <a:r>
              <a:rPr lang="en-IN" sz="1200" dirty="0">
                <a:solidFill>
                  <a:srgbClr val="000000"/>
                </a:solidFill>
                <a:latin typeface="Cascadia Mono" panose="020B0609020000020004" pitchFamily="49" charset="0"/>
              </a:rPr>
              <a:t>&gt;() { 10, 20, 30, 40, 50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var</a:t>
            </a:r>
            <a:r>
              <a:rPr lang="en-IN" sz="1200" dirty="0">
                <a:solidFill>
                  <a:srgbClr val="000000"/>
                </a:solidFill>
                <a:latin typeface="Cascadia Mono" panose="020B0609020000020004" pitchFamily="49" charset="0"/>
              </a:rPr>
              <a:t> result = </a:t>
            </a:r>
            <a:r>
              <a:rPr lang="en-IN" sz="1200" dirty="0" err="1">
                <a:solidFill>
                  <a:srgbClr val="000000"/>
                </a:solidFill>
                <a:latin typeface="Cascadia Mono" panose="020B0609020000020004" pitchFamily="49" charset="0"/>
              </a:rPr>
              <a:t>Calulate</a:t>
            </a:r>
            <a:r>
              <a:rPr lang="en-IN" sz="1200" dirty="0">
                <a:solidFill>
                  <a:srgbClr val="000000"/>
                </a:solidFill>
                <a:latin typeface="Cascadia Mono" panose="020B0609020000020004" pitchFamily="49" charset="0"/>
              </a:rPr>
              <a:t>(values);</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$"There are </a:t>
            </a:r>
            <a:r>
              <a:rPr lang="en-US" sz="1200" dirty="0">
                <a:solidFill>
                  <a:srgbClr val="000000"/>
                </a:solidFill>
                <a:latin typeface="Cascadia Mono" panose="020B0609020000020004" pitchFamily="49" charset="0"/>
              </a:rPr>
              <a:t>{</a:t>
            </a:r>
            <a:r>
              <a:rPr lang="en-US" sz="1200" dirty="0">
                <a:solidFill>
                  <a:srgbClr val="000000"/>
                </a:solidFill>
                <a:highlight>
                  <a:srgbClr val="FFFF00"/>
                </a:highlight>
                <a:latin typeface="Cascadia Mono" panose="020B0609020000020004" pitchFamily="49" charset="0"/>
              </a:rPr>
              <a:t>result.Item1}</a:t>
            </a:r>
            <a:r>
              <a:rPr lang="en-US" sz="1200" dirty="0">
                <a:solidFill>
                  <a:srgbClr val="A31515"/>
                </a:solidFill>
                <a:latin typeface="Cascadia Mono" panose="020B0609020000020004" pitchFamily="49" charset="0"/>
              </a:rPr>
              <a:t> values and their sum is </a:t>
            </a:r>
            <a:r>
              <a:rPr lang="en-US" sz="1200" dirty="0">
                <a:solidFill>
                  <a:srgbClr val="000000"/>
                </a:solidFill>
                <a:highlight>
                  <a:srgbClr val="FFFF00"/>
                </a:highlight>
                <a:latin typeface="Cascadia Mono" panose="020B0609020000020004" pitchFamily="49" charset="0"/>
              </a:rPr>
              <a:t>{result.Item2</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Console.ReadKey</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private</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double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Calulate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IEnumerable</a:t>
            </a:r>
            <a:r>
              <a:rPr lang="en-IN" sz="1200" dirty="0">
                <a:solidFill>
                  <a:srgbClr val="000000"/>
                </a:solidFill>
                <a:latin typeface="Cascadia Mono" panose="020B0609020000020004" pitchFamily="49" charset="0"/>
              </a:rPr>
              <a:t>&lt;</a:t>
            </a:r>
            <a:r>
              <a:rPr lang="en-IN" sz="1200" dirty="0">
                <a:solidFill>
                  <a:srgbClr val="0000FF"/>
                </a:solidFill>
                <a:latin typeface="Cascadia Mono" panose="020B0609020000020004" pitchFamily="49" charset="0"/>
              </a:rPr>
              <a:t>double</a:t>
            </a:r>
            <a:r>
              <a:rPr lang="en-IN" sz="1200" dirty="0">
                <a:solidFill>
                  <a:srgbClr val="000000"/>
                </a:solidFill>
                <a:latin typeface="Cascadia Mono" panose="020B0609020000020004" pitchFamily="49" charset="0"/>
              </a:rPr>
              <a:t>&gt; values)</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count = 0;</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double</a:t>
            </a:r>
            <a:r>
              <a:rPr lang="en-IN" sz="1200" dirty="0">
                <a:solidFill>
                  <a:srgbClr val="000000"/>
                </a:solidFill>
                <a:latin typeface="Cascadia Mono" panose="020B0609020000020004" pitchFamily="49" charset="0"/>
              </a:rPr>
              <a:t> sum = 0.0;</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foreach</a:t>
            </a:r>
            <a:r>
              <a:rPr lang="en-US" sz="1200" dirty="0">
                <a:solidFill>
                  <a:srgbClr val="000000"/>
                </a:solidFill>
                <a:latin typeface="Cascadia Mono" panose="020B0609020000020004" pitchFamily="49" charset="0"/>
              </a:rPr>
              <a:t> (var value </a:t>
            </a:r>
            <a:r>
              <a:rPr lang="en-US" sz="1200" dirty="0">
                <a:solidFill>
                  <a:srgbClr val="0000FF"/>
                </a:solidFill>
                <a:latin typeface="Cascadia Mono" panose="020B0609020000020004" pitchFamily="49" charset="0"/>
              </a:rPr>
              <a:t>in</a:t>
            </a:r>
            <a:r>
              <a:rPr lang="en-US" sz="1200" dirty="0">
                <a:solidFill>
                  <a:srgbClr val="000000"/>
                </a:solidFill>
                <a:latin typeface="Cascadia Mono" panose="020B0609020000020004" pitchFamily="49" charset="0"/>
              </a:rPr>
              <a:t> values)</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count++;</a:t>
            </a:r>
          </a:p>
          <a:p>
            <a:r>
              <a:rPr lang="en-IN" sz="1200" dirty="0">
                <a:solidFill>
                  <a:srgbClr val="000000"/>
                </a:solidFill>
                <a:latin typeface="Cascadia Mono" panose="020B0609020000020004" pitchFamily="49" charset="0"/>
              </a:rPr>
              <a:t>                sum += value;</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return</a:t>
            </a:r>
            <a:r>
              <a:rPr lang="en-IN" sz="1200" dirty="0">
                <a:solidFill>
                  <a:srgbClr val="000000"/>
                </a:solidFill>
                <a:latin typeface="Cascadia Mono" panose="020B0609020000020004" pitchFamily="49" charset="0"/>
              </a:rPr>
              <a:t> (count, sum);</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761254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F8C6D8-46C8-E52C-E300-C3473125548A}"/>
              </a:ext>
            </a:extLst>
          </p:cNvPr>
          <p:cNvSpPr txBox="1"/>
          <p:nvPr/>
        </p:nvSpPr>
        <p:spPr>
          <a:xfrm>
            <a:off x="285162" y="742449"/>
            <a:ext cx="6094428" cy="4616648"/>
          </a:xfrm>
          <a:prstGeom prst="rect">
            <a:avLst/>
          </a:prstGeom>
          <a:noFill/>
        </p:spPr>
        <p:txBody>
          <a:bodyPr wrap="square">
            <a:spAutoFit/>
          </a:bodyPr>
          <a:lstStyle/>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System;</a:t>
            </a:r>
          </a:p>
          <a:p>
            <a:r>
              <a:rPr lang="en-IN" sz="1050" dirty="0">
                <a:solidFill>
                  <a:srgbClr val="0000FF"/>
                </a:solidFill>
                <a:latin typeface="Cascadia Mono" panose="020B0609020000020004" pitchFamily="49" charset="0"/>
              </a:rPr>
              <a:t>using</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System.Collections.Generic</a:t>
            </a:r>
            <a:r>
              <a:rPr lang="en-IN" sz="1050" dirty="0">
                <a:solidFill>
                  <a:srgbClr val="000000"/>
                </a:solidFill>
                <a:latin typeface="Cascadia Mono" panose="020B0609020000020004" pitchFamily="49" charset="0"/>
              </a:rPr>
              <a:t>;</a:t>
            </a:r>
          </a:p>
          <a:p>
            <a:r>
              <a:rPr lang="en-IN" sz="1050" dirty="0">
                <a:solidFill>
                  <a:srgbClr val="0000FF"/>
                </a:solidFill>
                <a:latin typeface="Cascadia Mono" panose="020B0609020000020004" pitchFamily="49" charset="0"/>
              </a:rPr>
              <a:t>namespace</a:t>
            </a:r>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TulesDemo</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Program</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void</a:t>
            </a:r>
            <a:r>
              <a:rPr lang="en-IN" sz="1050" dirty="0">
                <a:solidFill>
                  <a:srgbClr val="000000"/>
                </a:solidFill>
                <a:latin typeface="Cascadia Mono" panose="020B0609020000020004" pitchFamily="49" charset="0"/>
              </a:rPr>
              <a:t> Main()</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values = </a:t>
            </a:r>
            <a:r>
              <a:rPr lang="en-IN" sz="1050" dirty="0">
                <a:solidFill>
                  <a:srgbClr val="0000FF"/>
                </a:solidFill>
                <a:latin typeface="Cascadia Mono" panose="020B0609020000020004" pitchFamily="49" charset="0"/>
              </a:rPr>
              <a:t>new</a:t>
            </a:r>
            <a:r>
              <a:rPr lang="en-IN" sz="1050" dirty="0">
                <a:solidFill>
                  <a:srgbClr val="000000"/>
                </a:solidFill>
                <a:latin typeface="Cascadia Mono" panose="020B0609020000020004" pitchFamily="49" charset="0"/>
              </a:rPr>
              <a:t> List&lt;</a:t>
            </a:r>
            <a:r>
              <a:rPr lang="en-IN" sz="1050" dirty="0">
                <a:solidFill>
                  <a:srgbClr val="0000FF"/>
                </a:solidFill>
                <a:latin typeface="Cascadia Mono" panose="020B0609020000020004" pitchFamily="49" charset="0"/>
              </a:rPr>
              <a:t>double</a:t>
            </a:r>
            <a:r>
              <a:rPr lang="en-IN" sz="1050" dirty="0">
                <a:solidFill>
                  <a:srgbClr val="000000"/>
                </a:solidFill>
                <a:latin typeface="Cascadia Mono" panose="020B0609020000020004" pitchFamily="49" charset="0"/>
              </a:rPr>
              <a:t>&gt;() { 10, 20, 30, 40, 50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var</a:t>
            </a:r>
            <a:r>
              <a:rPr lang="en-IN" sz="1050" dirty="0">
                <a:solidFill>
                  <a:srgbClr val="000000"/>
                </a:solidFill>
                <a:latin typeface="Cascadia Mono" panose="020B0609020000020004" pitchFamily="49" charset="0"/>
              </a:rPr>
              <a:t> result = </a:t>
            </a:r>
            <a:r>
              <a:rPr lang="en-IN" sz="1050" dirty="0" err="1">
                <a:solidFill>
                  <a:srgbClr val="000000"/>
                </a:solidFill>
                <a:latin typeface="Cascadia Mono" panose="020B0609020000020004" pitchFamily="49" charset="0"/>
              </a:rPr>
              <a:t>Calulate</a:t>
            </a:r>
            <a:r>
              <a:rPr lang="en-IN" sz="1050" dirty="0">
                <a:solidFill>
                  <a:srgbClr val="000000"/>
                </a:solidFill>
                <a:latin typeface="Cascadia Mono" panose="020B0609020000020004" pitchFamily="49" charset="0"/>
              </a:rPr>
              <a:t>(values);</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$"There are </a:t>
            </a:r>
            <a:r>
              <a:rPr lang="en-US" sz="1050" dirty="0">
                <a:solidFill>
                  <a:srgbClr val="000000"/>
                </a:solidFill>
                <a:latin typeface="Cascadia Mono" panose="020B0609020000020004" pitchFamily="49" charset="0"/>
              </a:rPr>
              <a:t>{</a:t>
            </a:r>
            <a:r>
              <a:rPr lang="en-US" sz="1050" dirty="0" err="1">
                <a:solidFill>
                  <a:srgbClr val="000000"/>
                </a:solidFill>
                <a:highlight>
                  <a:srgbClr val="FFFF00"/>
                </a:highlight>
                <a:latin typeface="Cascadia Mono" panose="020B0609020000020004" pitchFamily="49" charset="0"/>
              </a:rPr>
              <a:t>result.count</a:t>
            </a:r>
            <a:r>
              <a:rPr lang="en-US" sz="1050" dirty="0">
                <a:solidFill>
                  <a:srgbClr val="000000"/>
                </a:solidFill>
                <a:highlight>
                  <a:srgbClr val="FFFF00"/>
                </a:highlight>
                <a:latin typeface="Cascadia Mono" panose="020B0609020000020004" pitchFamily="49" charset="0"/>
              </a:rPr>
              <a:t>}</a:t>
            </a:r>
            <a:r>
              <a:rPr lang="en-US" sz="1050" dirty="0">
                <a:solidFill>
                  <a:srgbClr val="A31515"/>
                </a:solidFill>
                <a:highlight>
                  <a:srgbClr val="FFFF00"/>
                </a:highlight>
                <a:latin typeface="Cascadia Mono" panose="020B0609020000020004" pitchFamily="49" charset="0"/>
              </a:rPr>
              <a:t> </a:t>
            </a:r>
            <a:r>
              <a:rPr lang="en-US" sz="1050" dirty="0">
                <a:solidFill>
                  <a:srgbClr val="A31515"/>
                </a:solidFill>
                <a:latin typeface="Cascadia Mono" panose="020B0609020000020004" pitchFamily="49" charset="0"/>
              </a:rPr>
              <a:t>values and their sum is </a:t>
            </a:r>
            <a:r>
              <a:rPr lang="en-US" sz="1050" dirty="0">
                <a:solidFill>
                  <a:srgbClr val="000000"/>
                </a:solidFill>
                <a:latin typeface="Cascadia Mono" panose="020B0609020000020004" pitchFamily="49" charset="0"/>
              </a:rPr>
              <a:t>{</a:t>
            </a:r>
            <a:r>
              <a:rPr lang="en-US" sz="1050" dirty="0" err="1">
                <a:solidFill>
                  <a:srgbClr val="000000"/>
                </a:solidFill>
                <a:highlight>
                  <a:srgbClr val="FFFF00"/>
                </a:highlight>
                <a:latin typeface="Cascadia Mono" panose="020B0609020000020004" pitchFamily="49" charset="0"/>
              </a:rPr>
              <a:t>result.sum</a:t>
            </a:r>
            <a:r>
              <a:rPr lang="en-US" sz="1050" dirty="0">
                <a:solidFill>
                  <a:srgbClr val="000000"/>
                </a:solidFill>
                <a:highlight>
                  <a:srgbClr val="FFFF00"/>
                </a:highlight>
                <a:latin typeface="Cascadia Mono" panose="020B0609020000020004" pitchFamily="49" charset="0"/>
              </a:rPr>
              <a:t>}</a:t>
            </a:r>
            <a:r>
              <a:rPr lang="en-US" sz="1050" dirty="0">
                <a:solidFill>
                  <a:srgbClr val="A31515"/>
                </a:solidFill>
                <a:latin typeface="Cascadia Mono" panose="020B0609020000020004" pitchFamily="49" charset="0"/>
              </a:rPr>
              <a: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Console.ReadKey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private</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00"/>
                </a:solidFill>
                <a:highlight>
                  <a:srgbClr val="FFFF00"/>
                </a:highlight>
                <a:latin typeface="Cascadia Mono" panose="020B0609020000020004" pitchFamily="49" charset="0"/>
              </a:rPr>
              <a:t>(</a:t>
            </a:r>
            <a:r>
              <a:rPr lang="en-IN" sz="1050" dirty="0">
                <a:solidFill>
                  <a:srgbClr val="0000FF"/>
                </a:solidFill>
                <a:highlight>
                  <a:srgbClr val="FFFF00"/>
                </a:highlight>
                <a:latin typeface="Cascadia Mono" panose="020B0609020000020004" pitchFamily="49" charset="0"/>
              </a:rPr>
              <a:t>int</a:t>
            </a:r>
            <a:r>
              <a:rPr lang="en-IN" sz="1050" dirty="0">
                <a:solidFill>
                  <a:srgbClr val="000000"/>
                </a:solidFill>
                <a:highlight>
                  <a:srgbClr val="FFFF00"/>
                </a:highlight>
                <a:latin typeface="Cascadia Mono" panose="020B0609020000020004" pitchFamily="49" charset="0"/>
              </a:rPr>
              <a:t> count, </a:t>
            </a:r>
            <a:r>
              <a:rPr lang="en-IN" sz="1050" dirty="0">
                <a:solidFill>
                  <a:srgbClr val="0000FF"/>
                </a:solidFill>
                <a:highlight>
                  <a:srgbClr val="FFFF00"/>
                </a:highlight>
                <a:latin typeface="Cascadia Mono" panose="020B0609020000020004" pitchFamily="49" charset="0"/>
              </a:rPr>
              <a:t>double</a:t>
            </a:r>
            <a:r>
              <a:rPr lang="en-IN" sz="1050" dirty="0">
                <a:solidFill>
                  <a:srgbClr val="000000"/>
                </a:solidFill>
                <a:highlight>
                  <a:srgbClr val="FFFF00"/>
                </a:highlight>
                <a:latin typeface="Cascadia Mono" panose="020B0609020000020004" pitchFamily="49" charset="0"/>
              </a:rPr>
              <a:t> sum) </a:t>
            </a:r>
            <a:r>
              <a:rPr lang="en-IN" sz="1050" dirty="0" err="1">
                <a:solidFill>
                  <a:srgbClr val="000000"/>
                </a:solidFill>
                <a:latin typeface="Cascadia Mono" panose="020B0609020000020004" pitchFamily="49" charset="0"/>
              </a:rPr>
              <a:t>Calulate</a:t>
            </a:r>
            <a:r>
              <a:rPr lang="en-IN" sz="1050" dirty="0">
                <a:solidFill>
                  <a:srgbClr val="000000"/>
                </a:solidFill>
                <a:latin typeface="Cascadia Mono" panose="020B0609020000020004" pitchFamily="49" charset="0"/>
              </a:rPr>
              <a:t>(</a:t>
            </a:r>
            <a:r>
              <a:rPr lang="en-IN" sz="1050" dirty="0" err="1">
                <a:solidFill>
                  <a:srgbClr val="000000"/>
                </a:solidFill>
                <a:latin typeface="Cascadia Mono" panose="020B0609020000020004" pitchFamily="49" charset="0"/>
              </a:rPr>
              <a:t>IEnumerable</a:t>
            </a:r>
            <a:r>
              <a:rPr lang="en-IN" sz="1050" dirty="0">
                <a:solidFill>
                  <a:srgbClr val="000000"/>
                </a:solidFill>
                <a:latin typeface="Cascadia Mono" panose="020B0609020000020004" pitchFamily="49" charset="0"/>
              </a:rPr>
              <a:t>&lt;</a:t>
            </a:r>
            <a:r>
              <a:rPr lang="en-IN" sz="1050" dirty="0">
                <a:solidFill>
                  <a:srgbClr val="0000FF"/>
                </a:solidFill>
                <a:latin typeface="Cascadia Mono" panose="020B0609020000020004" pitchFamily="49" charset="0"/>
              </a:rPr>
              <a:t>double</a:t>
            </a:r>
            <a:r>
              <a:rPr lang="en-IN" sz="1050" dirty="0">
                <a:solidFill>
                  <a:srgbClr val="000000"/>
                </a:solidFill>
                <a:latin typeface="Cascadia Mono" panose="020B0609020000020004" pitchFamily="49" charset="0"/>
              </a:rPr>
              <a:t>&gt; values)</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int</a:t>
            </a:r>
            <a:r>
              <a:rPr lang="en-IN" sz="1050" dirty="0">
                <a:solidFill>
                  <a:srgbClr val="000000"/>
                </a:solidFill>
                <a:latin typeface="Cascadia Mono" panose="020B0609020000020004" pitchFamily="49" charset="0"/>
              </a:rPr>
              <a:t> count = 0;</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double</a:t>
            </a:r>
            <a:r>
              <a:rPr lang="en-IN" sz="1050" dirty="0">
                <a:solidFill>
                  <a:srgbClr val="000000"/>
                </a:solidFill>
                <a:latin typeface="Cascadia Mono" panose="020B0609020000020004" pitchFamily="49" charset="0"/>
              </a:rPr>
              <a:t> sum = 0.0;</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foreach</a:t>
            </a:r>
            <a:r>
              <a:rPr lang="en-US" sz="1050" dirty="0">
                <a:solidFill>
                  <a:srgbClr val="000000"/>
                </a:solidFill>
                <a:latin typeface="Cascadia Mono" panose="020B0609020000020004" pitchFamily="49" charset="0"/>
              </a:rPr>
              <a:t> (var value </a:t>
            </a:r>
            <a:r>
              <a:rPr lang="en-US" sz="1050" dirty="0">
                <a:solidFill>
                  <a:srgbClr val="0000FF"/>
                </a:solidFill>
                <a:latin typeface="Cascadia Mono" panose="020B0609020000020004" pitchFamily="49" charset="0"/>
              </a:rPr>
              <a:t>in</a:t>
            </a:r>
            <a:r>
              <a:rPr lang="en-US" sz="1050" dirty="0">
                <a:solidFill>
                  <a:srgbClr val="000000"/>
                </a:solidFill>
                <a:latin typeface="Cascadia Mono" panose="020B0609020000020004" pitchFamily="49" charset="0"/>
              </a:rPr>
              <a:t> values)</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count++;</a:t>
            </a:r>
          </a:p>
          <a:p>
            <a:r>
              <a:rPr lang="en-IN" sz="1050" dirty="0">
                <a:solidFill>
                  <a:srgbClr val="000000"/>
                </a:solidFill>
                <a:latin typeface="Cascadia Mono" panose="020B0609020000020004" pitchFamily="49" charset="0"/>
              </a:rPr>
              <a:t>                sum += value;</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return</a:t>
            </a:r>
            <a:r>
              <a:rPr lang="en-IN" sz="1050" dirty="0">
                <a:solidFill>
                  <a:srgbClr val="000000"/>
                </a:solidFill>
                <a:latin typeface="Cascadia Mono" panose="020B0609020000020004" pitchFamily="49" charset="0"/>
              </a:rPr>
              <a:t> </a:t>
            </a:r>
            <a:r>
              <a:rPr lang="en-IN" sz="1050" dirty="0">
                <a:solidFill>
                  <a:srgbClr val="000000"/>
                </a:solidFill>
                <a:highlight>
                  <a:srgbClr val="FFFF00"/>
                </a:highlight>
                <a:latin typeface="Cascadia Mono" panose="020B0609020000020004" pitchFamily="49" charset="0"/>
              </a:rPr>
              <a:t>(count, sum)</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p>
        </p:txBody>
      </p:sp>
      <p:sp>
        <p:nvSpPr>
          <p:cNvPr id="7" name="TextBox 6">
            <a:extLst>
              <a:ext uri="{FF2B5EF4-FFF2-40B4-BE49-F238E27FC236}">
                <a16:creationId xmlns:a16="http://schemas.microsoft.com/office/drawing/2014/main" id="{CA2FB72C-AD0F-5C3A-37EB-B96E54401461}"/>
              </a:ext>
            </a:extLst>
          </p:cNvPr>
          <p:cNvSpPr txBox="1"/>
          <p:nvPr/>
        </p:nvSpPr>
        <p:spPr>
          <a:xfrm>
            <a:off x="5281367" y="4441629"/>
            <a:ext cx="6094428" cy="1599349"/>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800"/>
              </a:spcAft>
              <a:buClrTx/>
              <a:buSzTx/>
              <a:buFontTx/>
              <a:buNone/>
              <a:tabLst/>
              <a:defRPr/>
            </a:pPr>
            <a:r>
              <a:rPr kumimoji="0" lang="en-IN" sz="1600" b="1"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Times New Roman" panose="02020603050405020304" pitchFamily="18" charset="0"/>
              </a:rPr>
              <a:t>Tuples in C# with named Parameters:</a:t>
            </a:r>
            <a:endParaRPr kumimoji="0" lang="en-IN"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base"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Times New Roman" panose="02020603050405020304" pitchFamily="18" charset="0"/>
              </a:rPr>
              <a:t>With  C# 7, now it is possible to provide the tuples parameters with user-defined names. To understand this let’s modify the code as shown below. Here we are providing names for the tuple parameters in the Calculate method as count and sum. Now, in the method you can access, these parameters and moreover you will also get intelligence.</a:t>
            </a:r>
            <a:endParaRPr kumimoji="0" lang="en-IN"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40622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7C4453-B37D-8D3C-2A38-630E1A8FCCDE}"/>
              </a:ext>
            </a:extLst>
          </p:cNvPr>
          <p:cNvSpPr txBox="1"/>
          <p:nvPr/>
        </p:nvSpPr>
        <p:spPr>
          <a:xfrm>
            <a:off x="577392" y="167414"/>
            <a:ext cx="6094428" cy="4401205"/>
          </a:xfrm>
          <a:prstGeom prst="rect">
            <a:avLst/>
          </a:prstGeom>
          <a:noFill/>
        </p:spPr>
        <p:txBody>
          <a:bodyPr wrap="square">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System.Collections.Generic</a:t>
            </a:r>
            <a:r>
              <a:rPr lang="en-IN" sz="1000" dirty="0">
                <a:solidFill>
                  <a:srgbClr val="000000"/>
                </a:solidFill>
                <a:latin typeface="Cascadia Mono" panose="020B0609020000020004" pitchFamily="49" charset="0"/>
              </a:rPr>
              <a:t>;</a:t>
            </a: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TulesDemo</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static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Main()</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var</a:t>
            </a:r>
            <a:r>
              <a:rPr lang="en-IN" sz="1000" dirty="0">
                <a:solidFill>
                  <a:srgbClr val="000000"/>
                </a:solidFill>
                <a:latin typeface="Cascadia Mono" panose="020B0609020000020004" pitchFamily="49" charset="0"/>
              </a:rPr>
              <a:t> values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List&lt;</a:t>
            </a:r>
            <a:r>
              <a:rPr lang="en-IN" sz="1000" dirty="0">
                <a:solidFill>
                  <a:srgbClr val="0000FF"/>
                </a:solidFill>
                <a:latin typeface="Cascadia Mono" panose="020B0609020000020004" pitchFamily="49" charset="0"/>
              </a:rPr>
              <a:t>double</a:t>
            </a:r>
            <a:r>
              <a:rPr lang="en-IN" sz="1000" dirty="0">
                <a:solidFill>
                  <a:srgbClr val="000000"/>
                </a:solidFill>
                <a:latin typeface="Cascadia Mono" panose="020B0609020000020004" pitchFamily="49" charset="0"/>
              </a:rPr>
              <a:t>&gt;() { 10, 20, 30, 40, 50 };</a:t>
            </a:r>
          </a:p>
          <a:p>
            <a:r>
              <a:rPr lang="en-US" sz="1000" dirty="0">
                <a:solidFill>
                  <a:srgbClr val="000000"/>
                </a:solidFill>
                <a:latin typeface="Cascadia Mono" panose="020B0609020000020004" pitchFamily="49" charset="0"/>
              </a:rPr>
              <a:t>            var </a:t>
            </a:r>
            <a:r>
              <a:rPr lang="en-US" sz="1000" dirty="0">
                <a:solidFill>
                  <a:srgbClr val="000000"/>
                </a:solidFill>
                <a:highlight>
                  <a:srgbClr val="FFFF00"/>
                </a:highlight>
                <a:latin typeface="Cascadia Mono" panose="020B0609020000020004" pitchFamily="49" charset="0"/>
              </a:rPr>
              <a:t>(</a:t>
            </a:r>
            <a:r>
              <a:rPr lang="en-US" sz="1000" dirty="0" err="1">
                <a:solidFill>
                  <a:srgbClr val="000000"/>
                </a:solidFill>
                <a:highlight>
                  <a:srgbClr val="FFFF00"/>
                </a:highlight>
                <a:latin typeface="Cascadia Mono" panose="020B0609020000020004" pitchFamily="49" charset="0"/>
              </a:rPr>
              <a:t>countResult</a:t>
            </a:r>
            <a:r>
              <a:rPr lang="en-US" sz="1000" dirty="0">
                <a:solidFill>
                  <a:srgbClr val="000000"/>
                </a:solidFill>
                <a:highlight>
                  <a:srgbClr val="FFFF00"/>
                </a:highlight>
                <a:latin typeface="Cascadia Mono" panose="020B0609020000020004" pitchFamily="49" charset="0"/>
              </a:rPr>
              <a:t>, </a:t>
            </a:r>
            <a:r>
              <a:rPr lang="en-US" sz="1000" dirty="0" err="1">
                <a:solidFill>
                  <a:srgbClr val="000000"/>
                </a:solidFill>
                <a:highlight>
                  <a:srgbClr val="FFFF00"/>
                </a:highlight>
                <a:latin typeface="Cascadia Mono" panose="020B0609020000020004" pitchFamily="49" charset="0"/>
              </a:rPr>
              <a:t>SumResult</a:t>
            </a:r>
            <a:r>
              <a:rPr lang="en-US" sz="1000" dirty="0">
                <a:solidFill>
                  <a:srgbClr val="000000"/>
                </a:solidFill>
                <a:highlight>
                  <a:srgbClr val="FFFF00"/>
                </a:highlight>
                <a:latin typeface="Cascadia Mono" panose="020B0609020000020004" pitchFamily="49" charset="0"/>
              </a:rPr>
              <a:t>) </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Calulate</a:t>
            </a:r>
            <a:r>
              <a:rPr lang="en-US" sz="1000" dirty="0">
                <a:solidFill>
                  <a:srgbClr val="000000"/>
                </a:solidFill>
                <a:latin typeface="Cascadia Mono" panose="020B0609020000020004" pitchFamily="49" charset="0"/>
              </a:rPr>
              <a:t>(values);</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Console.WriteLine</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$"There are </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countResult</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 values and their sum is </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SumResult</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Console.ReadKey</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private</a:t>
            </a:r>
            <a:r>
              <a:rPr lang="en-IN" sz="1000" dirty="0">
                <a:solidFill>
                  <a:srgbClr val="000000"/>
                </a:solidFill>
                <a:latin typeface="Cascadia Mono" panose="020B0609020000020004" pitchFamily="49" charset="0"/>
              </a:rPr>
              <a:t> </a:t>
            </a:r>
            <a:r>
              <a:rPr lang="en-IN" sz="1000" dirty="0">
                <a:solidFill>
                  <a:srgbClr val="0000FF"/>
                </a:solidFill>
                <a:highlight>
                  <a:srgbClr val="FFFF00"/>
                </a:highlight>
                <a:latin typeface="Cascadia Mono" panose="020B0609020000020004" pitchFamily="49" charset="0"/>
              </a:rPr>
              <a:t>static</a:t>
            </a:r>
            <a:r>
              <a:rPr lang="en-IN" sz="1000" dirty="0">
                <a:solidFill>
                  <a:srgbClr val="000000"/>
                </a:solidFill>
                <a:highlight>
                  <a:srgbClr val="FFFF00"/>
                </a:highlight>
                <a:latin typeface="Cascadia Mono" panose="020B0609020000020004" pitchFamily="49" charset="0"/>
              </a:rPr>
              <a:t> (</a:t>
            </a:r>
            <a:r>
              <a:rPr lang="en-IN" sz="1000" dirty="0">
                <a:solidFill>
                  <a:srgbClr val="0000FF"/>
                </a:solidFill>
                <a:highlight>
                  <a:srgbClr val="FFFF00"/>
                </a:highlight>
                <a:latin typeface="Cascadia Mono" panose="020B0609020000020004" pitchFamily="49" charset="0"/>
              </a:rPr>
              <a:t>int</a:t>
            </a:r>
            <a:r>
              <a:rPr lang="en-IN" sz="1000" dirty="0">
                <a:solidFill>
                  <a:srgbClr val="000000"/>
                </a:solidFill>
                <a:highlight>
                  <a:srgbClr val="FFFF00"/>
                </a:highlight>
                <a:latin typeface="Cascadia Mono" panose="020B0609020000020004" pitchFamily="49" charset="0"/>
              </a:rPr>
              <a:t> count, </a:t>
            </a:r>
            <a:r>
              <a:rPr lang="en-IN" sz="1000" dirty="0">
                <a:solidFill>
                  <a:srgbClr val="0000FF"/>
                </a:solidFill>
                <a:highlight>
                  <a:srgbClr val="FFFF00"/>
                </a:highlight>
                <a:latin typeface="Cascadia Mono" panose="020B0609020000020004" pitchFamily="49" charset="0"/>
              </a:rPr>
              <a:t>double</a:t>
            </a:r>
            <a:r>
              <a:rPr lang="en-IN" sz="1000" dirty="0">
                <a:solidFill>
                  <a:srgbClr val="000000"/>
                </a:solidFill>
                <a:highlight>
                  <a:srgbClr val="FFFF00"/>
                </a:highlight>
                <a:latin typeface="Cascadia Mono" panose="020B0609020000020004" pitchFamily="49" charset="0"/>
              </a:rPr>
              <a:t> sum) </a:t>
            </a:r>
            <a:r>
              <a:rPr lang="en-IN" sz="1000" dirty="0" err="1">
                <a:solidFill>
                  <a:srgbClr val="000000"/>
                </a:solidFill>
                <a:latin typeface="Cascadia Mono" panose="020B0609020000020004" pitchFamily="49" charset="0"/>
              </a:rPr>
              <a:t>Calulate</a:t>
            </a:r>
            <a:r>
              <a:rPr lang="en-IN" sz="1000" dirty="0">
                <a:solidFill>
                  <a:srgbClr val="000000"/>
                </a:solidFill>
                <a:latin typeface="Cascadia Mono" panose="020B0609020000020004" pitchFamily="49" charset="0"/>
              </a:rPr>
              <a:t>(</a:t>
            </a:r>
            <a:r>
              <a:rPr lang="en-IN" sz="1000" dirty="0" err="1">
                <a:solidFill>
                  <a:srgbClr val="000000"/>
                </a:solidFill>
                <a:latin typeface="Cascadia Mono" panose="020B0609020000020004" pitchFamily="49" charset="0"/>
              </a:rPr>
              <a:t>IEnumerable</a:t>
            </a:r>
            <a:r>
              <a:rPr lang="en-IN" sz="1000" dirty="0">
                <a:solidFill>
                  <a:srgbClr val="000000"/>
                </a:solidFill>
                <a:latin typeface="Cascadia Mono" panose="020B0609020000020004" pitchFamily="49" charset="0"/>
              </a:rPr>
              <a:t>&lt;</a:t>
            </a:r>
            <a:r>
              <a:rPr lang="en-IN" sz="1000" dirty="0">
                <a:solidFill>
                  <a:srgbClr val="0000FF"/>
                </a:solidFill>
                <a:latin typeface="Cascadia Mono" panose="020B0609020000020004" pitchFamily="49" charset="0"/>
              </a:rPr>
              <a:t>double</a:t>
            </a:r>
            <a:r>
              <a:rPr lang="en-IN" sz="1000" dirty="0">
                <a:solidFill>
                  <a:srgbClr val="000000"/>
                </a:solidFill>
                <a:latin typeface="Cascadia Mono" panose="020B0609020000020004" pitchFamily="49" charset="0"/>
              </a:rPr>
              <a:t>&gt; values)</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int</a:t>
            </a:r>
            <a:r>
              <a:rPr lang="en-IN" sz="1000" dirty="0">
                <a:solidFill>
                  <a:srgbClr val="000000"/>
                </a:solidFill>
                <a:latin typeface="Cascadia Mono" panose="020B0609020000020004" pitchFamily="49" charset="0"/>
              </a:rPr>
              <a:t> count = 0;</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double</a:t>
            </a:r>
            <a:r>
              <a:rPr lang="en-IN" sz="1000" dirty="0">
                <a:solidFill>
                  <a:srgbClr val="000000"/>
                </a:solidFill>
                <a:latin typeface="Cascadia Mono" panose="020B0609020000020004" pitchFamily="49" charset="0"/>
              </a:rPr>
              <a:t> sum = 0.0;</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foreach</a:t>
            </a:r>
            <a:r>
              <a:rPr lang="en-US" sz="1000" dirty="0">
                <a:solidFill>
                  <a:srgbClr val="000000"/>
                </a:solidFill>
                <a:latin typeface="Cascadia Mono" panose="020B0609020000020004" pitchFamily="49" charset="0"/>
              </a:rPr>
              <a:t> (var value </a:t>
            </a:r>
            <a:r>
              <a:rPr lang="en-US" sz="1000" dirty="0">
                <a:solidFill>
                  <a:srgbClr val="0000FF"/>
                </a:solidFill>
                <a:latin typeface="Cascadia Mono" panose="020B0609020000020004" pitchFamily="49" charset="0"/>
              </a:rPr>
              <a:t>in</a:t>
            </a:r>
            <a:r>
              <a:rPr lang="en-US" sz="1000" dirty="0">
                <a:solidFill>
                  <a:srgbClr val="000000"/>
                </a:solidFill>
                <a:latin typeface="Cascadia Mono" panose="020B0609020000020004" pitchFamily="49" charset="0"/>
              </a:rPr>
              <a:t> values)</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count++;</a:t>
            </a:r>
          </a:p>
          <a:p>
            <a:r>
              <a:rPr lang="en-IN" sz="1000" dirty="0">
                <a:solidFill>
                  <a:srgbClr val="000000"/>
                </a:solidFill>
                <a:latin typeface="Cascadia Mono" panose="020B0609020000020004" pitchFamily="49" charset="0"/>
              </a:rPr>
              <a:t>                sum += value;</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return</a:t>
            </a:r>
            <a:r>
              <a:rPr lang="en-IN" sz="1000" dirty="0">
                <a:solidFill>
                  <a:srgbClr val="000000"/>
                </a:solidFill>
                <a:latin typeface="Cascadia Mono" panose="020B0609020000020004" pitchFamily="49" charset="0"/>
              </a:rPr>
              <a:t> </a:t>
            </a:r>
            <a:r>
              <a:rPr lang="en-IN" sz="1000" dirty="0">
                <a:solidFill>
                  <a:srgbClr val="000000"/>
                </a:solidFill>
                <a:highlight>
                  <a:srgbClr val="FFFF00"/>
                </a:highlight>
                <a:latin typeface="Cascadia Mono" panose="020B0609020000020004" pitchFamily="49" charset="0"/>
              </a:rPr>
              <a:t>(count, sum);</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1526485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204BDC-5181-938C-40B9-662ADA4FC696}"/>
              </a:ext>
            </a:extLst>
          </p:cNvPr>
          <p:cNvSpPr txBox="1"/>
          <p:nvPr/>
        </p:nvSpPr>
        <p:spPr>
          <a:xfrm>
            <a:off x="1571" y="114742"/>
            <a:ext cx="11423715" cy="4106381"/>
          </a:xfrm>
          <a:prstGeom prst="rect">
            <a:avLst/>
          </a:prstGeom>
          <a:noFill/>
        </p:spPr>
        <p:txBody>
          <a:bodyPr wrap="square">
            <a:spAutoFit/>
          </a:bodyPr>
          <a:lstStyle/>
          <a:p>
            <a:pPr algn="just" fontAlgn="base">
              <a:lnSpc>
                <a:spcPct val="107000"/>
              </a:lnSpc>
              <a:spcAft>
                <a:spcPts val="800"/>
              </a:spcAft>
            </a:pP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Guidelines to use Tuples: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Basically, one and the most important question that comes to our mind is when to use Tuples and when to use Classes to return more than one values from a method in C#.</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answer is it depends on the business requirement. However, there are some guidelines and rules that you need to follow which will guide you to choose between them: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Tuples in C# 7 are values, so they are copied by value, rather than by reference.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Most of the time, this should not be an issue. However, if you are passing around tuples of large structs, this might have an impact on the performance of the application. Ref locals/returns can be used to work around these performance issues that we will discuss in our upcoming articles. As the tuples in C# 7 are values, so modifying a copy will not change the original copy.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Just use common sense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For any situation where you might consider using a tuple: simply ask yourself the question: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will a tuple simplify the code here</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If the answer is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yes</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then use a tuple. And that ultimately is the primary consideration over whether to use a tuple or a custom class.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400" dirty="0">
                <a:solidFill>
                  <a:srgbClr val="000000"/>
                </a:solidFill>
                <a:effectLst/>
                <a:latin typeface="Arial" panose="020B0604020202020204" pitchFamily="34" charset="0"/>
                <a:ea typeface="Times New Roman" panose="02020603050405020304" pitchFamily="18" charset="0"/>
              </a:rPr>
              <a:t>So in the simple word we can say that Tuple is an ordered sequence of heterogeneous objects. The Tuples in C# are going to be used when a method is going to return more than one values</a:t>
            </a:r>
            <a:endParaRPr lang="en-IN" sz="2400" dirty="0"/>
          </a:p>
        </p:txBody>
      </p:sp>
    </p:spTree>
    <p:extLst>
      <p:ext uri="{BB962C8B-B14F-4D97-AF65-F5344CB8AC3E}">
        <p14:creationId xmlns:p14="http://schemas.microsoft.com/office/powerpoint/2010/main" val="2264915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1581</Words>
  <Application>Microsoft Office PowerPoint</Application>
  <PresentationFormat>Widescreen</PresentationFormat>
  <Paragraphs>134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Cascadia Mono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10</cp:revision>
  <dcterms:created xsi:type="dcterms:W3CDTF">2023-02-08T12:32:51Z</dcterms:created>
  <dcterms:modified xsi:type="dcterms:W3CDTF">2024-10-17T13:55:13Z</dcterms:modified>
</cp:coreProperties>
</file>