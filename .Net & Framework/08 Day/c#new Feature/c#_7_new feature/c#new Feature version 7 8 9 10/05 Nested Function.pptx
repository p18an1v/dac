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960FA1-2A79-6EEA-5CCD-10D677458A5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517912-7C11-33DA-23BF-B67402B2481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FA78A3D-8313-3376-B0AA-0AD97325E760}"/>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88EB3EB9-151D-76CC-D279-9A64DEB889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4D8EF8-F92E-E4E3-CD76-E01AD7460C9B}"/>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6671428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0CC17-1747-C19F-CC5F-41D1279CA3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4AEFA2D-7535-A477-BC3B-03FF509B7FE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A3A2C9-EBA6-AF88-F013-D534ED3CF438}"/>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D91CF235-E579-17D2-D611-5F7D4AF6262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F65478D-2DD0-9D70-8FF5-C84B2B8CAF73}"/>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3085048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D14FA6-9FAC-1FED-96F2-5F6A1D6DECE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51FA9D9-5876-5929-5449-20AD22F0BE0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AE8EDC6-6DED-A007-B0A6-BB090D4AB8DA}"/>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37AD6766-BF51-876B-482F-B0E701A3CC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AD1CE32-EED8-7F06-7DAA-F0E2639075A8}"/>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2239410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1337D-6B6E-4671-8BC5-854AFA4F121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6A2575-4F02-8CC7-4DB5-F8388CF5B93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2B305DF-F5AB-5E3C-58E8-9B74ECB0FF6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BAC4508-99F0-7216-B252-A2BFDE3FB100}"/>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6" name="Footer Placeholder 5">
            <a:extLst>
              <a:ext uri="{FF2B5EF4-FFF2-40B4-BE49-F238E27FC236}">
                <a16:creationId xmlns:a16="http://schemas.microsoft.com/office/drawing/2014/main" id="{09B2B9D2-C59C-BB34-373A-A40A7BA354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6E5E1D1-036E-3B37-0C7D-3418864684B1}"/>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30520680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13AE-7724-CEEF-EBF5-F9A78AC407DE}"/>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DCA7220-A4EF-5B8D-B24A-7E2B6BE011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91729B-F526-6B70-BD7B-D57AE534BD7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CB358AE-4215-4A31-CBC5-9CFAAEB805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3A20E4E-1ACD-FF80-3159-E746336FCD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AB2F1D3-B9DE-9ACB-B829-429FB84EA01C}"/>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8" name="Footer Placeholder 7">
            <a:extLst>
              <a:ext uri="{FF2B5EF4-FFF2-40B4-BE49-F238E27FC236}">
                <a16:creationId xmlns:a16="http://schemas.microsoft.com/office/drawing/2014/main" id="{5FFC8185-7AC5-6C42-4485-84D681A8386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8A598D6-B6D1-6576-82DE-734F34F78EC0}"/>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3036279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8F365D-646B-B653-E433-A29E2A440A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C4FF747-B201-E856-6B6B-AB70B39DD8A5}"/>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4" name="Footer Placeholder 3">
            <a:extLst>
              <a:ext uri="{FF2B5EF4-FFF2-40B4-BE49-F238E27FC236}">
                <a16:creationId xmlns:a16="http://schemas.microsoft.com/office/drawing/2014/main" id="{920AA439-1D12-4EAA-CD99-946F336B4B9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FF9D8FD-E08F-8A68-FFFB-8A57C9C00357}"/>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3104168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A5B4FF-EF8B-33C2-2594-5F187F944432}"/>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3" name="Footer Placeholder 2">
            <a:extLst>
              <a:ext uri="{FF2B5EF4-FFF2-40B4-BE49-F238E27FC236}">
                <a16:creationId xmlns:a16="http://schemas.microsoft.com/office/drawing/2014/main" id="{9F09309B-A03A-E90A-39FC-2D96C0B25B6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D3D2D01-20C2-7959-C056-62E491040A14}"/>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9658719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E47A5-5B76-6141-9EDE-F84F648782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D78C3DC-83D6-CBD8-9C7E-AD0AED76AD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39BC399-C0E5-A4E5-1E8A-8FB4561F41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744485E-77ED-2C17-E94B-F23F2C9DDD40}"/>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6" name="Footer Placeholder 5">
            <a:extLst>
              <a:ext uri="{FF2B5EF4-FFF2-40B4-BE49-F238E27FC236}">
                <a16:creationId xmlns:a16="http://schemas.microsoft.com/office/drawing/2014/main" id="{C719DA17-B0E0-0BD9-D14F-7D25DC9FA1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935519-B2C3-2916-C182-1A8C0CFB6083}"/>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372363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B76B0-8E43-D422-2115-527FC751494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76F02F7-4B3D-F2FC-951B-F47E8F76AD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C39796-DB16-14CD-87DA-287E5B2D5C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D9E747-50C5-0ABD-E0E6-81DBB253AAB4}"/>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6" name="Footer Placeholder 5">
            <a:extLst>
              <a:ext uri="{FF2B5EF4-FFF2-40B4-BE49-F238E27FC236}">
                <a16:creationId xmlns:a16="http://schemas.microsoft.com/office/drawing/2014/main" id="{59932051-EB5D-CC5C-088A-781ACCBDB2D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C154FB8-13AA-C9A4-3B5F-2D7CBDC506C5}"/>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1050845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75A77-C436-7A2B-FB73-F67BA91EDC6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F3FDEE8-516E-5002-1822-5FAC22F551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D073D0-708D-20F7-ECEC-0A18FCAE0267}"/>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306D985B-9176-530B-F890-BA833EAC8A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7F7E68-BF0E-3500-A9F7-F67197F06674}"/>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105796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A1D2658-BC27-C17C-34AE-6EA7E38B2FF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34BC43E-93ED-4452-580D-4B327E9456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80CBE30-A265-B5F4-2D75-1F4B44FC0CDE}"/>
              </a:ext>
            </a:extLst>
          </p:cNvPr>
          <p:cNvSpPr>
            <a:spLocks noGrp="1"/>
          </p:cNvSpPr>
          <p:nvPr>
            <p:ph type="dt" sz="half" idx="10"/>
          </p:nvPr>
        </p:nvSpPr>
        <p:spPr/>
        <p:txBody>
          <a:body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14E3C64A-5629-EA8A-180D-8E9C0E520C9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122AE2-36D6-4DC9-B740-03FAB7EA681E}"/>
              </a:ext>
            </a:extLst>
          </p:cNvPr>
          <p:cNvSpPr>
            <a:spLocks noGrp="1"/>
          </p:cNvSpPr>
          <p:nvPr>
            <p:ph type="sldNum" sz="quarter" idx="12"/>
          </p:nvPr>
        </p:nvSpPr>
        <p:spPr/>
        <p:txBody>
          <a:bodyPr/>
          <a:lstStyle/>
          <a:p>
            <a:fld id="{F64E8B4B-B9A0-4E80-9B0D-0ED44F866D5B}" type="slidenum">
              <a:rPr lang="en-IN" smtClean="0"/>
              <a:t>‹#›</a:t>
            </a:fld>
            <a:endParaRPr lang="en-IN"/>
          </a:p>
        </p:txBody>
      </p:sp>
    </p:spTree>
    <p:extLst>
      <p:ext uri="{BB962C8B-B14F-4D97-AF65-F5344CB8AC3E}">
        <p14:creationId xmlns:p14="http://schemas.microsoft.com/office/powerpoint/2010/main" val="1366253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A60FE7-58E3-1F49-FBC0-6B1EB58A03B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0DE2290-0E7D-B28C-89CA-1530AB8C6DE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73874C5-3D42-1169-7792-B673A99D39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D9B6E8-6BDD-4518-8830-1B6F635EFBE9}" type="datetimeFigureOut">
              <a:rPr lang="en-IN" smtClean="0"/>
              <a:t>08-02-2023</a:t>
            </a:fld>
            <a:endParaRPr lang="en-IN"/>
          </a:p>
        </p:txBody>
      </p:sp>
      <p:sp>
        <p:nvSpPr>
          <p:cNvPr id="5" name="Footer Placeholder 4">
            <a:extLst>
              <a:ext uri="{FF2B5EF4-FFF2-40B4-BE49-F238E27FC236}">
                <a16:creationId xmlns:a16="http://schemas.microsoft.com/office/drawing/2014/main" id="{644B32ED-ECE7-D74E-74FC-1C5949A0EE1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39DA3B0-D6A1-7D19-5DB3-279FC44566C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4E8B4B-B9A0-4E80-9B0D-0ED44F866D5B}" type="slidenum">
              <a:rPr lang="en-IN" smtClean="0"/>
              <a:t>‹#›</a:t>
            </a:fld>
            <a:endParaRPr lang="en-IN"/>
          </a:p>
        </p:txBody>
      </p:sp>
    </p:spTree>
    <p:extLst>
      <p:ext uri="{BB962C8B-B14F-4D97-AF65-F5344CB8AC3E}">
        <p14:creationId xmlns:p14="http://schemas.microsoft.com/office/powerpoint/2010/main" val="11173663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4D650C-B790-3481-C8B3-423F7138AFB6}"/>
              </a:ext>
            </a:extLst>
          </p:cNvPr>
          <p:cNvSpPr txBox="1"/>
          <p:nvPr/>
        </p:nvSpPr>
        <p:spPr>
          <a:xfrm>
            <a:off x="235669" y="365772"/>
            <a:ext cx="10821971" cy="3987695"/>
          </a:xfrm>
          <a:prstGeom prst="rect">
            <a:avLst/>
          </a:prstGeom>
          <a:noFill/>
        </p:spPr>
        <p:txBody>
          <a:bodyPr wrap="square">
            <a:spAutoFit/>
          </a:bodyPr>
          <a:lstStyle/>
          <a:p>
            <a:pPr fontAlgn="base">
              <a:lnSpc>
                <a:spcPct val="107000"/>
              </a:lnSpc>
              <a:spcAft>
                <a:spcPts val="800"/>
              </a:spcAft>
            </a:pPr>
            <a:r>
              <a:rPr lang="en-IN"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What are Local Functions in 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6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Local Functions </a:t>
            </a:r>
            <a:r>
              <a:rPr lang="en-IN" sz="16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are the special kind of inner function or you can say sub-function or function within a function that can be declared and defined by the parent function. These methods or functions are the private methods for their containing type and are only called by their parent method. </a:t>
            </a:r>
          </a:p>
          <a:p>
            <a:pPr algn="just" fontAlgn="base">
              <a:lnSpc>
                <a:spcPct val="107000"/>
              </a:lnSpc>
              <a:spcAft>
                <a:spcPts val="800"/>
              </a:spcAft>
            </a:pP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Why do we need Local Functions in C#?</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6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If you want to execute some piece of code multiple times within a method then you can put those code as an inner function or you can say local function within that method. Then call that local function whenever required from the parent method. Some of the examples where we can create local functions are as follows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6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Small helper functions to be used several times within the main or parent method.</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6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Parameter validation functions for any iterators or asynchronous methods.</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r>
              <a:rPr lang="en-IN" sz="1600" dirty="0">
                <a:solidFill>
                  <a:srgbClr val="000000"/>
                </a:solidFill>
                <a:effectLst/>
                <a:latin typeface="Arial" panose="020B0604020202020204" pitchFamily="34" charset="0"/>
                <a:ea typeface="Times New Roman" panose="02020603050405020304" pitchFamily="18" charset="0"/>
              </a:rPr>
              <a:t>An alternate to recursive functions as local function comparatively takes less memory due to the reduced call stack</a:t>
            </a:r>
            <a:endParaRPr lang="en-IN" sz="1600" dirty="0"/>
          </a:p>
        </p:txBody>
      </p:sp>
      <p:sp>
        <p:nvSpPr>
          <p:cNvPr id="7" name="TextBox 6">
            <a:extLst>
              <a:ext uri="{FF2B5EF4-FFF2-40B4-BE49-F238E27FC236}">
                <a16:creationId xmlns:a16="http://schemas.microsoft.com/office/drawing/2014/main" id="{40F1E1B3-9C84-0718-6CDC-20812BE92DB5}"/>
              </a:ext>
            </a:extLst>
          </p:cNvPr>
          <p:cNvSpPr txBox="1"/>
          <p:nvPr/>
        </p:nvSpPr>
        <p:spPr>
          <a:xfrm>
            <a:off x="235669" y="4441226"/>
            <a:ext cx="11462995" cy="2240229"/>
          </a:xfrm>
          <a:prstGeom prst="rect">
            <a:avLst/>
          </a:prstGeom>
          <a:noFill/>
        </p:spPr>
        <p:txBody>
          <a:bodyPr wrap="square">
            <a:spAutoFit/>
          </a:bodyPr>
          <a:lstStyle/>
          <a:p>
            <a:pPr algn="just" fontAlgn="base">
              <a:lnSpc>
                <a:spcPct val="107000"/>
              </a:lnSpc>
              <a:spcAft>
                <a:spcPts val="800"/>
              </a:spcAft>
            </a:pPr>
            <a:r>
              <a:rPr lang="en-IN" sz="16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Points to Remember while working with Local Functions: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following points you need to keep in mind while working with the Local Functions.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You can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not overload a Local</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Function in C#</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Accessibility modifiers</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such as public, private, protected are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not allowed</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The compiler will issue </a:t>
            </a:r>
            <a:r>
              <a:rPr lang="en-IN" sz="14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 warning</a:t>
            </a: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if the local function is not used by the parent function as there is no meaning of defining a local function in C# if it is not being used by the parent method.</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fontAlgn="base">
              <a:lnSpc>
                <a:spcPct val="107000"/>
              </a:lnSpc>
              <a:spcAft>
                <a:spcPts val="800"/>
              </a:spcAft>
              <a:buFont typeface="+mj-lt"/>
              <a:buAutoNum type="arabicPeriod"/>
              <a:tabLst>
                <a:tab pos="457200" algn="l"/>
              </a:tabLst>
            </a:pPr>
            <a:r>
              <a:rPr lang="en-IN" sz="14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All variables in the enclosing scope, including local variables, can be accessed</a:t>
            </a:r>
            <a:endParaRPr lang="en-IN" sz="1400" dirty="0">
              <a:solidFill>
                <a:srgbClr val="212529"/>
              </a:solidFill>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075884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F834DF-1CB6-E075-E09C-133E747B34C5}"/>
              </a:ext>
            </a:extLst>
          </p:cNvPr>
          <p:cNvSpPr txBox="1"/>
          <p:nvPr/>
        </p:nvSpPr>
        <p:spPr>
          <a:xfrm>
            <a:off x="0" y="0"/>
            <a:ext cx="5429839" cy="1227067"/>
          </a:xfrm>
          <a:prstGeom prst="rect">
            <a:avLst/>
          </a:prstGeom>
          <a:noFill/>
        </p:spPr>
        <p:txBody>
          <a:bodyPr wrap="square">
            <a:spAutoFit/>
          </a:bodyPr>
          <a:lstStyle/>
          <a:p>
            <a:pPr algn="just" fontAlgn="base">
              <a:lnSpc>
                <a:spcPct val="107000"/>
              </a:lnSpc>
              <a:spcAft>
                <a:spcPts val="800"/>
              </a:spcAft>
            </a:pP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Let us understand the use of Local Functions in C# with one real-time example.</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2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Real-Time Example of Local Functions in C#. The Parameter validation scenario</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800"/>
              </a:spcAft>
            </a:pP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In the following example, the</a:t>
            </a:r>
            <a:r>
              <a:rPr lang="en-IN" sz="11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a:t>
            </a:r>
            <a:r>
              <a:rPr lang="en-IN" sz="11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IsRequestValid</a:t>
            </a: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local function is used to validate the parameters of the </a:t>
            </a:r>
            <a:r>
              <a:rPr lang="en-IN" sz="1100" b="1" dirty="0" err="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AddEmployee</a:t>
            </a:r>
            <a:r>
              <a:rPr lang="en-IN" sz="11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function.</a:t>
            </a:r>
            <a:endParaRPr lang="en-IN" sz="105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B37DD6C0-1EDA-7BDA-99D7-49D626B3B26D}"/>
              </a:ext>
            </a:extLst>
          </p:cNvPr>
          <p:cNvSpPr txBox="1"/>
          <p:nvPr/>
        </p:nvSpPr>
        <p:spPr>
          <a:xfrm>
            <a:off x="96626" y="863954"/>
            <a:ext cx="4645056" cy="3970318"/>
          </a:xfrm>
          <a:prstGeom prst="rect">
            <a:avLst/>
          </a:prstGeom>
          <a:noFill/>
        </p:spPr>
        <p:txBody>
          <a:bodyPr wrap="square">
            <a:spAutoFit/>
          </a:bodyPr>
          <a:lstStyle/>
          <a:p>
            <a:endParaRPr lang="en-IN" sz="900" dirty="0">
              <a:solidFill>
                <a:srgbClr val="000000"/>
              </a:solidFill>
              <a:latin typeface="Cascadia Mono" panose="020B0609020000020004" pitchFamily="49" charset="0"/>
            </a:endParaRPr>
          </a:p>
          <a:p>
            <a:r>
              <a:rPr lang="en-IN" sz="900" dirty="0">
                <a:solidFill>
                  <a:srgbClr val="0000FF"/>
                </a:solidFill>
                <a:latin typeface="Cascadia Mono" panose="020B0609020000020004" pitchFamily="49" charset="0"/>
              </a:rPr>
              <a:t>class</a:t>
            </a:r>
            <a:r>
              <a:rPr lang="en-IN" sz="900" dirty="0">
                <a:solidFill>
                  <a:srgbClr val="000000"/>
                </a:solidFill>
                <a:latin typeface="Cascadia Mono" panose="020B0609020000020004" pitchFamily="49" charset="0"/>
              </a:rPr>
              <a:t> </a:t>
            </a:r>
            <a:r>
              <a:rPr lang="en-IN" sz="900" dirty="0">
                <a:solidFill>
                  <a:srgbClr val="2B91AF"/>
                </a:solidFill>
                <a:latin typeface="Cascadia Mono" panose="020B0609020000020004" pitchFamily="49" charset="0"/>
              </a:rPr>
              <a:t>Program</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static</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void</a:t>
            </a:r>
            <a:r>
              <a:rPr lang="en-IN" sz="900" dirty="0">
                <a:solidFill>
                  <a:srgbClr val="000000"/>
                </a:solidFill>
                <a:latin typeface="Cascadia Mono" panose="020B0609020000020004" pitchFamily="49" charset="0"/>
              </a:rPr>
              <a:t> Main()</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Employee employe1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Employee()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Id = 1001,</a:t>
            </a:r>
          </a:p>
          <a:p>
            <a:r>
              <a:rPr lang="en-IN" sz="900" dirty="0">
                <a:solidFill>
                  <a:srgbClr val="000000"/>
                </a:solidFill>
                <a:latin typeface="Cascadia Mono" panose="020B0609020000020004" pitchFamily="49" charset="0"/>
              </a:rPr>
              <a:t>            Name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Pranaya</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Gender = </a:t>
            </a:r>
            <a:r>
              <a:rPr lang="en-IN" sz="900" dirty="0">
                <a:solidFill>
                  <a:srgbClr val="A31515"/>
                </a:solidFill>
                <a:latin typeface="Cascadia Mono" panose="020B0609020000020004" pitchFamily="49" charset="0"/>
              </a:rPr>
              <a:t>"Male"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Salary = 1000,</a:t>
            </a:r>
          </a:p>
          <a:p>
            <a:r>
              <a:rPr lang="en-IN" sz="900" dirty="0">
                <a:solidFill>
                  <a:srgbClr val="000000"/>
                </a:solidFill>
                <a:latin typeface="Cascadia Mono" panose="020B0609020000020004" pitchFamily="49" charset="0"/>
              </a:rPr>
              <a:t>            Department = </a:t>
            </a:r>
            <a:r>
              <a:rPr lang="en-IN" sz="900" dirty="0">
                <a:solidFill>
                  <a:srgbClr val="A31515"/>
                </a:solidFill>
                <a:latin typeface="Cascadia Mono" panose="020B0609020000020004" pitchFamily="49" charset="0"/>
              </a:rPr>
              <a:t>"IT"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bool</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IsInserted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AddEmployee</a:t>
            </a:r>
            <a:r>
              <a:rPr lang="en-IN" sz="900" dirty="0">
                <a:solidFill>
                  <a:srgbClr val="000000"/>
                </a:solidFill>
                <a:latin typeface="Cascadia Mono" panose="020B0609020000020004" pitchFamily="49" charset="0"/>
              </a:rPr>
              <a:t>(employe1);</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"Is Employee with id 1001 inserted: { 0}"</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IsInserted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Employee employee2 = </a:t>
            </a:r>
            <a:r>
              <a:rPr lang="en-IN" sz="900" dirty="0">
                <a:solidFill>
                  <a:srgbClr val="0000FF"/>
                </a:solidFill>
                <a:latin typeface="Cascadia Mono" panose="020B0609020000020004" pitchFamily="49" charset="0"/>
              </a:rPr>
              <a:t>new</a:t>
            </a:r>
            <a:r>
              <a:rPr lang="en-IN" sz="900" dirty="0">
                <a:solidFill>
                  <a:srgbClr val="000000"/>
                </a:solidFill>
                <a:latin typeface="Cascadia Mono" panose="020B0609020000020004" pitchFamily="49" charset="0"/>
              </a:rPr>
              <a:t> Employee()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Id = 1001,</a:t>
            </a:r>
          </a:p>
          <a:p>
            <a:r>
              <a:rPr lang="en-IN" sz="900" dirty="0">
                <a:solidFill>
                  <a:srgbClr val="000000"/>
                </a:solidFill>
                <a:latin typeface="Cascadia Mono" panose="020B0609020000020004" pitchFamily="49" charset="0"/>
              </a:rPr>
              <a:t>            Name = </a:t>
            </a:r>
            <a:r>
              <a:rPr lang="en-IN" sz="900" dirty="0">
                <a:solidFill>
                  <a:srgbClr val="A31515"/>
                </a:solidFill>
                <a:latin typeface="Cascadia Mono" panose="020B0609020000020004" pitchFamily="49" charset="0"/>
              </a:rPr>
              <a:t>"</a:t>
            </a:r>
            <a:r>
              <a:rPr lang="en-IN" sz="900" dirty="0" err="1">
                <a:solidFill>
                  <a:srgbClr val="A31515"/>
                </a:solidFill>
                <a:latin typeface="Cascadia Mono" panose="020B0609020000020004" pitchFamily="49" charset="0"/>
              </a:rPr>
              <a:t>Pranaya</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Department = </a:t>
            </a:r>
            <a:r>
              <a:rPr lang="en-IN" sz="900" dirty="0">
                <a:solidFill>
                  <a:srgbClr val="A31515"/>
                </a:solidFill>
                <a:latin typeface="Cascadia Mono" panose="020B0609020000020004" pitchFamily="49" charset="0"/>
              </a:rPr>
              <a:t>"IT"</a:t>
            </a:r>
            <a:endParaRPr lang="en-IN"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IsInserted</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AddEmployee</a:t>
            </a:r>
            <a:r>
              <a:rPr lang="en-IN" sz="900" dirty="0">
                <a:solidFill>
                  <a:srgbClr val="000000"/>
                </a:solidFill>
                <a:latin typeface="Cascadia Mono" panose="020B0609020000020004" pitchFamily="49" charset="0"/>
              </a:rPr>
              <a:t>(employee2);</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"Is Employee with id 1002 inserted: { 0}"</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IsInserted</a:t>
            </a:r>
            <a:r>
              <a:rPr lang="en-US"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Console.WriteLine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"Press any key to exit."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Console.ReadKey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endParaRPr lang="en-IN" dirty="0"/>
          </a:p>
        </p:txBody>
      </p:sp>
      <p:sp>
        <p:nvSpPr>
          <p:cNvPr id="9" name="TextBox 8">
            <a:extLst>
              <a:ext uri="{FF2B5EF4-FFF2-40B4-BE49-F238E27FC236}">
                <a16:creationId xmlns:a16="http://schemas.microsoft.com/office/drawing/2014/main" id="{5EA1B6A1-4627-7D17-FFE9-87AF2DB0B252}"/>
              </a:ext>
            </a:extLst>
          </p:cNvPr>
          <p:cNvSpPr txBox="1"/>
          <p:nvPr/>
        </p:nvSpPr>
        <p:spPr>
          <a:xfrm>
            <a:off x="4838308" y="0"/>
            <a:ext cx="7473883" cy="7432804"/>
          </a:xfrm>
          <a:prstGeom prst="rect">
            <a:avLst/>
          </a:prstGeom>
          <a:noFill/>
        </p:spPr>
        <p:txBody>
          <a:bodyPr wrap="square">
            <a:spAutoFit/>
          </a:bodyPr>
          <a:lstStyle/>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public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static</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bool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AddEmployee</a:t>
            </a:r>
            <a:r>
              <a:rPr lang="en-US" sz="900" dirty="0">
                <a:solidFill>
                  <a:srgbClr val="000000"/>
                </a:solidFill>
                <a:latin typeface="Cascadia Mono" panose="020B0609020000020004" pitchFamily="49" charset="0"/>
              </a:rPr>
              <a:t>(Employee request)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validationResult</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IsRequestValid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validationResult.isValid</a:t>
            </a:r>
            <a:r>
              <a:rPr lang="en-IN" sz="900" dirty="0">
                <a:solidFill>
                  <a:srgbClr val="000000"/>
                </a:solidFill>
                <a:latin typeface="Cascadia Mono" panose="020B0609020000020004" pitchFamily="49" charset="0"/>
              </a:rPr>
              <a:t> == </a:t>
            </a:r>
            <a:r>
              <a:rPr lang="en-IN" sz="900" dirty="0">
                <a:solidFill>
                  <a:srgbClr val="0000FF"/>
                </a:solidFill>
                <a:latin typeface="Cascadia Mono" panose="020B0609020000020004" pitchFamily="49" charset="0"/>
              </a:rPr>
              <a:t>false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Console.Write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nameof</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validationResult.errorMessage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 : </a:t>
            </a:r>
            <a:r>
              <a:rPr lang="en-IN" sz="900" dirty="0">
                <a:solidFill>
                  <a:srgbClr val="000000"/>
                </a:solidFill>
                <a:latin typeface="Cascadia Mono" panose="020B0609020000020004" pitchFamily="49" charset="0"/>
              </a:rPr>
              <a:t>{</a:t>
            </a:r>
            <a:r>
              <a:rPr lang="en-IN" sz="900" dirty="0" err="1">
                <a:solidFill>
                  <a:srgbClr val="000000"/>
                </a:solidFill>
                <a:latin typeface="Cascadia Mono" panose="020B0609020000020004" pitchFamily="49" charset="0"/>
              </a:rPr>
              <a:t>validationResult.errorMessage</a:t>
            </a:r>
            <a:r>
              <a:rPr lang="en-IN" sz="900" dirty="0">
                <a:solidFill>
                  <a:srgbClr val="000000"/>
                </a:solidFill>
                <a:latin typeface="Cascadia Mono" panose="020B0609020000020004" pitchFamily="49" charset="0"/>
              </a:rPr>
              <a:t>}</a:t>
            </a:r>
            <a:r>
              <a:rPr lang="en-IN" sz="900" dirty="0">
                <a:solidFill>
                  <a:srgbClr val="A31515"/>
                </a:solidFill>
                <a:latin typeface="Cascadia Mono" panose="020B0609020000020004" pitchFamily="49" charset="0"/>
              </a:rPr>
              <a:t>"</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false</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8000"/>
                </a:solidFill>
                <a:latin typeface="Cascadia Mono" panose="020B0609020000020004" pitchFamily="49" charset="0"/>
              </a:rPr>
              <a:t>// Some code for inserting the Employee in database.</a:t>
            </a:r>
            <a:endParaRPr lang="en-US" sz="900" dirty="0">
              <a:solidFill>
                <a:srgbClr val="000000"/>
              </a:solidFill>
              <a:latin typeface="Cascadia Mono" panose="020B0609020000020004" pitchFamily="49" charset="0"/>
            </a:endParaRP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bool</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isValid</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string</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errorMessage</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IsRequestValid</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(request == </a:t>
            </a:r>
            <a:r>
              <a:rPr lang="en-IN" sz="900" dirty="0">
                <a:solidFill>
                  <a:srgbClr val="0000FF"/>
                </a:solidFill>
                <a:latin typeface="Cascadia Mono" panose="020B0609020000020004" pitchFamily="49" charset="0"/>
              </a:rPr>
              <a:t>null</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throw</a:t>
            </a:r>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ArgumentNullException</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 </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 can not be null."</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var</a:t>
            </a:r>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a:t>
            </a:r>
            <a:r>
              <a:rPr lang="en-US" sz="900" dirty="0">
                <a:solidFill>
                  <a:srgbClr val="000000"/>
                </a:solidFill>
                <a:latin typeface="Cascadia Mono" panose="020B0609020000020004" pitchFamily="49" charset="0"/>
              </a:rPr>
              <a:t> = </a:t>
            </a:r>
            <a:r>
              <a:rPr lang="en-US" sz="900" dirty="0">
                <a:solidFill>
                  <a:srgbClr val="0000FF"/>
                </a:solidFill>
                <a:latin typeface="Cascadia Mono" panose="020B0609020000020004" pitchFamily="49" charset="0"/>
              </a:rPr>
              <a:t>new</a:t>
            </a:r>
            <a:r>
              <a:rPr lang="en-US" sz="900" dirty="0">
                <a:solidFill>
                  <a:srgbClr val="000000"/>
                </a:solidFill>
                <a:latin typeface="Cascadia Mono" panose="020B0609020000020004" pitchFamily="49" charset="0"/>
              </a:rPr>
              <a:t> Lazy&lt;StringBuilder&gt;();</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a:t>
            </a:r>
            <a:r>
              <a:rPr lang="en-US" sz="900" dirty="0" err="1">
                <a:solidFill>
                  <a:srgbClr val="0000FF"/>
                </a:solidFill>
                <a:latin typeface="Cascadia Mono" panose="020B0609020000020004" pitchFamily="49" charset="0"/>
              </a:rPr>
              <a:t>string</a:t>
            </a:r>
            <a:r>
              <a:rPr lang="en-US" sz="900" dirty="0" err="1">
                <a:solidFill>
                  <a:srgbClr val="000000"/>
                </a:solidFill>
                <a:latin typeface="Cascadia Mono" panose="020B0609020000020004" pitchFamily="49" charset="0"/>
              </a:rPr>
              <a:t>.IsNullOrWhiteSpace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request.Name</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lsb.Value.AppendLine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's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request.Name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 property may not be empty."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a:t>
            </a:r>
            <a:r>
              <a:rPr lang="en-US" sz="900" dirty="0" err="1">
                <a:solidFill>
                  <a:srgbClr val="0000FF"/>
                </a:solidFill>
                <a:latin typeface="Cascadia Mono" panose="020B0609020000020004" pitchFamily="49" charset="0"/>
              </a:rPr>
              <a:t>string</a:t>
            </a:r>
            <a:r>
              <a:rPr lang="en-US" sz="900" dirty="0" err="1">
                <a:solidFill>
                  <a:srgbClr val="000000"/>
                </a:solidFill>
                <a:latin typeface="Cascadia Mono" panose="020B0609020000020004" pitchFamily="49" charset="0"/>
              </a:rPr>
              <a:t>.IsNullOrWhiteSpace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request.Gender</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lsb.Value.AppendLine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’s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request.Gender</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 property may not be empty."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a:solidFill>
                  <a:srgbClr val="0000FF"/>
                </a:solidFill>
                <a:latin typeface="Cascadia Mono" panose="020B0609020000020004" pitchFamily="49" charset="0"/>
              </a:rPr>
              <a:t>if</a:t>
            </a:r>
            <a:r>
              <a:rPr lang="en-US" sz="900" dirty="0">
                <a:solidFill>
                  <a:srgbClr val="000000"/>
                </a:solidFill>
                <a:latin typeface="Cascadia Mono" panose="020B0609020000020004" pitchFamily="49" charset="0"/>
              </a:rPr>
              <a:t> (</a:t>
            </a:r>
            <a:r>
              <a:rPr lang="en-US" sz="900" dirty="0" err="1">
                <a:solidFill>
                  <a:srgbClr val="0000FF"/>
                </a:solidFill>
                <a:latin typeface="Cascadia Mono" panose="020B0609020000020004" pitchFamily="49" charset="0"/>
              </a:rPr>
              <a:t>string</a:t>
            </a:r>
            <a:r>
              <a:rPr lang="en-US" sz="900" dirty="0" err="1">
                <a:solidFill>
                  <a:srgbClr val="000000"/>
                </a:solidFill>
                <a:latin typeface="Cascadia Mono" panose="020B0609020000020004" pitchFamily="49" charset="0"/>
              </a:rPr>
              <a:t>.IsNullOrWhiteSpace</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request.Department</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lsb.Value.AppendLine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’s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request.Department</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   property may not be empty."</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request.Id</a:t>
            </a:r>
            <a:r>
              <a:rPr lang="en-IN" sz="900" dirty="0">
                <a:solidFill>
                  <a:srgbClr val="000000"/>
                </a:solidFill>
                <a:latin typeface="Cascadia Mono" panose="020B0609020000020004" pitchFamily="49" charset="0"/>
              </a:rPr>
              <a:t> &lt;= 0)</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lsb.Value.AppendLine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’s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request.Id</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  property may not be less than zero."</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request.Salary</a:t>
            </a:r>
            <a:r>
              <a:rPr lang="en-IN" sz="900" dirty="0">
                <a:solidFill>
                  <a:srgbClr val="000000"/>
                </a:solidFill>
                <a:latin typeface="Cascadia Mono" panose="020B0609020000020004" pitchFamily="49" charset="0"/>
              </a:rPr>
              <a:t> &lt;= 0)</a:t>
            </a:r>
          </a:p>
          <a:p>
            <a:r>
              <a:rPr lang="en-IN" sz="900" dirty="0">
                <a:solidFill>
                  <a:srgbClr val="000000"/>
                </a:solidFill>
                <a:latin typeface="Cascadia Mono" panose="020B0609020000020004" pitchFamily="49" charset="0"/>
              </a:rPr>
              <a:t>            {</a:t>
            </a:r>
          </a:p>
          <a:p>
            <a:r>
              <a:rPr lang="en-US" sz="900" dirty="0">
                <a:solidFill>
                  <a:srgbClr val="000000"/>
                </a:solidFill>
                <a:latin typeface="Cascadia Mono" panose="020B0609020000020004" pitchFamily="49" charset="0"/>
              </a:rPr>
              <a:t>                </a:t>
            </a:r>
            <a:r>
              <a:rPr lang="en-US" sz="900" dirty="0" err="1">
                <a:solidFill>
                  <a:srgbClr val="000000"/>
                </a:solidFill>
                <a:latin typeface="Cascadia Mono" panose="020B0609020000020004" pitchFamily="49" charset="0"/>
              </a:rPr>
              <a:t>lsb.Value.AppendLine</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$"The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(request)}</a:t>
            </a:r>
            <a:r>
              <a:rPr lang="en-US" sz="900" dirty="0">
                <a:solidFill>
                  <a:srgbClr val="A31515"/>
                </a:solidFill>
                <a:latin typeface="Cascadia Mono" panose="020B0609020000020004" pitchFamily="49" charset="0"/>
              </a:rPr>
              <a:t>’s </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nameof</a:t>
            </a:r>
            <a:r>
              <a:rPr lang="en-US" sz="900" dirty="0">
                <a:solidFill>
                  <a:srgbClr val="000000"/>
                </a:solidFill>
                <a:latin typeface="Cascadia Mono" panose="020B0609020000020004" pitchFamily="49" charset="0"/>
              </a:rPr>
              <a:t>(</a:t>
            </a:r>
            <a:r>
              <a:rPr lang="en-US" sz="900" dirty="0" err="1">
                <a:solidFill>
                  <a:srgbClr val="000000"/>
                </a:solidFill>
                <a:latin typeface="Cascadia Mono" panose="020B0609020000020004" pitchFamily="49" charset="0"/>
              </a:rPr>
              <a:t>request.Salary</a:t>
            </a:r>
            <a:r>
              <a:rPr lang="en-US" sz="900" dirty="0">
                <a:solidFill>
                  <a:srgbClr val="000000"/>
                </a:solidFill>
                <a:latin typeface="Cascadia Mono" panose="020B0609020000020004" pitchFamily="49" charset="0"/>
              </a:rPr>
              <a:t>)}</a:t>
            </a:r>
            <a:r>
              <a:rPr lang="en-US" sz="900" dirty="0">
                <a:solidFill>
                  <a:srgbClr val="A31515"/>
                </a:solidFill>
                <a:latin typeface="Cascadia Mono" panose="020B0609020000020004" pitchFamily="49" charset="0"/>
              </a:rPr>
              <a:t> property may not be less than zero."</a:t>
            </a:r>
            <a:r>
              <a:rPr lang="en-US"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if</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lsb.IsValueCreated</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var</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errorMessage</a:t>
            </a:r>
            <a:r>
              <a:rPr lang="en-IN" sz="900" dirty="0">
                <a:solidFill>
                  <a:srgbClr val="000000"/>
                </a:solidFill>
                <a:latin typeface="Cascadia Mono" panose="020B0609020000020004" pitchFamily="49" charset="0"/>
              </a:rPr>
              <a:t> = </a:t>
            </a:r>
            <a:r>
              <a:rPr lang="en-IN" sz="900" dirty="0" err="1">
                <a:solidFill>
                  <a:srgbClr val="000000"/>
                </a:solidFill>
                <a:latin typeface="Cascadia Mono" panose="020B0609020000020004" pitchFamily="49" charset="0"/>
              </a:rPr>
              <a:t>lsb.Value.ToString</a:t>
            </a:r>
            <a:r>
              <a:rPr lang="en-IN" sz="900" dirty="0">
                <a:solidFill>
                  <a:srgbClr val="000000"/>
                </a:solidFill>
                <a:latin typeface="Cascadia Mono" panose="020B0609020000020004" pitchFamily="49" charset="0"/>
              </a:rPr>
              <a:t>();</a:t>
            </a:r>
          </a:p>
          <a:p>
            <a:r>
              <a:rPr lang="da-DK" sz="900" dirty="0">
                <a:solidFill>
                  <a:srgbClr val="000000"/>
                </a:solidFill>
                <a:latin typeface="Cascadia Mono" panose="020B0609020000020004" pitchFamily="49" charset="0"/>
              </a:rPr>
              <a:t>                </a:t>
            </a:r>
            <a:r>
              <a:rPr lang="da-DK" sz="900" dirty="0">
                <a:solidFill>
                  <a:srgbClr val="0000FF"/>
                </a:solidFill>
                <a:latin typeface="Cascadia Mono" panose="020B0609020000020004" pitchFamily="49" charset="0"/>
              </a:rPr>
              <a:t>return</a:t>
            </a:r>
            <a:r>
              <a:rPr lang="da-DK" sz="900" dirty="0">
                <a:solidFill>
                  <a:srgbClr val="000000"/>
                </a:solidFill>
                <a:latin typeface="Cascadia Mono" panose="020B0609020000020004" pitchFamily="49" charset="0"/>
              </a:rPr>
              <a:t> (isValid: </a:t>
            </a:r>
            <a:r>
              <a:rPr lang="da-DK" sz="900" dirty="0">
                <a:solidFill>
                  <a:srgbClr val="0000FF"/>
                </a:solidFill>
                <a:latin typeface="Cascadia Mono" panose="020B0609020000020004" pitchFamily="49" charset="0"/>
              </a:rPr>
              <a:t>false</a:t>
            </a:r>
            <a:r>
              <a:rPr lang="da-DK" sz="900" dirty="0">
                <a:solidFill>
                  <a:srgbClr val="000000"/>
                </a:solidFill>
                <a:latin typeface="Cascadia Mono" panose="020B0609020000020004" pitchFamily="49" charset="0"/>
              </a:rPr>
              <a:t>, errorMessage: errorMessage);</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return</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isValid</a:t>
            </a:r>
            <a:r>
              <a:rPr lang="en-IN" sz="900" dirty="0">
                <a:solidFill>
                  <a:srgbClr val="000000"/>
                </a:solidFill>
                <a:latin typeface="Cascadia Mono" panose="020B0609020000020004" pitchFamily="49" charset="0"/>
              </a:rPr>
              <a:t>: </a:t>
            </a:r>
            <a:r>
              <a:rPr lang="en-IN" sz="900" dirty="0">
                <a:solidFill>
                  <a:srgbClr val="0000FF"/>
                </a:solidFill>
                <a:latin typeface="Cascadia Mono" panose="020B0609020000020004" pitchFamily="49" charset="0"/>
              </a:rPr>
              <a:t>true</a:t>
            </a:r>
            <a:r>
              <a:rPr lang="en-IN" sz="900" dirty="0">
                <a:solidFill>
                  <a:srgbClr val="000000"/>
                </a:solidFill>
                <a:latin typeface="Cascadia Mono" panose="020B0609020000020004" pitchFamily="49" charset="0"/>
              </a:rPr>
              <a:t>, </a:t>
            </a:r>
            <a:r>
              <a:rPr lang="en-IN" sz="900" dirty="0" err="1">
                <a:solidFill>
                  <a:srgbClr val="000000"/>
                </a:solidFill>
                <a:latin typeface="Cascadia Mono" panose="020B0609020000020004" pitchFamily="49" charset="0"/>
              </a:rPr>
              <a:t>errorMessage</a:t>
            </a:r>
            <a:r>
              <a:rPr lang="en-IN" sz="900" dirty="0">
                <a:solidFill>
                  <a:srgbClr val="000000"/>
                </a:solidFill>
                <a:latin typeface="Cascadia Mono" panose="020B0609020000020004" pitchFamily="49" charset="0"/>
              </a:rPr>
              <a:t>: </a:t>
            </a:r>
            <a:r>
              <a:rPr lang="en-IN" sz="900" dirty="0" err="1">
                <a:solidFill>
                  <a:srgbClr val="0000FF"/>
                </a:solidFill>
                <a:latin typeface="Cascadia Mono" panose="020B0609020000020004" pitchFamily="49" charset="0"/>
              </a:rPr>
              <a:t>string</a:t>
            </a:r>
            <a:r>
              <a:rPr lang="en-IN" sz="900" dirty="0" err="1">
                <a:solidFill>
                  <a:srgbClr val="000000"/>
                </a:solidFill>
                <a:latin typeface="Cascadia Mono" panose="020B0609020000020004" pitchFamily="49" charset="0"/>
              </a:rPr>
              <a:t>.Empty</a:t>
            </a:r>
            <a:r>
              <a:rPr lang="en-IN" sz="900" dirty="0">
                <a:solidFill>
                  <a:srgbClr val="000000"/>
                </a:solidFill>
                <a:latin typeface="Cascadia Mono" panose="020B0609020000020004" pitchFamily="49" charset="0"/>
              </a:rPr>
              <a:t>);</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    }</a:t>
            </a:r>
          </a:p>
          <a:p>
            <a:r>
              <a:rPr lang="en-IN" sz="900" dirty="0">
                <a:solidFill>
                  <a:srgbClr val="000000"/>
                </a:solidFill>
                <a:latin typeface="Cascadia Mono" panose="020B0609020000020004" pitchFamily="49" charset="0"/>
              </a:rPr>
              <a:t>}</a:t>
            </a:r>
            <a:endParaRPr lang="en-IN" dirty="0"/>
          </a:p>
        </p:txBody>
      </p:sp>
      <p:cxnSp>
        <p:nvCxnSpPr>
          <p:cNvPr id="11" name="Straight Arrow Connector 10">
            <a:extLst>
              <a:ext uri="{FF2B5EF4-FFF2-40B4-BE49-F238E27FC236}">
                <a16:creationId xmlns:a16="http://schemas.microsoft.com/office/drawing/2014/main" id="{32BBF750-DF8B-D53B-8788-81543245102B}"/>
              </a:ext>
            </a:extLst>
          </p:cNvPr>
          <p:cNvCxnSpPr/>
          <p:nvPr/>
        </p:nvCxnSpPr>
        <p:spPr>
          <a:xfrm>
            <a:off x="8804635" y="6476214"/>
            <a:ext cx="137631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31E2085C-6708-40EE-AE4E-07C388BF3DB3}"/>
              </a:ext>
            </a:extLst>
          </p:cNvPr>
          <p:cNvSpPr/>
          <p:nvPr/>
        </p:nvSpPr>
        <p:spPr>
          <a:xfrm>
            <a:off x="10548594" y="6080289"/>
            <a:ext cx="876693" cy="56560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Tuple</a:t>
            </a:r>
            <a:endParaRPr lang="en-IN"/>
          </a:p>
        </p:txBody>
      </p:sp>
    </p:spTree>
    <p:extLst>
      <p:ext uri="{BB962C8B-B14F-4D97-AF65-F5344CB8AC3E}">
        <p14:creationId xmlns:p14="http://schemas.microsoft.com/office/powerpoint/2010/main" val="2262636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846</Words>
  <Application>Microsoft Office PowerPoint</Application>
  <PresentationFormat>Widescreen</PresentationFormat>
  <Paragraphs>90</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Cascadia Mono</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vidyanidhi school</dc:creator>
  <cp:lastModifiedBy>vidyanidhi school</cp:lastModifiedBy>
  <cp:revision>5</cp:revision>
  <dcterms:created xsi:type="dcterms:W3CDTF">2023-02-08T12:00:29Z</dcterms:created>
  <dcterms:modified xsi:type="dcterms:W3CDTF">2023-02-08T12:25:27Z</dcterms:modified>
</cp:coreProperties>
</file>