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2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9FBD4-C46A-770D-E86D-AF89372B68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B30DC36-BBD2-AFED-11B3-F1AAC1E02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DE4C7A-895F-43E6-65B6-BA43A7D31411}"/>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5" name="Footer Placeholder 4">
            <a:extLst>
              <a:ext uri="{FF2B5EF4-FFF2-40B4-BE49-F238E27FC236}">
                <a16:creationId xmlns:a16="http://schemas.microsoft.com/office/drawing/2014/main" id="{FAD7703A-E5C5-EDE6-ECF9-3BF2AA17F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A6D304-F986-4C24-2F91-D1081E911FB3}"/>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3525786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C05DD-13BA-7C2B-67B0-FAA22675D0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3C0FFA-2986-75E3-DB96-3F7868A6CC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944506-E849-B929-83BA-A688774D0A04}"/>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5" name="Footer Placeholder 4">
            <a:extLst>
              <a:ext uri="{FF2B5EF4-FFF2-40B4-BE49-F238E27FC236}">
                <a16:creationId xmlns:a16="http://schemas.microsoft.com/office/drawing/2014/main" id="{BD55E8CD-ABE9-CBB2-B9A4-50ABC2E53D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A8BBC4-5DF3-C8EF-02A5-DF8DD243D707}"/>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366378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1CE1D-9863-8619-9E5B-DAA21511C8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C8BBFC-0FC5-ABF6-1B51-8B9E5F9141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2525FD-5513-C617-4FEE-B7CE611F43BD}"/>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5" name="Footer Placeholder 4">
            <a:extLst>
              <a:ext uri="{FF2B5EF4-FFF2-40B4-BE49-F238E27FC236}">
                <a16:creationId xmlns:a16="http://schemas.microsoft.com/office/drawing/2014/main" id="{C445F820-0785-4370-F43C-CA53C8CC46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22E597-F851-D692-BECF-B77BDCBFFEE0}"/>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3968323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80025-446F-3104-9253-CB59432175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0224CC-2B91-55B0-FAFE-75554DD1D4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5846F28-D82F-6B1C-5419-217299E55B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997F96-09DA-12AD-001F-D93275CEAF22}"/>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6" name="Footer Placeholder 5">
            <a:extLst>
              <a:ext uri="{FF2B5EF4-FFF2-40B4-BE49-F238E27FC236}">
                <a16:creationId xmlns:a16="http://schemas.microsoft.com/office/drawing/2014/main" id="{D3446C13-FDFE-4495-F8A5-32AEFB57EB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EFB408-77A0-A853-AD00-403752B7A938}"/>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1918643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04F34-A9F6-B954-DB3F-2C388AC1A2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2D709D-CF82-3A36-8B93-BF488E2B46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F82EE4-0410-33D9-B90E-9ECCC997B3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BD089C-7EDF-6CF3-1905-4CB05FE707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0B1EB9-F99E-909F-1480-71AE9B349E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6D9BDFA-705E-911D-F8C2-D9C06AA4E6CA}"/>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8" name="Footer Placeholder 7">
            <a:extLst>
              <a:ext uri="{FF2B5EF4-FFF2-40B4-BE49-F238E27FC236}">
                <a16:creationId xmlns:a16="http://schemas.microsoft.com/office/drawing/2014/main" id="{3A1E35C6-F763-EF84-D5D2-E1AFCD114F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C8CF1A-628D-EC01-9412-2B93A11B864D}"/>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635833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52DE-21A1-4CE8-7CEC-ADEFF55F5A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32BE0E4-49E4-4FFD-9A4A-5E73C6483C54}"/>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4" name="Footer Placeholder 3">
            <a:extLst>
              <a:ext uri="{FF2B5EF4-FFF2-40B4-BE49-F238E27FC236}">
                <a16:creationId xmlns:a16="http://schemas.microsoft.com/office/drawing/2014/main" id="{9D0CF9B2-AB45-44F5-8370-42DF29AFD69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E4E5A57-DB98-C080-CAD4-E6EFF552C612}"/>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1426351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674F64-CC7F-FEAE-22E9-BAE5FD920A60}"/>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3" name="Footer Placeholder 2">
            <a:extLst>
              <a:ext uri="{FF2B5EF4-FFF2-40B4-BE49-F238E27FC236}">
                <a16:creationId xmlns:a16="http://schemas.microsoft.com/office/drawing/2014/main" id="{8385EAFE-1677-09F5-5F6C-E35A8AF1128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8C6B99-8881-78FE-8B1E-031FE6A57B72}"/>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3382722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0182-F8E8-11BB-E3D4-8906ABA39A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0B9B34-62AC-6289-25E4-BFA0755D70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1B7C71-9C0F-ED8A-3D05-4FA8B7A5A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D5AF53-FDBF-19D9-F7C7-2A49C7615C31}"/>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6" name="Footer Placeholder 5">
            <a:extLst>
              <a:ext uri="{FF2B5EF4-FFF2-40B4-BE49-F238E27FC236}">
                <a16:creationId xmlns:a16="http://schemas.microsoft.com/office/drawing/2014/main" id="{1B3E054B-CDCE-B15A-A65D-76DAD9FBFA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FFB53D-8CA0-2076-9286-047CAB4ACD62}"/>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3899347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1B583-4E4D-E571-BC4B-8AE96C6FBC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3F70EB-701C-1328-9300-EAB213AF55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185E3C9-A6E8-8B8D-8884-7D9D3A7F95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5B4F3D-0522-F78B-6FFF-AD6E589E62A2}"/>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6" name="Footer Placeholder 5">
            <a:extLst>
              <a:ext uri="{FF2B5EF4-FFF2-40B4-BE49-F238E27FC236}">
                <a16:creationId xmlns:a16="http://schemas.microsoft.com/office/drawing/2014/main" id="{E5365912-1CF7-6C3C-D94F-903C7A2EFD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895E29-9031-FE40-9B9C-99E3D4672946}"/>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2367659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C110E-5D14-288A-1721-C01BCE257E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EE3294-B6AD-3FE0-5CC9-B6C5D16E90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A760E9-C800-2F80-4D46-7418CEFFE0A2}"/>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5" name="Footer Placeholder 4">
            <a:extLst>
              <a:ext uri="{FF2B5EF4-FFF2-40B4-BE49-F238E27FC236}">
                <a16:creationId xmlns:a16="http://schemas.microsoft.com/office/drawing/2014/main" id="{918A2065-9451-5874-755F-B43667E766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6FA92C-E68D-0FE1-9E21-9204943A243E}"/>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2913390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5C7F5-E2DC-8ABA-94BB-D950CD3EE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903B5C-12A6-2164-8D9C-EF9C95C5F2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77A8DE-3909-C3CA-F65C-CBBE209CCF68}"/>
              </a:ext>
            </a:extLst>
          </p:cNvPr>
          <p:cNvSpPr>
            <a:spLocks noGrp="1"/>
          </p:cNvSpPr>
          <p:nvPr>
            <p:ph type="dt" sz="half" idx="10"/>
          </p:nvPr>
        </p:nvSpPr>
        <p:spPr/>
        <p:txBody>
          <a:bodyPr/>
          <a:lstStyle/>
          <a:p>
            <a:fld id="{8A7EBF7E-B306-4525-8C1A-EDF2B568DAD7}" type="datetimeFigureOut">
              <a:rPr lang="en-IN" smtClean="0"/>
              <a:t>09-02-2023</a:t>
            </a:fld>
            <a:endParaRPr lang="en-IN"/>
          </a:p>
        </p:txBody>
      </p:sp>
      <p:sp>
        <p:nvSpPr>
          <p:cNvPr id="5" name="Footer Placeholder 4">
            <a:extLst>
              <a:ext uri="{FF2B5EF4-FFF2-40B4-BE49-F238E27FC236}">
                <a16:creationId xmlns:a16="http://schemas.microsoft.com/office/drawing/2014/main" id="{8BEC6833-1FC4-03CC-F21A-C7839B8A4A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014F62-D861-2C3B-7F28-76616ED4779B}"/>
              </a:ext>
            </a:extLst>
          </p:cNvPr>
          <p:cNvSpPr>
            <a:spLocks noGrp="1"/>
          </p:cNvSpPr>
          <p:nvPr>
            <p:ph type="sldNum" sz="quarter" idx="12"/>
          </p:nvPr>
        </p:nvSpPr>
        <p:spPr/>
        <p:txBody>
          <a:bodyPr/>
          <a:lstStyle/>
          <a:p>
            <a:fld id="{1D9DCADF-920A-4F71-BEAE-B44843C1E878}" type="slidenum">
              <a:rPr lang="en-IN" smtClean="0"/>
              <a:t>‹#›</a:t>
            </a:fld>
            <a:endParaRPr lang="en-IN"/>
          </a:p>
        </p:txBody>
      </p:sp>
    </p:spTree>
    <p:extLst>
      <p:ext uri="{BB962C8B-B14F-4D97-AF65-F5344CB8AC3E}">
        <p14:creationId xmlns:p14="http://schemas.microsoft.com/office/powerpoint/2010/main" val="1527863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26328D-66B8-7000-4696-1C9C3A005E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312470-B1FF-4C59-FF7A-051A621C90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F5EF3D-AD7E-0780-EE94-F30CCA62A9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7EBF7E-B306-4525-8C1A-EDF2B568DAD7}" type="datetimeFigureOut">
              <a:rPr lang="en-IN" smtClean="0"/>
              <a:t>09-02-2023</a:t>
            </a:fld>
            <a:endParaRPr lang="en-IN"/>
          </a:p>
        </p:txBody>
      </p:sp>
      <p:sp>
        <p:nvSpPr>
          <p:cNvPr id="5" name="Footer Placeholder 4">
            <a:extLst>
              <a:ext uri="{FF2B5EF4-FFF2-40B4-BE49-F238E27FC236}">
                <a16:creationId xmlns:a16="http://schemas.microsoft.com/office/drawing/2014/main" id="{06B55E3B-B02E-2696-38DB-0109422E61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0596699-6843-48C5-5A08-96C224591C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9DCADF-920A-4F71-BEAE-B44843C1E878}" type="slidenum">
              <a:rPr lang="en-IN" smtClean="0"/>
              <a:t>‹#›</a:t>
            </a:fld>
            <a:endParaRPr lang="en-IN"/>
          </a:p>
        </p:txBody>
      </p:sp>
    </p:spTree>
    <p:extLst>
      <p:ext uri="{BB962C8B-B14F-4D97-AF65-F5344CB8AC3E}">
        <p14:creationId xmlns:p14="http://schemas.microsoft.com/office/powerpoint/2010/main" val="1625547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98A298-CBBE-BB44-7003-8CA0B4011118}"/>
              </a:ext>
            </a:extLst>
          </p:cNvPr>
          <p:cNvSpPr txBox="1"/>
          <p:nvPr/>
        </p:nvSpPr>
        <p:spPr>
          <a:xfrm>
            <a:off x="322868" y="324815"/>
            <a:ext cx="10489675" cy="373757"/>
          </a:xfrm>
          <a:prstGeom prst="rect">
            <a:avLst/>
          </a:prstGeom>
          <a:noFill/>
        </p:spPr>
        <p:txBody>
          <a:bodyPr wrap="square">
            <a:spAutoFit/>
          </a:bodyPr>
          <a:lstStyle/>
          <a:p>
            <a:pPr algn="just" fontAlgn="base">
              <a:lnSpc>
                <a:spcPct val="107000"/>
              </a:lnSpc>
              <a:spcAft>
                <a:spcPts val="800"/>
              </a:spcAft>
            </a:pPr>
            <a: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In C#, it is very easy to throw an exception in the middle of an expression.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55A92FBC-7B45-41FF-20ED-9AAC13027103}"/>
              </a:ext>
            </a:extLst>
          </p:cNvPr>
          <p:cNvSpPr txBox="1"/>
          <p:nvPr/>
        </p:nvSpPr>
        <p:spPr>
          <a:xfrm>
            <a:off x="388856" y="1042734"/>
            <a:ext cx="4343399" cy="3647152"/>
          </a:xfrm>
          <a:prstGeom prst="rect">
            <a:avLst/>
          </a:prstGeom>
          <a:noFill/>
        </p:spPr>
        <p:txBody>
          <a:bodyPr wrap="square">
            <a:spAutoFit/>
          </a:bodyPr>
          <a:lstStyle/>
          <a:p>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Main(</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a = Divide(10, 0);</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Console.WriteLine</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"Press any key to exist."</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Console.ReadKey</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static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double</a:t>
            </a:r>
            <a:r>
              <a:rPr lang="en-IN" sz="1100" dirty="0">
                <a:solidFill>
                  <a:srgbClr val="000000"/>
                </a:solidFill>
                <a:latin typeface="Cascadia Mono" panose="020B0609020000020004" pitchFamily="49" charset="0"/>
              </a:rPr>
              <a:t> Divide(</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x,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y)</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(y == 0)</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highlight>
                  <a:srgbClr val="FFFF00"/>
                </a:highlight>
                <a:latin typeface="Cascadia Mono" panose="020B0609020000020004" pitchFamily="49" charset="0"/>
              </a:rPr>
              <a:t>throw</a:t>
            </a:r>
            <a:r>
              <a:rPr lang="en-IN" sz="1100" dirty="0">
                <a:solidFill>
                  <a:srgbClr val="000000"/>
                </a:solidFill>
                <a:highlight>
                  <a:srgbClr val="FFFF00"/>
                </a:highlight>
                <a:latin typeface="Cascadia Mono" panose="020B0609020000020004" pitchFamily="49" charset="0"/>
              </a:rPr>
              <a:t> </a:t>
            </a:r>
            <a:r>
              <a:rPr lang="en-IN" sz="1100" dirty="0">
                <a:solidFill>
                  <a:srgbClr val="0000FF"/>
                </a:solidFill>
                <a:highlight>
                  <a:srgbClr val="FFFF00"/>
                </a:highlight>
                <a:latin typeface="Cascadia Mono" panose="020B0609020000020004" pitchFamily="49" charset="0"/>
              </a:rPr>
              <a:t>new</a:t>
            </a:r>
            <a:r>
              <a:rPr lang="en-IN" sz="1100" dirty="0">
                <a:solidFill>
                  <a:srgbClr val="000000"/>
                </a:solidFill>
                <a:highlight>
                  <a:srgbClr val="FFFF00"/>
                </a:highlight>
                <a:latin typeface="Cascadia Mono" panose="020B0609020000020004" pitchFamily="49" charset="0"/>
              </a:rPr>
              <a:t> </a:t>
            </a:r>
            <a:r>
              <a:rPr lang="en-IN" sz="1100" dirty="0" err="1">
                <a:solidFill>
                  <a:srgbClr val="000000"/>
                </a:solidFill>
                <a:highlight>
                  <a:srgbClr val="FFFF00"/>
                </a:highlight>
                <a:latin typeface="Cascadia Mono" panose="020B0609020000020004" pitchFamily="49" charset="0"/>
              </a:rPr>
              <a:t>DivideByZeroException</a:t>
            </a:r>
            <a:r>
              <a:rPr lang="en-IN" sz="1100" dirty="0">
                <a:solidFill>
                  <a:srgbClr val="000000"/>
                </a:solidFill>
                <a:highlight>
                  <a:srgbClr val="FFFF00"/>
                </a:highlight>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else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x % y;</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p>
        </p:txBody>
      </p:sp>
      <p:sp>
        <p:nvSpPr>
          <p:cNvPr id="9" name="TextBox 8">
            <a:extLst>
              <a:ext uri="{FF2B5EF4-FFF2-40B4-BE49-F238E27FC236}">
                <a16:creationId xmlns:a16="http://schemas.microsoft.com/office/drawing/2014/main" id="{6375A363-B103-F79A-C7DD-20B59EE17941}"/>
              </a:ext>
            </a:extLst>
          </p:cNvPr>
          <p:cNvSpPr txBox="1"/>
          <p:nvPr/>
        </p:nvSpPr>
        <p:spPr>
          <a:xfrm>
            <a:off x="5403916" y="1312039"/>
            <a:ext cx="6094428" cy="3108543"/>
          </a:xfrm>
          <a:prstGeom prst="rect">
            <a:avLst/>
          </a:prstGeom>
          <a:noFill/>
        </p:spPr>
        <p:txBody>
          <a:bodyPr wrap="square">
            <a:spAutoFit/>
          </a:bodyPr>
          <a:lstStyle/>
          <a:p>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Program</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static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Main(</a:t>
            </a:r>
            <a:r>
              <a:rPr lang="en-US" sz="1400" dirty="0">
                <a:solidFill>
                  <a:srgbClr val="0000FF"/>
                </a:solidFill>
                <a:latin typeface="Cascadia Mono" panose="020B0609020000020004" pitchFamily="49" charset="0"/>
              </a:rPr>
              <a:t>string</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args</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var</a:t>
            </a:r>
            <a:r>
              <a:rPr lang="en-IN" sz="1400" dirty="0">
                <a:solidFill>
                  <a:srgbClr val="000000"/>
                </a:solidFill>
                <a:latin typeface="Cascadia Mono" panose="020B0609020000020004" pitchFamily="49" charset="0"/>
              </a:rPr>
              <a:t> a = Divide(10, 0);</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Console.WriteLine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"Press any key to exist."</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Console.ReadKey</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static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double</a:t>
            </a:r>
            <a:r>
              <a:rPr lang="en-IN" sz="1400" dirty="0">
                <a:solidFill>
                  <a:srgbClr val="000000"/>
                </a:solidFill>
                <a:latin typeface="Cascadia Mono" panose="020B0609020000020004" pitchFamily="49" charset="0"/>
              </a:rPr>
              <a:t> Divide(</a:t>
            </a:r>
            <a:r>
              <a:rPr lang="en-IN" sz="1400" dirty="0">
                <a:solidFill>
                  <a:srgbClr val="0000FF"/>
                </a:solidFill>
                <a:latin typeface="Cascadia Mono" panose="020B0609020000020004" pitchFamily="49" charset="0"/>
              </a:rPr>
              <a:t>int</a:t>
            </a:r>
            <a:r>
              <a:rPr lang="en-IN" sz="1400" dirty="0">
                <a:solidFill>
                  <a:srgbClr val="000000"/>
                </a:solidFill>
                <a:latin typeface="Cascadia Mono" panose="020B0609020000020004" pitchFamily="49" charset="0"/>
              </a:rPr>
              <a:t> x, </a:t>
            </a:r>
            <a:r>
              <a:rPr lang="en-IN" sz="1400" dirty="0">
                <a:solidFill>
                  <a:srgbClr val="0000FF"/>
                </a:solidFill>
                <a:latin typeface="Cascadia Mono" panose="020B0609020000020004" pitchFamily="49" charset="0"/>
              </a:rPr>
              <a:t>int</a:t>
            </a:r>
            <a:r>
              <a:rPr lang="en-IN" sz="1400" dirty="0">
                <a:solidFill>
                  <a:srgbClr val="000000"/>
                </a:solidFill>
                <a:latin typeface="Cascadia Mono" panose="020B0609020000020004" pitchFamily="49" charset="0"/>
              </a:rPr>
              <a:t> y)</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y != 0 ? x % y : </a:t>
            </a:r>
            <a:r>
              <a:rPr lang="en-US" sz="1400" dirty="0">
                <a:solidFill>
                  <a:srgbClr val="0000FF"/>
                </a:solidFill>
                <a:highlight>
                  <a:srgbClr val="FFFF00"/>
                </a:highlight>
                <a:latin typeface="Cascadia Mono" panose="020B0609020000020004" pitchFamily="49" charset="0"/>
              </a:rPr>
              <a:t>throw</a:t>
            </a:r>
            <a:r>
              <a:rPr lang="en-US" sz="1400" dirty="0">
                <a:solidFill>
                  <a:srgbClr val="000000"/>
                </a:solidFill>
                <a:highlight>
                  <a:srgbClr val="FFFF00"/>
                </a:highlight>
                <a:latin typeface="Cascadia Mono" panose="020B0609020000020004" pitchFamily="49" charset="0"/>
              </a:rPr>
              <a:t> </a:t>
            </a:r>
            <a:r>
              <a:rPr lang="en-US" sz="1400" dirty="0">
                <a:solidFill>
                  <a:srgbClr val="0000FF"/>
                </a:solidFill>
                <a:highlight>
                  <a:srgbClr val="FFFF00"/>
                </a:highlight>
                <a:latin typeface="Cascadia Mono" panose="020B0609020000020004" pitchFamily="49" charset="0"/>
              </a:rPr>
              <a:t>new</a:t>
            </a:r>
            <a:r>
              <a:rPr lang="en-US" sz="1400" dirty="0">
                <a:solidFill>
                  <a:srgbClr val="000000"/>
                </a:solidFill>
                <a:highlight>
                  <a:srgbClr val="FFFF00"/>
                </a:highlight>
                <a:latin typeface="Cascadia Mono" panose="020B0609020000020004" pitchFamily="49" charset="0"/>
              </a:rPr>
              <a:t> </a:t>
            </a:r>
            <a:r>
              <a:rPr lang="en-US" sz="1400" dirty="0" err="1">
                <a:solidFill>
                  <a:srgbClr val="000000"/>
                </a:solidFill>
                <a:highlight>
                  <a:srgbClr val="FFFF00"/>
                </a:highlight>
                <a:latin typeface="Cascadia Mono" panose="020B0609020000020004" pitchFamily="49" charset="0"/>
              </a:rPr>
              <a:t>DivideByZeroException</a:t>
            </a:r>
            <a:r>
              <a:rPr lang="en-US" sz="1400" dirty="0">
                <a:solidFill>
                  <a:srgbClr val="000000"/>
                </a:solidFill>
                <a:highlight>
                  <a:srgbClr val="FFFF00"/>
                </a:highlight>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endParaRPr lang="en-IN" sz="3600" dirty="0"/>
          </a:p>
        </p:txBody>
      </p:sp>
      <p:sp>
        <p:nvSpPr>
          <p:cNvPr id="11" name="TextBox 10">
            <a:extLst>
              <a:ext uri="{FF2B5EF4-FFF2-40B4-BE49-F238E27FC236}">
                <a16:creationId xmlns:a16="http://schemas.microsoft.com/office/drawing/2014/main" id="{D2DE7281-01FD-3101-2746-3B1F376F47D6}"/>
              </a:ext>
            </a:extLst>
          </p:cNvPr>
          <p:cNvSpPr txBox="1"/>
          <p:nvPr/>
        </p:nvSpPr>
        <p:spPr>
          <a:xfrm>
            <a:off x="709367" y="5034048"/>
            <a:ext cx="11215539" cy="772263"/>
          </a:xfrm>
          <a:prstGeom prst="rect">
            <a:avLst/>
          </a:prstGeom>
          <a:noFill/>
        </p:spPr>
        <p:txBody>
          <a:bodyPr wrap="square">
            <a:spAutoFit/>
          </a:bodyPr>
          <a:lstStyle/>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the above example, we are throwing an expression in the middle of the method by checking the condition. But with C# 7.0 now it is possible to throw an exception in the middle of an expression. Let’s rewrite the above program to throw an exception in the middle of the expression as shown below.</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6349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3C4D62-03AD-38F7-86FE-AB1D990D55BC}"/>
              </a:ext>
            </a:extLst>
          </p:cNvPr>
          <p:cNvSpPr txBox="1"/>
          <p:nvPr/>
        </p:nvSpPr>
        <p:spPr>
          <a:xfrm>
            <a:off x="266308" y="206477"/>
            <a:ext cx="6094428" cy="303481"/>
          </a:xfrm>
          <a:prstGeom prst="rect">
            <a:avLst/>
          </a:prstGeom>
          <a:noFill/>
        </p:spPr>
        <p:txBody>
          <a:bodyPr wrap="square">
            <a:spAutoFit/>
          </a:bodyPr>
          <a:lstStyle/>
          <a:p>
            <a:pPr fontAlgn="base">
              <a:lnSpc>
                <a:spcPct val="107000"/>
              </a:lnSpc>
              <a:spcAft>
                <a:spcPts val="800"/>
              </a:spcAft>
            </a:pPr>
            <a:r>
              <a:rPr lang="en-IN" sz="13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Thrown Expression in C# real-time example: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6CEE70D-140C-5438-4F50-93982289077F}"/>
              </a:ext>
            </a:extLst>
          </p:cNvPr>
          <p:cNvSpPr txBox="1"/>
          <p:nvPr/>
        </p:nvSpPr>
        <p:spPr>
          <a:xfrm>
            <a:off x="266308" y="651108"/>
            <a:ext cx="6094428" cy="1337289"/>
          </a:xfrm>
          <a:prstGeom prst="rect">
            <a:avLst/>
          </a:prstGeom>
          <a:noFill/>
        </p:spPr>
        <p:txBody>
          <a:bodyPr wrap="square">
            <a:spAutoFit/>
          </a:bodyPr>
          <a:lstStyle/>
          <a:p>
            <a:pPr algn="just" fontAlgn="base">
              <a:lnSpc>
                <a:spcPct val="107000"/>
              </a:lnSpc>
              <a:spcAft>
                <a:spcPts val="800"/>
              </a:spcAf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This below example uses a simple Employee class to demonstrate different situations where throw expression in C# can be used: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auto-property initializer statement</a:t>
            </a:r>
            <a:endParaRPr lang="en-IN" sz="11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inline comparison using the operator “?”</a:t>
            </a:r>
            <a:endParaRPr lang="en-IN" sz="11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expression-bodied member</a:t>
            </a:r>
            <a:endParaRPr lang="en-IN" sz="11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9C1CDBB2-4F70-64F9-BE47-385D194B88FC}"/>
              </a:ext>
            </a:extLst>
          </p:cNvPr>
          <p:cNvSpPr txBox="1"/>
          <p:nvPr/>
        </p:nvSpPr>
        <p:spPr>
          <a:xfrm>
            <a:off x="266308" y="2604230"/>
            <a:ext cx="5172958" cy="2677656"/>
          </a:xfrm>
          <a:prstGeom prst="rect">
            <a:avLst/>
          </a:prstGeom>
          <a:noFill/>
        </p:spPr>
        <p:txBody>
          <a:bodyPr wrap="square">
            <a:spAutoFit/>
          </a:bodyPr>
          <a:lstStyle/>
          <a:p>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Employee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FullName</a:t>
            </a:r>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get</a:t>
            </a:r>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2B91AF"/>
                </a:solidFill>
                <a:latin typeface="Cascadia Mono" panose="020B0609020000020004" pitchFamily="49" charset="0"/>
              </a:rPr>
              <a:t>Employee</a:t>
            </a:r>
            <a:r>
              <a:rPr lang="en-US" sz="1050" dirty="0">
                <a:solidFill>
                  <a:srgbClr val="000000"/>
                </a:solidFill>
                <a:latin typeface="Cascadia Mono" panose="020B0609020000020004" pitchFamily="49" charset="0"/>
              </a:rPr>
              <a:t>(</a:t>
            </a:r>
            <a:r>
              <a:rPr lang="en-US" sz="1050" dirty="0">
                <a:solidFill>
                  <a:srgbClr val="0000FF"/>
                </a:solidFill>
                <a:latin typeface="Cascadia Mono" panose="020B0609020000020004" pitchFamily="49" charset="0"/>
              </a:rPr>
              <a:t>string</a:t>
            </a:r>
            <a:r>
              <a:rPr lang="en-US" sz="1050" dirty="0">
                <a:solidFill>
                  <a:srgbClr val="000000"/>
                </a:solidFill>
                <a:latin typeface="Cascadia Mono" panose="020B0609020000020004" pitchFamily="49" charset="0"/>
              </a:rPr>
              <a:t> name) =&gt; </a:t>
            </a:r>
            <a:r>
              <a:rPr lang="en-US" sz="1050" dirty="0" err="1">
                <a:solidFill>
                  <a:srgbClr val="000000"/>
                </a:solidFill>
                <a:latin typeface="Cascadia Mono" panose="020B0609020000020004" pitchFamily="49" charset="0"/>
              </a:rPr>
              <a:t>FullName</a:t>
            </a:r>
            <a:r>
              <a:rPr lang="en-US" sz="1050" dirty="0">
                <a:solidFill>
                  <a:srgbClr val="000000"/>
                </a:solidFill>
                <a:latin typeface="Cascadia Mono" panose="020B0609020000020004" pitchFamily="49" charset="0"/>
              </a:rPr>
              <a:t> = name ?? </a:t>
            </a:r>
            <a:r>
              <a:rPr lang="en-US" sz="1050" dirty="0">
                <a:solidFill>
                  <a:srgbClr val="0000FF"/>
                </a:solidFill>
                <a:latin typeface="Cascadia Mono" panose="020B0609020000020004" pitchFamily="49" charset="0"/>
              </a:rPr>
              <a:t>throw</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new</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ArgumentNullException</a:t>
            </a:r>
            <a:r>
              <a:rPr lang="en-US" sz="1050" dirty="0">
                <a:solidFill>
                  <a:srgbClr val="000000"/>
                </a:solidFill>
                <a:latin typeface="Cascadia Mono" panose="020B0609020000020004" pitchFamily="49" charset="0"/>
              </a:rPr>
              <a:t>(name);</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GetFirstName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parts = </a:t>
            </a:r>
            <a:r>
              <a:rPr lang="en-IN" sz="1050" dirty="0" err="1">
                <a:solidFill>
                  <a:srgbClr val="000000"/>
                </a:solidFill>
                <a:latin typeface="Cascadia Mono" panose="020B0609020000020004" pitchFamily="49" charset="0"/>
              </a:rPr>
              <a:t>FullName.Split</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 '</a:t>
            </a:r>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return</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parts.Length</a:t>
            </a:r>
            <a:r>
              <a:rPr lang="en-US" sz="1050" dirty="0">
                <a:solidFill>
                  <a:srgbClr val="000000"/>
                </a:solidFill>
                <a:latin typeface="Cascadia Mono" panose="020B0609020000020004" pitchFamily="49" charset="0"/>
              </a:rPr>
              <a:t> &gt; 1) ? parts[0] : </a:t>
            </a:r>
            <a:r>
              <a:rPr lang="en-US" sz="1050" dirty="0">
                <a:solidFill>
                  <a:srgbClr val="0000FF"/>
                </a:solidFill>
                <a:latin typeface="Cascadia Mono" panose="020B0609020000020004" pitchFamily="49" charset="0"/>
              </a:rPr>
              <a:t>throw</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new</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InvalidOperationException</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a:t>
            </a:r>
            <a:r>
              <a:rPr lang="en-US" sz="1050" dirty="0" err="1">
                <a:solidFill>
                  <a:srgbClr val="A31515"/>
                </a:solidFill>
                <a:latin typeface="Cascadia Mono" panose="020B0609020000020004" pitchFamily="49" charset="0"/>
              </a:rPr>
              <a:t>Method:GetFirstName</a:t>
            </a:r>
            <a:r>
              <a:rPr lang="en-US" sz="1050" dirty="0">
                <a:solidFill>
                  <a:srgbClr val="A31515"/>
                </a:solidFill>
                <a:latin typeface="Cascadia Mono" panose="020B0609020000020004" pitchFamily="49" charset="0"/>
              </a:rPr>
              <a:t>, Full Name is not available"</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string</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GetLastName</a:t>
            </a:r>
            <a:r>
              <a:rPr lang="en-US" sz="1050" dirty="0">
                <a:solidFill>
                  <a:srgbClr val="000000"/>
                </a:solidFill>
                <a:latin typeface="Cascadia Mono" panose="020B0609020000020004" pitchFamily="49" charset="0"/>
              </a:rPr>
              <a:t>() =&gt; </a:t>
            </a:r>
            <a:r>
              <a:rPr lang="en-US" sz="1050" dirty="0">
                <a:solidFill>
                  <a:srgbClr val="0000FF"/>
                </a:solidFill>
                <a:latin typeface="Cascadia Mono" panose="020B0609020000020004" pitchFamily="49" charset="0"/>
              </a:rPr>
              <a:t>throw</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new</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NotImplementedException</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"Method </a:t>
            </a:r>
            <a:r>
              <a:rPr lang="en-US" sz="1050" dirty="0" err="1">
                <a:solidFill>
                  <a:srgbClr val="A31515"/>
                </a:solidFill>
                <a:latin typeface="Cascadia Mono" panose="020B0609020000020004" pitchFamily="49" charset="0"/>
              </a:rPr>
              <a:t>GetLastName</a:t>
            </a:r>
            <a:r>
              <a:rPr lang="en-US" sz="1050" dirty="0">
                <a:solidFill>
                  <a:srgbClr val="A31515"/>
                </a:solidFill>
                <a:latin typeface="Cascadia Mono" panose="020B0609020000020004" pitchFamily="49" charset="0"/>
              </a:rPr>
              <a:t> is not Implemented"</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a:t>
            </a:r>
            <a:endParaRPr lang="en-IN" sz="2400" dirty="0"/>
          </a:p>
        </p:txBody>
      </p:sp>
      <p:sp>
        <p:nvSpPr>
          <p:cNvPr id="11" name="TextBox 10">
            <a:extLst>
              <a:ext uri="{FF2B5EF4-FFF2-40B4-BE49-F238E27FC236}">
                <a16:creationId xmlns:a16="http://schemas.microsoft.com/office/drawing/2014/main" id="{4CD87EEE-46E4-790C-9F2B-46C431D6AAC4}"/>
              </a:ext>
            </a:extLst>
          </p:cNvPr>
          <p:cNvSpPr txBox="1"/>
          <p:nvPr/>
        </p:nvSpPr>
        <p:spPr>
          <a:xfrm>
            <a:off x="6109356" y="0"/>
            <a:ext cx="6094428" cy="7363554"/>
          </a:xfrm>
          <a:prstGeom prst="rect">
            <a:avLst/>
          </a:prstGeom>
          <a:noFill/>
        </p:spPr>
        <p:txBody>
          <a:bodyPr wrap="square">
            <a:spAutoFit/>
          </a:bodyPr>
          <a:lstStyle/>
          <a:p>
            <a:endParaRPr lang="en-IN" sz="1050" dirty="0">
              <a:solidFill>
                <a:srgbClr val="000000"/>
              </a:solidFill>
              <a:latin typeface="Cascadia Mono" panose="020B0609020000020004" pitchFamily="49" charset="0"/>
            </a:endParaRPr>
          </a:p>
          <a:p>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Program</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static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void</a:t>
            </a:r>
            <a:r>
              <a:rPr lang="en-US" sz="1050" dirty="0">
                <a:solidFill>
                  <a:srgbClr val="000000"/>
                </a:solidFill>
                <a:latin typeface="Cascadia Mono" panose="020B0609020000020004" pitchFamily="49" charset="0"/>
              </a:rPr>
              <a:t> Main(</a:t>
            </a:r>
            <a:r>
              <a:rPr lang="en-US" sz="1050" dirty="0">
                <a:solidFill>
                  <a:srgbClr val="0000FF"/>
                </a:solidFill>
                <a:latin typeface="Cascadia Mono" panose="020B0609020000020004" pitchFamily="49" charset="0"/>
              </a:rPr>
              <a:t>string</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args</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TryWithNameNull</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TryGetFirstName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TryGetLastName</a:t>
            </a:r>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Console.WriteLine</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"Press any key to exist."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Console.ReadKey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void</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TryWithNameNull</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try</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Employee(</a:t>
            </a:r>
            <a:r>
              <a:rPr lang="en-IN" sz="1050" dirty="0">
                <a:solidFill>
                  <a:srgbClr val="0000FF"/>
                </a:solidFill>
                <a:latin typeface="Cascadia Mono" panose="020B0609020000020004" pitchFamily="49" charset="0"/>
              </a:rPr>
              <a:t>null</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catch</a:t>
            </a:r>
            <a:r>
              <a:rPr lang="en-IN" sz="1050" dirty="0">
                <a:solidFill>
                  <a:srgbClr val="000000"/>
                </a:solidFill>
                <a:latin typeface="Cascadia Mono" panose="020B0609020000020004" pitchFamily="49" charset="0"/>
              </a:rPr>
              <a:t> (Exception ex)</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ex.GetType</a:t>
            </a:r>
            <a:r>
              <a:rPr lang="en-IN" sz="1050" dirty="0">
                <a:solidFill>
                  <a:srgbClr val="000000"/>
                </a:solidFill>
                <a:latin typeface="Cascadia Mono" panose="020B0609020000020004" pitchFamily="49" charset="0"/>
              </a:rPr>
              <a:t>() + </a:t>
            </a:r>
            <a:r>
              <a:rPr lang="en-IN" sz="1050" dirty="0">
                <a:solidFill>
                  <a:srgbClr val="A31515"/>
                </a:solidFill>
                <a:latin typeface="Cascadia Mono" panose="020B0609020000020004" pitchFamily="49" charset="0"/>
              </a:rPr>
              <a:t>": "</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ex.Message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void</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TryGetFirstName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try</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Employee(</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Pranaya</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GetFirstName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catch</a:t>
            </a:r>
            <a:r>
              <a:rPr lang="en-IN" sz="1050" dirty="0">
                <a:solidFill>
                  <a:srgbClr val="000000"/>
                </a:solidFill>
                <a:latin typeface="Cascadia Mono" panose="020B0609020000020004" pitchFamily="49" charset="0"/>
              </a:rPr>
              <a:t> (Exception ex)</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ex.GetType</a:t>
            </a:r>
            <a:r>
              <a:rPr lang="en-IN" sz="1050" dirty="0">
                <a:solidFill>
                  <a:srgbClr val="000000"/>
                </a:solidFill>
                <a:latin typeface="Cascadia Mono" panose="020B0609020000020004" pitchFamily="49" charset="0"/>
              </a:rPr>
              <a:t>() + </a:t>
            </a:r>
            <a:r>
              <a:rPr lang="en-IN" sz="1050" dirty="0">
                <a:solidFill>
                  <a:srgbClr val="A31515"/>
                </a:solidFill>
                <a:latin typeface="Cascadia Mono" panose="020B0609020000020004" pitchFamily="49" charset="0"/>
              </a:rPr>
              <a:t>": "</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ex.Message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void</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TryGetLastName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try</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Employee(</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Pranaya</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GetLastName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catch</a:t>
            </a:r>
            <a:r>
              <a:rPr lang="en-IN" sz="1050" dirty="0">
                <a:solidFill>
                  <a:srgbClr val="000000"/>
                </a:solidFill>
                <a:latin typeface="Cascadia Mono" panose="020B0609020000020004" pitchFamily="49" charset="0"/>
              </a:rPr>
              <a:t> (Exception ex)</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ex.GetType</a:t>
            </a:r>
            <a:r>
              <a:rPr lang="en-IN" sz="1050" dirty="0">
                <a:solidFill>
                  <a:srgbClr val="000000"/>
                </a:solidFill>
                <a:latin typeface="Cascadia Mono" panose="020B0609020000020004" pitchFamily="49" charset="0"/>
              </a:rPr>
              <a:t>() + </a:t>
            </a:r>
            <a:r>
              <a:rPr lang="en-IN" sz="1050" dirty="0">
                <a:solidFill>
                  <a:srgbClr val="A31515"/>
                </a:solidFill>
                <a:latin typeface="Cascadia Mono" panose="020B0609020000020004" pitchFamily="49" charset="0"/>
              </a:rPr>
              <a:t>": "</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ex.Message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285970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563</Words>
  <Application>Microsoft Office PowerPoint</Application>
  <PresentationFormat>Widescreen</PresentationFormat>
  <Paragraphs>96</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Cascadia Mono</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5</cp:revision>
  <dcterms:created xsi:type="dcterms:W3CDTF">2023-02-09T10:44:54Z</dcterms:created>
  <dcterms:modified xsi:type="dcterms:W3CDTF">2023-02-09T10:55:45Z</dcterms:modified>
</cp:coreProperties>
</file>