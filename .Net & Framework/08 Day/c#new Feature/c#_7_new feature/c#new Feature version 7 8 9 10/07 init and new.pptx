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0" r:id="rId3"/>
    <p:sldId id="256" r:id="rId4"/>
    <p:sldId id="257" r:id="rId5"/>
    <p:sldId id="258" r:id="rId6"/>
    <p:sldId id="261" r:id="rId7"/>
    <p:sldId id="262" r:id="rId8"/>
    <p:sldId id="263" r:id="rId9"/>
    <p:sldId id="264" r:id="rId10"/>
    <p:sldId id="266" r:id="rId11"/>
    <p:sldId id="265"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46599-445B-C8E8-B87A-440819C4D7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48B8794-8E92-2CF5-26B8-98BD4D92F6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6BC011D-8628-1D7E-0D12-5851C83BB78A}"/>
              </a:ext>
            </a:extLst>
          </p:cNvPr>
          <p:cNvSpPr>
            <a:spLocks noGrp="1"/>
          </p:cNvSpPr>
          <p:nvPr>
            <p:ph type="dt" sz="half" idx="10"/>
          </p:nvPr>
        </p:nvSpPr>
        <p:spPr/>
        <p:txBody>
          <a:bodyPr/>
          <a:lstStyle/>
          <a:p>
            <a:fld id="{6EE6307C-BF2E-4428-9B01-7618C56651AF}" type="datetimeFigureOut">
              <a:rPr lang="en-IN" smtClean="0"/>
              <a:t>12-02-2023</a:t>
            </a:fld>
            <a:endParaRPr lang="en-IN"/>
          </a:p>
        </p:txBody>
      </p:sp>
      <p:sp>
        <p:nvSpPr>
          <p:cNvPr id="5" name="Footer Placeholder 4">
            <a:extLst>
              <a:ext uri="{FF2B5EF4-FFF2-40B4-BE49-F238E27FC236}">
                <a16:creationId xmlns:a16="http://schemas.microsoft.com/office/drawing/2014/main" id="{49722291-002C-F196-1BDB-F843C47E72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85CA02-9926-54D0-369A-BD6DBD81B7F8}"/>
              </a:ext>
            </a:extLst>
          </p:cNvPr>
          <p:cNvSpPr>
            <a:spLocks noGrp="1"/>
          </p:cNvSpPr>
          <p:nvPr>
            <p:ph type="sldNum" sz="quarter" idx="12"/>
          </p:nvPr>
        </p:nvSpPr>
        <p:spPr/>
        <p:txBody>
          <a:bodyPr/>
          <a:lstStyle/>
          <a:p>
            <a:fld id="{13F171C1-D27B-47B5-A1CB-359E61995AF8}" type="slidenum">
              <a:rPr lang="en-IN" smtClean="0"/>
              <a:t>‹#›</a:t>
            </a:fld>
            <a:endParaRPr lang="en-IN"/>
          </a:p>
        </p:txBody>
      </p:sp>
    </p:spTree>
    <p:extLst>
      <p:ext uri="{BB962C8B-B14F-4D97-AF65-F5344CB8AC3E}">
        <p14:creationId xmlns:p14="http://schemas.microsoft.com/office/powerpoint/2010/main" val="1767902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6B727-A79F-F2BA-FB7C-8C9E2F13B4B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5CB4CB3-4126-D93C-8D80-2768B27936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1A9A28-4A1B-F90D-6F8C-71948A74E44E}"/>
              </a:ext>
            </a:extLst>
          </p:cNvPr>
          <p:cNvSpPr>
            <a:spLocks noGrp="1"/>
          </p:cNvSpPr>
          <p:nvPr>
            <p:ph type="dt" sz="half" idx="10"/>
          </p:nvPr>
        </p:nvSpPr>
        <p:spPr/>
        <p:txBody>
          <a:bodyPr/>
          <a:lstStyle/>
          <a:p>
            <a:fld id="{6EE6307C-BF2E-4428-9B01-7618C56651AF}" type="datetimeFigureOut">
              <a:rPr lang="en-IN" smtClean="0"/>
              <a:t>12-02-2023</a:t>
            </a:fld>
            <a:endParaRPr lang="en-IN"/>
          </a:p>
        </p:txBody>
      </p:sp>
      <p:sp>
        <p:nvSpPr>
          <p:cNvPr id="5" name="Footer Placeholder 4">
            <a:extLst>
              <a:ext uri="{FF2B5EF4-FFF2-40B4-BE49-F238E27FC236}">
                <a16:creationId xmlns:a16="http://schemas.microsoft.com/office/drawing/2014/main" id="{067BE352-3868-ABB3-D71E-8410A36F05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29231C-114C-7FF0-DF20-08D49C4E7626}"/>
              </a:ext>
            </a:extLst>
          </p:cNvPr>
          <p:cNvSpPr>
            <a:spLocks noGrp="1"/>
          </p:cNvSpPr>
          <p:nvPr>
            <p:ph type="sldNum" sz="quarter" idx="12"/>
          </p:nvPr>
        </p:nvSpPr>
        <p:spPr/>
        <p:txBody>
          <a:bodyPr/>
          <a:lstStyle/>
          <a:p>
            <a:fld id="{13F171C1-D27B-47B5-A1CB-359E61995AF8}" type="slidenum">
              <a:rPr lang="en-IN" smtClean="0"/>
              <a:t>‹#›</a:t>
            </a:fld>
            <a:endParaRPr lang="en-IN"/>
          </a:p>
        </p:txBody>
      </p:sp>
    </p:spTree>
    <p:extLst>
      <p:ext uri="{BB962C8B-B14F-4D97-AF65-F5344CB8AC3E}">
        <p14:creationId xmlns:p14="http://schemas.microsoft.com/office/powerpoint/2010/main" val="1166621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97B91-55E7-EBB0-FFCC-6DF2943076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134913D-7009-CE42-7443-551D4271D1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0AE124-4FAE-3EEF-F343-5D68CD447A02}"/>
              </a:ext>
            </a:extLst>
          </p:cNvPr>
          <p:cNvSpPr>
            <a:spLocks noGrp="1"/>
          </p:cNvSpPr>
          <p:nvPr>
            <p:ph type="dt" sz="half" idx="10"/>
          </p:nvPr>
        </p:nvSpPr>
        <p:spPr/>
        <p:txBody>
          <a:bodyPr/>
          <a:lstStyle/>
          <a:p>
            <a:fld id="{6EE6307C-BF2E-4428-9B01-7618C56651AF}" type="datetimeFigureOut">
              <a:rPr lang="en-IN" smtClean="0"/>
              <a:t>12-02-2023</a:t>
            </a:fld>
            <a:endParaRPr lang="en-IN"/>
          </a:p>
        </p:txBody>
      </p:sp>
      <p:sp>
        <p:nvSpPr>
          <p:cNvPr id="5" name="Footer Placeholder 4">
            <a:extLst>
              <a:ext uri="{FF2B5EF4-FFF2-40B4-BE49-F238E27FC236}">
                <a16:creationId xmlns:a16="http://schemas.microsoft.com/office/drawing/2014/main" id="{04BE3F9E-BC4C-2011-1A6C-9AB49953E2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35A77F-D22C-1FF8-F244-92FE8068B9ED}"/>
              </a:ext>
            </a:extLst>
          </p:cNvPr>
          <p:cNvSpPr>
            <a:spLocks noGrp="1"/>
          </p:cNvSpPr>
          <p:nvPr>
            <p:ph type="sldNum" sz="quarter" idx="12"/>
          </p:nvPr>
        </p:nvSpPr>
        <p:spPr/>
        <p:txBody>
          <a:bodyPr/>
          <a:lstStyle/>
          <a:p>
            <a:fld id="{13F171C1-D27B-47B5-A1CB-359E61995AF8}" type="slidenum">
              <a:rPr lang="en-IN" smtClean="0"/>
              <a:t>‹#›</a:t>
            </a:fld>
            <a:endParaRPr lang="en-IN"/>
          </a:p>
        </p:txBody>
      </p:sp>
    </p:spTree>
    <p:extLst>
      <p:ext uri="{BB962C8B-B14F-4D97-AF65-F5344CB8AC3E}">
        <p14:creationId xmlns:p14="http://schemas.microsoft.com/office/powerpoint/2010/main" val="817959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5B985-E5DA-FDDE-9E41-C6DA9A2506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B63273-3F3D-C3D8-AA2C-ACB1685FD7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0A141D4-B612-D0AE-0C48-C5B3978D80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A31D6C2-E7B7-86C4-F8E3-12C61F1EBA7C}"/>
              </a:ext>
            </a:extLst>
          </p:cNvPr>
          <p:cNvSpPr>
            <a:spLocks noGrp="1"/>
          </p:cNvSpPr>
          <p:nvPr>
            <p:ph type="dt" sz="half" idx="10"/>
          </p:nvPr>
        </p:nvSpPr>
        <p:spPr/>
        <p:txBody>
          <a:bodyPr/>
          <a:lstStyle/>
          <a:p>
            <a:fld id="{6EE6307C-BF2E-4428-9B01-7618C56651AF}" type="datetimeFigureOut">
              <a:rPr lang="en-IN" smtClean="0"/>
              <a:t>12-02-2023</a:t>
            </a:fld>
            <a:endParaRPr lang="en-IN"/>
          </a:p>
        </p:txBody>
      </p:sp>
      <p:sp>
        <p:nvSpPr>
          <p:cNvPr id="6" name="Footer Placeholder 5">
            <a:extLst>
              <a:ext uri="{FF2B5EF4-FFF2-40B4-BE49-F238E27FC236}">
                <a16:creationId xmlns:a16="http://schemas.microsoft.com/office/drawing/2014/main" id="{BA201607-013B-B75A-B465-A6A10086AF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C4B1F9-10F2-074E-CE95-3B3ACB626374}"/>
              </a:ext>
            </a:extLst>
          </p:cNvPr>
          <p:cNvSpPr>
            <a:spLocks noGrp="1"/>
          </p:cNvSpPr>
          <p:nvPr>
            <p:ph type="sldNum" sz="quarter" idx="12"/>
          </p:nvPr>
        </p:nvSpPr>
        <p:spPr/>
        <p:txBody>
          <a:bodyPr/>
          <a:lstStyle/>
          <a:p>
            <a:fld id="{13F171C1-D27B-47B5-A1CB-359E61995AF8}" type="slidenum">
              <a:rPr lang="en-IN" smtClean="0"/>
              <a:t>‹#›</a:t>
            </a:fld>
            <a:endParaRPr lang="en-IN"/>
          </a:p>
        </p:txBody>
      </p:sp>
    </p:spTree>
    <p:extLst>
      <p:ext uri="{BB962C8B-B14F-4D97-AF65-F5344CB8AC3E}">
        <p14:creationId xmlns:p14="http://schemas.microsoft.com/office/powerpoint/2010/main" val="2742986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F10ED-6C01-6C3D-38DB-58B554951D2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F06C591-BC68-31CF-4D80-FC735B6269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F5317F-CE72-981C-69F0-7B53948BCE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0E2F169-1C58-49BC-090B-8480BDF210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2DC057-DDF4-28EE-5A7E-3959F1B2A0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5654D5B-BF7F-0A4B-AD02-1141144F0E9C}"/>
              </a:ext>
            </a:extLst>
          </p:cNvPr>
          <p:cNvSpPr>
            <a:spLocks noGrp="1"/>
          </p:cNvSpPr>
          <p:nvPr>
            <p:ph type="dt" sz="half" idx="10"/>
          </p:nvPr>
        </p:nvSpPr>
        <p:spPr/>
        <p:txBody>
          <a:bodyPr/>
          <a:lstStyle/>
          <a:p>
            <a:fld id="{6EE6307C-BF2E-4428-9B01-7618C56651AF}" type="datetimeFigureOut">
              <a:rPr lang="en-IN" smtClean="0"/>
              <a:t>12-02-2023</a:t>
            </a:fld>
            <a:endParaRPr lang="en-IN"/>
          </a:p>
        </p:txBody>
      </p:sp>
      <p:sp>
        <p:nvSpPr>
          <p:cNvPr id="8" name="Footer Placeholder 7">
            <a:extLst>
              <a:ext uri="{FF2B5EF4-FFF2-40B4-BE49-F238E27FC236}">
                <a16:creationId xmlns:a16="http://schemas.microsoft.com/office/drawing/2014/main" id="{13835E51-5C71-2DB8-233B-95A2E36DB8F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3043D85-1BCE-61EB-5356-DD76F8C1DAA4}"/>
              </a:ext>
            </a:extLst>
          </p:cNvPr>
          <p:cNvSpPr>
            <a:spLocks noGrp="1"/>
          </p:cNvSpPr>
          <p:nvPr>
            <p:ph type="sldNum" sz="quarter" idx="12"/>
          </p:nvPr>
        </p:nvSpPr>
        <p:spPr/>
        <p:txBody>
          <a:bodyPr/>
          <a:lstStyle/>
          <a:p>
            <a:fld id="{13F171C1-D27B-47B5-A1CB-359E61995AF8}" type="slidenum">
              <a:rPr lang="en-IN" smtClean="0"/>
              <a:t>‹#›</a:t>
            </a:fld>
            <a:endParaRPr lang="en-IN"/>
          </a:p>
        </p:txBody>
      </p:sp>
    </p:spTree>
    <p:extLst>
      <p:ext uri="{BB962C8B-B14F-4D97-AF65-F5344CB8AC3E}">
        <p14:creationId xmlns:p14="http://schemas.microsoft.com/office/powerpoint/2010/main" val="397821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172E2-5965-1F43-E651-6D6182454DD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E5E4590-0E7D-6F06-0E97-889C069AA10B}"/>
              </a:ext>
            </a:extLst>
          </p:cNvPr>
          <p:cNvSpPr>
            <a:spLocks noGrp="1"/>
          </p:cNvSpPr>
          <p:nvPr>
            <p:ph type="dt" sz="half" idx="10"/>
          </p:nvPr>
        </p:nvSpPr>
        <p:spPr/>
        <p:txBody>
          <a:bodyPr/>
          <a:lstStyle/>
          <a:p>
            <a:fld id="{6EE6307C-BF2E-4428-9B01-7618C56651AF}" type="datetimeFigureOut">
              <a:rPr lang="en-IN" smtClean="0"/>
              <a:t>12-02-2023</a:t>
            </a:fld>
            <a:endParaRPr lang="en-IN"/>
          </a:p>
        </p:txBody>
      </p:sp>
      <p:sp>
        <p:nvSpPr>
          <p:cNvPr id="4" name="Footer Placeholder 3">
            <a:extLst>
              <a:ext uri="{FF2B5EF4-FFF2-40B4-BE49-F238E27FC236}">
                <a16:creationId xmlns:a16="http://schemas.microsoft.com/office/drawing/2014/main" id="{BDF35FC0-C5AD-6453-E92A-68A444D7D02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120C8C3-543A-B009-95D5-95A33853001D}"/>
              </a:ext>
            </a:extLst>
          </p:cNvPr>
          <p:cNvSpPr>
            <a:spLocks noGrp="1"/>
          </p:cNvSpPr>
          <p:nvPr>
            <p:ph type="sldNum" sz="quarter" idx="12"/>
          </p:nvPr>
        </p:nvSpPr>
        <p:spPr/>
        <p:txBody>
          <a:bodyPr/>
          <a:lstStyle/>
          <a:p>
            <a:fld id="{13F171C1-D27B-47B5-A1CB-359E61995AF8}" type="slidenum">
              <a:rPr lang="en-IN" smtClean="0"/>
              <a:t>‹#›</a:t>
            </a:fld>
            <a:endParaRPr lang="en-IN"/>
          </a:p>
        </p:txBody>
      </p:sp>
    </p:spTree>
    <p:extLst>
      <p:ext uri="{BB962C8B-B14F-4D97-AF65-F5344CB8AC3E}">
        <p14:creationId xmlns:p14="http://schemas.microsoft.com/office/powerpoint/2010/main" val="3173273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2A84FC-E31D-6640-3A36-2EF168A8D29A}"/>
              </a:ext>
            </a:extLst>
          </p:cNvPr>
          <p:cNvSpPr>
            <a:spLocks noGrp="1"/>
          </p:cNvSpPr>
          <p:nvPr>
            <p:ph type="dt" sz="half" idx="10"/>
          </p:nvPr>
        </p:nvSpPr>
        <p:spPr/>
        <p:txBody>
          <a:bodyPr/>
          <a:lstStyle/>
          <a:p>
            <a:fld id="{6EE6307C-BF2E-4428-9B01-7618C56651AF}" type="datetimeFigureOut">
              <a:rPr lang="en-IN" smtClean="0"/>
              <a:t>12-02-2023</a:t>
            </a:fld>
            <a:endParaRPr lang="en-IN"/>
          </a:p>
        </p:txBody>
      </p:sp>
      <p:sp>
        <p:nvSpPr>
          <p:cNvPr id="3" name="Footer Placeholder 2">
            <a:extLst>
              <a:ext uri="{FF2B5EF4-FFF2-40B4-BE49-F238E27FC236}">
                <a16:creationId xmlns:a16="http://schemas.microsoft.com/office/drawing/2014/main" id="{6D74BA8B-07A4-93C7-270D-AF8E7B1D3CC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37BD51C-B68B-79C9-F1B8-C66E8987FE30}"/>
              </a:ext>
            </a:extLst>
          </p:cNvPr>
          <p:cNvSpPr>
            <a:spLocks noGrp="1"/>
          </p:cNvSpPr>
          <p:nvPr>
            <p:ph type="sldNum" sz="quarter" idx="12"/>
          </p:nvPr>
        </p:nvSpPr>
        <p:spPr/>
        <p:txBody>
          <a:bodyPr/>
          <a:lstStyle/>
          <a:p>
            <a:fld id="{13F171C1-D27B-47B5-A1CB-359E61995AF8}" type="slidenum">
              <a:rPr lang="en-IN" smtClean="0"/>
              <a:t>‹#›</a:t>
            </a:fld>
            <a:endParaRPr lang="en-IN"/>
          </a:p>
        </p:txBody>
      </p:sp>
    </p:spTree>
    <p:extLst>
      <p:ext uri="{BB962C8B-B14F-4D97-AF65-F5344CB8AC3E}">
        <p14:creationId xmlns:p14="http://schemas.microsoft.com/office/powerpoint/2010/main" val="2401270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9ACEF-F735-79BE-1A00-DCC05196C1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8861E28-EFF9-7F5E-297B-B1A30BD521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9E177A7-3C25-AD7D-EAE7-3529347B79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BEA6E4-6B23-EA89-E188-4A6BBDCFFF56}"/>
              </a:ext>
            </a:extLst>
          </p:cNvPr>
          <p:cNvSpPr>
            <a:spLocks noGrp="1"/>
          </p:cNvSpPr>
          <p:nvPr>
            <p:ph type="dt" sz="half" idx="10"/>
          </p:nvPr>
        </p:nvSpPr>
        <p:spPr/>
        <p:txBody>
          <a:bodyPr/>
          <a:lstStyle/>
          <a:p>
            <a:fld id="{6EE6307C-BF2E-4428-9B01-7618C56651AF}" type="datetimeFigureOut">
              <a:rPr lang="en-IN" smtClean="0"/>
              <a:t>12-02-2023</a:t>
            </a:fld>
            <a:endParaRPr lang="en-IN"/>
          </a:p>
        </p:txBody>
      </p:sp>
      <p:sp>
        <p:nvSpPr>
          <p:cNvPr id="6" name="Footer Placeholder 5">
            <a:extLst>
              <a:ext uri="{FF2B5EF4-FFF2-40B4-BE49-F238E27FC236}">
                <a16:creationId xmlns:a16="http://schemas.microsoft.com/office/drawing/2014/main" id="{19F0EBBF-5614-86D4-7BA7-D8295D7574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CB0305-B95E-D89A-D95F-46B2FC7AA5D0}"/>
              </a:ext>
            </a:extLst>
          </p:cNvPr>
          <p:cNvSpPr>
            <a:spLocks noGrp="1"/>
          </p:cNvSpPr>
          <p:nvPr>
            <p:ph type="sldNum" sz="quarter" idx="12"/>
          </p:nvPr>
        </p:nvSpPr>
        <p:spPr/>
        <p:txBody>
          <a:bodyPr/>
          <a:lstStyle/>
          <a:p>
            <a:fld id="{13F171C1-D27B-47B5-A1CB-359E61995AF8}" type="slidenum">
              <a:rPr lang="en-IN" smtClean="0"/>
              <a:t>‹#›</a:t>
            </a:fld>
            <a:endParaRPr lang="en-IN"/>
          </a:p>
        </p:txBody>
      </p:sp>
    </p:spTree>
    <p:extLst>
      <p:ext uri="{BB962C8B-B14F-4D97-AF65-F5344CB8AC3E}">
        <p14:creationId xmlns:p14="http://schemas.microsoft.com/office/powerpoint/2010/main" val="2187197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F47B2-55DC-39B1-5062-32DC964D9E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82C084C-C1A6-40EE-7BF2-3092A9DE4C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90082BA-95EE-F4E9-A672-03F2894C3E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495F03-3A7E-31C5-9309-1D02D02B8BDB}"/>
              </a:ext>
            </a:extLst>
          </p:cNvPr>
          <p:cNvSpPr>
            <a:spLocks noGrp="1"/>
          </p:cNvSpPr>
          <p:nvPr>
            <p:ph type="dt" sz="half" idx="10"/>
          </p:nvPr>
        </p:nvSpPr>
        <p:spPr/>
        <p:txBody>
          <a:bodyPr/>
          <a:lstStyle/>
          <a:p>
            <a:fld id="{6EE6307C-BF2E-4428-9B01-7618C56651AF}" type="datetimeFigureOut">
              <a:rPr lang="en-IN" smtClean="0"/>
              <a:t>12-02-2023</a:t>
            </a:fld>
            <a:endParaRPr lang="en-IN"/>
          </a:p>
        </p:txBody>
      </p:sp>
      <p:sp>
        <p:nvSpPr>
          <p:cNvPr id="6" name="Footer Placeholder 5">
            <a:extLst>
              <a:ext uri="{FF2B5EF4-FFF2-40B4-BE49-F238E27FC236}">
                <a16:creationId xmlns:a16="http://schemas.microsoft.com/office/drawing/2014/main" id="{23450DA4-3197-F8BE-6EAB-D969C3BF56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BE9F92-405A-2914-8CCD-B68230466CDC}"/>
              </a:ext>
            </a:extLst>
          </p:cNvPr>
          <p:cNvSpPr>
            <a:spLocks noGrp="1"/>
          </p:cNvSpPr>
          <p:nvPr>
            <p:ph type="sldNum" sz="quarter" idx="12"/>
          </p:nvPr>
        </p:nvSpPr>
        <p:spPr/>
        <p:txBody>
          <a:bodyPr/>
          <a:lstStyle/>
          <a:p>
            <a:fld id="{13F171C1-D27B-47B5-A1CB-359E61995AF8}" type="slidenum">
              <a:rPr lang="en-IN" smtClean="0"/>
              <a:t>‹#›</a:t>
            </a:fld>
            <a:endParaRPr lang="en-IN"/>
          </a:p>
        </p:txBody>
      </p:sp>
    </p:spTree>
    <p:extLst>
      <p:ext uri="{BB962C8B-B14F-4D97-AF65-F5344CB8AC3E}">
        <p14:creationId xmlns:p14="http://schemas.microsoft.com/office/powerpoint/2010/main" val="3559988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B9EA2-7E26-60CA-519F-724A143B34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AE2212A-0301-EC1B-99FC-6CE1BEAC37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DD87F8-9FCF-3C98-8409-3C99DE3F26C5}"/>
              </a:ext>
            </a:extLst>
          </p:cNvPr>
          <p:cNvSpPr>
            <a:spLocks noGrp="1"/>
          </p:cNvSpPr>
          <p:nvPr>
            <p:ph type="dt" sz="half" idx="10"/>
          </p:nvPr>
        </p:nvSpPr>
        <p:spPr/>
        <p:txBody>
          <a:bodyPr/>
          <a:lstStyle/>
          <a:p>
            <a:fld id="{6EE6307C-BF2E-4428-9B01-7618C56651AF}" type="datetimeFigureOut">
              <a:rPr lang="en-IN" smtClean="0"/>
              <a:t>12-02-2023</a:t>
            </a:fld>
            <a:endParaRPr lang="en-IN"/>
          </a:p>
        </p:txBody>
      </p:sp>
      <p:sp>
        <p:nvSpPr>
          <p:cNvPr id="5" name="Footer Placeholder 4">
            <a:extLst>
              <a:ext uri="{FF2B5EF4-FFF2-40B4-BE49-F238E27FC236}">
                <a16:creationId xmlns:a16="http://schemas.microsoft.com/office/drawing/2014/main" id="{78A26238-A2C4-5511-A4C6-559C42284B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99A99B-C0BC-8275-FBD4-C58AAC1EAC80}"/>
              </a:ext>
            </a:extLst>
          </p:cNvPr>
          <p:cNvSpPr>
            <a:spLocks noGrp="1"/>
          </p:cNvSpPr>
          <p:nvPr>
            <p:ph type="sldNum" sz="quarter" idx="12"/>
          </p:nvPr>
        </p:nvSpPr>
        <p:spPr/>
        <p:txBody>
          <a:bodyPr/>
          <a:lstStyle/>
          <a:p>
            <a:fld id="{13F171C1-D27B-47B5-A1CB-359E61995AF8}" type="slidenum">
              <a:rPr lang="en-IN" smtClean="0"/>
              <a:t>‹#›</a:t>
            </a:fld>
            <a:endParaRPr lang="en-IN"/>
          </a:p>
        </p:txBody>
      </p:sp>
    </p:spTree>
    <p:extLst>
      <p:ext uri="{BB962C8B-B14F-4D97-AF65-F5344CB8AC3E}">
        <p14:creationId xmlns:p14="http://schemas.microsoft.com/office/powerpoint/2010/main" val="10105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CAE0A1-9B4C-929A-C834-93A422E1CC4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9A5F4F-4824-4460-4395-353D52AB09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F49625-6996-2163-60B7-A4B927056C10}"/>
              </a:ext>
            </a:extLst>
          </p:cNvPr>
          <p:cNvSpPr>
            <a:spLocks noGrp="1"/>
          </p:cNvSpPr>
          <p:nvPr>
            <p:ph type="dt" sz="half" idx="10"/>
          </p:nvPr>
        </p:nvSpPr>
        <p:spPr/>
        <p:txBody>
          <a:bodyPr/>
          <a:lstStyle/>
          <a:p>
            <a:fld id="{6EE6307C-BF2E-4428-9B01-7618C56651AF}" type="datetimeFigureOut">
              <a:rPr lang="en-IN" smtClean="0"/>
              <a:t>12-02-2023</a:t>
            </a:fld>
            <a:endParaRPr lang="en-IN"/>
          </a:p>
        </p:txBody>
      </p:sp>
      <p:sp>
        <p:nvSpPr>
          <p:cNvPr id="5" name="Footer Placeholder 4">
            <a:extLst>
              <a:ext uri="{FF2B5EF4-FFF2-40B4-BE49-F238E27FC236}">
                <a16:creationId xmlns:a16="http://schemas.microsoft.com/office/drawing/2014/main" id="{7407B405-607D-578D-D040-8637A40BCA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D9C337-48AA-03D6-5E19-9AA91A79BE97}"/>
              </a:ext>
            </a:extLst>
          </p:cNvPr>
          <p:cNvSpPr>
            <a:spLocks noGrp="1"/>
          </p:cNvSpPr>
          <p:nvPr>
            <p:ph type="sldNum" sz="quarter" idx="12"/>
          </p:nvPr>
        </p:nvSpPr>
        <p:spPr/>
        <p:txBody>
          <a:bodyPr/>
          <a:lstStyle/>
          <a:p>
            <a:fld id="{13F171C1-D27B-47B5-A1CB-359E61995AF8}" type="slidenum">
              <a:rPr lang="en-IN" smtClean="0"/>
              <a:t>‹#›</a:t>
            </a:fld>
            <a:endParaRPr lang="en-IN"/>
          </a:p>
        </p:txBody>
      </p:sp>
    </p:spTree>
    <p:extLst>
      <p:ext uri="{BB962C8B-B14F-4D97-AF65-F5344CB8AC3E}">
        <p14:creationId xmlns:p14="http://schemas.microsoft.com/office/powerpoint/2010/main" val="2568121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E68002-2AA6-7725-A461-849A5FA46E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42D5E5-2EC6-1AA9-76D0-9738B37B3D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D62ABB-4CDC-DA27-10E9-FB321D70B6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E6307C-BF2E-4428-9B01-7618C56651AF}" type="datetimeFigureOut">
              <a:rPr lang="en-IN" smtClean="0"/>
              <a:t>12-02-2023</a:t>
            </a:fld>
            <a:endParaRPr lang="en-IN"/>
          </a:p>
        </p:txBody>
      </p:sp>
      <p:sp>
        <p:nvSpPr>
          <p:cNvPr id="5" name="Footer Placeholder 4">
            <a:extLst>
              <a:ext uri="{FF2B5EF4-FFF2-40B4-BE49-F238E27FC236}">
                <a16:creationId xmlns:a16="http://schemas.microsoft.com/office/drawing/2014/main" id="{F0C8618A-7838-A245-A3FC-FF2267D0F3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FFE376E-2667-5800-A1C7-09BFC0F068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F171C1-D27B-47B5-A1CB-359E61995AF8}" type="slidenum">
              <a:rPr lang="en-IN" smtClean="0"/>
              <a:t>‹#›</a:t>
            </a:fld>
            <a:endParaRPr lang="en-IN"/>
          </a:p>
        </p:txBody>
      </p:sp>
    </p:spTree>
    <p:extLst>
      <p:ext uri="{BB962C8B-B14F-4D97-AF65-F5344CB8AC3E}">
        <p14:creationId xmlns:p14="http://schemas.microsoft.com/office/powerpoint/2010/main" val="3475180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learn.microsoft.com/en-us/dotnet/csharp/language-reference/statements/declarations#implicitly-typed-local-variable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docs.microsoft.com/en-us/dotnet/csharp/"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cs.microsoft.com/en-us/dotnet/csharp/whats-new/csharp-10" TargetMode="External"/><Relationship Id="rId2" Type="http://schemas.openxmlformats.org/officeDocument/2006/relationships/hyperlink" Target="https://docs.microsoft.com/en-us/dotnet/csharp/"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DA9F91C-AC50-E5EE-AA46-56515E7BAF20}"/>
              </a:ext>
            </a:extLst>
          </p:cNvPr>
          <p:cNvSpPr txBox="1"/>
          <p:nvPr/>
        </p:nvSpPr>
        <p:spPr>
          <a:xfrm>
            <a:off x="96625" y="5361"/>
            <a:ext cx="6094428" cy="369332"/>
          </a:xfrm>
          <a:prstGeom prst="rect">
            <a:avLst/>
          </a:prstGeom>
          <a:noFill/>
        </p:spPr>
        <p:txBody>
          <a:bodyPr wrap="square">
            <a:spAutoFit/>
          </a:bodyPr>
          <a:lstStyle/>
          <a:p>
            <a:pPr algn="l"/>
            <a:r>
              <a:rPr lang="en-IN" b="0" i="0" dirty="0">
                <a:solidFill>
                  <a:srgbClr val="454C55"/>
                </a:solidFill>
                <a:effectLst/>
                <a:latin typeface="Open Sans" panose="020B0606030504020204" pitchFamily="34" charset="0"/>
              </a:rPr>
              <a:t>String Interpolation (C# 6)</a:t>
            </a:r>
          </a:p>
        </p:txBody>
      </p:sp>
      <p:sp>
        <p:nvSpPr>
          <p:cNvPr id="7" name="TextBox 6">
            <a:extLst>
              <a:ext uri="{FF2B5EF4-FFF2-40B4-BE49-F238E27FC236}">
                <a16:creationId xmlns:a16="http://schemas.microsoft.com/office/drawing/2014/main" id="{21BC2631-B2C6-F2FB-A4CE-B4C77537A136}"/>
              </a:ext>
            </a:extLst>
          </p:cNvPr>
          <p:cNvSpPr txBox="1"/>
          <p:nvPr/>
        </p:nvSpPr>
        <p:spPr>
          <a:xfrm>
            <a:off x="6191053" y="832736"/>
            <a:ext cx="6094428" cy="4185761"/>
          </a:xfrm>
          <a:prstGeom prst="rect">
            <a:avLst/>
          </a:prstGeom>
          <a:noFill/>
        </p:spPr>
        <p:txBody>
          <a:bodyPr wrap="square">
            <a:spAutoFit/>
          </a:bodyPr>
          <a:lstStyle/>
          <a:p>
            <a:endParaRPr lang="en-IN" sz="1400" dirty="0">
              <a:solidFill>
                <a:srgbClr val="000000"/>
              </a:solidFill>
              <a:latin typeface="Cascadia Mono" panose="020B0609020000020004" pitchFamily="49" charset="0"/>
            </a:endParaRPr>
          </a:p>
          <a:p>
            <a:r>
              <a:rPr lang="en-IN" sz="1400" dirty="0">
                <a:solidFill>
                  <a:srgbClr val="0000FF"/>
                </a:solidFill>
                <a:latin typeface="Cascadia Mono" panose="020B0609020000020004" pitchFamily="49" charset="0"/>
              </a:rPr>
              <a:t>using</a:t>
            </a:r>
            <a:r>
              <a:rPr lang="en-IN" sz="1400" dirty="0">
                <a:solidFill>
                  <a:srgbClr val="000000"/>
                </a:solidFill>
                <a:latin typeface="Cascadia Mono" panose="020B0609020000020004" pitchFamily="49" charset="0"/>
              </a:rPr>
              <a:t> System;</a:t>
            </a:r>
          </a:p>
          <a:p>
            <a:endParaRPr lang="en-IN" sz="1400" dirty="0">
              <a:solidFill>
                <a:srgbClr val="000000"/>
              </a:solidFill>
              <a:latin typeface="Cascadia Mono" panose="020B0609020000020004" pitchFamily="49" charset="0"/>
            </a:endParaRPr>
          </a:p>
          <a:p>
            <a:r>
              <a:rPr lang="en-IN" sz="1400" dirty="0">
                <a:solidFill>
                  <a:srgbClr val="0000FF"/>
                </a:solidFill>
                <a:latin typeface="Cascadia Mono" panose="020B0609020000020004" pitchFamily="49" charset="0"/>
              </a:rPr>
              <a:t>class</a:t>
            </a:r>
            <a:r>
              <a:rPr lang="en-IN" sz="1400" dirty="0">
                <a:solidFill>
                  <a:srgbClr val="000000"/>
                </a:solidFill>
                <a:latin typeface="Cascadia Mono" panose="020B0609020000020004" pitchFamily="49" charset="0"/>
              </a:rPr>
              <a:t> </a:t>
            </a:r>
            <a:r>
              <a:rPr lang="en-IN" sz="1400" dirty="0">
                <a:solidFill>
                  <a:srgbClr val="2B91AF"/>
                </a:solidFill>
                <a:latin typeface="Cascadia Mono" panose="020B0609020000020004" pitchFamily="49" charset="0"/>
              </a:rPr>
              <a:t>Hello</a:t>
            </a:r>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static</a:t>
            </a:r>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void</a:t>
            </a:r>
            <a:r>
              <a:rPr lang="en-IN" sz="1400" dirty="0">
                <a:solidFill>
                  <a:srgbClr val="000000"/>
                </a:solidFill>
                <a:latin typeface="Cascadia Mono" panose="020B0609020000020004" pitchFamily="49" charset="0"/>
              </a:rPr>
              <a:t> Main()</a:t>
            </a:r>
          </a:p>
          <a:p>
            <a:r>
              <a:rPr lang="en-IN" sz="1400" dirty="0">
                <a:solidFill>
                  <a:srgbClr val="000000"/>
                </a:solidFill>
                <a:latin typeface="Cascadia Mono" panose="020B0609020000020004" pitchFamily="49" charset="0"/>
              </a:rPr>
              <a:t>    {</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var</a:t>
            </a:r>
            <a:r>
              <a:rPr lang="en-IN" sz="1400" dirty="0">
                <a:solidFill>
                  <a:srgbClr val="000000"/>
                </a:solidFill>
                <a:latin typeface="Cascadia Mono" panose="020B0609020000020004" pitchFamily="49" charset="0"/>
              </a:rPr>
              <a:t> title = </a:t>
            </a:r>
            <a:r>
              <a:rPr lang="en-IN" sz="1400" dirty="0">
                <a:solidFill>
                  <a:srgbClr val="A31515"/>
                </a:solidFill>
                <a:latin typeface="Cascadia Mono" panose="020B0609020000020004" pitchFamily="49" charset="0"/>
              </a:rPr>
              <a:t>"Mr"</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var</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firstName</a:t>
            </a:r>
            <a:r>
              <a:rPr lang="en-IN" sz="1400" dirty="0">
                <a:solidFill>
                  <a:srgbClr val="000000"/>
                </a:solidFill>
                <a:latin typeface="Cascadia Mono" panose="020B0609020000020004" pitchFamily="49" charset="0"/>
              </a:rPr>
              <a:t> = </a:t>
            </a:r>
            <a:r>
              <a:rPr lang="en-IN" sz="1400" dirty="0">
                <a:solidFill>
                  <a:srgbClr val="A31515"/>
                </a:solidFill>
                <a:latin typeface="Cascadia Mono" panose="020B0609020000020004" pitchFamily="49" charset="0"/>
              </a:rPr>
              <a:t>"Joe"</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var</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lastName</a:t>
            </a:r>
            <a:r>
              <a:rPr lang="en-IN" sz="1400" dirty="0">
                <a:solidFill>
                  <a:srgbClr val="000000"/>
                </a:solidFill>
                <a:latin typeface="Cascadia Mono" panose="020B0609020000020004" pitchFamily="49" charset="0"/>
              </a:rPr>
              <a:t> = </a:t>
            </a:r>
            <a:r>
              <a:rPr lang="en-IN" sz="1400" dirty="0">
                <a:solidFill>
                  <a:srgbClr val="A31515"/>
                </a:solidFill>
                <a:latin typeface="Cascadia Mono" panose="020B0609020000020004" pitchFamily="49" charset="0"/>
              </a:rPr>
              <a:t>"Bloggs"</a:t>
            </a:r>
            <a:r>
              <a:rPr lang="en-IN" sz="1400" dirty="0">
                <a:solidFill>
                  <a:srgbClr val="000000"/>
                </a:solidFill>
                <a:latin typeface="Cascadia Mono" panose="020B0609020000020004" pitchFamily="49" charset="0"/>
              </a:rPr>
              <a:t>;</a:t>
            </a:r>
          </a:p>
          <a:p>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var</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fullName</a:t>
            </a:r>
            <a:r>
              <a:rPr lang="en-IN" sz="1400" dirty="0">
                <a:solidFill>
                  <a:srgbClr val="000000"/>
                </a:solidFill>
                <a:latin typeface="Cascadia Mono" panose="020B0609020000020004" pitchFamily="49" charset="0"/>
              </a:rPr>
              <a:t> = </a:t>
            </a:r>
            <a:r>
              <a:rPr lang="en-IN" sz="1400" dirty="0">
                <a:solidFill>
                  <a:srgbClr val="A31515"/>
                </a:solidFill>
                <a:latin typeface="Cascadia Mono" panose="020B0609020000020004" pitchFamily="49" charset="0"/>
              </a:rPr>
              <a:t>$"</a:t>
            </a:r>
            <a:r>
              <a:rPr lang="en-IN" sz="1400" dirty="0">
                <a:solidFill>
                  <a:srgbClr val="000000"/>
                </a:solidFill>
                <a:latin typeface="Cascadia Mono" panose="020B0609020000020004" pitchFamily="49" charset="0"/>
              </a:rPr>
              <a:t>{title}</a:t>
            </a:r>
            <a:r>
              <a:rPr lang="en-IN" sz="1400" dirty="0">
                <a:solidFill>
                  <a:srgbClr val="A31515"/>
                </a:solidFill>
                <a:latin typeface="Cascadia Mono" panose="020B0609020000020004" pitchFamily="49" charset="0"/>
              </a:rPr>
              <a:t> </a:t>
            </a:r>
            <a:r>
              <a:rPr lang="en-IN" sz="1400" dirty="0">
                <a:solidFill>
                  <a:srgbClr val="000000"/>
                </a:solidFill>
                <a:latin typeface="Cascadia Mono" panose="020B0609020000020004" pitchFamily="49" charset="0"/>
              </a:rPr>
              <a:t>{</a:t>
            </a:r>
            <a:r>
              <a:rPr lang="en-IN" sz="1400" dirty="0" err="1">
                <a:solidFill>
                  <a:srgbClr val="000000"/>
                </a:solidFill>
                <a:latin typeface="Cascadia Mono" panose="020B0609020000020004" pitchFamily="49" charset="0"/>
              </a:rPr>
              <a:t>firstName</a:t>
            </a:r>
            <a:r>
              <a:rPr lang="en-IN" sz="1400" dirty="0">
                <a:solidFill>
                  <a:srgbClr val="000000"/>
                </a:solidFill>
                <a:latin typeface="Cascadia Mono" panose="020B0609020000020004" pitchFamily="49" charset="0"/>
              </a:rPr>
              <a:t>}</a:t>
            </a:r>
            <a:r>
              <a:rPr lang="en-IN" sz="1400" dirty="0">
                <a:solidFill>
                  <a:srgbClr val="A31515"/>
                </a:solidFill>
                <a:latin typeface="Cascadia Mono" panose="020B0609020000020004" pitchFamily="49" charset="0"/>
              </a:rPr>
              <a:t> </a:t>
            </a:r>
            <a:r>
              <a:rPr lang="en-IN" sz="1400" dirty="0">
                <a:solidFill>
                  <a:srgbClr val="000000"/>
                </a:solidFill>
                <a:latin typeface="Cascadia Mono" panose="020B0609020000020004" pitchFamily="49" charset="0"/>
              </a:rPr>
              <a:t>{</a:t>
            </a:r>
            <a:r>
              <a:rPr lang="en-IN" sz="1400" dirty="0" err="1">
                <a:solidFill>
                  <a:srgbClr val="000000"/>
                </a:solidFill>
                <a:latin typeface="Cascadia Mono" panose="020B0609020000020004" pitchFamily="49" charset="0"/>
              </a:rPr>
              <a:t>lastName</a:t>
            </a:r>
            <a:r>
              <a:rPr lang="en-IN" sz="1400" dirty="0">
                <a:solidFill>
                  <a:srgbClr val="000000"/>
                </a:solidFill>
                <a:latin typeface="Cascadia Mono" panose="020B0609020000020004" pitchFamily="49" charset="0"/>
              </a:rPr>
              <a:t>}</a:t>
            </a:r>
            <a:r>
              <a:rPr lang="en-IN" sz="1400" dirty="0">
                <a:solidFill>
                  <a:srgbClr val="A31515"/>
                </a:solidFill>
                <a:latin typeface="Cascadia Mono" panose="020B0609020000020004" pitchFamily="49" charset="0"/>
              </a:rPr>
              <a:t>"</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Console.WriteLine</a:t>
            </a:r>
            <a:r>
              <a:rPr lang="en-IN" sz="1400" dirty="0">
                <a:solidFill>
                  <a:srgbClr val="000000"/>
                </a:solidFill>
                <a:latin typeface="Cascadia Mono" panose="020B0609020000020004" pitchFamily="49" charset="0"/>
              </a:rPr>
              <a:t>(</a:t>
            </a:r>
            <a:r>
              <a:rPr lang="en-IN" sz="1400" dirty="0" err="1">
                <a:solidFill>
                  <a:srgbClr val="000000"/>
                </a:solidFill>
                <a:latin typeface="Cascadia Mono" panose="020B0609020000020004" pitchFamily="49" charset="0"/>
              </a:rPr>
              <a:t>fullName</a:t>
            </a:r>
            <a:r>
              <a:rPr lang="en-IN" sz="1400" dirty="0">
                <a:solidFill>
                  <a:srgbClr val="000000"/>
                </a:solidFill>
                <a:latin typeface="Cascadia Mono" panose="020B0609020000020004" pitchFamily="49" charset="0"/>
              </a:rPr>
              <a:t>);</a:t>
            </a:r>
          </a:p>
          <a:p>
            <a:endParaRPr lang="en-IN" sz="1400" dirty="0">
              <a:solidFill>
                <a:srgbClr val="000000"/>
              </a:solidFill>
              <a:latin typeface="Cascadia Mono" panose="020B0609020000020004" pitchFamily="49" charset="0"/>
            </a:endParaRPr>
          </a:p>
          <a:p>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    }</a:t>
            </a:r>
          </a:p>
          <a:p>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a:t>
            </a:r>
            <a:endParaRPr lang="en-IN" sz="1400" dirty="0"/>
          </a:p>
        </p:txBody>
      </p:sp>
      <p:sp>
        <p:nvSpPr>
          <p:cNvPr id="9" name="TextBox 8">
            <a:extLst>
              <a:ext uri="{FF2B5EF4-FFF2-40B4-BE49-F238E27FC236}">
                <a16:creationId xmlns:a16="http://schemas.microsoft.com/office/drawing/2014/main" id="{87C9FFC5-2A15-68DA-B8EB-0147D203811F}"/>
              </a:ext>
            </a:extLst>
          </p:cNvPr>
          <p:cNvSpPr txBox="1"/>
          <p:nvPr/>
        </p:nvSpPr>
        <p:spPr>
          <a:xfrm>
            <a:off x="242740" y="832736"/>
            <a:ext cx="5366995" cy="2970044"/>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endParaRPr lang="en-IN" sz="1100" dirty="0">
              <a:solidFill>
                <a:srgbClr val="000000"/>
              </a:solidFill>
              <a:latin typeface="Cascadia Mono" panose="020B0609020000020004" pitchFamily="49" charset="0"/>
            </a:endParaRPr>
          </a:p>
          <a:p>
            <a:r>
              <a:rPr lang="en-IN" sz="1100" dirty="0">
                <a:solidFill>
                  <a:srgbClr val="0000FF"/>
                </a:solidFill>
                <a:latin typeface="Cascadia Mono" panose="020B0609020000020004" pitchFamily="49" charset="0"/>
              </a:rPr>
              <a:t>using</a:t>
            </a:r>
            <a:r>
              <a:rPr lang="en-IN" sz="1100" dirty="0">
                <a:solidFill>
                  <a:srgbClr val="000000"/>
                </a:solidFill>
                <a:latin typeface="Cascadia Mono" panose="020B0609020000020004" pitchFamily="49" charset="0"/>
              </a:rPr>
              <a:t> System;</a:t>
            </a:r>
          </a:p>
          <a:p>
            <a:endParaRPr lang="en-IN" sz="1100" dirty="0">
              <a:solidFill>
                <a:srgbClr val="000000"/>
              </a:solidFill>
              <a:latin typeface="Cascadia Mono" panose="020B0609020000020004" pitchFamily="49" charset="0"/>
            </a:endParaRPr>
          </a:p>
          <a:p>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a:solidFill>
                  <a:srgbClr val="2B91AF"/>
                </a:solidFill>
                <a:latin typeface="Cascadia Mono" panose="020B0609020000020004" pitchFamily="49" charset="0"/>
              </a:rPr>
              <a:t>Hello</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static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void</a:t>
            </a:r>
            <a:r>
              <a:rPr lang="en-IN" sz="1100" dirty="0">
                <a:solidFill>
                  <a:srgbClr val="000000"/>
                </a:solidFill>
                <a:latin typeface="Cascadia Mono" panose="020B0609020000020004" pitchFamily="49" charset="0"/>
              </a:rPr>
              <a:t> Main()</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var</a:t>
            </a:r>
            <a:r>
              <a:rPr lang="en-IN" sz="1100" dirty="0">
                <a:solidFill>
                  <a:srgbClr val="000000"/>
                </a:solidFill>
                <a:latin typeface="Cascadia Mono" panose="020B0609020000020004" pitchFamily="49" charset="0"/>
              </a:rPr>
              <a:t> title = </a:t>
            </a:r>
            <a:r>
              <a:rPr lang="en-IN" sz="1100" dirty="0">
                <a:solidFill>
                  <a:srgbClr val="A31515"/>
                </a:solidFill>
                <a:latin typeface="Cascadia Mono" panose="020B0609020000020004" pitchFamily="49" charset="0"/>
              </a:rPr>
              <a:t>"Mr"</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var</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firstName</a:t>
            </a:r>
            <a:r>
              <a:rPr lang="en-IN" sz="1100" dirty="0">
                <a:solidFill>
                  <a:srgbClr val="000000"/>
                </a:solidFill>
                <a:latin typeface="Cascadia Mono" panose="020B0609020000020004" pitchFamily="49" charset="0"/>
              </a:rPr>
              <a:t> = </a:t>
            </a:r>
            <a:r>
              <a:rPr lang="en-IN" sz="1100" dirty="0">
                <a:solidFill>
                  <a:srgbClr val="A31515"/>
                </a:solidFill>
                <a:latin typeface="Cascadia Mono" panose="020B0609020000020004" pitchFamily="49" charset="0"/>
              </a:rPr>
              <a:t>"Joe"</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var</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lastName</a:t>
            </a:r>
            <a:r>
              <a:rPr lang="en-IN" sz="1100" dirty="0">
                <a:solidFill>
                  <a:srgbClr val="000000"/>
                </a:solidFill>
                <a:latin typeface="Cascadia Mono" panose="020B0609020000020004" pitchFamily="49" charset="0"/>
              </a:rPr>
              <a:t> = </a:t>
            </a:r>
            <a:r>
              <a:rPr lang="en-IN" sz="1100" dirty="0">
                <a:solidFill>
                  <a:srgbClr val="A31515"/>
                </a:solidFill>
                <a:latin typeface="Cascadia Mono" panose="020B0609020000020004" pitchFamily="49" charset="0"/>
              </a:rPr>
              <a:t>"Bloggs"</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var</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fullName</a:t>
            </a:r>
            <a:r>
              <a:rPr lang="en-IN" sz="1100" dirty="0">
                <a:solidFill>
                  <a:srgbClr val="000000"/>
                </a:solidFill>
                <a:latin typeface="Cascadia Mono" panose="020B0609020000020004" pitchFamily="49" charset="0"/>
              </a:rPr>
              <a:t> = </a:t>
            </a:r>
            <a:r>
              <a:rPr lang="en-IN" sz="1100" dirty="0" err="1">
                <a:solidFill>
                  <a:srgbClr val="000000"/>
                </a:solidFill>
                <a:latin typeface="Cascadia Mono" panose="020B0609020000020004" pitchFamily="49" charset="0"/>
              </a:rPr>
              <a:t>String.Format</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"{0} {1} {2}"</a:t>
            </a:r>
            <a:r>
              <a:rPr lang="en-IN" sz="1100" dirty="0">
                <a:solidFill>
                  <a:srgbClr val="000000"/>
                </a:solidFill>
                <a:latin typeface="Cascadia Mono" panose="020B0609020000020004" pitchFamily="49" charset="0"/>
              </a:rPr>
              <a:t>, title, </a:t>
            </a:r>
            <a:r>
              <a:rPr lang="en-IN" sz="1100" dirty="0" err="1">
                <a:solidFill>
                  <a:srgbClr val="000000"/>
                </a:solidFill>
                <a:latin typeface="Cascadia Mono" panose="020B0609020000020004" pitchFamily="49" charset="0"/>
              </a:rPr>
              <a:t>firstName</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lastName</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a:t>
            </a:r>
            <a:endParaRPr lang="en-IN" sz="1100" dirty="0"/>
          </a:p>
        </p:txBody>
      </p:sp>
      <p:sp>
        <p:nvSpPr>
          <p:cNvPr id="10" name="TextBox 9">
            <a:extLst>
              <a:ext uri="{FF2B5EF4-FFF2-40B4-BE49-F238E27FC236}">
                <a16:creationId xmlns:a16="http://schemas.microsoft.com/office/drawing/2014/main" id="{A5F5D43B-9969-D093-DA76-9FC9B3C5E5A4}"/>
              </a:ext>
            </a:extLst>
          </p:cNvPr>
          <p:cNvSpPr txBox="1"/>
          <p:nvPr/>
        </p:nvSpPr>
        <p:spPr>
          <a:xfrm>
            <a:off x="6000947" y="0"/>
            <a:ext cx="6094428" cy="369332"/>
          </a:xfrm>
          <a:prstGeom prst="rect">
            <a:avLst/>
          </a:prstGeom>
          <a:noFill/>
        </p:spPr>
        <p:txBody>
          <a:bodyPr wrap="square">
            <a:spAutoFit/>
          </a:bodyPr>
          <a:lstStyle/>
          <a:p>
            <a:pPr algn="l"/>
            <a:r>
              <a:rPr lang="en-IN" b="0" i="0" dirty="0">
                <a:solidFill>
                  <a:srgbClr val="454C55"/>
                </a:solidFill>
                <a:effectLst/>
                <a:latin typeface="Open Sans" panose="020B0606030504020204" pitchFamily="34" charset="0"/>
              </a:rPr>
              <a:t>String Interpolation (C# </a:t>
            </a:r>
            <a:r>
              <a:rPr lang="en-IN" dirty="0">
                <a:solidFill>
                  <a:srgbClr val="454C55"/>
                </a:solidFill>
                <a:latin typeface="Open Sans" panose="020B0606030504020204" pitchFamily="34" charset="0"/>
              </a:rPr>
              <a:t>7</a:t>
            </a:r>
            <a:r>
              <a:rPr lang="en-IN" b="0" i="0" dirty="0">
                <a:solidFill>
                  <a:srgbClr val="454C55"/>
                </a:solidFill>
                <a:effectLst/>
                <a:latin typeface="Open Sans" panose="020B0606030504020204" pitchFamily="34" charset="0"/>
              </a:rPr>
              <a:t>)</a:t>
            </a:r>
          </a:p>
        </p:txBody>
      </p:sp>
    </p:spTree>
    <p:extLst>
      <p:ext uri="{BB962C8B-B14F-4D97-AF65-F5344CB8AC3E}">
        <p14:creationId xmlns:p14="http://schemas.microsoft.com/office/powerpoint/2010/main" val="2826023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C4C9CF-DE7D-F236-BB46-220C739F326A}"/>
              </a:ext>
            </a:extLst>
          </p:cNvPr>
          <p:cNvSpPr txBox="1"/>
          <p:nvPr/>
        </p:nvSpPr>
        <p:spPr>
          <a:xfrm>
            <a:off x="96625" y="79284"/>
            <a:ext cx="3806072" cy="369332"/>
          </a:xfrm>
          <a:prstGeom prst="rect">
            <a:avLst/>
          </a:prstGeom>
          <a:noFill/>
        </p:spPr>
        <p:txBody>
          <a:bodyPr wrap="square">
            <a:spAutoFit/>
          </a:bodyPr>
          <a:lstStyle/>
          <a:p>
            <a:pPr algn="l"/>
            <a:r>
              <a:rPr lang="en-US" b="0" i="0" dirty="0">
                <a:solidFill>
                  <a:srgbClr val="454C55"/>
                </a:solidFill>
                <a:effectLst/>
                <a:latin typeface="Open Sans" panose="020B0606030504020204" pitchFamily="34" charset="0"/>
              </a:rPr>
              <a:t>Auto Property Initializers (C# 6)</a:t>
            </a:r>
          </a:p>
        </p:txBody>
      </p:sp>
      <p:sp>
        <p:nvSpPr>
          <p:cNvPr id="6" name="TextBox 5">
            <a:extLst>
              <a:ext uri="{FF2B5EF4-FFF2-40B4-BE49-F238E27FC236}">
                <a16:creationId xmlns:a16="http://schemas.microsoft.com/office/drawing/2014/main" id="{AE245D60-C565-28E3-0BB5-1C6D0F15EE9B}"/>
              </a:ext>
            </a:extLst>
          </p:cNvPr>
          <p:cNvSpPr txBox="1"/>
          <p:nvPr/>
        </p:nvSpPr>
        <p:spPr>
          <a:xfrm>
            <a:off x="7008044" y="0"/>
            <a:ext cx="3806072" cy="369332"/>
          </a:xfrm>
          <a:prstGeom prst="rect">
            <a:avLst/>
          </a:prstGeom>
          <a:noFill/>
        </p:spPr>
        <p:txBody>
          <a:bodyPr wrap="square">
            <a:spAutoFit/>
          </a:bodyPr>
          <a:lstStyle/>
          <a:p>
            <a:pPr algn="l"/>
            <a:r>
              <a:rPr lang="en-US" b="0" i="0" dirty="0">
                <a:solidFill>
                  <a:srgbClr val="454C55"/>
                </a:solidFill>
                <a:effectLst/>
                <a:latin typeface="Open Sans" panose="020B0606030504020204" pitchFamily="34" charset="0"/>
              </a:rPr>
              <a:t>Auto Property Initializers (C# 7)</a:t>
            </a:r>
          </a:p>
        </p:txBody>
      </p:sp>
      <p:sp>
        <p:nvSpPr>
          <p:cNvPr id="8" name="TextBox 7">
            <a:extLst>
              <a:ext uri="{FF2B5EF4-FFF2-40B4-BE49-F238E27FC236}">
                <a16:creationId xmlns:a16="http://schemas.microsoft.com/office/drawing/2014/main" id="{A3BD23D7-83F9-1F21-52A4-FDD0CE53EF30}"/>
              </a:ext>
            </a:extLst>
          </p:cNvPr>
          <p:cNvSpPr txBox="1"/>
          <p:nvPr/>
        </p:nvSpPr>
        <p:spPr>
          <a:xfrm>
            <a:off x="96625" y="5250881"/>
            <a:ext cx="11724587" cy="1200329"/>
          </a:xfrm>
          <a:prstGeom prst="rect">
            <a:avLst/>
          </a:prstGeom>
          <a:noFill/>
        </p:spPr>
        <p:txBody>
          <a:bodyPr wrap="square">
            <a:spAutoFit/>
          </a:bodyPr>
          <a:lstStyle/>
          <a:p>
            <a:r>
              <a:rPr lang="en-US" b="0" i="0" dirty="0">
                <a:solidFill>
                  <a:srgbClr val="454C55"/>
                </a:solidFill>
                <a:effectLst/>
                <a:latin typeface="Open Sans" panose="020B0606030504020204" pitchFamily="34" charset="0"/>
              </a:rPr>
              <a:t>We may want to initialize an empty collection to reduce the chance of null references and anyone who works with an ORM will have experienced the mismatch between the default date of C#'s </a:t>
            </a:r>
            <a:r>
              <a:rPr lang="en-US" b="0" i="0" dirty="0" err="1">
                <a:solidFill>
                  <a:srgbClr val="454C55"/>
                </a:solidFill>
                <a:effectLst/>
                <a:latin typeface="Open Sans" panose="020B0606030504020204" pitchFamily="34" charset="0"/>
              </a:rPr>
              <a:t>DateTime</a:t>
            </a:r>
            <a:r>
              <a:rPr lang="en-US" b="0" i="0" dirty="0">
                <a:solidFill>
                  <a:srgbClr val="454C55"/>
                </a:solidFill>
                <a:effectLst/>
                <a:latin typeface="Open Sans" panose="020B0606030504020204" pitchFamily="34" charset="0"/>
              </a:rPr>
              <a:t> type (00:00:00.0000000 UTC, January 1, 0001) and </a:t>
            </a:r>
            <a:r>
              <a:rPr lang="en-US" b="0" i="0" dirty="0" err="1">
                <a:solidFill>
                  <a:srgbClr val="454C55"/>
                </a:solidFill>
                <a:effectLst/>
                <a:latin typeface="Open Sans" panose="020B0606030504020204" pitchFamily="34" charset="0"/>
              </a:rPr>
              <a:t>Sql</a:t>
            </a:r>
            <a:r>
              <a:rPr lang="en-US" b="0" i="0" dirty="0">
                <a:solidFill>
                  <a:srgbClr val="454C55"/>
                </a:solidFill>
                <a:effectLst/>
                <a:latin typeface="Open Sans" panose="020B0606030504020204" pitchFamily="34" charset="0"/>
              </a:rPr>
              <a:t> Server's </a:t>
            </a:r>
            <a:r>
              <a:rPr lang="en-US" b="0" i="0" dirty="0" err="1">
                <a:solidFill>
                  <a:srgbClr val="454C55"/>
                </a:solidFill>
                <a:effectLst/>
                <a:latin typeface="Open Sans" panose="020B0606030504020204" pitchFamily="34" charset="0"/>
              </a:rPr>
              <a:t>DateTime</a:t>
            </a:r>
            <a:r>
              <a:rPr lang="en-US" b="0" i="0" dirty="0">
                <a:solidFill>
                  <a:srgbClr val="454C55"/>
                </a:solidFill>
                <a:effectLst/>
                <a:latin typeface="Open Sans" panose="020B0606030504020204" pitchFamily="34" charset="0"/>
              </a:rPr>
              <a:t> or DateTime2 types (January 1, 1753 and January 1, 1900 respectively).</a:t>
            </a:r>
            <a:endParaRPr lang="en-IN" dirty="0"/>
          </a:p>
        </p:txBody>
      </p:sp>
      <p:sp>
        <p:nvSpPr>
          <p:cNvPr id="10" name="TextBox 9">
            <a:extLst>
              <a:ext uri="{FF2B5EF4-FFF2-40B4-BE49-F238E27FC236}">
                <a16:creationId xmlns:a16="http://schemas.microsoft.com/office/drawing/2014/main" id="{CC10092F-9D4F-0BAD-4158-A30513A1A565}"/>
              </a:ext>
            </a:extLst>
          </p:cNvPr>
          <p:cNvSpPr txBox="1"/>
          <p:nvPr/>
        </p:nvSpPr>
        <p:spPr>
          <a:xfrm>
            <a:off x="6096001" y="1268153"/>
            <a:ext cx="5583810" cy="101566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1000" dirty="0">
                <a:solidFill>
                  <a:srgbClr val="0000FF"/>
                </a:solidFill>
                <a:latin typeface="Cascadia Mono" panose="020B0609020000020004" pitchFamily="49" charset="0"/>
              </a:rPr>
              <a:t>public</a:t>
            </a:r>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class</a:t>
            </a:r>
            <a:r>
              <a:rPr lang="en-IN" sz="1000" dirty="0">
                <a:solidFill>
                  <a:srgbClr val="000000"/>
                </a:solidFill>
                <a:latin typeface="Cascadia Mono" panose="020B0609020000020004" pitchFamily="49" charset="0"/>
              </a:rPr>
              <a:t> </a:t>
            </a:r>
            <a:r>
              <a:rPr lang="en-IN" sz="1000" dirty="0">
                <a:solidFill>
                  <a:srgbClr val="2B91AF"/>
                </a:solidFill>
                <a:latin typeface="Cascadia Mono" panose="020B0609020000020004" pitchFamily="49" charset="0"/>
              </a:rPr>
              <a:t>Customer</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public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int</a:t>
            </a:r>
            <a:r>
              <a:rPr lang="en-US" sz="1000" dirty="0">
                <a:solidFill>
                  <a:srgbClr val="000000"/>
                </a:solidFill>
                <a:latin typeface="Cascadia Mono" panose="020B0609020000020004" pitchFamily="49" charset="0"/>
              </a:rPr>
              <a:t> Id { </a:t>
            </a:r>
            <a:r>
              <a:rPr lang="en-US" sz="1000" dirty="0">
                <a:solidFill>
                  <a:srgbClr val="0000FF"/>
                </a:solidFill>
                <a:latin typeface="Cascadia Mono" panose="020B0609020000020004" pitchFamily="49" charset="0"/>
              </a:rPr>
              <a:t>get</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set</a:t>
            </a:r>
            <a:r>
              <a:rPr lang="en-US"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public</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ICollection</a:t>
            </a:r>
            <a:r>
              <a:rPr lang="en-US" sz="1000" dirty="0">
                <a:solidFill>
                  <a:srgbClr val="000000"/>
                </a:solidFill>
                <a:latin typeface="Cascadia Mono" panose="020B0609020000020004" pitchFamily="49" charset="0"/>
              </a:rPr>
              <a:t>&lt;Order&gt; Orders { </a:t>
            </a:r>
            <a:r>
              <a:rPr lang="en-US" sz="1000" dirty="0">
                <a:solidFill>
                  <a:srgbClr val="0000FF"/>
                </a:solidFill>
                <a:latin typeface="Cascadia Mono" panose="020B0609020000020004" pitchFamily="49" charset="0"/>
              </a:rPr>
              <a:t>get</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set</a:t>
            </a:r>
            <a:r>
              <a:rPr lang="en-US" sz="1000" dirty="0">
                <a:solidFill>
                  <a:srgbClr val="000000"/>
                </a:solidFill>
                <a:latin typeface="Cascadia Mono" panose="020B0609020000020004" pitchFamily="49" charset="0"/>
              </a:rPr>
              <a:t>; } = </a:t>
            </a:r>
            <a:r>
              <a:rPr lang="en-US" sz="1000" dirty="0">
                <a:solidFill>
                  <a:srgbClr val="0000FF"/>
                </a:solidFill>
                <a:latin typeface="Cascadia Mono" panose="020B0609020000020004" pitchFamily="49" charset="0"/>
              </a:rPr>
              <a:t>new</a:t>
            </a:r>
            <a:r>
              <a:rPr lang="en-US" sz="1000" dirty="0">
                <a:solidFill>
                  <a:srgbClr val="000000"/>
                </a:solidFill>
                <a:latin typeface="Cascadia Mono" panose="020B0609020000020004" pitchFamily="49" charset="0"/>
              </a:rPr>
              <a:t> List&lt;Order&gt;();</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public</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DateTime</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DateCreated</a:t>
            </a:r>
            <a:r>
              <a:rPr lang="en-US" sz="1000" dirty="0">
                <a:solidFill>
                  <a:srgbClr val="000000"/>
                </a:solidFill>
                <a:latin typeface="Cascadia Mono" panose="020B0609020000020004" pitchFamily="49" charset="0"/>
              </a:rPr>
              <a:t> { </a:t>
            </a:r>
            <a:r>
              <a:rPr lang="en-US" sz="1000" dirty="0">
                <a:solidFill>
                  <a:srgbClr val="0000FF"/>
                </a:solidFill>
                <a:latin typeface="Cascadia Mono" panose="020B0609020000020004" pitchFamily="49" charset="0"/>
              </a:rPr>
              <a:t>get</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set</a:t>
            </a:r>
            <a:r>
              <a:rPr lang="en-US" sz="1000" dirty="0">
                <a:solidFill>
                  <a:srgbClr val="000000"/>
                </a:solidFill>
                <a:latin typeface="Cascadia Mono" panose="020B0609020000020004" pitchFamily="49" charset="0"/>
              </a:rPr>
              <a:t>; } = </a:t>
            </a:r>
            <a:r>
              <a:rPr lang="en-US" sz="1000" dirty="0" err="1">
                <a:solidFill>
                  <a:srgbClr val="000000"/>
                </a:solidFill>
                <a:latin typeface="Cascadia Mono" panose="020B0609020000020004" pitchFamily="49" charset="0"/>
              </a:rPr>
              <a:t>DateTime.UtcNow</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a:t>
            </a:r>
          </a:p>
        </p:txBody>
      </p:sp>
      <p:sp>
        <p:nvSpPr>
          <p:cNvPr id="12" name="TextBox 11">
            <a:extLst>
              <a:ext uri="{FF2B5EF4-FFF2-40B4-BE49-F238E27FC236}">
                <a16:creationId xmlns:a16="http://schemas.microsoft.com/office/drawing/2014/main" id="{2911B690-F3C8-E918-B768-041E95DB755C}"/>
              </a:ext>
            </a:extLst>
          </p:cNvPr>
          <p:cNvSpPr txBox="1"/>
          <p:nvPr/>
        </p:nvSpPr>
        <p:spPr>
          <a:xfrm>
            <a:off x="96625" y="1135858"/>
            <a:ext cx="4824167" cy="182415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Customer</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int</a:t>
            </a:r>
            <a:r>
              <a:rPr lang="en-US" sz="900" dirty="0">
                <a:solidFill>
                  <a:srgbClr val="000000"/>
                </a:solidFill>
                <a:latin typeface="Cascadia Mono" panose="020B0609020000020004" pitchFamily="49" charset="0"/>
              </a:rPr>
              <a:t> Id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ICollection</a:t>
            </a:r>
            <a:r>
              <a:rPr lang="en-US" sz="900" dirty="0">
                <a:solidFill>
                  <a:srgbClr val="000000"/>
                </a:solidFill>
                <a:latin typeface="Cascadia Mono" panose="020B0609020000020004" pitchFamily="49" charset="0"/>
              </a:rPr>
              <a:t>&lt;Order&gt; Orders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DateTime</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DateCreated</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Customer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Orders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List&lt;Order&gt;();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DateCreated</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DateTime.UtcNow</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Tree>
    <p:extLst>
      <p:ext uri="{BB962C8B-B14F-4D97-AF65-F5344CB8AC3E}">
        <p14:creationId xmlns:p14="http://schemas.microsoft.com/office/powerpoint/2010/main" val="999326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6543252C-6D41-5E53-F8D2-BCD4D72CC729}"/>
              </a:ext>
            </a:extLst>
          </p:cNvPr>
          <p:cNvSpPr>
            <a:spLocks noChangeArrowheads="1"/>
          </p:cNvSpPr>
          <p:nvPr/>
        </p:nvSpPr>
        <p:spPr bwMode="auto">
          <a:xfrm>
            <a:off x="113071" y="108211"/>
            <a:ext cx="11965858"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171717"/>
                </a:solidFill>
                <a:effectLst/>
                <a:latin typeface="Segoe UI" panose="020B0502040204020203" pitchFamily="34" charset="0"/>
                <a:ea typeface="Calibri" panose="020F0502020204030204" pitchFamily="34" charset="0"/>
                <a:cs typeface="Segoe UI" panose="020B0502040204020203" pitchFamily="34" charset="0"/>
              </a:rPr>
              <a:t>In C# 9 and later, the</a:t>
            </a:r>
            <a:r>
              <a:rPr kumimoji="0" lang="en-US" altLang="en-US" sz="1100" b="0" i="0" u="none" strike="noStrike" cap="none" normalizeH="0" baseline="0">
                <a:ln>
                  <a:noFill/>
                </a:ln>
                <a:solidFill>
                  <a:srgbClr val="171717"/>
                </a:solidFill>
                <a:effectLst/>
                <a:latin typeface="Calibri" panose="020F0502020204030204" pitchFamily="34" charset="0"/>
                <a:ea typeface="Calibri" panose="020F0502020204030204" pitchFamily="34" charset="0"/>
                <a:cs typeface="Segoe UI" panose="020B0502040204020203" pitchFamily="34" charset="0"/>
              </a:rPr>
              <a:t> </a:t>
            </a:r>
            <a:r>
              <a:rPr kumimoji="0" lang="en-US" altLang="en-US" sz="1000" b="0" i="0" u="none" strike="noStrike" cap="none" normalizeH="0" baseline="0">
                <a:ln>
                  <a:noFill/>
                </a:ln>
                <a:solidFill>
                  <a:srgbClr val="171717"/>
                </a:solidFill>
                <a:effectLst/>
                <a:latin typeface="Consolas" panose="020B0609020204030204" pitchFamily="49" charset="0"/>
                <a:ea typeface="Calibri" panose="020F0502020204030204" pitchFamily="34" charset="0"/>
                <a:cs typeface="Courier New" panose="02070309020205020404" pitchFamily="49" charset="0"/>
              </a:rPr>
              <a:t>init</a:t>
            </a:r>
            <a:r>
              <a:rPr kumimoji="0" lang="en-US" altLang="en-US" sz="1100" b="0" i="0" u="none" strike="noStrike" cap="none" normalizeH="0" baseline="0">
                <a:ln>
                  <a:noFill/>
                </a:ln>
                <a:solidFill>
                  <a:srgbClr val="171717"/>
                </a:solidFill>
                <a:effectLst/>
                <a:latin typeface="Calibri" panose="020F0502020204030204" pitchFamily="34" charset="0"/>
                <a:ea typeface="Calibri" panose="020F0502020204030204" pitchFamily="34" charset="0"/>
                <a:cs typeface="Segoe UI" panose="020B0502040204020203" pitchFamily="34" charset="0"/>
              </a:rPr>
              <a:t> </a:t>
            </a:r>
            <a:r>
              <a:rPr kumimoji="0" lang="en-US" altLang="en-US" sz="1100" b="0" i="0" u="none" strike="noStrike" cap="none" normalizeH="0" baseline="0">
                <a:ln>
                  <a:noFill/>
                </a:ln>
                <a:solidFill>
                  <a:srgbClr val="171717"/>
                </a:solidFill>
                <a:effectLst/>
                <a:latin typeface="Segoe UI" panose="020B0502040204020203" pitchFamily="34" charset="0"/>
                <a:ea typeface="Calibri" panose="020F0502020204030204" pitchFamily="34" charset="0"/>
                <a:cs typeface="Segoe UI" panose="020B0502040204020203" pitchFamily="34" charset="0"/>
              </a:rPr>
              <a:t>keyword defines an</a:t>
            </a:r>
            <a:r>
              <a:rPr kumimoji="0" lang="en-US" altLang="en-US" sz="1100" b="0" i="0" u="none" strike="noStrike" cap="none" normalizeH="0" baseline="0">
                <a:ln>
                  <a:noFill/>
                </a:ln>
                <a:solidFill>
                  <a:srgbClr val="171717"/>
                </a:solidFill>
                <a:effectLst/>
                <a:latin typeface="Calibri" panose="020F0502020204030204" pitchFamily="34" charset="0"/>
                <a:ea typeface="Calibri" panose="020F0502020204030204" pitchFamily="34" charset="0"/>
                <a:cs typeface="Segoe UI" panose="020B0502040204020203" pitchFamily="34" charset="0"/>
              </a:rPr>
              <a:t> </a:t>
            </a:r>
            <a:r>
              <a:rPr kumimoji="0" lang="en-US" altLang="en-US" sz="1100" b="0" i="1" u="none" strike="noStrike" cap="none" normalizeH="0" baseline="0">
                <a:ln>
                  <a:noFill/>
                </a:ln>
                <a:solidFill>
                  <a:srgbClr val="171717"/>
                </a:solidFill>
                <a:effectLst/>
                <a:latin typeface="Segoe UI" panose="020B0502040204020203" pitchFamily="34" charset="0"/>
                <a:ea typeface="Calibri" panose="020F0502020204030204" pitchFamily="34" charset="0"/>
                <a:cs typeface="Segoe UI" panose="020B0502040204020203" pitchFamily="34" charset="0"/>
              </a:rPr>
              <a:t>accessor</a:t>
            </a:r>
            <a:r>
              <a:rPr kumimoji="0" lang="en-US" altLang="en-US" sz="1100" b="0" i="0" u="none" strike="noStrike" cap="none" normalizeH="0" baseline="0">
                <a:ln>
                  <a:noFill/>
                </a:ln>
                <a:solidFill>
                  <a:srgbClr val="171717"/>
                </a:solidFill>
                <a:effectLst/>
                <a:latin typeface="Calibri" panose="020F0502020204030204" pitchFamily="34" charset="0"/>
                <a:ea typeface="Calibri" panose="020F0502020204030204" pitchFamily="34" charset="0"/>
                <a:cs typeface="Segoe UI" panose="020B0502040204020203" pitchFamily="34" charset="0"/>
              </a:rPr>
              <a:t> </a:t>
            </a:r>
            <a:r>
              <a:rPr kumimoji="0" lang="en-US" altLang="en-US" sz="1100" b="0" i="0" u="none" strike="noStrike" cap="none" normalizeH="0" baseline="0">
                <a:ln>
                  <a:noFill/>
                </a:ln>
                <a:solidFill>
                  <a:srgbClr val="171717"/>
                </a:solidFill>
                <a:effectLst/>
                <a:latin typeface="Segoe UI" panose="020B0502040204020203" pitchFamily="34" charset="0"/>
                <a:ea typeface="Calibri" panose="020F0502020204030204" pitchFamily="34" charset="0"/>
                <a:cs typeface="Segoe UI" panose="020B0502040204020203" pitchFamily="34" charset="0"/>
              </a:rPr>
              <a:t>method in a property or indexer. An init-only setter assigns a value to the property or the indexer element</a:t>
            </a:r>
            <a:r>
              <a:rPr kumimoji="0" lang="en-US" altLang="en-US" sz="1100" b="0" i="0" u="none" strike="noStrike" cap="none" normalizeH="0" baseline="0">
                <a:ln>
                  <a:noFill/>
                </a:ln>
                <a:solidFill>
                  <a:srgbClr val="171717"/>
                </a:solidFill>
                <a:effectLst/>
                <a:latin typeface="Calibri" panose="020F0502020204030204" pitchFamily="34" charset="0"/>
                <a:ea typeface="Calibri" panose="020F0502020204030204" pitchFamily="34" charset="0"/>
                <a:cs typeface="Segoe UI" panose="020B0502040204020203" pitchFamily="34" charset="0"/>
              </a:rPr>
              <a:t> </a:t>
            </a:r>
            <a:r>
              <a:rPr kumimoji="0" lang="en-US" altLang="en-US" sz="1100" b="1" i="0" u="none" strike="noStrike" cap="none" normalizeH="0" baseline="0">
                <a:ln>
                  <a:noFill/>
                </a:ln>
                <a:solidFill>
                  <a:srgbClr val="171717"/>
                </a:solidFill>
                <a:effectLst/>
                <a:latin typeface="Segoe UI" panose="020B0502040204020203" pitchFamily="34" charset="0"/>
                <a:ea typeface="Calibri" panose="020F0502020204030204" pitchFamily="34" charset="0"/>
                <a:cs typeface="Segoe UI" panose="020B0502040204020203" pitchFamily="34" charset="0"/>
              </a:rPr>
              <a:t>only</a:t>
            </a:r>
            <a:r>
              <a:rPr kumimoji="0" lang="en-US" altLang="en-US" sz="1100" b="0" i="0" u="none" strike="noStrike" cap="none" normalizeH="0" baseline="0">
                <a:ln>
                  <a:noFill/>
                </a:ln>
                <a:solidFill>
                  <a:srgbClr val="171717"/>
                </a:solidFill>
                <a:effectLst/>
                <a:latin typeface="Calibri" panose="020F0502020204030204" pitchFamily="34" charset="0"/>
                <a:ea typeface="Calibri" panose="020F0502020204030204" pitchFamily="34" charset="0"/>
                <a:cs typeface="Segoe UI" panose="020B0502040204020203" pitchFamily="34" charset="0"/>
              </a:rPr>
              <a:t> </a:t>
            </a:r>
            <a:r>
              <a:rPr kumimoji="0" lang="en-US" altLang="en-US" sz="1100" b="0" i="0" u="none" strike="noStrike" cap="none" normalizeH="0" baseline="0">
                <a:ln>
                  <a:noFill/>
                </a:ln>
                <a:solidFill>
                  <a:srgbClr val="171717"/>
                </a:solidFill>
                <a:effectLst/>
                <a:latin typeface="Segoe UI" panose="020B0502040204020203" pitchFamily="34" charset="0"/>
                <a:ea typeface="Calibri" panose="020F0502020204030204" pitchFamily="34" charset="0"/>
                <a:cs typeface="Segoe UI" panose="020B0502040204020203" pitchFamily="34" charset="0"/>
              </a:rPr>
              <a:t>during object construction. This enforces immutability, so that once the object is initialized, it can't be changed again.</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171717"/>
                </a:solidFill>
                <a:effectLst/>
                <a:latin typeface="Segoe UI" panose="020B0502040204020203" pitchFamily="34" charset="0"/>
                <a:ea typeface="Calibri" panose="020F0502020204030204" pitchFamily="34" charset="0"/>
                <a:cs typeface="Segoe UI" panose="020B0502040204020203" pitchFamily="34" charset="0"/>
              </a:rPr>
              <a:t>The following example defines both a</a:t>
            </a:r>
            <a:r>
              <a:rPr kumimoji="0" lang="en-US" altLang="en-US" sz="1100" b="0" i="0" u="none" strike="noStrike" cap="none" normalizeH="0" baseline="0">
                <a:ln>
                  <a:noFill/>
                </a:ln>
                <a:solidFill>
                  <a:srgbClr val="171717"/>
                </a:solidFill>
                <a:effectLst/>
                <a:latin typeface="Calibri" panose="020F0502020204030204" pitchFamily="34" charset="0"/>
                <a:ea typeface="Calibri" panose="020F0502020204030204" pitchFamily="34" charset="0"/>
                <a:cs typeface="Segoe UI" panose="020B0502040204020203" pitchFamily="34" charset="0"/>
              </a:rPr>
              <a:t> </a:t>
            </a:r>
            <a:r>
              <a:rPr kumimoji="0" lang="en-US" altLang="en-US" sz="1000" b="0" i="0" u="none" strike="noStrike" cap="none" normalizeH="0" baseline="0">
                <a:ln>
                  <a:noFill/>
                </a:ln>
                <a:solidFill>
                  <a:srgbClr val="171717"/>
                </a:solidFill>
                <a:effectLst/>
                <a:latin typeface="Consolas" panose="020B0609020204030204" pitchFamily="49" charset="0"/>
                <a:ea typeface="Calibri" panose="020F0502020204030204" pitchFamily="34" charset="0"/>
                <a:cs typeface="Courier New" panose="02070309020205020404" pitchFamily="49" charset="0"/>
              </a:rPr>
              <a:t>get</a:t>
            </a:r>
            <a:r>
              <a:rPr kumimoji="0" lang="en-US" altLang="en-US" sz="1100" b="0" i="0" u="none" strike="noStrike" cap="none" normalizeH="0" baseline="0">
                <a:ln>
                  <a:noFill/>
                </a:ln>
                <a:solidFill>
                  <a:srgbClr val="171717"/>
                </a:solidFill>
                <a:effectLst/>
                <a:latin typeface="Calibri" panose="020F0502020204030204" pitchFamily="34" charset="0"/>
                <a:ea typeface="Calibri" panose="020F0502020204030204" pitchFamily="34" charset="0"/>
                <a:cs typeface="Segoe UI" panose="020B0502040204020203" pitchFamily="34" charset="0"/>
              </a:rPr>
              <a:t> </a:t>
            </a:r>
            <a:r>
              <a:rPr kumimoji="0" lang="en-US" altLang="en-US" sz="1100" b="0" i="0" u="none" strike="noStrike" cap="none" normalizeH="0" baseline="0">
                <a:ln>
                  <a:noFill/>
                </a:ln>
                <a:solidFill>
                  <a:srgbClr val="171717"/>
                </a:solidFill>
                <a:effectLst/>
                <a:latin typeface="Segoe UI" panose="020B0502040204020203" pitchFamily="34" charset="0"/>
                <a:ea typeface="Calibri" panose="020F0502020204030204" pitchFamily="34" charset="0"/>
                <a:cs typeface="Segoe UI" panose="020B0502040204020203" pitchFamily="34" charset="0"/>
              </a:rPr>
              <a:t>and an</a:t>
            </a:r>
            <a:r>
              <a:rPr kumimoji="0" lang="en-US" altLang="en-US" sz="1100" b="0" i="0" u="none" strike="noStrike" cap="none" normalizeH="0" baseline="0">
                <a:ln>
                  <a:noFill/>
                </a:ln>
                <a:solidFill>
                  <a:srgbClr val="171717"/>
                </a:solidFill>
                <a:effectLst/>
                <a:latin typeface="Calibri" panose="020F0502020204030204" pitchFamily="34" charset="0"/>
                <a:ea typeface="Calibri" panose="020F0502020204030204" pitchFamily="34" charset="0"/>
                <a:cs typeface="Segoe UI" panose="020B0502040204020203" pitchFamily="34" charset="0"/>
              </a:rPr>
              <a:t> </a:t>
            </a:r>
            <a:r>
              <a:rPr kumimoji="0" lang="en-US" altLang="en-US" sz="1000" b="0" i="0" u="none" strike="noStrike" cap="none" normalizeH="0" baseline="0">
                <a:ln>
                  <a:noFill/>
                </a:ln>
                <a:solidFill>
                  <a:srgbClr val="171717"/>
                </a:solidFill>
                <a:effectLst/>
                <a:latin typeface="Consolas" panose="020B0609020204030204" pitchFamily="49" charset="0"/>
                <a:ea typeface="Calibri" panose="020F0502020204030204" pitchFamily="34" charset="0"/>
                <a:cs typeface="Courier New" panose="02070309020205020404" pitchFamily="49" charset="0"/>
              </a:rPr>
              <a:t>init</a:t>
            </a:r>
            <a:r>
              <a:rPr kumimoji="0" lang="en-US" altLang="en-US" sz="1100" b="0" i="0" u="none" strike="noStrike" cap="none" normalizeH="0" baseline="0">
                <a:ln>
                  <a:noFill/>
                </a:ln>
                <a:solidFill>
                  <a:srgbClr val="171717"/>
                </a:solidFill>
                <a:effectLst/>
                <a:latin typeface="Calibri" panose="020F0502020204030204" pitchFamily="34" charset="0"/>
                <a:ea typeface="Calibri" panose="020F0502020204030204" pitchFamily="34" charset="0"/>
                <a:cs typeface="Segoe UI" panose="020B0502040204020203" pitchFamily="34" charset="0"/>
              </a:rPr>
              <a:t> </a:t>
            </a:r>
            <a:r>
              <a:rPr kumimoji="0" lang="en-US" altLang="en-US" sz="1100" b="0" i="0" u="none" strike="noStrike" cap="none" normalizeH="0" baseline="0">
                <a:ln>
                  <a:noFill/>
                </a:ln>
                <a:solidFill>
                  <a:srgbClr val="171717"/>
                </a:solidFill>
                <a:effectLst/>
                <a:latin typeface="Segoe UI" panose="020B0502040204020203" pitchFamily="34" charset="0"/>
                <a:ea typeface="Calibri" panose="020F0502020204030204" pitchFamily="34" charset="0"/>
                <a:cs typeface="Segoe UI" panose="020B0502040204020203" pitchFamily="34" charset="0"/>
              </a:rPr>
              <a:t>accessor for a property named</a:t>
            </a:r>
            <a:r>
              <a:rPr kumimoji="0" lang="en-US" altLang="en-US" sz="1100" b="0" i="0" u="none" strike="noStrike" cap="none" normalizeH="0" baseline="0">
                <a:ln>
                  <a:noFill/>
                </a:ln>
                <a:solidFill>
                  <a:srgbClr val="171717"/>
                </a:solidFill>
                <a:effectLst/>
                <a:latin typeface="Calibri" panose="020F0502020204030204" pitchFamily="34" charset="0"/>
                <a:ea typeface="Calibri" panose="020F0502020204030204" pitchFamily="34" charset="0"/>
                <a:cs typeface="Segoe UI" panose="020B0502040204020203" pitchFamily="34" charset="0"/>
              </a:rPr>
              <a:t> </a:t>
            </a:r>
            <a:r>
              <a:rPr kumimoji="0" lang="en-US" altLang="en-US" sz="1000" b="0" i="0" u="none" strike="noStrike" cap="none" normalizeH="0" baseline="0">
                <a:ln>
                  <a:noFill/>
                </a:ln>
                <a:solidFill>
                  <a:srgbClr val="171717"/>
                </a:solidFill>
                <a:effectLst/>
                <a:latin typeface="Consolas" panose="020B0609020204030204" pitchFamily="49" charset="0"/>
                <a:ea typeface="Calibri" panose="020F0502020204030204" pitchFamily="34" charset="0"/>
                <a:cs typeface="Courier New" panose="02070309020205020404" pitchFamily="49" charset="0"/>
              </a:rPr>
              <a:t>YearOfBirth</a:t>
            </a:r>
            <a:r>
              <a:rPr kumimoji="0" lang="en-US" altLang="en-US" sz="1100" b="0" i="0" u="none" strike="noStrike" cap="none" normalizeH="0" baseline="0">
                <a:ln>
                  <a:noFill/>
                </a:ln>
                <a:solidFill>
                  <a:srgbClr val="171717"/>
                </a:solidFill>
                <a:effectLst/>
                <a:latin typeface="Segoe UI" panose="020B0502040204020203" pitchFamily="34" charset="0"/>
                <a:ea typeface="Calibri" panose="020F0502020204030204" pitchFamily="34" charset="0"/>
                <a:cs typeface="Segoe UI" panose="020B0502040204020203" pitchFamily="34" charset="0"/>
              </a:rPr>
              <a:t>. It uses a private field named</a:t>
            </a:r>
            <a:r>
              <a:rPr kumimoji="0" lang="en-US" altLang="en-US" sz="1100" b="0" i="0" u="none" strike="noStrike" cap="none" normalizeH="0" baseline="0">
                <a:ln>
                  <a:noFill/>
                </a:ln>
                <a:solidFill>
                  <a:srgbClr val="171717"/>
                </a:solidFill>
                <a:effectLst/>
                <a:latin typeface="Calibri" panose="020F0502020204030204" pitchFamily="34" charset="0"/>
                <a:ea typeface="Calibri" panose="020F0502020204030204" pitchFamily="34" charset="0"/>
                <a:cs typeface="Segoe UI" panose="020B0502040204020203" pitchFamily="34" charset="0"/>
              </a:rPr>
              <a:t> </a:t>
            </a:r>
            <a:r>
              <a:rPr kumimoji="0" lang="en-US" altLang="en-US" sz="1000" b="0" i="0" u="none" strike="noStrike" cap="none" normalizeH="0" baseline="0">
                <a:ln>
                  <a:noFill/>
                </a:ln>
                <a:solidFill>
                  <a:srgbClr val="171717"/>
                </a:solidFill>
                <a:effectLst/>
                <a:latin typeface="Consolas" panose="020B0609020204030204" pitchFamily="49" charset="0"/>
                <a:ea typeface="Calibri" panose="020F0502020204030204" pitchFamily="34" charset="0"/>
                <a:cs typeface="Courier New" panose="02070309020205020404" pitchFamily="49" charset="0"/>
              </a:rPr>
              <a:t>_yearOfBirth</a:t>
            </a:r>
            <a:r>
              <a:rPr kumimoji="0" lang="en-US" altLang="en-US" sz="1100" b="0" i="0" u="none" strike="noStrike" cap="none" normalizeH="0" baseline="0">
                <a:ln>
                  <a:noFill/>
                </a:ln>
                <a:solidFill>
                  <a:srgbClr val="171717"/>
                </a:solidFill>
                <a:effectLst/>
                <a:latin typeface="Calibri" panose="020F0502020204030204" pitchFamily="34" charset="0"/>
                <a:ea typeface="Calibri" panose="020F0502020204030204" pitchFamily="34" charset="0"/>
                <a:cs typeface="Segoe UI" panose="020B0502040204020203" pitchFamily="34" charset="0"/>
              </a:rPr>
              <a:t> </a:t>
            </a:r>
            <a:r>
              <a:rPr kumimoji="0" lang="en-US" altLang="en-US" sz="1100" b="0" i="0" u="none" strike="noStrike" cap="none" normalizeH="0" baseline="0">
                <a:ln>
                  <a:noFill/>
                </a:ln>
                <a:solidFill>
                  <a:srgbClr val="171717"/>
                </a:solidFill>
                <a:effectLst/>
                <a:latin typeface="Segoe UI" panose="020B0502040204020203" pitchFamily="34" charset="0"/>
                <a:ea typeface="Calibri" panose="020F0502020204030204" pitchFamily="34" charset="0"/>
                <a:cs typeface="Segoe UI" panose="020B0502040204020203" pitchFamily="34" charset="0"/>
              </a:rPr>
              <a:t>to back the property value.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FB2D6F6A-7E46-4DB8-C6C9-88DDE0064A46}"/>
              </a:ext>
            </a:extLst>
          </p:cNvPr>
          <p:cNvSpPr>
            <a:spLocks noChangeArrowheads="1"/>
          </p:cNvSpPr>
          <p:nvPr/>
        </p:nvSpPr>
        <p:spPr bwMode="auto">
          <a:xfrm>
            <a:off x="0" y="932812"/>
            <a:ext cx="11965858" cy="581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The following example defines both a</a:t>
            </a:r>
            <a:r>
              <a:rPr kumimoji="0" lang="en-US" altLang="en-US" sz="1200" b="0" i="0" u="none" strike="noStrike" cap="none" normalizeH="0" baseline="0" dirty="0">
                <a:ln>
                  <a:noFill/>
                </a:ln>
                <a:solidFill>
                  <a:srgbClr val="171717"/>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1200" b="0" i="0" u="none" strike="noStrike" cap="none" normalizeH="0" baseline="0" dirty="0">
                <a:ln>
                  <a:noFill/>
                </a:ln>
                <a:solidFill>
                  <a:srgbClr val="171717"/>
                </a:solidFill>
                <a:effectLst/>
                <a:latin typeface="Consolas" panose="020B0609020204030204" pitchFamily="49" charset="0"/>
                <a:ea typeface="Calibri" panose="020F0502020204030204" pitchFamily="34" charset="0"/>
                <a:cs typeface="Courier New" panose="02070309020205020404" pitchFamily="49" charset="0"/>
              </a:rPr>
              <a:t>get</a:t>
            </a:r>
            <a:r>
              <a:rPr kumimoji="0" lang="en-US" altLang="en-US" sz="1200" b="0" i="0" u="none" strike="noStrike" cap="none" normalizeH="0" baseline="0" dirty="0">
                <a:ln>
                  <a:noFill/>
                </a:ln>
                <a:solidFill>
                  <a:srgbClr val="171717"/>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12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and an</a:t>
            </a:r>
            <a:r>
              <a:rPr kumimoji="0" lang="en-US" altLang="en-US" sz="1200" b="0" i="0" u="none" strike="noStrike" cap="none" normalizeH="0" baseline="0" dirty="0">
                <a:ln>
                  <a:noFill/>
                </a:ln>
                <a:solidFill>
                  <a:srgbClr val="171717"/>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1200" b="0" i="0" u="none" strike="noStrike" cap="none" normalizeH="0" baseline="0" dirty="0" err="1">
                <a:ln>
                  <a:noFill/>
                </a:ln>
                <a:solidFill>
                  <a:srgbClr val="171717"/>
                </a:solidFill>
                <a:effectLst/>
                <a:latin typeface="Consolas" panose="020B0609020204030204" pitchFamily="49" charset="0"/>
                <a:ea typeface="Calibri" panose="020F0502020204030204" pitchFamily="34" charset="0"/>
                <a:cs typeface="Courier New" panose="02070309020205020404" pitchFamily="49" charset="0"/>
              </a:rPr>
              <a:t>init</a:t>
            </a:r>
            <a:r>
              <a:rPr kumimoji="0" lang="en-US" altLang="en-US" sz="1200" b="0" i="0" u="none" strike="noStrike" cap="none" normalizeH="0" baseline="0" dirty="0">
                <a:ln>
                  <a:noFill/>
                </a:ln>
                <a:solidFill>
                  <a:srgbClr val="171717"/>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12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accessor for a property named</a:t>
            </a:r>
            <a:r>
              <a:rPr kumimoji="0" lang="en-US" altLang="en-US" sz="1200" b="0" i="0" u="none" strike="noStrike" cap="none" normalizeH="0" baseline="0" dirty="0">
                <a:ln>
                  <a:noFill/>
                </a:ln>
                <a:solidFill>
                  <a:srgbClr val="171717"/>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1200" b="0" i="0" u="none" strike="noStrike" cap="none" normalizeH="0" baseline="0" dirty="0" err="1">
                <a:ln>
                  <a:noFill/>
                </a:ln>
                <a:solidFill>
                  <a:srgbClr val="171717"/>
                </a:solidFill>
                <a:effectLst/>
                <a:latin typeface="Consolas" panose="020B0609020204030204" pitchFamily="49" charset="0"/>
                <a:ea typeface="Calibri" panose="020F0502020204030204" pitchFamily="34" charset="0"/>
                <a:cs typeface="Courier New" panose="02070309020205020404" pitchFamily="49" charset="0"/>
              </a:rPr>
              <a:t>YearOfBirth</a:t>
            </a:r>
            <a:r>
              <a:rPr kumimoji="0" lang="en-US" altLang="en-US" sz="12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 It uses a private field named</a:t>
            </a:r>
            <a:r>
              <a:rPr kumimoji="0" lang="en-US" altLang="en-US" sz="1200" b="0" i="0" u="none" strike="noStrike" cap="none" normalizeH="0" baseline="0" dirty="0">
                <a:ln>
                  <a:noFill/>
                </a:ln>
                <a:solidFill>
                  <a:srgbClr val="171717"/>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1200" b="0" i="0" u="none" strike="noStrike" cap="none" normalizeH="0" baseline="0" dirty="0">
                <a:ln>
                  <a:noFill/>
                </a:ln>
                <a:solidFill>
                  <a:srgbClr val="171717"/>
                </a:solidFill>
                <a:effectLst/>
                <a:latin typeface="Consolas" panose="020B0609020204030204" pitchFamily="49" charset="0"/>
                <a:ea typeface="Calibri" panose="020F0502020204030204" pitchFamily="34" charset="0"/>
                <a:cs typeface="Courier New" panose="02070309020205020404" pitchFamily="49" charset="0"/>
              </a:rPr>
              <a:t>_</a:t>
            </a:r>
            <a:r>
              <a:rPr kumimoji="0" lang="en-US" altLang="en-US" sz="1200" b="0" i="0" u="none" strike="noStrike" cap="none" normalizeH="0" baseline="0" dirty="0" err="1">
                <a:ln>
                  <a:noFill/>
                </a:ln>
                <a:solidFill>
                  <a:srgbClr val="171717"/>
                </a:solidFill>
                <a:effectLst/>
                <a:latin typeface="Consolas" panose="020B0609020204030204" pitchFamily="49" charset="0"/>
                <a:ea typeface="Calibri" panose="020F0502020204030204" pitchFamily="34" charset="0"/>
                <a:cs typeface="Courier New" panose="02070309020205020404" pitchFamily="49" charset="0"/>
              </a:rPr>
              <a:t>yearOfBirth</a:t>
            </a:r>
            <a:r>
              <a:rPr kumimoji="0" lang="en-US" altLang="en-US" sz="1200" b="0" i="0" u="none" strike="noStrike" cap="none" normalizeH="0" baseline="0" dirty="0">
                <a:ln>
                  <a:noFill/>
                </a:ln>
                <a:solidFill>
                  <a:srgbClr val="171717"/>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12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to back the property value.</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a:ln>
                  <a:noFill/>
                </a:ln>
                <a:solidFill>
                  <a:srgbClr val="0000FF"/>
                </a:solidFill>
                <a:effectLst/>
                <a:latin typeface="Calibri" panose="020F0502020204030204" pitchFamily="34" charset="0"/>
                <a:ea typeface="Times New Roman" panose="02020603050405020304" pitchFamily="18" charset="0"/>
                <a:cs typeface="Cascadia Mono" panose="020B0609020000020004" pitchFamily="49" charset="0"/>
              </a:rPr>
              <a:t>class</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err="1">
                <a:ln>
                  <a:noFill/>
                </a:ln>
                <a:solidFill>
                  <a:srgbClr val="2B91AF"/>
                </a:solidFill>
                <a:effectLst/>
                <a:latin typeface="Calibri" panose="020F0502020204030204" pitchFamily="34" charset="0"/>
                <a:ea typeface="Times New Roman" panose="02020603050405020304" pitchFamily="18" charset="0"/>
                <a:cs typeface="Cascadia Mono" panose="020B0609020000020004" pitchFamily="49" charset="0"/>
              </a:rPr>
              <a:t>Person_InitExample</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a:ln>
                  <a:noFill/>
                </a:ln>
                <a:solidFill>
                  <a:srgbClr val="0000FF"/>
                </a:solidFill>
                <a:effectLst/>
                <a:latin typeface="Calibri" panose="020F0502020204030204" pitchFamily="34" charset="0"/>
                <a:ea typeface="Times New Roman" panose="02020603050405020304" pitchFamily="18" charset="0"/>
                <a:cs typeface="Cascadia Mono" panose="020B0609020000020004" pitchFamily="49" charset="0"/>
              </a:rPr>
              <a:t>private</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a:ln>
                  <a:noFill/>
                </a:ln>
                <a:solidFill>
                  <a:srgbClr val="0000FF"/>
                </a:solidFill>
                <a:effectLst/>
                <a:latin typeface="Calibri" panose="020F0502020204030204" pitchFamily="34" charset="0"/>
                <a:ea typeface="Times New Roman" panose="02020603050405020304" pitchFamily="18" charset="0"/>
                <a:cs typeface="Cascadia Mono" panose="020B0609020000020004" pitchFamily="49" charset="0"/>
              </a:rPr>
              <a:t>int</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_</a:t>
            </a:r>
            <a:r>
              <a:rPr kumimoji="0" lang="en-US" altLang="en-US" sz="1200" b="0" i="0" u="none" strike="noStrike" cap="none" normalizeH="0" baseline="0" dirty="0" err="1">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yearOfBirth</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a:ln>
                  <a:noFill/>
                </a:ln>
                <a:solidFill>
                  <a:srgbClr val="0000FF"/>
                </a:solidFill>
                <a:effectLst/>
                <a:latin typeface="Calibri" panose="020F0502020204030204" pitchFamily="34" charset="0"/>
                <a:ea typeface="Times New Roman" panose="02020603050405020304" pitchFamily="18" charset="0"/>
                <a:cs typeface="Cascadia Mono" panose="020B0609020000020004" pitchFamily="49" charset="0"/>
              </a:rPr>
              <a:t>public</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a:ln>
                  <a:noFill/>
                </a:ln>
                <a:solidFill>
                  <a:srgbClr val="0000FF"/>
                </a:solidFill>
                <a:effectLst/>
                <a:latin typeface="Calibri" panose="020F0502020204030204" pitchFamily="34" charset="0"/>
                <a:ea typeface="Times New Roman" panose="02020603050405020304" pitchFamily="18" charset="0"/>
                <a:cs typeface="Cascadia Mono" panose="020B0609020000020004" pitchFamily="49" charset="0"/>
              </a:rPr>
              <a:t>int</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err="1">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YearOfBirth</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a:ln>
                  <a:noFill/>
                </a:ln>
                <a:solidFill>
                  <a:srgbClr val="0000FF"/>
                </a:solidFill>
                <a:effectLst/>
                <a:latin typeface="Calibri" panose="020F0502020204030204" pitchFamily="34" charset="0"/>
                <a:ea typeface="Times New Roman" panose="02020603050405020304" pitchFamily="18" charset="0"/>
                <a:cs typeface="Cascadia Mono" panose="020B0609020000020004" pitchFamily="49" charset="0"/>
              </a:rPr>
              <a:t>get</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 </a:t>
            </a:r>
            <a:r>
              <a:rPr kumimoji="0" lang="en-US" altLang="en-US" sz="1200" b="0" i="0" u="none" strike="noStrike" cap="none" normalizeH="0" baseline="0" dirty="0">
                <a:ln>
                  <a:noFill/>
                </a:ln>
                <a:solidFill>
                  <a:srgbClr val="0000FF"/>
                </a:solidFill>
                <a:effectLst/>
                <a:latin typeface="Calibri" panose="020F0502020204030204" pitchFamily="34" charset="0"/>
                <a:ea typeface="Times New Roman" panose="02020603050405020304" pitchFamily="18" charset="0"/>
                <a:cs typeface="Cascadia Mono" panose="020B0609020000020004" pitchFamily="49" charset="0"/>
              </a:rPr>
              <a:t>return</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_</a:t>
            </a:r>
            <a:r>
              <a:rPr kumimoji="0" lang="en-US" altLang="en-US" sz="1200" b="0" i="0" u="none" strike="noStrike" cap="none" normalizeH="0" baseline="0" dirty="0" err="1">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yearOfBirth</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highlight>
                  <a:srgbClr val="FFFF00"/>
                </a:highligh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err="1">
                <a:ln>
                  <a:noFill/>
                </a:ln>
                <a:solidFill>
                  <a:srgbClr val="0000FF"/>
                </a:solidFill>
                <a:effectLst/>
                <a:highlight>
                  <a:srgbClr val="FFFF00"/>
                </a:highlight>
                <a:latin typeface="Calibri" panose="020F0502020204030204" pitchFamily="34" charset="0"/>
                <a:ea typeface="Times New Roman" panose="02020603050405020304" pitchFamily="18" charset="0"/>
                <a:cs typeface="Cascadia Mono" panose="020B0609020000020004" pitchFamily="49" charset="0"/>
              </a:rPr>
              <a:t>init</a:t>
            </a:r>
            <a:r>
              <a:rPr kumimoji="0" lang="en-US" altLang="en-US" sz="1200" b="0" i="0" u="none" strike="noStrike" cap="none" normalizeH="0" baseline="0" dirty="0">
                <a:ln>
                  <a:noFill/>
                </a:ln>
                <a:solidFill>
                  <a:srgbClr val="000000"/>
                </a:solidFill>
                <a:effectLst/>
                <a:highlight>
                  <a:srgbClr val="FFFF00"/>
                </a:highlight>
                <a:latin typeface="Calibri" panose="020F0502020204030204" pitchFamily="34" charset="0"/>
                <a:ea typeface="Times New Roman" panose="02020603050405020304" pitchFamily="18" charset="0"/>
                <a:cs typeface="Cascadia Mono" panose="020B0609020000020004" pitchFamily="49" charset="0"/>
              </a:rPr>
              <a:t> { _</a:t>
            </a:r>
            <a:r>
              <a:rPr kumimoji="0" lang="en-US" altLang="en-US" sz="1200" b="0" i="0" u="none" strike="noStrike" cap="none" normalizeH="0" baseline="0" dirty="0" err="1">
                <a:ln>
                  <a:noFill/>
                </a:ln>
                <a:solidFill>
                  <a:srgbClr val="000000"/>
                </a:solidFill>
                <a:effectLst/>
                <a:highlight>
                  <a:srgbClr val="FFFF00"/>
                </a:highlight>
                <a:latin typeface="Calibri" panose="020F0502020204030204" pitchFamily="34" charset="0"/>
                <a:ea typeface="Times New Roman" panose="02020603050405020304" pitchFamily="18" charset="0"/>
                <a:cs typeface="Cascadia Mono" panose="020B0609020000020004" pitchFamily="49" charset="0"/>
              </a:rPr>
              <a:t>yearOfBirth</a:t>
            </a:r>
            <a:r>
              <a:rPr kumimoji="0" lang="en-US" altLang="en-US" sz="1200" b="0" i="0" u="none" strike="noStrike" cap="none" normalizeH="0" baseline="0" dirty="0">
                <a:ln>
                  <a:noFill/>
                </a:ln>
                <a:solidFill>
                  <a:srgbClr val="000000"/>
                </a:solidFill>
                <a:effectLst/>
                <a:highlight>
                  <a:srgbClr val="FFFF00"/>
                </a:highlight>
                <a:latin typeface="Calibri" panose="020F0502020204030204" pitchFamily="34" charset="0"/>
                <a:ea typeface="Times New Roman" panose="02020603050405020304" pitchFamily="18" charset="0"/>
                <a:cs typeface="Cascadia Mono" panose="020B0609020000020004" pitchFamily="49" charset="0"/>
              </a:rPr>
              <a:t> = value; }</a:t>
            </a:r>
            <a:endParaRPr kumimoji="0" lang="en-US" altLang="en-US" sz="1200" b="0" i="0" u="none" strike="noStrike" cap="none" normalizeH="0" baseline="0" dirty="0">
              <a:ln>
                <a:noFill/>
              </a:ln>
              <a:solidFill>
                <a:schemeClr val="tx1"/>
              </a:solidFill>
              <a:effectLst/>
              <a:highlight>
                <a:srgbClr val="FFFF00"/>
              </a:highligh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Often, the</a:t>
            </a:r>
            <a:r>
              <a:rPr kumimoji="0" lang="en-US" altLang="en-US" sz="1200" b="0" i="0" u="none" strike="noStrike" cap="none" normalizeH="0" baseline="0" dirty="0">
                <a:ln>
                  <a:noFill/>
                </a:ln>
                <a:solidFill>
                  <a:srgbClr val="171717"/>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1200" b="0" i="0" u="none" strike="noStrike" cap="none" normalizeH="0" baseline="0" dirty="0" err="1">
                <a:ln>
                  <a:noFill/>
                </a:ln>
                <a:solidFill>
                  <a:srgbClr val="171717"/>
                </a:solidFill>
                <a:effectLst/>
                <a:latin typeface="Consolas" panose="020B0609020204030204" pitchFamily="49" charset="0"/>
                <a:ea typeface="Calibri" panose="020F0502020204030204" pitchFamily="34" charset="0"/>
                <a:cs typeface="Courier New" panose="02070309020205020404" pitchFamily="49" charset="0"/>
              </a:rPr>
              <a:t>init</a:t>
            </a:r>
            <a:r>
              <a:rPr kumimoji="0" lang="en-US" altLang="en-US" sz="1200" b="0" i="0" u="none" strike="noStrike" cap="none" normalizeH="0" baseline="0" dirty="0">
                <a:ln>
                  <a:noFill/>
                </a:ln>
                <a:solidFill>
                  <a:srgbClr val="171717"/>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12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accessor consists of a single statement that assigns a value, as it did in the previous example. Note that, because of</a:t>
            </a:r>
            <a:r>
              <a:rPr kumimoji="0" lang="en-US" altLang="en-US" sz="1200" b="0" i="0" u="none" strike="noStrike" cap="none" normalizeH="0" baseline="0" dirty="0">
                <a:ln>
                  <a:noFill/>
                </a:ln>
                <a:solidFill>
                  <a:srgbClr val="171717"/>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1200" b="0" i="0" u="none" strike="noStrike" cap="none" normalizeH="0" baseline="0" dirty="0" err="1">
                <a:ln>
                  <a:noFill/>
                </a:ln>
                <a:solidFill>
                  <a:srgbClr val="171717"/>
                </a:solidFill>
                <a:effectLst/>
                <a:latin typeface="Consolas" panose="020B0609020204030204" pitchFamily="49" charset="0"/>
                <a:ea typeface="Calibri" panose="020F0502020204030204" pitchFamily="34" charset="0"/>
                <a:cs typeface="Courier New" panose="02070309020205020404" pitchFamily="49" charset="0"/>
              </a:rPr>
              <a:t>init</a:t>
            </a:r>
            <a:r>
              <a:rPr kumimoji="0" lang="en-US" altLang="en-US" sz="12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 the following will</a:t>
            </a:r>
            <a:r>
              <a:rPr kumimoji="0" lang="en-US" altLang="en-US" sz="1200" b="0" i="0" u="none" strike="noStrike" cap="none" normalizeH="0" baseline="0" dirty="0">
                <a:ln>
                  <a:noFill/>
                </a:ln>
                <a:solidFill>
                  <a:srgbClr val="171717"/>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1200" b="1"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not</a:t>
            </a:r>
            <a:r>
              <a:rPr kumimoji="0" lang="en-US" altLang="en-US" sz="1200" b="0" i="0" u="none" strike="noStrike" cap="none" normalizeH="0" baseline="0" dirty="0">
                <a:ln>
                  <a:noFill/>
                </a:ln>
                <a:solidFill>
                  <a:srgbClr val="171717"/>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12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work: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highlight>
                <a:srgbClr val="FFFF00"/>
              </a:highligh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highlight>
                  <a:srgbClr val="FFFF00"/>
                </a:highlight>
                <a:latin typeface="Calibri" panose="020F0502020204030204" pitchFamily="34" charset="0"/>
                <a:ea typeface="Times New Roman" panose="02020603050405020304" pitchFamily="18" charset="0"/>
                <a:cs typeface="Cascadia Mono" panose="020B0609020000020004" pitchFamily="49" charset="0"/>
              </a:rPr>
              <a:t>var john = </a:t>
            </a:r>
            <a:r>
              <a:rPr kumimoji="0" lang="en-US" altLang="en-US" sz="1200" b="0" i="0" u="none" strike="noStrike" cap="none" normalizeH="0" baseline="0" dirty="0">
                <a:ln>
                  <a:noFill/>
                </a:ln>
                <a:solidFill>
                  <a:srgbClr val="0000FF"/>
                </a:solidFill>
                <a:effectLst/>
                <a:highlight>
                  <a:srgbClr val="FFFF00"/>
                </a:highlight>
                <a:latin typeface="Calibri" panose="020F0502020204030204" pitchFamily="34" charset="0"/>
                <a:ea typeface="Times New Roman" panose="02020603050405020304" pitchFamily="18" charset="0"/>
                <a:cs typeface="Cascadia Mono" panose="020B0609020000020004" pitchFamily="49" charset="0"/>
              </a:rPr>
              <a:t>new</a:t>
            </a:r>
            <a:r>
              <a:rPr kumimoji="0" lang="en-US" altLang="en-US" sz="1200" b="0" i="0" u="none" strike="noStrike" cap="none" normalizeH="0" baseline="0" dirty="0">
                <a:ln>
                  <a:noFill/>
                </a:ln>
                <a:solidFill>
                  <a:srgbClr val="000000"/>
                </a:solidFill>
                <a:effectLst/>
                <a:highlight>
                  <a:srgbClr val="FFFF00"/>
                </a:highligh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err="1">
                <a:ln>
                  <a:noFill/>
                </a:ln>
                <a:solidFill>
                  <a:srgbClr val="000000"/>
                </a:solidFill>
                <a:effectLst/>
                <a:highlight>
                  <a:srgbClr val="FFFF00"/>
                </a:highlight>
                <a:latin typeface="Calibri" panose="020F0502020204030204" pitchFamily="34" charset="0"/>
                <a:ea typeface="Times New Roman" panose="02020603050405020304" pitchFamily="18" charset="0"/>
                <a:cs typeface="Cascadia Mono" panose="020B0609020000020004" pitchFamily="49" charset="0"/>
              </a:rPr>
              <a:t>Person_InitExample</a:t>
            </a:r>
            <a:r>
              <a:rPr kumimoji="0" lang="en-US" altLang="en-US" sz="1200" b="0" i="0" u="none" strike="noStrike" cap="none" normalizeH="0" baseline="0" dirty="0">
                <a:ln>
                  <a:noFill/>
                </a:ln>
                <a:solidFill>
                  <a:srgbClr val="000000"/>
                </a:solidFill>
                <a:effectLst/>
                <a:highlight>
                  <a:srgbClr val="FFFF00"/>
                </a:highlight>
                <a:latin typeface="Calibri" panose="020F0502020204030204" pitchFamily="34" charset="0"/>
                <a:ea typeface="Times New Roman" panose="02020603050405020304" pitchFamily="18" charset="0"/>
                <a:cs typeface="Cascadia Mono" panose="020B0609020000020004" pitchFamily="49" charset="0"/>
              </a:rPr>
              <a:t>   {        </a:t>
            </a:r>
            <a:r>
              <a:rPr kumimoji="0" lang="en-US" altLang="en-US" sz="1200" b="0" i="0" u="none" strike="noStrike" cap="none" normalizeH="0" baseline="0" dirty="0" err="1">
                <a:ln>
                  <a:noFill/>
                </a:ln>
                <a:solidFill>
                  <a:srgbClr val="000000"/>
                </a:solidFill>
                <a:effectLst/>
                <a:highlight>
                  <a:srgbClr val="FFFF00"/>
                </a:highlight>
                <a:latin typeface="Calibri" panose="020F0502020204030204" pitchFamily="34" charset="0"/>
                <a:ea typeface="Times New Roman" panose="02020603050405020304" pitchFamily="18" charset="0"/>
                <a:cs typeface="Cascadia Mono" panose="020B0609020000020004" pitchFamily="49" charset="0"/>
              </a:rPr>
              <a:t>YearOfBirth</a:t>
            </a:r>
            <a:r>
              <a:rPr kumimoji="0" lang="en-US" altLang="en-US" sz="1200" b="0" i="0" u="none" strike="noStrike" cap="none" normalizeH="0" baseline="0" dirty="0">
                <a:ln>
                  <a:noFill/>
                </a:ln>
                <a:solidFill>
                  <a:srgbClr val="000000"/>
                </a:solidFill>
                <a:effectLst/>
                <a:highlight>
                  <a:srgbClr val="FFFF00"/>
                </a:highlight>
                <a:latin typeface="Calibri" panose="020F0502020204030204" pitchFamily="34" charset="0"/>
                <a:ea typeface="Times New Roman" panose="02020603050405020304" pitchFamily="18" charset="0"/>
                <a:cs typeface="Cascadia Mono" panose="020B0609020000020004" pitchFamily="49" charset="0"/>
              </a:rPr>
              <a:t> = 1984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err="1">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john.YearOfBirth</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 1926; </a:t>
            </a:r>
            <a:r>
              <a:rPr kumimoji="0" lang="en-US" altLang="en-US" sz="1200" b="0" i="0" u="none" strike="noStrike" cap="none" normalizeH="0" baseline="0" dirty="0">
                <a:ln>
                  <a:noFill/>
                </a:ln>
                <a:solidFill>
                  <a:srgbClr val="008000"/>
                </a:solidFill>
                <a:effectLst/>
                <a:latin typeface="Calibri" panose="020F0502020204030204" pitchFamily="34" charset="0"/>
                <a:ea typeface="Times New Roman" panose="02020603050405020304" pitchFamily="18" charset="0"/>
                <a:cs typeface="Cascadia Mono" panose="020B0609020000020004" pitchFamily="49" charset="0"/>
              </a:rPr>
              <a:t>//Not allowed, as its value can only be set once in the constructor</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The</a:t>
            </a:r>
            <a:r>
              <a:rPr kumimoji="0" lang="en-US" altLang="en-US" sz="1200" b="0" i="0" u="none" strike="noStrike" cap="none" normalizeH="0" baseline="0" dirty="0">
                <a:ln>
                  <a:noFill/>
                </a:ln>
                <a:solidFill>
                  <a:srgbClr val="171717"/>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1200" b="0" i="0" u="none" strike="noStrike" cap="none" normalizeH="0" baseline="0" dirty="0" err="1">
                <a:ln>
                  <a:noFill/>
                </a:ln>
                <a:solidFill>
                  <a:srgbClr val="171717"/>
                </a:solidFill>
                <a:effectLst/>
                <a:latin typeface="Consolas" panose="020B0609020204030204" pitchFamily="49" charset="0"/>
                <a:ea typeface="Calibri" panose="020F0502020204030204" pitchFamily="34" charset="0"/>
                <a:cs typeface="Courier New" panose="02070309020205020404" pitchFamily="49" charset="0"/>
              </a:rPr>
              <a:t>init</a:t>
            </a:r>
            <a:r>
              <a:rPr kumimoji="0" lang="en-US" altLang="en-US" sz="1200" b="0" i="0" u="none" strike="noStrike" cap="none" normalizeH="0" baseline="0" dirty="0">
                <a:ln>
                  <a:noFill/>
                </a:ln>
                <a:solidFill>
                  <a:srgbClr val="171717"/>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12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accessor can be used as an expression-bodied member. Example:</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FF"/>
                </a:solidFill>
                <a:effectLst/>
                <a:latin typeface="Calibri" panose="020F0502020204030204" pitchFamily="34" charset="0"/>
                <a:ea typeface="Times New Roman" panose="02020603050405020304" pitchFamily="18" charset="0"/>
                <a:cs typeface="Cascadia Mono" panose="020B0609020000020004" pitchFamily="49" charset="0"/>
              </a:rPr>
              <a:t>class</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err="1">
                <a:ln>
                  <a:noFill/>
                </a:ln>
                <a:solidFill>
                  <a:srgbClr val="2B91AF"/>
                </a:solidFill>
                <a:effectLst/>
                <a:latin typeface="Calibri" panose="020F0502020204030204" pitchFamily="34" charset="0"/>
                <a:ea typeface="Times New Roman" panose="02020603050405020304" pitchFamily="18" charset="0"/>
                <a:cs typeface="Cascadia Mono" panose="020B0609020000020004" pitchFamily="49" charset="0"/>
              </a:rPr>
              <a:t>Person_InitExampleExpressionBodied</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a:ln>
                  <a:noFill/>
                </a:ln>
                <a:solidFill>
                  <a:srgbClr val="0000FF"/>
                </a:solidFill>
                <a:effectLst/>
                <a:latin typeface="Calibri" panose="020F0502020204030204" pitchFamily="34" charset="0"/>
                <a:ea typeface="Times New Roman" panose="02020603050405020304" pitchFamily="18" charset="0"/>
                <a:cs typeface="Cascadia Mono" panose="020B0609020000020004" pitchFamily="49" charset="0"/>
              </a:rPr>
              <a:t>private</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a:ln>
                  <a:noFill/>
                </a:ln>
                <a:solidFill>
                  <a:srgbClr val="0000FF"/>
                </a:solidFill>
                <a:effectLst/>
                <a:latin typeface="Calibri" panose="020F0502020204030204" pitchFamily="34" charset="0"/>
                <a:ea typeface="Times New Roman" panose="02020603050405020304" pitchFamily="18" charset="0"/>
                <a:cs typeface="Cascadia Mono" panose="020B0609020000020004" pitchFamily="49" charset="0"/>
              </a:rPr>
              <a:t>int</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_</a:t>
            </a:r>
            <a:r>
              <a:rPr kumimoji="0" lang="en-US" altLang="en-US" sz="1200" b="0" i="0" u="none" strike="noStrike" cap="none" normalizeH="0" baseline="0" dirty="0" err="1">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yearOfBirth</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a:ln>
                  <a:noFill/>
                </a:ln>
                <a:solidFill>
                  <a:srgbClr val="0000FF"/>
                </a:solidFill>
                <a:effectLst/>
                <a:latin typeface="Calibri" panose="020F0502020204030204" pitchFamily="34" charset="0"/>
                <a:ea typeface="Times New Roman" panose="02020603050405020304" pitchFamily="18" charset="0"/>
                <a:cs typeface="Cascadia Mono" panose="020B0609020000020004" pitchFamily="49" charset="0"/>
              </a:rPr>
              <a:t>public</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a:ln>
                  <a:noFill/>
                </a:ln>
                <a:solidFill>
                  <a:srgbClr val="0000FF"/>
                </a:solidFill>
                <a:effectLst/>
                <a:latin typeface="Calibri" panose="020F0502020204030204" pitchFamily="34" charset="0"/>
                <a:ea typeface="Times New Roman" panose="02020603050405020304" pitchFamily="18" charset="0"/>
                <a:cs typeface="Cascadia Mono" panose="020B0609020000020004" pitchFamily="49" charset="0"/>
              </a:rPr>
              <a:t>int</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err="1">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YearOfBirth</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a:ln>
                  <a:noFill/>
                </a:ln>
                <a:solidFill>
                  <a:srgbClr val="0000FF"/>
                </a:solidFill>
                <a:effectLst/>
                <a:latin typeface="Calibri" panose="020F0502020204030204" pitchFamily="34" charset="0"/>
                <a:ea typeface="Times New Roman" panose="02020603050405020304" pitchFamily="18" charset="0"/>
                <a:cs typeface="Cascadia Mono" panose="020B0609020000020004" pitchFamily="49" charset="0"/>
              </a:rPr>
              <a:t>get</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=&gt; _</a:t>
            </a:r>
            <a:r>
              <a:rPr kumimoji="0" lang="en-US" altLang="en-US" sz="1200" b="0" i="0" u="none" strike="noStrike" cap="none" normalizeH="0" baseline="0" dirty="0" err="1">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yearOfBirth</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err="1">
                <a:ln>
                  <a:noFill/>
                </a:ln>
                <a:solidFill>
                  <a:srgbClr val="0000FF"/>
                </a:solidFill>
                <a:effectLst/>
                <a:latin typeface="Calibri" panose="020F0502020204030204" pitchFamily="34" charset="0"/>
                <a:ea typeface="Times New Roman" panose="02020603050405020304" pitchFamily="18" charset="0"/>
                <a:cs typeface="Cascadia Mono" panose="020B0609020000020004" pitchFamily="49" charset="0"/>
              </a:rPr>
              <a:t>init</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=&gt; _</a:t>
            </a:r>
            <a:r>
              <a:rPr kumimoji="0" lang="en-US" altLang="en-US" sz="1200" b="0" i="0" u="none" strike="noStrike" cap="none" normalizeH="0" baseline="0" dirty="0" err="1">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yearOfBirth</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 value;</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The </a:t>
            </a:r>
            <a:r>
              <a:rPr kumimoji="0" lang="en-US" altLang="en-US" sz="1200" b="0" i="0" u="none" strike="noStrike" cap="none" normalizeH="0" baseline="0" dirty="0" err="1">
                <a:ln>
                  <a:noFill/>
                </a:ln>
                <a:solidFill>
                  <a:srgbClr val="171717"/>
                </a:solidFill>
                <a:effectLst/>
                <a:latin typeface="Consolas" panose="020B0609020204030204" pitchFamily="49" charset="0"/>
                <a:ea typeface="Times New Roman" panose="02020603050405020304" pitchFamily="18" charset="0"/>
                <a:cs typeface="Courier New" panose="02070309020205020404" pitchFamily="49" charset="0"/>
              </a:rPr>
              <a:t>init</a:t>
            </a:r>
            <a:r>
              <a:rPr kumimoji="0" lang="en-US" altLang="en-US" sz="12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 accessor can also be used </a:t>
            </a:r>
            <a:r>
              <a:rPr kumimoji="0" lang="en-US" altLang="en-US" sz="1200" b="1"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in auto-implemented </a:t>
            </a:r>
            <a:r>
              <a:rPr kumimoji="0" lang="en-US" altLang="en-US" sz="12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properties as the following example code demonstrates:</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a:ln>
                  <a:noFill/>
                </a:ln>
                <a:solidFill>
                  <a:srgbClr val="0000FF"/>
                </a:solidFill>
                <a:effectLst/>
                <a:latin typeface="Calibri" panose="020F0502020204030204" pitchFamily="34" charset="0"/>
                <a:ea typeface="Times New Roman" panose="02020603050405020304" pitchFamily="18" charset="0"/>
                <a:cs typeface="Cascadia Mono" panose="020B0609020000020004" pitchFamily="49" charset="0"/>
              </a:rPr>
              <a:t>class</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err="1">
                <a:ln>
                  <a:noFill/>
                </a:ln>
                <a:solidFill>
                  <a:srgbClr val="2B91AF"/>
                </a:solidFill>
                <a:effectLst/>
                <a:latin typeface="Calibri" panose="020F0502020204030204" pitchFamily="34" charset="0"/>
                <a:ea typeface="Times New Roman" panose="02020603050405020304" pitchFamily="18" charset="0"/>
                <a:cs typeface="Cascadia Mono" panose="020B0609020000020004" pitchFamily="49" charset="0"/>
              </a:rPr>
              <a:t>Person_InitExampleAutoProperty</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a:ln>
                  <a:noFill/>
                </a:ln>
                <a:solidFill>
                  <a:srgbClr val="0000FF"/>
                </a:solidFill>
                <a:effectLst/>
                <a:latin typeface="Calibri" panose="020F0502020204030204" pitchFamily="34" charset="0"/>
                <a:ea typeface="Times New Roman" panose="02020603050405020304" pitchFamily="18" charset="0"/>
                <a:cs typeface="Cascadia Mono" panose="020B0609020000020004" pitchFamily="49" charset="0"/>
              </a:rPr>
              <a:t>public</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a:ln>
                  <a:noFill/>
                </a:ln>
                <a:solidFill>
                  <a:srgbClr val="0000FF"/>
                </a:solidFill>
                <a:effectLst/>
                <a:latin typeface="Calibri" panose="020F0502020204030204" pitchFamily="34" charset="0"/>
                <a:ea typeface="Times New Roman" panose="02020603050405020304" pitchFamily="18" charset="0"/>
                <a:cs typeface="Cascadia Mono" panose="020B0609020000020004" pitchFamily="49" charset="0"/>
              </a:rPr>
              <a:t>int</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err="1">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YearOfBirth</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 </a:t>
            </a:r>
            <a:r>
              <a:rPr kumimoji="0" lang="en-US" altLang="en-US" sz="1200" b="0" i="0" u="none" strike="noStrike" cap="none" normalizeH="0" baseline="0" dirty="0">
                <a:ln>
                  <a:noFill/>
                </a:ln>
                <a:solidFill>
                  <a:srgbClr val="0000FF"/>
                </a:solidFill>
                <a:effectLst/>
                <a:latin typeface="Calibri" panose="020F0502020204030204" pitchFamily="34" charset="0"/>
                <a:ea typeface="Times New Roman" panose="02020603050405020304" pitchFamily="18" charset="0"/>
                <a:cs typeface="Cascadia Mono" panose="020B0609020000020004" pitchFamily="49" charset="0"/>
              </a:rPr>
              <a:t>get</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r>
              <a:rPr kumimoji="0" lang="en-US" altLang="en-US" sz="1200" b="0" i="0" u="none" strike="noStrike" cap="none" normalizeH="0" baseline="0" dirty="0" err="1">
                <a:ln>
                  <a:noFill/>
                </a:ln>
                <a:solidFill>
                  <a:srgbClr val="0000FF"/>
                </a:solidFill>
                <a:effectLst/>
                <a:latin typeface="Calibri" panose="020F0502020204030204" pitchFamily="34" charset="0"/>
                <a:ea typeface="Times New Roman" panose="02020603050405020304" pitchFamily="18" charset="0"/>
                <a:cs typeface="Cascadia Mono" panose="020B0609020000020004" pitchFamily="49" charset="0"/>
              </a:rPr>
              <a:t>init</a:t>
            </a: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  </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scadia Mono" panose="020B0609020000020004" pitchFamily="49" charset="0"/>
              </a:rPr>
              <a:t>      }</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75800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0D4B9A-C799-B15F-F2EE-0D09ED951746}"/>
              </a:ext>
            </a:extLst>
          </p:cNvPr>
          <p:cNvSpPr txBox="1"/>
          <p:nvPr/>
        </p:nvSpPr>
        <p:spPr>
          <a:xfrm>
            <a:off x="351148" y="84225"/>
            <a:ext cx="10272859" cy="6873805"/>
          </a:xfrm>
          <a:prstGeom prst="rect">
            <a:avLst/>
          </a:prstGeom>
          <a:noFill/>
        </p:spPr>
        <p:txBody>
          <a:bodyPr wrap="square">
            <a:spAutoFit/>
          </a:bodyPr>
          <a:lstStyle/>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namespace</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Microsoft.AspNetCore.Builder</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Summary:</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Options for configuring the </a:t>
            </a:r>
            <a:r>
              <a:rPr lang="en-IN" sz="950" dirty="0" err="1">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behavior</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for </a:t>
            </a:r>
            <a:r>
              <a:rPr lang="en-IN" sz="950" dirty="0" err="1">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Microsoft.AspNetCore.Builder.WebApplication.CreateBuilder</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a:t>
            </a:r>
            <a:r>
              <a:rPr lang="en-IN" sz="950" dirty="0" err="1">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Microsoft.AspNetCore.Builder.WebApplicationOptions</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public</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class</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err="1">
                <a:solidFill>
                  <a:srgbClr val="2B91AF"/>
                </a:solidFill>
                <a:effectLst/>
                <a:latin typeface="Cascadia Mono" panose="020B0609020000020004" pitchFamily="49" charset="0"/>
                <a:ea typeface="Calibri" panose="020F0502020204030204" pitchFamily="34" charset="0"/>
                <a:cs typeface="Cascadia Mono" panose="020B0609020000020004" pitchFamily="49" charset="0"/>
              </a:rPr>
              <a:t>WebApplicationOptions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public</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err="1">
                <a:solidFill>
                  <a:srgbClr val="2B91AF"/>
                </a:solidFill>
                <a:effectLst/>
                <a:latin typeface="Cascadia Mono" panose="020B0609020000020004" pitchFamily="49" charset="0"/>
                <a:ea typeface="Calibri" panose="020F0502020204030204" pitchFamily="34" charset="0"/>
                <a:cs typeface="Cascadia Mono" panose="020B0609020000020004" pitchFamily="49" charset="0"/>
              </a:rPr>
              <a:t>WebApplicationOptions</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Summary:</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The command line arguments.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public</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string</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Args</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a:t>
            </a:r>
            <a:r>
              <a:rPr lang="en-IN" sz="950" dirty="0">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get</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err="1">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init</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Summary:</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The environment name.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public</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string</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EnvironmentName</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a:t>
            </a:r>
            <a:r>
              <a:rPr lang="en-IN" sz="950" dirty="0">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get</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err="1">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init</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Summary:</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The application name.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public</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string</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ApplicationName</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a:t>
            </a:r>
            <a:r>
              <a:rPr lang="en-IN" sz="950" dirty="0">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get</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err="1">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init</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Summary:</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The content root path.</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public</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string</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ContentRootPath</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a:t>
            </a:r>
            <a:r>
              <a:rPr lang="en-IN" sz="950" dirty="0">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get</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err="1">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init</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Summary:</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8000"/>
                </a:solidFill>
                <a:effectLst/>
                <a:latin typeface="Cascadia Mono" panose="020B0609020000020004" pitchFamily="49" charset="0"/>
                <a:ea typeface="Calibri" panose="020F0502020204030204" pitchFamily="34" charset="0"/>
                <a:cs typeface="Cascadia Mono" panose="020B0609020000020004" pitchFamily="49" charset="0"/>
              </a:rPr>
              <a:t>//     The web root path.</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public</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string</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err="1">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WebRootPath</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 </a:t>
            </a:r>
            <a:r>
              <a:rPr lang="en-IN" sz="950" dirty="0">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get</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r>
              <a:rPr lang="en-IN" sz="950" dirty="0" err="1">
                <a:solidFill>
                  <a:srgbClr val="0000FF"/>
                </a:solidFill>
                <a:effectLst/>
                <a:latin typeface="Cascadia Mono" panose="020B0609020000020004" pitchFamily="49" charset="0"/>
                <a:ea typeface="Calibri" panose="020F0502020204030204" pitchFamily="34" charset="0"/>
                <a:cs typeface="Cascadia Mono" panose="020B0609020000020004" pitchFamily="49" charset="0"/>
              </a:rPr>
              <a:t>init</a:t>
            </a: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950" dirty="0">
                <a:solidFill>
                  <a:srgbClr val="000000"/>
                </a:solidFill>
                <a:effectLst/>
                <a:latin typeface="Cascadia Mono" panose="020B0609020000020004" pitchFamily="49" charset="0"/>
                <a:ea typeface="Calibri" panose="020F0502020204030204" pitchFamily="34" charset="0"/>
                <a:cs typeface="Cascadia Mono" panose="020B0609020000020004" pitchFamily="49"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76903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9BEA179-C67C-9C2A-0226-10F887F156F9}"/>
              </a:ext>
            </a:extLst>
          </p:cNvPr>
          <p:cNvSpPr txBox="1"/>
          <p:nvPr/>
        </p:nvSpPr>
        <p:spPr>
          <a:xfrm>
            <a:off x="511405" y="290308"/>
            <a:ext cx="10235152" cy="730328"/>
          </a:xfrm>
          <a:prstGeom prst="rect">
            <a:avLst/>
          </a:prstGeom>
          <a:noFill/>
        </p:spPr>
        <p:txBody>
          <a:bodyPr wrap="square">
            <a:spAutoFit/>
          </a:bodyPr>
          <a:lstStyle/>
          <a:p>
            <a:pPr>
              <a:lnSpc>
                <a:spcPct val="107000"/>
              </a:lnSpc>
              <a:spcAft>
                <a:spcPts val="800"/>
              </a:spcAft>
            </a:pPr>
            <a:r>
              <a:rPr lang="en-IN" sz="2000" b="1" kern="1800" dirty="0">
                <a:solidFill>
                  <a:srgbClr val="171717"/>
                </a:solidFill>
                <a:effectLst/>
                <a:latin typeface="Segoe UI" panose="020B0502040204020203" pitchFamily="34" charset="0"/>
                <a:ea typeface="Times New Roman" panose="02020603050405020304" pitchFamily="18" charset="0"/>
                <a:cs typeface="Times New Roman" panose="02020603050405020304" pitchFamily="18" charset="0"/>
              </a:rPr>
              <a:t>new operator - The </a:t>
            </a:r>
            <a:r>
              <a:rPr lang="en-IN" sz="2200" b="1" kern="1800" dirty="0">
                <a:solidFill>
                  <a:srgbClr val="171717"/>
                </a:solidFill>
                <a:effectLst/>
                <a:latin typeface="Consolas" panose="020B0609020204030204" pitchFamily="49" charset="0"/>
                <a:ea typeface="Times New Roman" panose="02020603050405020304" pitchFamily="18" charset="0"/>
                <a:cs typeface="Courier New" panose="02070309020205020404" pitchFamily="49" charset="0"/>
              </a:rPr>
              <a:t>new</a:t>
            </a:r>
            <a:r>
              <a:rPr lang="en-IN" sz="2000" b="1" kern="1800" dirty="0">
                <a:solidFill>
                  <a:srgbClr val="171717"/>
                </a:solidFill>
                <a:effectLst/>
                <a:latin typeface="Segoe UI" panose="020B0502040204020203" pitchFamily="34" charset="0"/>
                <a:ea typeface="Times New Roman" panose="02020603050405020304" pitchFamily="18" charset="0"/>
                <a:cs typeface="Times New Roman" panose="02020603050405020304" pitchFamily="18" charset="0"/>
              </a:rPr>
              <a:t> operator creates a new instance of a type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6" name="Rectangle 1">
            <a:extLst>
              <a:ext uri="{FF2B5EF4-FFF2-40B4-BE49-F238E27FC236}">
                <a16:creationId xmlns:a16="http://schemas.microsoft.com/office/drawing/2014/main" id="{1EA232E1-21D8-8D9D-7738-7A117868C019}"/>
              </a:ext>
            </a:extLst>
          </p:cNvPr>
          <p:cNvSpPr>
            <a:spLocks noChangeArrowheads="1"/>
          </p:cNvSpPr>
          <p:nvPr/>
        </p:nvSpPr>
        <p:spPr bwMode="auto">
          <a:xfrm>
            <a:off x="263950" y="1239493"/>
            <a:ext cx="11547835"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Beginning with C# 9.0, constructor invocation expressions are target-typed. That is, if a target type of an expression is known, you can omit a type name, as the following example shows:</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List&lt;</a:t>
            </a:r>
            <a:r>
              <a:rPr kumimoji="0" lang="en-US" altLang="en-US" sz="1100" b="0" i="0" u="none" strike="noStrike" cap="none" normalizeH="0" baseline="0" dirty="0">
                <a:ln>
                  <a:noFill/>
                </a:ln>
                <a:solidFill>
                  <a:srgbClr val="0101FD"/>
                </a:solidFill>
                <a:effectLst/>
                <a:latin typeface="Consolas" panose="020B0609020204030204" pitchFamily="49" charset="0"/>
                <a:ea typeface="Times New Roman" panose="02020603050405020304" pitchFamily="18" charset="0"/>
                <a:cs typeface="Times New Roman" panose="02020603050405020304" pitchFamily="18" charset="0"/>
              </a:rPr>
              <a:t>int</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&gt; </a:t>
            </a:r>
            <a:r>
              <a:rPr kumimoji="0" lang="en-US" altLang="en-US" sz="1100" b="0" i="0" u="none" strike="noStrike" cap="none" normalizeH="0" baseline="0" dirty="0" err="1">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xs</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 </a:t>
            </a:r>
            <a:r>
              <a:rPr kumimoji="0" lang="en-US" altLang="en-US" sz="1100" b="0" i="0" u="none" strike="noStrike" cap="none" normalizeH="0" baseline="0" dirty="0">
                <a:ln>
                  <a:noFill/>
                </a:ln>
                <a:solidFill>
                  <a:srgbClr val="0101FD"/>
                </a:solidFill>
                <a:effectLst/>
                <a:latin typeface="Consolas" panose="020B0609020204030204" pitchFamily="49" charset="0"/>
                <a:ea typeface="Times New Roman" panose="02020603050405020304" pitchFamily="18" charset="0"/>
                <a:cs typeface="Times New Roman" panose="02020603050405020304" pitchFamily="18" charset="0"/>
              </a:rPr>
              <a:t>new</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List&lt;</a:t>
            </a:r>
            <a:r>
              <a:rPr kumimoji="0" lang="en-US" altLang="en-US" sz="1100" b="0" i="0" u="none" strike="noStrike" cap="none" normalizeH="0" baseline="0" dirty="0">
                <a:ln>
                  <a:noFill/>
                </a:ln>
                <a:solidFill>
                  <a:srgbClr val="0101FD"/>
                </a:solidFill>
                <a:effectLst/>
                <a:latin typeface="Consolas" panose="020B0609020204030204" pitchFamily="49" charset="0"/>
                <a:ea typeface="Times New Roman" panose="02020603050405020304" pitchFamily="18" charset="0"/>
                <a:cs typeface="Times New Roman" panose="02020603050405020304" pitchFamily="18" charset="0"/>
              </a:rPr>
              <a:t>int</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&gt; </a:t>
            </a:r>
            <a:r>
              <a:rPr kumimoji="0" lang="en-US" altLang="en-US" sz="1100" b="0" i="0" u="none" strike="noStrike" cap="none" normalizeH="0" baseline="0" dirty="0" err="1">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ys</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 </a:t>
            </a:r>
            <a:r>
              <a:rPr kumimoji="0" lang="en-US" altLang="en-US" sz="1100" b="0" i="0" u="none" strike="noStrike" cap="none" normalizeH="0" baseline="0" dirty="0">
                <a:ln>
                  <a:noFill/>
                </a:ln>
                <a:solidFill>
                  <a:srgbClr val="0101FD"/>
                </a:solidFill>
                <a:effectLst/>
                <a:latin typeface="Consolas" panose="020B0609020204030204" pitchFamily="49" charset="0"/>
                <a:ea typeface="Times New Roman" panose="02020603050405020304" pitchFamily="18" charset="0"/>
                <a:cs typeface="Times New Roman" panose="02020603050405020304" pitchFamily="18" charset="0"/>
              </a:rPr>
              <a:t>new</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(capacity: 10_000);</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List&lt;</a:t>
            </a:r>
            <a:r>
              <a:rPr kumimoji="0" lang="en-US" altLang="en-US" sz="1100" b="0" i="0" u="none" strike="noStrike" cap="none" normalizeH="0" baseline="0" dirty="0">
                <a:ln>
                  <a:noFill/>
                </a:ln>
                <a:solidFill>
                  <a:srgbClr val="0101FD"/>
                </a:solidFill>
                <a:effectLst/>
                <a:latin typeface="Consolas" panose="020B0609020204030204" pitchFamily="49" charset="0"/>
                <a:ea typeface="Times New Roman" panose="02020603050405020304" pitchFamily="18" charset="0"/>
                <a:cs typeface="Times New Roman" panose="02020603050405020304" pitchFamily="18" charset="0"/>
              </a:rPr>
              <a:t>int</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&gt; zs = </a:t>
            </a:r>
            <a:r>
              <a:rPr kumimoji="0" lang="en-US" altLang="en-US" sz="1100" b="0" i="0" u="none" strike="noStrike" cap="none" normalizeH="0" baseline="0" dirty="0">
                <a:ln>
                  <a:noFill/>
                </a:ln>
                <a:solidFill>
                  <a:srgbClr val="0101FD"/>
                </a:solidFill>
                <a:effectLst/>
                <a:latin typeface="Consolas" panose="020B0609020204030204" pitchFamily="49" charset="0"/>
                <a:ea typeface="Times New Roman" panose="02020603050405020304" pitchFamily="18" charset="0"/>
                <a:cs typeface="Times New Roman" panose="02020603050405020304" pitchFamily="18" charset="0"/>
              </a:rPr>
              <a:t>new</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 Capacity = 20_000 };</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Dictionary&lt;</a:t>
            </a:r>
            <a:r>
              <a:rPr kumimoji="0" lang="en-US" altLang="en-US" sz="1100" b="0" i="0" u="none" strike="noStrike" cap="none" normalizeH="0" baseline="0" dirty="0">
                <a:ln>
                  <a:noFill/>
                </a:ln>
                <a:solidFill>
                  <a:srgbClr val="0101FD"/>
                </a:solidFill>
                <a:effectLst/>
                <a:latin typeface="Consolas" panose="020B0609020204030204" pitchFamily="49" charset="0"/>
                <a:ea typeface="Times New Roman" panose="02020603050405020304" pitchFamily="18" charset="0"/>
                <a:cs typeface="Times New Roman" panose="02020603050405020304" pitchFamily="18" charset="0"/>
              </a:rPr>
              <a:t>int</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List&lt;</a:t>
            </a:r>
            <a:r>
              <a:rPr kumimoji="0" lang="en-US" altLang="en-US" sz="1100" b="0" i="0" u="none" strike="noStrike" cap="none" normalizeH="0" baseline="0" dirty="0">
                <a:ln>
                  <a:noFill/>
                </a:ln>
                <a:solidFill>
                  <a:srgbClr val="0101FD"/>
                </a:solidFill>
                <a:effectLst/>
                <a:latin typeface="Consolas" panose="020B0609020204030204" pitchFamily="49" charset="0"/>
                <a:ea typeface="Times New Roman" panose="02020603050405020304" pitchFamily="18" charset="0"/>
                <a:cs typeface="Times New Roman" panose="02020603050405020304" pitchFamily="18" charset="0"/>
              </a:rPr>
              <a:t>int</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&gt;&gt; lookup = </a:t>
            </a:r>
            <a:r>
              <a:rPr kumimoji="0" lang="en-US" altLang="en-US" sz="1100" b="0" i="0" u="none" strike="noStrike" cap="none" normalizeH="0" baseline="0" dirty="0">
                <a:ln>
                  <a:noFill/>
                </a:ln>
                <a:solidFill>
                  <a:srgbClr val="0101FD"/>
                </a:solidFill>
                <a:effectLst/>
                <a:latin typeface="Consolas" panose="020B0609020204030204" pitchFamily="49" charset="0"/>
                <a:ea typeface="Times New Roman" panose="02020603050405020304" pitchFamily="18" charset="0"/>
                <a:cs typeface="Times New Roman" panose="02020603050405020304" pitchFamily="18" charset="0"/>
              </a:rPr>
              <a:t>new</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a:t>
            </a:r>
            <a:r>
              <a:rPr kumimoji="0" lang="en-US" altLang="en-US" sz="1100" b="0" i="0" u="none" strike="noStrike" cap="none" normalizeH="0" baseline="0" dirty="0">
                <a:ln>
                  <a:noFill/>
                </a:ln>
                <a:solidFill>
                  <a:srgbClr val="006881"/>
                </a:solidFill>
                <a:effectLst/>
                <a:latin typeface="Consolas" panose="020B0609020204030204" pitchFamily="49" charset="0"/>
                <a:ea typeface="Times New Roman" panose="02020603050405020304" pitchFamily="18" charset="0"/>
                <a:cs typeface="Times New Roman" panose="02020603050405020304" pitchFamily="18" charset="0"/>
              </a:rPr>
              <a:t>1</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 </a:t>
            </a:r>
            <a:r>
              <a:rPr kumimoji="0" lang="en-US" altLang="en-US" sz="1100" b="0" i="0" u="none" strike="noStrike" cap="none" normalizeH="0" baseline="0" dirty="0">
                <a:ln>
                  <a:noFill/>
                </a:ln>
                <a:solidFill>
                  <a:srgbClr val="0101FD"/>
                </a:solidFill>
                <a:effectLst/>
                <a:latin typeface="Consolas" panose="020B0609020204030204" pitchFamily="49" charset="0"/>
                <a:ea typeface="Times New Roman" panose="02020603050405020304" pitchFamily="18" charset="0"/>
                <a:cs typeface="Times New Roman" panose="02020603050405020304" pitchFamily="18" charset="0"/>
              </a:rPr>
              <a:t>new</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 1, 2, 3 },</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a:t>
            </a:r>
            <a:r>
              <a:rPr kumimoji="0" lang="en-US" altLang="en-US" sz="1100" b="0" i="0" u="none" strike="noStrike" cap="none" normalizeH="0" baseline="0" dirty="0">
                <a:ln>
                  <a:noFill/>
                </a:ln>
                <a:solidFill>
                  <a:srgbClr val="006881"/>
                </a:solidFill>
                <a:effectLst/>
                <a:latin typeface="Consolas" panose="020B0609020204030204" pitchFamily="49" charset="0"/>
                <a:ea typeface="Times New Roman" panose="02020603050405020304" pitchFamily="18" charset="0"/>
                <a:cs typeface="Times New Roman" panose="02020603050405020304" pitchFamily="18" charset="0"/>
              </a:rPr>
              <a:t>2</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 </a:t>
            </a:r>
            <a:r>
              <a:rPr kumimoji="0" lang="en-US" altLang="en-US" sz="1100" b="0" i="0" u="none" strike="noStrike" cap="none" normalizeH="0" baseline="0" dirty="0">
                <a:ln>
                  <a:noFill/>
                </a:ln>
                <a:solidFill>
                  <a:srgbClr val="0101FD"/>
                </a:solidFill>
                <a:effectLst/>
                <a:latin typeface="Consolas" panose="020B0609020204030204" pitchFamily="49" charset="0"/>
                <a:ea typeface="Times New Roman" panose="02020603050405020304" pitchFamily="18" charset="0"/>
                <a:cs typeface="Times New Roman" panose="02020603050405020304" pitchFamily="18" charset="0"/>
              </a:rPr>
              <a:t>new</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 5, 8, 3 },</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a:t>
            </a:r>
            <a:r>
              <a:rPr kumimoji="0" lang="en-US" altLang="en-US" sz="1100" b="0" i="0" u="none" strike="noStrike" cap="none" normalizeH="0" baseline="0" dirty="0">
                <a:ln>
                  <a:noFill/>
                </a:ln>
                <a:solidFill>
                  <a:srgbClr val="006881"/>
                </a:solidFill>
                <a:effectLst/>
                <a:latin typeface="Consolas" panose="020B0609020204030204" pitchFamily="49" charset="0"/>
                <a:ea typeface="Times New Roman" panose="02020603050405020304" pitchFamily="18" charset="0"/>
                <a:cs typeface="Times New Roman" panose="02020603050405020304" pitchFamily="18" charset="0"/>
              </a:rPr>
              <a:t>5</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 </a:t>
            </a:r>
            <a:r>
              <a:rPr kumimoji="0" lang="en-US" altLang="en-US" sz="1100" b="0" i="0" u="none" strike="noStrike" cap="none" normalizeH="0" baseline="0" dirty="0">
                <a:ln>
                  <a:noFill/>
                </a:ln>
                <a:solidFill>
                  <a:srgbClr val="0101FD"/>
                </a:solidFill>
                <a:effectLst/>
                <a:latin typeface="Consolas" panose="020B0609020204030204" pitchFamily="49" charset="0"/>
                <a:ea typeface="Times New Roman" panose="02020603050405020304" pitchFamily="18" charset="0"/>
                <a:cs typeface="Times New Roman" panose="02020603050405020304" pitchFamily="18" charset="0"/>
              </a:rPr>
              <a:t>new</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 1, 0, 4 }</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100" dirty="0">
              <a:solidFill>
                <a:srgbClr val="171717"/>
              </a:solidFill>
              <a:latin typeface="Consolas" panose="020B0609020204030204" pitchFamily="49"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As the preceding example shows, you always use parentheses in a target-typed </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Courier New" panose="02070309020205020404" pitchFamily="49" charset="0"/>
              </a:rPr>
              <a:t>new</a:t>
            </a:r>
            <a:r>
              <a:rPr kumimoji="0" lang="en-US" altLang="en-US" sz="16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 expression.</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If a target type of a </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Courier New" panose="02070309020205020404" pitchFamily="49" charset="0"/>
              </a:rPr>
              <a:t>new</a:t>
            </a:r>
            <a:r>
              <a:rPr kumimoji="0" lang="en-US" altLang="en-US" sz="16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 expression is unknown (for example, when you use the </a:t>
            </a:r>
            <a:r>
              <a:rPr kumimoji="0" lang="en-US" altLang="en-US" sz="1100" b="0" i="0" u="none" strike="noStrike" cap="none" normalizeH="0" baseline="0" dirty="0">
                <a:ln>
                  <a:noFill/>
                </a:ln>
                <a:solidFill>
                  <a:srgbClr val="0000FF"/>
                </a:solidFill>
                <a:effectLst/>
                <a:latin typeface="Segoe UI" panose="020B0502040204020203" pitchFamily="34" charset="0"/>
                <a:ea typeface="Times New Roman" panose="02020603050405020304" pitchFamily="18" charset="0"/>
                <a:cs typeface="Segoe UI" panose="020B0502040204020203" pitchFamily="34" charset="0"/>
                <a:hlinkClick r:id="rId2"/>
              </a:rPr>
              <a:t>var</a:t>
            </a:r>
            <a:r>
              <a:rPr kumimoji="0" lang="en-US" altLang="en-US" sz="16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 keyword), you must specify a type name.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171717"/>
              </a:solidFill>
              <a:latin typeface="Segoe UI" panose="020B0502040204020203" pitchFamily="34" charset="0"/>
              <a:ea typeface="Times New Roman" panose="02020603050405020304" pitchFamily="18"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171717"/>
              </a:solidFill>
              <a:latin typeface="Segoe UI" panose="020B0502040204020203" pitchFamily="34" charset="0"/>
              <a:ea typeface="Times New Roman" panose="02020603050405020304" pitchFamily="18"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71717"/>
                </a:solidFill>
                <a:effectLst/>
                <a:latin typeface="Segoe UI" panose="020B0502040204020203" pitchFamily="34" charset="0"/>
                <a:ea typeface="Times New Roman" panose="02020603050405020304" pitchFamily="18" charset="0"/>
                <a:cs typeface="Segoe UI" panose="020B0502040204020203" pitchFamily="34" charset="0"/>
              </a:rPr>
              <a:t>Use array initialization syntax to create an array instance and populate it with elements in one statement. The following example shows various ways how you can do that:</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101FD"/>
                </a:solidFill>
                <a:effectLst/>
                <a:latin typeface="Consolas" panose="020B0609020204030204" pitchFamily="49" charset="0"/>
                <a:ea typeface="Times New Roman" panose="02020603050405020304" pitchFamily="18" charset="0"/>
                <a:cs typeface="Times New Roman" panose="02020603050405020304" pitchFamily="18" charset="0"/>
              </a:rPr>
              <a:t>var</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a = </a:t>
            </a:r>
            <a:r>
              <a:rPr kumimoji="0" lang="en-US" altLang="en-US" sz="1100" b="0" i="0" u="none" strike="noStrike" cap="none" normalizeH="0" baseline="0" dirty="0">
                <a:ln>
                  <a:noFill/>
                </a:ln>
                <a:solidFill>
                  <a:srgbClr val="0101FD"/>
                </a:solidFill>
                <a:effectLst/>
                <a:latin typeface="Consolas" panose="020B0609020204030204" pitchFamily="49" charset="0"/>
                <a:ea typeface="Times New Roman" panose="02020603050405020304" pitchFamily="18" charset="0"/>
                <a:cs typeface="Times New Roman" panose="02020603050405020304" pitchFamily="18" charset="0"/>
              </a:rPr>
              <a:t>new</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a:t>
            </a:r>
            <a:r>
              <a:rPr kumimoji="0" lang="en-US" altLang="en-US" sz="1100" b="0" i="0" u="none" strike="noStrike" cap="none" normalizeH="0" baseline="0" dirty="0">
                <a:ln>
                  <a:noFill/>
                </a:ln>
                <a:solidFill>
                  <a:srgbClr val="0101FD"/>
                </a:solidFill>
                <a:effectLst/>
                <a:latin typeface="Consolas" panose="020B0609020204030204" pitchFamily="49" charset="0"/>
                <a:ea typeface="Times New Roman" panose="02020603050405020304" pitchFamily="18" charset="0"/>
                <a:cs typeface="Times New Roman" panose="02020603050405020304" pitchFamily="18" charset="0"/>
              </a:rPr>
              <a:t>int</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[3] { 10, 20, 30 };</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101FD"/>
                </a:solidFill>
                <a:effectLst/>
                <a:latin typeface="Consolas" panose="020B0609020204030204" pitchFamily="49" charset="0"/>
                <a:ea typeface="Times New Roman" panose="02020603050405020304" pitchFamily="18" charset="0"/>
                <a:cs typeface="Times New Roman" panose="02020603050405020304" pitchFamily="18" charset="0"/>
              </a:rPr>
              <a:t>var</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b = </a:t>
            </a:r>
            <a:r>
              <a:rPr kumimoji="0" lang="en-US" altLang="en-US" sz="1100" b="0" i="0" u="none" strike="noStrike" cap="none" normalizeH="0" baseline="0" dirty="0">
                <a:ln>
                  <a:noFill/>
                </a:ln>
                <a:solidFill>
                  <a:srgbClr val="0101FD"/>
                </a:solidFill>
                <a:effectLst/>
                <a:latin typeface="Consolas" panose="020B0609020204030204" pitchFamily="49" charset="0"/>
                <a:ea typeface="Times New Roman" panose="02020603050405020304" pitchFamily="18" charset="0"/>
                <a:cs typeface="Times New Roman" panose="02020603050405020304" pitchFamily="18" charset="0"/>
              </a:rPr>
              <a:t>new</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a:t>
            </a:r>
            <a:r>
              <a:rPr kumimoji="0" lang="en-US" altLang="en-US" sz="1100" b="0" i="0" u="none" strike="noStrike" cap="none" normalizeH="0" baseline="0" dirty="0">
                <a:ln>
                  <a:noFill/>
                </a:ln>
                <a:solidFill>
                  <a:srgbClr val="0101FD"/>
                </a:solidFill>
                <a:effectLst/>
                <a:latin typeface="Consolas" panose="020B0609020204030204" pitchFamily="49" charset="0"/>
                <a:ea typeface="Times New Roman" panose="02020603050405020304" pitchFamily="18" charset="0"/>
                <a:cs typeface="Times New Roman" panose="02020603050405020304" pitchFamily="18" charset="0"/>
              </a:rPr>
              <a:t>int</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 10, 20, 30 };</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101FD"/>
                </a:solidFill>
                <a:effectLst/>
                <a:latin typeface="Consolas" panose="020B0609020204030204" pitchFamily="49" charset="0"/>
                <a:ea typeface="Times New Roman" panose="02020603050405020304" pitchFamily="18" charset="0"/>
                <a:cs typeface="Times New Roman" panose="02020603050405020304" pitchFamily="18" charset="0"/>
              </a:rPr>
              <a:t>var</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c = </a:t>
            </a:r>
            <a:r>
              <a:rPr kumimoji="0" lang="en-US" altLang="en-US" sz="1100" b="0" i="0" u="none" strike="noStrike" cap="none" normalizeH="0" baseline="0" dirty="0">
                <a:ln>
                  <a:noFill/>
                </a:ln>
                <a:solidFill>
                  <a:srgbClr val="0101FD"/>
                </a:solidFill>
                <a:effectLst/>
                <a:latin typeface="Consolas" panose="020B0609020204030204" pitchFamily="49" charset="0"/>
                <a:ea typeface="Times New Roman" panose="02020603050405020304" pitchFamily="18" charset="0"/>
                <a:cs typeface="Times New Roman" panose="02020603050405020304" pitchFamily="18" charset="0"/>
              </a:rPr>
              <a:t>new</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 10, 20, 30 };</a:t>
            </a:r>
            <a:endParaRPr kumimoji="0" lang="en-US" altLang="en-US" sz="16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err="1">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Console.WriteLine</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a:t>
            </a:r>
            <a:r>
              <a:rPr kumimoji="0" lang="en-US" altLang="en-US" sz="1100" b="0" i="0" u="none" strike="noStrike" cap="none" normalizeH="0" baseline="0" dirty="0" err="1">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c.GetType</a:t>
            </a:r>
            <a:r>
              <a:rPr kumimoji="0" lang="en-US" altLang="en-US" sz="1100" b="0" i="0" u="none" strike="noStrike" cap="none" normalizeH="0" baseline="0" dirty="0">
                <a:ln>
                  <a:noFill/>
                </a:ln>
                <a:solidFill>
                  <a:srgbClr val="171717"/>
                </a:solidFill>
                <a:effectLst/>
                <a:latin typeface="Consolas" panose="020B0609020204030204" pitchFamily="49" charset="0"/>
                <a:ea typeface="Times New Roman" panose="02020603050405020304" pitchFamily="18" charset="0"/>
                <a:cs typeface="Times New Roman" panose="02020603050405020304" pitchFamily="18" charset="0"/>
              </a:rPr>
              <a:t>());  </a:t>
            </a:r>
            <a:r>
              <a:rPr kumimoji="0" lang="en-US" altLang="en-US" sz="1100" b="0" i="0" u="none" strike="noStrike" cap="none" normalizeH="0" baseline="0" dirty="0">
                <a:ln>
                  <a:noFill/>
                </a:ln>
                <a:solidFill>
                  <a:srgbClr val="008000"/>
                </a:solidFill>
                <a:effectLst/>
                <a:latin typeface="Consolas" panose="020B0609020204030204" pitchFamily="49" charset="0"/>
                <a:ea typeface="Times New Roman" panose="02020603050405020304" pitchFamily="18" charset="0"/>
                <a:cs typeface="Times New Roman" panose="02020603050405020304" pitchFamily="18" charset="0"/>
              </a:rPr>
              <a:t>// output: System.Int32[]</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38677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A16C99-DEB1-6090-157B-524F654D6ED0}"/>
              </a:ext>
            </a:extLst>
          </p:cNvPr>
          <p:cNvSpPr txBox="1"/>
          <p:nvPr/>
        </p:nvSpPr>
        <p:spPr>
          <a:xfrm>
            <a:off x="398283" y="314954"/>
            <a:ext cx="6094428" cy="369332"/>
          </a:xfrm>
          <a:prstGeom prst="rect">
            <a:avLst/>
          </a:prstGeom>
          <a:noFill/>
        </p:spPr>
        <p:txBody>
          <a:bodyPr wrap="square">
            <a:spAutoFit/>
          </a:bodyPr>
          <a:lstStyle/>
          <a:p>
            <a:pPr algn="l"/>
            <a:r>
              <a:rPr lang="en-IN" b="1" i="0" dirty="0">
                <a:solidFill>
                  <a:srgbClr val="161616"/>
                </a:solidFill>
                <a:effectLst/>
                <a:latin typeface="Segoe UI" panose="020B0502040204020203" pitchFamily="34" charset="0"/>
              </a:rPr>
              <a:t>File-scoped namespace declaration</a:t>
            </a:r>
          </a:p>
        </p:txBody>
      </p:sp>
      <p:sp>
        <p:nvSpPr>
          <p:cNvPr id="3" name="TextBox 2">
            <a:extLst>
              <a:ext uri="{FF2B5EF4-FFF2-40B4-BE49-F238E27FC236}">
                <a16:creationId xmlns:a16="http://schemas.microsoft.com/office/drawing/2014/main" id="{3718B961-BCF3-22DC-B7F9-8497AF5EEA12}"/>
              </a:ext>
            </a:extLst>
          </p:cNvPr>
          <p:cNvSpPr txBox="1"/>
          <p:nvPr/>
        </p:nvSpPr>
        <p:spPr>
          <a:xfrm>
            <a:off x="888477" y="2052030"/>
            <a:ext cx="4390533" cy="1600438"/>
          </a:xfrm>
          <a:prstGeom prst="rect">
            <a:avLst/>
          </a:prstGeom>
          <a:noFill/>
        </p:spPr>
        <p:txBody>
          <a:bodyPr wrap="square">
            <a:spAutoFit/>
          </a:bodyPr>
          <a:lstStyle/>
          <a:p>
            <a:r>
              <a:rPr lang="en-IN" sz="1400" dirty="0">
                <a:solidFill>
                  <a:srgbClr val="0000FF"/>
                </a:solidFill>
                <a:latin typeface="Cascadia Mono" panose="020B0609020000020004" pitchFamily="49" charset="0"/>
              </a:rPr>
              <a:t>namespace</a:t>
            </a:r>
            <a:r>
              <a:rPr lang="en-IN" sz="1400" dirty="0">
                <a:solidFill>
                  <a:srgbClr val="000000"/>
                </a:solidFill>
                <a:latin typeface="Cascadia Mono" panose="020B0609020000020004" pitchFamily="49" charset="0"/>
              </a:rPr>
              <a:t> </a:t>
            </a:r>
            <a:r>
              <a:rPr lang="en-IN" sz="1400" dirty="0" err="1">
                <a:solidFill>
                  <a:srgbClr val="000000"/>
                </a:solidFill>
                <a:latin typeface="Cascadia Mono" panose="020B0609020000020004" pitchFamily="49" charset="0"/>
              </a:rPr>
              <a:t>MyNamespace.Services</a:t>
            </a:r>
            <a:endParaRPr lang="en-IN" sz="1400" dirty="0">
              <a:solidFill>
                <a:srgbClr val="000000"/>
              </a:solidFill>
              <a:latin typeface="Cascadia Mono" panose="020B0609020000020004" pitchFamily="49" charset="0"/>
            </a:endParaRPr>
          </a:p>
          <a:p>
            <a:r>
              <a:rPr lang="en-IN" sz="1400" dirty="0">
                <a:solidFill>
                  <a:srgbClr val="000000"/>
                </a:solidFill>
                <a:highlight>
                  <a:srgbClr val="FFFF00"/>
                </a:highlight>
                <a:latin typeface="Cascadia Mono" panose="020B0609020000020004" pitchFamily="49" charset="0"/>
              </a:rPr>
              <a:t>{</a:t>
            </a: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class</a:t>
            </a:r>
            <a:r>
              <a:rPr lang="en-IN" sz="1400" dirty="0">
                <a:solidFill>
                  <a:srgbClr val="000000"/>
                </a:solidFill>
                <a:latin typeface="Cascadia Mono" panose="020B0609020000020004" pitchFamily="49" charset="0"/>
              </a:rPr>
              <a:t> </a:t>
            </a:r>
            <a:r>
              <a:rPr lang="en-IN" sz="1400" dirty="0" err="1">
                <a:solidFill>
                  <a:srgbClr val="2B91AF"/>
                </a:solidFill>
                <a:latin typeface="Cascadia Mono" panose="020B0609020000020004" pitchFamily="49" charset="0"/>
              </a:rPr>
              <a:t>MyClass</a:t>
            </a:r>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    {</a:t>
            </a:r>
          </a:p>
          <a:p>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    }</a:t>
            </a:r>
          </a:p>
          <a:p>
            <a:r>
              <a:rPr lang="en-IN" sz="1400" dirty="0">
                <a:solidFill>
                  <a:srgbClr val="000000"/>
                </a:solidFill>
                <a:highlight>
                  <a:srgbClr val="FFFF00"/>
                </a:highlight>
                <a:latin typeface="Cascadia Mono" panose="020B0609020000020004" pitchFamily="49" charset="0"/>
              </a:rPr>
              <a:t>}</a:t>
            </a:r>
            <a:endParaRPr lang="en-IN" sz="3600" dirty="0">
              <a:highlight>
                <a:srgbClr val="FFFF00"/>
              </a:highlight>
            </a:endParaRPr>
          </a:p>
        </p:txBody>
      </p:sp>
      <p:sp>
        <p:nvSpPr>
          <p:cNvPr id="6" name="TextBox 5">
            <a:extLst>
              <a:ext uri="{FF2B5EF4-FFF2-40B4-BE49-F238E27FC236}">
                <a16:creationId xmlns:a16="http://schemas.microsoft.com/office/drawing/2014/main" id="{EC5F8C30-E9AB-3A4E-33DC-BD37AF8F465A}"/>
              </a:ext>
            </a:extLst>
          </p:cNvPr>
          <p:cNvSpPr txBox="1"/>
          <p:nvPr/>
        </p:nvSpPr>
        <p:spPr>
          <a:xfrm>
            <a:off x="5941244" y="2052030"/>
            <a:ext cx="6094428" cy="1754326"/>
          </a:xfrm>
          <a:prstGeom prst="rect">
            <a:avLst/>
          </a:prstGeom>
          <a:noFill/>
        </p:spPr>
        <p:txBody>
          <a:bodyPr wrap="square">
            <a:spAutoFit/>
          </a:bodyPr>
          <a:lstStyle/>
          <a:p>
            <a:r>
              <a:rPr lang="en-IN" dirty="0">
                <a:solidFill>
                  <a:srgbClr val="0000FF"/>
                </a:solidFill>
                <a:latin typeface="Cascadia Mono" panose="020B0609020000020004" pitchFamily="49" charset="0"/>
              </a:rPr>
              <a:t>namespace</a:t>
            </a:r>
            <a:r>
              <a:rPr lang="en-IN" dirty="0">
                <a:solidFill>
                  <a:srgbClr val="000000"/>
                </a:solidFill>
                <a:latin typeface="Cascadia Mono" panose="020B0609020000020004" pitchFamily="49" charset="0"/>
              </a:rPr>
              <a:t> </a:t>
            </a:r>
            <a:r>
              <a:rPr lang="en-IN" dirty="0" err="1">
                <a:solidFill>
                  <a:srgbClr val="000000"/>
                </a:solidFill>
                <a:latin typeface="Cascadia Mono" panose="020B0609020000020004" pitchFamily="49" charset="0"/>
              </a:rPr>
              <a:t>MyNamespace.Services</a:t>
            </a:r>
            <a:r>
              <a:rPr lang="en-IN" dirty="0">
                <a:solidFill>
                  <a:srgbClr val="000000"/>
                </a:solidFill>
                <a:highlight>
                  <a:srgbClr val="FFFF00"/>
                </a:highlight>
                <a:latin typeface="Cascadia Mono" panose="020B0609020000020004" pitchFamily="49" charset="0"/>
              </a:rPr>
              <a:t>;</a:t>
            </a:r>
          </a:p>
          <a:p>
            <a:endParaRPr lang="en-IN" dirty="0">
              <a:solidFill>
                <a:srgbClr val="000000"/>
              </a:solidFill>
              <a:latin typeface="Cascadia Mono" panose="020B0609020000020004" pitchFamily="49" charset="0"/>
            </a:endParaRPr>
          </a:p>
          <a:p>
            <a:r>
              <a:rPr lang="en-IN" dirty="0">
                <a:solidFill>
                  <a:srgbClr val="0000FF"/>
                </a:solidFill>
                <a:latin typeface="Cascadia Mono" panose="020B0609020000020004" pitchFamily="49" charset="0"/>
              </a:rPr>
              <a:t>class</a:t>
            </a:r>
            <a:r>
              <a:rPr lang="en-IN" dirty="0">
                <a:solidFill>
                  <a:srgbClr val="000000"/>
                </a:solidFill>
                <a:latin typeface="Cascadia Mono" panose="020B0609020000020004" pitchFamily="49" charset="0"/>
              </a:rPr>
              <a:t> </a:t>
            </a:r>
            <a:r>
              <a:rPr lang="en-IN" dirty="0" err="1">
                <a:solidFill>
                  <a:srgbClr val="2B91AF"/>
                </a:solidFill>
                <a:latin typeface="Cascadia Mono" panose="020B0609020000020004" pitchFamily="49" charset="0"/>
              </a:rPr>
              <a:t>MyClass</a:t>
            </a:r>
            <a:endParaRPr lang="en-IN" dirty="0">
              <a:solidFill>
                <a:srgbClr val="000000"/>
              </a:solidFill>
              <a:latin typeface="Cascadia Mono" panose="020B0609020000020004" pitchFamily="49" charset="0"/>
            </a:endParaRPr>
          </a:p>
          <a:p>
            <a:r>
              <a:rPr lang="en-IN" dirty="0">
                <a:solidFill>
                  <a:srgbClr val="000000"/>
                </a:solidFill>
                <a:latin typeface="Cascadia Mono" panose="020B0609020000020004" pitchFamily="49" charset="0"/>
              </a:rPr>
              <a:t>{</a:t>
            </a:r>
          </a:p>
          <a:p>
            <a:endParaRPr lang="en-IN" dirty="0">
              <a:solidFill>
                <a:srgbClr val="000000"/>
              </a:solidFill>
              <a:latin typeface="Cascadia Mono" panose="020B0609020000020004" pitchFamily="49" charset="0"/>
            </a:endParaRPr>
          </a:p>
          <a:p>
            <a:r>
              <a:rPr lang="en-IN" dirty="0">
                <a:solidFill>
                  <a:srgbClr val="000000"/>
                </a:solidFill>
                <a:latin typeface="Cascadia Mono" panose="020B0609020000020004" pitchFamily="49" charset="0"/>
              </a:rPr>
              <a:t>}</a:t>
            </a:r>
            <a:endParaRPr lang="en-IN" sz="4400" dirty="0"/>
          </a:p>
        </p:txBody>
      </p:sp>
    </p:spTree>
    <p:extLst>
      <p:ext uri="{BB962C8B-B14F-4D97-AF65-F5344CB8AC3E}">
        <p14:creationId xmlns:p14="http://schemas.microsoft.com/office/powerpoint/2010/main" val="2176297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D8118D-7DC9-A492-5E78-4741BD79F20F}"/>
              </a:ext>
            </a:extLst>
          </p:cNvPr>
          <p:cNvPicPr>
            <a:picLocks noChangeAspect="1"/>
          </p:cNvPicPr>
          <p:nvPr/>
        </p:nvPicPr>
        <p:blipFill rotWithShape="1">
          <a:blip r:embed="rId2"/>
          <a:srcRect t="3711" r="44561" b="52165"/>
          <a:stretch/>
        </p:blipFill>
        <p:spPr>
          <a:xfrm>
            <a:off x="-84842" y="1915998"/>
            <a:ext cx="6759019" cy="3026004"/>
          </a:xfrm>
          <a:prstGeom prst="rect">
            <a:avLst/>
          </a:prstGeom>
        </p:spPr>
      </p:pic>
      <p:sp>
        <p:nvSpPr>
          <p:cNvPr id="6" name="TextBox 5">
            <a:extLst>
              <a:ext uri="{FF2B5EF4-FFF2-40B4-BE49-F238E27FC236}">
                <a16:creationId xmlns:a16="http://schemas.microsoft.com/office/drawing/2014/main" id="{3A86CCC1-DB0C-5E38-2904-4D6356898E1E}"/>
              </a:ext>
            </a:extLst>
          </p:cNvPr>
          <p:cNvSpPr txBox="1"/>
          <p:nvPr/>
        </p:nvSpPr>
        <p:spPr>
          <a:xfrm>
            <a:off x="1555423" y="84841"/>
            <a:ext cx="4883084" cy="369332"/>
          </a:xfrm>
          <a:prstGeom prst="rect">
            <a:avLst/>
          </a:prstGeom>
          <a:noFill/>
        </p:spPr>
        <p:txBody>
          <a:bodyPr wrap="square" rtlCol="0">
            <a:spAutoFit/>
          </a:bodyPr>
          <a:lstStyle/>
          <a:p>
            <a:r>
              <a:rPr lang="en-US" dirty="0"/>
              <a:t>Global Name space</a:t>
            </a:r>
            <a:endParaRPr lang="en-IN" dirty="0"/>
          </a:p>
        </p:txBody>
      </p:sp>
      <p:sp>
        <p:nvSpPr>
          <p:cNvPr id="8" name="TextBox 7">
            <a:extLst>
              <a:ext uri="{FF2B5EF4-FFF2-40B4-BE49-F238E27FC236}">
                <a16:creationId xmlns:a16="http://schemas.microsoft.com/office/drawing/2014/main" id="{D8BD00C7-9A5D-8EC5-B54C-1070F2A58483}"/>
              </a:ext>
            </a:extLst>
          </p:cNvPr>
          <p:cNvSpPr txBox="1"/>
          <p:nvPr/>
        </p:nvSpPr>
        <p:spPr>
          <a:xfrm>
            <a:off x="7885522" y="269507"/>
            <a:ext cx="4161934" cy="646331"/>
          </a:xfrm>
          <a:prstGeom prst="rect">
            <a:avLst/>
          </a:prstGeom>
          <a:noFill/>
        </p:spPr>
        <p:txBody>
          <a:bodyPr wrap="square">
            <a:spAutoFit/>
          </a:bodyPr>
          <a:lstStyle/>
          <a:p>
            <a:pPr algn="l"/>
            <a:r>
              <a:rPr lang="en-US" b="1" i="0" dirty="0">
                <a:solidFill>
                  <a:srgbClr val="000C2D"/>
                </a:solidFill>
                <a:effectLst/>
                <a:latin typeface="Inter"/>
              </a:rPr>
              <a:t>Are some common namespaces globally available by default?</a:t>
            </a:r>
          </a:p>
        </p:txBody>
      </p:sp>
      <p:sp>
        <p:nvSpPr>
          <p:cNvPr id="10" name="Rectangle 2">
            <a:extLst>
              <a:ext uri="{FF2B5EF4-FFF2-40B4-BE49-F238E27FC236}">
                <a16:creationId xmlns:a16="http://schemas.microsoft.com/office/drawing/2014/main" id="{083D5B44-A976-922C-F69A-71FD05058DDD}"/>
              </a:ext>
            </a:extLst>
          </p:cNvPr>
          <p:cNvSpPr>
            <a:spLocks noChangeArrowheads="1"/>
          </p:cNvSpPr>
          <p:nvPr/>
        </p:nvSpPr>
        <p:spPr bwMode="auto">
          <a:xfrm>
            <a:off x="7277494" y="2130490"/>
            <a:ext cx="4487158" cy="1497781"/>
          </a:xfrm>
          <a:prstGeom prst="rect">
            <a:avLst/>
          </a:prstGeom>
          <a:ln/>
        </p:spPr>
        <p:style>
          <a:lnRef idx="2">
            <a:schemeClr val="accent4"/>
          </a:lnRef>
          <a:fillRef idx="1">
            <a:schemeClr val="lt1"/>
          </a:fillRef>
          <a:effectRef idx="0">
            <a:schemeClr val="accent4"/>
          </a:effectRef>
          <a:fontRef idx="minor">
            <a:schemeClr val="dk1"/>
          </a:fontRef>
        </p:style>
        <p:txBody>
          <a:bodyPr vert="horz" wrap="square" lIns="0" tIns="203136"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77AA"/>
                </a:solidFill>
                <a:effectLst/>
                <a:latin typeface="Consolas" panose="020B0609020204030204" pitchFamily="49" charset="0"/>
              </a:rPr>
              <a:t>global</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0077AA"/>
                </a:solidFill>
                <a:effectLst/>
                <a:latin typeface="Consolas" panose="020B0609020204030204" pitchFamily="49" charset="0"/>
              </a:rPr>
              <a:t>using</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0077AA"/>
                </a:solidFill>
                <a:effectLst/>
                <a:latin typeface="Consolas" panose="020B0609020204030204" pitchFamily="49" charset="0"/>
              </a:rPr>
              <a:t>global</a:t>
            </a:r>
            <a:r>
              <a:rPr kumimoji="0" lang="en-US" altLang="en-US" sz="1200" b="0" i="0" u="none" strike="noStrike" cap="none" normalizeH="0" baseline="0" dirty="0">
                <a:ln>
                  <a:noFill/>
                </a:ln>
                <a:solidFill>
                  <a:srgbClr val="999999"/>
                </a:solidFill>
                <a:effectLst/>
                <a:latin typeface="Consolas" panose="020B0609020204030204" pitchFamily="49" charset="0"/>
              </a:rPr>
              <a:t>::</a:t>
            </a:r>
            <a:r>
              <a:rPr kumimoji="0" lang="en-US" altLang="en-US" sz="1200" b="0" i="0" u="none" strike="noStrike" cap="none" normalizeH="0" baseline="0" dirty="0">
                <a:ln>
                  <a:noFill/>
                </a:ln>
                <a:solidFill>
                  <a:srgbClr val="000000"/>
                </a:solidFill>
                <a:effectLst/>
                <a:latin typeface="Consolas" panose="020B0609020204030204" pitchFamily="49" charset="0"/>
              </a:rPr>
              <a:t>System</a:t>
            </a:r>
            <a:r>
              <a:rPr kumimoji="0" lang="en-US" altLang="en-US" sz="1200" b="0" i="0" u="none" strike="noStrike" cap="none" normalizeH="0" baseline="0" dirty="0">
                <a:ln>
                  <a:noFill/>
                </a:ln>
                <a:solidFill>
                  <a:srgbClr val="999999"/>
                </a:solidFill>
                <a:effectLst/>
                <a:latin typeface="Consolas" panose="020B0609020204030204" pitchFamily="49" charset="0"/>
              </a:rPr>
              <a:t>;</a:t>
            </a:r>
            <a:r>
              <a:rPr kumimoji="0" lang="en-US" altLang="en-US" sz="12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77AA"/>
                </a:solidFill>
                <a:effectLst/>
                <a:latin typeface="Consolas" panose="020B0609020204030204" pitchFamily="49" charset="0"/>
              </a:rPr>
              <a:t>global</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0077AA"/>
                </a:solidFill>
                <a:effectLst/>
                <a:latin typeface="Consolas" panose="020B0609020204030204" pitchFamily="49" charset="0"/>
              </a:rPr>
              <a:t>using</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0077AA"/>
                </a:solidFill>
                <a:effectLst/>
                <a:latin typeface="Consolas" panose="020B0609020204030204" pitchFamily="49" charset="0"/>
              </a:rPr>
              <a:t>global</a:t>
            </a:r>
            <a:r>
              <a:rPr kumimoji="0" lang="en-US" altLang="en-US" sz="1200" b="0" i="0" u="none" strike="noStrike" cap="none" normalizeH="0" baseline="0" dirty="0">
                <a:ln>
                  <a:noFill/>
                </a:ln>
                <a:solidFill>
                  <a:srgbClr val="999999"/>
                </a:solidFill>
                <a:effectLst/>
                <a:latin typeface="Consolas" panose="020B0609020204030204" pitchFamily="49" charset="0"/>
              </a:rPr>
              <a:t>::</a:t>
            </a:r>
            <a:r>
              <a:rPr kumimoji="0" lang="en-US" altLang="en-US" sz="1200" b="0" i="0" u="none" strike="noStrike" cap="none" normalizeH="0" baseline="0" dirty="0" err="1">
                <a:ln>
                  <a:noFill/>
                </a:ln>
                <a:solidFill>
                  <a:srgbClr val="000000"/>
                </a:solidFill>
                <a:effectLst/>
                <a:latin typeface="Consolas" panose="020B0609020204030204" pitchFamily="49" charset="0"/>
              </a:rPr>
              <a:t>System</a:t>
            </a:r>
            <a:r>
              <a:rPr kumimoji="0" lang="en-US" altLang="en-US" sz="1200" b="0" i="0" u="none" strike="noStrike" cap="none" normalizeH="0" baseline="0" dirty="0" err="1">
                <a:ln>
                  <a:noFill/>
                </a:ln>
                <a:solidFill>
                  <a:srgbClr val="999999"/>
                </a:solidFill>
                <a:effectLst/>
                <a:latin typeface="Consolas" panose="020B0609020204030204" pitchFamily="49" charset="0"/>
              </a:rPr>
              <a:t>.</a:t>
            </a:r>
            <a:r>
              <a:rPr kumimoji="0" lang="en-US" altLang="en-US" sz="1200" b="0" i="0" u="none" strike="noStrike" cap="none" normalizeH="0" baseline="0" dirty="0" err="1">
                <a:ln>
                  <a:noFill/>
                </a:ln>
                <a:solidFill>
                  <a:srgbClr val="000000"/>
                </a:solidFill>
                <a:effectLst/>
                <a:latin typeface="Consolas" panose="020B0609020204030204" pitchFamily="49" charset="0"/>
              </a:rPr>
              <a:t>Collections</a:t>
            </a:r>
            <a:r>
              <a:rPr kumimoji="0" lang="en-US" altLang="en-US" sz="1200" b="0" i="0" u="none" strike="noStrike" cap="none" normalizeH="0" baseline="0" dirty="0" err="1">
                <a:ln>
                  <a:noFill/>
                </a:ln>
                <a:solidFill>
                  <a:srgbClr val="999999"/>
                </a:solidFill>
                <a:effectLst/>
                <a:latin typeface="Consolas" panose="020B0609020204030204" pitchFamily="49" charset="0"/>
              </a:rPr>
              <a:t>.</a:t>
            </a:r>
            <a:r>
              <a:rPr kumimoji="0" lang="en-US" altLang="en-US" sz="1200" b="0" i="0" u="none" strike="noStrike" cap="none" normalizeH="0" baseline="0" dirty="0" err="1">
                <a:ln>
                  <a:noFill/>
                </a:ln>
                <a:solidFill>
                  <a:srgbClr val="000000"/>
                </a:solidFill>
                <a:effectLst/>
                <a:latin typeface="Consolas" panose="020B0609020204030204" pitchFamily="49" charset="0"/>
              </a:rPr>
              <a:t>Generic</a:t>
            </a:r>
            <a:r>
              <a:rPr kumimoji="0" lang="en-US" altLang="en-US" sz="1200" b="0" i="0" u="none" strike="noStrike" cap="none" normalizeH="0" baseline="0" dirty="0">
                <a:ln>
                  <a:noFill/>
                </a:ln>
                <a:solidFill>
                  <a:srgbClr val="999999"/>
                </a:solidFill>
                <a:effectLst/>
                <a:latin typeface="Consolas" panose="020B0609020204030204" pitchFamily="49" charset="0"/>
              </a:rPr>
              <a:t>;</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0077AA"/>
                </a:solidFill>
                <a:effectLst/>
                <a:latin typeface="Consolas" panose="020B0609020204030204" pitchFamily="49" charset="0"/>
              </a:rPr>
              <a:t>global</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0077AA"/>
                </a:solidFill>
                <a:effectLst/>
                <a:latin typeface="Consolas" panose="020B0609020204030204" pitchFamily="49" charset="0"/>
              </a:rPr>
              <a:t>using</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0077AA"/>
                </a:solidFill>
                <a:effectLst/>
                <a:latin typeface="Consolas" panose="020B0609020204030204" pitchFamily="49" charset="0"/>
              </a:rPr>
              <a:t>global</a:t>
            </a:r>
            <a:r>
              <a:rPr kumimoji="0" lang="en-US" altLang="en-US" sz="1200" b="0" i="0" u="none" strike="noStrike" cap="none" normalizeH="0" baseline="0" dirty="0">
                <a:ln>
                  <a:noFill/>
                </a:ln>
                <a:solidFill>
                  <a:srgbClr val="999999"/>
                </a:solidFill>
                <a:effectLst/>
                <a:latin typeface="Consolas" panose="020B0609020204030204" pitchFamily="49" charset="0"/>
              </a:rPr>
              <a:t>::</a:t>
            </a:r>
            <a:r>
              <a:rPr kumimoji="0" lang="en-US" altLang="en-US" sz="1200" b="0" i="0" u="none" strike="noStrike" cap="none" normalizeH="0" baseline="0" dirty="0">
                <a:ln>
                  <a:noFill/>
                </a:ln>
                <a:solidFill>
                  <a:srgbClr val="000000"/>
                </a:solidFill>
                <a:effectLst/>
                <a:latin typeface="Consolas" panose="020B0609020204030204" pitchFamily="49" charset="0"/>
              </a:rPr>
              <a:t>System</a:t>
            </a:r>
            <a:r>
              <a:rPr kumimoji="0" lang="en-US" altLang="en-US" sz="1200" b="0" i="0" u="none" strike="noStrike" cap="none" normalizeH="0" baseline="0" dirty="0">
                <a:ln>
                  <a:noFill/>
                </a:ln>
                <a:solidFill>
                  <a:srgbClr val="999999"/>
                </a:solidFill>
                <a:effectLst/>
                <a:latin typeface="Consolas" panose="020B0609020204030204" pitchFamily="49" charset="0"/>
              </a:rPr>
              <a:t>.</a:t>
            </a:r>
            <a:r>
              <a:rPr kumimoji="0" lang="en-US" altLang="en-US" sz="1200" b="0" i="0" u="none" strike="noStrike" cap="none" normalizeH="0" baseline="0" dirty="0">
                <a:ln>
                  <a:noFill/>
                </a:ln>
                <a:solidFill>
                  <a:srgbClr val="000000"/>
                </a:solidFill>
                <a:effectLst/>
                <a:latin typeface="Consolas" panose="020B0609020204030204" pitchFamily="49" charset="0"/>
              </a:rPr>
              <a:t>IO</a:t>
            </a:r>
            <a:r>
              <a:rPr kumimoji="0" lang="en-US" altLang="en-US" sz="12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0077AA"/>
                </a:solidFill>
                <a:effectLst/>
                <a:latin typeface="Consolas" panose="020B0609020204030204" pitchFamily="49" charset="0"/>
              </a:rPr>
              <a:t>global</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0077AA"/>
                </a:solidFill>
                <a:effectLst/>
                <a:latin typeface="Consolas" panose="020B0609020204030204" pitchFamily="49" charset="0"/>
              </a:rPr>
              <a:t>using</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0077AA"/>
                </a:solidFill>
                <a:effectLst/>
                <a:latin typeface="Consolas" panose="020B0609020204030204" pitchFamily="49" charset="0"/>
              </a:rPr>
              <a:t>global</a:t>
            </a:r>
            <a:r>
              <a:rPr kumimoji="0" lang="en-US" altLang="en-US" sz="1200" b="0" i="0" u="none" strike="noStrike" cap="none" normalizeH="0" baseline="0" dirty="0">
                <a:ln>
                  <a:noFill/>
                </a:ln>
                <a:solidFill>
                  <a:srgbClr val="999999"/>
                </a:solidFill>
                <a:effectLst/>
                <a:latin typeface="Consolas" panose="020B0609020204030204" pitchFamily="49" charset="0"/>
              </a:rPr>
              <a:t>::</a:t>
            </a:r>
            <a:r>
              <a:rPr kumimoji="0" lang="en-US" altLang="en-US" sz="1200" b="0" i="0" u="none" strike="noStrike" cap="none" normalizeH="0" baseline="0" dirty="0" err="1">
                <a:ln>
                  <a:noFill/>
                </a:ln>
                <a:solidFill>
                  <a:srgbClr val="000000"/>
                </a:solidFill>
                <a:effectLst/>
                <a:latin typeface="Consolas" panose="020B0609020204030204" pitchFamily="49" charset="0"/>
              </a:rPr>
              <a:t>System</a:t>
            </a:r>
            <a:r>
              <a:rPr kumimoji="0" lang="en-US" altLang="en-US" sz="1200" b="0" i="0" u="none" strike="noStrike" cap="none" normalizeH="0" baseline="0" dirty="0" err="1">
                <a:ln>
                  <a:noFill/>
                </a:ln>
                <a:solidFill>
                  <a:srgbClr val="999999"/>
                </a:solidFill>
                <a:effectLst/>
                <a:latin typeface="Consolas" panose="020B0609020204030204" pitchFamily="49" charset="0"/>
              </a:rPr>
              <a:t>.</a:t>
            </a:r>
            <a:r>
              <a:rPr kumimoji="0" lang="en-US" altLang="en-US" sz="1200" b="0" i="0" u="none" strike="noStrike" cap="none" normalizeH="0" baseline="0" dirty="0" err="1">
                <a:ln>
                  <a:noFill/>
                </a:ln>
                <a:solidFill>
                  <a:srgbClr val="000000"/>
                </a:solidFill>
                <a:effectLst/>
                <a:latin typeface="Consolas" panose="020B0609020204030204" pitchFamily="49" charset="0"/>
              </a:rPr>
              <a:t>Linq</a:t>
            </a:r>
            <a:r>
              <a:rPr kumimoji="0" lang="en-US" altLang="en-US" sz="12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0077AA"/>
                </a:solidFill>
                <a:effectLst/>
                <a:latin typeface="Consolas" panose="020B0609020204030204" pitchFamily="49" charset="0"/>
              </a:rPr>
              <a:t>global</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0077AA"/>
                </a:solidFill>
                <a:effectLst/>
                <a:latin typeface="Consolas" panose="020B0609020204030204" pitchFamily="49" charset="0"/>
              </a:rPr>
              <a:t>using</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0077AA"/>
                </a:solidFill>
                <a:effectLst/>
                <a:latin typeface="Consolas" panose="020B0609020204030204" pitchFamily="49" charset="0"/>
              </a:rPr>
              <a:t>global</a:t>
            </a:r>
            <a:r>
              <a:rPr kumimoji="0" lang="en-US" altLang="en-US" sz="1200" b="0" i="0" u="none" strike="noStrike" cap="none" normalizeH="0" baseline="0" dirty="0">
                <a:ln>
                  <a:noFill/>
                </a:ln>
                <a:solidFill>
                  <a:srgbClr val="999999"/>
                </a:solidFill>
                <a:effectLst/>
                <a:latin typeface="Consolas" panose="020B0609020204030204" pitchFamily="49" charset="0"/>
              </a:rPr>
              <a:t>::</a:t>
            </a:r>
            <a:r>
              <a:rPr kumimoji="0" lang="en-US" altLang="en-US" sz="1200" b="0" i="0" u="none" strike="noStrike" cap="none" normalizeH="0" baseline="0" dirty="0" err="1">
                <a:ln>
                  <a:noFill/>
                </a:ln>
                <a:solidFill>
                  <a:srgbClr val="000000"/>
                </a:solidFill>
                <a:effectLst/>
                <a:latin typeface="Consolas" panose="020B0609020204030204" pitchFamily="49" charset="0"/>
              </a:rPr>
              <a:t>System</a:t>
            </a:r>
            <a:r>
              <a:rPr kumimoji="0" lang="en-US" altLang="en-US" sz="1200" b="0" i="0" u="none" strike="noStrike" cap="none" normalizeH="0" baseline="0" dirty="0" err="1">
                <a:ln>
                  <a:noFill/>
                </a:ln>
                <a:solidFill>
                  <a:srgbClr val="999999"/>
                </a:solidFill>
                <a:effectLst/>
                <a:latin typeface="Consolas" panose="020B0609020204030204" pitchFamily="49" charset="0"/>
              </a:rPr>
              <a:t>.</a:t>
            </a:r>
            <a:r>
              <a:rPr kumimoji="0" lang="en-US" altLang="en-US" sz="1200" b="0" i="0" u="none" strike="noStrike" cap="none" normalizeH="0" baseline="0" dirty="0" err="1">
                <a:ln>
                  <a:noFill/>
                </a:ln>
                <a:solidFill>
                  <a:srgbClr val="000000"/>
                </a:solidFill>
                <a:effectLst/>
                <a:latin typeface="Consolas" panose="020B0609020204030204" pitchFamily="49" charset="0"/>
              </a:rPr>
              <a:t>Net</a:t>
            </a:r>
            <a:r>
              <a:rPr kumimoji="0" lang="en-US" altLang="en-US" sz="1200" b="0" i="0" u="none" strike="noStrike" cap="none" normalizeH="0" baseline="0" dirty="0" err="1">
                <a:ln>
                  <a:noFill/>
                </a:ln>
                <a:solidFill>
                  <a:srgbClr val="999999"/>
                </a:solidFill>
                <a:effectLst/>
                <a:latin typeface="Consolas" panose="020B0609020204030204" pitchFamily="49" charset="0"/>
              </a:rPr>
              <a:t>.</a:t>
            </a:r>
            <a:r>
              <a:rPr kumimoji="0" lang="en-US" altLang="en-US" sz="1200" b="0" i="0" u="none" strike="noStrike" cap="none" normalizeH="0" baseline="0" dirty="0" err="1">
                <a:ln>
                  <a:noFill/>
                </a:ln>
                <a:solidFill>
                  <a:srgbClr val="000000"/>
                </a:solidFill>
                <a:effectLst/>
                <a:latin typeface="Consolas" panose="020B0609020204030204" pitchFamily="49" charset="0"/>
              </a:rPr>
              <a:t>Http</a:t>
            </a:r>
            <a:r>
              <a:rPr kumimoji="0" lang="en-US" altLang="en-US" sz="1200" b="0" i="0" u="none" strike="noStrike" cap="none" normalizeH="0" baseline="0" dirty="0">
                <a:ln>
                  <a:noFill/>
                </a:ln>
                <a:solidFill>
                  <a:srgbClr val="999999"/>
                </a:solidFill>
                <a:effectLst/>
                <a:latin typeface="Consolas" panose="020B0609020204030204" pitchFamily="49" charset="0"/>
              </a:rPr>
              <a:t>;</a:t>
            </a:r>
            <a:r>
              <a:rPr kumimoji="0" lang="en-US" altLang="en-US" sz="12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77AA"/>
                </a:solidFill>
                <a:effectLst/>
                <a:latin typeface="Consolas" panose="020B0609020204030204" pitchFamily="49" charset="0"/>
              </a:rPr>
              <a:t>global</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0077AA"/>
                </a:solidFill>
                <a:effectLst/>
                <a:latin typeface="Consolas" panose="020B0609020204030204" pitchFamily="49" charset="0"/>
              </a:rPr>
              <a:t>using</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0077AA"/>
                </a:solidFill>
                <a:effectLst/>
                <a:latin typeface="Consolas" panose="020B0609020204030204" pitchFamily="49" charset="0"/>
              </a:rPr>
              <a:t>global</a:t>
            </a:r>
            <a:r>
              <a:rPr kumimoji="0" lang="en-US" altLang="en-US" sz="1200" b="0" i="0" u="none" strike="noStrike" cap="none" normalizeH="0" baseline="0" dirty="0">
                <a:ln>
                  <a:noFill/>
                </a:ln>
                <a:solidFill>
                  <a:srgbClr val="999999"/>
                </a:solidFill>
                <a:effectLst/>
                <a:latin typeface="Consolas" panose="020B0609020204030204" pitchFamily="49" charset="0"/>
              </a:rPr>
              <a:t>::</a:t>
            </a:r>
            <a:r>
              <a:rPr kumimoji="0" lang="en-US" altLang="en-US" sz="1200" b="0" i="0" u="none" strike="noStrike" cap="none" normalizeH="0" baseline="0" dirty="0" err="1">
                <a:ln>
                  <a:noFill/>
                </a:ln>
                <a:solidFill>
                  <a:srgbClr val="000000"/>
                </a:solidFill>
                <a:effectLst/>
                <a:latin typeface="Consolas" panose="020B0609020204030204" pitchFamily="49" charset="0"/>
              </a:rPr>
              <a:t>System</a:t>
            </a:r>
            <a:r>
              <a:rPr kumimoji="0" lang="en-US" altLang="en-US" sz="1200" b="0" i="0" u="none" strike="noStrike" cap="none" normalizeH="0" baseline="0" dirty="0" err="1">
                <a:ln>
                  <a:noFill/>
                </a:ln>
                <a:solidFill>
                  <a:srgbClr val="999999"/>
                </a:solidFill>
                <a:effectLst/>
                <a:latin typeface="Consolas" panose="020B0609020204030204" pitchFamily="49" charset="0"/>
              </a:rPr>
              <a:t>.</a:t>
            </a:r>
            <a:r>
              <a:rPr kumimoji="0" lang="en-US" altLang="en-US" sz="1200" b="0" i="0" u="none" strike="noStrike" cap="none" normalizeH="0" baseline="0" dirty="0" err="1">
                <a:ln>
                  <a:noFill/>
                </a:ln>
                <a:solidFill>
                  <a:srgbClr val="000000"/>
                </a:solidFill>
                <a:effectLst/>
                <a:latin typeface="Consolas" panose="020B0609020204030204" pitchFamily="49" charset="0"/>
              </a:rPr>
              <a:t>Threading</a:t>
            </a:r>
            <a:r>
              <a:rPr kumimoji="0" lang="en-US" altLang="en-US" sz="1200" b="0" i="0" u="none" strike="noStrike" cap="none" normalizeH="0" baseline="0" dirty="0">
                <a:ln>
                  <a:noFill/>
                </a:ln>
                <a:solidFill>
                  <a:srgbClr val="999999"/>
                </a:solidFill>
                <a:effectLst/>
                <a:latin typeface="Consolas" panose="020B0609020204030204" pitchFamily="49" charset="0"/>
              </a:rPr>
              <a:t>;</a:t>
            </a:r>
            <a:r>
              <a:rPr kumimoji="0" lang="en-US" altLang="en-US" sz="1200"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77AA"/>
                </a:solidFill>
                <a:effectLst/>
                <a:latin typeface="Consolas" panose="020B0609020204030204" pitchFamily="49" charset="0"/>
              </a:rPr>
              <a:t>global</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0077AA"/>
                </a:solidFill>
                <a:effectLst/>
                <a:latin typeface="Consolas" panose="020B0609020204030204" pitchFamily="49" charset="0"/>
              </a:rPr>
              <a:t>using</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0077AA"/>
                </a:solidFill>
                <a:effectLst/>
                <a:latin typeface="Consolas" panose="020B0609020204030204" pitchFamily="49" charset="0"/>
              </a:rPr>
              <a:t>global</a:t>
            </a:r>
            <a:r>
              <a:rPr kumimoji="0" lang="en-US" altLang="en-US" sz="1200" b="0" i="0" u="none" strike="noStrike" cap="none" normalizeH="0" baseline="0" dirty="0">
                <a:ln>
                  <a:noFill/>
                </a:ln>
                <a:solidFill>
                  <a:srgbClr val="999999"/>
                </a:solidFill>
                <a:effectLst/>
                <a:latin typeface="Consolas" panose="020B0609020204030204" pitchFamily="49" charset="0"/>
              </a:rPr>
              <a:t>::</a:t>
            </a:r>
            <a:r>
              <a:rPr kumimoji="0" lang="en-US" altLang="en-US" sz="1200" b="0" i="0" u="none" strike="noStrike" cap="none" normalizeH="0" baseline="0" dirty="0" err="1">
                <a:ln>
                  <a:noFill/>
                </a:ln>
                <a:solidFill>
                  <a:srgbClr val="000000"/>
                </a:solidFill>
                <a:effectLst/>
                <a:latin typeface="Consolas" panose="020B0609020204030204" pitchFamily="49" charset="0"/>
              </a:rPr>
              <a:t>System</a:t>
            </a:r>
            <a:r>
              <a:rPr kumimoji="0" lang="en-US" altLang="en-US" sz="1200" b="0" i="0" u="none" strike="noStrike" cap="none" normalizeH="0" baseline="0" dirty="0" err="1">
                <a:ln>
                  <a:noFill/>
                </a:ln>
                <a:solidFill>
                  <a:srgbClr val="999999"/>
                </a:solidFill>
                <a:effectLst/>
                <a:latin typeface="Consolas" panose="020B0609020204030204" pitchFamily="49" charset="0"/>
              </a:rPr>
              <a:t>.</a:t>
            </a:r>
            <a:r>
              <a:rPr kumimoji="0" lang="en-US" altLang="en-US" sz="1200" b="0" i="0" u="none" strike="noStrike" cap="none" normalizeH="0" baseline="0" dirty="0" err="1">
                <a:ln>
                  <a:noFill/>
                </a:ln>
                <a:solidFill>
                  <a:srgbClr val="000000"/>
                </a:solidFill>
                <a:effectLst/>
                <a:latin typeface="Consolas" panose="020B0609020204030204" pitchFamily="49" charset="0"/>
              </a:rPr>
              <a:t>Threading</a:t>
            </a:r>
            <a:r>
              <a:rPr kumimoji="0" lang="en-US" altLang="en-US" sz="1200" b="0" i="0" u="none" strike="noStrike" cap="none" normalizeH="0" baseline="0" dirty="0" err="1">
                <a:ln>
                  <a:noFill/>
                </a:ln>
                <a:solidFill>
                  <a:srgbClr val="999999"/>
                </a:solidFill>
                <a:effectLst/>
                <a:latin typeface="Consolas" panose="020B0609020204030204" pitchFamily="49" charset="0"/>
              </a:rPr>
              <a:t>.</a:t>
            </a:r>
            <a:r>
              <a:rPr kumimoji="0" lang="en-US" altLang="en-US" sz="1200" b="0" i="0" u="none" strike="noStrike" cap="none" normalizeH="0" baseline="0" dirty="0" err="1">
                <a:ln>
                  <a:noFill/>
                </a:ln>
                <a:solidFill>
                  <a:srgbClr val="000000"/>
                </a:solidFill>
                <a:effectLst/>
                <a:latin typeface="Consolas" panose="020B0609020204030204" pitchFamily="49" charset="0"/>
              </a:rPr>
              <a:t>Tasks</a:t>
            </a:r>
            <a:r>
              <a:rPr kumimoji="0" lang="en-US" altLang="en-US" sz="1200" b="0" i="0" u="none" strike="noStrike" cap="none" normalizeH="0" baseline="0" dirty="0">
                <a:ln>
                  <a:noFill/>
                </a:ln>
                <a:solidFill>
                  <a:srgbClr val="999999"/>
                </a:solidFill>
                <a:effectLst/>
                <a:latin typeface="Consolas" panose="020B0609020204030204" pitchFamily="49" charset="0"/>
              </a:rPr>
              <a:t>;</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80656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145C7BA-A790-81F9-958E-00CC47B3B762}"/>
              </a:ext>
            </a:extLst>
          </p:cNvPr>
          <p:cNvSpPr txBox="1"/>
          <p:nvPr/>
        </p:nvSpPr>
        <p:spPr>
          <a:xfrm>
            <a:off x="238028" y="1236092"/>
            <a:ext cx="6094428" cy="3831818"/>
          </a:xfrm>
          <a:prstGeom prst="rect">
            <a:avLst/>
          </a:prstGeom>
          <a:noFill/>
        </p:spPr>
        <p:txBody>
          <a:bodyPr wrap="square">
            <a:spAutoFit/>
          </a:bodyPr>
          <a:lstStyle/>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ConsoleApp10</a:t>
            </a: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internal</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Main(</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"Hello, World!"</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Person p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Developer { FirstName=</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vidyan</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a:t>
            </a:r>
          </a:p>
          <a:p>
            <a:r>
              <a:rPr lang="en-US" sz="900" dirty="0">
                <a:solidFill>
                  <a:srgbClr val="000000"/>
                </a:solidFill>
                <a:highlight>
                  <a:srgbClr val="FFFF00"/>
                </a:highlight>
                <a:latin typeface="Cascadia Mono" panose="020B0609020000020004" pitchFamily="49" charset="0"/>
              </a:rPr>
              <a:t>            </a:t>
            </a:r>
            <a:r>
              <a:rPr lang="en-US" sz="900" dirty="0">
                <a:solidFill>
                  <a:srgbClr val="0000FF"/>
                </a:solidFill>
                <a:highlight>
                  <a:srgbClr val="FFFF00"/>
                </a:highlight>
                <a:latin typeface="Cascadia Mono" panose="020B0609020000020004" pitchFamily="49" charset="0"/>
              </a:rPr>
              <a:t>if</a:t>
            </a:r>
            <a:r>
              <a:rPr lang="en-US" sz="900" dirty="0">
                <a:solidFill>
                  <a:srgbClr val="000000"/>
                </a:solidFill>
                <a:highlight>
                  <a:srgbClr val="FFFF00"/>
                </a:highlight>
                <a:latin typeface="Cascadia Mono" panose="020B0609020000020004" pitchFamily="49" charset="0"/>
              </a:rPr>
              <a:t>(p </a:t>
            </a:r>
            <a:r>
              <a:rPr lang="en-US" sz="900" dirty="0">
                <a:solidFill>
                  <a:srgbClr val="0000FF"/>
                </a:solidFill>
                <a:highlight>
                  <a:srgbClr val="FFFF00"/>
                </a:highlight>
                <a:latin typeface="Cascadia Mono" panose="020B0609020000020004" pitchFamily="49" charset="0"/>
              </a:rPr>
              <a:t>is</a:t>
            </a:r>
            <a:r>
              <a:rPr lang="en-US" sz="900" dirty="0">
                <a:solidFill>
                  <a:srgbClr val="000000"/>
                </a:solidFill>
                <a:highlight>
                  <a:srgbClr val="FFFF00"/>
                </a:highlight>
                <a:latin typeface="Cascadia Mono" panose="020B0609020000020004" pitchFamily="49" charset="0"/>
              </a:rPr>
              <a:t> Developer { Manager: { FirstName: { Length: 6 } } } dev)</a:t>
            </a:r>
          </a:p>
          <a:p>
            <a:r>
              <a:rPr lang="en-IN" sz="900" dirty="0">
                <a:solidFill>
                  <a:srgbClr val="000000"/>
                </a:solidFill>
                <a:highlight>
                  <a:srgbClr val="FFFF00"/>
                </a:highlight>
                <a:latin typeface="Cascadia Mono" panose="020B0609020000020004" pitchFamily="49" charset="0"/>
              </a:rPr>
              <a:t>                    {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dev.FirstName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Person</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FirstName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int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YearOfBirth</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Developer</a:t>
            </a:r>
            <a:r>
              <a:rPr lang="en-IN" sz="900" dirty="0">
                <a:solidFill>
                  <a:srgbClr val="000000"/>
                </a:solidFill>
                <a:latin typeface="Cascadia Mono" panose="020B0609020000020004" pitchFamily="49" charset="0"/>
              </a:rPr>
              <a:t> : Person</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Manager? Manager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Manager</a:t>
            </a:r>
            <a:r>
              <a:rPr lang="en-IN" sz="900" dirty="0">
                <a:solidFill>
                  <a:srgbClr val="000000"/>
                </a:solidFill>
                <a:latin typeface="Cascadia Mono" panose="020B0609020000020004" pitchFamily="49" charset="0"/>
              </a:rPr>
              <a:t> : Person</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
        <p:nvSpPr>
          <p:cNvPr id="11" name="TextBox 10">
            <a:extLst>
              <a:ext uri="{FF2B5EF4-FFF2-40B4-BE49-F238E27FC236}">
                <a16:creationId xmlns:a16="http://schemas.microsoft.com/office/drawing/2014/main" id="{A1F67929-3B9F-97F8-D352-AC234AE7AC70}"/>
              </a:ext>
            </a:extLst>
          </p:cNvPr>
          <p:cNvSpPr txBox="1"/>
          <p:nvPr/>
        </p:nvSpPr>
        <p:spPr>
          <a:xfrm>
            <a:off x="5498184" y="1370423"/>
            <a:ext cx="6094428" cy="3970318"/>
          </a:xfrm>
          <a:prstGeom prst="rect">
            <a:avLst/>
          </a:prstGeom>
          <a:noFill/>
        </p:spPr>
        <p:txBody>
          <a:bodyPr wrap="square">
            <a:spAutoFit/>
          </a:bodyPr>
          <a:lstStyle/>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ConsoleApp10</a:t>
            </a: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internal</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Main(</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"Hello, World!"</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Person p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Developer { FirstName=</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vidyan</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a:t>
            </a:r>
          </a:p>
          <a:p>
            <a:r>
              <a:rPr lang="en-US" sz="900" dirty="0">
                <a:solidFill>
                  <a:srgbClr val="0000FF"/>
                </a:solidFill>
                <a:latin typeface="Cascadia Mono" panose="020B0609020000020004" pitchFamily="49" charset="0"/>
              </a:rPr>
              <a:t>	</a:t>
            </a:r>
          </a:p>
          <a:p>
            <a:r>
              <a:rPr lang="en-US" sz="900" dirty="0">
                <a:solidFill>
                  <a:srgbClr val="0000FF"/>
                </a:solidFill>
                <a:latin typeface="Cascadia Mono" panose="020B0609020000020004" pitchFamily="49" charset="0"/>
              </a:rPr>
              <a:t>	</a:t>
            </a:r>
            <a:r>
              <a:rPr lang="en-US" sz="900" dirty="0">
                <a:solidFill>
                  <a:srgbClr val="0000FF"/>
                </a:solidFill>
                <a:highlight>
                  <a:srgbClr val="FFFF00"/>
                </a:highlight>
                <a:latin typeface="Cascadia Mono" panose="020B0609020000020004" pitchFamily="49" charset="0"/>
              </a:rPr>
              <a:t>if</a:t>
            </a:r>
            <a:r>
              <a:rPr lang="en-US" sz="900" dirty="0">
                <a:solidFill>
                  <a:srgbClr val="000000"/>
                </a:solidFill>
                <a:highlight>
                  <a:srgbClr val="FFFF00"/>
                </a:highlight>
                <a:latin typeface="Cascadia Mono" panose="020B0609020000020004" pitchFamily="49" charset="0"/>
              </a:rPr>
              <a:t> (p </a:t>
            </a:r>
            <a:r>
              <a:rPr lang="en-US" sz="900" dirty="0">
                <a:solidFill>
                  <a:srgbClr val="0000FF"/>
                </a:solidFill>
                <a:highlight>
                  <a:srgbClr val="FFFF00"/>
                </a:highlight>
                <a:latin typeface="Cascadia Mono" panose="020B0609020000020004" pitchFamily="49" charset="0"/>
              </a:rPr>
              <a:t>is</a:t>
            </a:r>
            <a:r>
              <a:rPr lang="en-US" sz="900" dirty="0">
                <a:solidFill>
                  <a:srgbClr val="000000"/>
                </a:solidFill>
                <a:highlight>
                  <a:srgbClr val="FFFF00"/>
                </a:highlight>
                <a:latin typeface="Cascadia Mono" panose="020B0609020000020004" pitchFamily="49" charset="0"/>
              </a:rPr>
              <a:t> Developer { </a:t>
            </a:r>
            <a:r>
              <a:rPr lang="en-US" sz="900" dirty="0" err="1">
                <a:solidFill>
                  <a:srgbClr val="000000"/>
                </a:solidFill>
                <a:highlight>
                  <a:srgbClr val="FFFF00"/>
                </a:highlight>
                <a:latin typeface="Cascadia Mono" panose="020B0609020000020004" pitchFamily="49" charset="0"/>
              </a:rPr>
              <a:t>Manager.FirstName.Length</a:t>
            </a:r>
            <a:r>
              <a:rPr lang="en-US" sz="900" dirty="0">
                <a:solidFill>
                  <a:srgbClr val="000000"/>
                </a:solidFill>
                <a:highlight>
                  <a:srgbClr val="FFFF00"/>
                </a:highlight>
                <a:latin typeface="Cascadia Mono" panose="020B0609020000020004" pitchFamily="49" charset="0"/>
              </a:rPr>
              <a:t>: 6 } dev1)</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(dev1.FirstName);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Person</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FirstName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int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YearOfBirth</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Developer</a:t>
            </a:r>
            <a:r>
              <a:rPr lang="en-IN" sz="900" dirty="0">
                <a:solidFill>
                  <a:srgbClr val="000000"/>
                </a:solidFill>
                <a:latin typeface="Cascadia Mono" panose="020B0609020000020004" pitchFamily="49" charset="0"/>
              </a:rPr>
              <a:t> : Person</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Manager? Manager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Manager</a:t>
            </a:r>
            <a:r>
              <a:rPr lang="en-IN" sz="900" dirty="0">
                <a:solidFill>
                  <a:srgbClr val="000000"/>
                </a:solidFill>
                <a:latin typeface="Cascadia Mono" panose="020B0609020000020004" pitchFamily="49" charset="0"/>
              </a:rPr>
              <a:t> : Person</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
        <p:nvSpPr>
          <p:cNvPr id="13" name="TextBox 12">
            <a:extLst>
              <a:ext uri="{FF2B5EF4-FFF2-40B4-BE49-F238E27FC236}">
                <a16:creationId xmlns:a16="http://schemas.microsoft.com/office/drawing/2014/main" id="{4F14EC09-780E-FBAA-A7C5-720223817A89}"/>
              </a:ext>
            </a:extLst>
          </p:cNvPr>
          <p:cNvSpPr txBox="1"/>
          <p:nvPr/>
        </p:nvSpPr>
        <p:spPr>
          <a:xfrm>
            <a:off x="238028" y="164125"/>
            <a:ext cx="6094428" cy="369332"/>
          </a:xfrm>
          <a:prstGeom prst="rect">
            <a:avLst/>
          </a:prstGeom>
          <a:noFill/>
        </p:spPr>
        <p:txBody>
          <a:bodyPr wrap="square">
            <a:spAutoFit/>
          </a:bodyPr>
          <a:lstStyle/>
          <a:p>
            <a:pPr algn="l"/>
            <a:r>
              <a:rPr lang="en-US" b="1" i="0" dirty="0">
                <a:effectLst/>
                <a:latin typeface="Open Sans" panose="020B0606030504020204" pitchFamily="34" charset="0"/>
              </a:rPr>
              <a:t>Property Patterns in C# 9.0</a:t>
            </a:r>
          </a:p>
        </p:txBody>
      </p:sp>
      <p:sp>
        <p:nvSpPr>
          <p:cNvPr id="15" name="TextBox 14">
            <a:extLst>
              <a:ext uri="{FF2B5EF4-FFF2-40B4-BE49-F238E27FC236}">
                <a16:creationId xmlns:a16="http://schemas.microsoft.com/office/drawing/2014/main" id="{DA0696CD-A737-BF19-9C2B-803483A4261D}"/>
              </a:ext>
            </a:extLst>
          </p:cNvPr>
          <p:cNvSpPr txBox="1"/>
          <p:nvPr/>
        </p:nvSpPr>
        <p:spPr>
          <a:xfrm>
            <a:off x="5498184" y="164125"/>
            <a:ext cx="6094428" cy="369332"/>
          </a:xfrm>
          <a:prstGeom prst="rect">
            <a:avLst/>
          </a:prstGeom>
          <a:noFill/>
        </p:spPr>
        <p:txBody>
          <a:bodyPr wrap="square">
            <a:spAutoFit/>
          </a:bodyPr>
          <a:lstStyle/>
          <a:p>
            <a:pPr algn="l"/>
            <a:r>
              <a:rPr lang="en-US" b="1" i="0" dirty="0">
                <a:effectLst/>
                <a:latin typeface="Open Sans" panose="020B0606030504020204" pitchFamily="34" charset="0"/>
              </a:rPr>
              <a:t>Property Patterns in C# 10.0</a:t>
            </a:r>
          </a:p>
        </p:txBody>
      </p:sp>
    </p:spTree>
    <p:extLst>
      <p:ext uri="{BB962C8B-B14F-4D97-AF65-F5344CB8AC3E}">
        <p14:creationId xmlns:p14="http://schemas.microsoft.com/office/powerpoint/2010/main" val="14361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FDD5265-3C94-0BD1-8EE9-291BC1549691}"/>
              </a:ext>
            </a:extLst>
          </p:cNvPr>
          <p:cNvSpPr txBox="1"/>
          <p:nvPr/>
        </p:nvSpPr>
        <p:spPr>
          <a:xfrm>
            <a:off x="388857" y="122077"/>
            <a:ext cx="11187258" cy="1200329"/>
          </a:xfrm>
          <a:prstGeom prst="rect">
            <a:avLst/>
          </a:prstGeom>
          <a:noFill/>
        </p:spPr>
        <p:txBody>
          <a:bodyPr wrap="square">
            <a:spAutoFit/>
          </a:bodyPr>
          <a:lstStyle/>
          <a:p>
            <a:pPr algn="l"/>
            <a:r>
              <a:rPr lang="en-US" b="1" i="0" dirty="0">
                <a:effectLst/>
                <a:latin typeface="Open Sans" panose="020B0606030504020204" pitchFamily="34" charset="0"/>
              </a:rPr>
              <a:t>Use Multiple Extended Property Patterns</a:t>
            </a:r>
          </a:p>
          <a:p>
            <a:pPr algn="l"/>
            <a:r>
              <a:rPr lang="en-US" b="0" i="0" dirty="0">
                <a:effectLst/>
                <a:latin typeface="Open Sans" panose="020B0606030504020204" pitchFamily="34" charset="0"/>
              </a:rPr>
              <a:t>You can also use multiple extended property patterns. What if you want to check for example if a developer has a manager who has a </a:t>
            </a:r>
            <a:r>
              <a:rPr lang="en-US" b="0" i="0" dirty="0" err="1">
                <a:effectLst/>
                <a:latin typeface="Open Sans" panose="020B0606030504020204" pitchFamily="34" charset="0"/>
              </a:rPr>
              <a:t>firstname</a:t>
            </a:r>
            <a:r>
              <a:rPr lang="en-US" b="0" i="0" dirty="0">
                <a:effectLst/>
                <a:latin typeface="Open Sans" panose="020B0606030504020204" pitchFamily="34" charset="0"/>
              </a:rPr>
              <a:t> with a length of 6 and who (=the manager) is born in 1980? Below you see the C# 9.0 way to do this:</a:t>
            </a:r>
          </a:p>
        </p:txBody>
      </p:sp>
      <p:sp>
        <p:nvSpPr>
          <p:cNvPr id="7" name="TextBox 6">
            <a:extLst>
              <a:ext uri="{FF2B5EF4-FFF2-40B4-BE49-F238E27FC236}">
                <a16:creationId xmlns:a16="http://schemas.microsoft.com/office/drawing/2014/main" id="{7B9CA576-59E3-961D-42D6-A735400130D0}"/>
              </a:ext>
            </a:extLst>
          </p:cNvPr>
          <p:cNvSpPr txBox="1"/>
          <p:nvPr/>
        </p:nvSpPr>
        <p:spPr>
          <a:xfrm>
            <a:off x="0" y="1533581"/>
            <a:ext cx="6094428" cy="3970318"/>
          </a:xfrm>
          <a:prstGeom prst="rect">
            <a:avLst/>
          </a:prstGeom>
          <a:noFill/>
        </p:spPr>
        <p:txBody>
          <a:bodyPr wrap="square">
            <a:spAutoFit/>
          </a:bodyPr>
          <a:lstStyle/>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ConsoleApp10</a:t>
            </a: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internal</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Main(</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"Hello, World!"</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Person p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Developer { FirstName=</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vidyan</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YearOfBirth</a:t>
            </a:r>
            <a:r>
              <a:rPr lang="en-US" sz="900" dirty="0">
                <a:solidFill>
                  <a:srgbClr val="000000"/>
                </a:solidFill>
                <a:latin typeface="Cascadia Mono" panose="020B0609020000020004" pitchFamily="49" charset="0"/>
              </a:rPr>
              <a:t>=1950};</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highlight>
                  <a:srgbClr val="FFFF00"/>
                </a:highlight>
                <a:latin typeface="Cascadia Mono" panose="020B0609020000020004" pitchFamily="49" charset="0"/>
              </a:rPr>
              <a:t>if</a:t>
            </a:r>
            <a:r>
              <a:rPr lang="en-IN" sz="900" dirty="0">
                <a:solidFill>
                  <a:srgbClr val="000000"/>
                </a:solidFill>
                <a:highlight>
                  <a:srgbClr val="FFFF00"/>
                </a:highlight>
                <a:latin typeface="Cascadia Mono" panose="020B0609020000020004" pitchFamily="49" charset="0"/>
              </a:rPr>
              <a:t>(p </a:t>
            </a:r>
            <a:r>
              <a:rPr lang="en-IN" sz="900" dirty="0">
                <a:solidFill>
                  <a:srgbClr val="0000FF"/>
                </a:solidFill>
                <a:highlight>
                  <a:srgbClr val="FFFF00"/>
                </a:highlight>
                <a:latin typeface="Cascadia Mono" panose="020B0609020000020004" pitchFamily="49" charset="0"/>
              </a:rPr>
              <a:t>is</a:t>
            </a:r>
            <a:r>
              <a:rPr lang="en-IN" sz="900" dirty="0">
                <a:solidFill>
                  <a:srgbClr val="000000"/>
                </a:solidFill>
                <a:highlight>
                  <a:srgbClr val="FFFF00"/>
                </a:highlight>
                <a:latin typeface="Cascadia Mono" panose="020B0609020000020004" pitchFamily="49" charset="0"/>
              </a:rPr>
              <a:t> Developer { Manager: { FirstName: { Length: 6 } , </a:t>
            </a:r>
            <a:r>
              <a:rPr lang="en-IN" sz="900" dirty="0" err="1">
                <a:solidFill>
                  <a:srgbClr val="000000"/>
                </a:solidFill>
                <a:highlight>
                  <a:srgbClr val="FFFF00"/>
                </a:highlight>
                <a:latin typeface="Cascadia Mono" panose="020B0609020000020004" pitchFamily="49" charset="0"/>
              </a:rPr>
              <a:t>YearOfBirth</a:t>
            </a:r>
            <a:r>
              <a:rPr lang="en-IN" sz="900" dirty="0">
                <a:solidFill>
                  <a:srgbClr val="000000"/>
                </a:solidFill>
                <a:highlight>
                  <a:srgbClr val="FFFF00"/>
                </a:highlight>
                <a:latin typeface="Cascadia Mono" panose="020B0609020000020004" pitchFamily="49" charset="0"/>
              </a:rPr>
              <a:t>: 1980 }  } dev )</a:t>
            </a:r>
          </a:p>
          <a:p>
            <a:r>
              <a:rPr lang="en-IN" sz="900" dirty="0">
                <a:solidFill>
                  <a:srgbClr val="000000"/>
                </a:solidFill>
                <a:latin typeface="Cascadia Mono" panose="020B0609020000020004" pitchFamily="49" charset="0"/>
              </a:rPr>
              <a:t>                    {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dev.YearOfBirth</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Person</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FirstName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int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YearOfBirth</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Developer</a:t>
            </a:r>
            <a:r>
              <a:rPr lang="en-IN" sz="900" dirty="0">
                <a:solidFill>
                  <a:srgbClr val="000000"/>
                </a:solidFill>
                <a:latin typeface="Cascadia Mono" panose="020B0609020000020004" pitchFamily="49" charset="0"/>
              </a:rPr>
              <a:t> : Person</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Manager? Manager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Manager</a:t>
            </a:r>
            <a:r>
              <a:rPr lang="en-IN" sz="900" dirty="0">
                <a:solidFill>
                  <a:srgbClr val="000000"/>
                </a:solidFill>
                <a:latin typeface="Cascadia Mono" panose="020B0609020000020004" pitchFamily="49" charset="0"/>
              </a:rPr>
              <a:t> : Person</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
        <p:nvSpPr>
          <p:cNvPr id="8" name="TextBox 7">
            <a:extLst>
              <a:ext uri="{FF2B5EF4-FFF2-40B4-BE49-F238E27FC236}">
                <a16:creationId xmlns:a16="http://schemas.microsoft.com/office/drawing/2014/main" id="{1D1C697F-9D33-4E75-F18B-58ABC48C3213}"/>
              </a:ext>
            </a:extLst>
          </p:cNvPr>
          <p:cNvSpPr txBox="1"/>
          <p:nvPr/>
        </p:nvSpPr>
        <p:spPr>
          <a:xfrm>
            <a:off x="6097572" y="1533581"/>
            <a:ext cx="6094428" cy="3970318"/>
          </a:xfrm>
          <a:prstGeom prst="rect">
            <a:avLst/>
          </a:prstGeom>
          <a:noFill/>
        </p:spPr>
        <p:txBody>
          <a:bodyPr wrap="square">
            <a:spAutoFit/>
          </a:bodyPr>
          <a:lstStyle/>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ConsoleApp10</a:t>
            </a: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internal</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Main(</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"Hello, World!"</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Person p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Developer { FirstName=</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vidyan</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YearOfBirth</a:t>
            </a:r>
            <a:r>
              <a:rPr lang="en-US" sz="900" dirty="0">
                <a:solidFill>
                  <a:srgbClr val="000000"/>
                </a:solidFill>
                <a:latin typeface="Cascadia Mono" panose="020B0609020000020004" pitchFamily="49" charset="0"/>
              </a:rPr>
              <a:t>=1950};</a:t>
            </a:r>
          </a:p>
          <a:p>
            <a:r>
              <a:rPr lang="en-US" sz="900" dirty="0">
                <a:solidFill>
                  <a:srgbClr val="0000FF"/>
                </a:solidFill>
                <a:latin typeface="Cascadia Mono" panose="020B0609020000020004" pitchFamily="49" charset="0"/>
              </a:rPr>
              <a:t>	</a:t>
            </a:r>
          </a:p>
          <a:p>
            <a:r>
              <a:rPr lang="en-US" sz="900" dirty="0">
                <a:solidFill>
                  <a:srgbClr val="0000FF"/>
                </a:solidFill>
                <a:highlight>
                  <a:srgbClr val="FFFF00"/>
                </a:highlight>
                <a:latin typeface="Cascadia Mono" panose="020B0609020000020004" pitchFamily="49" charset="0"/>
              </a:rPr>
              <a:t>if</a:t>
            </a:r>
            <a:r>
              <a:rPr lang="en-US" sz="900" dirty="0">
                <a:solidFill>
                  <a:srgbClr val="000000"/>
                </a:solidFill>
                <a:highlight>
                  <a:srgbClr val="FFFF00"/>
                </a:highlight>
                <a:latin typeface="Cascadia Mono" panose="020B0609020000020004" pitchFamily="49" charset="0"/>
              </a:rPr>
              <a:t> (p </a:t>
            </a:r>
            <a:r>
              <a:rPr lang="en-US" sz="900" dirty="0">
                <a:solidFill>
                  <a:srgbClr val="0000FF"/>
                </a:solidFill>
                <a:highlight>
                  <a:srgbClr val="FFFF00"/>
                </a:highlight>
                <a:latin typeface="Cascadia Mono" panose="020B0609020000020004" pitchFamily="49" charset="0"/>
              </a:rPr>
              <a:t>is</a:t>
            </a:r>
            <a:r>
              <a:rPr lang="en-US" sz="900" dirty="0">
                <a:solidFill>
                  <a:srgbClr val="000000"/>
                </a:solidFill>
                <a:highlight>
                  <a:srgbClr val="FFFF00"/>
                </a:highlight>
                <a:latin typeface="Cascadia Mono" panose="020B0609020000020004" pitchFamily="49" charset="0"/>
              </a:rPr>
              <a:t> Developer { </a:t>
            </a:r>
            <a:r>
              <a:rPr lang="en-US" sz="900" dirty="0" err="1">
                <a:solidFill>
                  <a:srgbClr val="000000"/>
                </a:solidFill>
                <a:highlight>
                  <a:srgbClr val="FFFF00"/>
                </a:highlight>
                <a:latin typeface="Cascadia Mono" panose="020B0609020000020004" pitchFamily="49" charset="0"/>
              </a:rPr>
              <a:t>Manager.FirstName.Length</a:t>
            </a:r>
            <a:r>
              <a:rPr lang="en-US" sz="900" dirty="0">
                <a:solidFill>
                  <a:srgbClr val="000000"/>
                </a:solidFill>
                <a:highlight>
                  <a:srgbClr val="FFFF00"/>
                </a:highlight>
                <a:latin typeface="Cascadia Mono" panose="020B0609020000020004" pitchFamily="49" charset="0"/>
              </a:rPr>
              <a:t>: 6 , Manager.YearOfBirth:1980} dev1)</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(dev1.YearOfBirth);</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Person</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FirstName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int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YearOfBirth</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Developer</a:t>
            </a:r>
            <a:r>
              <a:rPr lang="en-IN" sz="900" dirty="0">
                <a:solidFill>
                  <a:srgbClr val="000000"/>
                </a:solidFill>
                <a:latin typeface="Cascadia Mono" panose="020B0609020000020004" pitchFamily="49" charset="0"/>
              </a:rPr>
              <a:t> : Person</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Manager? Manager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Manager</a:t>
            </a:r>
            <a:r>
              <a:rPr lang="en-IN" sz="900" dirty="0">
                <a:solidFill>
                  <a:srgbClr val="000000"/>
                </a:solidFill>
                <a:latin typeface="Cascadia Mono" panose="020B0609020000020004" pitchFamily="49" charset="0"/>
              </a:rPr>
              <a:t> : Person</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Tree>
    <p:extLst>
      <p:ext uri="{BB962C8B-B14F-4D97-AF65-F5344CB8AC3E}">
        <p14:creationId xmlns:p14="http://schemas.microsoft.com/office/powerpoint/2010/main" val="1462019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0A2AEE8-5602-9CEE-77BB-A18FE02B7E99}"/>
              </a:ext>
            </a:extLst>
          </p:cNvPr>
          <p:cNvSpPr txBox="1"/>
          <p:nvPr/>
        </p:nvSpPr>
        <p:spPr>
          <a:xfrm>
            <a:off x="113122" y="480767"/>
            <a:ext cx="11774077" cy="1477328"/>
          </a:xfrm>
          <a:prstGeom prst="rect">
            <a:avLst/>
          </a:prstGeom>
          <a:noFill/>
        </p:spPr>
        <p:txBody>
          <a:bodyPr wrap="square">
            <a:spAutoFit/>
          </a:bodyPr>
          <a:lstStyle/>
          <a:p>
            <a:r>
              <a:rPr lang="en-US" b="0" i="0" dirty="0">
                <a:solidFill>
                  <a:srgbClr val="273239"/>
                </a:solidFill>
                <a:effectLst/>
                <a:latin typeface="urw-din"/>
              </a:rPr>
              <a:t>In Classes, </a:t>
            </a:r>
            <a:r>
              <a:rPr lang="en-US" b="0" i="0" dirty="0" err="1">
                <a:solidFill>
                  <a:srgbClr val="273239"/>
                </a:solidFill>
                <a:effectLst/>
                <a:latin typeface="urw-din"/>
              </a:rPr>
              <a:t>deconstructor</a:t>
            </a:r>
            <a:r>
              <a:rPr lang="en-US" b="0" i="0" dirty="0">
                <a:solidFill>
                  <a:srgbClr val="273239"/>
                </a:solidFill>
                <a:effectLst/>
                <a:latin typeface="urw-din"/>
              </a:rPr>
              <a:t> is used in the form of methods to access the class variables outside the class by assigning them into new variables. It is achieved by using </a:t>
            </a:r>
            <a:r>
              <a:rPr lang="en-US" b="0" i="0" u="sng" dirty="0">
                <a:effectLst/>
                <a:latin typeface="urw-din"/>
              </a:rPr>
              <a:t>out</a:t>
            </a:r>
            <a:r>
              <a:rPr lang="en-US" b="0" i="0" dirty="0">
                <a:solidFill>
                  <a:srgbClr val="273239"/>
                </a:solidFill>
                <a:effectLst/>
                <a:latin typeface="urw-din"/>
              </a:rPr>
              <a:t> parameters because using out parameters you can have multiple overloads for different values. Also, you are allowed to use multiple </a:t>
            </a:r>
            <a:r>
              <a:rPr lang="en-US" b="0" i="0" dirty="0" err="1">
                <a:solidFill>
                  <a:srgbClr val="273239"/>
                </a:solidFill>
                <a:effectLst/>
                <a:latin typeface="urw-din"/>
              </a:rPr>
              <a:t>deconstructor</a:t>
            </a:r>
            <a:r>
              <a:rPr lang="en-US" b="0" i="0" dirty="0">
                <a:solidFill>
                  <a:srgbClr val="273239"/>
                </a:solidFill>
                <a:effectLst/>
                <a:latin typeface="urw-din"/>
              </a:rPr>
              <a:t> methods in the same program with the same number of out parameters or the same number and type of out parameters in a different order, but be careful with such type of multiple </a:t>
            </a:r>
            <a:r>
              <a:rPr lang="en-US" b="0" i="0" dirty="0" err="1">
                <a:solidFill>
                  <a:srgbClr val="273239"/>
                </a:solidFill>
                <a:effectLst/>
                <a:latin typeface="urw-din"/>
              </a:rPr>
              <a:t>deconstructor</a:t>
            </a:r>
            <a:r>
              <a:rPr lang="en-US" b="0" i="0" dirty="0">
                <a:solidFill>
                  <a:srgbClr val="273239"/>
                </a:solidFill>
                <a:effectLst/>
                <a:latin typeface="urw-din"/>
              </a:rPr>
              <a:t> methods because they cause a lot of confusion.</a:t>
            </a:r>
            <a:endParaRPr lang="en-IN" dirty="0"/>
          </a:p>
        </p:txBody>
      </p:sp>
      <p:sp>
        <p:nvSpPr>
          <p:cNvPr id="7" name="TextBox 6">
            <a:extLst>
              <a:ext uri="{FF2B5EF4-FFF2-40B4-BE49-F238E27FC236}">
                <a16:creationId xmlns:a16="http://schemas.microsoft.com/office/drawing/2014/main" id="{F0C93DA7-2DB4-CAB9-7CC9-97EA85E637E0}"/>
              </a:ext>
            </a:extLst>
          </p:cNvPr>
          <p:cNvSpPr txBox="1"/>
          <p:nvPr/>
        </p:nvSpPr>
        <p:spPr>
          <a:xfrm>
            <a:off x="3518555" y="0"/>
            <a:ext cx="6094428" cy="369332"/>
          </a:xfrm>
          <a:prstGeom prst="rect">
            <a:avLst/>
          </a:prstGeom>
          <a:noFill/>
        </p:spPr>
        <p:txBody>
          <a:bodyPr wrap="square">
            <a:spAutoFit/>
          </a:bodyPr>
          <a:lstStyle/>
          <a:p>
            <a:r>
              <a:rPr kumimoji="0" lang="en-US" sz="1800" b="1" i="0" u="none" strike="noStrike" kern="1200" cap="none" spc="0" normalizeH="0" baseline="0" noProof="0" dirty="0">
                <a:ln>
                  <a:noFill/>
                </a:ln>
                <a:solidFill>
                  <a:prstClr val="black"/>
                </a:solidFill>
                <a:effectLst/>
                <a:uLnTx/>
                <a:uFillTx/>
                <a:latin typeface="Roboto" panose="02000000000000000000" pitchFamily="2" charset="0"/>
                <a:ea typeface="+mn-ea"/>
                <a:cs typeface="+mn-cs"/>
              </a:rPr>
              <a:t>Deconstructing an object in </a:t>
            </a:r>
            <a:r>
              <a:rPr kumimoji="0" lang="en-US" sz="1800" b="1" i="0" u="sng" strike="noStrike" kern="1200" cap="none" spc="0" normalizeH="0" baseline="0" noProof="0" dirty="0">
                <a:ln>
                  <a:noFill/>
                </a:ln>
                <a:solidFill>
                  <a:prstClr val="black"/>
                </a:solidFill>
                <a:effectLst/>
                <a:uLnTx/>
                <a:uFillTx/>
                <a:latin typeface="Roboto" panose="02000000000000000000" pitchFamily="2" charset="0"/>
                <a:ea typeface="+mn-ea"/>
                <a:cs typeface="+mn-cs"/>
                <a:hlinkClick r:id="rId2">
                  <a:extLst>
                    <a:ext uri="{A12FA001-AC4F-418D-AE19-62706E023703}">
                      <ahyp:hlinkClr xmlns:ahyp="http://schemas.microsoft.com/office/drawing/2018/hyperlinkcolor" val="tx"/>
                    </a:ext>
                  </a:extLst>
                </a:hlinkClick>
              </a:rPr>
              <a:t>C#</a:t>
            </a:r>
            <a:r>
              <a:rPr kumimoji="0" lang="en-US" sz="1800" b="1" i="0" u="sng" strike="noStrike" kern="1200" cap="none" spc="0" normalizeH="0" baseline="0" noProof="0" dirty="0">
                <a:ln>
                  <a:noFill/>
                </a:ln>
                <a:solidFill>
                  <a:prstClr val="black"/>
                </a:solidFill>
                <a:effectLst/>
                <a:uLnTx/>
                <a:uFillTx/>
                <a:latin typeface="Roboto" panose="02000000000000000000" pitchFamily="2" charset="0"/>
                <a:ea typeface="+mn-ea"/>
                <a:cs typeface="+mn-cs"/>
              </a:rPr>
              <a:t> DEMO</a:t>
            </a:r>
            <a:r>
              <a:rPr kumimoji="0" lang="en-US" sz="1800" b="1" i="0" u="none" strike="noStrike" kern="1200" cap="none" spc="0" normalizeH="0" baseline="0" noProof="0" dirty="0">
                <a:ln>
                  <a:noFill/>
                </a:ln>
                <a:solidFill>
                  <a:prstClr val="black"/>
                </a:solidFill>
                <a:effectLst/>
                <a:uLnTx/>
                <a:uFillTx/>
                <a:latin typeface="Roboto" panose="02000000000000000000" pitchFamily="2" charset="0"/>
                <a:ea typeface="+mn-ea"/>
                <a:cs typeface="+mn-cs"/>
              </a:rPr>
              <a:t> </a:t>
            </a:r>
            <a:endParaRPr lang="en-IN" dirty="0"/>
          </a:p>
        </p:txBody>
      </p:sp>
      <p:sp>
        <p:nvSpPr>
          <p:cNvPr id="9" name="TextBox 8">
            <a:extLst>
              <a:ext uri="{FF2B5EF4-FFF2-40B4-BE49-F238E27FC236}">
                <a16:creationId xmlns:a16="http://schemas.microsoft.com/office/drawing/2014/main" id="{65AEBC06-A7F7-9718-CC00-A80EAFD4DF41}"/>
              </a:ext>
            </a:extLst>
          </p:cNvPr>
          <p:cNvSpPr txBox="1"/>
          <p:nvPr/>
        </p:nvSpPr>
        <p:spPr>
          <a:xfrm>
            <a:off x="0" y="1913820"/>
            <a:ext cx="5164317" cy="4939814"/>
          </a:xfrm>
          <a:prstGeom prst="rect">
            <a:avLst/>
          </a:prstGeom>
          <a:noFill/>
        </p:spPr>
        <p:txBody>
          <a:bodyPr wrap="square">
            <a:spAutoFit/>
          </a:bodyPr>
          <a:lstStyle/>
          <a:p>
            <a:r>
              <a:rPr lang="en-US" sz="900" dirty="0">
                <a:solidFill>
                  <a:srgbClr val="000000"/>
                </a:solidFill>
                <a:latin typeface="Cascadia Mono" panose="020B0609020000020004" pitchFamily="49" charset="0"/>
              </a:rPr>
              <a:t>C</a:t>
            </a:r>
            <a:r>
              <a:rPr lang="en-US" sz="900" dirty="0">
                <a:solidFill>
                  <a:srgbClr val="808080"/>
                </a:solidFill>
                <a:latin typeface="Cascadia Mono" panose="020B0609020000020004" pitchFamily="49" charset="0"/>
              </a:rPr>
              <a:t>#</a:t>
            </a:r>
            <a:r>
              <a:rPr lang="en-US" sz="900" dirty="0">
                <a:solidFill>
                  <a:srgbClr val="000000"/>
                </a:solidFill>
                <a:latin typeface="Cascadia Mono" panose="020B0609020000020004" pitchFamily="49" charset="0"/>
              </a:rPr>
              <a:t> </a:t>
            </a:r>
            <a:r>
              <a:rPr lang="en-US" sz="900" dirty="0">
                <a:solidFill>
                  <a:srgbClr val="808080"/>
                </a:solidFill>
                <a:latin typeface="Cascadia Mono" panose="020B0609020000020004" pitchFamily="49" charset="0"/>
              </a:rPr>
              <a:t>program</a:t>
            </a:r>
            <a:r>
              <a:rPr lang="en-US" sz="900" dirty="0">
                <a:solidFill>
                  <a:srgbClr val="000000"/>
                </a:solidFill>
                <a:latin typeface="Cascadia Mono" panose="020B0609020000020004" pitchFamily="49" charset="0"/>
              </a:rPr>
              <a:t> to illustrate the concept of</a:t>
            </a:r>
          </a:p>
          <a:p>
            <a:r>
              <a:rPr lang="en-IN" sz="900" dirty="0">
                <a:solidFill>
                  <a:srgbClr val="008000"/>
                </a:solidFill>
                <a:latin typeface="Cascadia Mono" panose="020B0609020000020004" pitchFamily="49" charset="0"/>
              </a:rPr>
              <a:t>// multiple deconstruction with class</a:t>
            </a:r>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System;</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System.Collections.Generic</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System.Linq</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System.Text</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System.Threading.Tasks</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ConsoleApp1</a:t>
            </a: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a:t>
            </a:r>
            <a:r>
              <a:rPr lang="en-IN" sz="900" dirty="0" err="1">
                <a:solidFill>
                  <a:srgbClr val="008000"/>
                </a:solidFill>
                <a:latin typeface="Cascadia Mono" panose="020B0609020000020004" pitchFamily="49" charset="0"/>
              </a:rPr>
              <a:t>Cutomer</a:t>
            </a:r>
            <a:r>
              <a:rPr lang="en-IN" sz="900" dirty="0">
                <a:solidFill>
                  <a:srgbClr val="008000"/>
                </a:solidFill>
                <a:latin typeface="Cascadia Mono" panose="020B0609020000020004" pitchFamily="49" charset="0"/>
              </a:rPr>
              <a:t> class</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Cutomer</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Creating variables</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string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Afname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string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Alname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string</a:t>
            </a:r>
            <a:r>
              <a:rPr lang="en-IN" sz="900" dirty="0">
                <a:solidFill>
                  <a:srgbClr val="000000"/>
                </a:solidFill>
                <a:latin typeface="Cascadia Mono" panose="020B0609020000020004" pitchFamily="49" charset="0"/>
              </a:rPr>
              <a:t> city;</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int</a:t>
            </a:r>
            <a:r>
              <a:rPr lang="en-IN" sz="900" dirty="0">
                <a:solidFill>
                  <a:srgbClr val="000000"/>
                </a:solidFill>
                <a:latin typeface="Cascadia Mono" panose="020B0609020000020004" pitchFamily="49" charset="0"/>
              </a:rPr>
              <a:t> age;</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int</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Tarticals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string</a:t>
            </a:r>
            <a:r>
              <a:rPr lang="en-IN" sz="900" dirty="0">
                <a:solidFill>
                  <a:srgbClr val="000000"/>
                </a:solidFill>
                <a:latin typeface="Cascadia Mono" panose="020B0609020000020004" pitchFamily="49" charset="0"/>
              </a:rPr>
              <a:t> language;</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double</a:t>
            </a:r>
            <a:r>
              <a:rPr lang="en-IN" sz="900" dirty="0">
                <a:solidFill>
                  <a:srgbClr val="000000"/>
                </a:solidFill>
                <a:latin typeface="Cascadia Mono" panose="020B0609020000020004" pitchFamily="49" charset="0"/>
              </a:rPr>
              <a:t> salary;</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Method</a:t>
            </a:r>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err="1">
                <a:solidFill>
                  <a:srgbClr val="2B91AF"/>
                </a:solidFill>
                <a:latin typeface="Cascadia Mono" panose="020B0609020000020004" pitchFamily="49" charset="0"/>
              </a:rPr>
              <a:t>Cutomer</a:t>
            </a:r>
            <a:r>
              <a:rPr lang="en-US" sz="900" dirty="0">
                <a:solidFill>
                  <a:srgbClr val="000000"/>
                </a:solidFill>
                <a:latin typeface="Cascadia Mono" panose="020B0609020000020004" pitchFamily="49" charset="0"/>
              </a:rPr>
              <a:t>(</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_</a:t>
            </a:r>
            <a:r>
              <a:rPr lang="en-US" sz="900" dirty="0" err="1">
                <a:solidFill>
                  <a:srgbClr val="000000"/>
                </a:solidFill>
                <a:latin typeface="Cascadia Mono" panose="020B0609020000020004" pitchFamily="49" charset="0"/>
              </a:rPr>
              <a:t>AuthorFirstName</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_</a:t>
            </a:r>
            <a:r>
              <a:rPr lang="en-US" sz="900" dirty="0" err="1">
                <a:solidFill>
                  <a:srgbClr val="000000"/>
                </a:solidFill>
                <a:latin typeface="Cascadia Mono" panose="020B0609020000020004" pitchFamily="49" charset="0"/>
              </a:rPr>
              <a:t>AuthorLastName</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_City, </a:t>
            </a:r>
            <a:r>
              <a:rPr lang="en-US" sz="900" dirty="0">
                <a:solidFill>
                  <a:srgbClr val="0000FF"/>
                </a:solidFill>
                <a:latin typeface="Cascadia Mono" panose="020B0609020000020004" pitchFamily="49" charset="0"/>
              </a:rPr>
              <a:t>int</a:t>
            </a:r>
            <a:r>
              <a:rPr lang="en-US" sz="900" dirty="0">
                <a:solidFill>
                  <a:srgbClr val="000000"/>
                </a:solidFill>
                <a:latin typeface="Cascadia Mono" panose="020B0609020000020004" pitchFamily="49" charset="0"/>
              </a:rPr>
              <a:t> _Age, </a:t>
            </a:r>
            <a:r>
              <a:rPr lang="en-US" sz="900" dirty="0">
                <a:solidFill>
                  <a:srgbClr val="0000FF"/>
                </a:solidFill>
                <a:latin typeface="Cascadia Mono" panose="020B0609020000020004" pitchFamily="49" charset="0"/>
              </a:rPr>
              <a:t>int</a:t>
            </a:r>
            <a:r>
              <a:rPr lang="en-US" sz="900" dirty="0">
                <a:solidFill>
                  <a:srgbClr val="000000"/>
                </a:solidFill>
                <a:latin typeface="Cascadia Mono" panose="020B0609020000020004" pitchFamily="49" charset="0"/>
              </a:rPr>
              <a:t> _</a:t>
            </a:r>
            <a:r>
              <a:rPr lang="en-US" sz="900" dirty="0" err="1">
                <a:solidFill>
                  <a:srgbClr val="000000"/>
                </a:solidFill>
                <a:latin typeface="Cascadia Mono" panose="020B0609020000020004" pitchFamily="49" charset="0"/>
              </a:rPr>
              <a:t>TotalArticals</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string</a:t>
            </a:r>
            <a:r>
              <a:rPr lang="en-IN" sz="900" dirty="0">
                <a:solidFill>
                  <a:srgbClr val="000000"/>
                </a:solidFill>
                <a:latin typeface="Cascadia Mono" panose="020B0609020000020004" pitchFamily="49" charset="0"/>
              </a:rPr>
              <a:t> _Language, </a:t>
            </a:r>
            <a:r>
              <a:rPr lang="en-IN" sz="900" dirty="0">
                <a:solidFill>
                  <a:srgbClr val="0000FF"/>
                </a:solidFill>
                <a:latin typeface="Cascadia Mono" panose="020B0609020000020004" pitchFamily="49" charset="0"/>
              </a:rPr>
              <a:t>double</a:t>
            </a:r>
            <a:r>
              <a:rPr lang="en-IN" sz="900" dirty="0">
                <a:solidFill>
                  <a:srgbClr val="000000"/>
                </a:solidFill>
                <a:latin typeface="Cascadia Mono" panose="020B0609020000020004" pitchFamily="49" charset="0"/>
              </a:rPr>
              <a:t> _Salary)</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age = _Age;</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Afname</a:t>
            </a:r>
            <a:r>
              <a:rPr lang="en-IN" sz="900" dirty="0">
                <a:solidFill>
                  <a:srgbClr val="000000"/>
                </a:solidFill>
                <a:latin typeface="Cascadia Mono" panose="020B0609020000020004" pitchFamily="49" charset="0"/>
              </a:rPr>
              <a:t> = _</a:t>
            </a:r>
            <a:r>
              <a:rPr lang="en-IN" sz="900" dirty="0" err="1">
                <a:solidFill>
                  <a:srgbClr val="000000"/>
                </a:solidFill>
                <a:latin typeface="Cascadia Mono" panose="020B0609020000020004" pitchFamily="49" charset="0"/>
              </a:rPr>
              <a:t>AuthorFirstName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Alname</a:t>
            </a:r>
            <a:r>
              <a:rPr lang="en-IN" sz="900" dirty="0">
                <a:solidFill>
                  <a:srgbClr val="000000"/>
                </a:solidFill>
                <a:latin typeface="Cascadia Mono" panose="020B0609020000020004" pitchFamily="49" charset="0"/>
              </a:rPr>
              <a:t> = _</a:t>
            </a:r>
            <a:r>
              <a:rPr lang="en-IN" sz="900" dirty="0" err="1">
                <a:solidFill>
                  <a:srgbClr val="000000"/>
                </a:solidFill>
                <a:latin typeface="Cascadia Mono" panose="020B0609020000020004" pitchFamily="49" charset="0"/>
              </a:rPr>
              <a:t>AuthorLastName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city = _City;</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Tarticals</a:t>
            </a:r>
            <a:r>
              <a:rPr lang="en-IN" sz="900" dirty="0">
                <a:solidFill>
                  <a:srgbClr val="000000"/>
                </a:solidFill>
                <a:latin typeface="Cascadia Mono" panose="020B0609020000020004" pitchFamily="49" charset="0"/>
              </a:rPr>
              <a:t> = _</a:t>
            </a:r>
            <a:r>
              <a:rPr lang="en-IN" sz="900" dirty="0" err="1">
                <a:solidFill>
                  <a:srgbClr val="000000"/>
                </a:solidFill>
                <a:latin typeface="Cascadia Mono" panose="020B0609020000020004" pitchFamily="49" charset="0"/>
              </a:rPr>
              <a:t>TotalArticals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language = _Language;</a:t>
            </a:r>
          </a:p>
          <a:p>
            <a:r>
              <a:rPr lang="en-IN" sz="900" dirty="0">
                <a:solidFill>
                  <a:srgbClr val="000000"/>
                </a:solidFill>
                <a:latin typeface="Cascadia Mono" panose="020B0609020000020004" pitchFamily="49" charset="0"/>
              </a:rPr>
              <a:t>            salary = _Salary;</a:t>
            </a:r>
          </a:p>
          <a:p>
            <a:r>
              <a:rPr lang="en-IN" sz="900" dirty="0">
                <a:solidFill>
                  <a:srgbClr val="000000"/>
                </a:solidFill>
                <a:latin typeface="Cascadia Mono" panose="020B0609020000020004" pitchFamily="49" charset="0"/>
              </a:rPr>
              <a:t>        }</a:t>
            </a:r>
          </a:p>
        </p:txBody>
      </p:sp>
      <p:sp>
        <p:nvSpPr>
          <p:cNvPr id="11" name="TextBox 10">
            <a:extLst>
              <a:ext uri="{FF2B5EF4-FFF2-40B4-BE49-F238E27FC236}">
                <a16:creationId xmlns:a16="http://schemas.microsoft.com/office/drawing/2014/main" id="{8212BFF6-2D5D-CD3E-54BD-9C4F356A90FB}"/>
              </a:ext>
            </a:extLst>
          </p:cNvPr>
          <p:cNvSpPr txBox="1"/>
          <p:nvPr/>
        </p:nvSpPr>
        <p:spPr>
          <a:xfrm>
            <a:off x="4542149" y="1720739"/>
            <a:ext cx="7648279" cy="577081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8000"/>
                </a:solidFill>
                <a:effectLst/>
                <a:uLnTx/>
                <a:uFillTx/>
                <a:latin typeface="Cascadia Mono" panose="020B0609020000020004" pitchFamily="49" charset="0"/>
                <a:ea typeface="+mn-ea"/>
                <a:cs typeface="+mn-cs"/>
              </a:rPr>
              <a:t>Deconstructor</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1</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void</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Deconstruct(</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out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string</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AuthorFirstName,</a:t>
            </a:r>
            <a:r>
              <a:rPr kumimoji="0" lang="en-US" sz="900" b="0" i="0" u="none" strike="noStrike" kern="1200" cap="none" spc="0" normalizeH="0" baseline="0" noProof="0" dirty="0" err="1">
                <a:ln>
                  <a:noFill/>
                </a:ln>
                <a:solidFill>
                  <a:srgbClr val="0000FF"/>
                </a:solidFill>
                <a:effectLst/>
                <a:uLnTx/>
                <a:uFillTx/>
                <a:latin typeface="Cascadia Mono" panose="020B0609020000020004" pitchFamily="49" charset="0"/>
                <a:ea typeface="+mn-ea"/>
                <a:cs typeface="+mn-cs"/>
              </a:rPr>
              <a:t>out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string</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AuthorLastName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out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string</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_City)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AuthorFirstName</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Afname</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AuthorLastName</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Alname</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_City = city;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8000"/>
                </a:solidFill>
                <a:effectLst/>
                <a:uLnTx/>
                <a:uFillTx/>
                <a:latin typeface="Cascadia Mono" panose="020B0609020000020004" pitchFamily="49" charset="0"/>
                <a:ea typeface="+mn-ea"/>
                <a:cs typeface="+mn-cs"/>
              </a:rPr>
              <a:t>Deconstructor</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2</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void</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Deconstruct(</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out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_Age,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out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TotalArticals</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out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string</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_Language,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out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double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_Salary)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_Age = age;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TotalArticals</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Tarticals</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_Language = language;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_Salary = salary;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class</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2B91AF"/>
                </a:solidFill>
                <a:effectLst/>
                <a:uLnTx/>
                <a:uFillTx/>
                <a:latin typeface="Cascadia Mono" panose="020B0609020000020004" pitchFamily="49" charset="0"/>
                <a:ea typeface="+mn-ea"/>
                <a:cs typeface="+mn-cs"/>
              </a:rPr>
              <a:t>GFG</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Main method</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static</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public</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void</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Main()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Creating object of </a:t>
            </a:r>
            <a:r>
              <a:rPr kumimoji="0" lang="en-US" sz="900" b="0" i="0" u="none" strike="noStrike" kern="1200" cap="none" spc="0" normalizeH="0" baseline="0" noProof="0" dirty="0" err="1">
                <a:ln>
                  <a:noFill/>
                </a:ln>
                <a:solidFill>
                  <a:srgbClr val="008000"/>
                </a:solidFill>
                <a:effectLst/>
                <a:uLnTx/>
                <a:uFillTx/>
                <a:latin typeface="Cascadia Mono" panose="020B0609020000020004" pitchFamily="49" charset="0"/>
                <a:ea typeface="+mn-ea"/>
                <a:cs typeface="+mn-cs"/>
              </a:rPr>
              <a:t>Cutomer</a:t>
            </a:r>
            <a:r>
              <a:rPr kumimoji="0" lang="en-US"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class</a:t>
            </a:r>
            <a:endPar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Cutomer</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obj =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new</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Cutomer</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9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"Sona"</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"Singh"</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s-E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s-ES" sz="9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"Jaipur"</a:t>
            </a:r>
            <a:r>
              <a:rPr kumimoji="0" lang="es-E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20, 120, </a:t>
            </a:r>
            <a:r>
              <a:rPr kumimoji="0" lang="es-ES" sz="9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"C#"</a:t>
            </a:r>
            <a:r>
              <a:rPr kumimoji="0" lang="es-E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40000.0);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Deconstruct the instance of</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the </a:t>
            </a:r>
            <a:r>
              <a:rPr kumimoji="0" lang="en-US" sz="900" b="0" i="0" u="none" strike="noStrike" kern="1200" cap="none" spc="0" normalizeH="0" baseline="0" noProof="0" dirty="0" err="1">
                <a:ln>
                  <a:noFill/>
                </a:ln>
                <a:solidFill>
                  <a:srgbClr val="008000"/>
                </a:solidFill>
                <a:effectLst/>
                <a:uLnTx/>
                <a:uFillTx/>
                <a:latin typeface="Cascadia Mono" panose="020B0609020000020004" pitchFamily="49" charset="0"/>
                <a:ea typeface="+mn-ea"/>
                <a:cs typeface="+mn-cs"/>
              </a:rPr>
              <a:t>Cutomer</a:t>
            </a:r>
            <a:r>
              <a:rPr kumimoji="0" lang="en-US"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class named as obj</a:t>
            </a:r>
            <a:endPar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Age,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int</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TotalArticals</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string</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Language,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double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Salary) = obj;</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string</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AuthorFirstName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string</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AuthorLastName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string</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City) = obj;</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Displaying the values</a:t>
            </a: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Console.WriteLine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9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"Details of the Author:"</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Console.WriteLine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9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"First Name:{0}"</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AuthorFirstName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Console.WriteLine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9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"Last Name:{0}"</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AuthorLastName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Console.WriteLine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9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"Age:{0}"</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Console.WriteLine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9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"City Name:{0}"</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City);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Console.WriteLine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9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"Total number of articles:{0}"</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TotalArticals</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Console.WriteLine</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IN" sz="9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"Language:{0}"</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Language);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Console.WriteLine</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US" sz="9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"Salary :{0}"</a:t>
            </a:r>
            <a:r>
              <a:rPr kumimoji="0" lang="en-US"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Salary);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9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Console.ReadLine</a:t>
            </a: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2041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3A9A35F-BB58-A266-7BDE-981BF3DF6796}"/>
              </a:ext>
            </a:extLst>
          </p:cNvPr>
          <p:cNvSpPr txBox="1"/>
          <p:nvPr/>
        </p:nvSpPr>
        <p:spPr>
          <a:xfrm>
            <a:off x="1571" y="146017"/>
            <a:ext cx="11923335" cy="1754326"/>
          </a:xfrm>
          <a:prstGeom prst="rect">
            <a:avLst/>
          </a:prstGeom>
          <a:noFill/>
        </p:spPr>
        <p:txBody>
          <a:bodyPr wrap="square">
            <a:spAutoFit/>
          </a:bodyPr>
          <a:lstStyle/>
          <a:p>
            <a:r>
              <a:rPr lang="en-US" b="1" i="0" dirty="0">
                <a:effectLst/>
                <a:latin typeface="Roboto" panose="02000000000000000000" pitchFamily="2" charset="0"/>
              </a:rPr>
              <a:t>Deconstructing an object in </a:t>
            </a:r>
            <a:r>
              <a:rPr lang="en-US" b="1" i="0" u="sng" dirty="0">
                <a:effectLst/>
                <a:latin typeface="Roboto" panose="02000000000000000000" pitchFamily="2" charset="0"/>
                <a:hlinkClick r:id="rId2">
                  <a:extLst>
                    <a:ext uri="{A12FA001-AC4F-418D-AE19-62706E023703}">
                      <ahyp:hlinkClr xmlns:ahyp="http://schemas.microsoft.com/office/drawing/2018/hyperlinkcolor" val="tx"/>
                    </a:ext>
                  </a:extLst>
                </a:hlinkClick>
              </a:rPr>
              <a:t>C#</a:t>
            </a:r>
            <a:r>
              <a:rPr lang="en-US" b="1" i="0" dirty="0">
                <a:effectLst/>
                <a:latin typeface="Roboto" panose="02000000000000000000" pitchFamily="2" charset="0"/>
              </a:rPr>
              <a:t> like JavaScript </a:t>
            </a:r>
            <a:r>
              <a:rPr lang="en-US" b="0" i="0" dirty="0">
                <a:effectLst/>
                <a:latin typeface="Roboto" panose="02000000000000000000" pitchFamily="2" charset="0"/>
              </a:rPr>
              <a:t>has been possible in </a:t>
            </a:r>
            <a:r>
              <a:rPr lang="en-US" b="0" i="0" u="sng" dirty="0">
                <a:effectLst/>
                <a:latin typeface="Roboto" panose="02000000000000000000" pitchFamily="2" charset="0"/>
                <a:hlinkClick r:id="rId2">
                  <a:extLst>
                    <a:ext uri="{A12FA001-AC4F-418D-AE19-62706E023703}">
                      <ahyp:hlinkClr xmlns:ahyp="http://schemas.microsoft.com/office/drawing/2018/hyperlinkcolor" val="tx"/>
                    </a:ext>
                  </a:extLst>
                </a:hlinkClick>
              </a:rPr>
              <a:t>C#</a:t>
            </a:r>
            <a:r>
              <a:rPr lang="en-US" b="0" i="0" dirty="0">
                <a:effectLst/>
                <a:latin typeface="Roboto" panose="02000000000000000000" pitchFamily="2" charset="0"/>
              </a:rPr>
              <a:t> for some time now. There are two syntaxes to achieve our ends: the first syntax which allows in a single line of code to declare and assign the variables that will contain the values of our deconstructed object. The second allows you to declare variables, to initialize them and then to assign them the values of the deconstructed object. The first syntax is the simplest but does not allow you to initialize the variables while the second allows it but in return you will write more than one line of code. </a:t>
            </a:r>
            <a:r>
              <a:rPr lang="en-US" b="0" i="0" u="sng" dirty="0">
                <a:effectLst/>
                <a:latin typeface="Roboto" panose="02000000000000000000" pitchFamily="2" charset="0"/>
                <a:hlinkClick r:id="rId3">
                  <a:extLst>
                    <a:ext uri="{A12FA001-AC4F-418D-AE19-62706E023703}">
                      <ahyp:hlinkClr xmlns:ahyp="http://schemas.microsoft.com/office/drawing/2018/hyperlinkcolor" val="tx"/>
                    </a:ext>
                  </a:extLst>
                </a:hlinkClick>
              </a:rPr>
              <a:t>C# 10</a:t>
            </a:r>
            <a:r>
              <a:rPr lang="en-US" b="0" i="0" dirty="0">
                <a:effectLst/>
                <a:latin typeface="Roboto" panose="02000000000000000000" pitchFamily="2" charset="0"/>
              </a:rPr>
              <a:t> allows you to mix these two syntaxes, </a:t>
            </a:r>
            <a:endParaRPr lang="en-IN" dirty="0"/>
          </a:p>
        </p:txBody>
      </p:sp>
      <p:sp>
        <p:nvSpPr>
          <p:cNvPr id="3" name="TextBox 2">
            <a:extLst>
              <a:ext uri="{FF2B5EF4-FFF2-40B4-BE49-F238E27FC236}">
                <a16:creationId xmlns:a16="http://schemas.microsoft.com/office/drawing/2014/main" id="{625A1F50-3C2C-F85A-0E5D-338BFC89B0B1}"/>
              </a:ext>
            </a:extLst>
          </p:cNvPr>
          <p:cNvSpPr txBox="1"/>
          <p:nvPr/>
        </p:nvSpPr>
        <p:spPr>
          <a:xfrm>
            <a:off x="80128" y="2225720"/>
            <a:ext cx="6117996" cy="3970318"/>
          </a:xfrm>
          <a:prstGeom prst="rect">
            <a:avLst/>
          </a:prstGeom>
          <a:noFill/>
        </p:spPr>
        <p:txBody>
          <a:bodyPr wrap="square">
            <a:spAutoFit/>
          </a:bodyPr>
          <a:lstStyle/>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System;</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Person</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FirstName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LastName</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US" sz="900" dirty="0">
                <a:solidFill>
                  <a:srgbClr val="000000"/>
                </a:solidFill>
                <a:highlight>
                  <a:srgbClr val="FFFF00"/>
                </a:highlight>
                <a:latin typeface="Cascadia Mono" panose="020B0609020000020004" pitchFamily="49" charset="0"/>
              </a:rPr>
              <a:t>    </a:t>
            </a:r>
            <a:r>
              <a:rPr lang="en-US" sz="900" dirty="0">
                <a:solidFill>
                  <a:srgbClr val="0000FF"/>
                </a:solidFill>
                <a:highlight>
                  <a:srgbClr val="FFFF00"/>
                </a:highlight>
                <a:latin typeface="Cascadia Mono" panose="020B0609020000020004" pitchFamily="49" charset="0"/>
              </a:rPr>
              <a:t>public</a:t>
            </a:r>
            <a:r>
              <a:rPr lang="en-US" sz="900" dirty="0">
                <a:solidFill>
                  <a:srgbClr val="000000"/>
                </a:solidFill>
                <a:highlight>
                  <a:srgbClr val="FFFF00"/>
                </a:highlight>
                <a:latin typeface="Cascadia Mono" panose="020B0609020000020004" pitchFamily="49" charset="0"/>
              </a:rPr>
              <a:t> </a:t>
            </a:r>
            <a:r>
              <a:rPr lang="en-US" sz="900" dirty="0">
                <a:solidFill>
                  <a:srgbClr val="0000FF"/>
                </a:solidFill>
                <a:highlight>
                  <a:srgbClr val="FFFF00"/>
                </a:highlight>
                <a:latin typeface="Cascadia Mono" panose="020B0609020000020004" pitchFamily="49" charset="0"/>
              </a:rPr>
              <a:t>void</a:t>
            </a:r>
            <a:r>
              <a:rPr lang="en-US" sz="900" dirty="0">
                <a:solidFill>
                  <a:srgbClr val="000000"/>
                </a:solidFill>
                <a:highlight>
                  <a:srgbClr val="FFFF00"/>
                </a:highlight>
                <a:latin typeface="Cascadia Mono" panose="020B0609020000020004" pitchFamily="49" charset="0"/>
              </a:rPr>
              <a:t> Deconstruct(</a:t>
            </a:r>
            <a:r>
              <a:rPr lang="en-US" sz="900" dirty="0">
                <a:solidFill>
                  <a:srgbClr val="0000FF"/>
                </a:solidFill>
                <a:highlight>
                  <a:srgbClr val="FFFF00"/>
                </a:highlight>
                <a:latin typeface="Cascadia Mono" panose="020B0609020000020004" pitchFamily="49" charset="0"/>
              </a:rPr>
              <a:t>out</a:t>
            </a:r>
            <a:r>
              <a:rPr lang="en-US" sz="900" dirty="0">
                <a:solidFill>
                  <a:srgbClr val="000000"/>
                </a:solidFill>
                <a:highlight>
                  <a:srgbClr val="FFFF00"/>
                </a:highlight>
                <a:latin typeface="Cascadia Mono" panose="020B0609020000020004" pitchFamily="49" charset="0"/>
              </a:rPr>
              <a:t> </a:t>
            </a:r>
            <a:r>
              <a:rPr lang="en-US" sz="900" dirty="0">
                <a:solidFill>
                  <a:srgbClr val="0000FF"/>
                </a:solidFill>
                <a:highlight>
                  <a:srgbClr val="FFFF00"/>
                </a:highlight>
                <a:latin typeface="Cascadia Mono" panose="020B0609020000020004" pitchFamily="49" charset="0"/>
              </a:rPr>
              <a:t>string</a:t>
            </a:r>
            <a:r>
              <a:rPr lang="en-US" sz="900" dirty="0">
                <a:solidFill>
                  <a:srgbClr val="000000"/>
                </a:solidFill>
                <a:highlight>
                  <a:srgbClr val="FFFF00"/>
                </a:highlight>
                <a:latin typeface="Cascadia Mono" panose="020B0609020000020004" pitchFamily="49" charset="0"/>
              </a:rPr>
              <a:t> </a:t>
            </a:r>
            <a:r>
              <a:rPr lang="en-US" sz="900" dirty="0" err="1">
                <a:solidFill>
                  <a:srgbClr val="000000"/>
                </a:solidFill>
                <a:highlight>
                  <a:srgbClr val="FFFF00"/>
                </a:highlight>
                <a:latin typeface="Cascadia Mono" panose="020B0609020000020004" pitchFamily="49" charset="0"/>
              </a:rPr>
              <a:t>firstName</a:t>
            </a:r>
            <a:r>
              <a:rPr lang="en-US" sz="900" dirty="0">
                <a:solidFill>
                  <a:srgbClr val="000000"/>
                </a:solidFill>
                <a:highlight>
                  <a:srgbClr val="FFFF00"/>
                </a:highlight>
                <a:latin typeface="Cascadia Mono" panose="020B0609020000020004" pitchFamily="49" charset="0"/>
              </a:rPr>
              <a:t>, </a:t>
            </a:r>
            <a:r>
              <a:rPr lang="en-US" sz="900" dirty="0">
                <a:solidFill>
                  <a:srgbClr val="0000FF"/>
                </a:solidFill>
                <a:highlight>
                  <a:srgbClr val="FFFF00"/>
                </a:highlight>
                <a:latin typeface="Cascadia Mono" panose="020B0609020000020004" pitchFamily="49" charset="0"/>
              </a:rPr>
              <a:t>out</a:t>
            </a:r>
            <a:r>
              <a:rPr lang="en-US" sz="900" dirty="0">
                <a:solidFill>
                  <a:srgbClr val="000000"/>
                </a:solidFill>
                <a:highlight>
                  <a:srgbClr val="FFFF00"/>
                </a:highlight>
                <a:latin typeface="Cascadia Mono" panose="020B0609020000020004" pitchFamily="49" charset="0"/>
              </a:rPr>
              <a:t> </a:t>
            </a:r>
            <a:r>
              <a:rPr lang="en-US" sz="900" dirty="0">
                <a:solidFill>
                  <a:srgbClr val="0000FF"/>
                </a:solidFill>
                <a:highlight>
                  <a:srgbClr val="FFFF00"/>
                </a:highlight>
                <a:latin typeface="Cascadia Mono" panose="020B0609020000020004" pitchFamily="49" charset="0"/>
              </a:rPr>
              <a:t>string</a:t>
            </a:r>
            <a:r>
              <a:rPr lang="en-US" sz="900" dirty="0">
                <a:solidFill>
                  <a:srgbClr val="000000"/>
                </a:solidFill>
                <a:highlight>
                  <a:srgbClr val="FFFF00"/>
                </a:highlight>
                <a:latin typeface="Cascadia Mono" panose="020B0609020000020004" pitchFamily="49" charset="0"/>
              </a:rPr>
              <a:t> </a:t>
            </a:r>
            <a:r>
              <a:rPr lang="en-US" sz="900" dirty="0" err="1">
                <a:solidFill>
                  <a:srgbClr val="000000"/>
                </a:solidFill>
                <a:highlight>
                  <a:srgbClr val="FFFF00"/>
                </a:highlight>
                <a:latin typeface="Cascadia Mono" panose="020B0609020000020004" pitchFamily="49" charset="0"/>
              </a:rPr>
              <a:t>lastName</a:t>
            </a:r>
            <a:r>
              <a:rPr lang="en-US" sz="900" dirty="0">
                <a:solidFill>
                  <a:srgbClr val="000000"/>
                </a:solidFill>
                <a:highlight>
                  <a:srgbClr val="FFFF00"/>
                </a:highlight>
                <a:latin typeface="Cascadia Mono" panose="020B0609020000020004" pitchFamily="49" charset="0"/>
              </a:rPr>
              <a:t>) =&gt;</a:t>
            </a:r>
          </a:p>
          <a:p>
            <a:r>
              <a:rPr lang="en-US" sz="900" dirty="0">
                <a:solidFill>
                  <a:srgbClr val="000000"/>
                </a:solidFill>
                <a:highlight>
                  <a:srgbClr val="FFFF00"/>
                </a:highlight>
                <a:latin typeface="Cascadia Mono" panose="020B0609020000020004" pitchFamily="49" charset="0"/>
              </a:rPr>
              <a:t>        (</a:t>
            </a:r>
            <a:r>
              <a:rPr lang="en-US" sz="900" dirty="0" err="1">
                <a:solidFill>
                  <a:srgbClr val="000000"/>
                </a:solidFill>
                <a:highlight>
                  <a:srgbClr val="FFFF00"/>
                </a:highlight>
                <a:latin typeface="Cascadia Mono" panose="020B0609020000020004" pitchFamily="49" charset="0"/>
              </a:rPr>
              <a:t>firstName</a:t>
            </a:r>
            <a:r>
              <a:rPr lang="en-US" sz="900" dirty="0">
                <a:solidFill>
                  <a:srgbClr val="000000"/>
                </a:solidFill>
                <a:highlight>
                  <a:srgbClr val="FFFF00"/>
                </a:highlight>
                <a:latin typeface="Cascadia Mono" panose="020B0609020000020004" pitchFamily="49" charset="0"/>
              </a:rPr>
              <a:t>, </a:t>
            </a:r>
            <a:r>
              <a:rPr lang="en-US" sz="900" dirty="0" err="1">
                <a:solidFill>
                  <a:srgbClr val="000000"/>
                </a:solidFill>
                <a:highlight>
                  <a:srgbClr val="FFFF00"/>
                </a:highlight>
                <a:latin typeface="Cascadia Mono" panose="020B0609020000020004" pitchFamily="49" charset="0"/>
              </a:rPr>
              <a:t>lastName</a:t>
            </a:r>
            <a:r>
              <a:rPr lang="en-US" sz="900" dirty="0">
                <a:solidFill>
                  <a:srgbClr val="000000"/>
                </a:solidFill>
                <a:highlight>
                  <a:srgbClr val="FFFF00"/>
                </a:highlight>
                <a:latin typeface="Cascadia Mono" panose="020B0609020000020004" pitchFamily="49" charset="0"/>
              </a:rPr>
              <a:t>) = (</a:t>
            </a:r>
            <a:r>
              <a:rPr lang="en-US" sz="900" dirty="0" err="1">
                <a:solidFill>
                  <a:srgbClr val="0000FF"/>
                </a:solidFill>
                <a:highlight>
                  <a:srgbClr val="FFFF00"/>
                </a:highlight>
                <a:latin typeface="Cascadia Mono" panose="020B0609020000020004" pitchFamily="49" charset="0"/>
              </a:rPr>
              <a:t>this</a:t>
            </a:r>
            <a:r>
              <a:rPr lang="en-US" sz="900" dirty="0" err="1">
                <a:solidFill>
                  <a:srgbClr val="000000"/>
                </a:solidFill>
                <a:highlight>
                  <a:srgbClr val="FFFF00"/>
                </a:highlight>
                <a:latin typeface="Cascadia Mono" panose="020B0609020000020004" pitchFamily="49" charset="0"/>
              </a:rPr>
              <a:t>.FirstName</a:t>
            </a:r>
            <a:r>
              <a:rPr lang="en-US" sz="900" dirty="0">
                <a:solidFill>
                  <a:srgbClr val="000000"/>
                </a:solidFill>
                <a:highlight>
                  <a:srgbClr val="FFFF00"/>
                </a:highlight>
                <a:latin typeface="Cascadia Mono" panose="020B0609020000020004" pitchFamily="49" charset="0"/>
              </a:rPr>
              <a:t>, </a:t>
            </a:r>
            <a:r>
              <a:rPr lang="en-US" sz="900" dirty="0" err="1">
                <a:solidFill>
                  <a:srgbClr val="0000FF"/>
                </a:solidFill>
                <a:highlight>
                  <a:srgbClr val="FFFF00"/>
                </a:highlight>
                <a:latin typeface="Cascadia Mono" panose="020B0609020000020004" pitchFamily="49" charset="0"/>
              </a:rPr>
              <a:t>this</a:t>
            </a:r>
            <a:r>
              <a:rPr lang="en-US" sz="900" dirty="0" err="1">
                <a:solidFill>
                  <a:srgbClr val="000000"/>
                </a:solidFill>
                <a:highlight>
                  <a:srgbClr val="FFFF00"/>
                </a:highlight>
                <a:latin typeface="Cascadia Mono" panose="020B0609020000020004" pitchFamily="49" charset="0"/>
              </a:rPr>
              <a:t>.LastName</a:t>
            </a:r>
            <a:r>
              <a:rPr lang="en-US" sz="900" dirty="0">
                <a:solidFill>
                  <a:srgbClr val="000000"/>
                </a:solidFill>
                <a:highlight>
                  <a:srgbClr val="FFFF00"/>
                </a:highlight>
                <a:latin typeface="Cascadia Mono" panose="020B0609020000020004" pitchFamily="49" charset="0"/>
              </a:rPr>
              <a:t>);</a:t>
            </a:r>
          </a:p>
          <a:p>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Main(</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person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Person</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FirstName = </a:t>
            </a:r>
            <a:r>
              <a:rPr lang="en-IN" sz="900" dirty="0">
                <a:solidFill>
                  <a:srgbClr val="A31515"/>
                </a:solidFill>
                <a:latin typeface="Cascadia Mono" panose="020B0609020000020004" pitchFamily="49" charset="0"/>
              </a:rPr>
              <a:t>"Anthony"</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LastName</a:t>
            </a:r>
            <a:r>
              <a:rPr lang="en-IN" sz="900" dirty="0">
                <a:solidFill>
                  <a:srgbClr val="000000"/>
                </a:solidFill>
                <a:latin typeface="Cascadia Mono" panose="020B0609020000020004" pitchFamily="49" charset="0"/>
              </a:rPr>
              <a:t> = </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Giretti</a:t>
            </a:r>
            <a:r>
              <a:rPr lang="en-IN" sz="900" dirty="0">
                <a:solidFill>
                  <a:srgbClr val="A31515"/>
                </a:solidFill>
                <a:latin typeface="Cascadia Mono" panose="020B0609020000020004" pitchFamily="49" charset="0"/>
              </a:rPr>
              <a: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highlight>
                  <a:srgbClr val="FFFF00"/>
                </a:highlight>
                <a:latin typeface="Cascadia Mono" panose="020B0609020000020004" pitchFamily="49" charset="0"/>
              </a:rPr>
              <a:t>        </a:t>
            </a:r>
            <a:r>
              <a:rPr lang="en-IN" sz="900" dirty="0">
                <a:solidFill>
                  <a:srgbClr val="0000FF"/>
                </a:solidFill>
                <a:highlight>
                  <a:srgbClr val="FFFF00"/>
                </a:highlight>
                <a:latin typeface="Cascadia Mono" panose="020B0609020000020004" pitchFamily="49" charset="0"/>
              </a:rPr>
              <a:t>string</a:t>
            </a:r>
            <a:r>
              <a:rPr lang="en-IN" sz="900" dirty="0">
                <a:solidFill>
                  <a:srgbClr val="000000"/>
                </a:solidFill>
                <a:highlight>
                  <a:srgbClr val="FFFF00"/>
                </a:highlight>
                <a:latin typeface="Cascadia Mono" panose="020B0609020000020004" pitchFamily="49" charset="0"/>
              </a:rPr>
              <a:t> firstname2 = </a:t>
            </a:r>
            <a:r>
              <a:rPr lang="en-IN" sz="900" dirty="0" err="1">
                <a:solidFill>
                  <a:srgbClr val="0000FF"/>
                </a:solidFill>
                <a:highlight>
                  <a:srgbClr val="FFFF00"/>
                </a:highlight>
                <a:latin typeface="Cascadia Mono" panose="020B0609020000020004" pitchFamily="49" charset="0"/>
              </a:rPr>
              <a:t>string</a:t>
            </a:r>
            <a:r>
              <a:rPr lang="en-IN" sz="900" dirty="0" err="1">
                <a:solidFill>
                  <a:srgbClr val="000000"/>
                </a:solidFill>
                <a:highlight>
                  <a:srgbClr val="FFFF00"/>
                </a:highlight>
                <a:latin typeface="Cascadia Mono" panose="020B0609020000020004" pitchFamily="49" charset="0"/>
              </a:rPr>
              <a:t>.Empty</a:t>
            </a:r>
            <a:r>
              <a:rPr lang="en-IN" sz="900" dirty="0">
                <a:solidFill>
                  <a:srgbClr val="000000"/>
                </a:solidFill>
                <a:highlight>
                  <a:srgbClr val="FFFF00"/>
                </a:highlight>
                <a:latin typeface="Cascadia Mono" panose="020B0609020000020004" pitchFamily="49" charset="0"/>
              </a:rPr>
              <a:t>;</a:t>
            </a:r>
          </a:p>
          <a:p>
            <a:r>
              <a:rPr lang="en-IN" sz="900" dirty="0">
                <a:solidFill>
                  <a:srgbClr val="000000"/>
                </a:solidFill>
                <a:highlight>
                  <a:srgbClr val="FFFF00"/>
                </a:highlight>
                <a:latin typeface="Cascadia Mono" panose="020B0609020000020004" pitchFamily="49" charset="0"/>
              </a:rPr>
              <a:t>        </a:t>
            </a:r>
            <a:r>
              <a:rPr lang="en-IN" sz="900" dirty="0">
                <a:solidFill>
                  <a:srgbClr val="0000FF"/>
                </a:solidFill>
                <a:highlight>
                  <a:srgbClr val="FFFF00"/>
                </a:highlight>
                <a:latin typeface="Cascadia Mono" panose="020B0609020000020004" pitchFamily="49" charset="0"/>
              </a:rPr>
              <a:t>string</a:t>
            </a:r>
            <a:r>
              <a:rPr lang="en-IN" sz="900" dirty="0">
                <a:solidFill>
                  <a:srgbClr val="000000"/>
                </a:solidFill>
                <a:highlight>
                  <a:srgbClr val="FFFF00"/>
                </a:highlight>
                <a:latin typeface="Cascadia Mono" panose="020B0609020000020004" pitchFamily="49" charset="0"/>
              </a:rPr>
              <a:t> lastname2 = </a:t>
            </a:r>
            <a:r>
              <a:rPr lang="en-IN" sz="900" dirty="0" err="1">
                <a:solidFill>
                  <a:srgbClr val="0000FF"/>
                </a:solidFill>
                <a:highlight>
                  <a:srgbClr val="FFFF00"/>
                </a:highlight>
                <a:latin typeface="Cascadia Mono" panose="020B0609020000020004" pitchFamily="49" charset="0"/>
              </a:rPr>
              <a:t>string</a:t>
            </a:r>
            <a:r>
              <a:rPr lang="en-IN" sz="900" dirty="0" err="1">
                <a:solidFill>
                  <a:srgbClr val="000000"/>
                </a:solidFill>
                <a:highlight>
                  <a:srgbClr val="FFFF00"/>
                </a:highlight>
                <a:latin typeface="Cascadia Mono" panose="020B0609020000020004" pitchFamily="49" charset="0"/>
              </a:rPr>
              <a:t>.Empty</a:t>
            </a:r>
            <a:r>
              <a:rPr lang="en-IN" sz="900" dirty="0">
                <a:solidFill>
                  <a:srgbClr val="000000"/>
                </a:solidFill>
                <a:highlight>
                  <a:srgbClr val="FFFF00"/>
                </a:highlight>
                <a:latin typeface="Cascadia Mono" panose="020B0609020000020004" pitchFamily="49" charset="0"/>
              </a:rPr>
              <a:t>;</a:t>
            </a:r>
          </a:p>
          <a:p>
            <a:r>
              <a:rPr lang="en-US" sz="900" dirty="0">
                <a:solidFill>
                  <a:srgbClr val="000000"/>
                </a:solidFill>
                <a:highlight>
                  <a:srgbClr val="FFFF00"/>
                </a:highlight>
                <a:latin typeface="Cascadia Mono" panose="020B0609020000020004" pitchFamily="49" charset="0"/>
              </a:rPr>
              <a:t>        </a:t>
            </a:r>
            <a:r>
              <a:rPr lang="en-US" sz="900" dirty="0" err="1">
                <a:solidFill>
                  <a:srgbClr val="000000"/>
                </a:solidFill>
                <a:highlight>
                  <a:srgbClr val="FFFF00"/>
                </a:highlight>
                <a:latin typeface="Cascadia Mono" panose="020B0609020000020004" pitchFamily="49" charset="0"/>
              </a:rPr>
              <a:t>person.Deconstruct</a:t>
            </a:r>
            <a:r>
              <a:rPr lang="en-US" sz="900" dirty="0">
                <a:solidFill>
                  <a:srgbClr val="000000"/>
                </a:solidFill>
                <a:highlight>
                  <a:srgbClr val="FFFF00"/>
                </a:highlight>
                <a:latin typeface="Cascadia Mono" panose="020B0609020000020004" pitchFamily="49" charset="0"/>
              </a:rPr>
              <a:t>(</a:t>
            </a:r>
            <a:r>
              <a:rPr lang="en-US" sz="900" dirty="0">
                <a:solidFill>
                  <a:srgbClr val="0000FF"/>
                </a:solidFill>
                <a:highlight>
                  <a:srgbClr val="FFFF00"/>
                </a:highlight>
                <a:latin typeface="Cascadia Mono" panose="020B0609020000020004" pitchFamily="49" charset="0"/>
              </a:rPr>
              <a:t>out</a:t>
            </a:r>
            <a:r>
              <a:rPr lang="en-US" sz="900" dirty="0">
                <a:solidFill>
                  <a:srgbClr val="000000"/>
                </a:solidFill>
                <a:highlight>
                  <a:srgbClr val="FFFF00"/>
                </a:highlight>
                <a:latin typeface="Cascadia Mono" panose="020B0609020000020004" pitchFamily="49" charset="0"/>
              </a:rPr>
              <a:t> firstname2,</a:t>
            </a:r>
            <a:r>
              <a:rPr lang="en-US" sz="900" dirty="0">
                <a:solidFill>
                  <a:srgbClr val="0000FF"/>
                </a:solidFill>
                <a:highlight>
                  <a:srgbClr val="FFFF00"/>
                </a:highlight>
                <a:latin typeface="Cascadia Mono" panose="020B0609020000020004" pitchFamily="49" charset="0"/>
              </a:rPr>
              <a:t>out</a:t>
            </a:r>
            <a:r>
              <a:rPr lang="en-US" sz="900" dirty="0">
                <a:solidFill>
                  <a:srgbClr val="000000"/>
                </a:solidFill>
                <a:highlight>
                  <a:srgbClr val="FFFF00"/>
                </a:highlight>
                <a:latin typeface="Cascadia Mono" panose="020B0609020000020004" pitchFamily="49" charset="0"/>
              </a:rPr>
              <a:t>  lastname2);</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(firstname2, firstname2);</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p>
        </p:txBody>
      </p:sp>
      <p:sp>
        <p:nvSpPr>
          <p:cNvPr id="6" name="TextBox 5">
            <a:extLst>
              <a:ext uri="{FF2B5EF4-FFF2-40B4-BE49-F238E27FC236}">
                <a16:creationId xmlns:a16="http://schemas.microsoft.com/office/drawing/2014/main" id="{DD421597-7F83-2E79-13E5-662E1B7BE79E}"/>
              </a:ext>
            </a:extLst>
          </p:cNvPr>
          <p:cNvSpPr txBox="1"/>
          <p:nvPr/>
        </p:nvSpPr>
        <p:spPr>
          <a:xfrm>
            <a:off x="5377992" y="1533223"/>
            <a:ext cx="6117996" cy="5355312"/>
          </a:xfrm>
          <a:prstGeom prst="rect">
            <a:avLst/>
          </a:prstGeom>
          <a:noFill/>
        </p:spPr>
        <p:txBody>
          <a:bodyPr wrap="square">
            <a:spAutoFit/>
          </a:bodyPr>
          <a:lstStyle/>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System;</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Person</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FirstName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LastName</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00FF"/>
                </a:solidFill>
                <a:highlight>
                  <a:srgbClr val="FFFF00"/>
                </a:highlight>
                <a:latin typeface="Cascadia Mono" panose="020B0609020000020004" pitchFamily="49" charset="0"/>
              </a:rPr>
              <a:t>public</a:t>
            </a:r>
            <a:r>
              <a:rPr lang="en-US" sz="900" dirty="0">
                <a:solidFill>
                  <a:srgbClr val="000000"/>
                </a:solidFill>
                <a:highlight>
                  <a:srgbClr val="FFFF00"/>
                </a:highlight>
                <a:latin typeface="Cascadia Mono" panose="020B0609020000020004" pitchFamily="49" charset="0"/>
              </a:rPr>
              <a:t> </a:t>
            </a:r>
            <a:r>
              <a:rPr lang="en-US" sz="900" dirty="0">
                <a:solidFill>
                  <a:srgbClr val="0000FF"/>
                </a:solidFill>
                <a:highlight>
                  <a:srgbClr val="FFFF00"/>
                </a:highlight>
                <a:latin typeface="Cascadia Mono" panose="020B0609020000020004" pitchFamily="49" charset="0"/>
              </a:rPr>
              <a:t>void</a:t>
            </a:r>
            <a:r>
              <a:rPr lang="en-US" sz="900" dirty="0">
                <a:solidFill>
                  <a:srgbClr val="000000"/>
                </a:solidFill>
                <a:highlight>
                  <a:srgbClr val="FFFF00"/>
                </a:highlight>
                <a:latin typeface="Cascadia Mono" panose="020B0609020000020004" pitchFamily="49" charset="0"/>
              </a:rPr>
              <a:t> Deconstruct(</a:t>
            </a:r>
            <a:r>
              <a:rPr lang="en-US" sz="900" dirty="0">
                <a:solidFill>
                  <a:srgbClr val="0000FF"/>
                </a:solidFill>
                <a:highlight>
                  <a:srgbClr val="FFFF00"/>
                </a:highlight>
                <a:latin typeface="Cascadia Mono" panose="020B0609020000020004" pitchFamily="49" charset="0"/>
              </a:rPr>
              <a:t>out</a:t>
            </a:r>
            <a:r>
              <a:rPr lang="en-US" sz="900" dirty="0">
                <a:solidFill>
                  <a:srgbClr val="000000"/>
                </a:solidFill>
                <a:highlight>
                  <a:srgbClr val="FFFF00"/>
                </a:highlight>
                <a:latin typeface="Cascadia Mono" panose="020B0609020000020004" pitchFamily="49" charset="0"/>
              </a:rPr>
              <a:t> </a:t>
            </a:r>
            <a:r>
              <a:rPr lang="en-US" sz="900" dirty="0">
                <a:solidFill>
                  <a:srgbClr val="0000FF"/>
                </a:solidFill>
                <a:highlight>
                  <a:srgbClr val="FFFF00"/>
                </a:highlight>
                <a:latin typeface="Cascadia Mono" panose="020B0609020000020004" pitchFamily="49" charset="0"/>
              </a:rPr>
              <a:t>string</a:t>
            </a:r>
            <a:r>
              <a:rPr lang="en-US" sz="900" dirty="0">
                <a:solidFill>
                  <a:srgbClr val="000000"/>
                </a:solidFill>
                <a:highlight>
                  <a:srgbClr val="FFFF00"/>
                </a:highlight>
                <a:latin typeface="Cascadia Mono" panose="020B0609020000020004" pitchFamily="49" charset="0"/>
              </a:rPr>
              <a:t> </a:t>
            </a:r>
            <a:r>
              <a:rPr lang="en-US" sz="900" dirty="0" err="1">
                <a:solidFill>
                  <a:srgbClr val="000000"/>
                </a:solidFill>
                <a:highlight>
                  <a:srgbClr val="FFFF00"/>
                </a:highlight>
                <a:latin typeface="Cascadia Mono" panose="020B0609020000020004" pitchFamily="49" charset="0"/>
              </a:rPr>
              <a:t>firstName</a:t>
            </a:r>
            <a:r>
              <a:rPr lang="en-US" sz="900" dirty="0">
                <a:solidFill>
                  <a:srgbClr val="000000"/>
                </a:solidFill>
                <a:highlight>
                  <a:srgbClr val="FFFF00"/>
                </a:highlight>
                <a:latin typeface="Cascadia Mono" panose="020B0609020000020004" pitchFamily="49" charset="0"/>
              </a:rPr>
              <a:t>, </a:t>
            </a:r>
            <a:r>
              <a:rPr lang="en-US" sz="900" dirty="0">
                <a:solidFill>
                  <a:srgbClr val="0000FF"/>
                </a:solidFill>
                <a:highlight>
                  <a:srgbClr val="FFFF00"/>
                </a:highlight>
                <a:latin typeface="Cascadia Mono" panose="020B0609020000020004" pitchFamily="49" charset="0"/>
              </a:rPr>
              <a:t>out</a:t>
            </a:r>
            <a:r>
              <a:rPr lang="en-US" sz="900" dirty="0">
                <a:solidFill>
                  <a:srgbClr val="000000"/>
                </a:solidFill>
                <a:highlight>
                  <a:srgbClr val="FFFF00"/>
                </a:highlight>
                <a:latin typeface="Cascadia Mono" panose="020B0609020000020004" pitchFamily="49" charset="0"/>
              </a:rPr>
              <a:t> </a:t>
            </a:r>
            <a:r>
              <a:rPr lang="en-US" sz="900" dirty="0">
                <a:solidFill>
                  <a:srgbClr val="0000FF"/>
                </a:solidFill>
                <a:highlight>
                  <a:srgbClr val="FFFF00"/>
                </a:highlight>
                <a:latin typeface="Cascadia Mono" panose="020B0609020000020004" pitchFamily="49" charset="0"/>
              </a:rPr>
              <a:t>string</a:t>
            </a:r>
            <a:r>
              <a:rPr lang="en-US" sz="900" dirty="0">
                <a:solidFill>
                  <a:srgbClr val="000000"/>
                </a:solidFill>
                <a:highlight>
                  <a:srgbClr val="FFFF00"/>
                </a:highlight>
                <a:latin typeface="Cascadia Mono" panose="020B0609020000020004" pitchFamily="49" charset="0"/>
              </a:rPr>
              <a:t> </a:t>
            </a:r>
            <a:r>
              <a:rPr lang="en-US" sz="900" dirty="0" err="1">
                <a:solidFill>
                  <a:srgbClr val="000000"/>
                </a:solidFill>
                <a:highlight>
                  <a:srgbClr val="FFFF00"/>
                </a:highlight>
                <a:latin typeface="Cascadia Mono" panose="020B0609020000020004" pitchFamily="49" charset="0"/>
              </a:rPr>
              <a:t>lastName</a:t>
            </a:r>
            <a:r>
              <a:rPr lang="en-US" sz="900" dirty="0">
                <a:solidFill>
                  <a:srgbClr val="000000"/>
                </a:solidFill>
                <a:highlight>
                  <a:srgbClr val="FFFF00"/>
                </a:highlight>
                <a:latin typeface="Cascadia Mono" panose="020B0609020000020004" pitchFamily="49" charset="0"/>
              </a:rPr>
              <a:t>) =&gt;</a:t>
            </a:r>
          </a:p>
          <a:p>
            <a:r>
              <a:rPr lang="en-US" sz="900" dirty="0">
                <a:solidFill>
                  <a:srgbClr val="000000"/>
                </a:solidFill>
                <a:highlight>
                  <a:srgbClr val="FFFF00"/>
                </a:highlight>
                <a:latin typeface="Cascadia Mono" panose="020B0609020000020004" pitchFamily="49" charset="0"/>
              </a:rPr>
              <a:t>        (</a:t>
            </a:r>
            <a:r>
              <a:rPr lang="en-US" sz="900" dirty="0" err="1">
                <a:solidFill>
                  <a:srgbClr val="000000"/>
                </a:solidFill>
                <a:highlight>
                  <a:srgbClr val="FFFF00"/>
                </a:highlight>
                <a:latin typeface="Cascadia Mono" panose="020B0609020000020004" pitchFamily="49" charset="0"/>
              </a:rPr>
              <a:t>firstName</a:t>
            </a:r>
            <a:r>
              <a:rPr lang="en-US" sz="900" dirty="0">
                <a:solidFill>
                  <a:srgbClr val="000000"/>
                </a:solidFill>
                <a:highlight>
                  <a:srgbClr val="FFFF00"/>
                </a:highlight>
                <a:latin typeface="Cascadia Mono" panose="020B0609020000020004" pitchFamily="49" charset="0"/>
              </a:rPr>
              <a:t>, </a:t>
            </a:r>
            <a:r>
              <a:rPr lang="en-US" sz="900" dirty="0" err="1">
                <a:solidFill>
                  <a:srgbClr val="000000"/>
                </a:solidFill>
                <a:highlight>
                  <a:srgbClr val="FFFF00"/>
                </a:highlight>
                <a:latin typeface="Cascadia Mono" panose="020B0609020000020004" pitchFamily="49" charset="0"/>
              </a:rPr>
              <a:t>lastName</a:t>
            </a:r>
            <a:r>
              <a:rPr lang="en-US" sz="900" dirty="0">
                <a:solidFill>
                  <a:srgbClr val="000000"/>
                </a:solidFill>
                <a:highlight>
                  <a:srgbClr val="FFFF00"/>
                </a:highlight>
                <a:latin typeface="Cascadia Mono" panose="020B0609020000020004" pitchFamily="49" charset="0"/>
              </a:rPr>
              <a:t>) = (</a:t>
            </a:r>
            <a:r>
              <a:rPr lang="en-US" sz="900" dirty="0" err="1">
                <a:solidFill>
                  <a:srgbClr val="0000FF"/>
                </a:solidFill>
                <a:highlight>
                  <a:srgbClr val="FFFF00"/>
                </a:highlight>
                <a:latin typeface="Cascadia Mono" panose="020B0609020000020004" pitchFamily="49" charset="0"/>
              </a:rPr>
              <a:t>this</a:t>
            </a:r>
            <a:r>
              <a:rPr lang="en-US" sz="900" dirty="0" err="1">
                <a:solidFill>
                  <a:srgbClr val="000000"/>
                </a:solidFill>
                <a:highlight>
                  <a:srgbClr val="FFFF00"/>
                </a:highlight>
                <a:latin typeface="Cascadia Mono" panose="020B0609020000020004" pitchFamily="49" charset="0"/>
              </a:rPr>
              <a:t>.FirstName</a:t>
            </a:r>
            <a:r>
              <a:rPr lang="en-US" sz="900" dirty="0">
                <a:solidFill>
                  <a:srgbClr val="000000"/>
                </a:solidFill>
                <a:highlight>
                  <a:srgbClr val="FFFF00"/>
                </a:highlight>
                <a:latin typeface="Cascadia Mono" panose="020B0609020000020004" pitchFamily="49" charset="0"/>
              </a:rPr>
              <a:t>, </a:t>
            </a:r>
            <a:r>
              <a:rPr lang="en-US" sz="900" dirty="0" err="1">
                <a:solidFill>
                  <a:srgbClr val="0000FF"/>
                </a:solidFill>
                <a:highlight>
                  <a:srgbClr val="FFFF00"/>
                </a:highlight>
                <a:latin typeface="Cascadia Mono" panose="020B0609020000020004" pitchFamily="49" charset="0"/>
              </a:rPr>
              <a:t>this</a:t>
            </a:r>
            <a:r>
              <a:rPr lang="en-US" sz="900" dirty="0" err="1">
                <a:solidFill>
                  <a:srgbClr val="000000"/>
                </a:solidFill>
                <a:highlight>
                  <a:srgbClr val="FFFF00"/>
                </a:highlight>
                <a:latin typeface="Cascadia Mono" panose="020B0609020000020004" pitchFamily="49" charset="0"/>
              </a:rPr>
              <a:t>.LastName</a:t>
            </a:r>
            <a:r>
              <a:rPr lang="en-US" sz="900" dirty="0">
                <a:solidFill>
                  <a:srgbClr val="000000"/>
                </a:solidFill>
                <a:highlight>
                  <a:srgbClr val="FFFF00"/>
                </a:highlight>
                <a:latin typeface="Cascadia Mono" panose="020B0609020000020004" pitchFamily="49" charset="0"/>
              </a:rPr>
              <a:t>);</a:t>
            </a:r>
          </a:p>
          <a:p>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Main(</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person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Person</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FirstName = </a:t>
            </a:r>
            <a:r>
              <a:rPr lang="en-IN" sz="900" dirty="0">
                <a:solidFill>
                  <a:srgbClr val="A31515"/>
                </a:solidFill>
                <a:latin typeface="Cascadia Mono" panose="020B0609020000020004" pitchFamily="49" charset="0"/>
              </a:rPr>
              <a:t>"Anthony"</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LastName</a:t>
            </a:r>
            <a:r>
              <a:rPr lang="en-IN" sz="900" dirty="0">
                <a:solidFill>
                  <a:srgbClr val="000000"/>
                </a:solidFill>
                <a:latin typeface="Cascadia Mono" panose="020B0609020000020004" pitchFamily="49" charset="0"/>
              </a:rPr>
              <a:t> = </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Giretti</a:t>
            </a:r>
            <a:r>
              <a:rPr lang="en-IN" sz="900" dirty="0">
                <a:solidFill>
                  <a:srgbClr val="A31515"/>
                </a:solidFill>
                <a:latin typeface="Cascadia Mono" panose="020B0609020000020004" pitchFamily="49" charset="0"/>
              </a:rPr>
              <a: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Declaration and assignation syntax:</a:t>
            </a:r>
            <a:endParaRPr lang="en-IN" sz="900" dirty="0">
              <a:solidFill>
                <a:srgbClr val="000000"/>
              </a:solidFill>
              <a:latin typeface="Cascadia Mono" panose="020B0609020000020004" pitchFamily="49" charset="0"/>
            </a:endParaRPr>
          </a:p>
          <a:p>
            <a:r>
              <a:rPr lang="en-IN" sz="900" dirty="0">
                <a:solidFill>
                  <a:srgbClr val="000000"/>
                </a:solidFill>
                <a:highlight>
                  <a:srgbClr val="FFFF00"/>
                </a:highlight>
                <a:latin typeface="Cascadia Mono" panose="020B0609020000020004" pitchFamily="49" charset="0"/>
              </a:rPr>
              <a:t>        (</a:t>
            </a:r>
            <a:r>
              <a:rPr lang="en-IN" sz="900" dirty="0">
                <a:solidFill>
                  <a:srgbClr val="0000FF"/>
                </a:solidFill>
                <a:highlight>
                  <a:srgbClr val="FFFF00"/>
                </a:highlight>
                <a:latin typeface="Cascadia Mono" panose="020B0609020000020004" pitchFamily="49" charset="0"/>
              </a:rPr>
              <a:t>string</a:t>
            </a:r>
            <a:r>
              <a:rPr lang="en-IN" sz="900" dirty="0">
                <a:solidFill>
                  <a:srgbClr val="000000"/>
                </a:solidFill>
                <a:highlight>
                  <a:srgbClr val="FFFF00"/>
                </a:highlight>
                <a:latin typeface="Cascadia Mono" panose="020B0609020000020004" pitchFamily="49" charset="0"/>
              </a:rPr>
              <a:t> firstname1, </a:t>
            </a:r>
            <a:r>
              <a:rPr lang="en-IN" sz="900" dirty="0">
                <a:solidFill>
                  <a:srgbClr val="0000FF"/>
                </a:solidFill>
                <a:highlight>
                  <a:srgbClr val="FFFF00"/>
                </a:highlight>
                <a:latin typeface="Cascadia Mono" panose="020B0609020000020004" pitchFamily="49" charset="0"/>
              </a:rPr>
              <a:t>string</a:t>
            </a:r>
            <a:r>
              <a:rPr lang="en-IN" sz="900" dirty="0">
                <a:solidFill>
                  <a:srgbClr val="000000"/>
                </a:solidFill>
                <a:highlight>
                  <a:srgbClr val="FFFF00"/>
                </a:highlight>
                <a:latin typeface="Cascadia Mono" panose="020B0609020000020004" pitchFamily="49" charset="0"/>
              </a:rPr>
              <a:t> lastname1 )= person;</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OR</a:t>
            </a:r>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Declaration, initialization and assignation syntax:</a:t>
            </a:r>
            <a:endParaRPr lang="en-US" sz="900" dirty="0">
              <a:solidFill>
                <a:srgbClr val="000000"/>
              </a:solidFill>
              <a:latin typeface="Cascadia Mono" panose="020B0609020000020004" pitchFamily="49" charset="0"/>
            </a:endParaRPr>
          </a:p>
          <a:p>
            <a:r>
              <a:rPr lang="en-IN" sz="900" dirty="0">
                <a:solidFill>
                  <a:srgbClr val="000000"/>
                </a:solidFill>
                <a:highlight>
                  <a:srgbClr val="FFFF00"/>
                </a:highlight>
                <a:latin typeface="Cascadia Mono" panose="020B0609020000020004" pitchFamily="49" charset="0"/>
              </a:rPr>
              <a:t>        </a:t>
            </a:r>
            <a:r>
              <a:rPr lang="en-IN" sz="900" dirty="0">
                <a:solidFill>
                  <a:srgbClr val="0000FF"/>
                </a:solidFill>
                <a:highlight>
                  <a:srgbClr val="FFFF00"/>
                </a:highlight>
                <a:latin typeface="Cascadia Mono" panose="020B0609020000020004" pitchFamily="49" charset="0"/>
              </a:rPr>
              <a:t>string</a:t>
            </a:r>
            <a:r>
              <a:rPr lang="en-IN" sz="900" dirty="0">
                <a:solidFill>
                  <a:srgbClr val="000000"/>
                </a:solidFill>
                <a:highlight>
                  <a:srgbClr val="FFFF00"/>
                </a:highlight>
                <a:latin typeface="Cascadia Mono" panose="020B0609020000020004" pitchFamily="49" charset="0"/>
              </a:rPr>
              <a:t> firstname3 = </a:t>
            </a:r>
            <a:r>
              <a:rPr lang="en-IN" sz="900" dirty="0" err="1">
                <a:solidFill>
                  <a:srgbClr val="0000FF"/>
                </a:solidFill>
                <a:highlight>
                  <a:srgbClr val="FFFF00"/>
                </a:highlight>
                <a:latin typeface="Cascadia Mono" panose="020B0609020000020004" pitchFamily="49" charset="0"/>
              </a:rPr>
              <a:t>string</a:t>
            </a:r>
            <a:r>
              <a:rPr lang="en-IN" sz="900" dirty="0" err="1">
                <a:solidFill>
                  <a:srgbClr val="000000"/>
                </a:solidFill>
                <a:highlight>
                  <a:srgbClr val="FFFF00"/>
                </a:highlight>
                <a:latin typeface="Cascadia Mono" panose="020B0609020000020004" pitchFamily="49" charset="0"/>
              </a:rPr>
              <a:t>.Empty</a:t>
            </a:r>
            <a:r>
              <a:rPr lang="en-IN" sz="900" dirty="0">
                <a:solidFill>
                  <a:srgbClr val="000000"/>
                </a:solidFill>
                <a:highlight>
                  <a:srgbClr val="FFFF00"/>
                </a:highlight>
                <a:latin typeface="Cascadia Mono" panose="020B0609020000020004" pitchFamily="49" charset="0"/>
              </a:rPr>
              <a:t>;</a:t>
            </a:r>
          </a:p>
          <a:p>
            <a:r>
              <a:rPr lang="en-IN" sz="900" dirty="0">
                <a:solidFill>
                  <a:srgbClr val="000000"/>
                </a:solidFill>
                <a:highlight>
                  <a:srgbClr val="FFFF00"/>
                </a:highlight>
                <a:latin typeface="Cascadia Mono" panose="020B0609020000020004" pitchFamily="49" charset="0"/>
              </a:rPr>
              <a:t>        </a:t>
            </a:r>
            <a:r>
              <a:rPr lang="en-IN" sz="900" dirty="0">
                <a:solidFill>
                  <a:srgbClr val="0000FF"/>
                </a:solidFill>
                <a:highlight>
                  <a:srgbClr val="FFFF00"/>
                </a:highlight>
                <a:latin typeface="Cascadia Mono" panose="020B0609020000020004" pitchFamily="49" charset="0"/>
              </a:rPr>
              <a:t>string</a:t>
            </a:r>
            <a:r>
              <a:rPr lang="en-IN" sz="900" dirty="0">
                <a:solidFill>
                  <a:srgbClr val="000000"/>
                </a:solidFill>
                <a:highlight>
                  <a:srgbClr val="FFFF00"/>
                </a:highlight>
                <a:latin typeface="Cascadia Mono" panose="020B0609020000020004" pitchFamily="49" charset="0"/>
              </a:rPr>
              <a:t> lastname3 = </a:t>
            </a:r>
            <a:r>
              <a:rPr lang="en-IN" sz="900" dirty="0" err="1">
                <a:solidFill>
                  <a:srgbClr val="0000FF"/>
                </a:solidFill>
                <a:highlight>
                  <a:srgbClr val="FFFF00"/>
                </a:highlight>
                <a:latin typeface="Cascadia Mono" panose="020B0609020000020004" pitchFamily="49" charset="0"/>
              </a:rPr>
              <a:t>string</a:t>
            </a:r>
            <a:r>
              <a:rPr lang="en-IN" sz="900" dirty="0" err="1">
                <a:solidFill>
                  <a:srgbClr val="000000"/>
                </a:solidFill>
                <a:highlight>
                  <a:srgbClr val="FFFF00"/>
                </a:highlight>
                <a:latin typeface="Cascadia Mono" panose="020B0609020000020004" pitchFamily="49" charset="0"/>
              </a:rPr>
              <a:t>.Empty</a:t>
            </a:r>
            <a:r>
              <a:rPr lang="en-IN" sz="900" dirty="0">
                <a:solidFill>
                  <a:srgbClr val="000000"/>
                </a:solidFill>
                <a:highlight>
                  <a:srgbClr val="FFFF00"/>
                </a:highlight>
                <a:latin typeface="Cascadia Mono" panose="020B0609020000020004" pitchFamily="49" charset="0"/>
              </a:rPr>
              <a:t>;</a:t>
            </a:r>
          </a:p>
          <a:p>
            <a:r>
              <a:rPr lang="en-IN" sz="900" dirty="0">
                <a:solidFill>
                  <a:srgbClr val="000000"/>
                </a:solidFill>
                <a:highlight>
                  <a:srgbClr val="FFFF00"/>
                </a:highlight>
                <a:latin typeface="Cascadia Mono" panose="020B0609020000020004" pitchFamily="49" charset="0"/>
              </a:rPr>
              <a:t>        (firstname3, lastname3) = person;</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Mixing declaration, initialization and assignation with declaration and assignation syntaxes:</a:t>
            </a:r>
            <a:endParaRPr lang="en-US"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Before C# 10: Error CS8184 A deconstruction cannot mix declarations and expressions on the left-hand-side.</a:t>
            </a:r>
            <a:endParaRPr lang="en-US" sz="900" dirty="0">
              <a:solidFill>
                <a:srgbClr val="000000"/>
              </a:solidFill>
              <a:latin typeface="Cascadia Mono" panose="020B0609020000020004" pitchFamily="49" charset="0"/>
            </a:endParaRPr>
          </a:p>
          <a:p>
            <a:r>
              <a:rPr lang="en-IN" sz="900" dirty="0">
                <a:solidFill>
                  <a:srgbClr val="000000"/>
                </a:solidFill>
                <a:highlight>
                  <a:srgbClr val="FFFF00"/>
                </a:highlight>
                <a:latin typeface="Cascadia Mono" panose="020B0609020000020004" pitchFamily="49" charset="0"/>
              </a:rPr>
              <a:t>        </a:t>
            </a:r>
            <a:r>
              <a:rPr lang="en-IN" sz="900" dirty="0">
                <a:solidFill>
                  <a:srgbClr val="0000FF"/>
                </a:solidFill>
                <a:highlight>
                  <a:srgbClr val="FFFF00"/>
                </a:highlight>
                <a:latin typeface="Cascadia Mono" panose="020B0609020000020004" pitchFamily="49" charset="0"/>
              </a:rPr>
              <a:t>string</a:t>
            </a:r>
            <a:r>
              <a:rPr lang="en-IN" sz="900" dirty="0">
                <a:solidFill>
                  <a:srgbClr val="000000"/>
                </a:solidFill>
                <a:highlight>
                  <a:srgbClr val="FFFF00"/>
                </a:highlight>
                <a:latin typeface="Cascadia Mono" panose="020B0609020000020004" pitchFamily="49" charset="0"/>
              </a:rPr>
              <a:t> </a:t>
            </a:r>
            <a:r>
              <a:rPr lang="en-IN" sz="900" dirty="0" err="1">
                <a:solidFill>
                  <a:srgbClr val="000000"/>
                </a:solidFill>
                <a:highlight>
                  <a:srgbClr val="FFFF00"/>
                </a:highlight>
                <a:latin typeface="Cascadia Mono" panose="020B0609020000020004" pitchFamily="49" charset="0"/>
              </a:rPr>
              <a:t>lastname</a:t>
            </a:r>
            <a:r>
              <a:rPr lang="en-IN" sz="900" dirty="0">
                <a:solidFill>
                  <a:srgbClr val="000000"/>
                </a:solidFill>
                <a:highlight>
                  <a:srgbClr val="FFFF00"/>
                </a:highlight>
                <a:latin typeface="Cascadia Mono" panose="020B0609020000020004" pitchFamily="49" charset="0"/>
              </a:rPr>
              <a:t> = </a:t>
            </a:r>
            <a:r>
              <a:rPr lang="en-IN" sz="900" dirty="0" err="1">
                <a:solidFill>
                  <a:srgbClr val="0000FF"/>
                </a:solidFill>
                <a:highlight>
                  <a:srgbClr val="FFFF00"/>
                </a:highlight>
                <a:latin typeface="Cascadia Mono" panose="020B0609020000020004" pitchFamily="49" charset="0"/>
              </a:rPr>
              <a:t>string</a:t>
            </a:r>
            <a:r>
              <a:rPr lang="en-IN" sz="900" dirty="0" err="1">
                <a:solidFill>
                  <a:srgbClr val="000000"/>
                </a:solidFill>
                <a:highlight>
                  <a:srgbClr val="FFFF00"/>
                </a:highlight>
                <a:latin typeface="Cascadia Mono" panose="020B0609020000020004" pitchFamily="49" charset="0"/>
              </a:rPr>
              <a:t>.Empty</a:t>
            </a:r>
            <a:r>
              <a:rPr lang="en-IN" sz="900" dirty="0">
                <a:solidFill>
                  <a:srgbClr val="000000"/>
                </a:solidFill>
                <a:highlight>
                  <a:srgbClr val="FFFF00"/>
                </a:highlight>
                <a:latin typeface="Cascadia Mono" panose="020B0609020000020004" pitchFamily="49" charset="0"/>
              </a:rPr>
              <a:t>;</a:t>
            </a:r>
          </a:p>
          <a:p>
            <a:r>
              <a:rPr lang="en-IN" sz="900" dirty="0">
                <a:solidFill>
                  <a:srgbClr val="000000"/>
                </a:solidFill>
                <a:highlight>
                  <a:srgbClr val="FFFF00"/>
                </a:highlight>
                <a:latin typeface="Cascadia Mono" panose="020B0609020000020004" pitchFamily="49" charset="0"/>
              </a:rPr>
              <a:t>        (</a:t>
            </a:r>
            <a:r>
              <a:rPr lang="en-IN" sz="900" dirty="0">
                <a:solidFill>
                  <a:srgbClr val="0000FF"/>
                </a:solidFill>
                <a:highlight>
                  <a:srgbClr val="FFFF00"/>
                </a:highlight>
                <a:latin typeface="Cascadia Mono" panose="020B0609020000020004" pitchFamily="49" charset="0"/>
              </a:rPr>
              <a:t>string</a:t>
            </a:r>
            <a:r>
              <a:rPr lang="en-IN" sz="900" dirty="0">
                <a:solidFill>
                  <a:srgbClr val="000000"/>
                </a:solidFill>
                <a:highlight>
                  <a:srgbClr val="FFFF00"/>
                </a:highlight>
                <a:latin typeface="Cascadia Mono" panose="020B0609020000020004" pitchFamily="49" charset="0"/>
              </a:rPr>
              <a:t> </a:t>
            </a:r>
            <a:r>
              <a:rPr lang="en-IN" sz="900" dirty="0" err="1">
                <a:solidFill>
                  <a:srgbClr val="000000"/>
                </a:solidFill>
                <a:highlight>
                  <a:srgbClr val="FFFF00"/>
                </a:highlight>
                <a:latin typeface="Cascadia Mono" panose="020B0609020000020004" pitchFamily="49" charset="0"/>
              </a:rPr>
              <a:t>firstname</a:t>
            </a:r>
            <a:r>
              <a:rPr lang="en-IN" sz="900" dirty="0">
                <a:solidFill>
                  <a:srgbClr val="000000"/>
                </a:solidFill>
                <a:highlight>
                  <a:srgbClr val="FFFF00"/>
                </a:highlight>
                <a:latin typeface="Cascadia Mono" panose="020B0609020000020004" pitchFamily="49" charset="0"/>
              </a:rPr>
              <a:t>, </a:t>
            </a:r>
            <a:r>
              <a:rPr lang="en-IN" sz="900" dirty="0" err="1">
                <a:solidFill>
                  <a:srgbClr val="000000"/>
                </a:solidFill>
                <a:highlight>
                  <a:srgbClr val="FFFF00"/>
                </a:highlight>
                <a:latin typeface="Cascadia Mono" panose="020B0609020000020004" pitchFamily="49" charset="0"/>
              </a:rPr>
              <a:t>lastname</a:t>
            </a:r>
            <a:r>
              <a:rPr lang="en-IN" sz="900" dirty="0">
                <a:solidFill>
                  <a:srgbClr val="000000"/>
                </a:solidFill>
                <a:highlight>
                  <a:srgbClr val="FFFF00"/>
                </a:highlight>
                <a:latin typeface="Cascadia Mono" panose="020B0609020000020004" pitchFamily="49" charset="0"/>
              </a:rPr>
              <a:t>) = person;</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Tree>
    <p:extLst>
      <p:ext uri="{BB962C8B-B14F-4D97-AF65-F5344CB8AC3E}">
        <p14:creationId xmlns:p14="http://schemas.microsoft.com/office/powerpoint/2010/main" val="1735307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56A96A5-818A-D2DA-5878-BBD7FAFC74A4}"/>
              </a:ext>
            </a:extLst>
          </p:cNvPr>
          <p:cNvSpPr txBox="1"/>
          <p:nvPr/>
        </p:nvSpPr>
        <p:spPr>
          <a:xfrm>
            <a:off x="266308" y="115553"/>
            <a:ext cx="11762294" cy="1200329"/>
          </a:xfrm>
          <a:prstGeom prst="rect">
            <a:avLst/>
          </a:prstGeom>
          <a:noFill/>
        </p:spPr>
        <p:txBody>
          <a:bodyPr wrap="square">
            <a:spAutoFit/>
          </a:bodyPr>
          <a:lstStyle/>
          <a:p>
            <a:pPr algn="just"/>
            <a:r>
              <a:rPr lang="en-US" b="0" i="0" dirty="0">
                <a:solidFill>
                  <a:srgbClr val="000000"/>
                </a:solidFill>
                <a:effectLst/>
                <a:latin typeface="Nunito" pitchFamily="2" charset="0"/>
              </a:rPr>
              <a:t>In C# 5.0 and before to give an value to the Auto Property we have to do in the constructor</a:t>
            </a:r>
          </a:p>
          <a:p>
            <a:pPr algn="just"/>
            <a:r>
              <a:rPr lang="en-US" b="0" i="0" dirty="0">
                <a:solidFill>
                  <a:srgbClr val="000000"/>
                </a:solidFill>
                <a:effectLst/>
                <a:latin typeface="Nunito" pitchFamily="2" charset="0"/>
              </a:rPr>
              <a:t>The constructor will be automatically called when class is instantiated and the value will be set</a:t>
            </a:r>
          </a:p>
          <a:p>
            <a:pPr algn="just"/>
            <a:r>
              <a:rPr lang="en-US" b="0" i="0" dirty="0">
                <a:solidFill>
                  <a:srgbClr val="000000"/>
                </a:solidFill>
                <a:effectLst/>
                <a:latin typeface="Nunito" pitchFamily="2" charset="0"/>
              </a:rPr>
              <a:t>After C#5.0 a new way to give a value to auto property has come which is similar in assigning a value to the variable</a:t>
            </a:r>
          </a:p>
        </p:txBody>
      </p:sp>
      <p:sp>
        <p:nvSpPr>
          <p:cNvPr id="7" name="TextBox 6">
            <a:extLst>
              <a:ext uri="{FF2B5EF4-FFF2-40B4-BE49-F238E27FC236}">
                <a16:creationId xmlns:a16="http://schemas.microsoft.com/office/drawing/2014/main" id="{F509E5DC-23F0-D13F-9642-0956C1E093F4}"/>
              </a:ext>
            </a:extLst>
          </p:cNvPr>
          <p:cNvSpPr txBox="1"/>
          <p:nvPr/>
        </p:nvSpPr>
        <p:spPr>
          <a:xfrm>
            <a:off x="266308" y="1755458"/>
            <a:ext cx="3664669" cy="2446824"/>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Demo</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Demo</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FirstName = </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DemoName</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a:t>
            </a:r>
          </a:p>
          <a:p>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FirstName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static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void</a:t>
            </a:r>
            <a:r>
              <a:rPr lang="en-IN" sz="900" dirty="0">
                <a:solidFill>
                  <a:srgbClr val="000000"/>
                </a:solidFill>
                <a:latin typeface="Cascadia Mono" panose="020B0609020000020004" pitchFamily="49" charset="0"/>
              </a:rPr>
              <a:t> Main()</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Demo </a:t>
            </a:r>
            <a:r>
              <a:rPr lang="en-IN" sz="900" dirty="0" err="1">
                <a:solidFill>
                  <a:srgbClr val="000000"/>
                </a:solidFill>
                <a:latin typeface="Cascadia Mono" panose="020B0609020000020004" pitchFamily="49" charset="0"/>
              </a:rPr>
              <a:t>obj</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Demo();</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System.Console.WriteLine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obj.FirstName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Console.ReadLine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
        <p:nvSpPr>
          <p:cNvPr id="9" name="TextBox 8">
            <a:extLst>
              <a:ext uri="{FF2B5EF4-FFF2-40B4-BE49-F238E27FC236}">
                <a16:creationId xmlns:a16="http://schemas.microsoft.com/office/drawing/2014/main" id="{93363753-88D3-F5C7-2541-7F66F913A020}"/>
              </a:ext>
            </a:extLst>
          </p:cNvPr>
          <p:cNvSpPr txBox="1"/>
          <p:nvPr/>
        </p:nvSpPr>
        <p:spPr>
          <a:xfrm>
            <a:off x="6325386" y="1755457"/>
            <a:ext cx="4468305" cy="1892826"/>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Demo</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FirstName { </a:t>
            </a:r>
            <a:r>
              <a:rPr lang="en-US" sz="900" dirty="0">
                <a:solidFill>
                  <a:srgbClr val="0000FF"/>
                </a:solidFill>
                <a:latin typeface="Cascadia Mono" panose="020B0609020000020004" pitchFamily="49" charset="0"/>
              </a:rPr>
              <a:t>get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set</a:t>
            </a:r>
            <a:r>
              <a:rPr lang="en-US" sz="900" dirty="0">
                <a:solidFill>
                  <a:srgbClr val="000000"/>
                </a:solidFill>
                <a:latin typeface="Cascadia Mono" panose="020B0609020000020004" pitchFamily="49" charset="0"/>
              </a:rPr>
              <a:t>; } = </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DemoName</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static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void</a:t>
            </a:r>
            <a:r>
              <a:rPr lang="en-IN" sz="900" dirty="0">
                <a:solidFill>
                  <a:srgbClr val="000000"/>
                </a:solidFill>
                <a:latin typeface="Cascadia Mono" panose="020B0609020000020004" pitchFamily="49" charset="0"/>
              </a:rPr>
              <a:t> Main()</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Demo </a:t>
            </a:r>
            <a:r>
              <a:rPr lang="en-IN" sz="900" dirty="0" err="1">
                <a:solidFill>
                  <a:srgbClr val="000000"/>
                </a:solidFill>
                <a:latin typeface="Cascadia Mono" panose="020B0609020000020004" pitchFamily="49" charset="0"/>
              </a:rPr>
              <a:t>obj</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Demo();</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System.Console.WriteLine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obj.FirstName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Console.ReadLine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Tree>
    <p:extLst>
      <p:ext uri="{BB962C8B-B14F-4D97-AF65-F5344CB8AC3E}">
        <p14:creationId xmlns:p14="http://schemas.microsoft.com/office/powerpoint/2010/main" val="17012675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1650</TotalTime>
  <Words>3031</Words>
  <Application>Microsoft Office PowerPoint</Application>
  <PresentationFormat>Widescreen</PresentationFormat>
  <Paragraphs>452</Paragraphs>
  <Slides>12</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12</vt:i4>
      </vt:variant>
    </vt:vector>
  </HeadingPairs>
  <TitlesOfParts>
    <vt:vector size="24" baseType="lpstr">
      <vt:lpstr>Arial</vt:lpstr>
      <vt:lpstr>Calibri</vt:lpstr>
      <vt:lpstr>Calibri Light</vt:lpstr>
      <vt:lpstr>Cascadia Mono</vt:lpstr>
      <vt:lpstr>Consolas</vt:lpstr>
      <vt:lpstr>Inter</vt:lpstr>
      <vt:lpstr>Nunito</vt:lpstr>
      <vt:lpstr>Open Sans</vt:lpstr>
      <vt:lpstr>Roboto</vt:lpstr>
      <vt:lpstr>Segoe UI</vt:lpstr>
      <vt:lpstr>urw-din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vidyanidhi school</cp:lastModifiedBy>
  <cp:revision>28</cp:revision>
  <dcterms:created xsi:type="dcterms:W3CDTF">2023-02-09T11:00:45Z</dcterms:created>
  <dcterms:modified xsi:type="dcterms:W3CDTF">2023-02-12T09:42:48Z</dcterms:modified>
</cp:coreProperties>
</file>