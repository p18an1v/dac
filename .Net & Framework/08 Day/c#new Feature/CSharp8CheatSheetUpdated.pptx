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7104063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5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55F3AE7A-28CB-4E56-A242-B88DB1AA0960}" type="datetimeFigureOut">
              <a:rPr lang="de-DE" smtClean="0"/>
              <a:t>22.04.2022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448082C0-E673-4F95-8974-1B07EC17406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833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BCFFB-2393-4869-8750-FC8D46ABD5E9}" type="datetimeFigureOut">
              <a:rPr lang="de-DE" smtClean="0"/>
              <a:t>22.04.2022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BA7D-B164-431A-8670-C271E5C156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4356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BCFFB-2393-4869-8750-FC8D46ABD5E9}" type="datetimeFigureOut">
              <a:rPr lang="de-DE" smtClean="0"/>
              <a:t>22.04.2022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BA7D-B164-431A-8670-C271E5C156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7270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BCFFB-2393-4869-8750-FC8D46ABD5E9}" type="datetimeFigureOut">
              <a:rPr lang="de-DE" smtClean="0"/>
              <a:t>22.04.2022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BA7D-B164-431A-8670-C271E5C156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960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BCFFB-2393-4869-8750-FC8D46ABD5E9}" type="datetimeFigureOut">
              <a:rPr lang="de-DE" smtClean="0"/>
              <a:t>22.04.2022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BA7D-B164-431A-8670-C271E5C156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258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BCFFB-2393-4869-8750-FC8D46ABD5E9}" type="datetimeFigureOut">
              <a:rPr lang="de-DE" smtClean="0"/>
              <a:t>22.04.2022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BA7D-B164-431A-8670-C271E5C156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0830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BCFFB-2393-4869-8750-FC8D46ABD5E9}" type="datetimeFigureOut">
              <a:rPr lang="de-DE" smtClean="0"/>
              <a:t>22.04.2022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BA7D-B164-431A-8670-C271E5C156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7276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BCFFB-2393-4869-8750-FC8D46ABD5E9}" type="datetimeFigureOut">
              <a:rPr lang="de-DE" smtClean="0"/>
              <a:t>22.04.2022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BA7D-B164-431A-8670-C271E5C156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1145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BCFFB-2393-4869-8750-FC8D46ABD5E9}" type="datetimeFigureOut">
              <a:rPr lang="de-DE" smtClean="0"/>
              <a:t>22.04.2022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BA7D-B164-431A-8670-C271E5C156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7934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BCFFB-2393-4869-8750-FC8D46ABD5E9}" type="datetimeFigureOut">
              <a:rPr lang="de-DE" smtClean="0"/>
              <a:t>22.04.2022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BA7D-B164-431A-8670-C271E5C156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011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BCFFB-2393-4869-8750-FC8D46ABD5E9}" type="datetimeFigureOut">
              <a:rPr lang="de-DE" smtClean="0"/>
              <a:t>22.04.2022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BA7D-B164-431A-8670-C271E5C156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1826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BCFFB-2393-4869-8750-FC8D46ABD5E9}" type="datetimeFigureOut">
              <a:rPr lang="de-DE" smtClean="0"/>
              <a:t>22.04.2022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FBA7D-B164-431A-8670-C271E5C156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8491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BCFFB-2393-4869-8750-FC8D46ABD5E9}" type="datetimeFigureOut">
              <a:rPr lang="de-DE" smtClean="0"/>
              <a:t>22.04.2022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FBA7D-B164-431A-8670-C271E5C156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1140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048886"/>
              </p:ext>
            </p:extLst>
          </p:nvPr>
        </p:nvGraphicFramePr>
        <p:xfrm>
          <a:off x="182464" y="4223559"/>
          <a:ext cx="3571102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102">
                  <a:extLst>
                    <a:ext uri="{9D8B030D-6E8A-4147-A177-3AD203B41FA5}">
                      <a16:colId xmlns:a16="http://schemas.microsoft.com/office/drawing/2014/main" val="379882411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de-DE" dirty="0" err="1"/>
                        <a:t>Nullable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reference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types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719962"/>
                  </a:ext>
                </a:extLst>
              </a:tr>
              <a:tr h="2103119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Emits a compiler warning or error if a variable that must not be null is assigned to null.</a:t>
                      </a:r>
                      <a:endParaRPr lang="de-DE" sz="140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endParaRPr lang="en-US" sz="1400" dirty="0"/>
                    </a:p>
                    <a:p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? </a:t>
                      </a:r>
                      <a:r>
                        <a:rPr lang="de-DE" sz="1200" dirty="0" err="1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nullableString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de-DE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null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; </a:t>
                      </a:r>
                    </a:p>
                    <a:p>
                      <a:r>
                        <a:rPr lang="en-US" sz="1200" dirty="0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// WARNING: may be null! Take care!</a:t>
                      </a:r>
                      <a:endParaRPr lang="en-US" sz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de-DE" sz="1200" kern="1200" dirty="0" err="1">
                          <a:solidFill>
                            <a:srgbClr val="2B91A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Console.</a:t>
                      </a:r>
                      <a:r>
                        <a:rPr lang="de-DE" sz="12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WriteLine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de-DE" sz="1200" dirty="0" err="1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nullableString.Length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endParaRPr lang="de-DE" sz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</a:endParaRPr>
                    </a:p>
                    <a:p>
                      <a:endParaRPr lang="en-US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16919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547026"/>
              </p:ext>
            </p:extLst>
          </p:nvPr>
        </p:nvGraphicFramePr>
        <p:xfrm>
          <a:off x="4320828" y="1022371"/>
          <a:ext cx="3571102" cy="3654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102">
                  <a:extLst>
                    <a:ext uri="{9D8B030D-6E8A-4147-A177-3AD203B41FA5}">
                      <a16:colId xmlns:a16="http://schemas.microsoft.com/office/drawing/2014/main" val="3798824116"/>
                    </a:ext>
                  </a:extLst>
                </a:gridCol>
              </a:tblGrid>
              <a:tr h="370930">
                <a:tc>
                  <a:txBody>
                    <a:bodyPr/>
                    <a:lstStyle/>
                    <a:p>
                      <a:r>
                        <a:rPr lang="de-DE" dirty="0"/>
                        <a:t>Pattern </a:t>
                      </a:r>
                      <a:r>
                        <a:rPr lang="de-DE" dirty="0" err="1"/>
                        <a:t>matching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enhancements</a:t>
                      </a:r>
                      <a:r>
                        <a:rPr lang="de-DE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719962"/>
                  </a:ext>
                </a:extLst>
              </a:tr>
              <a:tr h="3283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Provides the ability to deconstruct matched objects, and giving you access to parts of their data structures. C# offers a rich set of patterns that can be used for matching:</a:t>
                      </a:r>
                      <a:r>
                        <a:rPr lang="en-US" sz="1400" kern="1200" baseline="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400" kern="1200" dirty="0">
                        <a:solidFill>
                          <a:schemeClr val="dk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+mj-lt"/>
                        </a:rPr>
                        <a:t>Switch expressions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+mj-lt"/>
                        </a:rPr>
                        <a:t>Property patterns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+mj-lt"/>
                        </a:rPr>
                        <a:t>Tuple patterns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latin typeface="+mj-lt"/>
                        </a:rPr>
                        <a:t>Positional patterns</a:t>
                      </a:r>
                      <a:endParaRPr lang="en-US" sz="1100" dirty="0">
                        <a:latin typeface="+mj-lt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1100" dirty="0"/>
                    </a:p>
                    <a:p>
                      <a:r>
                        <a:rPr lang="en-US" sz="1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bool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Positive(</a:t>
                      </a:r>
                      <a:r>
                        <a:rPr lang="en-US" sz="11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Point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p) =&gt; p </a:t>
                      </a:r>
                      <a:r>
                        <a:rPr lang="en-US" sz="1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switch</a:t>
                      </a:r>
                      <a:endParaRPr lang="en-US" sz="11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de-DE" sz="11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r>
                        <a:rPr lang="de-DE" sz="11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   (0, 0) =&gt; </a:t>
                      </a:r>
                      <a:r>
                        <a:rPr lang="de-DE" sz="11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de-DE" sz="11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</a:p>
                    <a:p>
                      <a:r>
                        <a:rPr lang="da-DK" sz="10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   (</a:t>
                      </a:r>
                      <a:r>
                        <a:rPr lang="da-DK" sz="10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da-DK" sz="10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x, </a:t>
                      </a:r>
                      <a:r>
                        <a:rPr lang="da-DK" sz="10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da-DK" sz="10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y) </a:t>
                      </a:r>
                      <a:r>
                        <a:rPr lang="da-DK" sz="10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when</a:t>
                      </a:r>
                      <a:r>
                        <a:rPr lang="da-DK" sz="10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x &gt; 0 &amp;&amp; y &gt; 0 =&gt; </a:t>
                      </a:r>
                      <a:r>
                        <a:rPr lang="da-DK" sz="10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da-DK" sz="10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,</a:t>
                      </a:r>
                    </a:p>
                    <a:p>
                      <a:r>
                        <a:rPr lang="de-DE" sz="11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de-DE" sz="11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_</a:t>
                      </a:r>
                      <a:r>
                        <a:rPr lang="de-DE" sz="11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=&gt; </a:t>
                      </a:r>
                      <a:r>
                        <a:rPr lang="de-DE" sz="11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false</a:t>
                      </a:r>
                      <a:endParaRPr lang="de-DE" sz="11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de-DE" sz="11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};</a:t>
                      </a:r>
                      <a:r>
                        <a:rPr lang="en-US" sz="1400" dirty="0"/>
                        <a:t>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16919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852312"/>
              </p:ext>
            </p:extLst>
          </p:nvPr>
        </p:nvGraphicFramePr>
        <p:xfrm>
          <a:off x="4320828" y="4845470"/>
          <a:ext cx="3571102" cy="1846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102">
                  <a:extLst>
                    <a:ext uri="{9D8B030D-6E8A-4147-A177-3AD203B41FA5}">
                      <a16:colId xmlns:a16="http://schemas.microsoft.com/office/drawing/2014/main" val="3798824116"/>
                    </a:ext>
                  </a:extLst>
                </a:gridCol>
              </a:tblGrid>
              <a:tr h="362745">
                <a:tc>
                  <a:txBody>
                    <a:bodyPr/>
                    <a:lstStyle/>
                    <a:p>
                      <a:r>
                        <a:rPr lang="de-DE" dirty="0" err="1"/>
                        <a:t>Asynchronous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streams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719962"/>
                  </a:ext>
                </a:extLst>
              </a:tr>
              <a:tr h="148120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Allows to have enumerators that support </a:t>
                      </a:r>
                      <a:r>
                        <a:rPr lang="en-US" sz="1400" dirty="0" err="1">
                          <a:solidFill>
                            <a:srgbClr val="0000FF"/>
                          </a:solidFill>
                          <a:latin typeface="+mj-lt"/>
                        </a:rPr>
                        <a:t>async</a:t>
                      </a:r>
                      <a:r>
                        <a:rPr lang="en-US" sz="1400" dirty="0">
                          <a:latin typeface="+mj-lt"/>
                        </a:rPr>
                        <a:t> operations. </a:t>
                      </a:r>
                    </a:p>
                    <a:p>
                      <a:endParaRPr lang="en-US" sz="1400" dirty="0"/>
                    </a:p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await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foreach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x 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in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enumerable)</a:t>
                      </a:r>
                    </a:p>
                    <a:p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de-DE" sz="1200" kern="1200" dirty="0" err="1">
                          <a:solidFill>
                            <a:srgbClr val="2B91A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Console.</a:t>
                      </a:r>
                      <a:r>
                        <a:rPr lang="de-DE" sz="12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WriteLine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(x);</a:t>
                      </a:r>
                    </a:p>
                    <a:p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} </a:t>
                      </a:r>
                      <a:endParaRPr lang="de-DE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16919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587342"/>
              </p:ext>
            </p:extLst>
          </p:nvPr>
        </p:nvGraphicFramePr>
        <p:xfrm>
          <a:off x="182464" y="1022372"/>
          <a:ext cx="3571102" cy="289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102">
                  <a:extLst>
                    <a:ext uri="{9D8B030D-6E8A-4147-A177-3AD203B41FA5}">
                      <a16:colId xmlns:a16="http://schemas.microsoft.com/office/drawing/2014/main" val="3798824116"/>
                    </a:ext>
                  </a:extLst>
                </a:gridCol>
              </a:tblGrid>
              <a:tr h="377738">
                <a:tc>
                  <a:txBody>
                    <a:bodyPr/>
                    <a:lstStyle/>
                    <a:p>
                      <a:r>
                        <a:rPr lang="de-DE" sz="1800" dirty="0"/>
                        <a:t>Default </a:t>
                      </a:r>
                      <a:r>
                        <a:rPr lang="de-DE" sz="1800" dirty="0" err="1"/>
                        <a:t>interface</a:t>
                      </a:r>
                      <a:r>
                        <a:rPr lang="de-DE" sz="1800" dirty="0"/>
                        <a:t> </a:t>
                      </a:r>
                      <a:r>
                        <a:rPr lang="de-DE" sz="1800" dirty="0" err="1"/>
                        <a:t>methods</a:t>
                      </a:r>
                      <a:endParaRPr lang="de-DE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719962"/>
                  </a:ext>
                </a:extLst>
              </a:tr>
              <a:tr h="25182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Allows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you to add new functionality to your interfaces of your libraries and ensure the backward compatibility with code written for older versions of those interfaces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de-DE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interface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2B91AF"/>
                          </a:solidFill>
                          <a:latin typeface="Consolas" panose="020B0609020204030204" pitchFamily="49" charset="0"/>
                        </a:rPr>
                        <a:t>IWriteLine</a:t>
                      </a:r>
                      <a:endParaRPr lang="de-DE" sz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WriteLine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</a:p>
                    <a:p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  </a:t>
                      </a:r>
                      <a:r>
                        <a:rPr lang="de-DE" sz="1200" kern="1200" dirty="0" err="1">
                          <a:solidFill>
                            <a:srgbClr val="2B91A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Console.</a:t>
                      </a:r>
                      <a:r>
                        <a:rPr lang="de-DE" sz="12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WriteLine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de-DE" sz="1200" dirty="0">
                          <a:solidFill>
                            <a:srgbClr val="A31515"/>
                          </a:solidFill>
                          <a:latin typeface="Consolas" panose="020B0609020204030204" pitchFamily="49" charset="0"/>
                        </a:rPr>
                        <a:t>"Wow C#</a:t>
                      </a:r>
                      <a:r>
                        <a:rPr lang="de-DE" sz="1200" baseline="0" dirty="0">
                          <a:solidFill>
                            <a:srgbClr val="A31515"/>
                          </a:solidFill>
                          <a:latin typeface="Consolas" panose="020B0609020204030204" pitchFamily="49" charset="0"/>
                        </a:rPr>
                        <a:t> 8</a:t>
                      </a:r>
                      <a:r>
                        <a:rPr lang="de-DE" sz="1200" dirty="0">
                          <a:solidFill>
                            <a:srgbClr val="A31515"/>
                          </a:solidFill>
                          <a:latin typeface="Consolas" panose="020B0609020204030204" pitchFamily="49" charset="0"/>
                        </a:rPr>
                        <a:t>!"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}</a:t>
                      </a:r>
                    </a:p>
                    <a:p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16919"/>
                  </a:ext>
                </a:extLst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182464" y="99042"/>
            <a:ext cx="73736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C# 8 Feature </a:t>
            </a:r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heat </a:t>
            </a:r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heet 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525318"/>
              </p:ext>
            </p:extLst>
          </p:nvPr>
        </p:nvGraphicFramePr>
        <p:xfrm>
          <a:off x="8459192" y="4040678"/>
          <a:ext cx="357110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102">
                  <a:extLst>
                    <a:ext uri="{9D8B030D-6E8A-4147-A177-3AD203B41FA5}">
                      <a16:colId xmlns:a16="http://schemas.microsoft.com/office/drawing/2014/main" val="37988241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e-DE" dirty="0"/>
                        <a:t>Null-</a:t>
                      </a:r>
                      <a:r>
                        <a:rPr lang="de-DE" dirty="0" err="1"/>
                        <a:t>coalescing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assignment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719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Simplifies a common coding pattern where a variable is assigned a value if it is null.</a:t>
                      </a:r>
                    </a:p>
                    <a:p>
                      <a:r>
                        <a:rPr lang="en-US" sz="1400" dirty="0">
                          <a:latin typeface="+mj-lt"/>
                        </a:rPr>
                        <a:t>It is common to see the code of the form</a:t>
                      </a:r>
                      <a:r>
                        <a:rPr lang="en-US" sz="1400" dirty="0"/>
                        <a:t>:</a:t>
                      </a:r>
                    </a:p>
                    <a:p>
                      <a:endParaRPr lang="en-US" sz="1200" dirty="0"/>
                    </a:p>
                    <a:p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(variable == </a:t>
                      </a:r>
                      <a:r>
                        <a:rPr lang="de-DE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null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r>
                        <a:rPr lang="fr-FR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  variable = expression;  </a:t>
                      </a:r>
                      <a:r>
                        <a:rPr lang="fr-FR" sz="1200" dirty="0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// C#  1..7</a:t>
                      </a:r>
                      <a:endParaRPr lang="fr-FR" sz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}</a:t>
                      </a:r>
                    </a:p>
                    <a:p>
                      <a:endParaRPr lang="de-DE" sz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variable </a:t>
                      </a:r>
                      <a:r>
                        <a:rPr lang="de-DE" sz="1200" kern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??=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fr-FR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expression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; </a:t>
                      </a:r>
                      <a:r>
                        <a:rPr lang="de-DE" sz="1200" dirty="0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// C# 8</a:t>
                      </a:r>
                      <a:endParaRPr lang="en-US" sz="1200" dirty="0"/>
                    </a:p>
                    <a:p>
                      <a:endParaRPr lang="de-DE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16919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035948"/>
              </p:ext>
            </p:extLst>
          </p:nvPr>
        </p:nvGraphicFramePr>
        <p:xfrm>
          <a:off x="8459192" y="1022371"/>
          <a:ext cx="357110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102">
                  <a:extLst>
                    <a:ext uri="{9D8B030D-6E8A-4147-A177-3AD203B41FA5}">
                      <a16:colId xmlns:a16="http://schemas.microsoft.com/office/drawing/2014/main" val="3798824116"/>
                    </a:ext>
                  </a:extLst>
                </a:gridCol>
              </a:tblGrid>
              <a:tr h="172621">
                <a:tc>
                  <a:txBody>
                    <a:bodyPr/>
                    <a:lstStyle/>
                    <a:p>
                      <a:r>
                        <a:rPr lang="de-DE" dirty="0" err="1"/>
                        <a:t>Using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declarations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719962"/>
                  </a:ext>
                </a:extLst>
              </a:tr>
              <a:tr h="5275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Enhances the ‘</a:t>
                      </a:r>
                      <a:r>
                        <a:rPr lang="en-US" sz="1400" kern="1200" dirty="0">
                          <a:solidFill>
                            <a:srgbClr val="0000FF"/>
                          </a:solidFill>
                          <a:latin typeface="+mj-lt"/>
                          <a:ea typeface="+mn-ea"/>
                          <a:cs typeface="+mn-cs"/>
                        </a:rPr>
                        <a:t>using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’ operator to use with Patterns and make it more natural.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using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kern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var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repository = 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new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2B91AF"/>
                          </a:solidFill>
                          <a:latin typeface="Consolas" panose="020B0609020204030204" pitchFamily="49" charset="0"/>
                        </a:rPr>
                        <a:t>Repository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r>
                        <a:rPr lang="de-DE" sz="1200" kern="1200" dirty="0" err="1">
                          <a:solidFill>
                            <a:srgbClr val="2B91A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Console.</a:t>
                      </a:r>
                      <a:r>
                        <a:rPr lang="de-DE" sz="12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WriteLine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de-DE" sz="1200" dirty="0" err="1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repository.First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());</a:t>
                      </a:r>
                    </a:p>
                    <a:p>
                      <a:r>
                        <a:rPr lang="de-DE" sz="1200" dirty="0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de-DE" sz="1200" dirty="0" err="1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repository</a:t>
                      </a:r>
                      <a:r>
                        <a:rPr lang="de-DE" sz="1200" dirty="0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is</a:t>
                      </a:r>
                      <a:r>
                        <a:rPr lang="de-DE" sz="1200" dirty="0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disposed</a:t>
                      </a:r>
                      <a:r>
                        <a:rPr lang="de-DE" sz="1200" dirty="0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here</a:t>
                      </a:r>
                      <a:r>
                        <a:rPr lang="de-DE" sz="1200" dirty="0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!</a:t>
                      </a:r>
                      <a:endParaRPr lang="de-DE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16919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525819"/>
              </p:ext>
            </p:extLst>
          </p:nvPr>
        </p:nvGraphicFramePr>
        <p:xfrm>
          <a:off x="8459192" y="2790604"/>
          <a:ext cx="3571102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102">
                  <a:extLst>
                    <a:ext uri="{9D8B030D-6E8A-4147-A177-3AD203B41FA5}">
                      <a16:colId xmlns:a16="http://schemas.microsoft.com/office/drawing/2014/main" val="580109798"/>
                    </a:ext>
                  </a:extLst>
                </a:gridCol>
              </a:tblGrid>
              <a:tr h="472132">
                <a:tc>
                  <a:txBody>
                    <a:bodyPr/>
                    <a:lstStyle/>
                    <a:p>
                      <a:r>
                        <a:rPr lang="en-US" sz="1800" dirty="0"/>
                        <a:t>Enhancement of interpolated verbatim strings</a:t>
                      </a:r>
                      <a:endParaRPr lang="de-DE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095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Allows</a:t>
                      </a:r>
                      <a:r>
                        <a:rPr lang="de-DE" sz="14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>
                          <a:solidFill>
                            <a:srgbClr val="800000"/>
                          </a:solidFill>
                          <a:latin typeface="Consolas" panose="020B0609020204030204" pitchFamily="49" charset="0"/>
                        </a:rPr>
                        <a:t>@$""</a:t>
                      </a:r>
                      <a:r>
                        <a:rPr lang="en-US" sz="1200" dirty="0"/>
                        <a:t>  </a:t>
                      </a:r>
                      <a:r>
                        <a:rPr lang="en-US" sz="1400" dirty="0">
                          <a:latin typeface="+mj-lt"/>
                        </a:rPr>
                        <a:t>as a verbatim interpolated string, </a:t>
                      </a:r>
                      <a:endParaRPr lang="nn-NO" sz="1400" dirty="0">
                        <a:latin typeface="+mj-lt"/>
                      </a:endParaRPr>
                    </a:p>
                    <a:p>
                      <a:r>
                        <a:rPr lang="nn-NO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nn-NO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file = </a:t>
                      </a:r>
                      <a:r>
                        <a:rPr lang="nn-NO" sz="1200" dirty="0">
                          <a:solidFill>
                            <a:srgbClr val="800000"/>
                          </a:solidFill>
                          <a:latin typeface="Consolas" panose="020B0609020204030204" pitchFamily="49" charset="0"/>
                        </a:rPr>
                        <a:t>@$"c:\temp\</a:t>
                      </a:r>
                      <a:r>
                        <a:rPr lang="nn-NO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{filename}</a:t>
                      </a:r>
                      <a:r>
                        <a:rPr lang="nn-NO" sz="1200" dirty="0">
                          <a:solidFill>
                            <a:srgbClr val="80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nn-NO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;</a:t>
                      </a:r>
                      <a:r>
                        <a:rPr lang="nn-NO" sz="1200" dirty="0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//C# 8</a:t>
                      </a:r>
                      <a:endParaRPr lang="de-DE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320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669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650528"/>
              </p:ext>
            </p:extLst>
          </p:nvPr>
        </p:nvGraphicFramePr>
        <p:xfrm>
          <a:off x="219344" y="223217"/>
          <a:ext cx="357110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102">
                  <a:extLst>
                    <a:ext uri="{9D8B030D-6E8A-4147-A177-3AD203B41FA5}">
                      <a16:colId xmlns:a16="http://schemas.microsoft.com/office/drawing/2014/main" val="37988241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e-DE" dirty="0" err="1"/>
                        <a:t>Static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local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functions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719962"/>
                  </a:ext>
                </a:extLst>
              </a:tr>
              <a:tr h="5138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Allows you to add the 'static' modifier to the local functions.</a:t>
                      </a:r>
                    </a:p>
                    <a:p>
                      <a:endParaRPr lang="en-US" sz="14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AddFiveAndSeven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()</a:t>
                      </a:r>
                    </a:p>
                    <a:p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r>
                        <a:rPr lang="de-DE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y = 1;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x = 2;</a:t>
                      </a:r>
                    </a:p>
                    <a:p>
                      <a:r>
                        <a:rPr lang="de-DE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Add(x, y); </a:t>
                      </a:r>
                    </a:p>
                    <a:p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</a:p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 static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Add(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o,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t) =&gt; o + t;</a:t>
                      </a:r>
                    </a:p>
                    <a:p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} </a:t>
                      </a:r>
                      <a:endParaRPr lang="en-US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1691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413648"/>
              </p:ext>
            </p:extLst>
          </p:nvPr>
        </p:nvGraphicFramePr>
        <p:xfrm>
          <a:off x="4298610" y="223216"/>
          <a:ext cx="3571102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102">
                  <a:extLst>
                    <a:ext uri="{9D8B030D-6E8A-4147-A177-3AD203B41FA5}">
                      <a16:colId xmlns:a16="http://schemas.microsoft.com/office/drawing/2014/main" val="37988241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e-DE" sz="1800" b="1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Unmanaged</a:t>
                      </a:r>
                      <a:r>
                        <a:rPr lang="de-DE" sz="18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800" b="1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constructed</a:t>
                      </a:r>
                      <a:r>
                        <a:rPr lang="de-DE" sz="18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800" b="1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types</a:t>
                      </a:r>
                      <a:endParaRPr lang="de-D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719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Allows</a:t>
                      </a:r>
                      <a:r>
                        <a:rPr lang="en-US" sz="1400" baseline="0" dirty="0">
                          <a:latin typeface="+mj-lt"/>
                        </a:rPr>
                        <a:t> you to </a:t>
                      </a:r>
                      <a:r>
                        <a:rPr lang="en-US" sz="1400" dirty="0">
                          <a:latin typeface="+mj-lt"/>
                        </a:rPr>
                        <a:t>take a pointer to unmanaged constructed types, such as </a:t>
                      </a:r>
                      <a:r>
                        <a:rPr lang="en-US" sz="1400" dirty="0" err="1">
                          <a:solidFill>
                            <a:schemeClr val="accent1"/>
                          </a:solidFill>
                          <a:latin typeface="+mj-lt"/>
                        </a:rPr>
                        <a:t>ValueTuple</a:t>
                      </a:r>
                      <a:r>
                        <a:rPr lang="en-US" sz="1400" dirty="0">
                          <a:latin typeface="+mj-lt"/>
                        </a:rPr>
                        <a:t>&lt;</a:t>
                      </a:r>
                      <a:r>
                        <a:rPr lang="en-US" sz="1400" dirty="0" err="1">
                          <a:solidFill>
                            <a:srgbClr val="0000FF"/>
                          </a:solidFill>
                          <a:latin typeface="+mj-lt"/>
                        </a:rPr>
                        <a:t>int</a:t>
                      </a:r>
                      <a:r>
                        <a:rPr lang="en-US" sz="1400" dirty="0">
                          <a:latin typeface="+mj-lt"/>
                        </a:rPr>
                        <a:t>, </a:t>
                      </a:r>
                      <a:r>
                        <a:rPr lang="en-US" sz="1400" dirty="0" err="1">
                          <a:solidFill>
                            <a:srgbClr val="0000FF"/>
                          </a:solidFill>
                          <a:latin typeface="+mj-lt"/>
                        </a:rPr>
                        <a:t>int</a:t>
                      </a:r>
                      <a:r>
                        <a:rPr lang="en-US" sz="1400" dirty="0">
                          <a:latin typeface="+mj-lt"/>
                        </a:rPr>
                        <a:t>&gt;, as long as all the elements of the generic type are unmanaged.</a:t>
                      </a:r>
                    </a:p>
                    <a:p>
                      <a:endParaRPr lang="en-US" sz="1200" dirty="0"/>
                    </a:p>
                    <a:p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struct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Foo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de-DE" sz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T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&gt;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where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T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 :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unmanaged</a:t>
                      </a:r>
                      <a:endParaRPr lang="de-DE" sz="12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de-DE" sz="120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r>
                        <a:rPr lang="de-DE" sz="1200" dirty="0"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endParaRPr lang="de-DE" sz="12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de-DE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unsafe</a:t>
                      </a:r>
                      <a:r>
                        <a:rPr lang="de-DE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de-DE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Test()</a:t>
                      </a:r>
                    </a:p>
                    <a:p>
                      <a:r>
                        <a:rPr lang="de-DE" sz="1200" dirty="0"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r>
                        <a:rPr lang="de-DE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latin typeface="Consolas" panose="020B0609020204030204" pitchFamily="49" charset="0"/>
                        </a:rPr>
                        <a:t>foo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de-DE" sz="1200" dirty="0" err="1">
                          <a:latin typeface="Consolas" panose="020B0609020204030204" pitchFamily="49" charset="0"/>
                        </a:rPr>
                        <a:t>new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Foo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&lt;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&gt;();</a:t>
                      </a:r>
                    </a:p>
                    <a:p>
                      <a:r>
                        <a:rPr lang="de-DE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 bar = &amp;</a:t>
                      </a:r>
                      <a:r>
                        <a:rPr lang="de-DE" sz="1200" dirty="0" err="1">
                          <a:latin typeface="Consolas" panose="020B0609020204030204" pitchFamily="49" charset="0"/>
                        </a:rPr>
                        <a:t>foo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;   </a:t>
                      </a:r>
                      <a:r>
                        <a:rPr lang="de-DE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// C# 8</a:t>
                      </a:r>
                    </a:p>
                    <a:p>
                      <a:r>
                        <a:rPr lang="de-DE" sz="120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16919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311868"/>
              </p:ext>
            </p:extLst>
          </p:nvPr>
        </p:nvGraphicFramePr>
        <p:xfrm>
          <a:off x="8377876" y="223216"/>
          <a:ext cx="357110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102">
                  <a:extLst>
                    <a:ext uri="{9D8B030D-6E8A-4147-A177-3AD203B41FA5}">
                      <a16:colId xmlns:a16="http://schemas.microsoft.com/office/drawing/2014/main" val="37988241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e-DE" sz="1800" b="1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Stackalloc</a:t>
                      </a:r>
                      <a:r>
                        <a:rPr lang="de-DE" sz="18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 </a:t>
                      </a:r>
                      <a:r>
                        <a:rPr lang="de-DE" sz="1800" b="1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nested</a:t>
                      </a:r>
                      <a:r>
                        <a:rPr lang="de-DE" sz="18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800" b="1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expressions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719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j-lt"/>
                        </a:rPr>
                        <a:t>The result of a </a:t>
                      </a:r>
                      <a:r>
                        <a:rPr lang="en-US" sz="1400" dirty="0" err="1">
                          <a:latin typeface="+mj-lt"/>
                        </a:rPr>
                        <a:t>stackalloc</a:t>
                      </a:r>
                      <a:r>
                        <a:rPr lang="en-US" sz="1400" dirty="0">
                          <a:latin typeface="+mj-lt"/>
                        </a:rPr>
                        <a:t> expression is of the </a:t>
                      </a:r>
                      <a:r>
                        <a:rPr lang="en-US" sz="1400" dirty="0" err="1">
                          <a:latin typeface="+mj-lt"/>
                        </a:rPr>
                        <a:t>System.Span</a:t>
                      </a:r>
                      <a:r>
                        <a:rPr lang="en-US" sz="1400" dirty="0">
                          <a:latin typeface="+mj-lt"/>
                        </a:rPr>
                        <a:t>&lt;T&gt; or </a:t>
                      </a:r>
                      <a:r>
                        <a:rPr lang="en-US" sz="1400" dirty="0" err="1">
                          <a:latin typeface="+mj-lt"/>
                        </a:rPr>
                        <a:t>System.ReadOnlySpan</a:t>
                      </a:r>
                      <a:r>
                        <a:rPr lang="en-US" sz="1400" dirty="0">
                          <a:latin typeface="+mj-lt"/>
                        </a:rPr>
                        <a:t>&lt;T&gt; type.</a:t>
                      </a:r>
                      <a:endParaRPr lang="de-DE" sz="1400" dirty="0">
                        <a:latin typeface="+mj-lt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Span&lt;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de-DE" sz="120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&gt; </a:t>
                      </a:r>
                      <a:r>
                        <a:rPr lang="de-DE" sz="1200" dirty="0" err="1">
                          <a:latin typeface="Consolas" panose="020B0609020204030204" pitchFamily="49" charset="0"/>
                        </a:rPr>
                        <a:t>set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stackalloc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[] { 1, 2, 3, 4, 5, 6 };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latin typeface="Consolas" panose="020B0609020204030204" pitchFamily="49" charset="0"/>
                        </a:rPr>
                        <a:t>subSet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de-DE" sz="1200" dirty="0" err="1">
                          <a:latin typeface="Consolas" panose="020B0609020204030204" pitchFamily="49" charset="0"/>
                        </a:rPr>
                        <a:t>set.Slice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(3, 2);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 err="1">
                          <a:latin typeface="Consolas" panose="020B0609020204030204" pitchFamily="49" charset="0"/>
                        </a:rPr>
                        <a:t>foreach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 n in </a:t>
                      </a:r>
                      <a:r>
                        <a:rPr lang="de-DE" sz="1200" dirty="0" err="1">
                          <a:latin typeface="Consolas" panose="020B0609020204030204" pitchFamily="49" charset="0"/>
                        </a:rPr>
                        <a:t>subSet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de-DE" sz="1200" dirty="0" err="1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de-DE" sz="1200" dirty="0" err="1">
                          <a:latin typeface="Consolas" panose="020B0609020204030204" pitchFamily="49" charset="0"/>
                        </a:rPr>
                        <a:t>.WriteLine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(n);  // </a:t>
                      </a:r>
                      <a:r>
                        <a:rPr lang="de-DE" sz="1200" dirty="0">
                          <a:solidFill>
                            <a:schemeClr val="accent6"/>
                          </a:solidFill>
                          <a:latin typeface="Consolas" panose="020B0609020204030204" pitchFamily="49" charset="0"/>
                        </a:rPr>
                        <a:t>Output: 4  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16919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800102"/>
              </p:ext>
            </p:extLst>
          </p:nvPr>
        </p:nvGraphicFramePr>
        <p:xfrm>
          <a:off x="8377876" y="2412738"/>
          <a:ext cx="3571102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102">
                  <a:extLst>
                    <a:ext uri="{9D8B030D-6E8A-4147-A177-3AD203B41FA5}">
                      <a16:colId xmlns:a16="http://schemas.microsoft.com/office/drawing/2014/main" val="37988241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e-DE" dirty="0" err="1"/>
                        <a:t>Disposable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ref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structs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719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Allows you to use the ‘</a:t>
                      </a:r>
                      <a:r>
                        <a:rPr lang="en-US" sz="1400" kern="1200" dirty="0">
                          <a:solidFill>
                            <a:srgbClr val="0000FF"/>
                          </a:solidFill>
                          <a:latin typeface="+mj-lt"/>
                          <a:ea typeface="+mn-ea"/>
                          <a:cs typeface="+mn-cs"/>
                        </a:rPr>
                        <a:t>using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’ pattern with </a:t>
                      </a:r>
                      <a:r>
                        <a:rPr lang="en-US" sz="1400" kern="1200" dirty="0">
                          <a:solidFill>
                            <a:srgbClr val="0000FF"/>
                          </a:solidFill>
                          <a:latin typeface="+mj-lt"/>
                          <a:ea typeface="+mn-ea"/>
                          <a:cs typeface="+mn-cs"/>
                        </a:rPr>
                        <a:t>ref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 err="1">
                          <a:solidFill>
                            <a:srgbClr val="0000FF"/>
                          </a:solidFill>
                          <a:latin typeface="+mj-lt"/>
                          <a:ea typeface="+mn-ea"/>
                          <a:cs typeface="+mn-cs"/>
                        </a:rPr>
                        <a:t>struct</a:t>
                      </a:r>
                      <a:r>
                        <a:rPr lang="en-US" sz="1400" kern="1200" dirty="0">
                          <a:solidFill>
                            <a:srgbClr val="0000FF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or </a:t>
                      </a:r>
                      <a:r>
                        <a:rPr lang="en-US" sz="1400" kern="1200" dirty="0" err="1">
                          <a:solidFill>
                            <a:srgbClr val="0000FF"/>
                          </a:solidFill>
                          <a:latin typeface="+mj-lt"/>
                          <a:ea typeface="+mn-ea"/>
                          <a:cs typeface="+mn-cs"/>
                        </a:rPr>
                        <a:t>readonly</a:t>
                      </a:r>
                      <a:r>
                        <a:rPr lang="en-US" sz="1400" kern="1200" dirty="0">
                          <a:solidFill>
                            <a:srgbClr val="0000FF"/>
                          </a:solidFill>
                          <a:latin typeface="+mj-lt"/>
                          <a:ea typeface="+mn-ea"/>
                          <a:cs typeface="+mn-cs"/>
                        </a:rPr>
                        <a:t> ref </a:t>
                      </a:r>
                      <a:r>
                        <a:rPr lang="en-US" sz="1400" kern="1200" dirty="0" err="1">
                          <a:solidFill>
                            <a:srgbClr val="0000FF"/>
                          </a:solidFill>
                          <a:latin typeface="+mj-lt"/>
                          <a:ea typeface="+mn-ea"/>
                          <a:cs typeface="+mn-cs"/>
                        </a:rPr>
                        <a:t>struct</a:t>
                      </a:r>
                      <a:r>
                        <a:rPr lang="en-US" sz="1400" dirty="0">
                          <a:latin typeface="+mj-lt"/>
                        </a:rPr>
                        <a:t>‘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lang="de-DE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200" dirty="0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// Pattern-based using for ref </a:t>
                      </a:r>
                      <a:r>
                        <a:rPr lang="en-US" sz="1200" dirty="0" err="1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struct</a:t>
                      </a:r>
                      <a:endParaRPr lang="en-US" sz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ref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struct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>
                          <a:solidFill>
                            <a:srgbClr val="2B91AF"/>
                          </a:solidFill>
                          <a:latin typeface="Consolas" panose="020B0609020204030204" pitchFamily="49" charset="0"/>
                        </a:rPr>
                        <a:t>Test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{ </a:t>
                      </a:r>
                    </a:p>
                    <a:p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Dispose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() {}</a:t>
                      </a:r>
                    </a:p>
                    <a:p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endParaRPr lang="de-DE" sz="1200" dirty="0">
                        <a:solidFill>
                          <a:srgbClr val="000000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using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test = 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new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2B91AF"/>
                          </a:solidFill>
                          <a:latin typeface="Consolas" panose="020B0609020204030204" pitchFamily="49" charset="0"/>
                        </a:rPr>
                        <a:t>Test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r>
                        <a:rPr lang="de-DE" sz="1200" dirty="0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de-DE" sz="1200" dirty="0" err="1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test</a:t>
                      </a:r>
                      <a:r>
                        <a:rPr lang="de-DE" sz="1200" dirty="0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is</a:t>
                      </a:r>
                      <a:r>
                        <a:rPr lang="de-DE" sz="1200" dirty="0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disposed</a:t>
                      </a:r>
                      <a:r>
                        <a:rPr lang="de-DE" sz="1200" dirty="0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here</a:t>
                      </a:r>
                      <a:r>
                        <a:rPr lang="de-DE" sz="1200" dirty="0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! </a:t>
                      </a:r>
                      <a:endParaRPr lang="de-DE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16919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372655"/>
              </p:ext>
            </p:extLst>
          </p:nvPr>
        </p:nvGraphicFramePr>
        <p:xfrm>
          <a:off x="4271477" y="3518448"/>
          <a:ext cx="3571102" cy="321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102">
                  <a:extLst>
                    <a:ext uri="{9D8B030D-6E8A-4147-A177-3AD203B41FA5}">
                      <a16:colId xmlns:a16="http://schemas.microsoft.com/office/drawing/2014/main" val="3798824116"/>
                    </a:ext>
                  </a:extLst>
                </a:gridCol>
              </a:tblGrid>
              <a:tr h="1560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Readonly</a:t>
                      </a:r>
                      <a:r>
                        <a:rPr lang="de-DE" sz="18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-Member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719962"/>
                  </a:ext>
                </a:extLst>
              </a:tr>
              <a:tr h="121559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Allows</a:t>
                      </a:r>
                      <a:r>
                        <a:rPr lang="en-US" sz="1400" baseline="0" dirty="0">
                          <a:latin typeface="+mj-lt"/>
                        </a:rPr>
                        <a:t> you to </a:t>
                      </a:r>
                      <a:r>
                        <a:rPr lang="en-US" sz="1400" dirty="0">
                          <a:latin typeface="+mj-lt"/>
                        </a:rPr>
                        <a:t>apply the </a:t>
                      </a:r>
                      <a:r>
                        <a:rPr lang="en-US" sz="1400" dirty="0" err="1">
                          <a:solidFill>
                            <a:srgbClr val="0000FF"/>
                          </a:solidFill>
                          <a:latin typeface="+mj-lt"/>
                        </a:rPr>
                        <a:t>readonly</a:t>
                      </a:r>
                      <a:r>
                        <a:rPr lang="en-US" sz="1400" dirty="0">
                          <a:latin typeface="+mj-lt"/>
                        </a:rPr>
                        <a:t> modifier to any member of a </a:t>
                      </a:r>
                      <a:r>
                        <a:rPr lang="en-US" sz="1400" dirty="0" err="1">
                          <a:solidFill>
                            <a:srgbClr val="0000FF"/>
                          </a:solidFill>
                          <a:latin typeface="+mj-lt"/>
                        </a:rPr>
                        <a:t>struct</a:t>
                      </a:r>
                      <a:r>
                        <a:rPr lang="en-US" sz="1400" dirty="0">
                          <a:latin typeface="+mj-lt"/>
                        </a:rPr>
                        <a:t>.</a:t>
                      </a:r>
                      <a:endParaRPr lang="de-DE" sz="1400" dirty="0">
                        <a:latin typeface="+mj-lt"/>
                      </a:endParaRPr>
                    </a:p>
                    <a:p>
                      <a:endParaRPr lang="de-DE" sz="900" dirty="0"/>
                    </a:p>
                    <a:p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de-DE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struct</a:t>
                      </a:r>
                      <a:r>
                        <a:rPr lang="de-DE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latin typeface="Consolas" panose="020B0609020204030204" pitchFamily="49" charset="0"/>
                        </a:rPr>
                        <a:t>XValue</a:t>
                      </a:r>
                      <a:endParaRPr lang="de-DE" sz="12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de-DE" sz="1200" dirty="0">
                          <a:latin typeface="Consolas" panose="020B0609020204030204" pitchFamily="49" charset="0"/>
                        </a:rPr>
                        <a:t>{s</a:t>
                      </a:r>
                    </a:p>
                    <a:p>
                      <a:r>
                        <a:rPr lang="de-DE" sz="12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de-DE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private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de-DE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X {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get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;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set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; }</a:t>
                      </a:r>
                    </a:p>
                    <a:p>
                      <a:r>
                        <a:rPr lang="de-DE" sz="12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public</a:t>
                      </a:r>
                      <a:r>
                        <a:rPr lang="de-DE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readonly</a:t>
                      </a:r>
                      <a:r>
                        <a:rPr lang="de-DE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de-DE" sz="1200" dirty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latin typeface="Consolas" panose="020B0609020204030204" pitchFamily="49" charset="0"/>
                        </a:rPr>
                        <a:t>IncreaseX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()</a:t>
                      </a:r>
                    </a:p>
                    <a:p>
                      <a:r>
                        <a:rPr lang="de-DE" sz="1200" dirty="0">
                          <a:latin typeface="Consolas" panose="020B0609020204030204" pitchFamily="49" charset="0"/>
                        </a:rPr>
                        <a:t>  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   // This will not </a:t>
                      </a:r>
                      <a:r>
                        <a:rPr lang="de-DE" sz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compile</a:t>
                      </a:r>
                      <a:r>
                        <a:rPr lang="de-DE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</a:rPr>
                        <a:t>: C# 8</a:t>
                      </a:r>
                    </a:p>
                    <a:p>
                      <a:r>
                        <a:rPr lang="de-DE" sz="1200" dirty="0">
                          <a:latin typeface="Consolas" panose="020B0609020204030204" pitchFamily="49" charset="0"/>
                        </a:rPr>
                        <a:t>   X = X + 1;</a:t>
                      </a:r>
                    </a:p>
                    <a:p>
                      <a:endParaRPr lang="de-DE" sz="1200" dirty="0">
                        <a:latin typeface="Consolas" panose="020B0609020204030204" pitchFamily="49" charset="0"/>
                      </a:endParaRPr>
                    </a:p>
                    <a:p>
                      <a:r>
                        <a:rPr lang="de-DE" sz="12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latin typeface="Consolas" panose="020B0609020204030204" pitchFamily="49" charset="0"/>
                        </a:rPr>
                        <a:t>newX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 = X + 1; // OK</a:t>
                      </a:r>
                    </a:p>
                    <a:p>
                      <a:r>
                        <a:rPr lang="de-DE" sz="12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de-DE" sz="1200" dirty="0" err="1"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de-DE" sz="1200" dirty="0" err="1">
                          <a:latin typeface="Consolas" panose="020B0609020204030204" pitchFamily="49" charset="0"/>
                        </a:rPr>
                        <a:t>newX</a:t>
                      </a:r>
                      <a:r>
                        <a:rPr lang="de-DE" sz="1200" dirty="0"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de-DE" sz="1200" dirty="0">
                          <a:latin typeface="Consolas" panose="020B0609020204030204" pitchFamily="49" charset="0"/>
                        </a:rPr>
                        <a:t>  }</a:t>
                      </a:r>
                    </a:p>
                    <a:p>
                      <a:r>
                        <a:rPr lang="de-DE" sz="1200" dirty="0"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16919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580720"/>
              </p:ext>
            </p:extLst>
          </p:nvPr>
        </p:nvGraphicFramePr>
        <p:xfrm>
          <a:off x="219344" y="2924088"/>
          <a:ext cx="3571102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102">
                  <a:extLst>
                    <a:ext uri="{9D8B030D-6E8A-4147-A177-3AD203B41FA5}">
                      <a16:colId xmlns:a16="http://schemas.microsoft.com/office/drawing/2014/main" val="3798824116"/>
                    </a:ext>
                  </a:extLst>
                </a:gridCol>
              </a:tblGrid>
              <a:tr h="327330">
                <a:tc>
                  <a:txBody>
                    <a:bodyPr/>
                    <a:lstStyle/>
                    <a:p>
                      <a:r>
                        <a:rPr lang="de-DE" dirty="0"/>
                        <a:t>Indices </a:t>
                      </a:r>
                      <a:r>
                        <a:rPr lang="de-DE" dirty="0" err="1"/>
                        <a:t>and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ranges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719962"/>
                  </a:ext>
                </a:extLst>
              </a:tr>
              <a:tr h="340968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j-lt"/>
                        </a:rPr>
                        <a:t>Allows you to use more natural syntax for specifying subranges in an array</a:t>
                      </a:r>
                      <a:r>
                        <a:rPr lang="en-US" sz="1400" baseline="0" dirty="0">
                          <a:latin typeface="+mj-lt"/>
                        </a:rPr>
                        <a:t> or a collection.</a:t>
                      </a:r>
                    </a:p>
                    <a:p>
                      <a:endParaRPr lang="en-US" sz="1400" baseline="0" dirty="0"/>
                    </a:p>
                    <a:p>
                      <a:r>
                        <a:rPr lang="de-DE" sz="11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de-DE" sz="11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[] a = { 0, 1, 2, 3, 4, 5, 6, 7, 8, 9 };</a:t>
                      </a:r>
                    </a:p>
                    <a:p>
                      <a:endParaRPr lang="en-US" sz="1100" baseline="0" dirty="0"/>
                    </a:p>
                    <a:p>
                      <a:r>
                        <a:rPr lang="en-US" sz="1400" baseline="0" dirty="0">
                          <a:latin typeface="+mj-lt"/>
                        </a:rPr>
                        <a:t>Index:  Used to obtain the collection from the beginning or from the end.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aseline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rgbClr val="00800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// Number 4 from end of the collection</a:t>
                      </a:r>
                    </a:p>
                    <a:p>
                      <a:r>
                        <a:rPr lang="en-US" sz="1200" baseline="0" dirty="0"/>
                        <a:t> </a:t>
                      </a:r>
                      <a:r>
                        <a:rPr lang="de-DE" sz="1200" kern="1200" dirty="0">
                          <a:solidFill>
                            <a:srgbClr val="2B91A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Index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i2 = ^4; </a:t>
                      </a:r>
                    </a:p>
                    <a:p>
                      <a:r>
                        <a:rPr lang="de-DE" sz="1200" kern="1200" dirty="0">
                          <a:solidFill>
                            <a:srgbClr val="2B91A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de-DE" sz="1200" kern="1200" dirty="0" err="1">
                          <a:solidFill>
                            <a:srgbClr val="2B91AF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Console.</a:t>
                      </a:r>
                      <a:r>
                        <a:rPr lang="de-DE" sz="1200" kern="1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WriteLine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de-DE" sz="1200" dirty="0">
                          <a:solidFill>
                            <a:srgbClr val="A31515"/>
                          </a:solidFill>
                          <a:latin typeface="Consolas" panose="020B0609020204030204" pitchFamily="49" charset="0"/>
                        </a:rPr>
                        <a:t>$"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{a[i2]}</a:t>
                      </a:r>
                      <a:r>
                        <a:rPr lang="de-DE" sz="1200" dirty="0">
                          <a:solidFill>
                            <a:srgbClr val="A31515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); </a:t>
                      </a:r>
                      <a:r>
                        <a:rPr lang="de-DE" sz="1200" dirty="0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// "6"</a:t>
                      </a:r>
                      <a:endParaRPr lang="en-US" sz="1200" baseline="0" dirty="0"/>
                    </a:p>
                    <a:p>
                      <a:endParaRPr lang="en-US" sz="1400" baseline="0" dirty="0"/>
                    </a:p>
                    <a:p>
                      <a:r>
                        <a:rPr lang="en-US" sz="1400" baseline="0" dirty="0">
                          <a:latin typeface="+mj-lt"/>
                        </a:rPr>
                        <a:t>Range: Access a sub-collection(slice) from a collection</a:t>
                      </a:r>
                      <a:r>
                        <a:rPr lang="en-US" sz="1400" baseline="0" dirty="0"/>
                        <a:t>.</a:t>
                      </a:r>
                    </a:p>
                    <a:p>
                      <a:r>
                        <a:rPr lang="en-US" sz="1400" baseline="0" dirty="0"/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aseline="0" dirty="0">
                          <a:solidFill>
                            <a:schemeClr val="dk1"/>
                          </a:solidFill>
                          <a:latin typeface="+mn-lt"/>
                        </a:rPr>
                        <a:t> </a:t>
                      </a:r>
                      <a:r>
                        <a:rPr lang="de-DE" sz="1200" dirty="0" err="1">
                          <a:solidFill>
                            <a:srgbClr val="0000FF"/>
                          </a:solidFill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de-DE" sz="1200" dirty="0">
                          <a:solidFill>
                            <a:srgbClr val="000000"/>
                          </a:solidFill>
                          <a:latin typeface="Consolas" panose="020B0609020204030204" pitchFamily="49" charset="0"/>
                        </a:rPr>
                        <a:t> slice = a[i1..i2]; </a:t>
                      </a:r>
                      <a:r>
                        <a:rPr lang="de-DE" sz="1200" dirty="0">
                          <a:solidFill>
                            <a:srgbClr val="008000"/>
                          </a:solidFill>
                          <a:latin typeface="Consolas" panose="020B0609020204030204" pitchFamily="49" charset="0"/>
                        </a:rPr>
                        <a:t>// { 3, 4, 5 }</a:t>
                      </a:r>
                      <a:endParaRPr lang="en-US" sz="1200" baseline="0" dirty="0"/>
                    </a:p>
                    <a:p>
                      <a:endParaRPr lang="de-DE" sz="12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16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1118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801</Words>
  <Application>Microsoft Office PowerPoint</Application>
  <PresentationFormat>Widescreen</PresentationFormat>
  <Paragraphs>124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</vt:vector>
  </TitlesOfParts>
  <Company>STRATEC Biomedical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Alugili, Bassam</dc:creator>
  <cp:lastModifiedBy>Ketki Acharya</cp:lastModifiedBy>
  <cp:revision>226</cp:revision>
  <cp:lastPrinted>2019-10-25T13:43:48Z</cp:lastPrinted>
  <dcterms:created xsi:type="dcterms:W3CDTF">2019-03-18T10:36:05Z</dcterms:created>
  <dcterms:modified xsi:type="dcterms:W3CDTF">2022-04-22T09:46:41Z</dcterms:modified>
</cp:coreProperties>
</file>