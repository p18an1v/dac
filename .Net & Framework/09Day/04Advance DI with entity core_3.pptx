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0" r:id="rId2"/>
    <p:sldId id="297" r:id="rId3"/>
    <p:sldId id="304" r:id="rId4"/>
    <p:sldId id="301" r:id="rId5"/>
    <p:sldId id="302" r:id="rId6"/>
    <p:sldId id="305" r:id="rId7"/>
    <p:sldId id="306" r:id="rId8"/>
    <p:sldId id="30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arva Mhargude" userId="dea19e40f6ca4f9b" providerId="LiveId" clId="{D1F2B911-D123-4599-914A-9DE26B55CC2E}"/>
    <pc:docChg chg="modSld">
      <pc:chgData name="Atharva Mhargude" userId="dea19e40f6ca4f9b" providerId="LiveId" clId="{D1F2B911-D123-4599-914A-9DE26B55CC2E}" dt="2025-10-16T02:26:58.323" v="0" actId="1036"/>
      <pc:docMkLst>
        <pc:docMk/>
      </pc:docMkLst>
      <pc:sldChg chg="modSp mod">
        <pc:chgData name="Atharva Mhargude" userId="dea19e40f6ca4f9b" providerId="LiveId" clId="{D1F2B911-D123-4599-914A-9DE26B55CC2E}" dt="2025-10-16T02:26:58.323" v="0" actId="1036"/>
        <pc:sldMkLst>
          <pc:docMk/>
          <pc:sldMk cId="2242953386" sldId="301"/>
        </pc:sldMkLst>
        <pc:spChg chg="mod">
          <ac:chgData name="Atharva Mhargude" userId="dea19e40f6ca4f9b" providerId="LiveId" clId="{D1F2B911-D123-4599-914A-9DE26B55CC2E}" dt="2025-10-16T02:26:58.323" v="0" actId="1036"/>
          <ac:spMkLst>
            <pc:docMk/>
            <pc:sldMk cId="2242953386" sldId="301"/>
            <ac:spMk id="8" creationId="{8A635303-DE04-85FE-1795-7C028FA01C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F4637-8C58-8F5A-564F-26CFB4FC9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E256F-7004-7C19-D2A4-4F844ABFF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EF866-3025-3A52-1CFE-A88911ABB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6DC8D-8229-1D9A-772C-BA15B08EA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A4BD3-FF39-BE89-1A90-84C6D95E7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686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00232-93A4-C4EE-2F5C-3687ACF9F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2DA5D-62FD-B57D-D8FE-88E38F83C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1BD5B-2BAD-6548-14D6-0DB0A4D3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C8198-4887-5917-DD08-26058A6DF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F1691-452D-CC3F-22A6-4AB24893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538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96967-A7E1-A8D6-86E1-775ACEB88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1D0CB-337B-56D6-B265-63970FD9E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116B7-A60A-BCA6-F7DC-8B2CD1FEC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F8758-1609-9A6D-2237-762A0168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A649A-DDBB-97FC-CDB1-1B98AA1A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32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569C9-7639-4F98-F494-BE472635E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64F60-9D5A-BDD5-B591-49B013C4F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E06A9-7030-27D4-F4E2-B03886619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56975-F786-7485-37E0-F44A6B2C2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83698-5DBA-67D4-0545-1A81DDD0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399AE-ECB9-7CE3-4DC8-85C75A73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060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761D6-74BB-F118-FADC-DD8869A84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4C831-4369-24D7-C379-BA9E82FC4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03DD5-3B05-66AE-B75F-F6B0FA396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76E3EF-6B23-E5F8-F910-45F50A6D0F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4C1241-7097-2993-B9AA-1638B24B2C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24374-1B5C-9B52-D03C-165EF6264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B06659-E56C-E221-67A5-72E93A8D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97989-5EEA-E782-515D-2AD4F2F22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538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B047-E2B7-A666-AB77-EA15F6DAD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1FEAF-216B-4979-529D-74B5D5D2F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94835-2B5F-ADB7-9106-A6FC90AB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46C04-9143-8221-9352-A38E6DF6D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31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3EA990-D09D-DBA2-AE81-4E1634034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90100E-9DD5-0A77-86EC-521478841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2D24D-AC0E-51B1-EA45-0D7AD500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6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D37FE-FEA1-4854-27F5-3169012E4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D7B70-EA2F-148E-B937-535F285ED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738C6-227E-25C5-ABC3-59BD157CB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EE7DA-AD76-2C28-636C-53ECCBB32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92888-87E9-0863-719C-48252EBC5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F6AEE-6DDB-ABBE-5AD4-78755A3AF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937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292B-4D0E-1824-EDDB-35DF8DFB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EAE256-355C-9453-58D1-F9E0B7D34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EE9C9-7A36-BF2B-FD6C-8ADA68578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1B1DD-DF11-BE18-9433-45A0723BF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E291C-10D2-78D4-EC6B-CC0BC8A4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67516-26AA-A1DE-8B19-D6FE3845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046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EE85-1E8E-AEC8-2FCC-A1BD1277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2E6DDE-0F60-D004-5979-BB41D4770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677B7-0202-56F3-9621-7D3D1607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3FEEF-DE4D-FD02-B81A-2C78EE96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F38F3-96C3-5726-F7BE-ED9E2E33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44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A900A-3A06-40DA-ACE6-284B4423E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30D33-FD44-43D4-B2D4-2676B9008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B9D50-BE9F-7027-C565-02774E015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16352-2E9C-901B-E69C-43E42896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A029C-1B86-F7C1-BA41-B4B7B5C5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67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E5BD75-88AC-C256-B7FB-6B831CCE2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5199C-61E5-318F-2A8B-A58AE3A8B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18F49-0FB6-E240-C91D-7703BCAF9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AD721-BE92-4565-8AEB-324344BD76B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4773A-F7EB-0433-D730-38EDC6D12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808EF-7066-8070-8109-3BF76BADB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828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C87C86-1217-4FC7-A9E1-1BA7E5AA6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5" y="169731"/>
            <a:ext cx="4767485" cy="1316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77D79C-5002-4895-B66B-E707C0CB6109}"/>
              </a:ext>
            </a:extLst>
          </p:cNvPr>
          <p:cNvSpPr txBox="1"/>
          <p:nvPr/>
        </p:nvSpPr>
        <p:spPr>
          <a:xfrm>
            <a:off x="5053780" y="143307"/>
            <a:ext cx="6096000" cy="4462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Entity Framework Core can be used with .NET Core or .NET 4.6 based applications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 Core is not a part of .NET Core and standard .NET framework. It is available as a NuGet package.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. 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111AD9-54D3-4227-9BAB-731BCEC60E1A}"/>
              </a:ext>
            </a:extLst>
          </p:cNvPr>
          <p:cNvCxnSpPr/>
          <p:nvPr/>
        </p:nvCxnSpPr>
        <p:spPr>
          <a:xfrm>
            <a:off x="3401961" y="392869"/>
            <a:ext cx="16714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BEE6205-E77D-401A-84EB-4DB24D7CEACE}"/>
              </a:ext>
            </a:extLst>
          </p:cNvPr>
          <p:cNvSpPr txBox="1"/>
          <p:nvPr/>
        </p:nvSpPr>
        <p:spPr>
          <a:xfrm>
            <a:off x="5073445" y="820461"/>
            <a:ext cx="6096000" cy="4616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need to install the NuGet package for the provider of the database we want to access. Here, we want to access MS SQL Server database, so we need to install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89C846-4C66-468C-9E18-849ADEFB72F2}"/>
              </a:ext>
            </a:extLst>
          </p:cNvPr>
          <p:cNvCxnSpPr/>
          <p:nvPr/>
        </p:nvCxnSpPr>
        <p:spPr>
          <a:xfrm>
            <a:off x="4237703" y="708893"/>
            <a:ext cx="835742" cy="22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660AF9C-88CB-4491-B134-32736B46063B}"/>
              </a:ext>
            </a:extLst>
          </p:cNvPr>
          <p:cNvSpPr txBox="1"/>
          <p:nvPr/>
        </p:nvSpPr>
        <p:spPr>
          <a:xfrm>
            <a:off x="5279922" y="1486580"/>
            <a:ext cx="6096000" cy="38465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 EF tools to execute EF Core commands. These make it easier to perform several EF Core-related tasks in your project at design time, such as migrations, scaffolding, etc.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1B0ED2-484B-497A-BEDE-751F69FEAFC6}"/>
              </a:ext>
            </a:extLst>
          </p:cNvPr>
          <p:cNvCxnSpPr/>
          <p:nvPr/>
        </p:nvCxnSpPr>
        <p:spPr>
          <a:xfrm>
            <a:off x="3913239" y="932030"/>
            <a:ext cx="1278193" cy="631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E2DC68-066B-4EE3-BF51-67C24A987BD2}"/>
              </a:ext>
            </a:extLst>
          </p:cNvPr>
          <p:cNvCxnSpPr/>
          <p:nvPr/>
        </p:nvCxnSpPr>
        <p:spPr>
          <a:xfrm>
            <a:off x="3588774" y="1282126"/>
            <a:ext cx="1907458" cy="1116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E20A79D-0A55-4E18-B6E2-76CD78EBF6C7}"/>
              </a:ext>
            </a:extLst>
          </p:cNvPr>
          <p:cNvSpPr txBox="1"/>
          <p:nvPr/>
        </p:nvSpPr>
        <p:spPr>
          <a:xfrm>
            <a:off x="5496232" y="2075691"/>
            <a:ext cx="6096000" cy="73866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Microsoft.EntityFrameworkCore.Design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contains all the design-time logic for Entity Framework Core. It's the code that all of the various tools (PMC cmdlets like Add-Migration, dotnet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&amp; ef.exe) call into.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you don't use Migrations or Reverse Engineering, you don't need it.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173840-2121-71B3-DE9D-60F2CDC595B9}"/>
              </a:ext>
            </a:extLst>
          </p:cNvPr>
          <p:cNvSpPr txBox="1"/>
          <p:nvPr/>
        </p:nvSpPr>
        <p:spPr>
          <a:xfrm>
            <a:off x="3047214" y="3246690"/>
            <a:ext cx="83287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Install-Package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Microsoft.EntityFrameworkCore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–version 7.0.0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Install-Package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Microsoft.EntityFrameworkCore.SqlServer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–version 7.0.0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Install-Package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Microsoft.EntityFrameworkCore.Tools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–version 7.0.0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Install-Package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Microsoft.EntityFrameworkCore.Design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54F2A9-AE2B-D9E7-8C1E-58D5F2CC220C}"/>
              </a:ext>
            </a:extLst>
          </p:cNvPr>
          <p:cNvSpPr txBox="1"/>
          <p:nvPr/>
        </p:nvSpPr>
        <p:spPr>
          <a:xfrm>
            <a:off x="3913239" y="5497297"/>
            <a:ext cx="3558209" cy="4616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more Demo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6879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14B411-3222-D574-3DBC-B4CF4BE780ED}"/>
              </a:ext>
            </a:extLst>
          </p:cNvPr>
          <p:cNvSpPr txBox="1"/>
          <p:nvPr/>
        </p:nvSpPr>
        <p:spPr>
          <a:xfrm>
            <a:off x="4104861" y="79511"/>
            <a:ext cx="3558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more Demo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8558481-7A74-EE9C-A839-3FE485E99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539" y="458784"/>
            <a:ext cx="11211339" cy="17157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004867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EF Core </a:t>
            </a:r>
            <a:r>
              <a:rPr kumimoji="0" lang="en-US" altLang="en-US" sz="2700" b="0" i="0" u="none" strike="noStrike" kern="1200" cap="none" spc="0" normalizeH="0" baseline="0" noProof="0" dirty="0" err="1">
                <a:ln>
                  <a:noFill/>
                </a:ln>
                <a:solidFill>
                  <a:srgbClr val="004867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DbSet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rgbClr val="004867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Open Sans" panose="020B0606030504020204" pitchFamily="34" charset="0"/>
              </a:rPr>
              <a:t>The 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DbSet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&lt;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TEntity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&gt;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Open Sans" panose="020B0606030504020204" pitchFamily="34" charset="0"/>
              </a:rPr>
              <a:t> class represents a collection for a given entity within the model and is the gateway to database operations against an entity. 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DbSet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&lt;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TEntity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&gt;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Open Sans" panose="020B0606030504020204" pitchFamily="34" charset="0"/>
              </a:rPr>
              <a:t> classes are added as properties to the 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DbContext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Open Sans" panose="020B0606030504020204" pitchFamily="34" charset="0"/>
              </a:rPr>
              <a:t> and are mapped by default to database tables that take the name of the 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DbSet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&lt;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TEntity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&gt;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Open Sans" panose="020B0606030504020204" pitchFamily="34" charset="0"/>
              </a:rPr>
              <a:t> property. The 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DbSet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Open Sans" panose="020B0606030504020204" pitchFamily="34" charset="0"/>
              </a:rPr>
              <a:t> is an implementation of the </a:t>
            </a:r>
            <a:r>
              <a:rPr kumimoji="0" lang="en-US" alt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2E97BD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Open Sans" panose="020B0606030504020204" pitchFamily="34" charset="0"/>
              </a:rPr>
              <a:t>Repository pattern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E8AD995-4A1F-7F0C-6536-FE84B387D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92365"/>
            <a:ext cx="6595533" cy="2323713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class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SampleContext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: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DbContext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OnConfiguring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DbContextOptionsBuilder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optionsBuilder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optionsBuilder.UseSqlServer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@"Data Source=(</a:t>
            </a:r>
            <a:r>
              <a:rPr lang="en-US" sz="11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localdb</a:t>
            </a:r>
            <a:r>
              <a:rPr lang="en-US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)\</a:t>
            </a:r>
            <a:r>
              <a:rPr lang="en-US" sz="11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ProjectModels;Initial</a:t>
            </a:r>
            <a:r>
              <a:rPr lang="en-US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 Catalog=</a:t>
            </a:r>
            <a:r>
              <a:rPr lang="en-US" sz="11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DemoData;Integrated</a:t>
            </a:r>
            <a:r>
              <a:rPr lang="en-US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 Security=True;;"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kumimoji="0" lang="en-US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DbSet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&lt;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Book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&gt;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Books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DbSet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&lt;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Author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&gt;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Authors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B92D38-26AE-458B-353C-C3EB92CD1E50}"/>
              </a:ext>
            </a:extLst>
          </p:cNvPr>
          <p:cNvSpPr txBox="1"/>
          <p:nvPr/>
        </p:nvSpPr>
        <p:spPr>
          <a:xfrm>
            <a:off x="7282897" y="2192365"/>
            <a:ext cx="45247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class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Book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int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BookId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string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Title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Author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Author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int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AuthorId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7B4B80-073A-9C84-268E-69419E370066}"/>
              </a:ext>
            </a:extLst>
          </p:cNvPr>
          <p:cNvSpPr txBox="1"/>
          <p:nvPr/>
        </p:nvSpPr>
        <p:spPr>
          <a:xfrm>
            <a:off x="73301" y="4223690"/>
            <a:ext cx="60976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class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Author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int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AuthorId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string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FirstName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string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LastName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ICollection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&lt;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Book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&gt;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Books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37A4D4-3169-90C3-3C16-D8C09C79294C}"/>
              </a:ext>
            </a:extLst>
          </p:cNvPr>
          <p:cNvSpPr txBox="1"/>
          <p:nvPr/>
        </p:nvSpPr>
        <p:spPr>
          <a:xfrm>
            <a:off x="5844208" y="4654324"/>
            <a:ext cx="61175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the example above, two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TEntity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properties have been added to the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DbContext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class. The first represents a collection of Book objects, which is mapped by convention to a database table named "Books", after the property name. The second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property represents a collection of Author objects, and is mapped to a table named "Authors".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038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D5918-902B-FF2D-F935-675B31D2F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Add-</a:t>
            </a:r>
            <a:r>
              <a:rPr lang="en-US" dirty="0" err="1"/>
              <a:t>Migeration</a:t>
            </a:r>
            <a:r>
              <a:rPr lang="en-US" dirty="0"/>
              <a:t> initi1</a:t>
            </a:r>
          </a:p>
          <a:p>
            <a:r>
              <a:rPr lang="en-US" dirty="0"/>
              <a:t>Update-Database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0521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3660A2-74E0-BB1A-F93A-4B17C4EA4DB9}"/>
              </a:ext>
            </a:extLst>
          </p:cNvPr>
          <p:cNvSpPr txBox="1"/>
          <p:nvPr/>
        </p:nvSpPr>
        <p:spPr>
          <a:xfrm>
            <a:off x="494471" y="254601"/>
            <a:ext cx="40874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interface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ISqlrepository</a:t>
            </a:r>
            <a:endParaRPr lang="en-IN" sz="1200" dirty="0">
              <a:solidFill>
                <a:srgbClr val="2B91AF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List&lt;Book&gt;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Book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GetById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id);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Book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DeleteById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id);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Book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AddBook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(Book book);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Book Modify(Book book);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2D08F-021E-80DA-C732-52F3C2BED7AF}"/>
              </a:ext>
            </a:extLst>
          </p:cNvPr>
          <p:cNvSpPr txBox="1"/>
          <p:nvPr/>
        </p:nvSpPr>
        <p:spPr>
          <a:xfrm>
            <a:off x="6094344" y="0"/>
            <a:ext cx="6097656" cy="7032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SqlService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ISqlrepository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SampleContext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SqlService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SampleContext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context) {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Context = context;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Book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AddBook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(Book book)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Context.Books.Add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(book);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book;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en-IN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 throw new </a:t>
            </a:r>
            <a:r>
              <a:rPr lang="en-IN" sz="11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NotImplementedException</a:t>
            </a:r>
            <a:r>
              <a:rPr lang="en-IN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();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Book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DeleteById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Book b=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Context.Find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&lt;Book&gt;(id);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Context.Remove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(b);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b;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List&lt;Book&gt;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Context.Books.ToList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Book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GetById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Context.Find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&lt;Book&gt;(id);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Book Modify(Book book)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Book b =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Context.Find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&lt;Book&gt;(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book.BookId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Context.Update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(b);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book;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635303-DE04-85FE-1795-7C028FA01C5D}"/>
              </a:ext>
            </a:extLst>
          </p:cNvPr>
          <p:cNvSpPr txBox="1"/>
          <p:nvPr/>
        </p:nvSpPr>
        <p:spPr>
          <a:xfrm>
            <a:off x="278296" y="2554249"/>
            <a:ext cx="5546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SqlService</a:t>
            </a:r>
            <a:r>
              <a:rPr lang="en-IN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 </a:t>
            </a:r>
            <a:r>
              <a:rPr lang="en-IN" sz="1800" dirty="0">
                <a:latin typeface="Cascadia Mono" panose="020B0609020000020004" pitchFamily="49" charset="0"/>
              </a:rPr>
              <a:t>class has implemented </a:t>
            </a:r>
            <a:r>
              <a:rPr lang="en-IN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Isqlrepository</a:t>
            </a:r>
            <a:r>
              <a:rPr lang="en-IN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 interface</a:t>
            </a:r>
            <a:r>
              <a:rPr lang="en-IN" dirty="0">
                <a:solidFill>
                  <a:srgbClr val="2B91AF"/>
                </a:solidFill>
                <a:latin typeface="Cascadia Mono" panose="020B0609020000020004" pitchFamily="49" charset="0"/>
              </a:rPr>
              <a:t>. </a:t>
            </a:r>
            <a:r>
              <a:rPr lang="en-IN" dirty="0">
                <a:latin typeface="Cascadia Mono" panose="020B0609020000020004" pitchFamily="49" charset="0"/>
              </a:rPr>
              <a:t>This class has injected </a:t>
            </a:r>
            <a:r>
              <a:rPr lang="en-IN" dirty="0">
                <a:solidFill>
                  <a:srgbClr val="2B91AF"/>
                </a:solidFill>
                <a:latin typeface="Cascadia Mono" panose="020B0609020000020004" pitchFamily="49" charset="0"/>
              </a:rPr>
              <a:t> </a:t>
            </a:r>
            <a:r>
              <a:rPr lang="en-IN" sz="1800" dirty="0">
                <a:latin typeface="Cascadia Mono" panose="020B0609020000020004" pitchFamily="49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953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F564F91-106F-77DE-43D2-4542C91E3217}"/>
              </a:ext>
            </a:extLst>
          </p:cNvPr>
          <p:cNvSpPr txBox="1"/>
          <p:nvPr/>
        </p:nvSpPr>
        <p:spPr>
          <a:xfrm>
            <a:off x="186359" y="232999"/>
            <a:ext cx="5041624" cy="692497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BookControllerdemo</a:t>
            </a:r>
            <a:endParaRPr lang="en-IN" sz="1200" dirty="0">
              <a:solidFill>
                <a:srgbClr val="2B91AF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ISqlrepository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Service;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BookControllerdemo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ISqlrepository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Service) {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.Service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Service;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Book Add(Book book)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Service.AddBook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(book);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book;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List&lt;Book&gt;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GetBooks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   </a:t>
            </a:r>
            <a:r>
              <a:rPr lang="en-IN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Service.GetAll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();       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public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Book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GetBook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(int id)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   </a:t>
            </a:r>
            <a:r>
              <a:rPr lang="en-IN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Service.GetById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(id);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Book Delete(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Book b=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Service.DeleteById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(id);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Book Put(Book book)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Book b=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Service.Modify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(book);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IN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75BF5-2915-1A96-B0DB-8F57B3B7C848}"/>
              </a:ext>
            </a:extLst>
          </p:cNvPr>
          <p:cNvSpPr txBox="1"/>
          <p:nvPr/>
        </p:nvSpPr>
        <p:spPr>
          <a:xfrm>
            <a:off x="5456583" y="162342"/>
            <a:ext cx="6271591" cy="618630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BookControllerdemo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Controllerobj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"Hello, World!"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services =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ServiceCollection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services.AddTransient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ISqlrepository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SqlService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services.AddTransient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BookControllerdemo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services.AddTransient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SampleContext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serviceProvider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services.BuildServiceProvider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Controllerobj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serviceProvider.GetService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BookControllerdemo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Book obj1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Book() { Title = 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"New Thinking in Java"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AuthorId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2 };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Controllerobj.Add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(obj1);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Book obj2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Book() { Title = 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"Now in Java"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BookId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4 };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Controllerobj.Put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(obj2);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Controllerobj.Delete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(3);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List&lt;Book&gt; booklist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Controllerobj.GetBooks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(Book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book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booklist)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book.Title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}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}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540677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FE7771-5933-CA96-F21C-486AB2C60CAE}"/>
              </a:ext>
            </a:extLst>
          </p:cNvPr>
          <p:cNvSpPr txBox="1"/>
          <p:nvPr/>
        </p:nvSpPr>
        <p:spPr>
          <a:xfrm>
            <a:off x="634999" y="427334"/>
            <a:ext cx="1176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services.Add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ServiceDescriptor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typeof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ISqlrepository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SqlService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SampleContext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()));</a:t>
            </a: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812694D-5021-60FF-D609-2F8C3E98B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34" y="2274840"/>
            <a:ext cx="1065953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Step-by-Step Breakdown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application needs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BookControllerdemo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 checks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BookControllerdemo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's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constructor and sees it requires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ISqlrepository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 sees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ISqlrepository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mapped to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SqlService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so it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SqlService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 checks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SqlService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's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constructor and sees it needs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SampleContext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 finds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SampleContext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container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an instance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resolved dependencies are passed into their respective constructors.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056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625DDA-C3B4-C989-B8BB-E6FBC8931CA7}"/>
              </a:ext>
            </a:extLst>
          </p:cNvPr>
          <p:cNvSpPr txBox="1"/>
          <p:nvPr/>
        </p:nvSpPr>
        <p:spPr>
          <a:xfrm>
            <a:off x="728134" y="186267"/>
            <a:ext cx="1126066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</a:t>
            </a:r>
            <a:r>
              <a:rPr lang="en-US" dirty="0" err="1"/>
              <a:t>BuildServiceProvider</a:t>
            </a:r>
            <a:r>
              <a:rPr lang="en-US" dirty="0"/>
              <a:t> does?</a:t>
            </a:r>
          </a:p>
          <a:p>
            <a:r>
              <a:rPr lang="en-US" dirty="0"/>
              <a:t>The </a:t>
            </a:r>
            <a:r>
              <a:rPr lang="en-US" dirty="0" err="1"/>
              <a:t>BuildServiceProvider</a:t>
            </a:r>
            <a:r>
              <a:rPr lang="en-US" dirty="0"/>
              <a:t> will just return a new instance of the </a:t>
            </a:r>
            <a:r>
              <a:rPr lang="en-US" dirty="0" err="1"/>
              <a:t>ServiceProvider</a:t>
            </a:r>
            <a:r>
              <a:rPr lang="en-US" dirty="0"/>
              <a:t> taking </a:t>
            </a:r>
            <a:r>
              <a:rPr lang="en-US" dirty="0" err="1"/>
              <a:t>ServiceCollection</a:t>
            </a:r>
            <a:r>
              <a:rPr lang="en-US" dirty="0"/>
              <a:t> instance as an argument in the constructor.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BuildServiceProvider</a:t>
            </a:r>
            <a:r>
              <a:rPr lang="en-US" dirty="0"/>
              <a:t> is just an extension method on the </a:t>
            </a:r>
            <a:r>
              <a:rPr lang="en-US" dirty="0" err="1"/>
              <a:t>ServiceProvider</a:t>
            </a:r>
            <a:r>
              <a:rPr lang="en-US" dirty="0"/>
              <a:t> class. Here is the original source code from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public static </a:t>
            </a:r>
            <a:r>
              <a:rPr lang="en-US" dirty="0" err="1"/>
              <a:t>ServiceProvider</a:t>
            </a:r>
            <a:r>
              <a:rPr lang="en-US" dirty="0"/>
              <a:t> </a:t>
            </a:r>
            <a:r>
              <a:rPr lang="en-US" dirty="0" err="1"/>
              <a:t>BuildServiceProvider</a:t>
            </a:r>
            <a:r>
              <a:rPr lang="en-US" dirty="0"/>
              <a:t>(this </a:t>
            </a:r>
            <a:r>
              <a:rPr lang="en-US" dirty="0" err="1"/>
              <a:t>IServiceCollection</a:t>
            </a:r>
            <a:r>
              <a:rPr lang="en-US" dirty="0"/>
              <a:t> services, </a:t>
            </a:r>
            <a:r>
              <a:rPr lang="en-US" dirty="0" err="1"/>
              <a:t>ServiceProviderOptions</a:t>
            </a:r>
            <a:r>
              <a:rPr lang="en-US" dirty="0"/>
              <a:t> options)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if (services == null)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throw new </a:t>
            </a:r>
            <a:r>
              <a:rPr lang="en-US" dirty="0" err="1"/>
              <a:t>ArgumentNullException</a:t>
            </a:r>
            <a:r>
              <a:rPr lang="en-US" dirty="0"/>
              <a:t>(</a:t>
            </a:r>
            <a:r>
              <a:rPr lang="en-US" dirty="0" err="1"/>
              <a:t>nameof</a:t>
            </a:r>
            <a:r>
              <a:rPr lang="en-US" dirty="0"/>
              <a:t>(services));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if (options == null)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throw new </a:t>
            </a:r>
            <a:r>
              <a:rPr lang="en-US" dirty="0" err="1"/>
              <a:t>ArgumentNullException</a:t>
            </a:r>
            <a:r>
              <a:rPr lang="en-US" dirty="0"/>
              <a:t>(</a:t>
            </a:r>
            <a:r>
              <a:rPr lang="en-US" dirty="0" err="1"/>
              <a:t>nameof</a:t>
            </a:r>
            <a:r>
              <a:rPr lang="en-US" dirty="0"/>
              <a:t>(options));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new </a:t>
            </a:r>
            <a:r>
              <a:rPr lang="en-US" dirty="0" err="1"/>
              <a:t>ServiceProvider</a:t>
            </a:r>
            <a:r>
              <a:rPr lang="en-US" dirty="0"/>
              <a:t>(services, options);</a:t>
            </a:r>
          </a:p>
          <a:p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162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AA1162-61A7-4DCE-5483-47882B906A0A}"/>
              </a:ext>
            </a:extLst>
          </p:cNvPr>
          <p:cNvSpPr txBox="1"/>
          <p:nvPr/>
        </p:nvSpPr>
        <p:spPr>
          <a:xfrm>
            <a:off x="464653" y="135980"/>
            <a:ext cx="116412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What is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Google Sans"/>
              </a:rPr>
              <a:t>Servicecollection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 in C#?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In C#,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Google Sans"/>
              </a:rPr>
              <a:t>IServiceCollection</a:t>
            </a:r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 is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an interface provided by the Microsoft.</a:t>
            </a:r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Extensions.</a:t>
            </a:r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 </a:t>
            </a:r>
            <a:r>
              <a:rPr lang="en-US" b="0" i="0" dirty="0" err="1">
                <a:solidFill>
                  <a:srgbClr val="040C28"/>
                </a:solidFill>
                <a:effectLst/>
                <a:latin typeface="Google Sans"/>
              </a:rPr>
              <a:t>DependencyInjection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 namespace that is used to define a container for managing dependencies in an application</a:t>
            </a:r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.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E282EF-7443-0F52-DAA2-33E349DF0E5F}"/>
              </a:ext>
            </a:extLst>
          </p:cNvPr>
          <p:cNvSpPr txBox="1"/>
          <p:nvPr/>
        </p:nvSpPr>
        <p:spPr>
          <a:xfrm>
            <a:off x="325506" y="1373619"/>
            <a:ext cx="111541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IServiceCollection</a:t>
            </a:r>
            <a:r>
              <a:rPr lang="en-US" dirty="0"/>
              <a:t> interface is used for building a dependency injection container. After it's fully built, it gets composed to an </a:t>
            </a:r>
            <a:r>
              <a:rPr lang="en-US" dirty="0" err="1"/>
              <a:t>IServiceProvider</a:t>
            </a:r>
            <a:r>
              <a:rPr lang="en-US" dirty="0"/>
              <a:t> instance which you can use to resolve services. </a:t>
            </a:r>
          </a:p>
          <a:p>
            <a:r>
              <a:rPr lang="en-US" dirty="0"/>
              <a:t>You can inject an </a:t>
            </a:r>
            <a:r>
              <a:rPr lang="en-US" dirty="0" err="1"/>
              <a:t>IServiceProvider</a:t>
            </a:r>
            <a:r>
              <a:rPr lang="en-US" dirty="0"/>
              <a:t> into any class..</a:t>
            </a:r>
          </a:p>
          <a:p>
            <a:endParaRPr lang="en-US" dirty="0"/>
          </a:p>
          <a:p>
            <a:r>
              <a:rPr lang="en-US" dirty="0" err="1"/>
              <a:t>IServiceProvider</a:t>
            </a:r>
            <a:r>
              <a:rPr lang="en-US" dirty="0"/>
              <a:t> defines a </a:t>
            </a:r>
            <a:r>
              <a:rPr lang="en-US" dirty="0" err="1"/>
              <a:t>GetService</a:t>
            </a:r>
            <a:r>
              <a:rPr lang="en-US" dirty="0"/>
              <a:t>(Type type) method to resolve a service:</a:t>
            </a:r>
          </a:p>
          <a:p>
            <a:endParaRPr lang="en-US" dirty="0"/>
          </a:p>
          <a:p>
            <a:r>
              <a:rPr lang="en-US" dirty="0"/>
              <a:t>var service = </a:t>
            </a:r>
            <a:r>
              <a:rPr lang="en-US" dirty="0" err="1"/>
              <a:t>serviceProvider.GetService</a:t>
            </a:r>
            <a:r>
              <a:rPr lang="en-US" dirty="0"/>
              <a:t>();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50B65-F4FC-939C-D4A6-2961238CF9EB}"/>
              </a:ext>
            </a:extLst>
          </p:cNvPr>
          <p:cNvSpPr txBox="1"/>
          <p:nvPr/>
        </p:nvSpPr>
        <p:spPr>
          <a:xfrm>
            <a:off x="96905" y="3719253"/>
            <a:ext cx="110746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When to use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Google Sans"/>
              </a:rPr>
              <a:t>BuildServiceProvider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?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Calling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Google Sans"/>
              </a:rPr>
              <a:t>BuildServiceProvider</a:t>
            </a:r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 typically happens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when the developer wants to resolve a service when registering another service</a:t>
            </a:r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. 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285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1713</TotalTime>
  <Words>1355</Words>
  <Application>Microsoft Office PowerPoint</Application>
  <PresentationFormat>Widescreen</PresentationFormat>
  <Paragraphs>194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arial</vt:lpstr>
      <vt:lpstr>arial</vt:lpstr>
      <vt:lpstr>Arial Unicode MS</vt:lpstr>
      <vt:lpstr>Calibri</vt:lpstr>
      <vt:lpstr>Calibri Light</vt:lpstr>
      <vt:lpstr>Cascadia Mono</vt:lpstr>
      <vt:lpstr>Garamond</vt:lpstr>
      <vt:lpstr>Google Sans</vt:lpstr>
      <vt:lpstr>Menlo</vt:lpstr>
      <vt:lpstr>Open Sans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Atharva Mhargude</cp:lastModifiedBy>
  <cp:revision>18</cp:revision>
  <dcterms:created xsi:type="dcterms:W3CDTF">2023-09-25T07:13:01Z</dcterms:created>
  <dcterms:modified xsi:type="dcterms:W3CDTF">2025-10-16T02:26:58Z</dcterms:modified>
</cp:coreProperties>
</file>