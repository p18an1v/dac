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5" r:id="rId6"/>
    <p:sldId id="266" r:id="rId7"/>
    <p:sldId id="267" r:id="rId8"/>
    <p:sldId id="268"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31176-C706-440E-A3E1-1FEC998B491A}"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31B51D-A0DC-42F6-883E-BB845C6BDC63}" type="slidenum">
              <a:rPr lang="en-IN" smtClean="0"/>
              <a:t>‹#›</a:t>
            </a:fld>
            <a:endParaRPr lang="en-IN"/>
          </a:p>
        </p:txBody>
      </p:sp>
    </p:spTree>
    <p:extLst>
      <p:ext uri="{BB962C8B-B14F-4D97-AF65-F5344CB8AC3E}">
        <p14:creationId xmlns:p14="http://schemas.microsoft.com/office/powerpoint/2010/main" val="3688717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931B51D-A0DC-42F6-883E-BB845C6BDC63}" type="slidenum">
              <a:rPr lang="en-IN" smtClean="0"/>
              <a:t>6</a:t>
            </a:fld>
            <a:endParaRPr lang="en-IN"/>
          </a:p>
        </p:txBody>
      </p:sp>
    </p:spTree>
    <p:extLst>
      <p:ext uri="{BB962C8B-B14F-4D97-AF65-F5344CB8AC3E}">
        <p14:creationId xmlns:p14="http://schemas.microsoft.com/office/powerpoint/2010/main" val="533840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79AA-1AF1-03C2-381F-CCDD7FEDB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838D2B-AD68-5BA1-D1C1-325005500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FFCA98-E9E1-73F4-FBF8-12BEC4CD5768}"/>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21ECA903-5C70-6DAB-F857-DD215D0F5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A75B35-0DC4-5BFC-42CB-7BA577575F38}"/>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3875774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1414-9DE6-7CA3-CE83-B53ED9181B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1129BF-3866-9276-7469-0577A4A6B1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5BE3C3-942B-A2A5-9CB6-0619F1369D84}"/>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25AD620F-CA6A-1F96-662A-7FDEB3682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242377-472F-EF1D-8002-A0EFFFC57386}"/>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336492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F4CD-69EA-F107-BEB9-B26F7DF14C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7072D4-1555-B530-7BF1-36579BFCD6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B91625-B3A6-2F78-201B-DD9AE8BA06B4}"/>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27347310-DCB2-98D3-7115-315C011045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C3EF0C-AADB-3073-E07A-24736B90D084}"/>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1973944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4DC6-7971-58DF-1737-1876946D7E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49316B-95AF-5397-852F-3C9E96A0DB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00EE4A-9E60-AD22-4070-B06A159F80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0BEF5E-E718-8E76-040E-984E62369918}"/>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6" name="Footer Placeholder 5">
            <a:extLst>
              <a:ext uri="{FF2B5EF4-FFF2-40B4-BE49-F238E27FC236}">
                <a16:creationId xmlns:a16="http://schemas.microsoft.com/office/drawing/2014/main" id="{3FD47ACD-6419-5D68-0EDD-D2D8CA454C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304BB1-0C07-F895-56E3-DE55F8EB0FE8}"/>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001165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491D-12CC-A3E7-4791-F347BEDD09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A70914-704D-8477-9D8D-D9E39C7ADA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5ECA2F-5D95-0343-B25A-CBBF25BBE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F4BCDD-8FAE-6BED-DFBB-65E892390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05384F-E68B-1888-4316-ADE96A96FB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576E69-ABB5-44EA-6FAB-807365195B4A}"/>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8" name="Footer Placeholder 7">
            <a:extLst>
              <a:ext uri="{FF2B5EF4-FFF2-40B4-BE49-F238E27FC236}">
                <a16:creationId xmlns:a16="http://schemas.microsoft.com/office/drawing/2014/main" id="{2C48C61E-44D2-DA0D-D4F5-E23C3C16AC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1472C1-0328-9F3F-DA4C-07350E1FD2F0}"/>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426882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8933B-F713-D042-576E-FA8C7F545B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D90A8D-C8B9-E2EB-E570-7638EB7F9065}"/>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4" name="Footer Placeholder 3">
            <a:extLst>
              <a:ext uri="{FF2B5EF4-FFF2-40B4-BE49-F238E27FC236}">
                <a16:creationId xmlns:a16="http://schemas.microsoft.com/office/drawing/2014/main" id="{9D7BB660-D2CC-588B-72BA-A87C796F0A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33DC2A-42CC-E349-E79B-3F2929DDBB80}"/>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045749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26F7C-2EAB-7CEA-2243-00752C6915FC}"/>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3" name="Footer Placeholder 2">
            <a:extLst>
              <a:ext uri="{FF2B5EF4-FFF2-40B4-BE49-F238E27FC236}">
                <a16:creationId xmlns:a16="http://schemas.microsoft.com/office/drawing/2014/main" id="{2CBA6A3D-7B4F-0AE2-F680-7D21CC7C32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8C682-A2E7-4C9D-F68E-242AD73CD761}"/>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758675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2E845-8FAB-C3A5-EDE9-D55018D72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0A811C-5F87-2470-05AD-7EF321417B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40D6A9-55C1-3AD4-F057-2C79AB3D5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7FFA67-06BE-42DF-DE5F-A59B4CA1DF1C}"/>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6" name="Footer Placeholder 5">
            <a:extLst>
              <a:ext uri="{FF2B5EF4-FFF2-40B4-BE49-F238E27FC236}">
                <a16:creationId xmlns:a16="http://schemas.microsoft.com/office/drawing/2014/main" id="{0F257AA1-D210-6BAF-320F-6E8CF3DA31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2DFCE-CFDF-B98A-F9A8-2C40FC6A0C63}"/>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63476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54C0-2DC2-4637-3FCA-E0DB4E129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7F1D80-1F39-851E-189E-1A173419AD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48FE83-9C3A-6172-34D4-B6BD8D281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AA9A32-487B-E89A-4BFE-E8F84B71140A}"/>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6" name="Footer Placeholder 5">
            <a:extLst>
              <a:ext uri="{FF2B5EF4-FFF2-40B4-BE49-F238E27FC236}">
                <a16:creationId xmlns:a16="http://schemas.microsoft.com/office/drawing/2014/main" id="{E8BAA8CD-D8CD-F775-BAB3-E1BF15883B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0CCEC9-C852-FC82-39A0-89EA190DA1FF}"/>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26266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E0E8-7DFE-2936-1F3E-22FCED7BE4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864F9A-E4B0-4AB9-71A4-108742692E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43B4D2-CDB2-BD46-F86E-E776E28D88EA}"/>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11F12CEF-2FEA-276F-F6AB-7D5B064FE7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82E59-A6CA-6BE1-5187-2BA52DDFECB5}"/>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4231027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DB0646-13D7-42AA-F851-DA29BE586F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3AC0ED-D39F-243B-07E1-71FDE29DDB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331E20-8940-17EB-4EFB-0AC60B111DB2}"/>
              </a:ext>
            </a:extLst>
          </p:cNvPr>
          <p:cNvSpPr>
            <a:spLocks noGrp="1"/>
          </p:cNvSpPr>
          <p:nvPr>
            <p:ph type="dt" sz="half" idx="10"/>
          </p:nvPr>
        </p:nvSpPr>
        <p:spPr/>
        <p:txBody>
          <a:body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951DED69-198D-4ABA-DF3D-29099AA29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A54995-7B79-82E9-9272-E0950346F573}"/>
              </a:ext>
            </a:extLst>
          </p:cNvPr>
          <p:cNvSpPr>
            <a:spLocks noGrp="1"/>
          </p:cNvSpPr>
          <p:nvPr>
            <p:ph type="sldNum" sz="quarter" idx="12"/>
          </p:nvPr>
        </p:nvSpPr>
        <p:spPr/>
        <p:txBody>
          <a:bodyPr/>
          <a:lstStyle/>
          <a:p>
            <a:fld id="{C0008EF1-BFF9-40E5-B3C8-D3F13EAAB816}" type="slidenum">
              <a:rPr lang="en-IN" smtClean="0"/>
              <a:t>‹#›</a:t>
            </a:fld>
            <a:endParaRPr lang="en-IN"/>
          </a:p>
        </p:txBody>
      </p:sp>
    </p:spTree>
    <p:extLst>
      <p:ext uri="{BB962C8B-B14F-4D97-AF65-F5344CB8AC3E}">
        <p14:creationId xmlns:p14="http://schemas.microsoft.com/office/powerpoint/2010/main" val="189674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7DCCB9-3E64-3FB6-99D5-B7B43562C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EC7412-0726-AD6B-C1B1-F9566E02A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D6A5AC-807D-126F-2816-0F4FDF5134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271A71-50E2-42C9-A365-291747406BC1}" type="datetimeFigureOut">
              <a:rPr lang="en-IN" smtClean="0"/>
              <a:t>16-04-2025</a:t>
            </a:fld>
            <a:endParaRPr lang="en-IN"/>
          </a:p>
        </p:txBody>
      </p:sp>
      <p:sp>
        <p:nvSpPr>
          <p:cNvPr id="5" name="Footer Placeholder 4">
            <a:extLst>
              <a:ext uri="{FF2B5EF4-FFF2-40B4-BE49-F238E27FC236}">
                <a16:creationId xmlns:a16="http://schemas.microsoft.com/office/drawing/2014/main" id="{EA62F521-7006-C0E0-0413-01F05976E1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9EE8D2-5ECA-600A-1930-B8C4939254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008EF1-BFF9-40E5-B3C8-D3F13EAAB816}" type="slidenum">
              <a:rPr lang="en-IN" smtClean="0"/>
              <a:t>‹#›</a:t>
            </a:fld>
            <a:endParaRPr lang="en-IN"/>
          </a:p>
        </p:txBody>
      </p:sp>
    </p:spTree>
    <p:extLst>
      <p:ext uri="{BB962C8B-B14F-4D97-AF65-F5344CB8AC3E}">
        <p14:creationId xmlns:p14="http://schemas.microsoft.com/office/powerpoint/2010/main" val="2015301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earnentityframeworkcore.com/conventions/one-to-many-relationship#fully-defined-relationshi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634820-22CB-BDBE-BA53-C0FAFC17D530}"/>
              </a:ext>
            </a:extLst>
          </p:cNvPr>
          <p:cNvSpPr txBox="1"/>
          <p:nvPr/>
        </p:nvSpPr>
        <p:spPr>
          <a:xfrm>
            <a:off x="115479" y="0"/>
            <a:ext cx="448480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b="0" i="0" dirty="0">
                <a:solidFill>
                  <a:srgbClr val="004867"/>
                </a:solidFill>
                <a:effectLst/>
                <a:latin typeface="Roboto" panose="02000000000000000000" pitchFamily="2" charset="0"/>
              </a:rPr>
              <a:t>Conventions in Entity Framework Core</a:t>
            </a:r>
          </a:p>
        </p:txBody>
      </p:sp>
      <p:sp>
        <p:nvSpPr>
          <p:cNvPr id="7" name="TextBox 6">
            <a:extLst>
              <a:ext uri="{FF2B5EF4-FFF2-40B4-BE49-F238E27FC236}">
                <a16:creationId xmlns:a16="http://schemas.microsoft.com/office/drawing/2014/main" id="{7A60FE21-DBCD-31E6-A228-36D71B1B4DFB}"/>
              </a:ext>
            </a:extLst>
          </p:cNvPr>
          <p:cNvSpPr txBox="1"/>
          <p:nvPr/>
        </p:nvSpPr>
        <p:spPr>
          <a:xfrm>
            <a:off x="114694" y="538229"/>
            <a:ext cx="6094428" cy="1169551"/>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Conventions are a set of rules hard-baked into Entity Framework Core that govern how the model will be mapped to a database schema. Most of the time, especially with new application development, it makes sense to follow EF Core's conventions when developing the model.</a:t>
            </a:r>
            <a:endParaRPr lang="en-IN" sz="1400" dirty="0"/>
          </a:p>
        </p:txBody>
      </p:sp>
      <p:sp>
        <p:nvSpPr>
          <p:cNvPr id="3" name="TextBox 2">
            <a:extLst>
              <a:ext uri="{FF2B5EF4-FFF2-40B4-BE49-F238E27FC236}">
                <a16:creationId xmlns:a16="http://schemas.microsoft.com/office/drawing/2014/main" id="{509DAE98-5AA9-B695-16E0-8FD6E279E916}"/>
              </a:ext>
            </a:extLst>
          </p:cNvPr>
          <p:cNvSpPr txBox="1"/>
          <p:nvPr/>
        </p:nvSpPr>
        <p:spPr>
          <a:xfrm>
            <a:off x="379429" y="1707779"/>
            <a:ext cx="2825684"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Primary Key</a:t>
            </a:r>
          </a:p>
        </p:txBody>
      </p:sp>
      <p:sp>
        <p:nvSpPr>
          <p:cNvPr id="4" name="Rectangle 1">
            <a:extLst>
              <a:ext uri="{FF2B5EF4-FFF2-40B4-BE49-F238E27FC236}">
                <a16:creationId xmlns:a16="http://schemas.microsoft.com/office/drawing/2014/main" id="{D888B12A-0D7A-AF95-0E36-599F03F3FA11}"/>
              </a:ext>
            </a:extLst>
          </p:cNvPr>
          <p:cNvSpPr>
            <a:spLocks noChangeArrowheads="1"/>
          </p:cNvSpPr>
          <p:nvPr/>
        </p:nvSpPr>
        <p:spPr bwMode="auto">
          <a:xfrm>
            <a:off x="197962" y="2248041"/>
            <a:ext cx="4628561" cy="830997"/>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If a property is </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named </a:t>
            </a:r>
            <a:r>
              <a:rPr kumimoji="0" lang="en-US" altLang="en-US" sz="1200" b="0" i="0" u="none" strike="noStrike" cap="none" normalizeH="0" baseline="0" dirty="0">
                <a:ln>
                  <a:noFill/>
                </a:ln>
                <a:solidFill>
                  <a:srgbClr val="C7254E"/>
                </a:solidFill>
                <a:effectLst/>
                <a:highlight>
                  <a:srgbClr val="FFFF00"/>
                </a:highlight>
                <a:latin typeface="Menlo"/>
              </a:rPr>
              <a:t>ID</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or </a:t>
            </a:r>
            <a:r>
              <a:rPr kumimoji="0" lang="en-US" altLang="en-US" sz="1200" b="0" i="0" u="none" strike="noStrike" cap="none" normalizeH="0" baseline="0" dirty="0">
                <a:ln>
                  <a:noFill/>
                </a:ln>
                <a:solidFill>
                  <a:srgbClr val="C7254E"/>
                </a:solidFill>
                <a:effectLst/>
                <a:highlight>
                  <a:srgbClr val="FFFF00"/>
                </a:highlight>
                <a:latin typeface="Menlo"/>
              </a:rPr>
              <a:t>&lt;entity name&gt;ID</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(not case-sensitive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it will be configured as the primary key. Entity Framework Core will prefer </a:t>
            </a:r>
            <a:r>
              <a:rPr kumimoji="0" lang="en-US" altLang="en-US" sz="1200" b="0" i="0" u="none" strike="noStrike" cap="none" normalizeH="0" baseline="0" dirty="0">
                <a:ln>
                  <a:noFill/>
                </a:ln>
                <a:solidFill>
                  <a:srgbClr val="C7254E"/>
                </a:solidFill>
                <a:effectLst/>
                <a:latin typeface="Menlo"/>
              </a:rPr>
              <a:t>ID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over </a:t>
            </a:r>
            <a:r>
              <a:rPr kumimoji="0" lang="en-US" altLang="en-US" sz="1200" b="0" i="0" u="none" strike="noStrike" cap="none" normalizeH="0" baseline="0" dirty="0">
                <a:ln>
                  <a:noFill/>
                </a:ln>
                <a:solidFill>
                  <a:srgbClr val="C7254E"/>
                </a:solidFill>
                <a:effectLst/>
                <a:latin typeface="Menlo"/>
              </a:rPr>
              <a:t>&lt;entity name&gt;ID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in the event that a class contains both.</a:t>
            </a:r>
            <a:r>
              <a:rPr kumimoji="0" lang="en-US" altLang="en-US" sz="12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05DB175F-A664-498C-E3AB-F886422492A4}"/>
              </a:ext>
            </a:extLst>
          </p:cNvPr>
          <p:cNvSpPr>
            <a:spLocks noChangeArrowheads="1"/>
          </p:cNvSpPr>
          <p:nvPr/>
        </p:nvSpPr>
        <p:spPr bwMode="auto">
          <a:xfrm>
            <a:off x="197962" y="3429000"/>
            <a:ext cx="3042501"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F0A834A-9E8B-8C28-F80F-1F24BD82F4F9}"/>
              </a:ext>
            </a:extLst>
          </p:cNvPr>
          <p:cNvSpPr>
            <a:spLocks noChangeArrowheads="1"/>
          </p:cNvSpPr>
          <p:nvPr/>
        </p:nvSpPr>
        <p:spPr bwMode="auto">
          <a:xfrm>
            <a:off x="114694" y="4921602"/>
            <a:ext cx="3125769" cy="110799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11CE14F-4658-BD17-B8FE-D3365177F00A}"/>
              </a:ext>
            </a:extLst>
          </p:cNvPr>
          <p:cNvSpPr txBox="1"/>
          <p:nvPr/>
        </p:nvSpPr>
        <p:spPr>
          <a:xfrm>
            <a:off x="8882407" y="157190"/>
            <a:ext cx="2118674"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Foreign Key</a:t>
            </a:r>
          </a:p>
        </p:txBody>
      </p:sp>
      <p:sp>
        <p:nvSpPr>
          <p:cNvPr id="12" name="TextBox 11">
            <a:extLst>
              <a:ext uri="{FF2B5EF4-FFF2-40B4-BE49-F238E27FC236}">
                <a16:creationId xmlns:a16="http://schemas.microsoft.com/office/drawing/2014/main" id="{2F4A17A8-5DF0-4AE9-9310-19E27422A38E}"/>
              </a:ext>
            </a:extLst>
          </p:cNvPr>
          <p:cNvSpPr txBox="1"/>
          <p:nvPr/>
        </p:nvSpPr>
        <p:spPr>
          <a:xfrm>
            <a:off x="6657681" y="538229"/>
            <a:ext cx="5419625" cy="738664"/>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The convention for a foreign key is that it must have the same data type as the principal entity's primary key property and the name must follow one of these patterns:</a:t>
            </a:r>
            <a:endParaRPr lang="en-IN" sz="1400" dirty="0"/>
          </a:p>
        </p:txBody>
      </p:sp>
      <p:sp>
        <p:nvSpPr>
          <p:cNvPr id="13" name="Rectangle 4">
            <a:extLst>
              <a:ext uri="{FF2B5EF4-FFF2-40B4-BE49-F238E27FC236}">
                <a16:creationId xmlns:a16="http://schemas.microsoft.com/office/drawing/2014/main" id="{8A25390A-708D-BD66-DDC1-0F8A2CE7E275}"/>
              </a:ext>
            </a:extLst>
          </p:cNvPr>
          <p:cNvSpPr>
            <a:spLocks noChangeArrowheads="1"/>
          </p:cNvSpPr>
          <p:nvPr/>
        </p:nvSpPr>
        <p:spPr bwMode="auto">
          <a:xfrm>
            <a:off x="6657681" y="1429508"/>
            <a:ext cx="5419625" cy="92587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&lt;principal class name&gt;&lt;primary key property name&gt;Id</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&lt;principal primary key property name&gt;Id</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A6EAA44E-69DF-9F49-7251-61351495817E}"/>
              </a:ext>
            </a:extLst>
          </p:cNvPr>
          <p:cNvSpPr>
            <a:spLocks noChangeArrowheads="1"/>
          </p:cNvSpPr>
          <p:nvPr/>
        </p:nvSpPr>
        <p:spPr bwMode="auto">
          <a:xfrm>
            <a:off x="6637258" y="2505671"/>
            <a:ext cx="4628561" cy="295465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AuthorId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ICollection</a:t>
            </a:r>
            <a:r>
              <a:rPr kumimoji="0" lang="en-US" altLang="en-US" sz="1200" b="0" i="0" u="none" strike="noStrike" cap="none" normalizeH="0" baseline="0" dirty="0">
                <a:ln>
                  <a:noFill/>
                </a:ln>
                <a:solidFill>
                  <a:srgbClr val="666600"/>
                </a:solidFill>
                <a:effectLst/>
                <a:highlight>
                  <a:srgbClr val="FFFF00"/>
                </a:highlight>
                <a:latin typeface="Menlo"/>
              </a:rPr>
              <a:t>&lt;</a:t>
            </a:r>
            <a:r>
              <a:rPr kumimoji="0" lang="en-US" altLang="en-US" sz="1200" b="0" i="0" u="none" strike="noStrike" cap="none" normalizeH="0" baseline="0" dirty="0">
                <a:ln>
                  <a:noFill/>
                </a:ln>
                <a:solidFill>
                  <a:srgbClr val="555555"/>
                </a:solidFill>
                <a:effectLst/>
                <a:highlight>
                  <a:srgbClr val="FFFF00"/>
                </a:highlight>
                <a:latin typeface="Menlo"/>
              </a:rPr>
              <a:t>Book</a:t>
            </a:r>
            <a:r>
              <a:rPr kumimoji="0" lang="en-US" altLang="en-US" sz="1200" b="0" i="0" u="none" strike="noStrike" cap="none" normalizeH="0" baseline="0" dirty="0">
                <a:ln>
                  <a:noFill/>
                </a:ln>
                <a:solidFill>
                  <a:srgbClr val="666600"/>
                </a:solidFill>
                <a:effectLst/>
                <a:highlight>
                  <a:srgbClr val="FFFF00"/>
                </a:highlight>
                <a:latin typeface="Menlo"/>
              </a:rPr>
              <a:t>&gt;</a:t>
            </a:r>
            <a:r>
              <a:rPr kumimoji="0" lang="en-US" altLang="en-US" sz="1200" b="0" i="0" u="none" strike="noStrike" cap="none" normalizeH="0" baseline="0" dirty="0">
                <a:ln>
                  <a:noFill/>
                </a:ln>
                <a:solidFill>
                  <a:srgbClr val="000000"/>
                </a:solidFill>
                <a:effectLst/>
                <a:highlight>
                  <a:srgbClr val="FFFF00"/>
                </a:highligh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Books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lvl="0" eaLnBrk="0" fontAlgn="base" hangingPunct="0">
              <a:spcBef>
                <a:spcPct val="0"/>
              </a:spcBef>
              <a:spcAft>
                <a:spcPct val="0"/>
              </a:spcAft>
              <a:buFontTx/>
              <a:buAutoNum type="arabicPeriod" startAt="12"/>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lang="en-US" altLang="en-US" sz="1200" dirty="0">
                <a:solidFill>
                  <a:srgbClr val="0000FF"/>
                </a:solidFill>
                <a:latin typeface="Menlo"/>
              </a:rPr>
              <a:t>Author </a:t>
            </a:r>
            <a:r>
              <a:rPr lang="en-US" altLang="en-US" sz="1200" dirty="0" err="1">
                <a:solidFill>
                  <a:srgbClr val="0000FF"/>
                </a:solidFill>
                <a:latin typeface="Menlo"/>
              </a:rPr>
              <a:t>Author</a:t>
            </a:r>
            <a:r>
              <a:rPr lang="en-US" altLang="en-US" sz="1200" dirty="0">
                <a:solidFill>
                  <a:srgbClr val="0000FF"/>
                </a:solidFill>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Isbn</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DA0E9523-0AAC-7919-43DE-2BF38DA3F593}"/>
              </a:ext>
            </a:extLst>
          </p:cNvPr>
          <p:cNvSpPr>
            <a:spLocks noChangeArrowheads="1"/>
          </p:cNvSpPr>
          <p:nvPr/>
        </p:nvSpPr>
        <p:spPr bwMode="auto">
          <a:xfrm>
            <a:off x="6657681" y="5611624"/>
            <a:ext cx="4795886" cy="98743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order of precedence, the following property names are accepted: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AuthorAuthorId</a:t>
            </a:r>
            <a:endPar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AuthorId</a:t>
            </a:r>
            <a:endPar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29DC6427-197A-1A68-1172-ED3C4940FBC5}"/>
              </a:ext>
            </a:extLst>
          </p:cNvPr>
          <p:cNvSpPr txBox="1"/>
          <p:nvPr/>
        </p:nvSpPr>
        <p:spPr>
          <a:xfrm>
            <a:off x="1190134" y="6355071"/>
            <a:ext cx="11272100" cy="461665"/>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As with primary keys, foreign key property name matching is not case sensitive. EF Core infers </a:t>
            </a:r>
            <a:r>
              <a:rPr lang="en-US" sz="1200" b="0" i="0" dirty="0">
                <a:solidFill>
                  <a:srgbClr val="333333"/>
                </a:solidFill>
                <a:effectLst/>
                <a:highlight>
                  <a:srgbClr val="FFFF00"/>
                </a:highlight>
                <a:latin typeface="Open Sans" panose="020B0606030504020204" pitchFamily="34" charset="0"/>
              </a:rPr>
              <a:t>the multiplicity of a relationship </a:t>
            </a:r>
            <a:r>
              <a:rPr lang="en-US" sz="1200" b="0" i="0" dirty="0">
                <a:solidFill>
                  <a:srgbClr val="333333"/>
                </a:solidFill>
                <a:effectLst/>
                <a:latin typeface="Open Sans" panose="020B0606030504020204" pitchFamily="34" charset="0"/>
              </a:rPr>
              <a:t>from the nullability of the foreign key. If the </a:t>
            </a:r>
            <a:r>
              <a:rPr lang="en-US" sz="1200" b="0" i="0" dirty="0">
                <a:solidFill>
                  <a:srgbClr val="333333"/>
                </a:solidFill>
                <a:effectLst/>
                <a:highlight>
                  <a:srgbClr val="FFFF00"/>
                </a:highlight>
                <a:latin typeface="Open Sans" panose="020B0606030504020204" pitchFamily="34" charset="0"/>
              </a:rPr>
              <a:t>property is not nullable</a:t>
            </a:r>
            <a:r>
              <a:rPr lang="en-US" sz="1200" b="0" i="0" dirty="0">
                <a:solidFill>
                  <a:srgbClr val="333333"/>
                </a:solidFill>
                <a:effectLst/>
                <a:latin typeface="Open Sans" panose="020B0606030504020204" pitchFamily="34" charset="0"/>
              </a:rPr>
              <a:t>, the </a:t>
            </a:r>
            <a:r>
              <a:rPr lang="en-US" sz="1200" b="0" i="0" dirty="0">
                <a:solidFill>
                  <a:srgbClr val="333333"/>
                </a:solidFill>
                <a:effectLst/>
                <a:highlight>
                  <a:srgbClr val="FFFF00"/>
                </a:highlight>
                <a:latin typeface="Open Sans" panose="020B0606030504020204" pitchFamily="34" charset="0"/>
              </a:rPr>
              <a:t>relationship is registered as required</a:t>
            </a:r>
            <a:r>
              <a:rPr lang="en-US" sz="1200" b="0" i="0" dirty="0">
                <a:solidFill>
                  <a:srgbClr val="333333"/>
                </a:solidFill>
                <a:effectLst/>
                <a:latin typeface="Open Sans" panose="020B0606030504020204" pitchFamily="34" charset="0"/>
              </a:rPr>
              <a:t>; otherwise it is </a:t>
            </a:r>
            <a:r>
              <a:rPr lang="en-US" sz="1200" b="0" i="0" dirty="0">
                <a:solidFill>
                  <a:srgbClr val="333333"/>
                </a:solidFill>
                <a:effectLst/>
                <a:highlight>
                  <a:srgbClr val="FFFF00"/>
                </a:highlight>
                <a:latin typeface="Open Sans" panose="020B0606030504020204" pitchFamily="34" charset="0"/>
              </a:rPr>
              <a:t>registered as optional.</a:t>
            </a:r>
            <a:endParaRPr lang="en-IN" sz="1200" dirty="0">
              <a:highlight>
                <a:srgbClr val="FFFF00"/>
              </a:highlight>
            </a:endParaRPr>
          </a:p>
        </p:txBody>
      </p:sp>
    </p:spTree>
    <p:extLst>
      <p:ext uri="{BB962C8B-B14F-4D97-AF65-F5344CB8AC3E}">
        <p14:creationId xmlns:p14="http://schemas.microsoft.com/office/powerpoint/2010/main" val="206927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D96161-0652-0564-669C-9804F83E8A2B}"/>
              </a:ext>
            </a:extLst>
          </p:cNvPr>
          <p:cNvSpPr txBox="1"/>
          <p:nvPr/>
        </p:nvSpPr>
        <p:spPr>
          <a:xfrm>
            <a:off x="0" y="1751436"/>
            <a:ext cx="5448693" cy="307777"/>
          </a:xfrm>
          <a:prstGeom prst="rect">
            <a:avLst/>
          </a:prstGeom>
          <a:noFill/>
        </p:spPr>
        <p:txBody>
          <a:bodyPr wrap="square">
            <a:spAutoFit/>
          </a:bodyPr>
          <a:lstStyle/>
          <a:p>
            <a:endParaRPr lang="en-IN" sz="1400" dirty="0"/>
          </a:p>
        </p:txBody>
      </p:sp>
      <p:sp>
        <p:nvSpPr>
          <p:cNvPr id="7" name="TextBox 6">
            <a:extLst>
              <a:ext uri="{FF2B5EF4-FFF2-40B4-BE49-F238E27FC236}">
                <a16:creationId xmlns:a16="http://schemas.microsoft.com/office/drawing/2014/main" id="{C74D354D-7BB1-EFDF-741D-FD1C180F2058}"/>
              </a:ext>
            </a:extLst>
          </p:cNvPr>
          <p:cNvSpPr txBox="1"/>
          <p:nvPr/>
        </p:nvSpPr>
        <p:spPr>
          <a:xfrm>
            <a:off x="162613" y="113809"/>
            <a:ext cx="4786459"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Foreign Key Shadow Properties </a:t>
            </a:r>
          </a:p>
        </p:txBody>
      </p:sp>
      <p:sp>
        <p:nvSpPr>
          <p:cNvPr id="8" name="Rectangle 1">
            <a:extLst>
              <a:ext uri="{FF2B5EF4-FFF2-40B4-BE49-F238E27FC236}">
                <a16:creationId xmlns:a16="http://schemas.microsoft.com/office/drawing/2014/main" id="{F297094D-51BD-2ACB-EC65-A721AB26FCA6}"/>
              </a:ext>
            </a:extLst>
          </p:cNvPr>
          <p:cNvSpPr>
            <a:spLocks noChangeArrowheads="1"/>
          </p:cNvSpPr>
          <p:nvPr/>
        </p:nvSpPr>
        <p:spPr bwMode="auto">
          <a:xfrm>
            <a:off x="65989" y="599225"/>
            <a:ext cx="5297864" cy="954107"/>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If you choose not to explicitly include a foreign key property in the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dependant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end of the relationship, EF Core will create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shadow property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using the pattern </a:t>
            </a:r>
            <a:r>
              <a:rPr kumimoji="0" lang="en-US" altLang="en-US" sz="1400" b="0" i="0" u="none" strike="noStrike" cap="none" normalizeH="0" baseline="0" dirty="0">
                <a:ln>
                  <a:noFill/>
                </a:ln>
                <a:solidFill>
                  <a:srgbClr val="C7254E"/>
                </a:solidFill>
                <a:effectLst/>
                <a:latin typeface="Menlo"/>
              </a:rPr>
              <a:t>&lt;principal primary key property name&gt;Id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1CE8A670-A792-2387-6D7A-46CE935F69B8}"/>
              </a:ext>
            </a:extLst>
          </p:cNvPr>
          <p:cNvSpPr txBox="1"/>
          <p:nvPr/>
        </p:nvSpPr>
        <p:spPr>
          <a:xfrm>
            <a:off x="162613" y="6258775"/>
            <a:ext cx="439289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Backing Fields </a:t>
            </a:r>
          </a:p>
        </p:txBody>
      </p:sp>
      <p:sp>
        <p:nvSpPr>
          <p:cNvPr id="4" name="Rectangle 5">
            <a:extLst>
              <a:ext uri="{FF2B5EF4-FFF2-40B4-BE49-F238E27FC236}">
                <a16:creationId xmlns:a16="http://schemas.microsoft.com/office/drawing/2014/main" id="{76E72995-6EA9-27E2-8544-37DDFF30A05B}"/>
              </a:ext>
            </a:extLst>
          </p:cNvPr>
          <p:cNvSpPr>
            <a:spLocks noChangeArrowheads="1"/>
          </p:cNvSpPr>
          <p:nvPr/>
        </p:nvSpPr>
        <p:spPr bwMode="auto">
          <a:xfrm>
            <a:off x="620204" y="2774488"/>
            <a:ext cx="4628561" cy="295465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AuthorId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ICollection</a:t>
            </a:r>
            <a:r>
              <a:rPr kumimoji="0" lang="en-US" altLang="en-US" sz="1200" b="0" i="0" u="none" strike="noStrike" cap="none" normalizeH="0" baseline="0" dirty="0">
                <a:ln>
                  <a:noFill/>
                </a:ln>
                <a:solidFill>
                  <a:srgbClr val="666600"/>
                </a:solidFill>
                <a:effectLst/>
                <a:highlight>
                  <a:srgbClr val="FFFF00"/>
                </a:highlight>
                <a:latin typeface="Menlo"/>
              </a:rPr>
              <a:t>&lt;</a:t>
            </a:r>
            <a:r>
              <a:rPr kumimoji="0" lang="en-US" altLang="en-US" sz="1200" b="0" i="0" u="none" strike="noStrike" cap="none" normalizeH="0" baseline="0" dirty="0">
                <a:ln>
                  <a:noFill/>
                </a:ln>
                <a:solidFill>
                  <a:srgbClr val="555555"/>
                </a:solidFill>
                <a:effectLst/>
                <a:highlight>
                  <a:srgbClr val="FFFF00"/>
                </a:highlight>
                <a:latin typeface="Menlo"/>
              </a:rPr>
              <a:t>Book</a:t>
            </a:r>
            <a:r>
              <a:rPr kumimoji="0" lang="en-US" altLang="en-US" sz="1200" b="0" i="0" u="none" strike="noStrike" cap="none" normalizeH="0" baseline="0" dirty="0">
                <a:ln>
                  <a:noFill/>
                </a:ln>
                <a:solidFill>
                  <a:srgbClr val="666600"/>
                </a:solidFill>
                <a:effectLst/>
                <a:highlight>
                  <a:srgbClr val="FFFF00"/>
                </a:highlight>
                <a:latin typeface="Menlo"/>
              </a:rPr>
              <a:t>&gt;</a:t>
            </a:r>
            <a:r>
              <a:rPr kumimoji="0" lang="en-US" altLang="en-US" sz="1200" b="0" i="0" u="none" strike="noStrike" cap="none" normalizeH="0" baseline="0" dirty="0">
                <a:ln>
                  <a:noFill/>
                </a:ln>
                <a:solidFill>
                  <a:srgbClr val="000000"/>
                </a:solidFill>
                <a:effectLst/>
                <a:highlight>
                  <a:srgbClr val="FFFF00"/>
                </a:highlight>
                <a:latin typeface="Menlo"/>
              </a:rPr>
              <a:t> </a:t>
            </a:r>
            <a:r>
              <a:rPr kumimoji="0" lang="en-US" altLang="en-US" sz="1200" b="0" i="0" u="none" strike="noStrike" cap="none" normalizeH="0" baseline="0" dirty="0">
                <a:ln>
                  <a:noFill/>
                </a:ln>
                <a:solidFill>
                  <a:srgbClr val="555555"/>
                </a:solidFill>
                <a:effectLst/>
                <a:highlight>
                  <a:srgbClr val="FFFF00"/>
                </a:highlight>
                <a:latin typeface="Menlo"/>
              </a:rPr>
              <a:t>Books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highlight>
                  <a:srgbClr val="FFFF00"/>
                </a:highligh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Isbn</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04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789633-623B-EA39-E9F0-70034B5E259E}"/>
              </a:ext>
            </a:extLst>
          </p:cNvPr>
          <p:cNvSpPr txBox="1"/>
          <p:nvPr/>
        </p:nvSpPr>
        <p:spPr>
          <a:xfrm>
            <a:off x="530258" y="154698"/>
            <a:ext cx="2863391"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Table </a:t>
            </a:r>
          </a:p>
        </p:txBody>
      </p:sp>
      <p:sp>
        <p:nvSpPr>
          <p:cNvPr id="6" name="Rectangle 1">
            <a:extLst>
              <a:ext uri="{FF2B5EF4-FFF2-40B4-BE49-F238E27FC236}">
                <a16:creationId xmlns:a16="http://schemas.microsoft.com/office/drawing/2014/main" id="{855CE44E-D272-DF0C-FFD1-C888DEC42DAC}"/>
              </a:ext>
            </a:extLst>
          </p:cNvPr>
          <p:cNvSpPr>
            <a:spLocks noChangeArrowheads="1"/>
          </p:cNvSpPr>
          <p:nvPr/>
        </p:nvSpPr>
        <p:spPr bwMode="auto">
          <a:xfrm>
            <a:off x="-1" y="690306"/>
            <a:ext cx="5967167" cy="224676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will map an entity to a table with the same name as its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EF Core will also map entities that have no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if that entity takes part in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fully</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2"/>
              </a:rPr>
              <a:t>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defined</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2"/>
              </a:rPr>
              <a:t>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relationship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with entities that have corresponding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&lt;</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TEntity</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properties. EF Core will map such an entity to a table named after the class.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following example, EF Core will map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(which has a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DbContext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 to a table named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Publisher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(which has no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DbSet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but takes part in a fully defined relationship with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a table named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Publisher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9111A504-A62A-4C16-12AB-3AC8FC001770}"/>
              </a:ext>
            </a:extLst>
          </p:cNvPr>
          <p:cNvSpPr>
            <a:spLocks noChangeArrowheads="1"/>
          </p:cNvSpPr>
          <p:nvPr/>
        </p:nvSpPr>
        <p:spPr bwMode="auto">
          <a:xfrm>
            <a:off x="169682" y="3024792"/>
            <a:ext cx="5203596" cy="387798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LibraryContext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DbContext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DbSet</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PublisherId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Publisher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Publisher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Publisher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PublisherId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99EF919A-D33A-9291-594B-371B95906826}"/>
              </a:ext>
            </a:extLst>
          </p:cNvPr>
          <p:cNvSpPr>
            <a:spLocks noChangeArrowheads="1"/>
          </p:cNvSpPr>
          <p:nvPr/>
        </p:nvSpPr>
        <p:spPr bwMode="auto">
          <a:xfrm>
            <a:off x="6485641" y="696896"/>
            <a:ext cx="5621517" cy="53085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map objects to the </a:t>
            </a:r>
            <a:r>
              <a:rPr kumimoji="0" lang="en-US" altLang="en-US" sz="1200" b="0" i="0" u="none" strike="noStrike" cap="none" normalizeH="0" baseline="0" dirty="0" err="1">
                <a:ln>
                  <a:noFill/>
                </a:ln>
                <a:solidFill>
                  <a:srgbClr val="C7254E"/>
                </a:solidFill>
                <a:effectLst/>
                <a:latin typeface="Menlo"/>
                <a:cs typeface="Open Sans" panose="020B0606030504020204" pitchFamily="34" charset="0"/>
              </a:rPr>
              <a:t>dbo</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schema by default.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333333"/>
              </a:solidFill>
              <a:latin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9F68FA9D-FEB1-4774-1914-5843318FB6C8}"/>
              </a:ext>
            </a:extLst>
          </p:cNvPr>
          <p:cNvSpPr txBox="1"/>
          <p:nvPr/>
        </p:nvSpPr>
        <p:spPr>
          <a:xfrm>
            <a:off x="6617617" y="92725"/>
            <a:ext cx="3714160" cy="43088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Schema </a:t>
            </a:r>
          </a:p>
        </p:txBody>
      </p:sp>
      <p:sp>
        <p:nvSpPr>
          <p:cNvPr id="14" name="TextBox 13">
            <a:extLst>
              <a:ext uri="{FF2B5EF4-FFF2-40B4-BE49-F238E27FC236}">
                <a16:creationId xmlns:a16="http://schemas.microsoft.com/office/drawing/2014/main" id="{04CF02D2-02DF-DC50-15B5-83EFE6F06DEA}"/>
              </a:ext>
            </a:extLst>
          </p:cNvPr>
          <p:cNvSpPr txBox="1"/>
          <p:nvPr/>
        </p:nvSpPr>
        <p:spPr>
          <a:xfrm>
            <a:off x="6315959" y="3024792"/>
            <a:ext cx="5791199"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String properties are unlimited in size and are mapped to an appropriate nullable data type determined by the database provider (e.g. </a:t>
            </a:r>
            <a:r>
              <a:rPr kumimoji="0" lang="en-US" altLang="en-US" sz="1400" b="0" i="0" u="none" strike="noStrike" kern="1200" cap="none" spc="0" normalizeH="0" baseline="0" noProof="0" dirty="0" err="1">
                <a:ln>
                  <a:noFill/>
                </a:ln>
                <a:solidFill>
                  <a:srgbClr val="C7254E"/>
                </a:solidFill>
                <a:effectLst/>
                <a:uLnTx/>
                <a:uFillTx/>
                <a:latin typeface="Menlo"/>
                <a:ea typeface="+mn-ea"/>
                <a:cs typeface="Open Sans" panose="020B0606030504020204" pitchFamily="34" charset="0"/>
              </a:rPr>
              <a:t>nvarchar</a:t>
            </a:r>
            <a:r>
              <a:rPr kumimoji="0" lang="en-US" altLang="en-US" sz="1400" b="0" i="0" u="none" strike="noStrike" kern="1200" cap="none" spc="0" normalizeH="0" baseline="0" noProof="0" dirty="0">
                <a:ln>
                  <a:noFill/>
                </a:ln>
                <a:solidFill>
                  <a:srgbClr val="C7254E"/>
                </a:solidFill>
                <a:effectLst/>
                <a:uLnTx/>
                <a:uFillTx/>
                <a:latin typeface="Menlo"/>
                <a:ea typeface="+mn-ea"/>
                <a:cs typeface="Open Sans" panose="020B0606030504020204" pitchFamily="34" charset="0"/>
              </a:rPr>
              <a:t>(MAX)</a:t>
            </a:r>
            <a:r>
              <a:rPr kumimoji="0" lang="en-US" altLang="en-US" sz="14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 in SQL Server). All other types are decided by the database provider. </a:t>
            </a:r>
            <a:endPar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6" name="TextBox 15">
            <a:extLst>
              <a:ext uri="{FF2B5EF4-FFF2-40B4-BE49-F238E27FC236}">
                <a16:creationId xmlns:a16="http://schemas.microsoft.com/office/drawing/2014/main" id="{7F4BBE7F-B6EE-F61E-B2B0-DD15E46AA3FC}"/>
              </a:ext>
            </a:extLst>
          </p:cNvPr>
          <p:cNvSpPr txBox="1"/>
          <p:nvPr/>
        </p:nvSpPr>
        <p:spPr>
          <a:xfrm>
            <a:off x="6485641" y="1555752"/>
            <a:ext cx="5621517"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4867"/>
                </a:solidFill>
                <a:effectLst/>
                <a:latin typeface="Roboto" panose="02000000000000000000" pitchFamily="2" charset="0"/>
              </a:rPr>
              <a:t>Columns </a:t>
            </a:r>
          </a:p>
        </p:txBody>
      </p:sp>
      <p:sp>
        <p:nvSpPr>
          <p:cNvPr id="18" name="TextBox 17">
            <a:extLst>
              <a:ext uri="{FF2B5EF4-FFF2-40B4-BE49-F238E27FC236}">
                <a16:creationId xmlns:a16="http://schemas.microsoft.com/office/drawing/2014/main" id="{296FAACB-902B-91AF-C1C1-E1CC414EFC0F}"/>
              </a:ext>
            </a:extLst>
          </p:cNvPr>
          <p:cNvSpPr txBox="1"/>
          <p:nvPr/>
        </p:nvSpPr>
        <p:spPr>
          <a:xfrm>
            <a:off x="6315959" y="1813690"/>
            <a:ext cx="610385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map entity properties to database columns with the same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name.</a:t>
            </a:r>
          </a:p>
        </p:txBody>
      </p:sp>
      <p:sp>
        <p:nvSpPr>
          <p:cNvPr id="20" name="TextBox 19">
            <a:extLst>
              <a:ext uri="{FF2B5EF4-FFF2-40B4-BE49-F238E27FC236}">
                <a16:creationId xmlns:a16="http://schemas.microsoft.com/office/drawing/2014/main" id="{FA203F43-42F8-4E25-89DF-5AA53CCC1CE7}"/>
              </a:ext>
            </a:extLst>
          </p:cNvPr>
          <p:cNvSpPr txBox="1"/>
          <p:nvPr/>
        </p:nvSpPr>
        <p:spPr>
          <a:xfrm>
            <a:off x="6400801" y="2733364"/>
            <a:ext cx="466626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rPr>
              <a:t>Data Types </a:t>
            </a:r>
          </a:p>
        </p:txBody>
      </p:sp>
    </p:spTree>
    <p:extLst>
      <p:ext uri="{BB962C8B-B14F-4D97-AF65-F5344CB8AC3E}">
        <p14:creationId xmlns:p14="http://schemas.microsoft.com/office/powerpoint/2010/main" val="413904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170FBB-F914-A219-8CE5-5B19C1B15DEF}"/>
              </a:ext>
            </a:extLst>
          </p:cNvPr>
          <p:cNvSpPr txBox="1"/>
          <p:nvPr/>
        </p:nvSpPr>
        <p:spPr>
          <a:xfrm>
            <a:off x="115479" y="0"/>
            <a:ext cx="5550030"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US" sz="1400" b="0" i="0" dirty="0">
                <a:solidFill>
                  <a:srgbClr val="004867"/>
                </a:solidFill>
                <a:effectLst/>
                <a:latin typeface="Roboto" panose="02000000000000000000" pitchFamily="2" charset="0"/>
              </a:rPr>
              <a:t>Entity Framework Core One To Many Relationships Conventions</a:t>
            </a:r>
          </a:p>
        </p:txBody>
      </p:sp>
      <p:sp>
        <p:nvSpPr>
          <p:cNvPr id="7" name="TextBox 6">
            <a:extLst>
              <a:ext uri="{FF2B5EF4-FFF2-40B4-BE49-F238E27FC236}">
                <a16:creationId xmlns:a16="http://schemas.microsoft.com/office/drawing/2014/main" id="{192BD319-A9D1-36CF-095F-F5CC2357AB46}"/>
              </a:ext>
            </a:extLst>
          </p:cNvPr>
          <p:cNvSpPr txBox="1"/>
          <p:nvPr/>
        </p:nvSpPr>
        <p:spPr>
          <a:xfrm>
            <a:off x="84843" y="343972"/>
            <a:ext cx="6094428" cy="1815882"/>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The easiest way to configure a one-to-many relationship is by convention. EF Core will create a relationship if an entity contains a </a:t>
            </a:r>
            <a:r>
              <a:rPr lang="en-US" sz="1400" b="1" i="0" u="sng" dirty="0">
                <a:solidFill>
                  <a:srgbClr val="000000"/>
                </a:solidFill>
                <a:effectLst/>
                <a:latin typeface="Open Sans" panose="020B0606030504020204" pitchFamily="34" charset="0"/>
              </a:rPr>
              <a:t>navigation</a:t>
            </a:r>
            <a:r>
              <a:rPr lang="en-US" sz="1400" b="0" i="0" dirty="0">
                <a:solidFill>
                  <a:srgbClr val="333333"/>
                </a:solidFill>
                <a:effectLst/>
                <a:latin typeface="Open Sans" panose="020B0606030504020204" pitchFamily="34" charset="0"/>
              </a:rPr>
              <a:t>The easiest way to configure a one-to-many relationship is by convention. EF Core will create a relationship if an entity contains a </a:t>
            </a:r>
            <a:r>
              <a:rPr lang="en-US" sz="1400" b="1" i="0" u="sng" dirty="0">
                <a:solidFill>
                  <a:srgbClr val="000000"/>
                </a:solidFill>
                <a:effectLst/>
                <a:latin typeface="Open Sans" panose="020B0606030504020204" pitchFamily="34" charset="0"/>
              </a:rPr>
              <a:t>navigation property</a:t>
            </a:r>
            <a:r>
              <a:rPr lang="en-US" sz="1400" b="0" i="0" dirty="0">
                <a:solidFill>
                  <a:srgbClr val="333333"/>
                </a:solidFill>
                <a:effectLst/>
                <a:latin typeface="Open Sans" panose="020B0606030504020204" pitchFamily="34" charset="0"/>
              </a:rPr>
              <a:t>. Therefore, the minimum required for a relationship is the presence of a navigation property in the principal entity: </a:t>
            </a:r>
            <a:r>
              <a:rPr lang="en-US" sz="1400" b="1" i="0" u="sng" dirty="0">
                <a:solidFill>
                  <a:srgbClr val="000000"/>
                </a:solidFill>
                <a:effectLst/>
                <a:latin typeface="Open Sans" panose="020B0606030504020204" pitchFamily="34" charset="0"/>
              </a:rPr>
              <a:t>property</a:t>
            </a:r>
            <a:r>
              <a:rPr lang="en-US" sz="1400" b="0" i="0" dirty="0">
                <a:solidFill>
                  <a:srgbClr val="333333"/>
                </a:solidFill>
                <a:effectLst/>
                <a:latin typeface="Open Sans" panose="020B0606030504020204" pitchFamily="34" charset="0"/>
              </a:rPr>
              <a:t>. Therefore, the minimum required for a relationship is the presence of a navigation property in the principal entity:</a:t>
            </a:r>
            <a:endParaRPr lang="en-IN" sz="1400" dirty="0"/>
          </a:p>
        </p:txBody>
      </p:sp>
      <p:sp>
        <p:nvSpPr>
          <p:cNvPr id="8" name="Rectangle 1">
            <a:extLst>
              <a:ext uri="{FF2B5EF4-FFF2-40B4-BE49-F238E27FC236}">
                <a16:creationId xmlns:a16="http://schemas.microsoft.com/office/drawing/2014/main" id="{BCC36A82-1146-4F7B-2E6E-B277EF09F2CF}"/>
              </a:ext>
            </a:extLst>
          </p:cNvPr>
          <p:cNvSpPr>
            <a:spLocks noChangeArrowheads="1"/>
          </p:cNvSpPr>
          <p:nvPr/>
        </p:nvSpPr>
        <p:spPr bwMode="auto">
          <a:xfrm>
            <a:off x="115479" y="2159854"/>
            <a:ext cx="6636470" cy="307776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ICollection</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4D4114A1-7832-A99A-BB11-E27A263C5553}"/>
              </a:ext>
            </a:extLst>
          </p:cNvPr>
          <p:cNvSpPr>
            <a:spLocks noChangeArrowheads="1"/>
          </p:cNvSpPr>
          <p:nvPr/>
        </p:nvSpPr>
        <p:spPr bwMode="auto">
          <a:xfrm>
            <a:off x="273379" y="5164826"/>
            <a:ext cx="5905892"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navigation property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this example is the </a:t>
            </a:r>
            <a:r>
              <a:rPr kumimoji="0" lang="en-US" altLang="en-US" sz="1400" b="0" i="0" u="none" strike="noStrike" cap="none" normalizeH="0" baseline="0" dirty="0">
                <a:ln>
                  <a:noFill/>
                </a:ln>
                <a:solidFill>
                  <a:srgbClr val="C7254E"/>
                </a:solidFill>
                <a:effectLst/>
                <a:highlight>
                  <a:srgbClr val="FFFF00"/>
                </a:highlight>
                <a:latin typeface="Menlo"/>
              </a:rPr>
              <a:t>Books</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property in the </a:t>
            </a:r>
            <a:r>
              <a:rPr kumimoji="0" lang="en-US" altLang="en-US" sz="1400" b="0" i="0" u="none" strike="noStrike" cap="none" normalizeH="0" baseline="0" dirty="0">
                <a:ln>
                  <a:noFill/>
                </a:ln>
                <a:solidFill>
                  <a:srgbClr val="C7254E"/>
                </a:solidFill>
                <a:effectLst/>
                <a:latin typeface="Menlo"/>
              </a:rPr>
              <a:t>Author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It cannot be mapped to an equivalent data type within the database. EF Core will generate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shadow property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the foreign key named </a:t>
            </a:r>
            <a:r>
              <a:rPr kumimoji="0" lang="en-US" altLang="en-US" sz="1400" b="0" i="0" u="none" strike="noStrike" cap="none" normalizeH="0" baseline="0" dirty="0" err="1">
                <a:ln>
                  <a:noFill/>
                </a:ln>
                <a:solidFill>
                  <a:srgbClr val="C7254E"/>
                </a:solidFill>
                <a:effectLst/>
                <a:highlight>
                  <a:srgbClr val="FFFF00"/>
                </a:highlight>
                <a:latin typeface="Menlo"/>
              </a:rPr>
              <a:t>AuthorId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which will map to a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nullable </a:t>
            </a:r>
            <a:r>
              <a:rPr kumimoji="0" lang="en-US" altLang="en-US" sz="1400" b="0" i="0" u="none" strike="noStrike" cap="none" normalizeH="0" baseline="0" dirty="0" err="1">
                <a:ln>
                  <a:noFill/>
                </a:ln>
                <a:solidFill>
                  <a:srgbClr val="C7254E"/>
                </a:solidFill>
                <a:effectLst/>
                <a:highlight>
                  <a:srgbClr val="FFFF00"/>
                </a:highlight>
                <a:latin typeface="Menlo"/>
              </a:rPr>
              <a:t>AuthorId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foreign key column in the Books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table in the database. Here is a snippet of the </a:t>
            </a:r>
            <a:r>
              <a:rPr kumimoji="0" lang="en-US" altLang="en-US" sz="1400" b="0" i="0" u="none" strike="noStrike" cap="none" normalizeH="0" baseline="0" dirty="0">
                <a:ln>
                  <a:noFill/>
                </a:ln>
                <a:solidFill>
                  <a:srgbClr val="C7254E"/>
                </a:solidFill>
                <a:effectLst/>
                <a:latin typeface="Menlo"/>
              </a:rPr>
              <a:t>Up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 in a corresponding Migration class:</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1BD90A62-1F41-FCA7-0F38-688A12A163FD}"/>
              </a:ext>
            </a:extLst>
          </p:cNvPr>
          <p:cNvSpPr txBox="1"/>
          <p:nvPr/>
        </p:nvSpPr>
        <p:spPr>
          <a:xfrm>
            <a:off x="6307666" y="153888"/>
            <a:ext cx="5768855" cy="4385816"/>
          </a:xfrm>
          <a:prstGeom prst="rect">
            <a:avLst/>
          </a:prstGeom>
          <a:noFill/>
        </p:spPr>
        <p:txBody>
          <a:bodyPr wrap="square">
            <a:spAutoFit/>
          </a:bodyPr>
          <a:lstStyle/>
          <a:p>
            <a:r>
              <a:rPr lang="en-IN" sz="900" dirty="0" err="1">
                <a:solidFill>
                  <a:srgbClr val="000000"/>
                </a:solidFill>
                <a:highlight>
                  <a:srgbClr val="FFFFFF"/>
                </a:highlight>
                <a:latin typeface="Cascadia Mono" panose="020B0609020000020004" pitchFamily="49" charset="0"/>
              </a:rPr>
              <a:t>migrationBuilder.CreateTable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name: </a:t>
            </a:r>
            <a:r>
              <a:rPr lang="en-IN" sz="900" dirty="0">
                <a:solidFill>
                  <a:srgbClr val="A31515"/>
                </a:solidFill>
                <a:highlight>
                  <a:srgbClr val="FFFFFF"/>
                </a:highlight>
                <a:latin typeface="Cascadia Mono" panose="020B0609020000020004" pitchFamily="49" charset="0"/>
              </a:rPr>
              <a:t>"Authors"</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columns: table =&gt; </a:t>
            </a:r>
            <a:r>
              <a:rPr lang="en-IN" sz="900" dirty="0">
                <a:solidFill>
                  <a:srgbClr val="0000FF"/>
                </a:solidFill>
                <a:highlight>
                  <a:srgbClr val="FFFFFF"/>
                </a:highlight>
                <a:latin typeface="Cascadia Mono" panose="020B0609020000020004" pitchFamily="49" charset="0"/>
              </a:rPr>
              <a:t>new</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AuthorId</a:t>
            </a:r>
            <a:r>
              <a:rPr lang="en-IN" sz="900" dirty="0">
                <a:solidFill>
                  <a:srgbClr val="000000"/>
                </a:solidFill>
                <a:highlight>
                  <a:srgbClr val="FFFFFF"/>
                </a:highlight>
                <a:latin typeface="Cascadia Mono" panose="020B0609020000020004" pitchFamily="49" charset="0"/>
              </a:rPr>
              <a:t> = </a:t>
            </a:r>
            <a:r>
              <a:rPr lang="en-IN" sz="900" dirty="0" err="1">
                <a:solidFill>
                  <a:srgbClr val="000000"/>
                </a:solidFill>
                <a:highlight>
                  <a:srgbClr val="FFFFFF"/>
                </a:highlight>
                <a:latin typeface="Cascadia Mono" panose="020B0609020000020004" pitchFamily="49" charset="0"/>
              </a:rPr>
              <a:t>table.Column</a:t>
            </a:r>
            <a:r>
              <a:rPr lang="en-IN" sz="900" dirty="0">
                <a:solidFill>
                  <a:srgbClr val="000000"/>
                </a:solidFill>
                <a:highlight>
                  <a:srgbClr val="FFFFFF"/>
                </a:highlight>
                <a:latin typeface="Cascadia Mono" panose="020B0609020000020004" pitchFamily="49" charset="0"/>
              </a:rPr>
              <a:t>&lt;</a:t>
            </a:r>
            <a:r>
              <a:rPr lang="en-IN" sz="900" dirty="0">
                <a:solidFill>
                  <a:srgbClr val="0000FF"/>
                </a:solidFill>
                <a:highlight>
                  <a:srgbClr val="FFFFFF"/>
                </a:highlight>
                <a:latin typeface="Cascadia Mono" panose="020B0609020000020004" pitchFamily="49" charset="0"/>
              </a:rPr>
              <a:t>int</a:t>
            </a:r>
            <a:r>
              <a:rPr lang="en-IN" sz="900" dirty="0">
                <a:solidFill>
                  <a:srgbClr val="000000"/>
                </a:solidFill>
                <a:highlight>
                  <a:srgbClr val="FFFFFF"/>
                </a:highlight>
                <a:latin typeface="Cascadia Mono" panose="020B0609020000020004" pitchFamily="49" charset="0"/>
              </a:rPr>
              <a:t>&gt;(type: </a:t>
            </a:r>
            <a:r>
              <a:rPr lang="en-IN" sz="900" dirty="0">
                <a:solidFill>
                  <a:srgbClr val="A31515"/>
                </a:solidFill>
                <a:highlight>
                  <a:srgbClr val="FFFFFF"/>
                </a:highlight>
                <a:latin typeface="Cascadia Mono" panose="020B0609020000020004" pitchFamily="49" charset="0"/>
              </a:rPr>
              <a:t>"int"</a:t>
            </a:r>
            <a:r>
              <a:rPr lang="en-IN" sz="900" dirty="0">
                <a:solidFill>
                  <a:srgbClr val="000000"/>
                </a:solidFill>
                <a:highlight>
                  <a:srgbClr val="FFFFFF"/>
                </a:highlight>
                <a:latin typeface="Cascadia Mono" panose="020B0609020000020004" pitchFamily="49" charset="0"/>
              </a:rPr>
              <a:t>, nullable: </a:t>
            </a:r>
            <a:r>
              <a:rPr lang="en-IN" sz="900" dirty="0">
                <a:solidFill>
                  <a:srgbClr val="0000FF"/>
                </a:solidFill>
                <a:highlight>
                  <a:srgbClr val="FFFFFF"/>
                </a:highlight>
                <a:latin typeface="Cascadia Mono" panose="020B0609020000020004" pitchFamily="49" charset="0"/>
              </a:rPr>
              <a:t>false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.Annotation(</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SqlServer:Identity</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 </a:t>
            </a:r>
            <a:r>
              <a:rPr lang="en-IN" sz="900" dirty="0">
                <a:solidFill>
                  <a:srgbClr val="A31515"/>
                </a:solidFill>
                <a:highlight>
                  <a:srgbClr val="FFFFFF"/>
                </a:highlight>
                <a:latin typeface="Cascadia Mono" panose="020B0609020000020004" pitchFamily="49" charset="0"/>
              </a:rPr>
              <a:t>"1, 1"</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FirstName = </a:t>
            </a:r>
            <a:r>
              <a:rPr lang="en-IN" sz="900" dirty="0" err="1">
                <a:solidFill>
                  <a:srgbClr val="000000"/>
                </a:solidFill>
                <a:highlight>
                  <a:srgbClr val="FFFFFF"/>
                </a:highlight>
                <a:latin typeface="Cascadia Mono" panose="020B0609020000020004" pitchFamily="49" charset="0"/>
              </a:rPr>
              <a:t>table.Column</a:t>
            </a:r>
            <a:r>
              <a:rPr lang="en-IN" sz="900" dirty="0">
                <a:solidFill>
                  <a:srgbClr val="000000"/>
                </a:solidFill>
                <a:highlight>
                  <a:srgbClr val="FFFFFF"/>
                </a:highlight>
                <a:latin typeface="Cascadia Mono" panose="020B0609020000020004" pitchFamily="49" charset="0"/>
              </a:rPr>
              <a:t>&lt;</a:t>
            </a:r>
            <a:r>
              <a:rPr lang="en-IN" sz="900" dirty="0">
                <a:solidFill>
                  <a:srgbClr val="0000FF"/>
                </a:solidFill>
                <a:highlight>
                  <a:srgbClr val="FFFFFF"/>
                </a:highlight>
                <a:latin typeface="Cascadia Mono" panose="020B0609020000020004" pitchFamily="49" charset="0"/>
              </a:rPr>
              <a:t>string</a:t>
            </a:r>
            <a:r>
              <a:rPr lang="en-IN" sz="900" dirty="0">
                <a:solidFill>
                  <a:srgbClr val="000000"/>
                </a:solidFill>
                <a:highlight>
                  <a:srgbClr val="FFFFFF"/>
                </a:highlight>
                <a:latin typeface="Cascadia Mono" panose="020B0609020000020004" pitchFamily="49" charset="0"/>
              </a:rPr>
              <a:t>&gt;(type: </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nvarchar</a:t>
            </a:r>
            <a:r>
              <a:rPr lang="en-IN" sz="900" dirty="0">
                <a:solidFill>
                  <a:srgbClr val="A31515"/>
                </a:solidFill>
                <a:highlight>
                  <a:srgbClr val="FFFFFF"/>
                </a:highlight>
                <a:latin typeface="Cascadia Mono" panose="020B0609020000020004" pitchFamily="49" charset="0"/>
              </a:rPr>
              <a:t>(max)"</a:t>
            </a:r>
            <a:r>
              <a:rPr lang="en-IN" sz="900" dirty="0">
                <a:solidFill>
                  <a:srgbClr val="000000"/>
                </a:solidFill>
                <a:highlight>
                  <a:srgbClr val="FFFFFF"/>
                </a:highlight>
                <a:latin typeface="Cascadia Mono" panose="020B0609020000020004" pitchFamily="49" charset="0"/>
              </a:rPr>
              <a:t>, nullable: </a:t>
            </a:r>
            <a:r>
              <a:rPr lang="en-IN" sz="900" dirty="0">
                <a:solidFill>
                  <a:srgbClr val="0000FF"/>
                </a:solidFill>
                <a:highlight>
                  <a:srgbClr val="FFFFFF"/>
                </a:highlight>
                <a:latin typeface="Cascadia Mono" panose="020B0609020000020004" pitchFamily="49" charset="0"/>
              </a:rPr>
              <a:t>false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LastName = </a:t>
            </a:r>
            <a:r>
              <a:rPr lang="en-IN" sz="900" dirty="0" err="1">
                <a:solidFill>
                  <a:srgbClr val="000000"/>
                </a:solidFill>
                <a:highlight>
                  <a:srgbClr val="FFFFFF"/>
                </a:highlight>
                <a:latin typeface="Cascadia Mono" panose="020B0609020000020004" pitchFamily="49" charset="0"/>
              </a:rPr>
              <a:t>table.Column</a:t>
            </a:r>
            <a:r>
              <a:rPr lang="en-IN" sz="900" dirty="0">
                <a:solidFill>
                  <a:srgbClr val="000000"/>
                </a:solidFill>
                <a:highlight>
                  <a:srgbClr val="FFFFFF"/>
                </a:highlight>
                <a:latin typeface="Cascadia Mono" panose="020B0609020000020004" pitchFamily="49" charset="0"/>
              </a:rPr>
              <a:t>&lt;</a:t>
            </a:r>
            <a:r>
              <a:rPr lang="en-IN" sz="900" dirty="0">
                <a:solidFill>
                  <a:srgbClr val="0000FF"/>
                </a:solidFill>
                <a:highlight>
                  <a:srgbClr val="FFFFFF"/>
                </a:highlight>
                <a:latin typeface="Cascadia Mono" panose="020B0609020000020004" pitchFamily="49" charset="0"/>
              </a:rPr>
              <a:t>string</a:t>
            </a:r>
            <a:r>
              <a:rPr lang="en-IN" sz="900" dirty="0">
                <a:solidFill>
                  <a:srgbClr val="000000"/>
                </a:solidFill>
                <a:highlight>
                  <a:srgbClr val="FFFFFF"/>
                </a:highlight>
                <a:latin typeface="Cascadia Mono" panose="020B0609020000020004" pitchFamily="49" charset="0"/>
              </a:rPr>
              <a:t>&gt;(type: </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nvarchar</a:t>
            </a:r>
            <a:r>
              <a:rPr lang="en-IN" sz="900" dirty="0">
                <a:solidFill>
                  <a:srgbClr val="A31515"/>
                </a:solidFill>
                <a:highlight>
                  <a:srgbClr val="FFFFFF"/>
                </a:highlight>
                <a:latin typeface="Cascadia Mono" panose="020B0609020000020004" pitchFamily="49" charset="0"/>
              </a:rPr>
              <a:t>(max)"</a:t>
            </a:r>
            <a:r>
              <a:rPr lang="en-IN" sz="900" dirty="0">
                <a:solidFill>
                  <a:srgbClr val="000000"/>
                </a:solidFill>
                <a:highlight>
                  <a:srgbClr val="FFFFFF"/>
                </a:highlight>
                <a:latin typeface="Cascadia Mono" panose="020B0609020000020004" pitchFamily="49" charset="0"/>
              </a:rPr>
              <a:t>, nullable: </a:t>
            </a:r>
            <a:r>
              <a:rPr lang="en-IN" sz="900" dirty="0">
                <a:solidFill>
                  <a:srgbClr val="0000FF"/>
                </a:solidFill>
                <a:highlight>
                  <a:srgbClr val="FFFFFF"/>
                </a:highlight>
                <a:latin typeface="Cascadia Mono" panose="020B0609020000020004" pitchFamily="49" charset="0"/>
              </a:rPr>
              <a:t>false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constraints: table =&gt;</a:t>
            </a: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table.PrimaryKey</a:t>
            </a:r>
            <a:r>
              <a:rPr lang="en-US" sz="900" dirty="0">
                <a:solidFill>
                  <a:srgbClr val="000000"/>
                </a:solidFill>
                <a:highlight>
                  <a:srgbClr val="FFFFFF"/>
                </a:highlight>
                <a:latin typeface="Cascadia Mono" panose="020B0609020000020004" pitchFamily="49" charset="0"/>
              </a:rPr>
              <a:t>(</a:t>
            </a:r>
            <a:r>
              <a:rPr lang="en-US" sz="900" dirty="0">
                <a:solidFill>
                  <a:srgbClr val="A31515"/>
                </a:solidFill>
                <a:highlight>
                  <a:srgbClr val="FFFFFF"/>
                </a:highlight>
                <a:latin typeface="Cascadia Mono" panose="020B0609020000020004" pitchFamily="49" charset="0"/>
              </a:rPr>
              <a:t>"</a:t>
            </a:r>
            <a:r>
              <a:rPr lang="en-US" sz="900" dirty="0" err="1">
                <a:solidFill>
                  <a:srgbClr val="A31515"/>
                </a:solidFill>
                <a:highlight>
                  <a:srgbClr val="FFFFFF"/>
                </a:highlight>
                <a:latin typeface="Cascadia Mono" panose="020B0609020000020004" pitchFamily="49" charset="0"/>
              </a:rPr>
              <a:t>PK_Authors</a:t>
            </a:r>
            <a:r>
              <a:rPr lang="en-US" sz="900" dirty="0">
                <a:solidFill>
                  <a:srgbClr val="A31515"/>
                </a:solidFill>
                <a:highlight>
                  <a:srgbClr val="FFFFFF"/>
                </a:highlight>
                <a:latin typeface="Cascadia Mono" panose="020B0609020000020004" pitchFamily="49" charset="0"/>
              </a:rPr>
              <a:t>"</a:t>
            </a:r>
            <a:r>
              <a:rPr lang="en-US" sz="900" dirty="0">
                <a:solidFill>
                  <a:srgbClr val="000000"/>
                </a:solidFill>
                <a:highlight>
                  <a:srgbClr val="FFFFFF"/>
                </a:highlight>
                <a:latin typeface="Cascadia Mono" panose="020B0609020000020004" pitchFamily="49" charset="0"/>
              </a:rPr>
              <a:t>, x =&gt; </a:t>
            </a:r>
            <a:r>
              <a:rPr lang="en-US" sz="900" dirty="0" err="1">
                <a:solidFill>
                  <a:srgbClr val="000000"/>
                </a:solidFill>
                <a:highlight>
                  <a:srgbClr val="FFFFFF"/>
                </a:highlight>
                <a:latin typeface="Cascadia Mono" panose="020B0609020000020004" pitchFamily="49" charset="0"/>
              </a:rPr>
              <a:t>x.AuthorId</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IN" sz="900" dirty="0" err="1">
                <a:solidFill>
                  <a:srgbClr val="000000"/>
                </a:solidFill>
                <a:highlight>
                  <a:srgbClr val="FFFFFF"/>
                </a:highlight>
                <a:latin typeface="Cascadia Mono" panose="020B0609020000020004" pitchFamily="49" charset="0"/>
              </a:rPr>
              <a:t>migrationBuilder.CreateTable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name: </a:t>
            </a:r>
            <a:r>
              <a:rPr lang="en-IN" sz="900" dirty="0">
                <a:solidFill>
                  <a:srgbClr val="A31515"/>
                </a:solidFill>
                <a:highlight>
                  <a:srgbClr val="FFFFFF"/>
                </a:highlight>
                <a:latin typeface="Cascadia Mono" panose="020B0609020000020004" pitchFamily="49" charset="0"/>
              </a:rPr>
              <a:t>"Books"</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columns: table =&gt; </a:t>
            </a:r>
            <a:r>
              <a:rPr lang="en-IN" sz="900" dirty="0">
                <a:solidFill>
                  <a:srgbClr val="0000FF"/>
                </a:solidFill>
                <a:highlight>
                  <a:srgbClr val="FFFFFF"/>
                </a:highlight>
                <a:latin typeface="Cascadia Mono" panose="020B0609020000020004" pitchFamily="49" charset="0"/>
              </a:rPr>
              <a:t>new</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BookId</a:t>
            </a:r>
            <a:r>
              <a:rPr lang="en-IN" sz="900" dirty="0">
                <a:solidFill>
                  <a:srgbClr val="000000"/>
                </a:solidFill>
                <a:highlight>
                  <a:srgbClr val="FFFFFF"/>
                </a:highlight>
                <a:latin typeface="Cascadia Mono" panose="020B0609020000020004" pitchFamily="49" charset="0"/>
              </a:rPr>
              <a:t> = </a:t>
            </a:r>
            <a:r>
              <a:rPr lang="en-IN" sz="900" dirty="0" err="1">
                <a:solidFill>
                  <a:srgbClr val="000000"/>
                </a:solidFill>
                <a:highlight>
                  <a:srgbClr val="FFFFFF"/>
                </a:highlight>
                <a:latin typeface="Cascadia Mono" panose="020B0609020000020004" pitchFamily="49" charset="0"/>
              </a:rPr>
              <a:t>table.Column</a:t>
            </a:r>
            <a:r>
              <a:rPr lang="en-IN" sz="900" dirty="0">
                <a:solidFill>
                  <a:srgbClr val="000000"/>
                </a:solidFill>
                <a:highlight>
                  <a:srgbClr val="FFFFFF"/>
                </a:highlight>
                <a:latin typeface="Cascadia Mono" panose="020B0609020000020004" pitchFamily="49" charset="0"/>
              </a:rPr>
              <a:t>&lt;</a:t>
            </a:r>
            <a:r>
              <a:rPr lang="en-IN" sz="900" dirty="0">
                <a:solidFill>
                  <a:srgbClr val="0000FF"/>
                </a:solidFill>
                <a:highlight>
                  <a:srgbClr val="FFFFFF"/>
                </a:highlight>
                <a:latin typeface="Cascadia Mono" panose="020B0609020000020004" pitchFamily="49" charset="0"/>
              </a:rPr>
              <a:t>int</a:t>
            </a:r>
            <a:r>
              <a:rPr lang="en-IN" sz="900" dirty="0">
                <a:solidFill>
                  <a:srgbClr val="000000"/>
                </a:solidFill>
                <a:highlight>
                  <a:srgbClr val="FFFFFF"/>
                </a:highlight>
                <a:latin typeface="Cascadia Mono" panose="020B0609020000020004" pitchFamily="49" charset="0"/>
              </a:rPr>
              <a:t>&gt;(type: </a:t>
            </a:r>
            <a:r>
              <a:rPr lang="en-IN" sz="900" dirty="0">
                <a:solidFill>
                  <a:srgbClr val="A31515"/>
                </a:solidFill>
                <a:highlight>
                  <a:srgbClr val="FFFFFF"/>
                </a:highlight>
                <a:latin typeface="Cascadia Mono" panose="020B0609020000020004" pitchFamily="49" charset="0"/>
              </a:rPr>
              <a:t>"int"</a:t>
            </a:r>
            <a:r>
              <a:rPr lang="en-IN" sz="900" dirty="0">
                <a:solidFill>
                  <a:srgbClr val="000000"/>
                </a:solidFill>
                <a:highlight>
                  <a:srgbClr val="FFFFFF"/>
                </a:highlight>
                <a:latin typeface="Cascadia Mono" panose="020B0609020000020004" pitchFamily="49" charset="0"/>
              </a:rPr>
              <a:t>, nullable: </a:t>
            </a:r>
            <a:r>
              <a:rPr lang="en-IN" sz="900" dirty="0">
                <a:solidFill>
                  <a:srgbClr val="0000FF"/>
                </a:solidFill>
                <a:highlight>
                  <a:srgbClr val="FFFFFF"/>
                </a:highlight>
                <a:latin typeface="Cascadia Mono" panose="020B0609020000020004" pitchFamily="49" charset="0"/>
              </a:rPr>
              <a:t>false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.Annotation(</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SqlServer:Identity</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 </a:t>
            </a:r>
            <a:r>
              <a:rPr lang="en-IN" sz="900" dirty="0">
                <a:solidFill>
                  <a:srgbClr val="A31515"/>
                </a:solidFill>
                <a:highlight>
                  <a:srgbClr val="FFFFFF"/>
                </a:highlight>
                <a:latin typeface="Cascadia Mono" panose="020B0609020000020004" pitchFamily="49" charset="0"/>
              </a:rPr>
              <a:t>"1, 1"</a:t>
            </a:r>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Title = </a:t>
            </a:r>
            <a:r>
              <a:rPr lang="en-US" sz="900" dirty="0" err="1">
                <a:solidFill>
                  <a:srgbClr val="000000"/>
                </a:solidFill>
                <a:highlight>
                  <a:srgbClr val="FFFFFF"/>
                </a:highlight>
                <a:latin typeface="Cascadia Mono" panose="020B0609020000020004" pitchFamily="49" charset="0"/>
              </a:rPr>
              <a:t>table.Column</a:t>
            </a:r>
            <a:r>
              <a:rPr lang="en-US" sz="900" dirty="0">
                <a:solidFill>
                  <a:srgbClr val="000000"/>
                </a:solidFill>
                <a:highlight>
                  <a:srgbClr val="FFFFFF"/>
                </a:highlight>
                <a:latin typeface="Cascadia Mono" panose="020B0609020000020004" pitchFamily="49" charset="0"/>
              </a:rPr>
              <a:t>&lt;</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&gt;(type: </a:t>
            </a:r>
            <a:r>
              <a:rPr lang="en-US" sz="900" dirty="0">
                <a:solidFill>
                  <a:srgbClr val="A31515"/>
                </a:solidFill>
                <a:highlight>
                  <a:srgbClr val="FFFFFF"/>
                </a:highlight>
                <a:latin typeface="Cascadia Mono" panose="020B0609020000020004" pitchFamily="49" charset="0"/>
              </a:rPr>
              <a:t>"</a:t>
            </a:r>
            <a:r>
              <a:rPr lang="en-US" sz="900" dirty="0" err="1">
                <a:solidFill>
                  <a:srgbClr val="A31515"/>
                </a:solidFill>
                <a:highlight>
                  <a:srgbClr val="FFFFFF"/>
                </a:highlight>
                <a:latin typeface="Cascadia Mono" panose="020B0609020000020004" pitchFamily="49" charset="0"/>
              </a:rPr>
              <a:t>nvarchar</a:t>
            </a:r>
            <a:r>
              <a:rPr lang="en-US" sz="900" dirty="0">
                <a:solidFill>
                  <a:srgbClr val="A31515"/>
                </a:solidFill>
                <a:highlight>
                  <a:srgbClr val="FFFFFF"/>
                </a:highlight>
                <a:latin typeface="Cascadia Mono" panose="020B0609020000020004" pitchFamily="49" charset="0"/>
              </a:rPr>
              <a:t>(max)"</a:t>
            </a:r>
            <a:r>
              <a:rPr lang="en-US" sz="900" dirty="0">
                <a:solidFill>
                  <a:srgbClr val="000000"/>
                </a:solidFill>
                <a:highlight>
                  <a:srgbClr val="FFFFFF"/>
                </a:highlight>
                <a:latin typeface="Cascadia Mono" panose="020B0609020000020004" pitchFamily="49" charset="0"/>
              </a:rPr>
              <a:t>, nullable: </a:t>
            </a:r>
            <a:r>
              <a:rPr lang="en-US" sz="900" dirty="0">
                <a:solidFill>
                  <a:srgbClr val="0000FF"/>
                </a:solidFill>
                <a:highlight>
                  <a:srgbClr val="FFFFFF"/>
                </a:highlight>
                <a:latin typeface="Cascadia Mono" panose="020B0609020000020004" pitchFamily="49" charset="0"/>
              </a:rPr>
              <a:t>false</a:t>
            </a:r>
            <a:r>
              <a:rPr lang="en-US"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AuthorId</a:t>
            </a:r>
            <a:r>
              <a:rPr lang="en-US" sz="900" dirty="0">
                <a:solidFill>
                  <a:srgbClr val="000000"/>
                </a:solidFill>
                <a:highlight>
                  <a:srgbClr val="FFFFFF"/>
                </a:highlight>
                <a:latin typeface="Cascadia Mono" panose="020B0609020000020004" pitchFamily="49" charset="0"/>
              </a:rPr>
              <a:t> = </a:t>
            </a:r>
            <a:r>
              <a:rPr lang="en-US" sz="900" dirty="0" err="1">
                <a:solidFill>
                  <a:srgbClr val="000000"/>
                </a:solidFill>
                <a:highlight>
                  <a:srgbClr val="FFFFFF"/>
                </a:highlight>
                <a:latin typeface="Cascadia Mono" panose="020B0609020000020004" pitchFamily="49" charset="0"/>
              </a:rPr>
              <a:t>table.Column</a:t>
            </a:r>
            <a:r>
              <a:rPr lang="en-US" sz="900" dirty="0">
                <a:solidFill>
                  <a:srgbClr val="000000"/>
                </a:solidFill>
                <a:highlight>
                  <a:srgbClr val="FFFFFF"/>
                </a:highlight>
                <a:latin typeface="Cascadia Mono" panose="020B0609020000020004" pitchFamily="49" charset="0"/>
              </a:rPr>
              <a:t>&lt;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&gt;(type: </a:t>
            </a:r>
            <a:r>
              <a:rPr lang="en-US" sz="900" dirty="0">
                <a:solidFill>
                  <a:srgbClr val="A31515"/>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nullable: </a:t>
            </a:r>
            <a:r>
              <a:rPr lang="en-US" sz="900" dirty="0">
                <a:solidFill>
                  <a:srgbClr val="0000FF"/>
                </a:solidFill>
                <a:highlight>
                  <a:srgbClr val="FFFFFF"/>
                </a:highlight>
                <a:latin typeface="Cascadia Mono" panose="020B0609020000020004" pitchFamily="49" charset="0"/>
              </a:rPr>
              <a:t>true</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constraints: table =&gt;</a:t>
            </a: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table.PrimaryKey</a:t>
            </a:r>
            <a:r>
              <a:rPr lang="en-US" sz="900" dirty="0">
                <a:solidFill>
                  <a:srgbClr val="000000"/>
                </a:solidFill>
                <a:highlight>
                  <a:srgbClr val="FFFFFF"/>
                </a:highlight>
                <a:latin typeface="Cascadia Mono" panose="020B0609020000020004" pitchFamily="49" charset="0"/>
              </a:rPr>
              <a:t>(</a:t>
            </a:r>
            <a:r>
              <a:rPr lang="en-US" sz="900" dirty="0">
                <a:solidFill>
                  <a:srgbClr val="A31515"/>
                </a:solidFill>
                <a:highlight>
                  <a:srgbClr val="FFFFFF"/>
                </a:highlight>
                <a:latin typeface="Cascadia Mono" panose="020B0609020000020004" pitchFamily="49" charset="0"/>
              </a:rPr>
              <a:t>"</a:t>
            </a:r>
            <a:r>
              <a:rPr lang="en-US" sz="900" dirty="0" err="1">
                <a:solidFill>
                  <a:srgbClr val="A31515"/>
                </a:solidFill>
                <a:highlight>
                  <a:srgbClr val="FFFFFF"/>
                </a:highlight>
                <a:latin typeface="Cascadia Mono" panose="020B0609020000020004" pitchFamily="49" charset="0"/>
              </a:rPr>
              <a:t>PK_Books</a:t>
            </a:r>
            <a:r>
              <a:rPr lang="en-US" sz="900" dirty="0">
                <a:solidFill>
                  <a:srgbClr val="A31515"/>
                </a:solidFill>
                <a:highlight>
                  <a:srgbClr val="FFFFFF"/>
                </a:highlight>
                <a:latin typeface="Cascadia Mono" panose="020B0609020000020004" pitchFamily="49" charset="0"/>
              </a:rPr>
              <a:t>"</a:t>
            </a:r>
            <a:r>
              <a:rPr lang="en-US" sz="900" dirty="0">
                <a:solidFill>
                  <a:srgbClr val="000000"/>
                </a:solidFill>
                <a:highlight>
                  <a:srgbClr val="FFFFFF"/>
                </a:highlight>
                <a:latin typeface="Cascadia Mono" panose="020B0609020000020004" pitchFamily="49" charset="0"/>
              </a:rPr>
              <a:t>, x =&gt; </a:t>
            </a:r>
            <a:r>
              <a:rPr lang="en-US" sz="900" dirty="0" err="1">
                <a:solidFill>
                  <a:srgbClr val="000000"/>
                </a:solidFill>
                <a:highlight>
                  <a:srgbClr val="FFFFFF"/>
                </a:highlight>
                <a:latin typeface="Cascadia Mono" panose="020B0609020000020004" pitchFamily="49" charset="0"/>
              </a:rPr>
              <a:t>x.BookId</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table.ForeignKey</a:t>
            </a:r>
            <a:r>
              <a:rPr lang="en-IN"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name: </a:t>
            </a:r>
            <a:r>
              <a:rPr lang="en-US" sz="900" dirty="0">
                <a:solidFill>
                  <a:srgbClr val="A31515"/>
                </a:solidFill>
                <a:highlight>
                  <a:srgbClr val="FFFFFF"/>
                </a:highlight>
                <a:latin typeface="Cascadia Mono" panose="020B0609020000020004" pitchFamily="49" charset="0"/>
              </a:rPr>
              <a:t>"</a:t>
            </a:r>
            <a:r>
              <a:rPr lang="en-US" sz="900" dirty="0" err="1">
                <a:solidFill>
                  <a:srgbClr val="A31515"/>
                </a:solidFill>
                <a:highlight>
                  <a:srgbClr val="FFFFFF"/>
                </a:highlight>
                <a:latin typeface="Cascadia Mono" panose="020B0609020000020004" pitchFamily="49" charset="0"/>
              </a:rPr>
              <a:t>FK_Books_Authors_AuthorId</a:t>
            </a:r>
            <a:r>
              <a:rPr lang="en-US" sz="900" dirty="0">
                <a:solidFill>
                  <a:srgbClr val="A31515"/>
                </a:solidFill>
                <a:highlight>
                  <a:srgbClr val="FFFFFF"/>
                </a:highlight>
                <a:latin typeface="Cascadia Mono" panose="020B0609020000020004" pitchFamily="49" charset="0"/>
              </a:rPr>
              <a:t>"</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column: x =&gt; </a:t>
            </a:r>
            <a:r>
              <a:rPr lang="en-IN" sz="900" dirty="0" err="1">
                <a:solidFill>
                  <a:srgbClr val="000000"/>
                </a:solidFill>
                <a:highlight>
                  <a:srgbClr val="FFFFFF"/>
                </a:highlight>
                <a:latin typeface="Cascadia Mono" panose="020B0609020000020004" pitchFamily="49" charset="0"/>
              </a:rPr>
              <a:t>x.AuthorId</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principalTable</a:t>
            </a:r>
            <a:r>
              <a:rPr lang="en-IN" sz="900" dirty="0">
                <a:solidFill>
                  <a:srgbClr val="000000"/>
                </a:solidFill>
                <a:highlight>
                  <a:srgbClr val="FFFFFF"/>
                </a:highlight>
                <a:latin typeface="Cascadia Mono" panose="020B0609020000020004" pitchFamily="49" charset="0"/>
              </a:rPr>
              <a:t>: </a:t>
            </a:r>
            <a:r>
              <a:rPr lang="en-IN" sz="900" dirty="0">
                <a:solidFill>
                  <a:srgbClr val="A31515"/>
                </a:solidFill>
                <a:highlight>
                  <a:srgbClr val="FFFFFF"/>
                </a:highlight>
                <a:latin typeface="Cascadia Mono" panose="020B0609020000020004" pitchFamily="49" charset="0"/>
              </a:rPr>
              <a:t>"Authors"</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principalColumn</a:t>
            </a:r>
            <a:r>
              <a:rPr lang="en-IN" sz="900" dirty="0">
                <a:solidFill>
                  <a:srgbClr val="000000"/>
                </a:solidFill>
                <a:highlight>
                  <a:srgbClr val="FFFFFF"/>
                </a:highlight>
                <a:latin typeface="Cascadia Mono" panose="020B0609020000020004" pitchFamily="49" charset="0"/>
              </a:rPr>
              <a:t>: </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AuthorId</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770133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3F715A-2D6B-4E8E-B0ED-F5C3E7477A5D}"/>
              </a:ext>
            </a:extLst>
          </p:cNvPr>
          <p:cNvSpPr txBox="1"/>
          <p:nvPr/>
        </p:nvSpPr>
        <p:spPr>
          <a:xfrm>
            <a:off x="6521776" y="397890"/>
            <a:ext cx="5284508"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Restrict </a:t>
            </a:r>
          </a:p>
          <a:p>
            <a:r>
              <a:rPr lang="en-US" sz="1400" dirty="0"/>
              <a:t>For the majority of relational database systems, RESTRICT is equivalent to NO ACTION. Where RESTRICT is specifically implemented by a database system, the difference is that RESTRICT results in the constraint being checked </a:t>
            </a:r>
            <a:r>
              <a:rPr lang="en-US" sz="1400" dirty="0">
                <a:highlight>
                  <a:srgbClr val="FFFF00"/>
                </a:highlight>
              </a:rPr>
              <a:t>at the start of processing </a:t>
            </a:r>
            <a:r>
              <a:rPr lang="en-US" sz="1400" dirty="0"/>
              <a:t>instead of </a:t>
            </a:r>
            <a:r>
              <a:rPr lang="en-US" sz="1400" dirty="0">
                <a:highlight>
                  <a:srgbClr val="FFFF00"/>
                </a:highlight>
              </a:rPr>
              <a:t>at the end</a:t>
            </a:r>
            <a:r>
              <a:rPr lang="en-US" sz="1400" dirty="0"/>
              <a:t>, which is the case with NO ACTION</a:t>
            </a:r>
            <a:endParaRPr lang="en-IN" sz="1400" dirty="0"/>
          </a:p>
        </p:txBody>
      </p:sp>
      <p:sp>
        <p:nvSpPr>
          <p:cNvPr id="8" name="TextBox 7">
            <a:extLst>
              <a:ext uri="{FF2B5EF4-FFF2-40B4-BE49-F238E27FC236}">
                <a16:creationId xmlns:a16="http://schemas.microsoft.com/office/drawing/2014/main" id="{B073A00B-CE9C-3FB6-C584-AD41E2BDD076}"/>
              </a:ext>
            </a:extLst>
          </p:cNvPr>
          <p:cNvSpPr txBox="1"/>
          <p:nvPr/>
        </p:nvSpPr>
        <p:spPr>
          <a:xfrm>
            <a:off x="292231" y="388933"/>
            <a:ext cx="6059078" cy="138499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b="0" i="0" dirty="0">
                <a:solidFill>
                  <a:srgbClr val="004867"/>
                </a:solidFill>
                <a:effectLst/>
                <a:latin typeface="Roboto" panose="02000000000000000000" pitchFamily="2" charset="0"/>
              </a:rPr>
              <a:t>On Delete/Update No Action </a:t>
            </a:r>
          </a:p>
          <a:p>
            <a:r>
              <a:rPr lang="en-US" sz="1400" dirty="0"/>
              <a:t>This is the </a:t>
            </a:r>
            <a:r>
              <a:rPr lang="en-US" sz="1400" b="1" dirty="0"/>
              <a:t>default option </a:t>
            </a:r>
            <a:r>
              <a:rPr lang="en-US" sz="1400" dirty="0"/>
              <a:t>if ON DELETE or ON UPDATE is </a:t>
            </a:r>
            <a:r>
              <a:rPr lang="en-US" sz="1400" b="1" dirty="0"/>
              <a:t>not specified</a:t>
            </a:r>
            <a:r>
              <a:rPr lang="en-US" sz="1400" dirty="0"/>
              <a:t>. If an attempt is made to </a:t>
            </a:r>
            <a:r>
              <a:rPr lang="en-US" sz="1400" b="1" dirty="0"/>
              <a:t>delete an Author record </a:t>
            </a:r>
            <a:r>
              <a:rPr lang="en-US" sz="1400" dirty="0"/>
              <a:t>that is currently </a:t>
            </a:r>
            <a:r>
              <a:rPr lang="en-US" sz="1400" b="1" dirty="0"/>
              <a:t>referenced by a Book record, </a:t>
            </a:r>
            <a:r>
              <a:rPr lang="en-US" sz="1400" dirty="0"/>
              <a:t>the database will </a:t>
            </a:r>
            <a:r>
              <a:rPr lang="en-US" sz="1400" b="1" dirty="0"/>
              <a:t>raise an error </a:t>
            </a:r>
            <a:r>
              <a:rPr lang="en-US" sz="1400" dirty="0"/>
              <a:t>and the delete will be rolled back. The same will happen if an attempt is made to alter the primary key value of an Author record that is being used as a foreign key in a Book record.</a:t>
            </a:r>
            <a:endParaRPr lang="en-IN" sz="1400" dirty="0"/>
          </a:p>
        </p:txBody>
      </p:sp>
      <p:graphicFrame>
        <p:nvGraphicFramePr>
          <p:cNvPr id="9" name="Table 9">
            <a:extLst>
              <a:ext uri="{FF2B5EF4-FFF2-40B4-BE49-F238E27FC236}">
                <a16:creationId xmlns:a16="http://schemas.microsoft.com/office/drawing/2014/main" id="{83378172-485C-D7B4-6DBB-3681945EB239}"/>
              </a:ext>
            </a:extLst>
          </p:cNvPr>
          <p:cNvGraphicFramePr>
            <a:graphicFrameLocks noGrp="1"/>
          </p:cNvGraphicFramePr>
          <p:nvPr>
            <p:extLst>
              <p:ext uri="{D42A27DB-BD31-4B8C-83A1-F6EECF244321}">
                <p14:modId xmlns:p14="http://schemas.microsoft.com/office/powerpoint/2010/main" val="458303357"/>
              </p:ext>
            </p:extLst>
          </p:nvPr>
        </p:nvGraphicFramePr>
        <p:xfrm>
          <a:off x="636833" y="2802989"/>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10" name="Table 10">
            <a:extLst>
              <a:ext uri="{FF2B5EF4-FFF2-40B4-BE49-F238E27FC236}">
                <a16:creationId xmlns:a16="http://schemas.microsoft.com/office/drawing/2014/main" id="{FD96BCEF-8765-11FD-19B9-B419F6CD34CB}"/>
              </a:ext>
            </a:extLst>
          </p:cNvPr>
          <p:cNvGraphicFramePr>
            <a:graphicFrameLocks noGrp="1"/>
          </p:cNvGraphicFramePr>
          <p:nvPr>
            <p:extLst>
              <p:ext uri="{D42A27DB-BD31-4B8C-83A1-F6EECF244321}">
                <p14:modId xmlns:p14="http://schemas.microsoft.com/office/powerpoint/2010/main" val="369870989"/>
              </p:ext>
            </p:extLst>
          </p:nvPr>
        </p:nvGraphicFramePr>
        <p:xfrm>
          <a:off x="5482211" y="3148553"/>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12" name="Straight Connector 11">
            <a:extLst>
              <a:ext uri="{FF2B5EF4-FFF2-40B4-BE49-F238E27FC236}">
                <a16:creationId xmlns:a16="http://schemas.microsoft.com/office/drawing/2014/main" id="{C1E1D609-2771-C999-392F-74CAAFD930C3}"/>
              </a:ext>
            </a:extLst>
          </p:cNvPr>
          <p:cNvCxnSpPr/>
          <p:nvPr/>
        </p:nvCxnSpPr>
        <p:spPr>
          <a:xfrm>
            <a:off x="622169" y="3516198"/>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4" name="Freeform: Shape 13">
            <a:extLst>
              <a:ext uri="{FF2B5EF4-FFF2-40B4-BE49-F238E27FC236}">
                <a16:creationId xmlns:a16="http://schemas.microsoft.com/office/drawing/2014/main" id="{8F805F95-C065-87CF-9783-05844D302BFA}"/>
              </a:ext>
            </a:extLst>
          </p:cNvPr>
          <p:cNvSpPr/>
          <p:nvPr/>
        </p:nvSpPr>
        <p:spPr>
          <a:xfrm>
            <a:off x="207390" y="3516909"/>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Triangle 14">
            <a:extLst>
              <a:ext uri="{FF2B5EF4-FFF2-40B4-BE49-F238E27FC236}">
                <a16:creationId xmlns:a16="http://schemas.microsoft.com/office/drawing/2014/main" id="{1840D456-401D-A7D7-AB8B-29981842D1F4}"/>
              </a:ext>
            </a:extLst>
          </p:cNvPr>
          <p:cNvSpPr/>
          <p:nvPr/>
        </p:nvSpPr>
        <p:spPr>
          <a:xfrm rot="2749426">
            <a:off x="9559325" y="4538879"/>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303B771-8C48-A606-B093-374F44AEF014}"/>
              </a:ext>
            </a:extLst>
          </p:cNvPr>
          <p:cNvSpPr txBox="1"/>
          <p:nvPr/>
        </p:nvSpPr>
        <p:spPr>
          <a:xfrm>
            <a:off x="3048786" y="5733038"/>
            <a:ext cx="609442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dirty="0"/>
              <a:t>to </a:t>
            </a:r>
            <a:r>
              <a:rPr lang="en-US" sz="1800" b="1" dirty="0"/>
              <a:t>delete an Author record </a:t>
            </a:r>
            <a:r>
              <a:rPr lang="en-US" sz="1800" dirty="0"/>
              <a:t>that is currently </a:t>
            </a:r>
            <a:r>
              <a:rPr lang="en-US" sz="1800" b="1" dirty="0"/>
              <a:t>referenced by a Book record, </a:t>
            </a:r>
            <a:r>
              <a:rPr lang="en-US" sz="1800" dirty="0"/>
              <a:t>the database will </a:t>
            </a:r>
            <a:r>
              <a:rPr lang="en-US" sz="1800" b="1" dirty="0"/>
              <a:t>raise an error</a:t>
            </a:r>
            <a:endParaRPr lang="en-IN" dirty="0"/>
          </a:p>
        </p:txBody>
      </p:sp>
    </p:spTree>
    <p:extLst>
      <p:ext uri="{BB962C8B-B14F-4D97-AF65-F5344CB8AC3E}">
        <p14:creationId xmlns:p14="http://schemas.microsoft.com/office/powerpoint/2010/main" val="3201262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604777-C581-1F66-5894-4586F2B5283F}"/>
              </a:ext>
            </a:extLst>
          </p:cNvPr>
          <p:cNvSpPr txBox="1"/>
          <p:nvPr/>
        </p:nvSpPr>
        <p:spPr>
          <a:xfrm>
            <a:off x="68345" y="57079"/>
            <a:ext cx="5550031"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i="0" dirty="0">
                <a:solidFill>
                  <a:srgbClr val="004867"/>
                </a:solidFill>
                <a:effectLst/>
                <a:latin typeface="Roboto" panose="02000000000000000000" pitchFamily="2" charset="0"/>
              </a:rPr>
              <a:t>On Delete/Update Set Null</a:t>
            </a:r>
          </a:p>
          <a:p>
            <a:endParaRPr lang="en-US" sz="1400" dirty="0"/>
          </a:p>
          <a:p>
            <a:r>
              <a:rPr lang="en-US" sz="1400" dirty="0"/>
              <a:t>If an Author record that is currently referenced in one or more Book records is deleted, the </a:t>
            </a:r>
            <a:r>
              <a:rPr lang="en-US" sz="1400" dirty="0" err="1"/>
              <a:t>AuthorId</a:t>
            </a:r>
            <a:r>
              <a:rPr lang="en-US" sz="1400" dirty="0"/>
              <a:t> value in the affected Book records will be updated to NULL. The same will happen if the Author record's primary key value is changed. This operation will only be successful if the </a:t>
            </a:r>
            <a:r>
              <a:rPr lang="en-US" sz="1400" dirty="0" err="1"/>
              <a:t>AuthorId</a:t>
            </a:r>
            <a:r>
              <a:rPr lang="en-US" sz="1400" dirty="0"/>
              <a:t> column in the Books table is nullable.</a:t>
            </a:r>
            <a:endParaRPr lang="en-IN" sz="1400" dirty="0"/>
          </a:p>
        </p:txBody>
      </p:sp>
      <p:graphicFrame>
        <p:nvGraphicFramePr>
          <p:cNvPr id="7" name="Table 9">
            <a:extLst>
              <a:ext uri="{FF2B5EF4-FFF2-40B4-BE49-F238E27FC236}">
                <a16:creationId xmlns:a16="http://schemas.microsoft.com/office/drawing/2014/main" id="{6C1FCCBB-9320-373E-3176-94BE5B1ADE70}"/>
              </a:ext>
            </a:extLst>
          </p:cNvPr>
          <p:cNvGraphicFramePr>
            <a:graphicFrameLocks noGrp="1"/>
          </p:cNvGraphicFramePr>
          <p:nvPr>
            <p:extLst>
              <p:ext uri="{D42A27DB-BD31-4B8C-83A1-F6EECF244321}">
                <p14:modId xmlns:p14="http://schemas.microsoft.com/office/powerpoint/2010/main" val="3485797336"/>
              </p:ext>
            </p:extLst>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8" name="Table 10">
            <a:extLst>
              <a:ext uri="{FF2B5EF4-FFF2-40B4-BE49-F238E27FC236}">
                <a16:creationId xmlns:a16="http://schemas.microsoft.com/office/drawing/2014/main" id="{F75C70CE-02CC-2AE4-14BC-00080228F2B8}"/>
              </a:ext>
            </a:extLst>
          </p:cNvPr>
          <p:cNvGraphicFramePr>
            <a:graphicFrameLocks noGrp="1"/>
          </p:cNvGraphicFramePr>
          <p:nvPr>
            <p:extLst>
              <p:ext uri="{D42A27DB-BD31-4B8C-83A1-F6EECF244321}">
                <p14:modId xmlns:p14="http://schemas.microsoft.com/office/powerpoint/2010/main" val="4287015682"/>
              </p:ext>
            </p:extLst>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9" name="Straight Connector 8">
            <a:extLst>
              <a:ext uri="{FF2B5EF4-FFF2-40B4-BE49-F238E27FC236}">
                <a16:creationId xmlns:a16="http://schemas.microsoft.com/office/drawing/2014/main" id="{D90001CF-7F86-D764-191F-35B8AC226A7B}"/>
              </a:ext>
            </a:extLst>
          </p:cNvPr>
          <p:cNvCxnSpPr/>
          <p:nvPr/>
        </p:nvCxnSpPr>
        <p:spPr>
          <a:xfrm>
            <a:off x="886119" y="369455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0" name="Freeform: Shape 9">
            <a:extLst>
              <a:ext uri="{FF2B5EF4-FFF2-40B4-BE49-F238E27FC236}">
                <a16:creationId xmlns:a16="http://schemas.microsoft.com/office/drawing/2014/main" id="{60F50416-AEE5-2C6C-8587-B918344EB3AD}"/>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10C3E4E2-7B04-5ACF-1C81-9B274BCEC925}"/>
              </a:ext>
            </a:extLst>
          </p:cNvPr>
          <p:cNvSpPr/>
          <p:nvPr/>
        </p:nvSpPr>
        <p:spPr>
          <a:xfrm rot="2749426">
            <a:off x="9823276" y="4649610"/>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5FD5659-7F63-5234-716E-C571A0539808}"/>
              </a:ext>
            </a:extLst>
          </p:cNvPr>
          <p:cNvSpPr txBox="1"/>
          <p:nvPr/>
        </p:nvSpPr>
        <p:spPr>
          <a:xfrm>
            <a:off x="2619119" y="5744500"/>
            <a:ext cx="6185516"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If an Author record that is currently referenced in one or more Book records is deleted, the </a:t>
            </a:r>
            <a:r>
              <a:rPr lang="en-US" sz="1400" dirty="0" err="1"/>
              <a:t>AuthorId</a:t>
            </a:r>
            <a:r>
              <a:rPr lang="en-US" sz="1400" dirty="0"/>
              <a:t> value in the affected Book records will </a:t>
            </a:r>
            <a:r>
              <a:rPr lang="en-US" sz="1400" b="1" dirty="0"/>
              <a:t>be updated to NULL</a:t>
            </a:r>
            <a:endParaRPr lang="en-IN" sz="1400" b="1" dirty="0"/>
          </a:p>
        </p:txBody>
      </p:sp>
      <p:cxnSp>
        <p:nvCxnSpPr>
          <p:cNvPr id="15" name="Straight Connector 14">
            <a:extLst>
              <a:ext uri="{FF2B5EF4-FFF2-40B4-BE49-F238E27FC236}">
                <a16:creationId xmlns:a16="http://schemas.microsoft.com/office/drawing/2014/main" id="{42BDC7A6-D0FC-A326-6559-577F751DA339}"/>
              </a:ext>
            </a:extLst>
          </p:cNvPr>
          <p:cNvCxnSpPr/>
          <p:nvPr/>
        </p:nvCxnSpPr>
        <p:spPr>
          <a:xfrm flipH="1">
            <a:off x="8653806" y="4554619"/>
            <a:ext cx="367646" cy="253051"/>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F85C767-EF14-457A-C1A6-A70737EB0EC8}"/>
              </a:ext>
            </a:extLst>
          </p:cNvPr>
          <p:cNvSpPr/>
          <p:nvPr/>
        </p:nvSpPr>
        <p:spPr>
          <a:xfrm>
            <a:off x="9023875" y="4554619"/>
            <a:ext cx="701774" cy="4133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NULL</a:t>
            </a:r>
            <a:endParaRPr lang="en-IN" dirty="0"/>
          </a:p>
        </p:txBody>
      </p:sp>
      <p:sp>
        <p:nvSpPr>
          <p:cNvPr id="18" name="TextBox 17">
            <a:extLst>
              <a:ext uri="{FF2B5EF4-FFF2-40B4-BE49-F238E27FC236}">
                <a16:creationId xmlns:a16="http://schemas.microsoft.com/office/drawing/2014/main" id="{279E755F-A36E-0C94-8ABF-5CCED8B4A084}"/>
              </a:ext>
            </a:extLst>
          </p:cNvPr>
          <p:cNvSpPr txBox="1"/>
          <p:nvPr/>
        </p:nvSpPr>
        <p:spPr>
          <a:xfrm>
            <a:off x="8941324" y="5098207"/>
            <a:ext cx="2883030"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This operation will only be successful if the </a:t>
            </a:r>
            <a:r>
              <a:rPr lang="en-US" sz="1400" dirty="0" err="1"/>
              <a:t>AuthorId</a:t>
            </a:r>
            <a:r>
              <a:rPr lang="en-US" sz="1400" dirty="0"/>
              <a:t> column in the Books table is nullable.</a:t>
            </a:r>
            <a:endParaRPr lang="en-IN" sz="1400" dirty="0"/>
          </a:p>
        </p:txBody>
      </p:sp>
      <p:sp>
        <p:nvSpPr>
          <p:cNvPr id="20" name="TextBox 19">
            <a:extLst>
              <a:ext uri="{FF2B5EF4-FFF2-40B4-BE49-F238E27FC236}">
                <a16:creationId xmlns:a16="http://schemas.microsoft.com/office/drawing/2014/main" id="{0F0D9C98-212E-D618-BF6C-F8210D7B5073}"/>
              </a:ext>
            </a:extLst>
          </p:cNvPr>
          <p:cNvSpPr txBox="1"/>
          <p:nvPr/>
        </p:nvSpPr>
        <p:spPr>
          <a:xfrm>
            <a:off x="5974238" y="139599"/>
            <a:ext cx="6094428"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Set Default</a:t>
            </a:r>
          </a:p>
          <a:p>
            <a:endParaRPr lang="en-US" sz="1400" dirty="0"/>
          </a:p>
          <a:p>
            <a:r>
              <a:rPr lang="en-US" sz="1400" dirty="0"/>
              <a:t>When an Author record is deleted or has its key value amended, foreign key values in the Books table linked to the affected Author record will be changed to their default value. The foreign key fields in the affected tables must either have a default value specified, or be nullable, in which case NULL is considered the default value. Any non-NULL default value must relate to an existing key in the principal table.</a:t>
            </a:r>
            <a:endParaRPr lang="en-IN" sz="1400" dirty="0"/>
          </a:p>
        </p:txBody>
      </p:sp>
    </p:spTree>
    <p:extLst>
      <p:ext uri="{BB962C8B-B14F-4D97-AF65-F5344CB8AC3E}">
        <p14:creationId xmlns:p14="http://schemas.microsoft.com/office/powerpoint/2010/main" val="1924629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7B6E16-B199-049D-44EE-7E20EA266A59}"/>
              </a:ext>
            </a:extLst>
          </p:cNvPr>
          <p:cNvSpPr txBox="1"/>
          <p:nvPr/>
        </p:nvSpPr>
        <p:spPr>
          <a:xfrm>
            <a:off x="313442" y="263479"/>
            <a:ext cx="6094428"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Cascade</a:t>
            </a:r>
          </a:p>
          <a:p>
            <a:endParaRPr lang="en-US" sz="1400" dirty="0">
              <a:solidFill>
                <a:srgbClr val="333333"/>
              </a:solidFill>
              <a:latin typeface="Open Sans" panose="020B0606030504020204" pitchFamily="34" charset="0"/>
            </a:endParaRPr>
          </a:p>
          <a:p>
            <a:r>
              <a:rPr lang="en-US" sz="1400" b="0" i="0" dirty="0">
                <a:solidFill>
                  <a:srgbClr val="333333"/>
                </a:solidFill>
                <a:effectLst/>
                <a:latin typeface="Open Sans" panose="020B0606030504020204" pitchFamily="34" charset="0"/>
              </a:rPr>
              <a:t>Under this option, </a:t>
            </a:r>
            <a:r>
              <a:rPr lang="en-US" sz="14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400" b="0" i="0" dirty="0">
                <a:solidFill>
                  <a:srgbClr val="333333"/>
                </a:solidFill>
                <a:effectLst/>
                <a:latin typeface="Open Sans" panose="020B0606030504020204" pitchFamily="34" charset="0"/>
              </a:rPr>
              <a:t>. When you update the primary key value for an author, all book records containing that value as a foreign key will be updated to the new foreign key value.</a:t>
            </a:r>
            <a:endParaRPr lang="en-IN" sz="1400" dirty="0"/>
          </a:p>
        </p:txBody>
      </p:sp>
      <p:graphicFrame>
        <p:nvGraphicFramePr>
          <p:cNvPr id="6" name="Table 9">
            <a:extLst>
              <a:ext uri="{FF2B5EF4-FFF2-40B4-BE49-F238E27FC236}">
                <a16:creationId xmlns:a16="http://schemas.microsoft.com/office/drawing/2014/main" id="{0DF90542-D098-E805-B365-254D9A497D12}"/>
              </a:ext>
            </a:extLst>
          </p:cNvPr>
          <p:cNvGraphicFramePr>
            <a:graphicFrameLocks noGrp="1"/>
          </p:cNvGraphicFramePr>
          <p:nvPr>
            <p:extLst>
              <p:ext uri="{D42A27DB-BD31-4B8C-83A1-F6EECF244321}">
                <p14:modId xmlns:p14="http://schemas.microsoft.com/office/powerpoint/2010/main" val="1478983603"/>
              </p:ext>
            </p:extLst>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7" name="Table 10">
            <a:extLst>
              <a:ext uri="{FF2B5EF4-FFF2-40B4-BE49-F238E27FC236}">
                <a16:creationId xmlns:a16="http://schemas.microsoft.com/office/drawing/2014/main" id="{DB2411C5-D9CA-85B1-9CDA-0C80B514C1A3}"/>
              </a:ext>
            </a:extLst>
          </p:cNvPr>
          <p:cNvGraphicFramePr>
            <a:graphicFrameLocks noGrp="1"/>
          </p:cNvGraphicFramePr>
          <p:nvPr>
            <p:extLst>
              <p:ext uri="{D42A27DB-BD31-4B8C-83A1-F6EECF244321}">
                <p14:modId xmlns:p14="http://schemas.microsoft.com/office/powerpoint/2010/main" val="3914815631"/>
              </p:ext>
            </p:extLst>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8" name="Straight Connector 7">
            <a:extLst>
              <a:ext uri="{FF2B5EF4-FFF2-40B4-BE49-F238E27FC236}">
                <a16:creationId xmlns:a16="http://schemas.microsoft.com/office/drawing/2014/main" id="{8D0C295C-D54D-4449-FB0A-D3FC0F245CF7}"/>
              </a:ext>
            </a:extLst>
          </p:cNvPr>
          <p:cNvCxnSpPr/>
          <p:nvPr/>
        </p:nvCxnSpPr>
        <p:spPr>
          <a:xfrm>
            <a:off x="1159496" y="366702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9" name="Freeform: Shape 8">
            <a:extLst>
              <a:ext uri="{FF2B5EF4-FFF2-40B4-BE49-F238E27FC236}">
                <a16:creationId xmlns:a16="http://schemas.microsoft.com/office/drawing/2014/main" id="{68DB24C4-F723-7C59-1E34-0A18A8BDC341}"/>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A739F680-B5AC-9721-D0AC-1DAEDD65D1B4}"/>
              </a:ext>
            </a:extLst>
          </p:cNvPr>
          <p:cNvCxnSpPr/>
          <p:nvPr/>
        </p:nvCxnSpPr>
        <p:spPr>
          <a:xfrm flipV="1">
            <a:off x="5844619" y="4703975"/>
            <a:ext cx="3233393" cy="9426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B4E54F16-A985-3941-9484-38BDCFE52C70}"/>
              </a:ext>
            </a:extLst>
          </p:cNvPr>
          <p:cNvSpPr txBox="1"/>
          <p:nvPr/>
        </p:nvSpPr>
        <p:spPr>
          <a:xfrm>
            <a:off x="3048786" y="5862528"/>
            <a:ext cx="609442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200" b="0" i="0" dirty="0">
                <a:solidFill>
                  <a:srgbClr val="333333"/>
                </a:solidFill>
                <a:effectLst/>
                <a:latin typeface="Open Sans" panose="020B0606030504020204" pitchFamily="34" charset="0"/>
              </a:rPr>
              <a:t>. </a:t>
            </a:r>
            <a:endParaRPr lang="en-IN" sz="1200" dirty="0"/>
          </a:p>
        </p:txBody>
      </p:sp>
    </p:spTree>
    <p:extLst>
      <p:ext uri="{BB962C8B-B14F-4D97-AF65-F5344CB8AC3E}">
        <p14:creationId xmlns:p14="http://schemas.microsoft.com/office/powerpoint/2010/main" val="83690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28CF52-1C4E-0D2A-60C0-A41651F3171E}"/>
              </a:ext>
            </a:extLst>
          </p:cNvPr>
          <p:cNvSpPr txBox="1"/>
          <p:nvPr/>
        </p:nvSpPr>
        <p:spPr>
          <a:xfrm>
            <a:off x="285162" y="318602"/>
            <a:ext cx="6094428" cy="28931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i="0" dirty="0">
                <a:solidFill>
                  <a:srgbClr val="004867"/>
                </a:solidFill>
                <a:effectLst/>
                <a:latin typeface="Roboto" panose="02000000000000000000" pitchFamily="2" charset="0"/>
              </a:rPr>
              <a:t>Optional Relationships</a:t>
            </a:r>
          </a:p>
          <a:p>
            <a:endParaRPr lang="en-US" sz="1200" b="0" i="0" dirty="0">
              <a:solidFill>
                <a:srgbClr val="333333"/>
              </a:solidFill>
              <a:effectLst/>
              <a:latin typeface="Open Sans" panose="020B0606030504020204" pitchFamily="34" charset="0"/>
            </a:endParaRPr>
          </a:p>
          <a:p>
            <a:r>
              <a:rPr lang="en-US" sz="1400" b="0" i="0" dirty="0">
                <a:solidFill>
                  <a:srgbClr val="333333"/>
                </a:solidFill>
                <a:effectLst/>
                <a:latin typeface="Open Sans" panose="020B0606030504020204" pitchFamily="34" charset="0"/>
              </a:rPr>
              <a:t>Logically, </a:t>
            </a:r>
            <a:r>
              <a:rPr lang="en-US" sz="1400" b="1" i="0" dirty="0">
                <a:solidFill>
                  <a:srgbClr val="333333"/>
                </a:solidFill>
                <a:effectLst/>
                <a:latin typeface="Open Sans" panose="020B0606030504020204" pitchFamily="34" charset="0"/>
              </a:rPr>
              <a:t>a book cannot exist without an author</a:t>
            </a:r>
            <a:r>
              <a:rPr lang="en-US" sz="1400" b="0" i="0" dirty="0">
                <a:solidFill>
                  <a:srgbClr val="333333"/>
                </a:solidFill>
                <a:effectLst/>
                <a:latin typeface="Open Sans" panose="020B0606030504020204" pitchFamily="34" charset="0"/>
              </a:rPr>
              <a:t>, so that relationship is always going to be a required one. </a:t>
            </a:r>
          </a:p>
          <a:p>
            <a:endParaRPr lang="en-US" sz="1400" dirty="0">
              <a:solidFill>
                <a:srgbClr val="333333"/>
              </a:solidFill>
              <a:latin typeface="Open Sans" panose="020B0606030504020204" pitchFamily="34" charset="0"/>
            </a:endParaRPr>
          </a:p>
          <a:p>
            <a:r>
              <a:rPr lang="en-US" sz="1400" b="0" i="0" dirty="0">
                <a:solidFill>
                  <a:srgbClr val="333333"/>
                </a:solidFill>
                <a:effectLst/>
                <a:latin typeface="Open Sans" panose="020B0606030504020204" pitchFamily="34" charset="0"/>
              </a:rPr>
              <a:t>The same cannot be said for the relationship between, say, a tenant and a property to let. </a:t>
            </a:r>
            <a:r>
              <a:rPr lang="en-US" sz="1400" b="1" i="0" dirty="0">
                <a:solidFill>
                  <a:srgbClr val="333333"/>
                </a:solidFill>
                <a:effectLst/>
                <a:latin typeface="Open Sans" panose="020B0606030504020204" pitchFamily="34" charset="0"/>
              </a:rPr>
              <a:t>A tenant can exist without being assigned to a property. </a:t>
            </a:r>
            <a:r>
              <a:rPr lang="en-US" sz="1400" b="0" i="0" dirty="0">
                <a:solidFill>
                  <a:srgbClr val="333333"/>
                </a:solidFill>
                <a:effectLst/>
                <a:latin typeface="Open Sans" panose="020B0606030504020204" pitchFamily="34" charset="0"/>
              </a:rPr>
              <a:t>This is an example of an </a:t>
            </a:r>
            <a:r>
              <a:rPr lang="en-US" sz="1400" b="0" i="1" dirty="0">
                <a:solidFill>
                  <a:srgbClr val="333333"/>
                </a:solidFill>
                <a:effectLst/>
                <a:latin typeface="Open Sans" panose="020B0606030504020204" pitchFamily="34" charset="0"/>
              </a:rPr>
              <a:t>optional relationship</a:t>
            </a:r>
            <a:r>
              <a:rPr lang="en-US" sz="1400" b="0" i="0" dirty="0">
                <a:solidFill>
                  <a:srgbClr val="333333"/>
                </a:solidFill>
                <a:effectLst/>
                <a:latin typeface="Open Sans" panose="020B0606030504020204" pitchFamily="34" charset="0"/>
              </a:rPr>
              <a:t>. This is the type of relationship that EF Core generates automatically if you do not include a foreign key property in the dependent entity, as you have seen in the first and second examples above. </a:t>
            </a:r>
            <a:r>
              <a:rPr lang="en-US" sz="1400" b="1" i="0" dirty="0">
                <a:solidFill>
                  <a:srgbClr val="333333"/>
                </a:solidFill>
                <a:effectLst/>
                <a:latin typeface="Open Sans" panose="020B0606030504020204" pitchFamily="34" charset="0"/>
              </a:rPr>
              <a:t>You can also explicitly create an optional relationship by including a </a:t>
            </a:r>
            <a:r>
              <a:rPr lang="en-US" sz="1400" b="1" i="0" dirty="0">
                <a:solidFill>
                  <a:srgbClr val="333333"/>
                </a:solidFill>
                <a:effectLst/>
                <a:highlight>
                  <a:srgbClr val="FFFF00"/>
                </a:highlight>
                <a:latin typeface="Open Sans" panose="020B0606030504020204" pitchFamily="34" charset="0"/>
              </a:rPr>
              <a:t>nullable</a:t>
            </a:r>
            <a:r>
              <a:rPr lang="en-US" sz="1400" b="1" i="0" dirty="0">
                <a:solidFill>
                  <a:srgbClr val="333333"/>
                </a:solidFill>
                <a:effectLst/>
                <a:latin typeface="Open Sans" panose="020B0606030504020204" pitchFamily="34" charset="0"/>
              </a:rPr>
              <a:t> foreign key property in the dependent entity:</a:t>
            </a:r>
            <a:endParaRPr lang="en-IN" sz="1400" b="1" dirty="0"/>
          </a:p>
        </p:txBody>
      </p:sp>
      <p:sp>
        <p:nvSpPr>
          <p:cNvPr id="6" name="Rectangle 1">
            <a:extLst>
              <a:ext uri="{FF2B5EF4-FFF2-40B4-BE49-F238E27FC236}">
                <a16:creationId xmlns:a16="http://schemas.microsoft.com/office/drawing/2014/main" id="{2E34F336-2394-9BE0-CEBF-3BDDB7B70DD1}"/>
              </a:ext>
            </a:extLst>
          </p:cNvPr>
          <p:cNvSpPr>
            <a:spLocks noChangeArrowheads="1"/>
          </p:cNvSpPr>
          <p:nvPr/>
        </p:nvSpPr>
        <p:spPr bwMode="auto">
          <a:xfrm>
            <a:off x="6652968" y="1012645"/>
            <a:ext cx="5394488" cy="572464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class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Property</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Address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List</a:t>
            </a:r>
            <a:r>
              <a:rPr kumimoji="0" lang="en-US" altLang="en-US" sz="2000" b="0" i="0" u="none" strike="noStrike" cap="none" normalizeH="0" baseline="0" dirty="0">
                <a:ln>
                  <a:noFill/>
                </a:ln>
                <a:solidFill>
                  <a:srgbClr val="666600"/>
                </a:solidFill>
                <a:effectLst/>
                <a:latin typeface="Menlo"/>
              </a:rPr>
              <a:t>&lt;</a:t>
            </a:r>
            <a:r>
              <a:rPr kumimoji="0" lang="en-US" altLang="en-US" sz="2000" b="0" i="0" u="none" strike="noStrike" cap="none" normalizeH="0" baseline="0" dirty="0">
                <a:ln>
                  <a:noFill/>
                </a:ln>
                <a:solidFill>
                  <a:srgbClr val="555555"/>
                </a:solidFill>
                <a:effectLst/>
                <a:latin typeface="Menlo"/>
              </a:rPr>
              <a:t>Tenant</a:t>
            </a:r>
            <a:r>
              <a:rPr kumimoji="0" lang="en-US" altLang="en-US" sz="2000" b="0" i="0" u="none" strike="noStrike" cap="none" normalizeH="0" baseline="0" dirty="0">
                <a:ln>
                  <a:noFill/>
                </a:ln>
                <a:solidFill>
                  <a:srgbClr val="666600"/>
                </a:solidFill>
                <a:effectLst/>
                <a:latin typeface="Menlo"/>
              </a:rPr>
              <a:t>&gt;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Tenants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class</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Tenant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TenantId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Name</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string</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Email</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int</a:t>
            </a:r>
            <a:r>
              <a:rPr kumimoji="0" lang="en-US" altLang="en-US" sz="2400" b="1" i="0" u="none" strike="noStrike" cap="none" normalizeH="0" baseline="0" dirty="0">
                <a:ln>
                  <a:noFill/>
                </a:ln>
                <a:solidFill>
                  <a:srgbClr val="FF0000"/>
                </a:solidFill>
                <a:effectLst/>
                <a:highlight>
                  <a:srgbClr val="FFFF00"/>
                </a:highligh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PropertyId</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2000" b="0" i="0" u="none" strike="noStrike" cap="none" normalizeH="0" baseline="0" dirty="0">
                <a:ln>
                  <a:noFill/>
                </a:ln>
                <a:solidFill>
                  <a:srgbClr val="0000FF"/>
                </a:solidFill>
                <a:effectLst/>
                <a:latin typeface="Menlo"/>
              </a:rPr>
              <a:t>public</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555555"/>
                </a:solidFill>
                <a:effectLst/>
                <a:latin typeface="Menlo"/>
              </a:rPr>
              <a:t>Property</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err="1">
                <a:ln>
                  <a:noFill/>
                </a:ln>
                <a:solidFill>
                  <a:srgbClr val="555555"/>
                </a:solidFill>
                <a:effectLst/>
                <a:latin typeface="Menlo"/>
              </a:rPr>
              <a:t>Property</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get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0000FF"/>
                </a:solidFill>
                <a:effectLst/>
                <a:latin typeface="Menlo"/>
              </a:rPr>
              <a:t>set</a:t>
            </a:r>
            <a:r>
              <a:rPr kumimoji="0" lang="en-US" altLang="en-US" sz="2000" b="0" i="0" u="none" strike="noStrike" cap="none" normalizeH="0" baseline="0" dirty="0">
                <a:ln>
                  <a:noFill/>
                </a:ln>
                <a:solidFill>
                  <a:srgbClr val="666600"/>
                </a:solidFill>
                <a:effectLst/>
                <a:latin typeface="Menlo"/>
              </a:rPr>
              <a:t>;</a:t>
            </a:r>
            <a:r>
              <a:rPr kumimoji="0" lang="en-US" altLang="en-US" sz="2000" b="0" i="0" u="none" strike="noStrike" cap="none" normalizeH="0" baseline="0" dirty="0">
                <a:ln>
                  <a:noFill/>
                </a:ln>
                <a:solidFill>
                  <a:srgbClr val="000000"/>
                </a:solidFill>
                <a:effectLst/>
                <a:latin typeface="Menlo"/>
              </a:rPr>
              <a:t> </a:t>
            </a: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2000" b="0" i="0" u="none" strike="noStrike" cap="none" normalizeH="0" baseline="0" dirty="0">
                <a:ln>
                  <a:noFill/>
                </a:ln>
                <a:solidFill>
                  <a:srgbClr val="666600"/>
                </a:solidFill>
                <a:effectLst/>
                <a:latin typeface="Menlo"/>
              </a:rPr>
              <a:t>}</a:t>
            </a:r>
            <a:endParaRPr kumimoji="0" lang="en-US" altLang="en-US"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930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362B3DF-0AE2-A113-B4F3-54D0E9274187}"/>
              </a:ext>
            </a:extLst>
          </p:cNvPr>
          <p:cNvSpPr txBox="1"/>
          <p:nvPr/>
        </p:nvSpPr>
        <p:spPr>
          <a:xfrm>
            <a:off x="6356023" y="143905"/>
            <a:ext cx="3532695"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Inverse Navigation Property </a:t>
            </a:r>
          </a:p>
        </p:txBody>
      </p:sp>
      <p:sp>
        <p:nvSpPr>
          <p:cNvPr id="10" name="Rectangle 5">
            <a:extLst>
              <a:ext uri="{FF2B5EF4-FFF2-40B4-BE49-F238E27FC236}">
                <a16:creationId xmlns:a16="http://schemas.microsoft.com/office/drawing/2014/main" id="{DBB9F0FD-21CA-B2A7-9AF5-37C58E6E18AE}"/>
              </a:ext>
            </a:extLst>
          </p:cNvPr>
          <p:cNvSpPr>
            <a:spLocks noChangeArrowheads="1"/>
          </p:cNvSpPr>
          <p:nvPr/>
        </p:nvSpPr>
        <p:spPr bwMode="auto">
          <a:xfrm>
            <a:off x="288926" y="851062"/>
            <a:ext cx="11246866" cy="52322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second option available for defining one-to-many relationships by convention is to include an</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a:t>
            </a:r>
            <a:r>
              <a:rPr kumimoji="0" lang="en-US" altLang="en-US" sz="1400" b="0" i="1"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inverse</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navigation property in the dependent entity - the </a:t>
            </a:r>
            <a:r>
              <a:rPr kumimoji="0" lang="en-US" altLang="en-US" sz="1400" b="0" i="0" u="none" strike="noStrike" cap="none" normalizeH="0" baseline="0" dirty="0">
                <a:ln>
                  <a:noFill/>
                </a:ln>
                <a:solidFill>
                  <a:schemeClr val="accent2"/>
                </a:solidFill>
                <a:effectLst/>
                <a:latin typeface="Menlo"/>
              </a:rPr>
              <a:t>Author</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a:ln>
                  <a:noFill/>
                </a:ln>
                <a:solidFill>
                  <a:schemeClr val="accent2"/>
                </a:solidFill>
                <a:effectLst/>
                <a:latin typeface="Menlo"/>
              </a:rPr>
              <a:t>Book</a:t>
            </a:r>
            <a:r>
              <a:rPr kumimoji="0" lang="en-US" altLang="en-US" sz="1400" b="0" i="0" u="none" strike="noStrike" cap="none" normalizeH="0" baseline="0" dirty="0">
                <a:ln>
                  <a:noFill/>
                </a:ln>
                <a:solidFill>
                  <a:schemeClr val="accent2"/>
                </a:solidFill>
                <a:effectLst/>
                <a:latin typeface="Open Sans" panose="020B0606030504020204" pitchFamily="34" charset="0"/>
                <a:cs typeface="Open Sans" panose="020B0606030504020204" pitchFamily="34" charset="0"/>
              </a:rPr>
              <a:t> entity below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in addition to the navigation property in the principal 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which results in both ends of the relationship being specified:</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39BB7A00-9CC4-DB33-3B4A-5D7AA00C5B2F}"/>
              </a:ext>
            </a:extLst>
          </p:cNvPr>
          <p:cNvSpPr>
            <a:spLocks noChangeArrowheads="1"/>
          </p:cNvSpPr>
          <p:nvPr/>
        </p:nvSpPr>
        <p:spPr bwMode="auto">
          <a:xfrm>
            <a:off x="733425" y="2235328"/>
            <a:ext cx="9022140" cy="307776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DCA3EBD3-0850-EDAB-6178-BC1EC68285C4}"/>
              </a:ext>
            </a:extLst>
          </p:cNvPr>
          <p:cNvSpPr txBox="1"/>
          <p:nvPr/>
        </p:nvSpPr>
        <p:spPr>
          <a:xfrm>
            <a:off x="876301" y="5804079"/>
            <a:ext cx="10765898" cy="276999"/>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This approach produces the same results in respect of the shadow property and referential constraints being generated as in the previous approach.</a:t>
            </a:r>
            <a:endParaRPr lang="en-IN" sz="1200" dirty="0"/>
          </a:p>
        </p:txBody>
      </p:sp>
    </p:spTree>
    <p:extLst>
      <p:ext uri="{BB962C8B-B14F-4D97-AF65-F5344CB8AC3E}">
        <p14:creationId xmlns:p14="http://schemas.microsoft.com/office/powerpoint/2010/main" val="1791315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94087F-F6C9-5725-7D9B-42DB1C5F8BC2}"/>
              </a:ext>
            </a:extLst>
          </p:cNvPr>
          <p:cNvSpPr txBox="1"/>
          <p:nvPr/>
        </p:nvSpPr>
        <p:spPr>
          <a:xfrm>
            <a:off x="549112" y="-1"/>
            <a:ext cx="3513841"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Fully Defined Relationship </a:t>
            </a:r>
          </a:p>
        </p:txBody>
      </p:sp>
      <p:sp>
        <p:nvSpPr>
          <p:cNvPr id="7" name="TextBox 6">
            <a:extLst>
              <a:ext uri="{FF2B5EF4-FFF2-40B4-BE49-F238E27FC236}">
                <a16:creationId xmlns:a16="http://schemas.microsoft.com/office/drawing/2014/main" id="{72C071A9-AE27-7593-0CDB-14993EE02A7E}"/>
              </a:ext>
            </a:extLst>
          </p:cNvPr>
          <p:cNvSpPr txBox="1"/>
          <p:nvPr/>
        </p:nvSpPr>
        <p:spPr>
          <a:xfrm>
            <a:off x="190893" y="495155"/>
            <a:ext cx="5710286" cy="461665"/>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In the third approach, the relationship is considered to </a:t>
            </a:r>
            <a:r>
              <a:rPr lang="en-US" sz="1200" b="0" i="0" dirty="0">
                <a:solidFill>
                  <a:srgbClr val="333333"/>
                </a:solidFill>
                <a:effectLst/>
                <a:highlight>
                  <a:srgbClr val="FFFF00"/>
                </a:highlight>
                <a:latin typeface="Open Sans" panose="020B0606030504020204" pitchFamily="34" charset="0"/>
              </a:rPr>
              <a:t>be </a:t>
            </a:r>
            <a:r>
              <a:rPr lang="en-US" sz="1200" b="0" i="1" dirty="0">
                <a:solidFill>
                  <a:srgbClr val="333333"/>
                </a:solidFill>
                <a:effectLst/>
                <a:highlight>
                  <a:srgbClr val="FFFF00"/>
                </a:highlight>
                <a:latin typeface="Open Sans" panose="020B0606030504020204" pitchFamily="34" charset="0"/>
              </a:rPr>
              <a:t>fully defined</a:t>
            </a:r>
            <a:r>
              <a:rPr lang="en-US" sz="1200" b="0" i="0" dirty="0">
                <a:solidFill>
                  <a:srgbClr val="333333"/>
                </a:solidFill>
                <a:effectLst/>
                <a:highlight>
                  <a:srgbClr val="FFFF00"/>
                </a:highlight>
                <a:latin typeface="Open Sans" panose="020B0606030504020204" pitchFamily="34" charset="0"/>
              </a:rPr>
              <a:t> </a:t>
            </a:r>
            <a:r>
              <a:rPr lang="en-US" sz="1200" b="0" i="0" dirty="0">
                <a:solidFill>
                  <a:srgbClr val="333333"/>
                </a:solidFill>
                <a:effectLst/>
                <a:latin typeface="Open Sans" panose="020B0606030504020204" pitchFamily="34" charset="0"/>
              </a:rPr>
              <a:t>when both ends of the navigation are present together with a </a:t>
            </a:r>
            <a:r>
              <a:rPr lang="en-US" sz="1200" b="0" i="1" dirty="0">
                <a:solidFill>
                  <a:srgbClr val="333333"/>
                </a:solidFill>
                <a:effectLst/>
                <a:latin typeface="Open Sans" panose="020B0606030504020204" pitchFamily="34" charset="0"/>
              </a:rPr>
              <a:t>foreign key property</a:t>
            </a:r>
            <a:r>
              <a:rPr lang="en-US" sz="1200" b="0" i="0" dirty="0">
                <a:solidFill>
                  <a:srgbClr val="333333"/>
                </a:solidFill>
                <a:effectLst/>
                <a:latin typeface="Open Sans" panose="020B0606030504020204" pitchFamily="34" charset="0"/>
              </a:rPr>
              <a:t>:</a:t>
            </a:r>
            <a:endParaRPr lang="en-IN" sz="1200" dirty="0"/>
          </a:p>
        </p:txBody>
      </p:sp>
      <p:sp>
        <p:nvSpPr>
          <p:cNvPr id="8" name="Rectangle 1">
            <a:extLst>
              <a:ext uri="{FF2B5EF4-FFF2-40B4-BE49-F238E27FC236}">
                <a16:creationId xmlns:a16="http://schemas.microsoft.com/office/drawing/2014/main" id="{024564BA-9295-D54B-B6F0-3E24F13B246F}"/>
              </a:ext>
            </a:extLst>
          </p:cNvPr>
          <p:cNvSpPr>
            <a:spLocks noChangeArrowheads="1"/>
          </p:cNvSpPr>
          <p:nvPr/>
        </p:nvSpPr>
        <p:spPr bwMode="auto">
          <a:xfrm>
            <a:off x="219174" y="1082644"/>
            <a:ext cx="4411744" cy="329320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BE211D2C-BC91-6976-6DE4-6FD1A722476E}"/>
              </a:ext>
            </a:extLst>
          </p:cNvPr>
          <p:cNvSpPr>
            <a:spLocks noChangeArrowheads="1"/>
          </p:cNvSpPr>
          <p:nvPr/>
        </p:nvSpPr>
        <p:spPr bwMode="auto">
          <a:xfrm>
            <a:off x="190894" y="5311442"/>
            <a:ext cx="4786459"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this case, the referential constraint will be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specified as </a:t>
            </a:r>
            <a:r>
              <a:rPr kumimoji="0" lang="en-US" altLang="en-US" sz="1400" b="0" i="0" u="none" strike="noStrike" cap="none" normalizeH="0" baseline="0" dirty="0">
                <a:ln>
                  <a:noFill/>
                </a:ln>
                <a:solidFill>
                  <a:srgbClr val="C7254E"/>
                </a:solidFill>
                <a:effectLst/>
                <a:highlight>
                  <a:srgbClr val="FFFF00"/>
                </a:highlight>
                <a:latin typeface="Menlo"/>
                <a:cs typeface="Open Sans" panose="020B0606030504020204" pitchFamily="34" charset="0"/>
              </a:rPr>
              <a:t>Cascade</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on delete,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based on the relationship being a required relationship i.e. the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foreign key is not nullable.</a:t>
            </a:r>
            <a:endParaRPr kumimoji="0" lang="en-US" altLang="en-US" sz="1400" b="0" i="0" u="none" strike="noStrike" cap="none" normalizeH="0" baseline="0" dirty="0">
              <a:ln>
                <a:noFill/>
              </a:ln>
              <a:solidFill>
                <a:schemeClr val="tx1"/>
              </a:solidFill>
              <a:effectLst/>
              <a:highlight>
                <a:srgbClr val="FFFF00"/>
              </a:highlight>
            </a:endParaRPr>
          </a:p>
        </p:txBody>
      </p:sp>
      <p:sp>
        <p:nvSpPr>
          <p:cNvPr id="10" name="Rectangle 3">
            <a:extLst>
              <a:ext uri="{FF2B5EF4-FFF2-40B4-BE49-F238E27FC236}">
                <a16:creationId xmlns:a16="http://schemas.microsoft.com/office/drawing/2014/main" id="{958A9D7A-98D8-6CC8-E9EF-92E4E09B47A8}"/>
              </a:ext>
            </a:extLst>
          </p:cNvPr>
          <p:cNvSpPr>
            <a:spLocks noChangeArrowheads="1"/>
          </p:cNvSpPr>
          <p:nvPr/>
        </p:nvSpPr>
        <p:spPr bwMode="auto">
          <a:xfrm>
            <a:off x="5901179" y="387433"/>
            <a:ext cx="5571241" cy="323165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ICollection</a:t>
            </a:r>
            <a:r>
              <a:rPr kumimoji="0" lang="en-US" altLang="en-US" sz="1400" b="0" i="0" u="none" strike="noStrike" cap="none" normalizeH="0" baseline="0" dirty="0">
                <a:ln>
                  <a:noFill/>
                </a:ln>
                <a:solidFill>
                  <a:srgbClr val="666600"/>
                </a:solidFill>
                <a:effectLst/>
                <a:highlight>
                  <a:srgbClr val="FFFF00"/>
                </a:highlight>
                <a:latin typeface="Menlo"/>
              </a:rPr>
              <a:t>&lt;</a:t>
            </a:r>
            <a:r>
              <a:rPr kumimoji="0" lang="en-US" altLang="en-US" sz="1400" b="0" i="0" u="none" strike="noStrike" cap="none" normalizeH="0" baseline="0" dirty="0">
                <a:ln>
                  <a:noFill/>
                </a:ln>
                <a:solidFill>
                  <a:srgbClr val="555555"/>
                </a:solidFill>
                <a:effectLst/>
                <a:highlight>
                  <a:srgbClr val="FFFF00"/>
                </a:highlight>
                <a:latin typeface="Menlo"/>
              </a:rPr>
              <a:t>Book</a:t>
            </a:r>
            <a:r>
              <a:rPr kumimoji="0" lang="en-US" altLang="en-US" sz="1400" b="0" i="0" u="none" strike="noStrike" cap="none" normalizeH="0" baseline="0" dirty="0">
                <a:ln>
                  <a:noFill/>
                </a:ln>
                <a:solidFill>
                  <a:srgbClr val="666600"/>
                </a:solidFill>
                <a:effectLst/>
                <a:highlight>
                  <a:srgbClr val="FFFF00"/>
                </a:highlight>
                <a:latin typeface="Menlo"/>
              </a:rPr>
              <a:t>&gt;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555555"/>
                </a:solidFill>
                <a:effectLst/>
                <a:highlight>
                  <a:srgbClr val="FFFF00"/>
                </a:highlight>
                <a:latin typeface="Menlo"/>
              </a:rPr>
              <a:t>Books</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highlight>
                  <a:srgbClr val="FFFF00"/>
                </a:highlight>
                <a:latin typeface="Menlo"/>
              </a:rPr>
              <a:t>public</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int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err="1">
                <a:ln>
                  <a:noFill/>
                </a:ln>
                <a:solidFill>
                  <a:srgbClr val="555555"/>
                </a:solidFill>
                <a:effectLst/>
                <a:highlight>
                  <a:srgbClr val="FFFF00"/>
                </a:highlight>
                <a:latin typeface="Menlo"/>
              </a:rPr>
              <a:t>AuthorId</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get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0000FF"/>
                </a:solidFill>
                <a:effectLst/>
                <a:highlight>
                  <a:srgbClr val="FFFF00"/>
                </a:highlight>
                <a:latin typeface="Menlo"/>
              </a:rPr>
              <a:t>set</a:t>
            </a:r>
            <a:r>
              <a:rPr kumimoji="0" lang="en-US" altLang="en-US" sz="1400" b="0" i="0" u="none" strike="noStrike" cap="none" normalizeH="0" baseline="0" dirty="0">
                <a:ln>
                  <a:noFill/>
                </a:ln>
                <a:solidFill>
                  <a:srgbClr val="666600"/>
                </a:solidFill>
                <a:effectLst/>
                <a:highlight>
                  <a:srgbClr val="FFFF00"/>
                </a:highlight>
                <a:latin typeface="Menlo"/>
              </a:rPr>
              <a:t>;</a:t>
            </a:r>
            <a:r>
              <a:rPr kumimoji="0" lang="en-US" altLang="en-US" sz="1400" b="0" i="0" u="none" strike="noStrike" cap="none" normalizeH="0" baseline="0" dirty="0">
                <a:ln>
                  <a:noFill/>
                </a:ln>
                <a:solidFill>
                  <a:srgbClr val="000000"/>
                </a:solidFill>
                <a:effectLst/>
                <a:highlight>
                  <a:srgbClr val="FFFF00"/>
                </a:highlight>
                <a:latin typeface="Menlo"/>
              </a:rPr>
              <a:t> </a:t>
            </a:r>
            <a:r>
              <a:rPr kumimoji="0" lang="en-US" altLang="en-US" sz="1400" b="0" i="0" u="none" strike="noStrike" cap="none" normalizeH="0" baseline="0" dirty="0">
                <a:ln>
                  <a:noFill/>
                </a:ln>
                <a:solidFill>
                  <a:srgbClr val="666600"/>
                </a:solidFill>
                <a:effectLst/>
                <a:highlight>
                  <a:srgbClr val="FFFF00"/>
                </a:highlight>
                <a:latin typeface="Menlo"/>
              </a:rPr>
              <a:t>}</a:t>
            </a:r>
            <a:endParaRPr kumimoji="0" lang="en-US" altLang="en-US" sz="1400" b="0" i="0" u="none" strike="noStrike" cap="none" normalizeH="0" baseline="0" dirty="0">
              <a:ln>
                <a:noFill/>
              </a:ln>
              <a:solidFill>
                <a:srgbClr val="333333"/>
              </a:solidFill>
              <a:effectLst/>
              <a:highlight>
                <a:srgbClr val="FFFF00"/>
              </a:highligh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F1A8F39A-1FEA-34AC-E940-6D0927171FD2}"/>
              </a:ext>
            </a:extLst>
          </p:cNvPr>
          <p:cNvSpPr txBox="1"/>
          <p:nvPr/>
        </p:nvSpPr>
        <p:spPr>
          <a:xfrm>
            <a:off x="6096000" y="3818109"/>
            <a:ext cx="5451835"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same configuration can be achieved by omitting the inverse navigation property, </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specifying only the foreign key property and the principal navigational property:</a:t>
            </a:r>
            <a:endParaRPr kumimoji="0" lang="en-US" altLang="en-US" sz="1400" b="0" i="0" u="none" strike="noStrike" cap="none" normalizeH="0" baseline="0" dirty="0">
              <a:ln>
                <a:noFill/>
              </a:ln>
              <a:solidFill>
                <a:schemeClr val="tx1"/>
              </a:solidFill>
              <a:effectLst/>
              <a:highlight>
                <a:srgbClr val="FFFF00"/>
              </a:highlight>
            </a:endParaRPr>
          </a:p>
        </p:txBody>
      </p:sp>
      <p:sp>
        <p:nvSpPr>
          <p:cNvPr id="14" name="TextBox 13">
            <a:extLst>
              <a:ext uri="{FF2B5EF4-FFF2-40B4-BE49-F238E27FC236}">
                <a16:creationId xmlns:a16="http://schemas.microsoft.com/office/drawing/2014/main" id="{EDC047C3-347B-112D-6B56-3A8AD7F7CEBF}"/>
              </a:ext>
            </a:extLst>
          </p:cNvPr>
          <p:cNvSpPr txBox="1"/>
          <p:nvPr/>
        </p:nvSpPr>
        <p:spPr>
          <a:xfrm>
            <a:off x="5639585" y="4996179"/>
            <a:ext cx="6094428" cy="1600438"/>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In the previous example, the relationship is a </a:t>
            </a:r>
            <a:r>
              <a:rPr lang="en-US" sz="1400" b="0" i="1" dirty="0">
                <a:solidFill>
                  <a:srgbClr val="333333"/>
                </a:solidFill>
                <a:effectLst/>
                <a:latin typeface="Open Sans" panose="020B0606030504020204" pitchFamily="34" charset="0"/>
              </a:rPr>
              <a:t>required</a:t>
            </a:r>
            <a:r>
              <a:rPr lang="en-US" sz="1400" b="0" i="0" dirty="0">
                <a:solidFill>
                  <a:srgbClr val="333333"/>
                </a:solidFill>
                <a:effectLst/>
                <a:latin typeface="Open Sans" panose="020B0606030504020204" pitchFamily="34" charset="0"/>
              </a:rPr>
              <a:t> relationship. That means that a </a:t>
            </a:r>
            <a:r>
              <a:rPr lang="en-US" sz="1400" b="0" i="0" dirty="0" err="1">
                <a:solidFill>
                  <a:srgbClr val="333333"/>
                </a:solidFill>
                <a:effectLst/>
                <a:latin typeface="Open Sans" panose="020B0606030504020204" pitchFamily="34" charset="0"/>
              </a:rPr>
              <a:t>dependant</a:t>
            </a:r>
            <a:r>
              <a:rPr lang="en-US" sz="1400" b="0" i="0" dirty="0">
                <a:solidFill>
                  <a:srgbClr val="333333"/>
                </a:solidFill>
                <a:effectLst/>
                <a:latin typeface="Open Sans" panose="020B0606030504020204" pitchFamily="34" charset="0"/>
              </a:rPr>
              <a:t> cannot exist without its principal. </a:t>
            </a:r>
            <a:r>
              <a:rPr lang="en-US" sz="1400" b="0" i="0" dirty="0">
                <a:solidFill>
                  <a:srgbClr val="333333"/>
                </a:solidFill>
                <a:effectLst/>
                <a:highlight>
                  <a:srgbClr val="FFFF00"/>
                </a:highlight>
                <a:latin typeface="Open Sans" panose="020B0606030504020204" pitchFamily="34" charset="0"/>
              </a:rPr>
              <a:t>If an author is deleted, all of the authors books must also be deleted. EF Core will set up this </a:t>
            </a:r>
            <a:r>
              <a:rPr lang="en-US" sz="1400" b="0" i="0" dirty="0" err="1">
                <a:solidFill>
                  <a:srgbClr val="333333"/>
                </a:solidFill>
                <a:effectLst/>
                <a:highlight>
                  <a:srgbClr val="FFFF00"/>
                </a:highlight>
                <a:latin typeface="Open Sans" panose="020B0606030504020204" pitchFamily="34" charset="0"/>
              </a:rPr>
              <a:t>behaviour</a:t>
            </a:r>
            <a:r>
              <a:rPr lang="en-US" sz="1400" b="0" i="0" dirty="0">
                <a:solidFill>
                  <a:srgbClr val="333333"/>
                </a:solidFill>
                <a:effectLst/>
                <a:highlight>
                  <a:srgbClr val="FFFF00"/>
                </a:highlight>
                <a:latin typeface="Open Sans" panose="020B0606030504020204" pitchFamily="34" charset="0"/>
              </a:rPr>
              <a:t> automatically if you explicitly include a non-nullable foreign key property</a:t>
            </a:r>
            <a:r>
              <a:rPr lang="en-US" sz="1400" b="0" i="0" dirty="0">
                <a:solidFill>
                  <a:srgbClr val="333333"/>
                </a:solidFill>
                <a:effectLst/>
                <a:latin typeface="Open Sans" panose="020B0606030504020204" pitchFamily="34" charset="0"/>
              </a:rPr>
              <a:t>, otherwise as you have seen, EF Core prevents the deletion of authors that are currently associated with books.</a:t>
            </a:r>
            <a:endParaRPr lang="en-IN" sz="1400" dirty="0"/>
          </a:p>
        </p:txBody>
      </p:sp>
      <p:sp>
        <p:nvSpPr>
          <p:cNvPr id="16" name="TextBox 15">
            <a:extLst>
              <a:ext uri="{FF2B5EF4-FFF2-40B4-BE49-F238E27FC236}">
                <a16:creationId xmlns:a16="http://schemas.microsoft.com/office/drawing/2014/main" id="{651D3E8E-C15C-65EE-EEFE-C4F926F188B5}"/>
              </a:ext>
            </a:extLst>
          </p:cNvPr>
          <p:cNvSpPr txBox="1"/>
          <p:nvPr/>
        </p:nvSpPr>
        <p:spPr>
          <a:xfrm>
            <a:off x="6351308" y="6335007"/>
            <a:ext cx="5743282" cy="523220"/>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Logically, a book cannot exist without an author, so that relationship is always going to be a required one</a:t>
            </a:r>
            <a:endParaRPr lang="en-IN" sz="1400" dirty="0"/>
          </a:p>
        </p:txBody>
      </p:sp>
    </p:spTree>
    <p:extLst>
      <p:ext uri="{BB962C8B-B14F-4D97-AF65-F5344CB8AC3E}">
        <p14:creationId xmlns:p14="http://schemas.microsoft.com/office/powerpoint/2010/main" val="356071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D36326-590C-3739-815B-22D38297635F}"/>
              </a:ext>
            </a:extLst>
          </p:cNvPr>
          <p:cNvSpPr txBox="1"/>
          <p:nvPr/>
        </p:nvSpPr>
        <p:spPr>
          <a:xfrm>
            <a:off x="370002" y="259858"/>
            <a:ext cx="11545477" cy="954107"/>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A tenant can exist without being assigned to a property. This is an example of an </a:t>
            </a:r>
            <a:r>
              <a:rPr lang="en-US" sz="1400" b="0" i="1" dirty="0">
                <a:solidFill>
                  <a:srgbClr val="333333"/>
                </a:solidFill>
                <a:effectLst/>
                <a:latin typeface="Open Sans" panose="020B0606030504020204" pitchFamily="34" charset="0"/>
              </a:rPr>
              <a:t>optional relationship</a:t>
            </a:r>
            <a:r>
              <a:rPr lang="en-US" sz="1400" b="0" i="0" dirty="0">
                <a:solidFill>
                  <a:srgbClr val="333333"/>
                </a:solidFill>
                <a:effectLst/>
                <a:latin typeface="Open Sans" panose="020B0606030504020204" pitchFamily="34" charset="0"/>
              </a:rPr>
              <a:t>. This is the type of relationship that EF Core generates </a:t>
            </a:r>
            <a:r>
              <a:rPr lang="en-US" sz="1400" b="0" i="0" dirty="0" err="1">
                <a:solidFill>
                  <a:srgbClr val="333333"/>
                </a:solidFill>
                <a:effectLst/>
                <a:latin typeface="Open Sans" panose="020B0606030504020204" pitchFamily="34" charset="0"/>
              </a:rPr>
              <a:t>automtically</a:t>
            </a:r>
            <a:r>
              <a:rPr lang="en-US" sz="1400" b="0" i="0" dirty="0">
                <a:solidFill>
                  <a:srgbClr val="333333"/>
                </a:solidFill>
                <a:effectLst/>
                <a:latin typeface="Open Sans" panose="020B0606030504020204" pitchFamily="34" charset="0"/>
              </a:rPr>
              <a:t> if you do not include a foreign key property in the dependent entity, as you have seen in the first and second examples above. You can also explicitly create an </a:t>
            </a:r>
            <a:r>
              <a:rPr lang="en-US" sz="1400" b="0" i="0" dirty="0" err="1">
                <a:solidFill>
                  <a:srgbClr val="333333"/>
                </a:solidFill>
                <a:effectLst/>
                <a:latin typeface="Open Sans" panose="020B0606030504020204" pitchFamily="34" charset="0"/>
              </a:rPr>
              <a:t>otpional</a:t>
            </a:r>
            <a:r>
              <a:rPr lang="en-US" sz="1400" b="0" i="0" dirty="0">
                <a:solidFill>
                  <a:srgbClr val="333333"/>
                </a:solidFill>
                <a:effectLst/>
                <a:latin typeface="Open Sans" panose="020B0606030504020204" pitchFamily="34" charset="0"/>
              </a:rPr>
              <a:t> relationship by including a nullable foreign key property in the dependent entity:</a:t>
            </a:r>
            <a:endParaRPr lang="en-IN" sz="1400" dirty="0"/>
          </a:p>
        </p:txBody>
      </p:sp>
      <p:sp>
        <p:nvSpPr>
          <p:cNvPr id="6" name="Rectangle 1">
            <a:extLst>
              <a:ext uri="{FF2B5EF4-FFF2-40B4-BE49-F238E27FC236}">
                <a16:creationId xmlns:a16="http://schemas.microsoft.com/office/drawing/2014/main" id="{32BA1AE0-770A-FC16-FB93-89CC197E0A6A}"/>
              </a:ext>
            </a:extLst>
          </p:cNvPr>
          <p:cNvSpPr>
            <a:spLocks noChangeArrowheads="1"/>
          </p:cNvSpPr>
          <p:nvPr/>
        </p:nvSpPr>
        <p:spPr bwMode="auto">
          <a:xfrm>
            <a:off x="273378" y="1342128"/>
            <a:ext cx="4562573" cy="369331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Property</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PropertyId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Address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List</a:t>
            </a:r>
            <a:r>
              <a:rPr kumimoji="0" lang="en-US" altLang="en-US" sz="1600" b="0" i="0" u="none" strike="noStrike" cap="none" normalizeH="0" baseline="0" dirty="0">
                <a:ln>
                  <a:noFill/>
                </a:ln>
                <a:solidFill>
                  <a:srgbClr val="666600"/>
                </a:solidFill>
                <a:effectLst/>
                <a:latin typeface="Menlo"/>
              </a:rPr>
              <a:t>&lt;</a:t>
            </a:r>
            <a:r>
              <a:rPr kumimoji="0" lang="en-US" altLang="en-US" sz="1600" b="0" i="0" u="none" strike="noStrike" cap="none" normalizeH="0" baseline="0" dirty="0">
                <a:ln>
                  <a:noFill/>
                </a:ln>
                <a:solidFill>
                  <a:srgbClr val="555555"/>
                </a:solidFill>
                <a:effectLst/>
                <a:latin typeface="Menlo"/>
              </a:rPr>
              <a:t>Tenant</a:t>
            </a:r>
            <a:r>
              <a:rPr kumimoji="0" lang="en-US" altLang="en-US" sz="1600" b="0" i="0" u="none" strike="noStrike" cap="none" normalizeH="0" baseline="0" dirty="0">
                <a:ln>
                  <a:noFill/>
                </a:ln>
                <a:solidFill>
                  <a:srgbClr val="666600"/>
                </a:solidFill>
                <a:effectLst/>
                <a:latin typeface="Menlo"/>
              </a:rPr>
              <a:t>&gt;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Tenants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Tenant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TenantId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Email</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666600"/>
                </a:solidFill>
                <a:effectLst/>
                <a:highlight>
                  <a:srgbClr val="FFFF00"/>
                </a:highlight>
                <a:latin typeface="Menlo"/>
              </a:rPr>
              <a:t>?</a:t>
            </a:r>
            <a:r>
              <a:rPr kumimoji="0" lang="en-US" altLang="en-US" sz="1600" b="0" i="0" u="none" strike="noStrike" cap="none" normalizeH="0" baseline="0" dirty="0">
                <a:ln>
                  <a:noFill/>
                </a:ln>
                <a:solidFill>
                  <a:srgbClr val="000000"/>
                </a:solidFill>
                <a:effectLst/>
                <a:highlight>
                  <a:srgbClr val="FFFF00"/>
                </a:highlight>
                <a:latin typeface="Menlo"/>
              </a:rPr>
              <a:t> </a:t>
            </a:r>
            <a:r>
              <a:rPr kumimoji="0" lang="en-US" altLang="en-US" sz="1600" b="0" i="0" u="none" strike="noStrike" cap="none" normalizeH="0" baseline="0" dirty="0" err="1">
                <a:ln>
                  <a:noFill/>
                </a:ln>
                <a:solidFill>
                  <a:srgbClr val="555555"/>
                </a:solidFill>
                <a:effectLst/>
                <a:latin typeface="Menlo"/>
              </a:rPr>
              <a:t>PropertyId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Property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Property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9DB39C6C-AB3B-1745-6F43-197DF329DBBC}"/>
              </a:ext>
            </a:extLst>
          </p:cNvPr>
          <p:cNvSpPr>
            <a:spLocks noChangeArrowheads="1"/>
          </p:cNvSpPr>
          <p:nvPr/>
        </p:nvSpPr>
        <p:spPr bwMode="auto">
          <a:xfrm>
            <a:off x="5308076" y="1213965"/>
            <a:ext cx="6513922"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rPr>
              <a:t>Tenant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includes a nullable foreign key property, </a:t>
            </a:r>
            <a:r>
              <a:rPr kumimoji="0" lang="en-US" altLang="en-US" sz="1400" b="0" i="0" u="none" strike="noStrike" cap="none" normalizeH="0" baseline="0" dirty="0" err="1">
                <a:ln>
                  <a:noFill/>
                </a:ln>
                <a:solidFill>
                  <a:srgbClr val="C7254E"/>
                </a:solidFill>
                <a:effectLst/>
                <a:latin typeface="Menlo"/>
              </a:rPr>
              <a:t>PropertyId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C7254E"/>
                </a:solidFill>
                <a:effectLst/>
                <a:highlight>
                  <a:srgbClr val="FFFF00"/>
                </a:highlight>
                <a:latin typeface="Menlo"/>
              </a:rPr>
              <a:t>?</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operator is shorthand for </a:t>
            </a:r>
            <a:r>
              <a:rPr kumimoji="0" lang="en-US" altLang="en-US" sz="1400" b="0" i="0" u="none" strike="noStrike" cap="none" normalizeH="0" baseline="0" dirty="0">
                <a:ln>
                  <a:noFill/>
                </a:ln>
                <a:solidFill>
                  <a:srgbClr val="C7254E"/>
                </a:solidFill>
                <a:effectLst/>
                <a:latin typeface="Menlo"/>
              </a:rPr>
              <a:t>Nullable&lt;int&gt;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When a tenant first registers with a lettings agency, they won't have a property assigned to them. Therefore the </a:t>
            </a:r>
            <a:r>
              <a:rPr kumimoji="0" lang="en-US" altLang="en-US" sz="1400" b="0" i="0" u="none" strike="noStrike" cap="none" normalizeH="0" baseline="0" dirty="0" err="1">
                <a:ln>
                  <a:noFill/>
                </a:ln>
                <a:solidFill>
                  <a:srgbClr val="C7254E"/>
                </a:solidFill>
                <a:effectLst/>
                <a:highlight>
                  <a:srgbClr val="FFFF00"/>
                </a:highlight>
                <a:latin typeface="Menlo"/>
              </a:rPr>
              <a:t>PropertyId</a:t>
            </a:r>
            <a:r>
              <a:rPr kumimoji="0" lang="en-US" altLang="en-US" sz="14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 column in the database will be </a:t>
            </a:r>
            <a:r>
              <a:rPr kumimoji="0" lang="en-US" altLang="en-US" sz="1400" b="0" i="0" u="none" strike="noStrike" cap="none" normalizeH="0" baseline="0" dirty="0">
                <a:ln>
                  <a:noFill/>
                </a:ln>
                <a:solidFill>
                  <a:srgbClr val="C7254E"/>
                </a:solidFill>
                <a:effectLst/>
                <a:highlight>
                  <a:srgbClr val="FFFF00"/>
                </a:highlight>
                <a:latin typeface="Menlo"/>
              </a:rPr>
              <a:t>NULL</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signifying a homeless state. If a property comes off the market and is no longer available, the tenants in that property will still exist, albeit in a homeless state.</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33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3D4B06-F063-9F90-D234-E522D3012193}"/>
              </a:ext>
            </a:extLst>
          </p:cNvPr>
          <p:cNvSpPr txBox="1"/>
          <p:nvPr/>
        </p:nvSpPr>
        <p:spPr>
          <a:xfrm>
            <a:off x="285160" y="129322"/>
            <a:ext cx="9249365" cy="369332"/>
          </a:xfrm>
          <a:prstGeom prst="rect">
            <a:avLst/>
          </a:prstGeom>
          <a:noFill/>
        </p:spPr>
        <p:txBody>
          <a:bodyPr wrap="square">
            <a:spAutoFit/>
          </a:bodyPr>
          <a:lstStyle/>
          <a:p>
            <a:pPr algn="l"/>
            <a:r>
              <a:rPr lang="en-US" b="0" i="0" dirty="0">
                <a:solidFill>
                  <a:srgbClr val="004867"/>
                </a:solidFill>
                <a:effectLst/>
                <a:latin typeface="Roboto" panose="02000000000000000000" pitchFamily="2" charset="0"/>
              </a:rPr>
              <a:t>Entity Framework Core One To One Relationships Conventions</a:t>
            </a:r>
          </a:p>
        </p:txBody>
      </p:sp>
      <p:sp>
        <p:nvSpPr>
          <p:cNvPr id="6" name="Rectangle 1">
            <a:extLst>
              <a:ext uri="{FF2B5EF4-FFF2-40B4-BE49-F238E27FC236}">
                <a16:creationId xmlns:a16="http://schemas.microsoft.com/office/drawing/2014/main" id="{F898D587-63A3-B215-B3A5-372E0788B849}"/>
              </a:ext>
            </a:extLst>
          </p:cNvPr>
          <p:cNvSpPr>
            <a:spLocks noChangeArrowheads="1"/>
          </p:cNvSpPr>
          <p:nvPr/>
        </p:nvSpPr>
        <p:spPr bwMode="auto">
          <a:xfrm>
            <a:off x="287516" y="594048"/>
            <a:ext cx="4967925" cy="160043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will create a one to one relationship when both entities involved in the relationship contain a navigation property to the other, and the dependent entity includes a foreign key property for the principal entity. The following example illustrates a one to one relationship between </a:t>
            </a:r>
            <a:r>
              <a:rPr kumimoji="0" lang="en-US" altLang="en-US" sz="1400" b="0" i="0" u="none" strike="noStrike" cap="none" normalizeH="0" baseline="0" dirty="0">
                <a:ln>
                  <a:noFill/>
                </a:ln>
                <a:solidFill>
                  <a:srgbClr val="C7254E"/>
                </a:solidFill>
                <a:effectLst/>
                <a:latin typeface="Menlo"/>
              </a:rPr>
              <a:t>Author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a:t>
            </a:r>
            <a:r>
              <a:rPr kumimoji="0" lang="en-US" altLang="en-US" sz="1400" b="0" i="0" u="none" strike="noStrike" cap="none" normalizeH="0" baseline="0" dirty="0" err="1">
                <a:ln>
                  <a:noFill/>
                </a:ln>
                <a:solidFill>
                  <a:srgbClr val="C7254E"/>
                </a:solidFill>
                <a:effectLst/>
                <a:latin typeface="Menlo"/>
              </a:rPr>
              <a:t>AuthorBiography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BEE02A89-B336-14D9-FCF5-6036C096E927}"/>
              </a:ext>
            </a:extLst>
          </p:cNvPr>
          <p:cNvSpPr>
            <a:spLocks noChangeArrowheads="1"/>
          </p:cNvSpPr>
          <p:nvPr/>
        </p:nvSpPr>
        <p:spPr bwMode="auto">
          <a:xfrm>
            <a:off x="285160" y="2289880"/>
            <a:ext cx="4666268" cy="446276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FirstName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LastName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AuthorBiographyId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Biography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DateTime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DateOfBirth</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PlaceOfBirth</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Nationality</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600" b="0" i="0" u="none" strike="noStrike" cap="none" normalizeH="0" baseline="0" dirty="0">
                <a:ln>
                  <a:noFill/>
                </a:ln>
                <a:solidFill>
                  <a:srgbClr val="666600"/>
                </a:solidFill>
                <a:effectLst/>
                <a:latin typeface="Menlo"/>
              </a:rPr>
              <a:t>}</a:t>
            </a:r>
            <a:endParaRPr kumimoji="0" lang="en-US" altLang="en-US" sz="16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8AA19ED5-69FB-1644-8416-4112CB26319E}"/>
              </a:ext>
            </a:extLst>
          </p:cNvPr>
          <p:cNvSpPr>
            <a:spLocks noChangeArrowheads="1"/>
          </p:cNvSpPr>
          <p:nvPr/>
        </p:nvSpPr>
        <p:spPr bwMode="auto">
          <a:xfrm>
            <a:off x="6096000" y="856619"/>
            <a:ext cx="5602664"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EF Core will generate a unique index on the </a:t>
            </a:r>
            <a:r>
              <a:rPr kumimoji="0" lang="en-US" altLang="en-US" sz="1400" b="0" i="0" u="none" strike="noStrike" cap="none" normalizeH="0" baseline="0" dirty="0" err="1">
                <a:ln>
                  <a:noFill/>
                </a:ln>
                <a:solidFill>
                  <a:srgbClr val="C7254E"/>
                </a:solidFill>
                <a:effectLst/>
                <a:latin typeface="Menlo"/>
              </a:rPr>
              <a:t>AuthorId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foreign key column in the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AuthorBiographies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table to ensure that only one biography can be associated with any particular author.</a:t>
            </a:r>
            <a:r>
              <a:rPr kumimoji="0" lang="en-US" altLang="en-US" sz="1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48148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97A43D-A3AE-2752-BE77-A2FCBC20E08B}"/>
              </a:ext>
            </a:extLst>
          </p:cNvPr>
          <p:cNvSpPr txBox="1"/>
          <p:nvPr/>
        </p:nvSpPr>
        <p:spPr>
          <a:xfrm>
            <a:off x="615100" y="264198"/>
            <a:ext cx="11366368" cy="646331"/>
          </a:xfrm>
          <a:prstGeom prst="rect">
            <a:avLst/>
          </a:prstGeom>
          <a:noFill/>
        </p:spPr>
        <p:txBody>
          <a:bodyPr wrap="square">
            <a:spAutoFit/>
          </a:bodyPr>
          <a:lstStyle/>
          <a:p>
            <a:r>
              <a:rPr lang="en-US" b="0" i="0" dirty="0">
                <a:solidFill>
                  <a:srgbClr val="333333"/>
                </a:solidFill>
                <a:effectLst/>
                <a:latin typeface="Open Sans" panose="020B0606030504020204" pitchFamily="34" charset="0"/>
              </a:rPr>
              <a:t>It is not currently possible to establish a many-to-many-relationship in Entity Framework Core without configuration via the Fluent API.</a:t>
            </a:r>
            <a:endParaRPr lang="en-IN" dirty="0"/>
          </a:p>
        </p:txBody>
      </p:sp>
    </p:spTree>
    <p:extLst>
      <p:ext uri="{BB962C8B-B14F-4D97-AF65-F5344CB8AC3E}">
        <p14:creationId xmlns:p14="http://schemas.microsoft.com/office/powerpoint/2010/main" val="2712416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4532</TotalTime>
  <Words>2964</Words>
  <Application>Microsoft Office PowerPoint</Application>
  <PresentationFormat>Widescreen</PresentationFormat>
  <Paragraphs>307</Paragraphs>
  <Slides>13</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Cascadia Mono</vt:lpstr>
      <vt:lpstr>Menlo</vt:lpstr>
      <vt:lpstr>Open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92</cp:revision>
  <dcterms:created xsi:type="dcterms:W3CDTF">2023-02-23T05:34:23Z</dcterms:created>
  <dcterms:modified xsi:type="dcterms:W3CDTF">2025-04-16T16:52:18Z</dcterms:modified>
</cp:coreProperties>
</file>